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6" r:id="rId16"/>
    <p:sldId id="277" r:id="rId17"/>
    <p:sldId id="278" r:id="rId18"/>
    <p:sldId id="279" r:id="rId19"/>
    <p:sldId id="304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6"/>
    <p:restoredTop sz="94757"/>
  </p:normalViewPr>
  <p:slideViewPr>
    <p:cSldViewPr snapToGrid="0" snapToObjects="1">
      <p:cViewPr varScale="1">
        <p:scale>
          <a:sx n="104" d="100"/>
          <a:sy n="104" d="100"/>
        </p:scale>
        <p:origin x="1888" y="2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660142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7894" y="2569580"/>
            <a:ext cx="5864506" cy="3556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9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 cap="sq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14350" cap="sq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Week </a:t>
            </a:r>
            <a:r>
              <a:rPr lang="en-US" dirty="0"/>
              <a:t>2</a:t>
            </a:r>
            <a:r>
              <a:rPr dirty="0"/>
              <a:t>: SQL Optimization and Advanced Querying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Differentiate SQL DML vs. DDL and apply each correctly</a:t>
            </a:r>
          </a:p>
          <a:p>
            <a:pPr lvl="0"/>
            <a:r>
              <a:t>Choose the right join type and understand NULL results</a:t>
            </a:r>
          </a:p>
          <a:p>
            <a:pPr lvl="0"/>
            <a:r>
              <a:t>Use subqueries with </a:t>
            </a:r>
            <a:r>
              <a:rPr>
                <a:latin typeface="Courier"/>
              </a:rPr>
              <a:t>ALL</a:t>
            </a:r>
            <a:r>
              <a:t>, </a:t>
            </a:r>
            <a:r>
              <a:rPr>
                <a:latin typeface="Courier"/>
              </a:rPr>
              <a:t>IN</a:t>
            </a:r>
            <a:r>
              <a:t>, and </a:t>
            </a:r>
            <a:r>
              <a:rPr>
                <a:latin typeface="Courier"/>
              </a:rPr>
              <a:t>EXISTS</a:t>
            </a:r>
          </a:p>
          <a:p>
            <a:pPr lvl="0"/>
            <a:r>
              <a:t>Apply window functions for aggregation, ranking, and value navigation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SQL Foundations (DML vs. DDL)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 dirty="0"/>
              <a:t>SQL</a:t>
            </a:r>
            <a:r>
              <a:rPr dirty="0"/>
              <a:t> is a query language that is table-oriented </a:t>
            </a:r>
            <a:br>
              <a:rPr lang="en-US" dirty="0"/>
            </a:br>
            <a:r>
              <a:rPr dirty="0"/>
              <a:t>and optimized for fast access to data.</a:t>
            </a:r>
          </a:p>
          <a:p>
            <a:pPr lvl="0"/>
            <a:r>
              <a:rPr b="1" dirty="0"/>
              <a:t>CRUD</a:t>
            </a:r>
            <a:r>
              <a:rPr dirty="0"/>
              <a:t> operations: Create, Read, Update, Delete.</a:t>
            </a:r>
          </a:p>
          <a:p>
            <a:pPr lvl="0"/>
            <a:r>
              <a:rPr b="1" dirty="0"/>
              <a:t>DML</a:t>
            </a:r>
            <a:r>
              <a:rPr lang="en-US" b="1" dirty="0"/>
              <a:t>: </a:t>
            </a:r>
            <a:r>
              <a:rPr dirty="0">
                <a:latin typeface="Courier"/>
              </a:rPr>
              <a:t>SELECT</a:t>
            </a:r>
            <a:r>
              <a:rPr dirty="0"/>
              <a:t>, </a:t>
            </a:r>
            <a:r>
              <a:rPr dirty="0">
                <a:latin typeface="Courier"/>
              </a:rPr>
              <a:t>INSERT</a:t>
            </a:r>
            <a:r>
              <a:rPr dirty="0"/>
              <a:t>, </a:t>
            </a:r>
            <a:r>
              <a:rPr dirty="0">
                <a:latin typeface="Courier"/>
              </a:rPr>
              <a:t>UPDATE</a:t>
            </a:r>
            <a:r>
              <a:rPr dirty="0"/>
              <a:t>, </a:t>
            </a:r>
            <a:r>
              <a:rPr dirty="0">
                <a:latin typeface="Courier"/>
              </a:rPr>
              <a:t>DELETE</a:t>
            </a:r>
          </a:p>
          <a:p>
            <a:pPr lvl="0"/>
            <a:r>
              <a:rPr b="1" dirty="0"/>
              <a:t>DDL:</a:t>
            </a:r>
            <a:r>
              <a:rPr dirty="0"/>
              <a:t> </a:t>
            </a:r>
            <a:r>
              <a:rPr dirty="0">
                <a:latin typeface="Courier"/>
              </a:rPr>
              <a:t>CREATE</a:t>
            </a:r>
            <a:r>
              <a:rPr dirty="0"/>
              <a:t>, </a:t>
            </a:r>
            <a:r>
              <a:rPr dirty="0">
                <a:latin typeface="Courier"/>
              </a:rPr>
              <a:t>DROP</a:t>
            </a:r>
            <a:r>
              <a:rPr dirty="0"/>
              <a:t>, </a:t>
            </a:r>
            <a:r>
              <a:rPr dirty="0">
                <a:latin typeface="Courier"/>
              </a:rPr>
              <a:t>ALTER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Create + Insert + Verify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2000" b="1" dirty="0">
                <a:solidFill>
                  <a:srgbClr val="007020"/>
                </a:solidFill>
                <a:latin typeface="Courier"/>
              </a:rPr>
              <a:t>CREATE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TABLE</a:t>
            </a:r>
            <a:r>
              <a:rPr sz="2000" dirty="0">
                <a:latin typeface="Courier"/>
              </a:rPr>
              <a:t> Students (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Id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int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NOT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sz="2000" dirty="0"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 err="1">
                <a:latin typeface="Courier"/>
              </a:rPr>
              <a:t>First_Name</a:t>
            </a:r>
            <a:r>
              <a:rPr sz="2000" dirty="0">
                <a:latin typeface="Courier"/>
              </a:rPr>
              <a:t> text,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 err="1">
                <a:latin typeface="Courier"/>
              </a:rPr>
              <a:t>Last_Name</a:t>
            </a:r>
            <a:r>
              <a:rPr sz="2000" dirty="0">
                <a:latin typeface="Courier"/>
              </a:rPr>
              <a:t> text,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 err="1">
                <a:latin typeface="Courier"/>
              </a:rPr>
              <a:t>Birth_Date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date</a:t>
            </a:r>
            <a:r>
              <a:rPr sz="2000" dirty="0">
                <a:latin typeface="Courier"/>
              </a:rPr>
              <a:t>,</a:t>
            </a:r>
            <a:br>
              <a:rPr sz="2000" dirty="0"/>
            </a:br>
            <a:r>
              <a:rPr sz="2000" dirty="0">
                <a:latin typeface="Courier"/>
              </a:rPr>
              <a:t>  </a:t>
            </a:r>
            <a:r>
              <a:rPr sz="2000" dirty="0" err="1">
                <a:latin typeface="Courier"/>
              </a:rPr>
              <a:t>Hour_Salary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float</a:t>
            </a:r>
            <a:br>
              <a:rPr sz="2000" dirty="0"/>
            </a:br>
            <a:r>
              <a:rPr sz="2000" dirty="0">
                <a:latin typeface="Courier"/>
              </a:rPr>
              <a:t>);</a:t>
            </a:r>
            <a:br>
              <a:rPr sz="2000" dirty="0"/>
            </a:br>
            <a:br>
              <a:rPr sz="2000" dirty="0"/>
            </a:br>
            <a:r>
              <a:rPr sz="2000" b="1" dirty="0">
                <a:solidFill>
                  <a:srgbClr val="007020"/>
                </a:solidFill>
                <a:latin typeface="Courier"/>
              </a:rPr>
              <a:t>INSERT</a:t>
            </a:r>
            <a:r>
              <a:rPr sz="2000" dirty="0">
                <a:latin typeface="Courier"/>
              </a:rPr>
              <a:t>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INTO</a:t>
            </a:r>
            <a:r>
              <a:rPr sz="2000" dirty="0">
                <a:latin typeface="Courier"/>
              </a:rPr>
              <a:t> Students</a:t>
            </a:r>
            <a:br>
              <a:rPr sz="2000" dirty="0"/>
            </a:br>
            <a:r>
              <a:rPr sz="2000" b="1" dirty="0">
                <a:solidFill>
                  <a:srgbClr val="007020"/>
                </a:solidFill>
                <a:latin typeface="Courier"/>
              </a:rPr>
              <a:t>VALUES</a:t>
            </a:r>
            <a:r>
              <a:rPr sz="2000" dirty="0">
                <a:latin typeface="Courier"/>
              </a:rPr>
              <a:t> (</a:t>
            </a:r>
            <a:r>
              <a:rPr sz="2000" dirty="0">
                <a:solidFill>
                  <a:srgbClr val="40A070"/>
                </a:solidFill>
                <a:latin typeface="Courier"/>
              </a:rPr>
              <a:t>123456789</a:t>
            </a:r>
            <a:r>
              <a:rPr sz="2000" dirty="0">
                <a:latin typeface="Courier"/>
              </a:rPr>
              <a:t>,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'Israel'</a:t>
            </a:r>
            <a:r>
              <a:rPr sz="2000" dirty="0">
                <a:latin typeface="Courier"/>
              </a:rPr>
              <a:t>,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'Israeli'</a:t>
            </a:r>
            <a:r>
              <a:rPr sz="2000" dirty="0">
                <a:latin typeface="Courier"/>
              </a:rPr>
              <a:t>, </a:t>
            </a:r>
            <a:r>
              <a:rPr sz="2000" dirty="0">
                <a:solidFill>
                  <a:srgbClr val="4070A0"/>
                </a:solidFill>
                <a:latin typeface="Courier"/>
              </a:rPr>
              <a:t>'1980-03-20'</a:t>
            </a:r>
            <a:r>
              <a:rPr sz="2000" dirty="0">
                <a:latin typeface="Courier"/>
              </a:rPr>
              <a:t>, </a:t>
            </a:r>
            <a:r>
              <a:rPr sz="2000" dirty="0">
                <a:solidFill>
                  <a:srgbClr val="40A070"/>
                </a:solidFill>
                <a:latin typeface="Courier"/>
              </a:rPr>
              <a:t>120.40</a:t>
            </a:r>
            <a:r>
              <a:rPr sz="2000" dirty="0">
                <a:latin typeface="Courier"/>
              </a:rPr>
              <a:t>);</a:t>
            </a:r>
            <a:br>
              <a:rPr sz="2000" dirty="0"/>
            </a:br>
            <a:endParaRPr sz="2000" dirty="0">
              <a:latin typeface="Courier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Joining Tables — Why We Need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we want to handle multiple related tables, we must join them using primary/foreign keys.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Example: Students</a:t>
            </a:r>
            <a:r>
              <a:rPr lang="en-US" dirty="0"/>
              <a:t> and Courses</a:t>
            </a:r>
            <a:r>
              <a:rPr dirty="0"/>
              <a:t> Table</a:t>
            </a:r>
            <a:r>
              <a:rPr lang="en-US" dirty="0"/>
              <a:t>s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091416"/>
              </p:ext>
            </p:extLst>
          </p:nvPr>
        </p:nvGraphicFramePr>
        <p:xfrm>
          <a:off x="939800" y="1874679"/>
          <a:ext cx="106299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StudentID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1AA4E079-1080-4846-CFA0-5B71428E24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607712"/>
              </p:ext>
            </p:extLst>
          </p:nvPr>
        </p:nvGraphicFramePr>
        <p:xfrm>
          <a:off x="939800" y="3794760"/>
          <a:ext cx="10617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StudentID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CourseNumber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CourseName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AA15901B-7CD9-78FF-9D25-C9E4B80904D0}"/>
              </a:ext>
            </a:extLst>
          </p:cNvPr>
          <p:cNvSpPr txBox="1"/>
          <p:nvPr/>
        </p:nvSpPr>
        <p:spPr>
          <a:xfrm>
            <a:off x="2798805" y="5622409"/>
            <a:ext cx="11701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Primary Key:</a:t>
            </a:r>
            <a:r>
              <a:rPr lang="en" dirty="0"/>
              <a:t> </a:t>
            </a:r>
            <a:r>
              <a:rPr lang="en" dirty="0" err="1"/>
              <a:t>StudentID</a:t>
            </a:r>
            <a:r>
              <a:rPr lang="en" dirty="0"/>
              <a:t> in Students, </a:t>
            </a:r>
            <a:r>
              <a:rPr lang="en" b="1" dirty="0"/>
              <a:t>Foreign Key:</a:t>
            </a:r>
            <a:r>
              <a:rPr lang="en" dirty="0"/>
              <a:t> </a:t>
            </a:r>
            <a:r>
              <a:rPr lang="en" dirty="0" err="1"/>
              <a:t>StudentID</a:t>
            </a:r>
            <a:r>
              <a:rPr lang="en" dirty="0"/>
              <a:t> in Courses</a:t>
            </a:r>
            <a:endParaRPr lang="he-I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How to Merge Two Tables? — Option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FirstName, CourseName, Grade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Students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S, Courses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(S.StudentID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C.StudentID)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(C.CourseName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'Algo'</a:t>
            </a:r>
            <a:r>
              <a:rPr>
                <a:latin typeface="Courier"/>
              </a:rPr>
              <a:t>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Option 2 (Explicit JOIN)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FirstName, CourseName, Grade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Students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Courses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C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S.StudentID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C.StudentID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C.CourseName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'Algo'</a:t>
            </a:r>
            <a:r>
              <a:rPr>
                <a:latin typeface="Courier"/>
              </a:rPr>
              <a:t>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ON vs. USING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Use </a:t>
            </a:r>
            <a:r>
              <a:rPr b="1">
                <a:latin typeface="Courier"/>
              </a:rPr>
              <a:t>ON</a:t>
            </a:r>
            <a:r>
              <a:t> when join column names differ.</a:t>
            </a:r>
          </a:p>
          <a:p>
            <a:pPr lvl="0"/>
            <a:r>
              <a:t>Use </a:t>
            </a:r>
            <a:r>
              <a:rPr b="1">
                <a:latin typeface="Courier"/>
              </a:rPr>
              <a:t>USING</a:t>
            </a:r>
            <a:r>
              <a:t> when column names are the same.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3DE0A4-3342-E2A7-9F6B-C4DC8FCB0EE8}"/>
              </a:ext>
            </a:extLst>
          </p:cNvPr>
          <p:cNvSpPr txBox="1">
            <a:spLocks/>
          </p:cNvSpPr>
          <p:nvPr/>
        </p:nvSpPr>
        <p:spPr>
          <a:xfrm>
            <a:off x="1074454" y="3185984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/>
              <a:buNone/>
            </a:pPr>
            <a:r>
              <a:rPr lang="en" b="1" dirty="0">
                <a:solidFill>
                  <a:srgbClr val="007020"/>
                </a:solidFill>
                <a:latin typeface="Courier"/>
              </a:rPr>
              <a:t>SELECT</a:t>
            </a:r>
            <a:r>
              <a:rPr lang="en" dirty="0">
                <a:latin typeface="Courier"/>
              </a:rPr>
              <a:t> FirstName, </a:t>
            </a:r>
            <a:r>
              <a:rPr lang="en" dirty="0" err="1">
                <a:latin typeface="Courier"/>
              </a:rPr>
              <a:t>CourseName</a:t>
            </a:r>
            <a:r>
              <a:rPr lang="en" dirty="0">
                <a:latin typeface="Courier"/>
              </a:rPr>
              <a:t>, Grade</a:t>
            </a:r>
            <a:br>
              <a:rPr lang="en" dirty="0"/>
            </a:br>
            <a:r>
              <a:rPr lang="en" b="1" dirty="0">
                <a:solidFill>
                  <a:srgbClr val="007020"/>
                </a:solidFill>
                <a:latin typeface="Courier"/>
              </a:rPr>
              <a:t>FROM</a:t>
            </a:r>
            <a:r>
              <a:rPr lang="en" dirty="0">
                <a:latin typeface="Courier"/>
              </a:rPr>
              <a:t> Students</a:t>
            </a:r>
            <a:br>
              <a:rPr lang="en" dirty="0"/>
            </a:br>
            <a:r>
              <a:rPr lang="en" b="1" dirty="0">
                <a:solidFill>
                  <a:srgbClr val="007020"/>
                </a:solidFill>
                <a:latin typeface="Courier"/>
              </a:rPr>
              <a:t>JOIN</a:t>
            </a:r>
            <a:r>
              <a:rPr lang="en" dirty="0">
                <a:latin typeface="Courier"/>
              </a:rPr>
              <a:t> Courses </a:t>
            </a:r>
            <a:r>
              <a:rPr lang="en" b="1" dirty="0">
                <a:solidFill>
                  <a:srgbClr val="007020"/>
                </a:solidFill>
                <a:latin typeface="Courier"/>
              </a:rPr>
              <a:t>USING</a:t>
            </a:r>
            <a:r>
              <a:rPr lang="en" dirty="0">
                <a:latin typeface="Courier"/>
              </a:rPr>
              <a:t> (</a:t>
            </a:r>
            <a:r>
              <a:rPr lang="en" dirty="0" err="1">
                <a:latin typeface="Courier"/>
              </a:rPr>
              <a:t>StudentID</a:t>
            </a:r>
            <a:r>
              <a:rPr lang="en" dirty="0">
                <a:latin typeface="Courier"/>
              </a:rPr>
              <a:t>)</a:t>
            </a:r>
            <a:br>
              <a:rPr lang="en" dirty="0"/>
            </a:br>
            <a:r>
              <a:rPr lang="en" b="1" dirty="0">
                <a:solidFill>
                  <a:srgbClr val="007020"/>
                </a:solidFill>
                <a:latin typeface="Courier"/>
              </a:rPr>
              <a:t>WHERE</a:t>
            </a:r>
            <a:r>
              <a:rPr lang="en" dirty="0">
                <a:latin typeface="Courier"/>
              </a:rPr>
              <a:t> </a:t>
            </a:r>
            <a:r>
              <a:rPr lang="en" dirty="0" err="1">
                <a:latin typeface="Courier"/>
              </a:rPr>
              <a:t>CourseName</a:t>
            </a:r>
            <a:r>
              <a:rPr lang="en" dirty="0">
                <a:latin typeface="Courier"/>
              </a:rPr>
              <a:t> </a:t>
            </a:r>
            <a:r>
              <a:rPr lang="en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" dirty="0">
                <a:latin typeface="Courier"/>
              </a:rPr>
              <a:t> </a:t>
            </a:r>
            <a:r>
              <a:rPr lang="en" dirty="0">
                <a:solidFill>
                  <a:srgbClr val="4070A0"/>
                </a:solidFill>
                <a:latin typeface="Courier"/>
              </a:rPr>
              <a:t>'Algo'</a:t>
            </a:r>
            <a:r>
              <a:rPr lang="en" dirty="0">
                <a:latin typeface="Courier"/>
              </a:rPr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Join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INNER JOIN</a:t>
            </a:r>
          </a:p>
          <a:p>
            <a:pPr lvl="0"/>
            <a:r>
              <a:rPr b="1"/>
              <a:t>OUTER JOIN</a:t>
            </a:r>
          </a:p>
          <a:p>
            <a:pPr lvl="1"/>
            <a:r>
              <a:t>LEFT OUTER JOIN</a:t>
            </a:r>
          </a:p>
          <a:p>
            <a:pPr lvl="1"/>
            <a:r>
              <a:t>RIGHT OUTER JOIN</a:t>
            </a:r>
          </a:p>
          <a:p>
            <a:pPr lvl="1"/>
            <a:r>
              <a:t>FULL OUTER JOIN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Join Types: LEFT / RIGHT / FULL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Given 2 tables called </a:t>
            </a:r>
            <a:r>
              <a:rPr dirty="0">
                <a:latin typeface="Courier"/>
              </a:rPr>
              <a:t>R1</a:t>
            </a:r>
            <a:r>
              <a:rPr dirty="0"/>
              <a:t> and </a:t>
            </a:r>
            <a:r>
              <a:rPr dirty="0">
                <a:latin typeface="Courier"/>
              </a:rPr>
              <a:t>R2</a:t>
            </a:r>
            <a:r>
              <a:rPr dirty="0"/>
              <a:t> with a mutual column named </a:t>
            </a:r>
            <a:r>
              <a:rPr dirty="0">
                <a:latin typeface="Courier"/>
              </a:rPr>
              <a:t>Name</a:t>
            </a:r>
            <a:r>
              <a:rPr dirty="0"/>
              <a:t>.</a:t>
            </a:r>
          </a:p>
          <a:p>
            <a:pPr lvl="0"/>
            <a:r>
              <a:rPr sz="2400" b="1" dirty="0"/>
              <a:t>LEFT OUTER JOIN</a:t>
            </a:r>
            <a:br>
              <a:rPr lang="en-US" sz="2400" b="1" dirty="0"/>
            </a:br>
            <a:r>
              <a:rPr lang="en-US" sz="2400" b="1" dirty="0"/>
              <a:t>	</a:t>
            </a:r>
            <a:r>
              <a:rPr sz="2400" dirty="0"/>
              <a:t>All rows from </a:t>
            </a:r>
            <a:r>
              <a:rPr sz="2400" dirty="0">
                <a:latin typeface="Courier"/>
              </a:rPr>
              <a:t>R1</a:t>
            </a:r>
            <a:r>
              <a:rPr sz="2400" dirty="0"/>
              <a:t>, matched rows from </a:t>
            </a:r>
            <a:r>
              <a:rPr sz="2400" dirty="0">
                <a:latin typeface="Courier"/>
              </a:rPr>
              <a:t>R2</a:t>
            </a:r>
            <a:r>
              <a:rPr sz="2400" dirty="0"/>
              <a:t>. Unmatched values become NULL.</a:t>
            </a:r>
          </a:p>
          <a:p>
            <a:pPr lvl="0"/>
            <a:r>
              <a:rPr sz="2400" b="1" dirty="0"/>
              <a:t>RIGHT OUTER JOIN</a:t>
            </a:r>
            <a:br>
              <a:rPr lang="en-US" sz="2400" b="1" dirty="0"/>
            </a:br>
            <a:r>
              <a:rPr lang="en-US" sz="2400" b="1" dirty="0"/>
              <a:t>	</a:t>
            </a:r>
            <a:r>
              <a:rPr sz="2400" dirty="0"/>
              <a:t>All rows from </a:t>
            </a:r>
            <a:r>
              <a:rPr sz="2400" dirty="0">
                <a:latin typeface="Courier"/>
              </a:rPr>
              <a:t>R2</a:t>
            </a:r>
            <a:r>
              <a:rPr sz="2400" dirty="0"/>
              <a:t>, matched rows from </a:t>
            </a:r>
            <a:r>
              <a:rPr sz="2400" dirty="0">
                <a:latin typeface="Courier"/>
              </a:rPr>
              <a:t>R1</a:t>
            </a:r>
            <a:r>
              <a:rPr sz="2400" dirty="0"/>
              <a:t>. Unmatched values become NULL.</a:t>
            </a:r>
          </a:p>
          <a:p>
            <a:pPr lvl="0"/>
            <a:r>
              <a:rPr sz="2400" b="1" dirty="0"/>
              <a:t>FULL OUTER JOIN</a:t>
            </a:r>
            <a:br>
              <a:rPr lang="en-US" sz="2400" b="1" dirty="0"/>
            </a:br>
            <a:r>
              <a:rPr lang="en-US" sz="2400" b="1" dirty="0"/>
              <a:t>	</a:t>
            </a:r>
            <a:r>
              <a:rPr sz="2400" dirty="0"/>
              <a:t>All rows from both tables; unmatched values become NULL on either side.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Handling NULL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NULL values can come from:</a:t>
            </a:r>
          </a:p>
          <a:p>
            <a:pPr lvl="1"/>
            <a:r>
              <a:t>Left/Right/Full outer joins</a:t>
            </a:r>
          </a:p>
          <a:p>
            <a:pPr lvl="1"/>
            <a:r>
              <a:t>Missing data during inserts</a:t>
            </a:r>
          </a:p>
          <a:p>
            <a:pPr lvl="1"/>
            <a:r>
              <a:t>Other data quality issues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Find Rows with Missing Course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FirstName, LastName, CourseNumber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Student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LEFT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OUTER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Courses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(StudentID);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Store Query in </a:t>
            </a:r>
            <a:r>
              <a:rPr dirty="0" err="1"/>
              <a:t>NewCourses</a:t>
            </a:r>
            <a:r>
              <a:rPr dirty="0"/>
              <a:t> </a:t>
            </a:r>
            <a:r>
              <a:rPr lang="en-US" dirty="0"/>
              <a:t>(</a:t>
            </a:r>
            <a:r>
              <a:rPr dirty="0"/>
              <a:t>Filter NULLs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NewCourses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CourseNumber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90B5F6-2B85-3799-700E-421FD69EDA8A}"/>
              </a:ext>
            </a:extLst>
          </p:cNvPr>
          <p:cNvSpPr txBox="1">
            <a:spLocks/>
          </p:cNvSpPr>
          <p:nvPr/>
        </p:nvSpPr>
        <p:spPr>
          <a:xfrm>
            <a:off x="1111524" y="4093369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130000"/>
              </a:lnSpc>
              <a:spcBef>
                <a:spcPts val="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/>
              <a:t>Use </a:t>
            </a:r>
            <a:r>
              <a:rPr lang="en">
                <a:latin typeface="Courier"/>
              </a:rPr>
              <a:t>IS NULL</a:t>
            </a:r>
            <a:r>
              <a:rPr lang="en"/>
              <a:t> / </a:t>
            </a:r>
            <a:r>
              <a:rPr lang="en">
                <a:latin typeface="Courier"/>
              </a:rPr>
              <a:t>IS NOT NULL</a:t>
            </a:r>
            <a:r>
              <a:rPr lang="en"/>
              <a:t>.</a:t>
            </a:r>
          </a:p>
          <a:p>
            <a:r>
              <a:rPr lang="en"/>
              <a:t>Wrong usage: </a:t>
            </a:r>
            <a:r>
              <a:rPr lang="en">
                <a:latin typeface="Courier"/>
              </a:rPr>
              <a:t>FirstName = 'NULL’</a:t>
            </a:r>
            <a:r>
              <a:rPr lang="en"/>
              <a:t>  </a:t>
            </a:r>
            <a:r>
              <a:rPr lang="en" b="1"/>
              <a:t>NULL is not a string.</a:t>
            </a:r>
            <a:endParaRPr lang="en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Subqueries: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t>Find the city whose average amount is greater than or equal to all city averages: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City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Students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City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(Amount)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ALL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(Amount)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Students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City</a:t>
            </a:r>
            <a:br/>
            <a:r>
              <a:rPr>
                <a:latin typeface="Courier"/>
              </a:rPr>
              <a:t>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Subqueries: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Find all names living in specific cities: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Name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Students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City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70A0"/>
                </a:solidFill>
                <a:latin typeface="Courier"/>
              </a:rPr>
              <a:t>'Eilat'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'Haifa'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'Jerusalem'</a:t>
            </a:r>
            <a:r>
              <a:rPr>
                <a:latin typeface="Courier"/>
              </a:rPr>
              <a:t>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Subqueries: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(Amount)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Students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EXISTS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AgudaMembers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AM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AM.Name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Students.Name</a:t>
            </a:r>
            <a:br/>
            <a:r>
              <a:rPr>
                <a:latin typeface="Courier"/>
              </a:rPr>
              <a:t>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What is Window Functions?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Window functions are used to </a:t>
            </a:r>
            <a:r>
              <a:rPr lang="en-US" b="1" dirty="0"/>
              <a:t>perform a calculation on an aggregate value</a:t>
            </a:r>
            <a:r>
              <a:rPr lang="en-US" dirty="0"/>
              <a:t> based on a set of rows and return multiple rows for each group.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2" descr="Intro to SQL Window Functions | Toptal">
            <a:extLst>
              <a:ext uri="{FF2B5EF4-FFF2-40B4-BE49-F238E27FC236}">
                <a16:creationId xmlns:a16="http://schemas.microsoft.com/office/drawing/2014/main" id="{BCDCF424-2AA6-7376-FB0B-B104F590F1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0"/>
          <a:stretch/>
        </p:blipFill>
        <p:spPr bwMode="auto">
          <a:xfrm>
            <a:off x="1282834" y="3583460"/>
            <a:ext cx="9065187" cy="245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782F-7C4B-8D97-18E1-79D28033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3343-227E-F55E-A97E-2DD0710E30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What is Window Functions?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563A6-8825-172C-DBC4-E1E27A6EDCF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window word represents the group of rows on which the function will be operated.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Performs a calculation in the same way that the aggregate functions would perform.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0F756-7493-7CCC-BEE2-EE09D321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88FA7-E6C5-158B-422B-61EB8532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2" descr="Intro to SQL Window Functions | Toptal">
            <a:extLst>
              <a:ext uri="{FF2B5EF4-FFF2-40B4-BE49-F238E27FC236}">
                <a16:creationId xmlns:a16="http://schemas.microsoft.com/office/drawing/2014/main" id="{F395764B-18F9-D26A-82C1-0DDD88F01A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0"/>
          <a:stretch/>
        </p:blipFill>
        <p:spPr bwMode="auto">
          <a:xfrm>
            <a:off x="1841157" y="4231487"/>
            <a:ext cx="7851956" cy="212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10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Window Functions: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dirty="0" err="1">
                <a:latin typeface="Courier"/>
              </a:rPr>
              <a:t>window_function_name</a:t>
            </a:r>
            <a:r>
              <a:rPr dirty="0">
                <a:latin typeface="Courier"/>
              </a:rPr>
              <a:t>([</a:t>
            </a:r>
            <a:r>
              <a:rPr b="1" dirty="0">
                <a:solidFill>
                  <a:srgbClr val="007020"/>
                </a:solidFill>
                <a:latin typeface="Courier"/>
              </a:rPr>
              <a:t>ALL</a:t>
            </a:r>
            <a:r>
              <a:rPr dirty="0">
                <a:latin typeface="Courier"/>
              </a:rPr>
              <a:t>] expression)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OVER</a:t>
            </a:r>
            <a:r>
              <a:rPr dirty="0">
                <a:latin typeface="Courier"/>
              </a:rPr>
              <a:t> (</a:t>
            </a:r>
            <a:endParaRPr lang="en-US" dirty="0">
              <a:latin typeface="Courier"/>
            </a:endParaRPr>
          </a:p>
          <a:p>
            <a:pPr lvl="0" indent="0">
              <a:buNone/>
            </a:pPr>
            <a:r>
              <a:rPr dirty="0">
                <a:latin typeface="Courier"/>
              </a:rPr>
              <a:t>[</a:t>
            </a:r>
            <a:r>
              <a:rPr b="1" dirty="0">
                <a:solidFill>
                  <a:srgbClr val="007020"/>
                </a:solidFill>
                <a:latin typeface="Courier"/>
              </a:rPr>
              <a:t>PARTITION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BY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..</a:t>
            </a:r>
            <a:r>
              <a:rPr dirty="0">
                <a:latin typeface="Courier"/>
              </a:rPr>
              <a:t>.] </a:t>
            </a:r>
            <a:endParaRPr lang="en-US" dirty="0">
              <a:latin typeface="Courier"/>
            </a:endParaRPr>
          </a:p>
          <a:p>
            <a:pPr lvl="0" indent="0">
              <a:buNone/>
            </a:pPr>
            <a:r>
              <a:rPr dirty="0">
                <a:latin typeface="Courier"/>
              </a:rPr>
              <a:t>[</a:t>
            </a:r>
            <a:r>
              <a:rPr b="1" dirty="0">
                <a:solidFill>
                  <a:srgbClr val="007020"/>
                </a:solidFill>
                <a:latin typeface="Courier"/>
              </a:rPr>
              <a:t>ORDER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BY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..</a:t>
            </a:r>
            <a:r>
              <a:rPr dirty="0">
                <a:latin typeface="Courier"/>
              </a:rPr>
              <a:t>.]</a:t>
            </a:r>
            <a:endParaRPr lang="en-US" dirty="0">
              <a:latin typeface="Courier"/>
            </a:endParaRPr>
          </a:p>
          <a:p>
            <a:pPr lvl="0" indent="0">
              <a:buNone/>
            </a:pPr>
            <a:r>
              <a:rPr dirty="0">
                <a:latin typeface="Courier"/>
              </a:rPr>
              <a:t>)</a:t>
            </a:r>
            <a:endParaRPr lang="en-US" dirty="0">
              <a:latin typeface="Couri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ALL (optional):</a:t>
            </a:r>
            <a:r>
              <a:rPr lang="en-US" dirty="0"/>
              <a:t> count all values along with duplicates. </a:t>
            </a:r>
            <a:br>
              <a:rPr lang="en-US" dirty="0"/>
            </a:br>
            <a:r>
              <a:rPr lang="en-US" dirty="0"/>
              <a:t>				We </a:t>
            </a:r>
            <a:r>
              <a:rPr lang="en-US" u="sng" dirty="0"/>
              <a:t>cannot</a:t>
            </a:r>
            <a:r>
              <a:rPr lang="en-US" dirty="0"/>
              <a:t> use the DISTINCT keyword in window functions.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Expression:</a:t>
            </a:r>
            <a:r>
              <a:rPr lang="en-US" dirty="0"/>
              <a:t> the column name for which we calculate an aggregated value.</a:t>
            </a:r>
          </a:p>
          <a:p>
            <a:pPr lvl="0" indent="0">
              <a:buNone/>
            </a:pPr>
            <a:endParaRPr dirty="0">
              <a:latin typeface="Courier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Window Functions: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OVER:</a:t>
            </a:r>
            <a:r>
              <a:t> defines the window.</a:t>
            </a:r>
          </a:p>
          <a:p>
            <a:pPr lvl="0"/>
            <a:r>
              <a:rPr b="1"/>
              <a:t>PARTITION BY:</a:t>
            </a:r>
            <a:r>
              <a:t> splits rows into partitions for independent calculations.</a:t>
            </a:r>
          </a:p>
          <a:p>
            <a:pPr lvl="0"/>
            <a:r>
              <a:rPr b="1"/>
              <a:t>ORDER BY:</a:t>
            </a:r>
            <a:r>
              <a:t> defines row order within each partition.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Types of Window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 dirty="0"/>
              <a:t>Aggregate window functions</a:t>
            </a:r>
            <a:endParaRPr dirty="0">
              <a:latin typeface="Courier"/>
            </a:endParaRPr>
          </a:p>
          <a:p>
            <a:pPr lvl="0"/>
            <a:r>
              <a:rPr b="1" dirty="0"/>
              <a:t>Ranking window functions</a:t>
            </a:r>
            <a:endParaRPr lang="en-US" b="1" dirty="0"/>
          </a:p>
          <a:p>
            <a:pPr lvl="0"/>
            <a:r>
              <a:rPr b="1" dirty="0"/>
              <a:t>Value window functions</a:t>
            </a:r>
            <a:endParaRPr dirty="0">
              <a:latin typeface="Courier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— Sales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CREATE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 Sales (</a:t>
            </a:r>
            <a:br/>
            <a:r>
              <a:rPr>
                <a:latin typeface="Courier"/>
              </a:rPr>
              <a:t>  Employee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Country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Product </a:t>
            </a:r>
            <a:r>
              <a:rPr>
                <a:solidFill>
                  <a:srgbClr val="902000"/>
                </a:solidFill>
                <a:latin typeface="Courier"/>
              </a:rPr>
              <a:t>VARCHAR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Amount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PRIMARY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KEY</a:t>
            </a:r>
            <a:r>
              <a:rPr>
                <a:latin typeface="Courier"/>
              </a:rPr>
              <a:t> (Employee,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Aggregate Window Functions —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Employee,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, Country, Product, 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(Amount)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Total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SUM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591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 Peretz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 Peretz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 Peretz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Omer Doron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Omer Doron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Aggregate Window Functions — AVG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Employee,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, Country, Product, 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(Amount)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Country,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))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AvgSales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AVG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591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AvgSales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 Peretz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 Peretz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 Peretz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Omer Doron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Omer Doron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Aggregate Window Functions —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Employee,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, Country, Product, 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(Product)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TotalProduct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Aggregate Window Functions — 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Employee,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, Country, Product, 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(Product)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TotalProduct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Ranking Window Functions — Data for Examples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Luisa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Evans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Alaska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Bennett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Patterson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Huges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Florida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Marielia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Simmons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Butler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—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FirstName, LastName, City,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RANK</a:t>
            </a:r>
            <a:r>
              <a:rPr>
                <a:latin typeface="Courier"/>
              </a:rPr>
              <a:t>()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RankNo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RANK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17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RankNo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Alaska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Bennett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Huges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Florida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Patterson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Butler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Luisa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Evans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Marielia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Simmons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— DENSE_RANK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FirstName, LastName, City,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DENSE_RANK</a:t>
            </a:r>
            <a:r>
              <a:rPr>
                <a:latin typeface="Courier"/>
              </a:rPr>
              <a:t>()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RankNo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DENSE_RANK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17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RankNo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Alaska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Bennett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Huges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Florida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Patterson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Butler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Luisa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Evans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Marielia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Simmons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— NTILE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FirstName, LastName, City,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NTILE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RankNo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table</a:t>
            </a:r>
            <a:r>
              <a:rPr>
                <a:latin typeface="Courier"/>
              </a:rPr>
              <a:t>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NTILE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17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RankNo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Alaska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Bennett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Huges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Florida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Patterson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Butler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Luisa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Evans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Marielia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Simmons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Value Window Functions — 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, Product, Country, 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LEAD</a:t>
            </a:r>
            <a:r>
              <a:rPr>
                <a:latin typeface="Courier"/>
              </a:rPr>
              <a:t>(Amount,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NextAmount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LEAD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045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NextAmount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Value Window Functions —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, Product, Country, 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LAG</a:t>
            </a:r>
            <a:r>
              <a:rPr>
                <a:latin typeface="Courier"/>
              </a:rPr>
              <a:t>(Amount,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PrevAmount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LAG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045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PrevAmount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FIRST_VALUE / LAST_VALUE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Year</a:t>
            </a:r>
            <a:r>
              <a:rPr>
                <a:latin typeface="Courier"/>
              </a:rPr>
              <a:t>, Product, Country, 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FIRST_VALUE</a:t>
            </a:r>
            <a:r>
              <a:rPr>
                <a:latin typeface="Courier"/>
              </a:rPr>
              <a:t>(Amount)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 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FirstAmount,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LAST_VALUE</a:t>
            </a:r>
            <a:r>
              <a:rPr>
                <a:latin typeface="Courier"/>
              </a:rPr>
              <a:t>(Amount)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 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Country)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LastAmount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FIRST_VALUE / LAST_VALUE Output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591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FirstAmount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LastAmount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Correct join choice controls both correctness and NULL behavior.</a:t>
            </a:r>
          </a:p>
          <a:p>
            <a:pPr lvl="0"/>
            <a:r>
              <a:t>Subqueries with </a:t>
            </a:r>
            <a:r>
              <a:rPr>
                <a:latin typeface="Courier"/>
              </a:rPr>
              <a:t>ALL</a:t>
            </a:r>
            <a:r>
              <a:t>, </a:t>
            </a:r>
            <a:r>
              <a:rPr>
                <a:latin typeface="Courier"/>
              </a:rPr>
              <a:t>IN</a:t>
            </a:r>
            <a:r>
              <a:t>, and </a:t>
            </a:r>
            <a:r>
              <a:rPr>
                <a:latin typeface="Courier"/>
              </a:rPr>
              <a:t>EXISTS</a:t>
            </a:r>
            <a:r>
              <a:t> express different logical checks.</a:t>
            </a:r>
          </a:p>
          <a:p>
            <a:pPr lvl="0"/>
            <a:r>
              <a:t>Window functions enable analytics patterns without losing row-level detail.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Microsoft Macintosh PowerPoint</Application>
  <PresentationFormat>מסך רחב</PresentationFormat>
  <Paragraphs>528</Paragraphs>
  <Slides>43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43</vt:i4>
      </vt:variant>
    </vt:vector>
  </HeadingPairs>
  <TitlesOfParts>
    <vt:vector size="47" baseType="lpstr">
      <vt:lpstr>Arial</vt:lpstr>
      <vt:lpstr>Calibri</vt:lpstr>
      <vt:lpstr>Courier</vt:lpstr>
      <vt:lpstr>Office Theme</vt:lpstr>
      <vt:lpstr>Week 2: SQL Optimization and Advanced Querying</vt:lpstr>
      <vt:lpstr>Learning Objectives</vt:lpstr>
      <vt:lpstr>SQL Foundations (DML vs. DDL)</vt:lpstr>
      <vt:lpstr>Create + Insert + Verify (Example)</vt:lpstr>
      <vt:lpstr>Joining Tables — Why We Need Joins</vt:lpstr>
      <vt:lpstr>Example: Students and Courses Tables</vt:lpstr>
      <vt:lpstr>How to Merge Two Tables? — Option 1</vt:lpstr>
      <vt:lpstr>Option 2 (Explicit JOIN)</vt:lpstr>
      <vt:lpstr>ON vs. USING</vt:lpstr>
      <vt:lpstr>Join Types</vt:lpstr>
      <vt:lpstr>Join Types: LEFT / RIGHT / FULL</vt:lpstr>
      <vt:lpstr>Handling NULL Values</vt:lpstr>
      <vt:lpstr>Example: Find Rows with Missing Course Data</vt:lpstr>
      <vt:lpstr>Store Query in NewCourses (Filter NULLs)</vt:lpstr>
      <vt:lpstr>Subqueries: ALL</vt:lpstr>
      <vt:lpstr>Subqueries: IN</vt:lpstr>
      <vt:lpstr>Subqueries: EXISTS</vt:lpstr>
      <vt:lpstr>What is Window Functions?</vt:lpstr>
      <vt:lpstr>What is Window Functions?</vt:lpstr>
      <vt:lpstr>Window Functions: Syntax</vt:lpstr>
      <vt:lpstr>Window Functions: Clauses</vt:lpstr>
      <vt:lpstr>Types of Window Functions</vt:lpstr>
      <vt:lpstr>Example — Sales Table</vt:lpstr>
      <vt:lpstr>Aggregate Window Functions — SUM</vt:lpstr>
      <vt:lpstr>SUM Output</vt:lpstr>
      <vt:lpstr>Aggregate Window Functions — AVG</vt:lpstr>
      <vt:lpstr>AVG Output</vt:lpstr>
      <vt:lpstr>Aggregate Window Functions — COUNT</vt:lpstr>
      <vt:lpstr>Aggregate Window Functions — MAX</vt:lpstr>
      <vt:lpstr>Ranking Window Functions — Data for Examples</vt:lpstr>
      <vt:lpstr>Example — RANK</vt:lpstr>
      <vt:lpstr>RANK Output</vt:lpstr>
      <vt:lpstr>Example — DENSE_RANK</vt:lpstr>
      <vt:lpstr>DENSE_RANK Output</vt:lpstr>
      <vt:lpstr>Example — NTILE</vt:lpstr>
      <vt:lpstr>NTILE Output</vt:lpstr>
      <vt:lpstr>Value Window Functions — LEAD</vt:lpstr>
      <vt:lpstr>LEAD Output</vt:lpstr>
      <vt:lpstr>Value Window Functions — LAG</vt:lpstr>
      <vt:lpstr>LAG Output</vt:lpstr>
      <vt:lpstr>FIRST_VALUE / LAST_VALUE</vt:lpstr>
      <vt:lpstr>FIRST_VALUE / LAST_VALUE Output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18</Words>
  <Application>Microsoft Macintosh PowerPoint</Application>
  <PresentationFormat>מסך רחב</PresentationFormat>
  <Paragraphs>12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Or Perets</cp:lastModifiedBy>
  <cp:revision>1</cp:revision>
  <dcterms:created xsi:type="dcterms:W3CDTF">2026-02-09T04:44:06Z</dcterms:created>
  <dcterms:modified xsi:type="dcterms:W3CDTF">2026-02-09T13:10:37Z</dcterms:modified>
</cp:coreProperties>
</file>