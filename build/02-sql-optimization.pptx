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9" r:id="rId3"/>
    <p:sldId id="280" r:id="rId4"/>
    <p:sldId id="281" r:id="rId5"/>
    <p:sldId id="282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5" r:id="rId18"/>
    <p:sldId id="297" r:id="rId19"/>
    <p:sldId id="299" r:id="rId20"/>
    <p:sldId id="301" r:id="rId21"/>
    <p:sldId id="30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073A0DAA-6AF3-43AB-8588-CEC1D06C72B9}" styleName="סגנון ביניים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3"/>
    <p:restoredTop sz="94811"/>
  </p:normalViewPr>
  <p:slideViewPr>
    <p:cSldViewPr snapToGrid="0" snapToObjects="1">
      <p:cViewPr varScale="1">
        <p:scale>
          <a:sx n="104" d="100"/>
          <a:sy n="104" d="100"/>
        </p:scale>
        <p:origin x="4120" y="41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6840" y="1600201"/>
            <a:ext cx="660142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7894" y="2569580"/>
            <a:ext cx="5864506" cy="355658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25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25 מרץ,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25 מרץ,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1D8F28D-D1D2-34A5-D88A-549DD7AD70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25 מרץ,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F1439EE-8346-69C4-2D2A-C45C952E131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6768" y="1600201"/>
            <a:ext cx="10635632" cy="4525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25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E56AFE-36F7-8DA5-652B-89A25DA319A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57403" y="1417638"/>
            <a:ext cx="7624997" cy="4357028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38FFFFD-68E9-C4E4-7764-523BAE32B83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965200" y="1417638"/>
            <a:ext cx="2844801" cy="4357028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25 מרץ,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768" y="1600201"/>
            <a:ext cx="1063563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25 מרץ,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720016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SQL Optimization and Advanced Querying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What is Window Functions?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Window functions are used to </a:t>
            </a:r>
            <a:r>
              <a:rPr lang="en-US" b="1" dirty="0"/>
              <a:t>perform a calculation </a:t>
            </a:r>
            <a:br>
              <a:rPr lang="en-US" b="1" dirty="0"/>
            </a:br>
            <a:r>
              <a:rPr lang="en-US" b="1" dirty="0"/>
              <a:t>on an aggregate value</a:t>
            </a:r>
            <a:r>
              <a:rPr lang="en-US" dirty="0"/>
              <a:t> based on a set of rows.</a:t>
            </a:r>
            <a:br>
              <a:rPr lang="en-US" dirty="0"/>
            </a:br>
            <a:r>
              <a:rPr lang="en-US" dirty="0"/>
              <a:t>Return multiple rows for each group. </a:t>
            </a:r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2" descr="Intro to SQL Window Functions | Toptal">
            <a:extLst>
              <a:ext uri="{FF2B5EF4-FFF2-40B4-BE49-F238E27FC236}">
                <a16:creationId xmlns:a16="http://schemas.microsoft.com/office/drawing/2014/main" id="{BCDCF424-2AA6-7376-FB0B-B104F590F1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0"/>
          <a:stretch/>
        </p:blipFill>
        <p:spPr bwMode="auto">
          <a:xfrm>
            <a:off x="1282834" y="3583460"/>
            <a:ext cx="9065187" cy="245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Window Functions: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 fontScale="92500" lnSpcReduction="20000"/>
          </a:bodyPr>
          <a:lstStyle/>
          <a:p>
            <a:pPr lvl="0" indent="0">
              <a:buNone/>
            </a:pPr>
            <a:r>
              <a:rPr dirty="0" err="1">
                <a:latin typeface="Courier"/>
              </a:rPr>
              <a:t>window_function_name</a:t>
            </a:r>
            <a:r>
              <a:rPr dirty="0">
                <a:latin typeface="Courier"/>
              </a:rPr>
              <a:t>([</a:t>
            </a:r>
            <a:r>
              <a:rPr b="1" dirty="0">
                <a:solidFill>
                  <a:srgbClr val="007020"/>
                </a:solidFill>
                <a:latin typeface="Courier"/>
              </a:rPr>
              <a:t>ALL</a:t>
            </a:r>
            <a:r>
              <a:rPr dirty="0">
                <a:latin typeface="Courier"/>
              </a:rPr>
              <a:t>] expression)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OVER</a:t>
            </a:r>
            <a:r>
              <a:rPr dirty="0">
                <a:latin typeface="Courier"/>
              </a:rPr>
              <a:t> (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dirty="0">
                <a:latin typeface="Courier"/>
              </a:rPr>
              <a:t>[</a:t>
            </a:r>
            <a:r>
              <a:rPr b="1" dirty="0">
                <a:solidFill>
                  <a:srgbClr val="007020"/>
                </a:solidFill>
                <a:latin typeface="Courier"/>
              </a:rPr>
              <a:t>PARTITION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..</a:t>
            </a:r>
            <a:r>
              <a:rPr dirty="0">
                <a:latin typeface="Courier"/>
              </a:rPr>
              <a:t>.] 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dirty="0">
                <a:latin typeface="Courier"/>
              </a:rPr>
              <a:t>[</a:t>
            </a:r>
            <a:r>
              <a:rPr b="1" dirty="0">
                <a:solidFill>
                  <a:srgbClr val="007020"/>
                </a:solidFill>
                <a:latin typeface="Courier"/>
              </a:rPr>
              <a:t>ORDER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..</a:t>
            </a:r>
            <a:r>
              <a:rPr dirty="0">
                <a:latin typeface="Courier"/>
              </a:rPr>
              <a:t>.]</a:t>
            </a:r>
            <a:endParaRPr lang="en-US" dirty="0">
              <a:latin typeface="Courier"/>
            </a:endParaRPr>
          </a:p>
          <a:p>
            <a:pPr lvl="0" indent="0">
              <a:buNone/>
            </a:pPr>
            <a:r>
              <a:rPr dirty="0">
                <a:latin typeface="Courier"/>
              </a:rPr>
              <a:t>)</a:t>
            </a:r>
            <a:endParaRPr lang="en-US" dirty="0">
              <a:latin typeface="Couri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ALL (optional):</a:t>
            </a:r>
            <a:r>
              <a:rPr lang="en-US" dirty="0"/>
              <a:t> count all values along with duplicates. </a:t>
            </a:r>
            <a:br>
              <a:rPr lang="en-US" dirty="0"/>
            </a:br>
            <a:r>
              <a:rPr lang="en-US" dirty="0"/>
              <a:t>				We </a:t>
            </a:r>
            <a:r>
              <a:rPr lang="en-US" u="sng" dirty="0"/>
              <a:t>cannot</a:t>
            </a:r>
            <a:r>
              <a:rPr lang="en-US" dirty="0"/>
              <a:t> use the DISTINCT keyword in window functions.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Expression:</a:t>
            </a:r>
            <a:r>
              <a:rPr lang="en-US" dirty="0"/>
              <a:t> the column name for which we calculate an aggregated value.</a:t>
            </a:r>
          </a:p>
          <a:p>
            <a:pPr lvl="0" indent="0">
              <a:buNone/>
            </a:pPr>
            <a:endParaRPr dirty="0">
              <a:latin typeface="Courier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Window Functions: Clauses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b="1"/>
              <a:t>OVER:</a:t>
            </a:r>
            <a:r>
              <a:t> defines the window.</a:t>
            </a:r>
          </a:p>
          <a:p>
            <a:pPr lvl="0"/>
            <a:r>
              <a:rPr b="1"/>
              <a:t>PARTITION BY:</a:t>
            </a:r>
            <a:r>
              <a:t> splits rows into partitions for independent calculations.</a:t>
            </a:r>
          </a:p>
          <a:p>
            <a:pPr lvl="0"/>
            <a:r>
              <a:rPr b="1"/>
              <a:t>ORDER BY:</a:t>
            </a:r>
            <a:r>
              <a:t> defines row order within each partition.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Types of Window Functions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pic>
        <p:nvPicPr>
          <p:cNvPr id="4" name="תמונה 3" descr="Understanding Window Functions in SQL">
            <a:extLst>
              <a:ext uri="{FF2B5EF4-FFF2-40B4-BE49-F238E27FC236}">
                <a16:creationId xmlns:a16="http://schemas.microsoft.com/office/drawing/2014/main" id="{B91F4549-CD32-7A50-375F-600993FD9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084" y="1808376"/>
            <a:ext cx="7075477" cy="41352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</a:t>
            </a:r>
            <a:r>
              <a:rPr lang="en-US" dirty="0"/>
              <a:t>:</a:t>
            </a:r>
            <a:r>
              <a:rPr dirty="0"/>
              <a:t> Sales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CREATE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 Sales (</a:t>
            </a:r>
            <a:br/>
            <a:r>
              <a:rPr>
                <a:latin typeface="Courier"/>
              </a:rPr>
              <a:t>  Employee </a:t>
            </a:r>
            <a:r>
              <a:rPr>
                <a:solidFill>
                  <a:srgbClr val="902000"/>
                </a:solidFill>
                <a:latin typeface="Courier"/>
              </a:rPr>
              <a:t>VARCHAR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NULL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NULL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Country </a:t>
            </a:r>
            <a:r>
              <a:rPr>
                <a:solidFill>
                  <a:srgbClr val="902000"/>
                </a:solidFill>
                <a:latin typeface="Courier"/>
              </a:rPr>
              <a:t>VARCHAR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NULL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Product </a:t>
            </a:r>
            <a:r>
              <a:rPr>
                <a:solidFill>
                  <a:srgbClr val="902000"/>
                </a:solidFill>
                <a:latin typeface="Courier"/>
              </a:rPr>
              <a:t>VARCHAR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45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NULL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Amount </a:t>
            </a:r>
            <a:r>
              <a:rPr>
                <a:solidFill>
                  <a:srgbClr val="902000"/>
                </a:solidFill>
                <a:latin typeface="Courier"/>
              </a:rPr>
              <a:t>DECIMAL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NOT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NULL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 b="1">
                <a:solidFill>
                  <a:srgbClr val="007020"/>
                </a:solidFill>
                <a:latin typeface="Courier"/>
              </a:rPr>
              <a:t>PRIMARY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KEY</a:t>
            </a:r>
            <a:r>
              <a:rPr>
                <a:latin typeface="Courier"/>
              </a:rPr>
              <a:t> (Employee,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Aggregate Window Functions </a:t>
            </a:r>
            <a:r>
              <a:rPr lang="en-US" dirty="0"/>
              <a:t>-</a:t>
            </a:r>
            <a:r>
              <a:rPr dirty="0"/>
              <a:t> SUM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Employee, 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, Country, </a:t>
            </a:r>
            <a:br>
              <a:rPr lang="en-US" dirty="0">
                <a:latin typeface="Courier"/>
              </a:rPr>
            </a:br>
            <a:r>
              <a:rPr lang="en-US" dirty="0">
                <a:latin typeface="Courier"/>
              </a:rPr>
              <a:t>				</a:t>
            </a:r>
            <a:r>
              <a:rPr dirty="0">
                <a:latin typeface="Courier"/>
              </a:rPr>
              <a:t>Product, Amount,</a:t>
            </a:r>
            <a:br>
              <a:rPr dirty="0"/>
            </a:br>
            <a:r>
              <a:rPr dirty="0">
                <a:latin typeface="Courier"/>
              </a:rPr>
              <a:t>       </a:t>
            </a:r>
            <a:r>
              <a:rPr dirty="0">
                <a:solidFill>
                  <a:srgbClr val="06287E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(Amount) </a:t>
            </a:r>
            <a:r>
              <a:rPr b="1" dirty="0">
                <a:solidFill>
                  <a:srgbClr val="007020"/>
                </a:solidFill>
                <a:latin typeface="Courier"/>
              </a:rPr>
              <a:t>OVER</a:t>
            </a:r>
            <a:r>
              <a:rPr dirty="0">
                <a:latin typeface="Courier"/>
              </a:rPr>
              <a:t> (</a:t>
            </a:r>
            <a:r>
              <a:rPr b="1" dirty="0">
                <a:solidFill>
                  <a:srgbClr val="007020"/>
                </a:solidFill>
                <a:latin typeface="Courier"/>
              </a:rPr>
              <a:t>PARTITION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Country)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Total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SUM Output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9895072"/>
              </p:ext>
            </p:extLst>
          </p:nvPr>
        </p:nvGraphicFramePr>
        <p:xfrm>
          <a:off x="800100" y="2452816"/>
          <a:ext cx="105918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Employee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Computer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45000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Computer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45000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45000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Omer Doron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30000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Omer Doron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Mobile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30000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Aggregate Window Functions </a:t>
            </a:r>
            <a:r>
              <a:rPr lang="en-US" dirty="0"/>
              <a:t>-</a:t>
            </a:r>
            <a:r>
              <a:rPr dirty="0"/>
              <a:t> AVG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Employee, 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, </a:t>
            </a:r>
            <a:br>
              <a:rPr lang="en-US" dirty="0">
                <a:latin typeface="Courier"/>
              </a:rPr>
            </a:br>
            <a:r>
              <a:rPr lang="en-US" dirty="0">
                <a:latin typeface="Courier"/>
              </a:rPr>
              <a:t>				</a:t>
            </a:r>
            <a:r>
              <a:rPr dirty="0">
                <a:latin typeface="Courier"/>
              </a:rPr>
              <a:t>Country, Product, Amount,</a:t>
            </a:r>
            <a:br>
              <a:rPr dirty="0"/>
            </a:br>
            <a:r>
              <a:rPr dirty="0">
                <a:latin typeface="Courier"/>
              </a:rPr>
              <a:t>       </a:t>
            </a:r>
            <a:r>
              <a:rPr dirty="0">
                <a:solidFill>
                  <a:srgbClr val="06287E"/>
                </a:solidFill>
                <a:latin typeface="Courier"/>
              </a:rPr>
              <a:t>AVG</a:t>
            </a:r>
            <a:r>
              <a:rPr dirty="0">
                <a:latin typeface="Courier"/>
              </a:rPr>
              <a:t>(Amount) </a:t>
            </a:r>
            <a:r>
              <a:rPr b="1" dirty="0">
                <a:solidFill>
                  <a:srgbClr val="007020"/>
                </a:solidFill>
                <a:latin typeface="Courier"/>
              </a:rPr>
              <a:t>OVER</a:t>
            </a:r>
            <a:r>
              <a:rPr dirty="0">
                <a:latin typeface="Courier"/>
              </a:rPr>
              <a:t> (</a:t>
            </a:r>
            <a:r>
              <a:rPr b="1" dirty="0">
                <a:solidFill>
                  <a:srgbClr val="007020"/>
                </a:solidFill>
                <a:latin typeface="Courier"/>
              </a:rPr>
              <a:t>PARTITION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Country, 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))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AvgSales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AVG Output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5683974"/>
              </p:ext>
            </p:extLst>
          </p:nvPr>
        </p:nvGraphicFramePr>
        <p:xfrm>
          <a:off x="800100" y="2344077"/>
          <a:ext cx="10591800" cy="2194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6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Employee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AvgSales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Computer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Computer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Or Peretz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Israel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Omer Doron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Omer Doron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Mobile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15000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Aggregate Window Functions </a:t>
            </a:r>
            <a:r>
              <a:rPr lang="en-US" dirty="0"/>
              <a:t>-</a:t>
            </a:r>
            <a:r>
              <a:rPr dirty="0"/>
              <a:t> 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Employee, 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, </a:t>
            </a:r>
            <a:br>
              <a:rPr lang="en-US" dirty="0">
                <a:latin typeface="Courier"/>
              </a:rPr>
            </a:br>
            <a:r>
              <a:rPr lang="en-US" dirty="0">
                <a:latin typeface="Courier"/>
              </a:rPr>
              <a:t>				</a:t>
            </a:r>
            <a:r>
              <a:rPr dirty="0">
                <a:latin typeface="Courier"/>
              </a:rPr>
              <a:t>Country, Product, Amount,</a:t>
            </a:r>
            <a:br>
              <a:rPr dirty="0"/>
            </a:br>
            <a:r>
              <a:rPr dirty="0">
                <a:latin typeface="Courier"/>
              </a:rPr>
              <a:t>       </a:t>
            </a:r>
            <a:r>
              <a:rPr dirty="0">
                <a:solidFill>
                  <a:srgbClr val="06287E"/>
                </a:solidFill>
                <a:latin typeface="Courier"/>
              </a:rPr>
              <a:t>COUNT</a:t>
            </a:r>
            <a:r>
              <a:rPr dirty="0">
                <a:latin typeface="Courier"/>
              </a:rPr>
              <a:t>(Product) </a:t>
            </a:r>
            <a:r>
              <a:rPr b="1" dirty="0">
                <a:solidFill>
                  <a:srgbClr val="007020"/>
                </a:solidFill>
                <a:latin typeface="Courier"/>
              </a:rPr>
              <a:t>OVER</a:t>
            </a:r>
            <a:r>
              <a:rPr dirty="0">
                <a:latin typeface="Courier"/>
              </a:rPr>
              <a:t> (</a:t>
            </a:r>
            <a:r>
              <a:rPr b="1" dirty="0">
                <a:solidFill>
                  <a:srgbClr val="007020"/>
                </a:solidFill>
                <a:latin typeface="Courier"/>
              </a:rPr>
              <a:t>PARTITION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Country)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TotalProduct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Aggregate Window Functions </a:t>
            </a:r>
            <a:r>
              <a:rPr lang="en-US" dirty="0"/>
              <a:t>-</a:t>
            </a:r>
            <a:r>
              <a:rPr dirty="0"/>
              <a:t> MAX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SELECT</a:t>
            </a:r>
            <a:r>
              <a:rPr dirty="0">
                <a:latin typeface="Courier"/>
              </a:rPr>
              <a:t> Employee, </a:t>
            </a:r>
            <a:r>
              <a:rPr dirty="0">
                <a:solidFill>
                  <a:srgbClr val="902000"/>
                </a:solidFill>
                <a:latin typeface="Courier"/>
              </a:rPr>
              <a:t>Year</a:t>
            </a:r>
            <a:r>
              <a:rPr dirty="0">
                <a:latin typeface="Courier"/>
              </a:rPr>
              <a:t>, </a:t>
            </a:r>
            <a:br>
              <a:rPr lang="en-US" dirty="0">
                <a:latin typeface="Courier"/>
              </a:rPr>
            </a:br>
            <a:r>
              <a:rPr lang="en-US" dirty="0">
                <a:latin typeface="Courier"/>
              </a:rPr>
              <a:t>				</a:t>
            </a:r>
            <a:r>
              <a:rPr dirty="0">
                <a:latin typeface="Courier"/>
              </a:rPr>
              <a:t>Country, Product, Amount,</a:t>
            </a:r>
            <a:br>
              <a:rPr dirty="0"/>
            </a:br>
            <a:r>
              <a:rPr dirty="0">
                <a:latin typeface="Courier"/>
              </a:rPr>
              <a:t>       </a:t>
            </a:r>
            <a:r>
              <a:rPr dirty="0">
                <a:solidFill>
                  <a:srgbClr val="06287E"/>
                </a:solidFill>
                <a:latin typeface="Courier"/>
              </a:rPr>
              <a:t>MAX</a:t>
            </a:r>
            <a:r>
              <a:rPr dirty="0">
                <a:latin typeface="Courier"/>
              </a:rPr>
              <a:t>(Product) </a:t>
            </a:r>
            <a:r>
              <a:rPr b="1" dirty="0">
                <a:solidFill>
                  <a:srgbClr val="007020"/>
                </a:solidFill>
                <a:latin typeface="Courier"/>
              </a:rPr>
              <a:t>OVER</a:t>
            </a:r>
            <a:r>
              <a:rPr dirty="0">
                <a:latin typeface="Courier"/>
              </a:rPr>
              <a:t> (</a:t>
            </a:r>
            <a:r>
              <a:rPr b="1" dirty="0">
                <a:solidFill>
                  <a:srgbClr val="007020"/>
                </a:solidFill>
                <a:latin typeface="Courier"/>
              </a:rPr>
              <a:t>PARTITION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BY</a:t>
            </a:r>
            <a:r>
              <a:rPr dirty="0">
                <a:latin typeface="Courier"/>
              </a:rPr>
              <a:t> Country) </a:t>
            </a:r>
            <a:r>
              <a:rPr b="1" dirty="0">
                <a:solidFill>
                  <a:srgbClr val="00702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TotalProduct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Courier"/>
              </a:rPr>
              <a:t>FROM</a:t>
            </a:r>
            <a:r>
              <a:rPr dirty="0"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Ranking Window Functions </a:t>
            </a:r>
            <a:r>
              <a:rPr lang="en-US" dirty="0"/>
              <a:t>-</a:t>
            </a:r>
            <a:r>
              <a:rPr dirty="0"/>
              <a:t> Data for Examples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9821510"/>
              </p:ext>
            </p:extLst>
          </p:nvPr>
        </p:nvGraphicFramePr>
        <p:xfrm>
          <a:off x="939800" y="1600200"/>
          <a:ext cx="10629900" cy="3291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FirstName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LastName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Luisa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Evans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Texas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Alaska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Bennett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California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Carlos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Patterson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New York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Rose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Huges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Florida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Marielia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Simmons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Texas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Antonio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Butler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New York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Diego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California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</a:t>
            </a:r>
            <a:r>
              <a:rPr lang="en-US" dirty="0"/>
              <a:t>-</a:t>
            </a:r>
            <a:r>
              <a:rPr dirty="0"/>
              <a:t> RANK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FirstName, LastName, City,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RANK</a:t>
            </a:r>
            <a:r>
              <a:rPr>
                <a:latin typeface="Courier"/>
              </a:rPr>
              <a:t>()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City)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RankNo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RANK Output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8007699"/>
              </p:ext>
            </p:extLst>
          </p:nvPr>
        </p:nvGraphicFramePr>
        <p:xfrm>
          <a:off x="939800" y="1600200"/>
          <a:ext cx="10617200" cy="3291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4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4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FirstName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LastName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RankNo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Alaska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Bennett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California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Diego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California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Rose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Huges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Florida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Carlos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Patterson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Antonio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Butler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Luisa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Evans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Texas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Marielia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Simmons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t>Texas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</a:t>
            </a:r>
            <a:r>
              <a:rPr lang="en-US" dirty="0"/>
              <a:t>-</a:t>
            </a:r>
            <a:r>
              <a:rPr dirty="0"/>
              <a:t> DENSE_RANK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FirstName, LastName, City,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DENSE_RANK</a:t>
            </a:r>
            <a:r>
              <a:rPr>
                <a:latin typeface="Courier"/>
              </a:rPr>
              <a:t>()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City)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RankNo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</a:t>
            </a:r>
            <a:r>
              <a:rPr lang="en-US" dirty="0"/>
              <a:t>-</a:t>
            </a:r>
            <a:r>
              <a:rPr dirty="0"/>
              <a:t> NTILE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FirstName, LastName, City,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NTILE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City)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RankNo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 Window Functions </a:t>
            </a:r>
            <a:r>
              <a:rPr lang="en-US" dirty="0"/>
              <a:t>-</a:t>
            </a:r>
            <a:r>
              <a:rPr dirty="0"/>
              <a:t> LEAD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, Product, Country, Amount,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LEAD</a:t>
            </a:r>
            <a:r>
              <a:rPr>
                <a:latin typeface="Courier"/>
              </a:rPr>
              <a:t>(Amount,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NextAmount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Value Window Functions </a:t>
            </a:r>
            <a:r>
              <a:rPr lang="en-US" dirty="0"/>
              <a:t>-</a:t>
            </a:r>
            <a:r>
              <a:rPr dirty="0"/>
              <a:t> LAG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, Product, Country, Amount,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LAG</a:t>
            </a:r>
            <a:r>
              <a:rPr>
                <a:latin typeface="Courier"/>
              </a:rPr>
              <a:t>(Amount,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PrevAmount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FIRST_VALUE / LAST_VALUE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Year</a:t>
            </a:r>
            <a:r>
              <a:rPr>
                <a:latin typeface="Courier"/>
              </a:rPr>
              <a:t>, Product, Country, Amount,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FIRST_VALUE</a:t>
            </a:r>
            <a:r>
              <a:rPr>
                <a:latin typeface="Courier"/>
              </a:rPr>
              <a:t>(Amount)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FirstAmount,</a:t>
            </a:r>
            <a:br/>
            <a:r>
              <a:rPr>
                <a:latin typeface="Courier"/>
              </a:rPr>
              <a:t>       </a:t>
            </a:r>
            <a:r>
              <a:rPr>
                <a:solidFill>
                  <a:srgbClr val="06287E"/>
                </a:solidFill>
                <a:latin typeface="Courier"/>
              </a:rPr>
              <a:t>LAST_VALUE</a:t>
            </a:r>
            <a:r>
              <a:rPr>
                <a:latin typeface="Courier"/>
              </a:rPr>
              <a:t>(Amount) </a:t>
            </a:r>
            <a:r>
              <a:rPr b="1">
                <a:solidFill>
                  <a:srgbClr val="007020"/>
                </a:solidFill>
                <a:latin typeface="Courier"/>
              </a:rPr>
              <a:t>OVER</a:t>
            </a:r>
            <a:r>
              <a:rPr>
                <a:latin typeface="Courier"/>
              </a:rPr>
              <a:t> (</a:t>
            </a:r>
            <a:r>
              <a:rPr b="1">
                <a:solidFill>
                  <a:srgbClr val="007020"/>
                </a:solidFill>
                <a:latin typeface="Courier"/>
              </a:rPr>
              <a:t>PARTITION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 </a:t>
            </a:r>
            <a:r>
              <a:rPr b="1">
                <a:solidFill>
                  <a:srgbClr val="007020"/>
                </a:solidFill>
                <a:latin typeface="Courier"/>
              </a:rPr>
              <a:t>ORDER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BY</a:t>
            </a:r>
            <a:r>
              <a:rPr>
                <a:latin typeface="Courier"/>
              </a:rPr>
              <a:t> Country) </a:t>
            </a:r>
            <a:r>
              <a:rPr b="1">
                <a:solidFill>
                  <a:srgbClr val="00702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LastAmount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Sales;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t>Correct join choice controls both correctness and NULL behavior.</a:t>
            </a:r>
          </a:p>
          <a:p>
            <a:pPr lvl="0"/>
            <a:r>
              <a:t>Subqueries with </a:t>
            </a:r>
            <a:r>
              <a:rPr>
                <a:latin typeface="Courier"/>
              </a:rPr>
              <a:t>ALL</a:t>
            </a:r>
            <a:r>
              <a:t>, </a:t>
            </a:r>
            <a:r>
              <a:rPr>
                <a:latin typeface="Courier"/>
              </a:rPr>
              <a:t>IN</a:t>
            </a:r>
            <a:r>
              <a:t>, and </a:t>
            </a:r>
            <a:r>
              <a:rPr>
                <a:latin typeface="Courier"/>
              </a:rPr>
              <a:t>EXISTS</a:t>
            </a:r>
            <a:r>
              <a:t> express different logical checks.</a:t>
            </a:r>
          </a:p>
          <a:p>
            <a:pPr lvl="0"/>
            <a:r>
              <a:t>Window functions enable analytics patterns without losing row-level detail.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841</Words>
  <Application>Microsoft Macintosh PowerPoint</Application>
  <PresentationFormat>מסך רחב</PresentationFormat>
  <Paragraphs>223</Paragraphs>
  <Slides>21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</vt:lpstr>
      <vt:lpstr>Office Theme</vt:lpstr>
      <vt:lpstr>SQL Optimization and Advanced Querying</vt:lpstr>
      <vt:lpstr>What is Window Functions?</vt:lpstr>
      <vt:lpstr>Window Functions: Syntax</vt:lpstr>
      <vt:lpstr>Window Functions: Clauses</vt:lpstr>
      <vt:lpstr>Types of Window Functions</vt:lpstr>
      <vt:lpstr>Example: Sales Table</vt:lpstr>
      <vt:lpstr>Aggregate Window Functions - SUM</vt:lpstr>
      <vt:lpstr>SUM Output</vt:lpstr>
      <vt:lpstr>Aggregate Window Functions - AVG</vt:lpstr>
      <vt:lpstr>AVG Output</vt:lpstr>
      <vt:lpstr>Aggregate Window Functions - COUNT</vt:lpstr>
      <vt:lpstr>Aggregate Window Functions - MAX</vt:lpstr>
      <vt:lpstr>Ranking Window Functions - Data for Examples</vt:lpstr>
      <vt:lpstr>Example - RANK</vt:lpstr>
      <vt:lpstr>RANK Output</vt:lpstr>
      <vt:lpstr>Example - DENSE_RANK</vt:lpstr>
      <vt:lpstr>Example - NTILE</vt:lpstr>
      <vt:lpstr>Value Window Functions - LEAD</vt:lpstr>
      <vt:lpstr>Value Window Functions - LAG</vt:lpstr>
      <vt:lpstr>FIRST_VALUE / LAST_VALUE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Facet</Template>
  <TotalTime>12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Or Perets</cp:lastModifiedBy>
  <cp:revision>3</cp:revision>
  <dcterms:created xsi:type="dcterms:W3CDTF">2026-02-09T04:44:06Z</dcterms:created>
  <dcterms:modified xsi:type="dcterms:W3CDTF">2026-03-25T10:13:36Z</dcterms:modified>
</cp:coreProperties>
</file>