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14"/>
    <p:restoredTop sz="94719"/>
  </p:normalViewPr>
  <p:slideViewPr>
    <p:cSldViewPr snapToGrid="0" snapToObjects="1">
      <p:cViewPr varScale="1">
        <p:scale>
          <a:sx d="100" n="158"/>
          <a:sy d="100" n="158"/>
        </p:scale>
        <p:origin x="440" y="184"/>
      </p:cViewPr>
      <p:guideLst>
        <p:guide orient="horz" pos="2160"/>
        <p:guide pos="384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2" Type="http://schemas.openxmlformats.org/officeDocument/2006/relationships/tableStyles" Target="tableStyles.xml" /><Relationship Id="rId51" Type="http://schemas.openxmlformats.org/officeDocument/2006/relationships/theme" Target="theme/theme1.xml" /><Relationship Id="rId50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2066925"/>
            <a:ext cx="10363200" cy="1362075"/>
          </a:xfrm>
        </p:spPr>
        <p:txBody>
          <a:bodyPr anchor="t"/>
          <a:lstStyle>
            <a:lvl1pPr algn="ctr">
              <a:defRPr sz="4000" b="1" cap="all"/>
            </a:lvl1pPr>
          </a:lstStyle>
          <a:p>
            <a:r>
              <a:rPr lang="en-US" dirty="0"/>
              <a:t>MASTER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b="1" kern="1200" sz="3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>
          <a:xfrm>
            <a:off x="1219200" y="2066925"/>
            <a:ext cx="103632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Week 3: Parallelism and Divide-and-Conquer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Why parallelism and divide-and-conquer matter in data engineering</a:t>
            </a:r>
          </a:p>
          <a:p>
            <a:pPr lvl="0"/>
            <a:r>
              <a:rPr/>
              <a:t>Single-node limits force distribution of work</a:t>
            </a:r>
          </a:p>
          <a:p>
            <a:pPr lvl="0"/>
            <a:r>
              <a:rPr/>
              <a:t>Foundation for MapReduce and distributed processing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Define divide-and-conquer and its three phases: divide, conquer, combine</a:t>
            </a:r>
          </a:p>
          <a:p>
            <a:pPr lvl="0"/>
            <a:r>
              <a:rPr/>
              <a:t>Distinguish parallelism (simultaneous execution) from concurrency (overlapping)</a:t>
            </a:r>
          </a:p>
          <a:p>
            <a:pPr lvl="0"/>
            <a:r>
              <a:rPr/>
              <a:t>Express pure functions and independence as basis for distributed computation</a:t>
            </a:r>
          </a:p>
          <a:p>
            <a:pPr lvl="0"/>
            <a:r>
              <a:rPr/>
              <a:t>Trace a full MapReduce-style job: map emits, shuffle groups, reduce aggregates</a:t>
            </a:r>
          </a:p>
          <a:p>
            <a:pPr lvl="0"/>
            <a:r>
              <a:rPr/>
              <a:t>Compute work, span, and speedup for simple parallel decompositions</a:t>
            </a:r>
          </a:p>
          <a:p>
            <a:pPr lvl="0"/>
            <a:r>
              <a:rPr/>
              <a:t>Identify data skew and hot keys as failure modes</a:t>
            </a:r>
          </a:p>
          <a:p>
            <a:pPr lvl="0"/>
            <a:r>
              <a:rPr/>
              <a:t>Describe mitigations: combiner, custom partitioner, salting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Sources Used (Reference Only)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sources/Lecture 3.pptx</a:t>
            </a:r>
          </a:p>
          <a:p>
            <a:pPr lvl="0"/>
            <a:r>
              <a:rPr/>
              <a:t>sources/Introduction to MapReduce.pdf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Diagram Manifest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Slide 13 → week3_lecture_slide13_system_overview.puml → parallel pipeline overview</a:t>
            </a:r>
          </a:p>
          <a:p>
            <a:pPr lvl="0"/>
            <a:r>
              <a:rPr/>
              <a:t>Slide 22 → week3_lecture_slide22_execution_flow.puml → map-shuffle-reduce execution flow</a:t>
            </a:r>
          </a:p>
          <a:p>
            <a:pPr lvl="0"/>
            <a:r>
              <a:rPr/>
              <a:t>Slide 38 → week3_lecture_slide38_failure_skew.puml → failure: data skew, hot reducer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Divide-and-conquer:</a:t>
            </a:r>
            <a:r>
              <a:rPr/>
              <a:t> split problem into subproblems, solve independently, combine results</a:t>
            </a:r>
          </a:p>
          <a:p>
            <a:pPr lvl="0"/>
            <a:r>
              <a:rPr b="1"/>
              <a:t>Parallelism:</a:t>
            </a:r>
            <a:r>
              <a:rPr/>
              <a:t> simultaneous execution; </a:t>
            </a:r>
            <a:r>
              <a:rPr b="1"/>
              <a:t>concurrency:</a:t>
            </a:r>
            <a:r>
              <a:rPr/>
              <a:t> overlapping (may be time-sliced)</a:t>
            </a:r>
          </a:p>
          <a:p>
            <a:pPr lvl="0"/>
            <a:r>
              <a:rPr b="1"/>
              <a:t>Divide:</a:t>
            </a:r>
            <a:r>
              <a:rPr/>
              <a:t> partition input into chunks; no shared state; </a:t>
            </a:r>
            <a:r>
              <a:rPr b="1"/>
              <a:t>Conquer:</a:t>
            </a:r>
            <a:r>
              <a:rPr/>
              <a:t> same function per chunk; </a:t>
            </a:r>
            <a:r>
              <a:rPr b="1"/>
              <a:t>Combine:</a:t>
            </a:r>
            <a:r>
              <a:rPr/>
              <a:t> group by key</a:t>
            </a:r>
          </a:p>
          <a:p>
            <a:pPr lvl="0"/>
            <a:r>
              <a:rPr/>
              <a:t>Map: one output per input record; no cross-record state; pure functions enable safe distribution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Concepts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Determinism:</a:t>
            </a:r>
            <a:r>
              <a:rPr/>
              <a:t> same input ⇒ same output (pure map/reduce); </a:t>
            </a:r>
            <a:r>
              <a:rPr b="1"/>
              <a:t>Scalability:</a:t>
            </a:r>
            <a:r>
              <a:rPr/>
              <a:t> more workers ⇒ more throughput until shuffle/skew</a:t>
            </a:r>
          </a:p>
          <a:p>
            <a:pPr lvl="0"/>
            <a:r>
              <a:rPr b="1"/>
              <a:t>Shuffle cost:</a:t>
            </a:r>
            <a:r>
              <a:rPr/>
              <a:t> network and disk I/O to group by key; </a:t>
            </a:r>
            <a:r>
              <a:rPr b="1"/>
              <a:t>Skew:</a:t>
            </a:r>
            <a:r>
              <a:rPr/>
              <a:t> one key ⇒ one reducer overloaded</a:t>
            </a:r>
          </a:p>
          <a:p>
            <a:pPr lvl="0"/>
            <a:r>
              <a:rPr b="1"/>
              <a:t>Coordination:</a:t>
            </a:r>
            <a:r>
              <a:rPr/>
              <a:t> fault tolerance, stragglers, partial failures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Data &amp;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Input:</a:t>
            </a:r>
            <a:r>
              <a:rPr/>
              <a:t> lines of text; sample: “the quick brown fox”; “the quick brown dog”; “quick brown fox jumps”</a:t>
            </a:r>
          </a:p>
          <a:p>
            <a:pPr lvl="0"/>
            <a:r>
              <a:rPr b="1"/>
              <a:t>Goal:</a:t>
            </a:r>
            <a:r>
              <a:rPr/>
              <a:t> word count — (word, count); used for search, analytics, indexing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(1/4)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Step 1: Map</a:t>
            </a:r>
            <a:r>
              <a:rPr/>
              <a:t> — each record independently; emit </a:t>
            </a:r>
            <a:r>
              <a:rPr>
                <a:latin typeface="Courier"/>
              </a:rPr>
              <a:t>(word, 1)</a:t>
            </a:r>
            <a:r>
              <a:rPr/>
              <a:t> per word</a:t>
            </a:r>
          </a:p>
          <a:p>
            <a:pPr lvl="0"/>
            <a:r>
              <a:rPr b="1"/>
              <a:t>Map outputs:</a:t>
            </a:r>
            <a:r>
              <a:rPr/>
              <a:t> R1: (the,1),(quick,1),(brown,1),(fox,1); R2: (the,1),(quick,1),(brown,1),(dog,1); R3: (quick,1),(brown,1),(fox,1),(jumps,1)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(2/4)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Step 2: Shuffle</a:t>
            </a:r>
            <a:r>
              <a:rPr/>
              <a:t> — framework sends same key to same reducer</a:t>
            </a:r>
          </a:p>
          <a:p>
            <a:pPr lvl="0"/>
            <a:r>
              <a:rPr b="1"/>
              <a:t>Grouped:</a:t>
            </a:r>
            <a:r>
              <a:rPr/>
              <a:t> the→[1,1], quick→[1,1,1], brown→[1,1,1], fox→[1,1], dog→[1], jumps→[1]</a:t>
            </a:r>
          </a:p>
          <a:p>
            <a:pPr lvl="0"/>
            <a:r>
              <a:rPr/>
              <a:t>Main network and I/O cost in this phase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(3/4)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Step 3: Reduce</a:t>
            </a:r>
            <a:r>
              <a:rPr/>
              <a:t> — each reducer gets one key and list of values; sum the values</a:t>
            </a:r>
          </a:p>
          <a:p>
            <a:pPr lvl="0"/>
            <a:r>
              <a:rPr b="1"/>
              <a:t>Output:</a:t>
            </a:r>
            <a:r>
              <a:rPr/>
              <a:t> (the,2), (quick,3), (brown,3), (fox,2), (dog,1), (jumps,1)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Running Example — Step-by-Step (4/4)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Result:</a:t>
            </a:r>
            <a:r>
              <a:rPr/>
              <a:t> word-count table; correct and deterministic</a:t>
            </a:r>
          </a:p>
          <a:p>
            <a:pPr lvl="0"/>
            <a:r>
              <a:rPr b="1"/>
              <a:t>Trade-off:</a:t>
            </a:r>
            <a:r>
              <a:rPr/>
              <a:t> shuffle moves data; skew can overload one reducer; pattern scales to TB (MapReduce)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example to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Same pattern: divide (split input) → conquer (map per chunk) → combine (shuffle + reduce)</a:t>
            </a:r>
          </a:p>
          <a:p>
            <a:pPr lvl="0"/>
            <a:r>
              <a:rPr/>
              <a:t>Next: system view of parallel pipeline; then cost and failure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Parallel 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Divide: split input into chunks; assign to workers</a:t>
            </a:r>
          </a:p>
          <a:p>
            <a:pPr lvl="0"/>
            <a:r>
              <a:rPr/>
              <a:t>Parallel workers: map (or local combine) on each chunk</a:t>
            </a:r>
          </a:p>
          <a:p>
            <a:pPr lvl="0"/>
            <a:r>
              <a:rPr/>
              <a:t>Combine: shuffle groups by key; reducers aggregate</a:t>
            </a:r>
          </a:p>
          <a:p>
            <a:pPr lvl="0"/>
            <a:r>
              <a:rPr/>
              <a:t>Diagram: week3_lecture_slide13_system_overview.puml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 (1/3)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Work (W):</a:t>
            </a:r>
            <a:r>
              <a:rPr/>
              <a:t> total operations over all workers (e.g. sum of map + reduce ops)</a:t>
            </a:r>
          </a:p>
          <a:p>
            <a:pPr lvl="0"/>
            <a:r>
              <a:rPr b="1"/>
              <a:t>Span (S):</a:t>
            </a:r>
            <a:r>
              <a:rPr/>
              <a:t> critical path; longest chain of dependencies</a:t>
            </a:r>
          </a:p>
          <a:p>
            <a:pPr lvl="0"/>
            <a:r>
              <a:rPr b="1"/>
              <a:t>Speedup:</a:t>
            </a:r>
            <a:r>
              <a:rPr/>
              <a:t> (W/S) with enough workers; upper bound = number of workers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 (2/3)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Memory and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Map:</a:t>
            </a:r>
            <a:r>
              <a:rPr/>
              <a:t> each task holds one record (or chunk) + emitted (k,v); bounded per task</a:t>
            </a:r>
          </a:p>
          <a:p>
            <a:pPr lvl="0"/>
            <a:r>
              <a:rPr b="1"/>
              <a:t>Shuffle:</a:t>
            </a:r>
            <a:r>
              <a:rPr/>
              <a:t> all (k,v) written to disk/network; peak ≈ size of map output</a:t>
            </a:r>
          </a:p>
          <a:p>
            <a:pPr lvl="0"/>
            <a:r>
              <a:rPr b="1"/>
              <a:t>Reduce:</a:t>
            </a:r>
            <a:r>
              <a:rPr/>
              <a:t> one key’s values in memory; skew ⇒ one reducer can OOM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&amp; Scaling Analysis (3/3)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Network and throughput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Shuffle traffic:</a:t>
            </a:r>
            <a:r>
              <a:rPr/>
              <a:t> ≈ size of map output (every (k,v) sent to reducer)</a:t>
            </a:r>
          </a:p>
          <a:p>
            <a:pPr lvl="0"/>
            <a:r>
              <a:rPr b="1"/>
              <a:t>Bottleneck:</a:t>
            </a:r>
            <a:r>
              <a:rPr/>
              <a:t> link bandwidth and disk I/O; often limits scale more than CPU</a:t>
            </a:r>
          </a:p>
          <a:p>
            <a:pPr lvl="0"/>
            <a:r>
              <a:rPr b="1"/>
              <a:t>Latency:</a:t>
            </a:r>
            <a:r>
              <a:rPr/>
              <a:t> job time ≈ map time + shuffle time + reduce time; shuffle usually dominates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Example: work and span (back-of-envelope)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1B records, 10 words each ⇒ 10B map emits; 1M distinct words ⇒ 1M reduce tasks</a:t>
            </a:r>
          </a:p>
          <a:p>
            <a:pPr lvl="0"/>
            <a:r>
              <a:rPr/>
              <a:t>If map takes 100 ns/record ⇒ 100 s work; with 1000 workers ⇒ ~0.1 s map phase (ideal)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Shuffle size and network cost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Shuffle bytes ≈ map output size; every (k,v) sent over network to reducer</a:t>
            </a:r>
          </a:p>
          <a:p>
            <a:pPr lvl="0"/>
            <a:r>
              <a:rPr/>
              <a:t>Example: 10B emits × 20 B/pair ⇒ 200 GB shuffle; at 10 Gbps ⇒ ~160 s minimum</a:t>
            </a:r>
          </a:p>
          <a:p>
            <a:pPr lvl="0"/>
            <a:r>
              <a:rPr/>
              <a:t>Often the dominant cost; combiners reduce map output before shuffle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Reducer memory and skew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Each reducer holds one key’s value list in memory; skew ⇒ one list huge ⇒ OOM</a:t>
            </a:r>
          </a:p>
          <a:p>
            <a:pPr lvl="0"/>
            <a:r>
              <a:rPr/>
              <a:t>Mitigation: combiner (local pre-aggregate), salting (spread hot key), custom partitioner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Cost summary: what drives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Work:</a:t>
            </a:r>
            <a:r>
              <a:rPr/>
              <a:t> total CPU; </a:t>
            </a:r>
            <a:r>
              <a:rPr b="1"/>
              <a:t>Span:</a:t>
            </a:r>
            <a:r>
              <a:rPr/>
              <a:t> critical path; </a:t>
            </a:r>
            <a:r>
              <a:rPr b="1"/>
              <a:t>Shuffle:</a:t>
            </a:r>
            <a:r>
              <a:rPr/>
              <a:t> network and disk I/O</a:t>
            </a:r>
          </a:p>
          <a:p>
            <a:pPr lvl="0"/>
            <a:r>
              <a:rPr b="1"/>
              <a:t>Skew:</a:t>
            </a:r>
            <a:r>
              <a:rPr/>
              <a:t> one partition dominates; limits parallelism and causes failures</a:t>
            </a:r>
          </a:p>
          <a:p>
            <a:pPr lvl="0"/>
            <a:r>
              <a:rPr/>
              <a:t>Engineering: minimize shuffle, balance partitions, monitor per-partition sizes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Execution flow: map, shuffle, reduce (overview)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Map: read records, emit (k,v); Shuffle: group by key, transfer to reducers; Reduce: aggregate per key</a:t>
            </a:r>
          </a:p>
          <a:p>
            <a:pPr lvl="0"/>
            <a:r>
              <a:rPr/>
              <a:t>Diagram next: end-to-end flow from records to output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Execution Flow (Map–Shuffle–Reduce)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Map reads records, emits (k,v); shuffle groups by key; reduce aggregates per key</a:t>
            </a:r>
          </a:p>
          <a:p>
            <a:pPr lvl="0"/>
            <a:r>
              <a:rPr/>
              <a:t>Diagram: week3_lecture_slide22_execution_flow.puml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 (1/3)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pitfall: shared state and stragglers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Map or reduce that depends on global state or order is not deterministic</a:t>
            </a:r>
          </a:p>
          <a:p>
            <a:pPr lvl="0"/>
            <a:r>
              <a:rPr/>
              <a:t>One slow worker (straggler) delays the whole job; causes: skew, GC, network, disk</a:t>
            </a:r>
          </a:p>
          <a:p>
            <a:pPr lvl="0"/>
            <a:r>
              <a:rPr/>
              <a:t>Mitigation: speculative execution, better partitioning, pure functions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Pitfalls: non-determinism and reruns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Reruns or different partitioning must yield same result; shared state breaks this</a:t>
            </a:r>
          </a:p>
          <a:p>
            <a:pPr lvl="0"/>
            <a:r>
              <a:rPr/>
              <a:t>Design: pure map/reduce, deterministic key derivation, idempotent writes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Stragglers: causes and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One task runs much longer than others; job latency = slowest task</a:t>
            </a:r>
          </a:p>
          <a:p>
            <a:pPr lvl="0"/>
            <a:r>
              <a:rPr/>
              <a:t>Causes: data skew (one partition huge), GC pauses, network, disk contention</a:t>
            </a:r>
          </a:p>
          <a:p>
            <a:pPr lvl="0"/>
            <a:r>
              <a:rPr/>
              <a:t>Mitigation: speculative execution (rerun slow tasks), better partition balance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Skew: hot key and hot 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Hot key: one key has majority of values (e.g. bot user_id, null bucket)</a:t>
            </a:r>
          </a:p>
          <a:p>
            <a:pPr lvl="0"/>
            <a:r>
              <a:rPr/>
              <a:t>Hot partition: one reducer gets most data ⇒ OOM or timeout</a:t>
            </a:r>
          </a:p>
          <a:p>
            <a:pPr lvl="0"/>
            <a:r>
              <a:rPr/>
              <a:t>Zipfian key distribution in real data often causes skew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Detection: per-partition size and runtime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Monitor size of each partition after shuffle; alert if max ≫ median</a:t>
            </a:r>
          </a:p>
          <a:p>
            <a:pPr lvl="0"/>
            <a:r>
              <a:rPr/>
              <a:t>Monitor reducer runtimes; one reducer much slower ⇒ skew or straggler</a:t>
            </a:r>
          </a:p>
          <a:p>
            <a:pPr lvl="0"/>
            <a:r>
              <a:rPr/>
              <a:t>Metrics: partition size distribution, P99 reducer time, spill count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Mitigation 1: Combiner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Local pre-aggregation on map side before sending to shuffle</a:t>
            </a:r>
          </a:p>
          <a:p>
            <a:pPr lvl="0"/>
            <a:r>
              <a:rPr/>
              <a:t>For sum/count: combine (k,v1),(k,v2) → (k,v1+v2); reduces shuffle size</a:t>
            </a:r>
          </a:p>
          <a:p>
            <a:pPr lvl="0"/>
            <a:r>
              <a:rPr/>
              <a:t>Only when reduce function is associative and commutative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Mitigation 2: Salting (split hot key)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Append random suffix to hot key: (k,v) → (k-salt,v); spread across reducers</a:t>
            </a:r>
          </a:p>
          <a:p>
            <a:pPr lvl="0"/>
            <a:r>
              <a:rPr/>
              <a:t>Small table: replicate key to all salt buckets for join correctness</a:t>
            </a:r>
          </a:p>
          <a:p>
            <a:pPr lvl="0"/>
            <a:r>
              <a:rPr/>
              <a:t>Second pass or merge step to combine results per original key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Mitigation 3: Custom partitioner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Default: hash(key) mod R; custom: route known hot keys to dedicated reducers or spread</a:t>
            </a:r>
          </a:p>
          <a:p>
            <a:pPr lvl="0"/>
            <a:r>
              <a:rPr/>
              <a:t>Can combine with salting: partition by (key, salt) so hot key splits across reducers</a:t>
            </a:r>
          </a:p>
          <a:p>
            <a:pPr lvl="0"/>
            <a:r>
              <a:rPr/>
              <a:t>Trade-off: more reducers, more merge logic; less OOM and latency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Skew mitigation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Combiner: free if reduce is associative; reduces network and reducer load</a:t>
            </a:r>
          </a:p>
          <a:p>
            <a:pPr lvl="0"/>
            <a:r>
              <a:rPr/>
              <a:t>Salting: increases small-table replication and merge cost; unblocks skew</a:t>
            </a:r>
          </a:p>
          <a:p>
            <a:pPr lvl="0"/>
            <a:r>
              <a:rPr/>
              <a:t>Custom partitioner: requires key knowledge; balances load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in production: OOM and timeout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Reducer OOM: one key’s value list exceeds heap; fix: salting or increase memory</a:t>
            </a:r>
          </a:p>
          <a:p>
            <a:pPr lvl="0"/>
            <a:r>
              <a:rPr/>
              <a:t>Timeout: single reducer runs too long; fix: split partition, combiner, salting</a:t>
            </a:r>
          </a:p>
          <a:p>
            <a:pPr lvl="0"/>
            <a:r>
              <a:rPr/>
              <a:t>Detection: monitor heap, GC, task duration; alert on outliers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failure modes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Non-determinism and stragglers; skew and hot key; detection and mitigations</a:t>
            </a:r>
          </a:p>
          <a:p>
            <a:pPr lvl="0"/>
            <a:r>
              <a:rPr/>
              <a:t>Next: diagram of skew failure (one reducer overloaded)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Skew failure: one reducer gets most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Hash partitioning sends same key to same reducer; hot key ⇒ one reducer gets huge input</a:t>
            </a:r>
          </a:p>
          <a:p>
            <a:pPr lvl="0"/>
            <a:r>
              <a:rPr/>
              <a:t>That reducer: OOM (cannot hold all values) or timeout (too long to process)</a:t>
            </a:r>
          </a:p>
          <a:p>
            <a:pPr lvl="0"/>
            <a:r>
              <a:rPr/>
              <a:t>Other reducers finish quickly; job waits for the hot one or fails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Visual: skew failure (next slide)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Diagram shows: balanced reducers R1, R2; hot reducer R3 with one key and huge value list</a:t>
            </a:r>
          </a:p>
          <a:p>
            <a:pPr lvl="0"/>
            <a:r>
              <a:rPr/>
              <a:t>R3 → OOM or timeout; mitigation (salting, combiner) shown in practice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 (2/3): skew failure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Central failure mode in distributed aggregation: one key dominates</a:t>
            </a:r>
          </a:p>
          <a:p>
            <a:pPr lvl="0"/>
            <a:r>
              <a:rPr/>
              <a:t>Next: diagram of hot reducer and OOM/timeout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Failure scenario: data skew (hot key)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One key (e.g. user_id of a bot) gets a huge fraction of values</a:t>
            </a:r>
          </a:p>
          <a:p>
            <a:pPr lvl="0"/>
            <a:r>
              <a:rPr/>
              <a:t>One reducer receives almost all data ⇒ OOM or extreme latency</a:t>
            </a:r>
          </a:p>
          <a:p>
            <a:pPr lvl="0"/>
            <a:r>
              <a:rPr/>
              <a:t>Diagram: week3_lecture_slide38_failure_skew.puml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Pitfalls &amp; Failure Modes (3/3)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Detection and mitigation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 b="1"/>
              <a:t>Detection:</a:t>
            </a:r>
            <a:r>
              <a:rPr/>
              <a:t> monitor per-partition sizes and reducer runtimes; alert on outliers</a:t>
            </a:r>
          </a:p>
          <a:p>
            <a:pPr lvl="0"/>
            <a:r>
              <a:rPr b="1"/>
              <a:t>Combiner:</a:t>
            </a:r>
            <a:r>
              <a:rPr/>
              <a:t> local pre-aggregation before shuffle to cut data volume</a:t>
            </a:r>
          </a:p>
          <a:p>
            <a:pPr lvl="0"/>
            <a:r>
              <a:rPr b="1"/>
              <a:t>Custom partitioner / salting:</a:t>
            </a:r>
            <a:r>
              <a:rPr/>
              <a:t> spread hot key across multiple reducers; then merge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Keep map and reduce pure (no shared mutable state)</a:t>
            </a:r>
          </a:p>
          <a:p>
            <a:pPr lvl="0"/>
            <a:r>
              <a:rPr/>
              <a:t>Minimize shuffle size: reduce key size, use combiners where correct</a:t>
            </a:r>
          </a:p>
          <a:p>
            <a:pPr lvl="0"/>
            <a:r>
              <a:rPr/>
              <a:t>Partition by key so related data lands together; avoid skew via salting if needed</a:t>
            </a:r>
          </a:p>
          <a:p>
            <a:pPr lvl="0"/>
            <a:r>
              <a:rPr/>
              <a:t>Design for idempotency and reruns (deterministic output)</a:t>
            </a:r>
          </a:p>
          <a:p>
            <a:pPr lvl="0"/>
            <a:r>
              <a:rPr/>
              <a:t>Monitor skew and stragglers; set resource and timeout limits</a:t>
            </a:r>
          </a:p>
          <a:p>
            <a:pPr lvl="0"/>
            <a:r>
              <a:rPr/>
              <a:t>Prefer smaller, bounded reduce groups to avoid OOM</a:t>
            </a:r>
          </a:p>
          <a:p>
            <a:pPr lvl="0"/>
            <a:r>
              <a:rPr/>
              <a:t>Document key schema and partitioning strategy for operators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Divide-and-conquer: divide → conquer → combine; basis for distributed processing</a:t>
            </a:r>
          </a:p>
          <a:p>
            <a:pPr lvl="0"/>
            <a:r>
              <a:rPr/>
              <a:t>Parallelism ≠ concurrency; pure functions enable safe distribution</a:t>
            </a:r>
          </a:p>
          <a:p>
            <a:pPr lvl="0"/>
            <a:r>
              <a:rPr/>
              <a:t>Map emits (k,v); shuffle groups by key; reduce aggregates; shuffle is the bottleneck</a:t>
            </a:r>
          </a:p>
          <a:p>
            <a:pPr lvl="0"/>
            <a:r>
              <a:rPr/>
              <a:t>Skew and hot keys cause reducer OOM or timeout; use combiners and salting</a:t>
            </a:r>
          </a:p>
          <a:p>
            <a:pPr lvl="0"/>
            <a:r>
              <a:rPr/>
              <a:t>Cost reasoning: work, span, shuffle size, and network drive scalability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hasCustomPrompt="1"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Pointers to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hasCustomPrompt="1" idx="1"/>
          </p:nvPr>
        </p:nvSpPr>
        <p:spPr/>
        <p:txBody>
          <a:bodyPr/>
          <a:lstStyle/>
          <a:p>
            <a:pPr lvl="0"/>
            <a:r>
              <a:rPr/>
              <a:t>Run a full manual MapReduce (map → shuffle → reduce) on 8–12 input records</a:t>
            </a:r>
          </a:p>
          <a:p>
            <a:pPr lvl="0"/>
            <a:r>
              <a:rPr/>
              <a:t>Compute shuffle size and reducer input size for a given input and key distribution</a:t>
            </a:r>
          </a:p>
          <a:p>
            <a:pPr lvl="0"/>
            <a:r>
              <a:rPr/>
              <a:t>Solve one skew scenario and one mitigation (e.g. salting or combiner)</a:t>
            </a:r>
          </a:p>
          <a:p>
            <a:pPr lvl="0"/>
            <a:r>
              <a:rPr/>
              <a:t>Reason about cost and failure when one key dominates the data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מסך רחב</PresentationFormat>
  <Paragraphs>0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2026-01-29T05:27:52Z</dcterms:created>
  <dcterms:modified xsi:type="dcterms:W3CDTF">2026-01-29T05:27:52Z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