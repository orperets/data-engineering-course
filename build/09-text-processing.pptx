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316" r:id="rId15"/>
    <p:sldId id="273" r:id="rId16"/>
    <p:sldId id="274" r:id="rId17"/>
    <p:sldId id="275" r:id="rId18"/>
    <p:sldId id="276" r:id="rId19"/>
    <p:sldId id="277" r:id="rId20"/>
    <p:sldId id="296" r:id="rId21"/>
    <p:sldId id="297" r:id="rId22"/>
    <p:sldId id="298" r:id="rId23"/>
    <p:sldId id="300" r:id="rId24"/>
    <p:sldId id="30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סגנון ביניים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0"/>
    <p:restoredTop sz="94832"/>
  </p:normalViewPr>
  <p:slideViewPr>
    <p:cSldViewPr snapToGrid="0" snapToObjects="1">
      <p:cViewPr varScale="1">
        <p:scale>
          <a:sx n="118" d="100"/>
          <a:sy n="118" d="100"/>
        </p:scale>
        <p:origin x="1560" y="7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1062556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41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8 מאי,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26D49-397F-B715-D50A-B77591A1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558" y="1600201"/>
            <a:ext cx="8437945" cy="45259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8 מאי,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71812306-B812-4C50-F7A0-862C984F42D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33391168"/>
              </p:ext>
            </p:extLst>
          </p:nvPr>
        </p:nvGraphicFramePr>
        <p:xfrm>
          <a:off x="2058972" y="2126696"/>
          <a:ext cx="7775550" cy="2107502"/>
        </p:xfrm>
        <a:graphic>
          <a:graphicData uri="http://schemas.openxmlformats.org/drawingml/2006/table">
            <a:tbl>
              <a:tblPr rtl="1" firstRow="1" bandRow="1">
                <a:tableStyleId>{793D81CF-94F2-401A-BA57-92F5A7B2D0C5}</a:tableStyleId>
              </a:tblPr>
              <a:tblGrid>
                <a:gridCol w="1295925">
                  <a:extLst>
                    <a:ext uri="{9D8B030D-6E8A-4147-A177-3AD203B41FA5}">
                      <a16:colId xmlns:a16="http://schemas.microsoft.com/office/drawing/2014/main" val="3224435564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1520824301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2907090588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2141296278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1831022972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626801781"/>
                    </a:ext>
                  </a:extLst>
                </a:gridCol>
              </a:tblGrid>
              <a:tr h="494140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63574"/>
                  </a:ext>
                </a:extLst>
              </a:tr>
              <a:tr h="806681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625601"/>
                  </a:ext>
                </a:extLst>
              </a:tr>
              <a:tr h="806681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57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46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8 מאי,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8 מאי,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291BFA-5674-76B5-89A7-703C9722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7150" cap="sq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14350" cap="sq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61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6900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Advanced </a:t>
            </a:r>
            <a:r>
              <a:rPr dirty="0"/>
              <a:t>Text Analytics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N-Grams and Language Models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Why Unigrams Are Sometimes Not Enough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Unigram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Needed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not 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working</a:t>
                      </a:r>
                      <a:r>
                        <a:t> looks positive 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memory leak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memory</a:t>
                      </a:r>
                      <a:r>
                        <a:t> is too broad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technical phrase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late 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late</a:t>
                      </a:r>
                      <a:r>
                        <a:t> and </a:t>
                      </a:r>
                      <a:r>
                        <a:rPr>
                          <a:latin typeface="Courier"/>
                        </a:rPr>
                        <a:t>payment</a:t>
                      </a:r>
                      <a:r>
                        <a:t> separate are weaker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business 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N-grams preserve local word order while staying simpler than full sequence models.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Two Meanings of N-grams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/>
              <a:t>N-gram feature:</a:t>
            </a:r>
            <a:r>
              <a:t> a contiguous token sequence used as a feature, e.g., </a:t>
            </a:r>
            <a:r>
              <a:rPr>
                <a:latin typeface="Courier"/>
              </a:rPr>
              <a:t>not working</a:t>
            </a:r>
            <a:r>
              <a:t>.</a:t>
            </a:r>
          </a:p>
          <a:p>
            <a:pPr lvl="0"/>
            <a:r>
              <a:rPr b="1"/>
              <a:t>N-gram language model:</a:t>
            </a:r>
            <a:r>
              <a:t> a probabilistic model for token sequences using a Markov assumption.</a:t>
            </a:r>
          </a:p>
          <a:p>
            <a:pPr lvl="0"/>
            <a:r>
              <a:t>The same counted phrases can support both ideas, but they answer different questions.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N-gram Features: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t>A word n-gram is a contiguous sequence of </a:t>
                </a:r>
                <a:r>
                  <a:rPr>
                    <a:latin typeface="Courier"/>
                  </a:rPr>
                  <a:t>n</a:t>
                </a:r>
                <a:r>
                  <a:t> tokens.</a:t>
                </a:r>
              </a:p>
              <a:p>
                <a:pPr lvl="0"/>
                <a:r>
                  <a:t>A unigram has </a:t>
                </a:r>
                <a:r>
                  <a:rPr>
                    <a:latin typeface="Courier"/>
                  </a:rPr>
                  <a:t>n=1</a:t>
                </a:r>
                <a:r>
                  <a:t>, a bigram has </a:t>
                </a:r>
                <a:r>
                  <a:rPr>
                    <a:latin typeface="Courier"/>
                  </a:rPr>
                  <a:t>n=2</a:t>
                </a:r>
                <a:r>
                  <a:t>, and a trigram has </a:t>
                </a:r>
                <a:r>
                  <a:rPr>
                    <a:latin typeface="Courier"/>
                  </a:rPr>
                  <a:t>n=3</a:t>
                </a:r>
                <a:r>
                  <a:t>.</a:t>
                </a:r>
              </a:p>
              <a:p>
                <a:pPr lvl="0"/>
                <a:r>
                  <a:t>For document length </a:t>
                </a:r>
                <a:r>
                  <a:rPr>
                    <a:latin typeface="Courier"/>
                  </a:rPr>
                  <a:t>L</a:t>
                </a:r>
                <a:r>
                  <a:t>, the number of n-gram windows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+1,0)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N-gram Feature Example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0E3EFC64-A014-A2EF-37D6-1B8B483EC2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823"/>
          <a:stretch>
            <a:fillRect/>
          </a:stretch>
        </p:blipFill>
        <p:spPr>
          <a:xfrm>
            <a:off x="3116943" y="1611086"/>
            <a:ext cx="5711394" cy="47452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N-gram Feature Growth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|≤|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  <a:p>
                <a:pPr lvl="0"/>
                <a:r>
                  <a:rPr>
                    <a:latin typeface="Courier"/>
                  </a:rPr>
                  <a:t>|V|</a:t>
                </a:r>
                <a:r>
                  <a:t> is the unigram vocabulary size.</a:t>
                </a:r>
              </a:p>
              <a:p>
                <a:pPr lvl="0"/>
                <a:r>
                  <a:t>The bound is theoretical; observed corpus n-grams are usually much fewer.</a:t>
                </a:r>
              </a:p>
              <a:p>
                <a:pPr lvl="0"/>
                <a:r>
                  <a:t>The warning is still real: increasing </a:t>
                </a:r>
                <a:r>
                  <a:rPr>
                    <a:latin typeface="Courier"/>
                  </a:rPr>
                  <a:t>n</a:t>
                </a:r>
                <a:r>
                  <a:t> expands storage, shuffle, and model-feature space.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N-grams as TF-IDF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dirty="0"/>
              <a:t>Replace </a:t>
            </a:r>
            <a:r>
              <a:rPr dirty="0">
                <a:latin typeface="Courier"/>
              </a:rPr>
              <a:t>term</a:t>
            </a:r>
            <a:r>
              <a:rPr dirty="0"/>
              <a:t> with </a:t>
            </a:r>
            <a:r>
              <a:rPr dirty="0" err="1">
                <a:latin typeface="Courier"/>
              </a:rPr>
              <a:t>ngram</a:t>
            </a:r>
            <a:r>
              <a:rPr dirty="0"/>
              <a:t> in the TF-IDF pipeline.</a:t>
            </a:r>
          </a:p>
          <a:p>
            <a:pPr lvl="0"/>
            <a:r>
              <a:rPr dirty="0"/>
              <a:t>The TF denominator should be the number of n-gram </a:t>
            </a:r>
            <a:br>
              <a:rPr lang="en-US" dirty="0"/>
            </a:br>
            <a:r>
              <a:rPr dirty="0"/>
              <a:t>windows in the document, not raw token length.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Example: </a:t>
            </a:r>
            <a:r>
              <a:rPr dirty="0">
                <a:latin typeface="Courier"/>
              </a:rPr>
              <a:t>not working today</a:t>
            </a:r>
            <a:r>
              <a:rPr dirty="0"/>
              <a:t> has two bigram windows, so </a:t>
            </a:r>
            <a:r>
              <a:rPr dirty="0" err="1">
                <a:latin typeface="Courier"/>
              </a:rPr>
              <a:t>tf</a:t>
            </a:r>
            <a:r>
              <a:rPr dirty="0">
                <a:latin typeface="Courier"/>
              </a:rPr>
              <a:t>("not </a:t>
            </a:r>
            <a:r>
              <a:rPr dirty="0" err="1">
                <a:latin typeface="Courier"/>
              </a:rPr>
              <a:t>working",d</a:t>
            </a:r>
            <a:r>
              <a:rPr dirty="0">
                <a:latin typeface="Courier"/>
              </a:rPr>
              <a:t>)=1/2</a:t>
            </a:r>
            <a:r>
              <a:rPr dirty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N-gram Language Model: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dirty="0"/>
              <a:t>A language model assigns probability to a token sequence.</a:t>
            </a:r>
          </a:p>
          <a:p>
            <a:pPr lvl="0"/>
            <a:r>
              <a:rPr dirty="0"/>
              <a:t>An n-gram language model assumes the next token depends </a:t>
            </a:r>
            <a:br>
              <a:rPr lang="en-US" dirty="0"/>
            </a:br>
            <a:r>
              <a:rPr dirty="0"/>
              <a:t>only on the previous </a:t>
            </a:r>
            <a:r>
              <a:rPr dirty="0">
                <a:latin typeface="Courier"/>
              </a:rPr>
              <a:t>n-1</a:t>
            </a:r>
            <a:r>
              <a:rPr dirty="0"/>
              <a:t> tokens.</a:t>
            </a:r>
          </a:p>
          <a:p>
            <a:pPr lvl="0"/>
            <a:r>
              <a:rPr dirty="0"/>
              <a:t>This is an </a:t>
            </a:r>
            <a:r>
              <a:rPr dirty="0">
                <a:latin typeface="Courier"/>
              </a:rPr>
              <a:t>(n-1)</a:t>
            </a:r>
            <a:r>
              <a:rPr dirty="0"/>
              <a:t>-order Markov assumption over tokens.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N-gram Markov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For a token sequence </a:t>
                </a:r>
                <a:r>
                  <a:rPr>
                    <a:latin typeface="Courier"/>
                  </a:rPr>
                  <a:t>w_1, ..., w_T</a:t>
                </a:r>
                <a:r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)≈</m:t>
                      </m:r>
                      <m:nary>
                        <m:naryPr>
                          <m:chr m:val="∏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+1: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lvl="0"/>
                <a:r>
                  <a:t>Bigram model: first-order Markov, depends on one previous token.</a:t>
                </a:r>
              </a:p>
              <a:p>
                <a:pPr lvl="0"/>
                <a:r>
                  <a:t>Trigram model: second-order Markov, depends on two previous tokens.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92" t="-924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Count-Based Probability Estimate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">
                        <a:latin typeface="Cambria Math" panose="02040503050406030204" pitchFamily="18" charset="0"/>
                      </a:rPr>
                      <m:t>,</m:t>
                    </m:r>
                    <m:r>
                      <a:rPr lang="en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">
                        <a:latin typeface="Cambria Math" panose="02040503050406030204" pitchFamily="18" charset="0"/>
                      </a:rPr>
                      <m:t>)</m:t>
                    </m:r>
                    <m:r>
                      <a:rPr lang="e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dirty="0"/>
                  <a:t>counts how often word </a:t>
                </a:r>
                <a:r>
                  <a:rPr lang="en" dirty="0">
                    <a:latin typeface="Courier"/>
                  </a:rPr>
                  <a:t>w</a:t>
                </a:r>
                <a:r>
                  <a:rPr lang="en" dirty="0"/>
                  <a:t> follows history.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dirty="0"/>
                  <a:t>counts how often the history appears.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n" dirty="0"/>
                  <a:t>Without smoothing, unseen n-grams receive probability 0.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Markov Example Corpus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dirty="0">
                <a:latin typeface="Courier"/>
              </a:rPr>
              <a:t>&lt;s&gt; not working &lt;/s&gt;
&lt;s&gt; working now &lt;/s&gt;
&lt;s&gt; not responding &lt;/s&gt;
&lt;s&gt; not working &lt;/s&gt;</a:t>
            </a:r>
          </a:p>
          <a:p>
            <a:pPr lvl="0"/>
            <a:r>
              <a:rPr dirty="0">
                <a:latin typeface="Courier"/>
              </a:rPr>
              <a:t>&lt;s&gt;</a:t>
            </a:r>
            <a:r>
              <a:rPr dirty="0"/>
              <a:t> and </a:t>
            </a:r>
            <a:r>
              <a:rPr dirty="0">
                <a:latin typeface="Courier"/>
              </a:rPr>
              <a:t>&lt;/s&gt;</a:t>
            </a:r>
            <a:r>
              <a:rPr dirty="0"/>
              <a:t> mark sentence boundaries.</a:t>
            </a:r>
          </a:p>
          <a:p>
            <a:pPr lvl="0"/>
            <a:r>
              <a:rPr dirty="0"/>
              <a:t>Boundary tokens make sequence probabilities well-defined.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Bigram Probability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/>
                        <m:t>not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∣⟨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⟩)=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/>
                        <m:t>working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m:rPr>
                          <m:nor/>
                        </m:rPr>
                        <a:rPr/>
                        <m:t>not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(⟨/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⟩∣</m:t>
                      </m:r>
                      <m:r>
                        <m:rPr>
                          <m:nor/>
                        </m:rPr>
                        <a:rPr/>
                        <m:t>working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The model learned that </a:t>
                </a:r>
                <a:r>
                  <a:rPr dirty="0">
                    <a:latin typeface="Courier"/>
                  </a:rPr>
                  <a:t>not</a:t>
                </a:r>
                <a:r>
                  <a:rPr dirty="0"/>
                  <a:t> often starts a sentence and </a:t>
                </a:r>
                <a:br>
                  <a:rPr lang="en-US" dirty="0"/>
                </a:br>
                <a:r>
                  <a:rPr dirty="0"/>
                  <a:t>often leads to </a:t>
                </a:r>
                <a:r>
                  <a:rPr dirty="0">
                    <a:latin typeface="Courier"/>
                  </a:rPr>
                  <a:t>working</a:t>
                </a:r>
                <a:r>
                  <a:rPr dirty="0"/>
                  <a:t> or </a:t>
                </a:r>
                <a:r>
                  <a:rPr dirty="0">
                    <a:latin typeface="Courier"/>
                  </a:rPr>
                  <a:t>responding</a:t>
                </a:r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21F1B-096C-FAE8-ED2A-CBC648E0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BD75-7621-D6B7-38C6-FF563E4275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Count-Based Probability Estimate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F3A082-1A17-90E6-7D45-05F859236565}"/>
                  </a:ext>
                </a:extLst>
              </p:cNvPr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lnSpc>
                    <a:spcPct val="150000"/>
                  </a:lnSpc>
                  <a:buNone/>
                </a:pPr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F3A082-1A17-90E6-7D45-05F859236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18FE9-8791-FCE3-EF94-0E831F3B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53A27-D8FB-748F-E38C-A3E1B507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7F47CAA-9E05-2D7B-332C-E2B19D0A1B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94"/>
          <a:stretch>
            <a:fillRect/>
          </a:stretch>
        </p:blipFill>
        <p:spPr>
          <a:xfrm>
            <a:off x="2917372" y="3102429"/>
            <a:ext cx="6357255" cy="325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1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Sentence Probability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/>
                        <m:t>not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working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⟨/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⟩∣⟨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⟩)=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lvl="0"/>
                <a:r>
                  <a:t>This is a language-model use of n-grams.</a:t>
                </a:r>
              </a:p>
              <a:p>
                <a:pPr lvl="0"/>
                <a:r>
                  <a:t>It is different from using </a:t>
                </a:r>
                <a:r>
                  <a:rPr>
                    <a:latin typeface="Courier"/>
                  </a:rPr>
                  <a:t>not working</a:t>
                </a:r>
                <a:r>
                  <a:t> as a TF-IDF feature.</a:t>
                </a:r>
              </a:p>
              <a:p>
                <a:pPr lvl="0"/>
                <a:r>
                  <a:t>Both depend on preprocessing and corpus counts.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Smoothing and Backoff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dirty="0"/>
              <a:t>Zero probability is too harsh for unseen but plausible phrases.</a:t>
            </a:r>
          </a:p>
          <a:p>
            <a:pPr lvl="0"/>
            <a:r>
              <a:rPr dirty="0"/>
              <a:t>Smoothing adds small probability mass to unseen events.</a:t>
            </a:r>
          </a:p>
          <a:p>
            <a:pPr lvl="0"/>
            <a:r>
              <a:rPr dirty="0"/>
              <a:t>Backoff uses a shorter history when the longer n-gram </a:t>
            </a:r>
            <a:br>
              <a:rPr lang="en-US" dirty="0"/>
            </a:br>
            <a:r>
              <a:rPr dirty="0"/>
              <a:t>is rare or unseen.</a:t>
            </a:r>
          </a:p>
          <a:p>
            <a:pPr lvl="0"/>
            <a:r>
              <a:rPr dirty="0"/>
              <a:t>In engineering systems, smoothing choices must be </a:t>
            </a:r>
            <a:br>
              <a:rPr lang="en-US" dirty="0"/>
            </a:br>
            <a:r>
              <a:rPr dirty="0"/>
              <a:t>versioned like any other feature rule.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N-gram SQL-Lens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conceptual window generation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br/>
            <a:r>
              <a:rPr>
                <a:latin typeface="Courier"/>
              </a:rPr>
              <a:t>  doc_id,</a:t>
            </a:r>
            <a:br/>
            <a:r>
              <a:rPr>
                <a:latin typeface="Courier"/>
              </a:rPr>
              <a:t>  token 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 '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LEAD</a:t>
            </a:r>
            <a:r>
              <a:rPr>
                <a:latin typeface="Courier"/>
              </a:rPr>
              <a:t>(token)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doc_id 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position</a:t>
            </a:r>
            <a:br/>
            <a:r>
              <a:rPr>
                <a:latin typeface="Courier"/>
              </a:rPr>
              <a:t>  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bigram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tokens;</a:t>
            </a:r>
          </a:p>
          <a:p>
            <a:pPr lvl="0"/>
            <a:r>
              <a:t>Real implementations must remove the final null bigram per document.</a:t>
            </a:r>
          </a:p>
          <a:p>
            <a:pPr lvl="0"/>
            <a:r>
              <a:t>Window generation expands rows and increases shuffle volume.</a:t>
            </a:r>
          </a:p>
          <a:p>
            <a:pPr lvl="0"/>
            <a:r>
              <a:t>Token order must be deterministic inside each document.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N-gram Pipeline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457200" lvl="0" indent="-457200">
              <a:buAutoNum type="arabicPeriod"/>
            </a:pPr>
            <a:r>
              <a:t>Tokenize and assign stable positions inside each document.</a:t>
            </a:r>
          </a:p>
          <a:p>
            <a:pPr marL="457200" lvl="0" indent="-457200">
              <a:buAutoNum type="arabicPeriod"/>
            </a:pPr>
            <a:r>
              <a:t>Generate n-gram windows with boundary rules.</a:t>
            </a:r>
          </a:p>
          <a:p>
            <a:pPr marL="457200" lvl="0" indent="-457200">
              <a:buAutoNum type="arabicPeriod"/>
            </a:pPr>
            <a:r>
              <a:t>Count </a:t>
            </a:r>
            <a:r>
              <a:rPr>
                <a:latin typeface="Courier"/>
              </a:rPr>
              <a:t>(doc_id, ngram)</a:t>
            </a:r>
            <a:r>
              <a:t> pairs.</a:t>
            </a:r>
          </a:p>
          <a:p>
            <a:pPr marL="457200" lvl="0" indent="-457200">
              <a:buAutoNum type="arabicPeriod"/>
            </a:pPr>
            <a:r>
              <a:t>Compute </a:t>
            </a:r>
            <a:r>
              <a:rPr>
                <a:latin typeface="Courier"/>
              </a:rPr>
              <a:t>df(ngram)</a:t>
            </a:r>
            <a:r>
              <a:t> across documents.</a:t>
            </a:r>
          </a:p>
          <a:p>
            <a:pPr marL="457200" lvl="0" indent="-457200">
              <a:buAutoNum type="arabicPeriod"/>
            </a:pPr>
            <a:r>
              <a:t>Compute TF-IDF or probability estimates, depending on the objective.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N-gram Operational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Common phrases such as </a:t>
            </a:r>
            <a:r>
              <a:rPr>
                <a:latin typeface="Courier"/>
              </a:rPr>
              <a:t>call back</a:t>
            </a:r>
            <a:r>
              <a:t>, </a:t>
            </a:r>
            <a:r>
              <a:rPr>
                <a:latin typeface="Courier"/>
              </a:rPr>
              <a:t>not available</a:t>
            </a:r>
            <a:r>
              <a:t>, or </a:t>
            </a:r>
            <a:r>
              <a:rPr>
                <a:latin typeface="Courier"/>
              </a:rPr>
              <a:t>thank you</a:t>
            </a:r>
            <a:r>
              <a:t> can become hot keys.</a:t>
            </a:r>
          </a:p>
          <a:p>
            <a:pPr lvl="0"/>
            <a:r>
              <a:t>Long </a:t>
            </a:r>
            <a:r>
              <a:rPr>
                <a:latin typeface="Courier"/>
              </a:rPr>
              <a:t>n</a:t>
            </a:r>
            <a:r>
              <a:t> increases feature sparsity and reduces repeated counts, limiting combiner benefits.</a:t>
            </a:r>
          </a:p>
          <a:p>
            <a:pPr lvl="0"/>
            <a:r>
              <a:t>Without vocabulary pruning, feature tables grow faster than students usually expect.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Embeddings: What They Add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TF-IDF is sparse and interpretable but mostly lexical.</a:t>
            </a:r>
          </a:p>
          <a:p>
            <a:pPr lvl="0"/>
            <a:r>
              <a:t>Embeddings map words, documents, or queries into dense numeric vectors.</a:t>
            </a:r>
          </a:p>
          <a:p>
            <a:pPr lvl="0"/>
            <a:r>
              <a:t>Similar meanings can be close even when they use different words.</a:t>
            </a:r>
          </a:p>
          <a:p>
            <a:pPr lvl="0"/>
            <a:r>
              <a:t>This helps clustering, semantic search, duplicate-ticket detection, and recommendations.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Embedding Similarity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For vectors </a:t>
                </a:r>
                <a:r>
                  <a:rPr>
                    <a:latin typeface="Courier"/>
                  </a:rPr>
                  <a:t>a</a:t>
                </a:r>
                <a:r>
                  <a:t> and </a:t>
                </a:r>
                <a:r>
                  <a:rPr>
                    <a:latin typeface="Courier"/>
                  </a:rPr>
                  <a:t>b</a:t>
                </a:r>
                <a:r>
                  <a:t>, cosine similarity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∥∥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∥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lvl="0"/>
                <a:r>
                  <a:t>Higher cosine similarity means the vectors point in a more similar direction.</a:t>
                </a:r>
              </a:p>
              <a:p>
                <a:pPr lvl="0"/>
                <a:r>
                  <a:t>A ticket embedding can be compared against past resolved incidents.</a:t>
                </a:r>
              </a:p>
              <a:p>
                <a:pPr lvl="0"/>
                <a:r>
                  <a:t>This is useful when keyword overlap is weak but meaning is similar.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TF-IDF vs Embeddings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Embeddings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Interpretability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Compute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usually 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often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Semantic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lexical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stronger semantic matching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tokenizer and corpus 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model, tokenizer, vector versioning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Embedding Operational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OOV or unknown tokens reduce quality if the model cannot represent new language.</a:t>
            </a:r>
          </a:p>
          <a:p>
            <a:pPr lvl="0"/>
            <a:r>
              <a:t>Embedding model upgrades can shift vector space and break historical comparisons.</a:t>
            </a:r>
          </a:p>
          <a:p>
            <a:pPr lvl="0"/>
            <a:r>
              <a:t>Dense vectors are harder to inspect than TF-IDF terms.</a:t>
            </a:r>
          </a:p>
          <a:p>
            <a:pPr lvl="0"/>
            <a:r>
              <a:t>Monitoring must include OOV rate, version mismatches, and similarity-score drift.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Method Choice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Use </a:t>
            </a:r>
            <a:r>
              <a:rPr b="1"/>
              <a:t>unigram TF-IDF</a:t>
            </a:r>
            <a:r>
              <a:t> when keywords are enough and interpretability matters.</a:t>
            </a:r>
          </a:p>
          <a:p>
            <a:pPr lvl="0"/>
            <a:r>
              <a:t>Use </a:t>
            </a:r>
            <a:r>
              <a:rPr b="1"/>
              <a:t>n-gram TF-IDF</a:t>
            </a:r>
            <a:r>
              <a:t> when local order changes meaning, such as negation or technical phrases.</a:t>
            </a:r>
          </a:p>
          <a:p>
            <a:pPr lvl="0"/>
            <a:r>
              <a:t>Use </a:t>
            </a:r>
            <a:r>
              <a:rPr b="1"/>
              <a:t>regex extraction</a:t>
            </a:r>
            <a:r>
              <a:t> when structured facts are embedded in free text.</a:t>
            </a:r>
          </a:p>
          <a:p>
            <a:pPr lvl="0"/>
            <a:r>
              <a:t>Use </a:t>
            </a:r>
            <a:r>
              <a:rPr b="1"/>
              <a:t>embeddings</a:t>
            </a:r>
            <a:r>
              <a:t> when semantic similarity matters more than exact wording.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1121</Words>
  <Application>Microsoft Macintosh PowerPoint</Application>
  <PresentationFormat>מסך רחב</PresentationFormat>
  <Paragraphs>170</Paragraphs>
  <Slides>24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Courier</vt:lpstr>
      <vt:lpstr>Office Theme</vt:lpstr>
      <vt:lpstr>Advanced Text Analytics: N-Grams and Language Models</vt:lpstr>
      <vt:lpstr>Why Unigrams Are Sometimes Not Enough</vt:lpstr>
      <vt:lpstr>מצגת של PowerPoint‏</vt:lpstr>
      <vt:lpstr>Two Meanings of N-grams</vt:lpstr>
      <vt:lpstr>N-gram Features: Definition</vt:lpstr>
      <vt:lpstr>N-gram Feature Example</vt:lpstr>
      <vt:lpstr>N-gram Feature Growth</vt:lpstr>
      <vt:lpstr>N-grams as TF-IDF Features</vt:lpstr>
      <vt:lpstr>N-gram Language Model: Definition</vt:lpstr>
      <vt:lpstr>N-gram Markov Formula</vt:lpstr>
      <vt:lpstr>Count-Based Probability Estimate</vt:lpstr>
      <vt:lpstr>Markov Example Corpus</vt:lpstr>
      <vt:lpstr>Bigram Probability Example</vt:lpstr>
      <vt:lpstr>Count-Based Probability Estimate</vt:lpstr>
      <vt:lpstr>Sentence Probability Example</vt:lpstr>
      <vt:lpstr>Smoothing and Backoff</vt:lpstr>
      <vt:lpstr>N-gram SQL-Lens</vt:lpstr>
      <vt:lpstr>N-gram Pipeline Stages</vt:lpstr>
      <vt:lpstr>N-gram Operational Hazards</vt:lpstr>
      <vt:lpstr>Embeddings: What They Add</vt:lpstr>
      <vt:lpstr>Embedding Similarity Formula</vt:lpstr>
      <vt:lpstr>TF-IDF vs Embeddings</vt:lpstr>
      <vt:lpstr>Embedding Operational Risks</vt:lpstr>
      <vt:lpstr>Method Choice Checklist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27</Words>
  <Application>Microsoft Macintosh PowerPoint</Application>
  <PresentationFormat>מסך רחב</PresentationFormat>
  <Paragraphs>18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Or Perets</cp:lastModifiedBy>
  <cp:revision>2</cp:revision>
  <dcterms:created xsi:type="dcterms:W3CDTF">2026-05-01T11:16:48Z</dcterms:created>
  <dcterms:modified xsi:type="dcterms:W3CDTF">2026-05-08T10:47:07Z</dcterms:modified>
</cp:coreProperties>
</file>