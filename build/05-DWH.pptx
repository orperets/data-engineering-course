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14"/>
    <p:restoredTop sz="94719"/>
  </p:normalViewPr>
  <p:slideViewPr>
    <p:cSldViewPr snapToGrid="0" snapToObjects="1">
      <p:cViewPr varScale="1">
        <p:scale>
          <a:sx d="100" n="158"/>
          <a:sy d="100" n="158"/>
        </p:scale>
        <p:origin x="440" y="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Relationship Id="rId43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19200" y="2066925"/>
            <a:ext cx="10363200" cy="1362075"/>
          </a:xfrm>
        </p:spPr>
        <p:txBody>
          <a:bodyPr anchor="t"/>
          <a:lstStyle>
            <a:lvl1pPr algn="ctr">
              <a:defRPr sz="4000" b="1" cap="all"/>
            </a:lvl1pPr>
          </a:lstStyle>
          <a:p>
            <a:r>
              <a:rPr lang="en-US" dirty="0"/>
              <a:t>MASTER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>
          <a:xfrm>
            <a:off x="1219200" y="2066925"/>
            <a:ext cx="103632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5: Data Warehousing and Data Lakes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DWH and Data Lake are the primary stores for analytics and BI</a:t>
            </a:r>
          </a:p>
          <a:p>
            <a:pPr lvl="0"/>
            <a:r>
              <a:rPr/>
              <a:t>Schema-on-read vs schema-on-write drives cost and flexibility</a:t>
            </a:r>
          </a:p>
          <a:p>
            <a:pPr lvl="0"/>
            <a:r>
              <a:rPr/>
              <a:t>Partitioning and pruning determine query cost at scale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Define Data Warehouse (DWH) vs Data Lake and when to use each</a:t>
            </a:r>
          </a:p>
          <a:p>
            <a:pPr lvl="0"/>
            <a:r>
              <a:rPr/>
              <a:t>Explain schema-on-read vs schema-on-write and their trade-offs</a:t>
            </a:r>
          </a:p>
          <a:p>
            <a:pPr lvl="0"/>
            <a:r>
              <a:rPr/>
              <a:t>Model analytical data with star schema (fact + dimensions)</a:t>
            </a:r>
          </a:p>
          <a:p>
            <a:pPr lvl="0"/>
            <a:r>
              <a:rPr/>
              <a:t>Apply partitioning and partition pruning to reduce scan cost</a:t>
            </a:r>
          </a:p>
          <a:p>
            <a:pPr lvl="0"/>
            <a:r>
              <a:rPr/>
              <a:t>Reason about join size and query cost in OLAP</a:t>
            </a:r>
          </a:p>
          <a:p>
            <a:pPr lvl="0"/>
            <a:r>
              <a:rPr/>
              <a:t>Connect DWH/Lake to ETL output and BI/analytics consumers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Sources Used (Reference Only)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sources/Lecture 5.pptx</a:t>
            </a:r>
          </a:p>
          <a:p>
            <a:pPr lvl="0"/>
            <a:r>
              <a:rPr/>
              <a:t>exercises1.md (SQL joins/aggregations, e-commerce; ETL/ELT patterns)</a:t>
            </a:r>
          </a:p>
          <a:p>
            <a:pPr lvl="0"/>
            <a:r>
              <a:rPr/>
              <a:t>exercises2.md (Module 1: Advanced Relational Modeling and Warehousing; star schema, SCD Type 2, window functions)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Slide 13 → week5_lecture_slide13_system_overview.puml → DWH and Lake in the analytics pipeline</a:t>
            </a:r>
          </a:p>
          <a:p>
            <a:pPr lvl="0"/>
            <a:r>
              <a:rPr/>
              <a:t>Slide 22 → week5_lecture_slide22_query_flow.puml → OLAP query path and partition pruning</a:t>
            </a:r>
          </a:p>
          <a:p>
            <a:pPr lvl="0"/>
            <a:r>
              <a:rPr/>
              <a:t>Slide 38 → week5_lecture_slide38_failure_partition.puml → failure: full scan when pruning is missed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Data Warehouse (DWH):</a:t>
            </a:r>
            <a:r>
              <a:rPr/>
              <a:t> centralized store for analytical data; schema-on-write; optimized for SQL/OLAP</a:t>
            </a:r>
          </a:p>
          <a:p>
            <a:pPr lvl="0"/>
            <a:r>
              <a:rPr b="1"/>
              <a:t>Data Lake:</a:t>
            </a:r>
            <a:r>
              <a:rPr/>
              <a:t> store for raw and processed data; often schema-on-read; files (Parquet, ORC) or object storage</a:t>
            </a:r>
          </a:p>
          <a:p>
            <a:pPr lvl="0"/>
            <a:r>
              <a:rPr b="1"/>
              <a:t>OLAP:</a:t>
            </a:r>
            <a:r>
              <a:rPr/>
              <a:t> online analytical processing; aggregations, joins, reporting over large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Star schema:</a:t>
            </a:r>
            <a:r>
              <a:rPr/>
              <a:t> one fact table (measures, FKs) + dimension tables (attributes); denormalized for query speed</a:t>
            </a:r>
          </a:p>
          <a:p>
            <a:pPr lvl="0"/>
            <a:r>
              <a:rPr b="1"/>
              <a:t>Partitioning:</a:t>
            </a:r>
            <a:r>
              <a:rPr/>
              <a:t> data split by key (e.g. date); partition pruning skips irrelevant partitions</a:t>
            </a:r>
          </a:p>
          <a:p>
            <a:pPr lvl="0"/>
            <a:r>
              <a:rPr b="1"/>
              <a:t>Guarantees:</a:t>
            </a:r>
            <a:r>
              <a:rPr/>
              <a:t> DWH typically ACID on tables; Lake often eventual consistency; both scale with partitioning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vs Data Lake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DWH:</a:t>
            </a:r>
            <a:r>
              <a:rPr/>
              <a:t> structured; schema enforced on load; SQL engines (Snowflake, BigQuery, Redshift); best for curated reporting</a:t>
            </a:r>
          </a:p>
          <a:p>
            <a:pPr lvl="0"/>
            <a:r>
              <a:rPr b="1"/>
              <a:t>Lake:</a:t>
            </a:r>
            <a:r>
              <a:rPr/>
              <a:t> raw + processed; schema applied at read; file-based (S3, HDFS); best for flexibility and cost at scale</a:t>
            </a:r>
          </a:p>
          <a:p>
            <a:pPr lvl="0"/>
            <a:r>
              <a:rPr b="1"/>
              <a:t>Hybrid:</a:t>
            </a:r>
            <a:r>
              <a:rPr/>
              <a:t> Lakehouse (Delta, Iceberg) combines lake storage with DWH-like table semantics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vs Data Lake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Cost model:</a:t>
            </a:r>
            <a:r>
              <a:rPr/>
              <a:t> DWH: compute + storage often coupled; Lake: storage cheap, compute on demand</a:t>
            </a:r>
          </a:p>
          <a:p>
            <a:pPr lvl="0"/>
            <a:r>
              <a:rPr b="1"/>
              <a:t>What breaks at scale:</a:t>
            </a:r>
            <a:r>
              <a:rPr/>
              <a:t> DWH: very large single table scans; Lake: small-file problem; both: skew and hot partitions</a:t>
            </a:r>
          </a:p>
          <a:p>
            <a:pPr lvl="0"/>
            <a:r>
              <a:rPr b="1"/>
              <a:t>Use case:</a:t>
            </a:r>
            <a:r>
              <a:rPr/>
              <a:t> DWH for governed, low-latency BI; Lake for raw landing and ML/data science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Schema-on-read vs schema-on-write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Schema-on-write:</a:t>
            </a:r>
            <a:r>
              <a:rPr/>
              <a:t> data validated and typed on load; bad row fails load; DWH default</a:t>
            </a:r>
          </a:p>
          <a:p>
            <a:pPr lvl="0"/>
            <a:r>
              <a:rPr b="1"/>
              <a:t>Schema-on-read:</a:t>
            </a:r>
            <a:r>
              <a:rPr/>
              <a:t> load raw (e.g. as text or JSON); apply schema when querying; Lake default</a:t>
            </a:r>
          </a:p>
          <a:p>
            <a:pPr lvl="0"/>
            <a:r>
              <a:rPr b="1"/>
              <a:t>Trade-off:</a:t>
            </a:r>
            <a:r>
              <a:rPr/>
              <a:t> write-time validation vs flexibility; DLQ and staging support schema-on-read in pipelines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 schema and OLAP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Fact table:</a:t>
            </a:r>
            <a:r>
              <a:rPr/>
              <a:t> events or transactions; foreign keys to dimensions; measures (amount, quantity)</a:t>
            </a:r>
          </a:p>
          <a:p>
            <a:pPr lvl="0"/>
            <a:r>
              <a:rPr b="1"/>
              <a:t>Dimension tables:</a:t>
            </a:r>
            <a:r>
              <a:rPr/>
              <a:t> attributes (customer, product, date); typically smaller; joined to fact</a:t>
            </a:r>
          </a:p>
          <a:p>
            <a:pPr lvl="0"/>
            <a:r>
              <a:rPr b="1"/>
              <a:t>Benefit:</a:t>
            </a:r>
            <a:r>
              <a:rPr/>
              <a:t> simple joins; predictable query patterns; partition fact by date for pruning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Partitioning and pruning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Partition key:</a:t>
            </a:r>
            <a:r>
              <a:rPr/>
              <a:t> e.g. </a:t>
            </a:r>
            <a:r>
              <a:rPr>
                <a:latin typeface="Courier"/>
              </a:rPr>
              <a:t>sale_date</a:t>
            </a:r>
            <a:r>
              <a:rPr/>
              <a:t>; data stored in directories or segments per partition</a:t>
            </a:r>
          </a:p>
          <a:p>
            <a:pPr lvl="0"/>
            <a:r>
              <a:rPr b="1"/>
              <a:t>Partition pruning:</a:t>
            </a:r>
            <a:r>
              <a:rPr/>
              <a:t> query with </a:t>
            </a:r>
            <a:r>
              <a:rPr>
                <a:latin typeface="Courier"/>
              </a:rPr>
              <a:t>WHERE sale_date = '2025-12-01'</a:t>
            </a:r>
            <a:r>
              <a:rPr/>
              <a:t> reads only that partition</a:t>
            </a:r>
          </a:p>
          <a:p>
            <a:pPr lvl="0"/>
            <a:r>
              <a:rPr b="1"/>
              <a:t>Cost:</a:t>
            </a:r>
            <a:r>
              <a:rPr/>
              <a:t> scan size ≈ (selected partitions / total partitions) × table size; pruning reduces I/O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 and Lake: 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 (DB, logs, files) → ETL/ELT → DWH (curated tables) and/or Lake (raw + processed zones)</a:t>
            </a:r>
          </a:p>
          <a:p>
            <a:pPr lvl="0"/>
            <a:r>
              <a:rPr/>
              <a:t>BI and analytics query DWH or Lake via SQL engines; Lake often queried with Spark/Presto</a:t>
            </a:r>
          </a:p>
          <a:p>
            <a:pPr lvl="0"/>
            <a:r>
              <a:rPr/>
              <a:t>Diagram: week5_lecture_slide13_system_overview.puml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Domain:</a:t>
            </a:r>
            <a:r>
              <a:rPr/>
              <a:t> e-commerce sales analytics</a:t>
            </a:r>
          </a:p>
          <a:p>
            <a:pPr lvl="0"/>
            <a:r>
              <a:rPr b="1"/>
              <a:t>Fact:</a:t>
            </a:r>
            <a:r>
              <a:rPr/>
              <a:t> </a:t>
            </a:r>
            <a:r>
              <a:rPr>
                <a:latin typeface="Courier"/>
              </a:rPr>
              <a:t>sales_fact(sale_id, customer_key, product_key, date_key, quantity, amount)</a:t>
            </a:r>
          </a:p>
          <a:p>
            <a:pPr lvl="0"/>
            <a:r>
              <a:rPr b="1"/>
              <a:t>Dimensions:</a:t>
            </a:r>
            <a:r>
              <a:rPr/>
              <a:t> </a:t>
            </a:r>
            <a:r>
              <a:rPr>
                <a:latin typeface="Courier"/>
              </a:rPr>
              <a:t>dim_customer(customer_key, name, region)</a:t>
            </a:r>
            <a:r>
              <a:rPr/>
              <a:t>, </a:t>
            </a:r>
            <a:r>
              <a:rPr>
                <a:latin typeface="Courier"/>
              </a:rPr>
              <a:t>dim_product(product_key, name, category)</a:t>
            </a:r>
            <a:r>
              <a:rPr/>
              <a:t>, </a:t>
            </a:r>
            <a:r>
              <a:rPr>
                <a:latin typeface="Courier"/>
              </a:rPr>
              <a:t>dim_date(date_key, date, month, year)</a:t>
            </a:r>
          </a:p>
          <a:p>
            <a:pPr lvl="0"/>
            <a:r>
              <a:rPr b="1"/>
              <a:t>Goal:</a:t>
            </a:r>
            <a:r>
              <a:rPr/>
              <a:t> revenue by region and by category; partition fact by </a:t>
            </a:r>
            <a:r>
              <a:rPr>
                <a:latin typeface="Courier"/>
              </a:rPr>
              <a:t>date_key</a:t>
            </a:r>
            <a:r>
              <a:rPr/>
              <a:t>; use pruning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Step 1:</a:t>
            </a:r>
            <a:r>
              <a:rPr/>
              <a:t> Fact table partitioned by </a:t>
            </a:r>
            <a:r>
              <a:rPr>
                <a:latin typeface="Courier"/>
              </a:rPr>
              <a:t>date_key</a:t>
            </a:r>
            <a:r>
              <a:rPr/>
              <a:t> (e.g. one partition per day)</a:t>
            </a:r>
          </a:p>
          <a:p>
            <a:pPr lvl="0"/>
            <a:r>
              <a:rPr/>
              <a:t>Sample: (1, 101, 201, 20251201, 2, 19.98), (2, 102, 202, 20251201, 1, 9.99)</a:t>
            </a:r>
          </a:p>
          <a:p>
            <a:pPr lvl="0"/>
            <a:r>
              <a:rPr/>
              <a:t>Dimensions: small; not partitioned (or partition by dimension key if huge)</a:t>
            </a:r>
          </a:p>
          <a:p>
            <a:pPr lvl="0"/>
            <a:r>
              <a:rPr/>
              <a:t>Diagram in step 2: system already shown; next: query flow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Step 2:</a:t>
            </a:r>
            <a:r>
              <a:rPr/>
              <a:t> Query: revenue by region for December 2025</a:t>
            </a:r>
          </a:p>
          <a:p>
            <a:pPr lvl="0"/>
            <a:r>
              <a:rPr/>
              <a:t>Join </a:t>
            </a:r>
            <a:r>
              <a:rPr>
                <a:latin typeface="Courier"/>
              </a:rPr>
              <a:t>sales_fact</a:t>
            </a:r>
            <a:r>
              <a:rPr/>
              <a:t> → </a:t>
            </a:r>
            <a:r>
              <a:rPr>
                <a:latin typeface="Courier"/>
              </a:rPr>
              <a:t>dim_customer</a:t>
            </a:r>
            <a:r>
              <a:rPr/>
              <a:t> on </a:t>
            </a:r>
            <a:r>
              <a:rPr>
                <a:latin typeface="Courier"/>
              </a:rPr>
              <a:t>customer_key</a:t>
            </a:r>
            <a:r>
              <a:rPr/>
              <a:t>; filter </a:t>
            </a:r>
            <a:r>
              <a:rPr>
                <a:latin typeface="Courier"/>
              </a:rPr>
              <a:t>date_key</a:t>
            </a:r>
            <a:r>
              <a:rPr/>
              <a:t> between 20251201 and 20251231</a:t>
            </a:r>
          </a:p>
          <a:p>
            <a:pPr lvl="0"/>
            <a:r>
              <a:rPr/>
              <a:t>Partition pruning: only December partitions scanned; rest skipped</a:t>
            </a:r>
          </a:p>
          <a:p>
            <a:pPr lvl="0"/>
            <a:r>
              <a:rPr/>
              <a:t>Aggregate: </a:t>
            </a:r>
            <a:r>
              <a:rPr>
                <a:latin typeface="Courier"/>
              </a:rPr>
              <a:t>SUM(amount)</a:t>
            </a:r>
            <a:r>
              <a:rPr/>
              <a:t> grouped by </a:t>
            </a:r>
            <a:r>
              <a:rPr>
                <a:latin typeface="Courier"/>
              </a:rPr>
              <a:t>region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c.region,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(f.amount)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total_revenue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sales_fact f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JOIN</a:t>
            </a:r>
            <a:r>
              <a:rPr>
                <a:latin typeface="Courier"/>
              </a:rPr>
              <a:t> dim_customer c </a:t>
            </a:r>
            <a:r>
              <a:rPr b="1">
                <a:solidFill>
                  <a:srgbClr val="007020"/>
                </a:solidFill>
                <a:latin typeface="Courier"/>
              </a:rPr>
              <a:t>ON</a:t>
            </a:r>
            <a:r>
              <a:rPr>
                <a:latin typeface="Courier"/>
              </a:rPr>
              <a:t> f.customer_key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c.customer_key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WHERE</a:t>
            </a:r>
            <a:r>
              <a:rPr>
                <a:latin typeface="Courier"/>
              </a:rPr>
              <a:t> f.date_key </a:t>
            </a:r>
            <a:r>
              <a:rPr b="1">
                <a:solidFill>
                  <a:srgbClr val="007020"/>
                </a:solidFill>
                <a:latin typeface="Courier"/>
              </a:rPr>
              <a:t>BETWEEN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20251201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20251231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GROUP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c.region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total_revenue </a:t>
            </a:r>
            <a:r>
              <a:rPr b="1">
                <a:solidFill>
                  <a:srgbClr val="007020"/>
                </a:solidFill>
                <a:latin typeface="Courier"/>
              </a:rPr>
              <a:t>DESC</a:t>
            </a:r>
            <a:r>
              <a:rPr>
                <a:latin typeface="Courier"/>
              </a:rPr>
              <a:t>;</a:t>
            </a:r>
          </a:p>
          <a:p>
            <a:pPr lvl="0"/>
            <a:r>
              <a:rPr/>
              <a:t>Query path (pruning → scan → join → aggregate): see slide 22 diagram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Step 3:</a:t>
            </a:r>
            <a:r>
              <a:rPr/>
              <a:t> Same fact, different dimensions: revenue by category</a:t>
            </a:r>
          </a:p>
          <a:p>
            <a:pPr lvl="0"/>
            <a:r>
              <a:rPr/>
              <a:t>Join </a:t>
            </a:r>
            <a:r>
              <a:rPr>
                <a:latin typeface="Courier"/>
              </a:rPr>
              <a:t>sales_fact</a:t>
            </a:r>
            <a:r>
              <a:rPr/>
              <a:t> → </a:t>
            </a:r>
            <a:r>
              <a:rPr>
                <a:latin typeface="Courier"/>
              </a:rPr>
              <a:t>dim_product</a:t>
            </a:r>
            <a:r>
              <a:rPr/>
              <a:t> on </a:t>
            </a:r>
            <a:r>
              <a:rPr>
                <a:latin typeface="Courier"/>
              </a:rPr>
              <a:t>product_key</a:t>
            </a:r>
            <a:r>
              <a:rPr/>
              <a:t>; same date filter</a:t>
            </a:r>
          </a:p>
          <a:p>
            <a:pPr lvl="0"/>
            <a:r>
              <a:rPr/>
              <a:t>Same partition pruning; different dimension join; same fact scan once if both queries share engine cache</a:t>
            </a:r>
          </a:p>
          <a:p>
            <a:pPr lvl="0"/>
            <a:r>
              <a:rPr/>
              <a:t>Engineering: order of join (fact–dim) and filter–aggregate reduces intermediate 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Output:</a:t>
            </a:r>
            <a:r>
              <a:rPr/>
              <a:t> result sets: (region, total_revenue) and (category, total_revenue)</a:t>
            </a:r>
          </a:p>
          <a:p>
            <a:pPr lvl="0"/>
            <a:r>
              <a:rPr b="1"/>
              <a:t>Conclusion:</a:t>
            </a:r>
            <a:r>
              <a:rPr/>
              <a:t> star schema + partition by date gives predictable joins and pruning</a:t>
            </a:r>
          </a:p>
          <a:p>
            <a:pPr lvl="0"/>
            <a:r>
              <a:rPr b="1"/>
              <a:t>Trade-off:</a:t>
            </a:r>
            <a:r>
              <a:rPr/>
              <a:t> denormalization duplicates dimension attributes; acceptable for analytics; surrogate keys in fact for SCD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Time model:</a:t>
            </a:r>
            <a:r>
              <a:rPr/>
              <a:t> query time ≈ scan_time + join_time + aggregate_time</a:t>
            </a:r>
          </a:p>
          <a:p>
            <a:pPr lvl="0"/>
            <a:r>
              <a:rPr/>
              <a:t>Scan time ∝ rows read; partition pruning reduces rows read</a:t>
            </a:r>
          </a:p>
          <a:p>
            <a:pPr lvl="0"/>
            <a:r>
              <a:rPr/>
              <a:t>Formula (intuition): ( T R_{} /  ); ( R_{} ) reduced by pruning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Memory / storage:</a:t>
            </a:r>
            <a:r>
              <a:rPr/>
              <a:t> fact table dominates; dimensions small; partition fact to bound scan per query</a:t>
            </a:r>
          </a:p>
          <a:p>
            <a:pPr lvl="0"/>
            <a:r>
              <a:rPr/>
              <a:t>Storage: DWH often columnar (compress well); Lake: Parquet/ORC by partition</a:t>
            </a:r>
          </a:p>
          <a:p>
            <a:pPr lvl="0"/>
            <a:r>
              <a:rPr/>
              <a:t>Peak memory: join buffers (dim in memory, fact streamed) or hash tables for large joins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Network / throughput:</a:t>
            </a:r>
            <a:r>
              <a:rPr/>
              <a:t> in distributed DWH, shuffle between nodes for joins and aggregates</a:t>
            </a:r>
          </a:p>
          <a:p>
            <a:pPr lvl="0"/>
            <a:r>
              <a:rPr/>
              <a:t>Partition pruning reduces data moved; co-location of fact and dimension by key reduces shuffle</a:t>
            </a:r>
          </a:p>
          <a:p>
            <a:pPr lvl="0"/>
            <a:r>
              <a:rPr/>
              <a:t>Latency: BI queries often 1–30 s; governed by scan size and concurrency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 flow: from BI to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BI tool issues SQL → query planner → partition pruning (filter by partition key) → scan only selected partitions</a:t>
            </a:r>
          </a:p>
          <a:p>
            <a:pPr lvl="0"/>
            <a:r>
              <a:rPr/>
              <a:t>Join fact to dimensions (broadcast small dims or shuffle); aggregate; return result</a:t>
            </a:r>
          </a:p>
          <a:p>
            <a:pPr lvl="0"/>
            <a:r>
              <a:rPr/>
              <a:t>Diagram next: detailed query path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 flow: partition pruning and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-457200" marL="457200">
              <a:buAutoNum type="arabicParenR"/>
            </a:pPr>
            <a:r>
              <a:rPr/>
              <a:t>Parse query; extract partition filter (e.g. date range)</a:t>
            </a:r>
          </a:p>
          <a:p>
            <a:pPr lvl="0" indent="-457200" marL="457200">
              <a:buAutoNum startAt="2" type="arabicParenR"/>
            </a:pPr>
            <a:r>
              <a:rPr/>
              <a:t>List partitions to read; skip others (pruning)</a:t>
            </a:r>
          </a:p>
          <a:p>
            <a:pPr lvl="0" indent="-457200" marL="457200">
              <a:buAutoNum startAt="3" type="arabicParenR"/>
            </a:pPr>
            <a:r>
              <a:rPr/>
              <a:t>Scan fact partitions; join to dimensions; aggregate</a:t>
            </a:r>
          </a:p>
          <a:p>
            <a:pPr lvl="0"/>
            <a:r>
              <a:rPr/>
              <a:t>Diagram: week5_lecture_slide22_query_flow.puml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Join size and cost intuition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Fact–dim join:</a:t>
            </a:r>
            <a:r>
              <a:rPr/>
              <a:t> fact has FK; dimension small; cost ≈ scan fact (pruned) + lookup dim (often in memory)</a:t>
            </a:r>
          </a:p>
          <a:p>
            <a:pPr lvl="0"/>
            <a:r>
              <a:rPr b="1"/>
              <a:t>Large join:</a:t>
            </a:r>
            <a:r>
              <a:rPr/>
              <a:t> if dimension large or no pruning, shuffle and memory can dominate</a:t>
            </a:r>
          </a:p>
          <a:p>
            <a:pPr lvl="0"/>
            <a:r>
              <a:rPr b="1"/>
              <a:t>Best practice:</a:t>
            </a:r>
            <a:r>
              <a:rPr/>
              <a:t> partition fact by time; keep dimensions small or partition by key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No partition key in query:</a:t>
            </a:r>
            <a:r>
              <a:rPr/>
              <a:t> full table scan; high latency and cost; common mistake in ad-hoc SQL</a:t>
            </a:r>
          </a:p>
          <a:p>
            <a:pPr lvl="0"/>
            <a:r>
              <a:rPr b="1"/>
              <a:t>Schema evolution:</a:t>
            </a:r>
            <a:r>
              <a:rPr/>
              <a:t> new columns in Lake; old readers ignore; DWH requires ALTER or new version</a:t>
            </a:r>
          </a:p>
          <a:p>
            <a:pPr lvl="0"/>
            <a:r>
              <a:rPr b="1"/>
              <a:t>Small-file problem (Lake):</a:t>
            </a:r>
            <a:r>
              <a:rPr/>
              <a:t> many tiny files per partition; overhead per file; coalesce into larger files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full scan when pruning is missed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Query: “revenue by region” without </a:t>
            </a:r>
            <a:r>
              <a:rPr>
                <a:latin typeface="Courier"/>
              </a:rPr>
              <a:t>WHERE</a:t>
            </a:r>
            <a:r>
              <a:rPr/>
              <a:t> on partition key (e.g. date)</a:t>
            </a:r>
          </a:p>
          <a:p>
            <a:pPr lvl="0"/>
            <a:r>
              <a:rPr/>
              <a:t>Engine scans all partitions ⇒ full scan; time and cost scale with total data</a:t>
            </a:r>
          </a:p>
          <a:p>
            <a:pPr lvl="0"/>
            <a:r>
              <a:rPr/>
              <a:t>Fix: require partition filter in critical reports; or constrain date range in BI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hot partition and skew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One partition (e.g. today) gets most writes and reads; hot partition</a:t>
            </a:r>
          </a:p>
          <a:p>
            <a:pPr lvl="0"/>
            <a:r>
              <a:rPr/>
              <a:t>Can throttle writes and slow queries; in Lake, many small files in one partition</a:t>
            </a:r>
          </a:p>
          <a:p>
            <a:pPr lvl="0"/>
            <a:r>
              <a:rPr/>
              <a:t>Mitigation: partition by date + bucket by key; spread load; limit partition size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dimension too large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If dimension is huge (e.g. all products), join with fact can cause large shuffle</a:t>
            </a:r>
          </a:p>
          <a:p>
            <a:pPr lvl="0"/>
            <a:r>
              <a:rPr/>
              <a:t>Options: pre-aggregate; keep only needed attributes in a “mini” dimension; or partition dimension</a:t>
            </a:r>
          </a:p>
          <a:p>
            <a:pPr lvl="0"/>
            <a:r>
              <a:rPr/>
              <a:t>Cost reasoning: join size ≈ O(|fact scan|) if dim fits in memory; else O(|fact| + |dim|) shuffle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Monitor: query scan size (rows/bytes read); partition pruning (partitions read vs total)</a:t>
            </a:r>
          </a:p>
          <a:p>
            <a:pPr lvl="0"/>
            <a:r>
              <a:rPr/>
              <a:t>Alert: full table scan (no partition filter); long-running joins; OOM on large dim join</a:t>
            </a:r>
          </a:p>
          <a:p>
            <a:pPr lvl="0"/>
            <a:r>
              <a:rPr/>
              <a:t>Metrics: per-query bytes read; partition count read; join spill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Pitfalls: mitigation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Always use partition filter in queries where possible; design fact partitioned by time</a:t>
            </a:r>
          </a:p>
          <a:p>
            <a:pPr lvl="0"/>
            <a:r>
              <a:rPr/>
              <a:t>Coalesce small files in Lake; avoid unbounded partitions; size partitions for 100MB–1GB range</a:t>
            </a:r>
          </a:p>
          <a:p>
            <a:pPr lvl="0"/>
            <a:r>
              <a:rPr/>
              <a:t>Next: diagram of full scan (pruning missed) vs pruned scan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Rerun and idempotency (DWH/Lake)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Incremental load into fact: watermark on date; same pattern as Week 4 ETL</a:t>
            </a:r>
          </a:p>
          <a:p>
            <a:pPr lvl="0"/>
            <a:r>
              <a:rPr/>
              <a:t>Rerun must not duplicate fact rows; use MERGE or partition-level overwrite</a:t>
            </a:r>
          </a:p>
          <a:p>
            <a:pPr lvl="0"/>
            <a:r>
              <a:rPr/>
              <a:t>Control table: last_loaded_date; update only after successful load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Lake: small-file and compaction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Many small writes (e.g. streaming) create many small files per partition</a:t>
            </a:r>
          </a:p>
          <a:p>
            <a:pPr lvl="0"/>
            <a:r>
              <a:rPr/>
              <a:t>Each file has metadata and open overhead; scan of 10K files slower than 10 large files</a:t>
            </a:r>
          </a:p>
          <a:p>
            <a:pPr lvl="0"/>
            <a:r>
              <a:rPr/>
              <a:t>Compaction: coalesce small files into larger ones; run periodically or on schedule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DWH: partition key in every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Critical reports must filter by partition key (e.g. date range)</a:t>
            </a:r>
          </a:p>
          <a:p>
            <a:pPr lvl="0"/>
            <a:r>
              <a:rPr/>
              <a:t>Without filter: optimizer may still scan all partitions; cost = full scan</a:t>
            </a:r>
          </a:p>
          <a:p>
            <a:pPr lvl="0"/>
            <a:r>
              <a:rPr/>
              <a:t>Governance: require partition filter for tables above size threshold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recap: pruning vs full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Pruned: scan size = (selected partitions / total) × table size; e.g. 1/365 of year</a:t>
            </a:r>
          </a:p>
          <a:p>
            <a:pPr lvl="0"/>
            <a:r>
              <a:rPr/>
              <a:t>Full scan: scan size = full table; 365× more I/O and time</a:t>
            </a:r>
          </a:p>
          <a:p>
            <a:pPr lvl="0"/>
            <a:r>
              <a:rPr/>
              <a:t>Engineering: enforce filters in BI; document partition key for operators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Failure: what we want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Query with date filter → few partitions read → low latency and cost</a:t>
            </a:r>
          </a:p>
          <a:p>
            <a:pPr lvl="0"/>
            <a:r>
              <a:rPr/>
              <a:t>Query without date filter → all partitions read → high latency; possible timeout</a:t>
            </a:r>
          </a:p>
          <a:p>
            <a:pPr lvl="0"/>
            <a:r>
              <a:rPr/>
              <a:t>Diagram next: left = pruned (good); right = full scan (failure mode)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scenario: full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Left: query with date filter → few partitions read → low cost</a:t>
            </a:r>
          </a:p>
          <a:p>
            <a:pPr lvl="0"/>
            <a:r>
              <a:rPr/>
              <a:t>Right: same query without date filter → all partitions read → high cost and latency</a:t>
            </a:r>
          </a:p>
          <a:p>
            <a:pPr lvl="0"/>
            <a:r>
              <a:rPr/>
              <a:t>Diagram: week5_lecture_slide38_failure_partition.puml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Detection:</a:t>
            </a:r>
            <a:r>
              <a:rPr/>
              <a:t> monitor scan size, partition count read, join spill; alert on full scan</a:t>
            </a:r>
          </a:p>
          <a:p>
            <a:pPr lvl="0"/>
            <a:r>
              <a:rPr b="1"/>
              <a:t>Mitigation:</a:t>
            </a:r>
            <a:r>
              <a:rPr/>
              <a:t> enforce partition filters; coalesce files; size partitions; pre-aggregate or mini dimensions</a:t>
            </a:r>
          </a:p>
          <a:p>
            <a:pPr lvl="0"/>
            <a:r>
              <a:rPr b="1"/>
              <a:t>Lake + DWH:</a:t>
            </a:r>
            <a:r>
              <a:rPr/>
              <a:t> use Lake for raw and heavy ML; use DWH for governed BI; sync curated tables as needed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Model analytics with star schema; partition fact table by date (or time range)</a:t>
            </a:r>
          </a:p>
          <a:p>
            <a:pPr lvl="0"/>
            <a:r>
              <a:rPr/>
              <a:t>Always include partition key in WHERE for large tables to enable pruning</a:t>
            </a:r>
          </a:p>
          <a:p>
            <a:pPr lvl="0"/>
            <a:r>
              <a:rPr/>
              <a:t>Use surrogate keys in fact for dimensions (SCD Type 2); keep dimensions small or partitioned</a:t>
            </a:r>
          </a:p>
          <a:p>
            <a:pPr lvl="0"/>
            <a:r>
              <a:rPr/>
              <a:t>In Lake: store in columnar format (Parquet/ORC); coalesce small files; schema evolution with care</a:t>
            </a:r>
          </a:p>
          <a:p>
            <a:pPr lvl="0"/>
            <a:r>
              <a:rPr/>
              <a:t>Document partition key and expected query patterns for operators</a:t>
            </a:r>
          </a:p>
          <a:p>
            <a:pPr lvl="0"/>
            <a:r>
              <a:rPr/>
              <a:t>Monitor query cost (bytes read, partitions read); alert on full scans</a:t>
            </a:r>
          </a:p>
          <a:p>
            <a:pPr lvl="0"/>
            <a:r>
              <a:rPr/>
              <a:t>Separate raw, processed, and curated zones; govern access to curated layer</a:t>
            </a:r>
          </a:p>
          <a:p>
            <a:pPr lvl="0"/>
            <a:r>
              <a:rPr/>
              <a:t>Trade-off: denormalization (star) for query speed vs normalization for storage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DWH: schema-on-write, SQL, curated; Lake: schema-on-read, flexible, raw + processed</a:t>
            </a:r>
          </a:p>
          <a:p>
            <a:pPr lvl="0"/>
            <a:r>
              <a:rPr/>
              <a:t>Star schema: fact + dimensions; partition fact by date for pruning</a:t>
            </a:r>
          </a:p>
          <a:p>
            <a:pPr lvl="0"/>
            <a:r>
              <a:rPr/>
              <a:t>Partition pruning reduces scan and cost; missing partition filter causes full scan</a:t>
            </a:r>
          </a:p>
          <a:p>
            <a:pPr lvl="0"/>
            <a:r>
              <a:rPr/>
              <a:t>Join and aggregate cost depend on scan size and dimension size; design for pruning first</a:t>
            </a:r>
          </a:p>
          <a:p>
            <a:pPr lvl="0"/>
            <a:r>
              <a:rPr/>
              <a:t>Pipeline: sources → ETL/ELT → DWH and/or Lake → BI/analytics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star schema (fact + ≥2 dimensions) with sample rows; write OLAP query with partition filter</a:t>
            </a:r>
          </a:p>
          <a:p>
            <a:pPr lvl="0"/>
            <a:r>
              <a:rPr/>
              <a:t>Show partition pruning: which partitions are read for a given WHERE clause</a:t>
            </a:r>
          </a:p>
          <a:p>
            <a:pPr lvl="0"/>
            <a:r>
              <a:rPr/>
              <a:t>Reason about join size and cost: fact scan vs dimension size; when shuffle dominates</a:t>
            </a:r>
          </a:p>
          <a:p>
            <a:pPr lvl="0"/>
            <a:r>
              <a:rPr/>
              <a:t>Optional: incremental load into fact (watermark) and idempotent rerun (from Week 4)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2026-01-29T05:53:11Z</dcterms:created>
  <dcterms:modified xsi:type="dcterms:W3CDTF">2026-01-29T05:53:11Z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