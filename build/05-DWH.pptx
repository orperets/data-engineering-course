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14"/>
    <p:restoredTop sz="94719"/>
  </p:normalViewPr>
  <p:slideViewPr>
    <p:cSldViewPr snapToGrid="0" snapToObjects="1">
      <p:cViewPr varScale="1">
        <p:scale>
          <a:sx d="100" n="158"/>
          <a:sy d="100" n="158"/>
        </p:scale>
        <p:origin x="440" y="184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Relationship Id="rId5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19200" y="2066925"/>
            <a:ext cx="10363200" cy="1362075"/>
          </a:xfrm>
        </p:spPr>
        <p:txBody>
          <a:bodyPr anchor="t"/>
          <a:lstStyle>
            <a:lvl1pPr algn="ctr">
              <a:defRPr sz="4000" b="1" cap="all"/>
            </a:lvl1pPr>
          </a:lstStyle>
          <a:p>
            <a:r>
              <a:rPr lang="en-US" dirty="0"/>
              <a:t>MASTER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>
          <a:xfrm>
            <a:off x="1219200" y="2066925"/>
            <a:ext cx="103632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5: Data Warehousing and Data Lakes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DWH and Data Lake are the primary stores for analytics and BI</a:t>
            </a:r>
          </a:p>
          <a:p>
            <a:pPr lvl="0"/>
            <a:r>
              <a:rPr/>
              <a:t>Schema-on-read vs schema-on-write drives cost and flexibility</a:t>
            </a:r>
          </a:p>
          <a:p>
            <a:pPr lvl="0"/>
            <a:r>
              <a:rPr/>
              <a:t>Partitioning and pruning determine query cost at scale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Define Data Warehouse (DWH) vs Data Lake and when to use each</a:t>
            </a:r>
          </a:p>
          <a:p>
            <a:pPr lvl="0"/>
            <a:r>
              <a:rPr/>
              <a:t>Explain schema-on-read vs schema-on-write and their trade-offs</a:t>
            </a:r>
          </a:p>
          <a:p>
            <a:pPr lvl="0"/>
            <a:r>
              <a:rPr/>
              <a:t>Model analytical data with star schema (fact + dimensions)</a:t>
            </a:r>
          </a:p>
          <a:p>
            <a:pPr lvl="0"/>
            <a:r>
              <a:rPr/>
              <a:t>Apply partitioning and partition pruning to reduce scan cost</a:t>
            </a:r>
          </a:p>
          <a:p>
            <a:pPr lvl="0"/>
            <a:r>
              <a:rPr/>
              <a:t>Reason about join size and query cost in OLAP</a:t>
            </a:r>
          </a:p>
          <a:p>
            <a:pPr lvl="0"/>
            <a:r>
              <a:rPr/>
              <a:t>Connect DWH/Lake to ETL output and BI/analytics consumers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Real Problem This Lecture Solves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Organizational failure:</a:t>
            </a:r>
            <a:r>
              <a:rPr/>
              <a:t> A company put all analytics in one huge table with no partition key; BI built “revenue by region” with no date filter</a:t>
            </a:r>
          </a:p>
          <a:p>
            <a:pPr lvl="0"/>
            <a:r>
              <a:rPr b="1"/>
              <a:t>Trigger:</a:t>
            </a:r>
            <a:r>
              <a:rPr/>
              <a:t> Table grew to 1 TB; query scanned full table every time; dashboards started timing out; finance and sales could not refresh reports</a:t>
            </a:r>
          </a:p>
          <a:p>
            <a:pPr lvl="0"/>
            <a:r>
              <a:rPr b="1"/>
              <a:t>Consequence:</a:t>
            </a:r>
            <a:r>
              <a:rPr/>
              <a:t> Broken dashboards; mistrust in “the data is slow”; teams exported to Excel and duplicated logic; governance collapsed</a:t>
            </a:r>
          </a:p>
          <a:p>
            <a:pPr lvl="0"/>
            <a:r>
              <a:rPr b="1"/>
              <a:t>Root cause:</a:t>
            </a:r>
            <a:r>
              <a:rPr/>
              <a:t> No partition key in the model; no governance requiring partition filter; full scan at scale</a:t>
            </a:r>
          </a:p>
          <a:p>
            <a:pPr lvl="0"/>
            <a:r>
              <a:rPr b="1"/>
              <a:t>Takeaway:</a:t>
            </a:r>
            <a:r>
              <a:rPr/>
              <a:t> Bad warehouse design doesn’t just slow queries—it breaks trust and forces workarounds. This lecture is about modeling and pruning so that BI stays fast and reliable at 10× and 100× scale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We Are Building (End-to-End)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Domain:</a:t>
            </a:r>
            <a:r>
              <a:rPr/>
              <a:t> E-commerce sales analytics (revenue by region, by category, by time)</a:t>
            </a:r>
          </a:p>
          <a:p>
            <a:pPr lvl="0"/>
            <a:r>
              <a:rPr b="1"/>
              <a:t>Data source(s):</a:t>
            </a:r>
            <a:r>
              <a:rPr/>
              <a:t> Operational DB and/or ETL output from Week 4; sales and product/customer reference data</a:t>
            </a:r>
          </a:p>
          <a:p>
            <a:pPr lvl="0"/>
            <a:r>
              <a:rPr b="1"/>
              <a:t>Ingestion boundary:</a:t>
            </a:r>
            <a:r>
              <a:rPr/>
              <a:t> ETL/ELT loads into DWH and/or Lake (from Week 4 pipelines)</a:t>
            </a:r>
          </a:p>
          <a:p>
            <a:pPr lvl="0"/>
            <a:r>
              <a:rPr b="1"/>
              <a:t>Staging / raw:</a:t>
            </a:r>
            <a:r>
              <a:rPr/>
              <a:t> Lake raw zone or DWH staging; schema-on-read for landing</a:t>
            </a:r>
          </a:p>
          <a:p>
            <a:pPr lvl="0"/>
            <a:r>
              <a:rPr b="1"/>
              <a:t>Curated layer:</a:t>
            </a:r>
            <a:r>
              <a:rPr/>
              <a:t> DWH star schema: sales_fact (partitioned by date_key) + dim_customer, dim_product, dim_date</a:t>
            </a:r>
          </a:p>
          <a:p>
            <a:pPr lvl="0"/>
            <a:r>
              <a:rPr b="1"/>
              <a:t>Storage:</a:t>
            </a:r>
            <a:r>
              <a:rPr/>
              <a:t> DWH (schema-on-write, SQL) and/or Lake (Parquet by partition); same logical star can sit in either</a:t>
            </a:r>
          </a:p>
          <a:p>
            <a:pPr lvl="0"/>
            <a:r>
              <a:rPr b="1"/>
              <a:t>Consumers:</a:t>
            </a:r>
            <a:r>
              <a:rPr/>
              <a:t> BI tools (Tableau, Looker, etc.); analysts; reports (revenue by region, by category)</a:t>
            </a:r>
          </a:p>
          <a:p>
            <a:pPr lvl="0"/>
            <a:r>
              <a:rPr/>
              <a:t>Every later example refers to </a:t>
            </a:r>
            <a:r>
              <a:rPr i="1"/>
              <a:t>this</a:t>
            </a:r>
            <a:r>
              <a:rPr/>
              <a:t> system unless stated otherwise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Sources Used (Reference Only)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sources/Lecture 5.pptx</a:t>
            </a:r>
          </a:p>
          <a:p>
            <a:pPr lvl="0"/>
            <a:r>
              <a:rPr/>
              <a:t>exercises1.md (SQL joins/aggregations, e-commerce; ETL/ELT patterns)</a:t>
            </a:r>
          </a:p>
          <a:p>
            <a:pPr lvl="0"/>
            <a:r>
              <a:rPr/>
              <a:t>exercises2.md (Module 1: Advanced Relational Modeling and Warehousing; star schema, SCD Type 2, window functions)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 Manifest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Slide 13 → week5_lecture_slide13_system_overview.puml → DWH and Lake in the analytics pipeline</a:t>
            </a:r>
          </a:p>
          <a:p>
            <a:pPr lvl="0"/>
            <a:r>
              <a:rPr/>
              <a:t>Slide 14 → week5_lecture_bad_architecture.puml → bad architecture (no partition filter, full scan) and why it fails</a:t>
            </a:r>
          </a:p>
          <a:p>
            <a:pPr lvl="0"/>
            <a:r>
              <a:rPr/>
              <a:t>Slide 15 → week5_lecture_evolution_v1_v2.puml → evolution: v1 single table / no star → v2 star + partitioned fact</a:t>
            </a:r>
          </a:p>
          <a:p>
            <a:pPr lvl="0"/>
            <a:r>
              <a:rPr/>
              <a:t>Slide 22 → week5_lecture_slide22_query_flow.puml → OLAP query path and partition pruning</a:t>
            </a:r>
          </a:p>
          <a:p>
            <a:pPr lvl="0"/>
            <a:r>
              <a:rPr/>
              <a:t>Slide 38 → week5_lecture_slide38_failure_partition.puml → failure: full scan when pruning is missed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Data Warehouse (DWH):</a:t>
            </a:r>
            <a:r>
              <a:rPr/>
              <a:t> centralized store for analytical data; schema-on-write; optimized for SQL/OLAP</a:t>
            </a:r>
          </a:p>
          <a:p>
            <a:pPr lvl="0"/>
            <a:r>
              <a:rPr b="1"/>
              <a:t>Data Lake:</a:t>
            </a:r>
            <a:r>
              <a:rPr/>
              <a:t> store for raw and processed data; often schema-on-read; files (Parquet, ORC) or object storage</a:t>
            </a:r>
          </a:p>
          <a:p>
            <a:pPr lvl="0"/>
            <a:r>
              <a:rPr b="1"/>
              <a:t>OLAP:</a:t>
            </a:r>
            <a:r>
              <a:rPr/>
              <a:t> online analytical processing; aggregations, joins, reporting over large datasets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Star schema:</a:t>
            </a:r>
            <a:r>
              <a:rPr/>
              <a:t> one fact table (measures, FKs) + dimension tables (attributes); denormalized for query speed</a:t>
            </a:r>
          </a:p>
          <a:p>
            <a:pPr lvl="0"/>
            <a:r>
              <a:rPr b="1"/>
              <a:t>Partitioning:</a:t>
            </a:r>
            <a:r>
              <a:rPr/>
              <a:t> data split by key (e.g. date); partition pruning skips irrelevant partitions</a:t>
            </a:r>
          </a:p>
          <a:p>
            <a:pPr lvl="0"/>
            <a:r>
              <a:rPr b="1"/>
              <a:t>Guarantees:</a:t>
            </a:r>
            <a:r>
              <a:rPr/>
              <a:t> DWH typically ACID on tables; Lake often eventual consistency; both scale with partitioning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Architectural Fork: Lake First vs DWH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Option A — Lake first:</a:t>
            </a:r>
            <a:r>
              <a:rPr/>
              <a:t> Ingest raw to Lake; process in Lake (Spark, etc.); sync curated tables to DWH or query Lake with SQL engine</a:t>
            </a:r>
          </a:p>
          <a:p>
            <a:pPr lvl="1"/>
            <a:r>
              <a:rPr/>
              <a:t>Pros: raw preserved; flexibility for ML/data science; storage cheap</a:t>
            </a:r>
          </a:p>
          <a:p>
            <a:pPr lvl="1"/>
            <a:r>
              <a:rPr/>
              <a:t>Cons: two places to govern; latency if DWH is secondary; small-file and schema evolution issues in Lake</a:t>
            </a:r>
          </a:p>
          <a:p>
            <a:pPr lvl="0"/>
            <a:r>
              <a:rPr b="1"/>
              <a:t>Option B — DWH first:</a:t>
            </a:r>
            <a:r>
              <a:rPr/>
              <a:t> Ingest (or ETL) directly into DWH; star schema in DWH; BI only on DWH</a:t>
            </a:r>
          </a:p>
          <a:p>
            <a:pPr lvl="1"/>
            <a:r>
              <a:rPr/>
              <a:t>Pros: one place for BI; strong consistency; no small-file problem</a:t>
            </a:r>
          </a:p>
          <a:p>
            <a:pPr lvl="1"/>
            <a:r>
              <a:rPr/>
              <a:t>Cons: raw may be limited; less flexibility for ad-hoc/ML in same store</a:t>
            </a:r>
          </a:p>
          <a:p>
            <a:pPr lvl="0"/>
            <a:r>
              <a:rPr b="1"/>
              <a:t>Decision rule:</a:t>
            </a:r>
            <a:r>
              <a:rPr/>
              <a:t> Choose Lake first when you need raw + ML + multiple engines. Choose DWH first when BI and governed reporting are the main consumers. In </a:t>
            </a:r>
            <a:r>
              <a:rPr i="1"/>
              <a:t>this</a:t>
            </a:r>
            <a:r>
              <a:rPr/>
              <a:t> system we show both: Lake for raw and flexibility; DWH for curated star and BI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Architectural Fork: Schema-on-Read vs Schema-on-Write (DWH/Lake)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Option A — Schema-on-write (DWH default):</a:t>
            </a:r>
            <a:r>
              <a:rPr/>
              <a:t> Data validated and typed on load; bad row fails load</a:t>
            </a:r>
          </a:p>
          <a:p>
            <a:pPr lvl="1"/>
            <a:r>
              <a:rPr/>
              <a:t>Pros: predictable types; simple queries; integrity at write</a:t>
            </a:r>
          </a:p>
          <a:p>
            <a:pPr lvl="1"/>
            <a:r>
              <a:rPr/>
              <a:t>Cons: one bad row can fail batch; schema change = migration</a:t>
            </a:r>
          </a:p>
          <a:p>
            <a:pPr lvl="0"/>
            <a:r>
              <a:rPr b="1"/>
              <a:t>Option B — Schema-on-read (Lake default):</a:t>
            </a:r>
            <a:r>
              <a:rPr/>
              <a:t> Load raw (e.g. Parquet/JSON); apply schema when querying</a:t>
            </a:r>
          </a:p>
          <a:p>
            <a:pPr lvl="1"/>
            <a:r>
              <a:rPr/>
              <a:t>Pros: flexibility; schema evolution without full reload; bad rows can be isolated (DLQ)</a:t>
            </a:r>
          </a:p>
          <a:p>
            <a:pPr lvl="1"/>
            <a:r>
              <a:rPr/>
              <a:t>Cons: consumers must handle types; consistency is eventual</a:t>
            </a:r>
          </a:p>
          <a:p>
            <a:pPr lvl="0"/>
            <a:r>
              <a:rPr b="1"/>
              <a:t>Decision rule:</a:t>
            </a:r>
            <a:r>
              <a:rPr/>
              <a:t> Use schema-on-write for curated fact and dimensions in DWH. Use schema-on-read at the Lake landing layer. In </a:t>
            </a:r>
            <a:r>
              <a:rPr i="1"/>
              <a:t>this</a:t>
            </a:r>
            <a:r>
              <a:rPr/>
              <a:t> system: curated star is schema-on-write; raw zone in Lake is schema-on-read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vs Data Lake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DWH:</a:t>
            </a:r>
            <a:r>
              <a:rPr/>
              <a:t> structured; schema enforced on load; SQL engines (Snowflake, BigQuery, Redshift); best for curated reporting</a:t>
            </a:r>
          </a:p>
          <a:p>
            <a:pPr lvl="0"/>
            <a:r>
              <a:rPr b="1"/>
              <a:t>Lake:</a:t>
            </a:r>
            <a:r>
              <a:rPr/>
              <a:t> raw + processed; schema applied at read; file-based (S3, HDFS); best for flexibility and cost at scale</a:t>
            </a:r>
          </a:p>
          <a:p>
            <a:pPr lvl="0"/>
            <a:r>
              <a:rPr b="1"/>
              <a:t>Hybrid:</a:t>
            </a:r>
            <a:r>
              <a:rPr/>
              <a:t> Lakehouse (Delta, Iceberg) combines lake storage with DWH-like table semantics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vs Data Lake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Cost model:</a:t>
            </a:r>
            <a:r>
              <a:rPr/>
              <a:t> DWH: compute + storage often coupled; Lake: storage cheap, compute on demand</a:t>
            </a:r>
          </a:p>
          <a:p>
            <a:pPr lvl="0"/>
            <a:r>
              <a:rPr b="1"/>
              <a:t>What breaks at scale:</a:t>
            </a:r>
            <a:r>
              <a:rPr/>
              <a:t> DWH: very large single table scans; Lake: small-file problem; both: skew and hot partitions</a:t>
            </a:r>
          </a:p>
          <a:p>
            <a:pPr lvl="0"/>
            <a:r>
              <a:rPr b="1"/>
              <a:t>Use case:</a:t>
            </a:r>
            <a:r>
              <a:rPr/>
              <a:t> DWH for governed, low-latency BI; Lake for raw landing and ML/data science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Schema-on-read vs schema-on-write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Schema-on-write:</a:t>
            </a:r>
            <a:r>
              <a:rPr/>
              <a:t> data validated and typed on load; bad row fails load; DWH default</a:t>
            </a:r>
          </a:p>
          <a:p>
            <a:pPr lvl="0"/>
            <a:r>
              <a:rPr b="1"/>
              <a:t>Schema-on-read:</a:t>
            </a:r>
            <a:r>
              <a:rPr/>
              <a:t> load raw (e.g. as text or JSON); apply schema when querying; Lake default</a:t>
            </a:r>
          </a:p>
          <a:p>
            <a:pPr lvl="0"/>
            <a:r>
              <a:rPr b="1"/>
              <a:t>Trade-off:</a:t>
            </a:r>
            <a:r>
              <a:rPr/>
              <a:t> write-time validation vs flexibility; DLQ and staging support schema-on-read in pipelines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 schema and OLAP (This System)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Fact table:</a:t>
            </a:r>
            <a:r>
              <a:rPr/>
              <a:t> sales_fact (sale_id, customer_key, product_key, date_key, quantity, amount); partitioned by date_key</a:t>
            </a:r>
          </a:p>
          <a:p>
            <a:pPr lvl="0"/>
            <a:r>
              <a:rPr b="1"/>
              <a:t>Dimension tables:</a:t>
            </a:r>
            <a:r>
              <a:rPr/>
              <a:t> dim_customer (region, etc.), dim_product (category, etc.), dim_date (month, year)</a:t>
            </a:r>
          </a:p>
          <a:p>
            <a:pPr lvl="0"/>
            <a:r>
              <a:rPr b="1"/>
              <a:t>Benefit:</a:t>
            </a:r>
            <a:r>
              <a:rPr/>
              <a:t> simple joins; predictable query patterns; partition fact by date for pruning</a:t>
            </a:r>
          </a:p>
          <a:p>
            <a:pPr lvl="0"/>
            <a:r>
              <a:rPr/>
              <a:t>In </a:t>
            </a:r>
            <a:r>
              <a:rPr i="1"/>
              <a:t>this</a:t>
            </a:r>
            <a:r>
              <a:rPr/>
              <a:t> system, BI queries always filter by date_key so only relevant partitions are scanned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Partitioning and pruning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Partition key:</a:t>
            </a:r>
            <a:r>
              <a:rPr/>
              <a:t> e.g. </a:t>
            </a:r>
            <a:r>
              <a:rPr>
                <a:latin typeface="Courier"/>
              </a:rPr>
              <a:t>date_key</a:t>
            </a:r>
            <a:r>
              <a:rPr/>
              <a:t>; data stored in directories or segments per partition</a:t>
            </a:r>
          </a:p>
          <a:p>
            <a:pPr lvl="0"/>
            <a:r>
              <a:rPr b="1"/>
              <a:t>Partition pruning:</a:t>
            </a:r>
            <a:r>
              <a:rPr/>
              <a:t> query with </a:t>
            </a:r>
            <a:r>
              <a:rPr>
                <a:latin typeface="Courier"/>
              </a:rPr>
              <a:t>WHERE date_key BETWEEN 20251201 AND 20251231</a:t>
            </a:r>
            <a:r>
              <a:rPr/>
              <a:t> reads only those partitions</a:t>
            </a:r>
          </a:p>
          <a:p>
            <a:pPr lvl="0"/>
            <a:r>
              <a:rPr b="1"/>
              <a:t>Cost:</a:t>
            </a:r>
            <a:r>
              <a:rPr/>
              <a:t> scan size ≈ (selected partitions / total partitions) × table size; pruning reduces I/O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and Lake: pipeline overview (This System)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 (DB, logs, files) → ETL/ELT → DWH (curated star: sales_fact + dims) and/or Lake (raw + processed zones)</a:t>
            </a:r>
          </a:p>
          <a:p>
            <a:pPr lvl="0"/>
            <a:r>
              <a:rPr/>
              <a:t>BI and analytics query DWH or Lake via SQL engines; Lake often queried with Spark/Presto</a:t>
            </a:r>
          </a:p>
          <a:p>
            <a:pPr lvl="0"/>
            <a:r>
              <a:rPr/>
              <a:t>Diagram: week5_lecture_slide13_system_overview.puml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Bad Architecture: Why This Fails in Production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Anti-pattern:</a:t>
            </a:r>
            <a:r>
              <a:rPr/>
              <a:t> One huge fact-like table; no partition key; BI reports with no date filter</a:t>
            </a:r>
          </a:p>
          <a:p>
            <a:pPr lvl="0"/>
            <a:r>
              <a:rPr b="1"/>
              <a:t>What goes wrong:</a:t>
            </a:r>
            <a:r>
              <a:rPr/>
              <a:t> Every “revenue by region” query does full table scan; at 1 TB, queries timeout; dashboards break</a:t>
            </a:r>
          </a:p>
          <a:p>
            <a:pPr lvl="0"/>
            <a:r>
              <a:rPr b="1"/>
              <a:t>Hot partition:</a:t>
            </a:r>
            <a:r>
              <a:rPr/>
              <a:t> If partitioned but only by date, “today” gets all writes and most reads ⇒ throttle and skew</a:t>
            </a:r>
          </a:p>
          <a:p>
            <a:pPr lvl="0"/>
            <a:r>
              <a:rPr b="1"/>
              <a:t>Diagram:</a:t>
            </a:r>
            <a:r>
              <a:rPr/>
              <a:t> week5_lecture_bad_architecture.puml (full scan vs pruned scan)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Naïve Design (DWH / Lake)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 choice:</a:t>
            </a:r>
            <a:r>
              <a:rPr/>
              <a:t> One big table; no partition key; “we’ll add filters in the query”</a:t>
            </a:r>
          </a:p>
          <a:p>
            <a:pPr lvl="0"/>
            <a:r>
              <a:rPr b="1"/>
              <a:t>Cost at scale:</a:t>
            </a:r>
            <a:r>
              <a:rPr/>
              <a:t> Full scan at 1 TB ⇒ 15+ min or timeout; dashboards fail; teams export to Excel and duplicate logic; governance collapses</a:t>
            </a:r>
          </a:p>
          <a:p>
            <a:pPr lvl="0"/>
            <a:r>
              <a:rPr b="1"/>
              <a:t>Real cost:</a:t>
            </a:r>
            <a:r>
              <a:rPr/>
              <a:t> Not just slow queries—trust in “the data” breaks; ad-hoc SQL without partition filter becomes the norm</a:t>
            </a:r>
          </a:p>
          <a:p>
            <a:pPr lvl="0"/>
            <a:r>
              <a:rPr b="1"/>
              <a:t>Engineering rule:</a:t>
            </a:r>
            <a:r>
              <a:rPr/>
              <a:t> Partition fact by time; require partition filter in WHERE for all fact queries. Enforce it in governance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Evolution: v1 Single Table → v2 Star + Partitioned Fact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v1:</a:t>
            </a:r>
            <a:r>
              <a:rPr/>
              <a:t> One big table (or fact with no dimensions); no partition key; ad-hoc WHERE on any column</a:t>
            </a:r>
          </a:p>
          <a:p>
            <a:pPr lvl="1"/>
            <a:r>
              <a:rPr/>
              <a:t>Fails at scale: full scan; unpredictable join cost; no pruning</a:t>
            </a:r>
          </a:p>
          <a:p>
            <a:pPr lvl="0"/>
            <a:r>
              <a:rPr b="1"/>
              <a:t>v2:</a:t>
            </a:r>
            <a:r>
              <a:rPr/>
              <a:t> Star schema; fact partitioned by date_key; dimensions small; BI required to filter by date_key</a:t>
            </a:r>
          </a:p>
          <a:p>
            <a:pPr lvl="1"/>
            <a:r>
              <a:rPr/>
              <a:t>Pruned scan; predictable cost; governance (partition filter required)</a:t>
            </a:r>
          </a:p>
          <a:p>
            <a:pPr lvl="0"/>
            <a:r>
              <a:rPr b="1"/>
              <a:t>Diagram:</a:t>
            </a:r>
            <a:r>
              <a:rPr/>
              <a:t> week5_lecture_evolution_v1_v2.puml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 (In This System)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Domain:</a:t>
            </a:r>
            <a:r>
              <a:rPr/>
              <a:t> e-commerce sales analytics</a:t>
            </a:r>
          </a:p>
          <a:p>
            <a:pPr lvl="0"/>
            <a:r>
              <a:rPr b="1"/>
              <a:t>Fact:</a:t>
            </a:r>
            <a:r>
              <a:rPr/>
              <a:t> </a:t>
            </a:r>
            <a:r>
              <a:rPr>
                <a:latin typeface="Courier"/>
              </a:rPr>
              <a:t>sales_fact(sale_id, customer_key, product_key, date_key, quantity, amount)</a:t>
            </a:r>
            <a:r>
              <a:rPr/>
              <a:t> partitioned by date_key</a:t>
            </a:r>
          </a:p>
          <a:p>
            <a:pPr lvl="0"/>
            <a:r>
              <a:rPr b="1"/>
              <a:t>Dimensions:</a:t>
            </a:r>
            <a:r>
              <a:rPr/>
              <a:t> dim_customer(customer_key, name, region), dim_product(product_key, name, category), dim_date(date_key, date, month, year)</a:t>
            </a:r>
          </a:p>
          <a:p>
            <a:pPr lvl="0"/>
            <a:r>
              <a:rPr b="1"/>
              <a:t>Goal:</a:t>
            </a:r>
            <a:r>
              <a:rPr/>
              <a:t> revenue by region and by category; partition fact by date_key; use pruning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Step 1:</a:t>
            </a:r>
            <a:r>
              <a:rPr/>
              <a:t> Fact table partitioned by date_key (e.g. one partition per day)</a:t>
            </a:r>
          </a:p>
          <a:p>
            <a:pPr lvl="0"/>
            <a:r>
              <a:rPr/>
              <a:t>Sample: (1, 101, 201, 20251201, 2, 19.98), (2, 102, 202, 20251201, 1, 9.99)</a:t>
            </a:r>
          </a:p>
          <a:p>
            <a:pPr lvl="0"/>
            <a:r>
              <a:rPr/>
              <a:t>Dimensions: small; not partitioned (or partition by dimension key if huge)</a:t>
            </a:r>
          </a:p>
          <a:p>
            <a:pPr lvl="0"/>
            <a:r>
              <a:rPr/>
              <a:t>Diagram in step 2: system already shown; next: query flow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Step 2:</a:t>
            </a:r>
            <a:r>
              <a:rPr/>
              <a:t> Query: revenue by region for December 2025</a:t>
            </a:r>
          </a:p>
          <a:p>
            <a:pPr lvl="0"/>
            <a:r>
              <a:rPr/>
              <a:t>Join sales_fact → dim_customer on customer_key; filter date_key between 20251201 and 20251231</a:t>
            </a:r>
          </a:p>
          <a:p>
            <a:pPr lvl="0"/>
            <a:r>
              <a:rPr/>
              <a:t>In </a:t>
            </a:r>
            <a:r>
              <a:rPr i="1"/>
              <a:t>this</a:t>
            </a:r>
            <a:r>
              <a:rPr/>
              <a:t> system, partition pruning: only December partitions scanned; rest skipped</a:t>
            </a:r>
          </a:p>
          <a:p>
            <a:pPr lvl="0"/>
            <a:r>
              <a:rPr/>
              <a:t>Aggregate: SUM(amount) grouped by region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c.region,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(f.amount)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total_revenue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sales_fact f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JOIN</a:t>
            </a:r>
            <a:r>
              <a:rPr>
                <a:latin typeface="Courier"/>
              </a:rPr>
              <a:t> dim_customer c </a:t>
            </a:r>
            <a:r>
              <a:rPr b="1">
                <a:solidFill>
                  <a:srgbClr val="007020"/>
                </a:solidFill>
                <a:latin typeface="Courier"/>
              </a:rPr>
              <a:t>ON</a:t>
            </a:r>
            <a:r>
              <a:rPr>
                <a:latin typeface="Courier"/>
              </a:rPr>
              <a:t> f.customer_key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c.customer_key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WHERE</a:t>
            </a:r>
            <a:r>
              <a:rPr>
                <a:latin typeface="Courier"/>
              </a:rPr>
              <a:t> f.date_key </a:t>
            </a:r>
            <a:r>
              <a:rPr b="1">
                <a:solidFill>
                  <a:srgbClr val="007020"/>
                </a:solidFill>
                <a:latin typeface="Courier"/>
              </a:rPr>
              <a:t>BETWEEN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20251201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20251231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GROUP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c.region 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total_revenue </a:t>
            </a:r>
            <a:r>
              <a:rPr b="1">
                <a:solidFill>
                  <a:srgbClr val="007020"/>
                </a:solidFill>
                <a:latin typeface="Courier"/>
              </a:rPr>
              <a:t>DESC</a:t>
            </a:r>
            <a:r>
              <a:rPr>
                <a:latin typeface="Courier"/>
              </a:rPr>
              <a:t>;</a:t>
            </a:r>
          </a:p>
          <a:p>
            <a:pPr lvl="0"/>
            <a:r>
              <a:rPr/>
              <a:t>Query path (pruning → scan → join → aggregate): see slide 22 diagram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Step 3:</a:t>
            </a:r>
            <a:r>
              <a:rPr/>
              <a:t> Same fact, different dimensions: revenue by category</a:t>
            </a:r>
          </a:p>
          <a:p>
            <a:pPr lvl="0"/>
            <a:r>
              <a:rPr/>
              <a:t>Join sales_fact → dim_product on product_key; same date filter</a:t>
            </a:r>
          </a:p>
          <a:p>
            <a:pPr lvl="0"/>
            <a:r>
              <a:rPr/>
              <a:t>Same partition pruning; different dimension join; same fact scan once if both queries share engine cache</a:t>
            </a:r>
          </a:p>
          <a:p>
            <a:pPr lvl="0"/>
            <a:r>
              <a:rPr/>
              <a:t>Engineering: order of join (fact–dim) and filter–aggregate reduces intermediate size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Output:</a:t>
            </a:r>
            <a:r>
              <a:rPr/>
              <a:t> result sets: (region, total_revenue) and (category, total_revenue)</a:t>
            </a:r>
          </a:p>
          <a:p>
            <a:pPr lvl="0"/>
            <a:r>
              <a:rPr b="1"/>
              <a:t>Conclusion:</a:t>
            </a:r>
            <a:r>
              <a:rPr/>
              <a:t> star schema + partition by date gives predictable joins and pruning</a:t>
            </a:r>
          </a:p>
          <a:p>
            <a:pPr lvl="0"/>
            <a:r>
              <a:rPr b="1"/>
              <a:t>Trade-off:</a:t>
            </a:r>
            <a:r>
              <a:rPr/>
              <a:t> denormalization duplicates dimension attributes; acceptable for analytics; surrogate keys in fact for SCD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Time model:</a:t>
            </a:r>
            <a:r>
              <a:rPr/>
              <a:t> query time ≈ scan_time + join_time + aggregate_time</a:t>
            </a:r>
          </a:p>
          <a:p>
            <a:pPr lvl="0"/>
            <a:r>
              <a:rPr/>
              <a:t>Scan time ∝ rows read; partition pruning reduces rows read</a:t>
            </a:r>
          </a:p>
          <a:p>
            <a:pPr lvl="0"/>
            <a:r>
              <a:rPr/>
              <a:t>Formula (intuition): ( T R_{} /  ); ( R_{} ) reduced by pruning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Memory / storage:</a:t>
            </a:r>
            <a:r>
              <a:rPr/>
              <a:t> fact table dominates; dimensions small; partition fact to bound scan per query</a:t>
            </a:r>
          </a:p>
          <a:p>
            <a:pPr lvl="0"/>
            <a:r>
              <a:rPr/>
              <a:t>Storage: DWH often columnar (compress well); Lake: Parquet/ORC by partition</a:t>
            </a:r>
          </a:p>
          <a:p>
            <a:pPr lvl="0"/>
            <a:r>
              <a:rPr/>
              <a:t>Peak memory: join buffers (dim in memory, fact streamed) or hash tables for large joins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Network / throughput:</a:t>
            </a:r>
            <a:r>
              <a:rPr/>
              <a:t> in distributed DWH, shuffle between nodes for joins and aggregates</a:t>
            </a:r>
          </a:p>
          <a:p>
            <a:pPr lvl="0"/>
            <a:r>
              <a:rPr/>
              <a:t>Partition pruning reduces data moved; co-location of fact and dimension by key reduces shuffle</a:t>
            </a:r>
          </a:p>
          <a:p>
            <a:pPr lvl="0"/>
            <a:r>
              <a:rPr/>
              <a:t>Latency: BI queries often 1–30 s; governed by scan size and concurrency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Intuition: What Changes at 10×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10M rows vs 1B rows (fact):</a:t>
            </a:r>
            <a:r>
              <a:rPr/>
              <a:t> Full scan 1B ≈ 100× more I/O than 10M; without pruning, dashboards time out; with 31-day filter, scan ≈ 1/12 of year ⇒ ~30M rows, manageable</a:t>
            </a:r>
          </a:p>
          <a:p>
            <a:pPr lvl="0"/>
            <a:r>
              <a:rPr b="1"/>
              <a:t>Daily vs hourly partitions:</a:t>
            </a:r>
            <a:r>
              <a:rPr/>
              <a:t> More partitions ⇒ smaller partition size; pruning still critical; avoid 10K+ tiny files in Lake (coalesce to 100 MB–1 GB per partition)</a:t>
            </a:r>
          </a:p>
          <a:p>
            <a:pPr lvl="0"/>
            <a:r>
              <a:rPr b="1"/>
              <a:t>Full scan vs pruned (365 partitions):</a:t>
            </a:r>
            <a:r>
              <a:rPr/>
              <a:t> Pruned to 31 partitions ⇒ ~1/12 scan; full scan = 365× more bytes read and 365× worse latency</a:t>
            </a:r>
          </a:p>
          <a:p>
            <a:pPr lvl="0"/>
            <a:r>
              <a:rPr b="1"/>
              <a:t>Rule of thumb:</a:t>
            </a:r>
            <a:r>
              <a:rPr/>
              <a:t> At 10× data, enforce partition filter; otherwise cost and latency explode. In </a:t>
            </a:r>
            <a:r>
              <a:rPr i="1"/>
              <a:t>this</a:t>
            </a:r>
            <a:r>
              <a:rPr/>
              <a:t> system we require date_key in WHERE for all fact queries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 flow: from BI to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BI tool issues SQL → query planner → partition pruning (filter by partition key) → scan only selected partitions</a:t>
            </a:r>
          </a:p>
          <a:p>
            <a:pPr lvl="0"/>
            <a:r>
              <a:rPr/>
              <a:t>Join fact to dimensions (broadcast small dims or shuffle); aggregate; return result</a:t>
            </a:r>
          </a:p>
          <a:p>
            <a:pPr lvl="0"/>
            <a:r>
              <a:rPr/>
              <a:t>Diagram next: detailed query path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 flow: partition pruning and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-457200" marL="457200">
              <a:buAutoNum type="arabicParenR"/>
            </a:pPr>
            <a:r>
              <a:rPr/>
              <a:t>Parse query; extract partition filter (e.g. date range)</a:t>
            </a:r>
          </a:p>
          <a:p>
            <a:pPr lvl="0" indent="-457200" marL="457200">
              <a:buAutoNum startAt="2" type="arabicParenR"/>
            </a:pPr>
            <a:r>
              <a:rPr/>
              <a:t>List partitions to read; skip others (pruning)</a:t>
            </a:r>
          </a:p>
          <a:p>
            <a:pPr lvl="0" indent="-457200" marL="457200">
              <a:buAutoNum startAt="3" type="arabicParenR"/>
            </a:pPr>
            <a:r>
              <a:rPr/>
              <a:t>Scan fact partitions; join to dimensions; aggregate</a:t>
            </a:r>
          </a:p>
          <a:p>
            <a:pPr lvl="0"/>
            <a:r>
              <a:rPr/>
              <a:t>Diagram: week5_lecture_slide22_query_flow.puml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Join size and cost intuition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Fact–dim join:</a:t>
            </a:r>
            <a:r>
              <a:rPr/>
              <a:t> fact has FK; dimension small; cost ≈ scan fact (pruned) + lookup dim (often in memory)</a:t>
            </a:r>
          </a:p>
          <a:p>
            <a:pPr lvl="0"/>
            <a:r>
              <a:rPr b="1"/>
              <a:t>Large join:</a:t>
            </a:r>
            <a:r>
              <a:rPr/>
              <a:t> if dimension large or no pruning, shuffle and memory can dominate</a:t>
            </a:r>
          </a:p>
          <a:p>
            <a:pPr lvl="0"/>
            <a:r>
              <a:rPr b="1"/>
              <a:t>Best practice:</a:t>
            </a:r>
            <a:r>
              <a:rPr/>
              <a:t> partition fact by time; keep dimensions small or partition by key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Story 1: Full Scan Kills Dashboards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Trigger:</a:t>
            </a:r>
            <a:r>
              <a:rPr/>
              <a:t> Table grew to 1 TB; “revenue by region” report had no date filter; new analyst copied an old query that omitted WHERE date_key</a:t>
            </a:r>
          </a:p>
          <a:p>
            <a:pPr lvl="0"/>
            <a:r>
              <a:rPr b="1"/>
              <a:t>Symptom:</a:t>
            </a:r>
            <a:r>
              <a:rPr/>
              <a:t> Report ran 15+ minutes or timed out; dashboard refresh failed; users thought “data is broken”</a:t>
            </a:r>
          </a:p>
          <a:p>
            <a:pPr lvl="0"/>
            <a:r>
              <a:rPr b="1"/>
              <a:t>Root cause:</a:t>
            </a:r>
            <a:r>
              <a:rPr/>
              <a:t> No partition key in query; optimizer scanned all partitions; full table scan at 1 TB</a:t>
            </a:r>
          </a:p>
          <a:p>
            <a:pPr lvl="0"/>
            <a:r>
              <a:rPr b="1"/>
              <a:t>Design fix:</a:t>
            </a:r>
            <a:r>
              <a:rPr/>
              <a:t> Enforce partition filter for fact tables above size threshold; BI template and governance require date range; monitor bytes/partitions read and alert on full scan; in </a:t>
            </a:r>
            <a:r>
              <a:rPr i="1"/>
              <a:t>this</a:t>
            </a:r>
            <a:r>
              <a:rPr/>
              <a:t> system we document “always WHERE date_key” and add checks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Story 2: Small-File Explosion in the Lake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Trigger:</a:t>
            </a:r>
            <a:r>
              <a:rPr/>
              <a:t> Streaming inserts wrote one small file per micro-batch; partition “2025-12-01” had 50K files</a:t>
            </a:r>
          </a:p>
          <a:p>
            <a:pPr lvl="0"/>
            <a:r>
              <a:rPr b="1"/>
              <a:t>Symptom:</a:t>
            </a:r>
            <a:r>
              <a:rPr/>
              <a:t> Queries over that partition took minutes; metadata overhead and open cost dominated; same query on compacted data took seconds</a:t>
            </a:r>
          </a:p>
          <a:p>
            <a:pPr lvl="0"/>
            <a:r>
              <a:rPr b="1"/>
              <a:t>Root cause:</a:t>
            </a:r>
            <a:r>
              <a:rPr/>
              <a:t> Many small files per partition; scan cost = file open + read; 50K files ⇒ 50K× metadata and open overhead</a:t>
            </a:r>
          </a:p>
          <a:p>
            <a:pPr lvl="0"/>
            <a:r>
              <a:rPr b="1"/>
              <a:t>Design fix:</a:t>
            </a:r>
            <a:r>
              <a:rPr/>
              <a:t> Compaction job: coalesce small files into larger ones (e.g. 100 MB–1 GB per file); run periodically or on schedule; in Lake, use table formats (Delta, Iceberg) with automatic compaction where possible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No partition key in query:</a:t>
            </a:r>
            <a:r>
              <a:rPr/>
              <a:t> full table scan; high latency and cost; common mistake in ad-hoc SQL</a:t>
            </a:r>
          </a:p>
          <a:p>
            <a:pPr lvl="0"/>
            <a:r>
              <a:rPr b="1"/>
              <a:t>Schema evolution:</a:t>
            </a:r>
            <a:r>
              <a:rPr/>
              <a:t> new columns in Lake; old readers ignore; DWH requires ALTER or new version</a:t>
            </a:r>
          </a:p>
          <a:p>
            <a:pPr lvl="0"/>
            <a:r>
              <a:rPr b="1"/>
              <a:t>Small-file problem (Lake):</a:t>
            </a:r>
            <a:r>
              <a:rPr/>
              <a:t> many tiny files per partition; overhead per file; coalesce into larger files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full scan when pruning is missed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Query: “revenue by region” without WHERE on partition key (e.g. date)</a:t>
            </a:r>
          </a:p>
          <a:p>
            <a:pPr lvl="0"/>
            <a:r>
              <a:rPr/>
              <a:t>Engine scans all partitions ⇒ full scan; time and cost scale with total data</a:t>
            </a:r>
          </a:p>
          <a:p>
            <a:pPr lvl="0"/>
            <a:r>
              <a:rPr/>
              <a:t>Fix: require partition filter in critical reports; or constrain date range in BI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hot partition and skew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One partition (e.g. today) gets most writes and reads; hot partition</a:t>
            </a:r>
          </a:p>
          <a:p>
            <a:pPr lvl="0"/>
            <a:r>
              <a:rPr/>
              <a:t>Can throttle writes and slow queries; in Lake, many small files in one partition</a:t>
            </a:r>
          </a:p>
          <a:p>
            <a:pPr lvl="0"/>
            <a:r>
              <a:rPr/>
              <a:t>Mitigation: partition by date + bucket by key; spread load; limit partition size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dimension too large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If dimension is huge (e.g. all products), join with fact can cause large shuffle</a:t>
            </a:r>
          </a:p>
          <a:p>
            <a:pPr lvl="0"/>
            <a:r>
              <a:rPr/>
              <a:t>Options: pre-aggregate; keep only needed attributes in a “mini” dimension; or partition dimension</a:t>
            </a:r>
          </a:p>
          <a:p>
            <a:pPr lvl="0"/>
            <a:r>
              <a:rPr/>
              <a:t>Cost reasoning: join size ≈ O(|fact scan|) if dim fits in memory; else O(|fact| + |dim|) shuffle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Monitor: query scan size (rows/bytes read); partition pruning (partitions read vs total)</a:t>
            </a:r>
          </a:p>
          <a:p>
            <a:pPr lvl="0"/>
            <a:r>
              <a:rPr/>
              <a:t>Alert: full table scan (no partition filter); long-running joins; OOM on large dim join</a:t>
            </a:r>
          </a:p>
          <a:p>
            <a:pPr lvl="0"/>
            <a:r>
              <a:rPr/>
              <a:t>Metrics: per-query bytes read; partition count read; join spill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mitigation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Always use partition filter in queries where possible; design fact partitioned by time</a:t>
            </a:r>
          </a:p>
          <a:p>
            <a:pPr lvl="0"/>
            <a:r>
              <a:rPr/>
              <a:t>Coalesce small files in Lake; avoid unbounded partitions; size partitions for 100MB–1GB range</a:t>
            </a:r>
          </a:p>
          <a:p>
            <a:pPr lvl="0"/>
            <a:r>
              <a:rPr/>
              <a:t>Next: diagram of full scan (pruning missed) vs pruned scan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Judgment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Never expose a large fact table without a partition key</a:t>
            </a:r>
            <a:r>
              <a:rPr/>
              <a:t> and governance that requires the filter. Default: partition by date; require date range in WHERE for BI.</a:t>
            </a:r>
          </a:p>
          <a:p>
            <a:pPr lvl="0"/>
            <a:r>
              <a:rPr b="1"/>
              <a:t>If you’re unsure about query patterns,</a:t>
            </a:r>
            <a:r>
              <a:rPr/>
              <a:t> default to partitioning the fact by time (date_key) and keeping dimensions small. Broadcast dimensions; stream fact with pruning.</a:t>
            </a:r>
          </a:p>
          <a:p>
            <a:pPr lvl="0"/>
            <a:r>
              <a:rPr b="1"/>
              <a:t>In the Lake, never leave small-file problem unaddressed.</a:t>
            </a:r>
            <a:r>
              <a:rPr/>
              <a:t> Target 100 MB–1 GB per file per partition; run compaction on a schedule.</a:t>
            </a:r>
          </a:p>
          <a:p>
            <a:pPr lvl="0"/>
            <a:r>
              <a:rPr b="1"/>
              <a:t>Choose DWH for governed BI, Lake for raw + ML.</a:t>
            </a:r>
            <a:r>
              <a:rPr/>
              <a:t> Hybrid (Lakehouse or sync curated to DWH) when you need both; in </a:t>
            </a:r>
            <a:r>
              <a:rPr i="1"/>
              <a:t>this</a:t>
            </a:r>
            <a:r>
              <a:rPr/>
              <a:t> system we show both and connect them to one logical star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Rerun and idempotency (DWH/Lake)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Incremental load into fact: watermark on date; same pattern as Week 4 ETL</a:t>
            </a:r>
          </a:p>
          <a:p>
            <a:pPr lvl="0"/>
            <a:r>
              <a:rPr/>
              <a:t>Rerun must not duplicate fact rows; use MERGE or partition-level overwrite</a:t>
            </a:r>
          </a:p>
          <a:p>
            <a:pPr lvl="0"/>
            <a:r>
              <a:rPr/>
              <a:t>Control table: last_loaded_date; update only after successful load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Lake: small-file and compaction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Many small writes (e.g. streaming) create many small files per partition</a:t>
            </a:r>
          </a:p>
          <a:p>
            <a:pPr lvl="0"/>
            <a:r>
              <a:rPr/>
              <a:t>Each file has metadata and open overhead; scan of 10K files slower than 10 large files</a:t>
            </a:r>
          </a:p>
          <a:p>
            <a:pPr lvl="0"/>
            <a:r>
              <a:rPr/>
              <a:t>Compaction: coalesce small files into larger ones; run periodically or on schedule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DWH: partition key in every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Critical reports must filter by partition key (e.g. date range)</a:t>
            </a:r>
          </a:p>
          <a:p>
            <a:pPr lvl="0"/>
            <a:r>
              <a:rPr/>
              <a:t>Without filter: optimizer may still scan all partitions; cost = full scan</a:t>
            </a:r>
          </a:p>
          <a:p>
            <a:pPr lvl="0"/>
            <a:r>
              <a:rPr/>
              <a:t>Governance: require partition filter for tables above size threshold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recap: pruning vs full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Pruned: scan size = (selected partitions / total) × table size; e.g. 1/365 of year</a:t>
            </a:r>
          </a:p>
          <a:p>
            <a:pPr lvl="0"/>
            <a:r>
              <a:rPr/>
              <a:t>Full scan: scan size = full table; 365× more I/O and time</a:t>
            </a:r>
          </a:p>
          <a:p>
            <a:pPr lvl="0"/>
            <a:r>
              <a:rPr/>
              <a:t>Engineering: enforce filters in BI; document partition key for operators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Failure: what we want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Query with date filter → few partitions read → low latency and cost</a:t>
            </a:r>
          </a:p>
          <a:p>
            <a:pPr lvl="0"/>
            <a:r>
              <a:rPr/>
              <a:t>Query without date filter → all partitions read → high latency; possible timeout</a:t>
            </a:r>
          </a:p>
          <a:p>
            <a:pPr lvl="0"/>
            <a:r>
              <a:rPr/>
              <a:t>Diagram next: left = pruned (good); right = full scan (failure mode)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scenario: full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Left: query with date filter → few partitions read → low cost</a:t>
            </a:r>
          </a:p>
          <a:p>
            <a:pPr lvl="0"/>
            <a:r>
              <a:rPr/>
              <a:t>Right: same query without date filter → all partitions read → high cost and latency</a:t>
            </a:r>
          </a:p>
          <a:p>
            <a:pPr lvl="0"/>
            <a:r>
              <a:rPr/>
              <a:t>Diagram: week5_lecture_slide38_failure_partition.puml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Detection:</a:t>
            </a:r>
            <a:r>
              <a:rPr/>
              <a:t> monitor scan size, partition count read, join spill; alert on full scan</a:t>
            </a:r>
          </a:p>
          <a:p>
            <a:pPr lvl="0"/>
            <a:r>
              <a:rPr b="1"/>
              <a:t>Mitigation:</a:t>
            </a:r>
            <a:r>
              <a:rPr/>
              <a:t> enforce partition filters; coalesce files; size partitions; pre-aggregate or mini dimensions</a:t>
            </a:r>
          </a:p>
          <a:p>
            <a:pPr lvl="0"/>
            <a:r>
              <a:rPr b="1"/>
              <a:t>Lake + DWH:</a:t>
            </a:r>
            <a:r>
              <a:rPr/>
              <a:t> use Lake for raw and heavy ML; use DWH for governed BI; sync curated tables as needed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Model analytics with star schema; partition fact table by date (or time range)</a:t>
            </a:r>
          </a:p>
          <a:p>
            <a:pPr lvl="0"/>
            <a:r>
              <a:rPr/>
              <a:t>Always include partition key in WHERE for large tables to enable pruning</a:t>
            </a:r>
          </a:p>
          <a:p>
            <a:pPr lvl="0"/>
            <a:r>
              <a:rPr/>
              <a:t>Use surrogate keys in fact for dimensions (SCD Type 2); keep dimensions small or partitioned</a:t>
            </a:r>
          </a:p>
          <a:p>
            <a:pPr lvl="0"/>
            <a:r>
              <a:rPr/>
              <a:t>In Lake: store in columnar format (Parquet/ORC); coalesce small files; schema evolution with care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Document partition key and expected query patterns for operators</a:t>
            </a:r>
          </a:p>
          <a:p>
            <a:pPr lvl="0"/>
            <a:r>
              <a:rPr/>
              <a:t>Monitor query cost (bytes read, partitions read); alert on full scans</a:t>
            </a:r>
          </a:p>
          <a:p>
            <a:pPr lvl="0"/>
            <a:r>
              <a:rPr/>
              <a:t>Separate raw, processed, and curated zones; govern access to curated layer</a:t>
            </a:r>
          </a:p>
          <a:p>
            <a:pPr lvl="0"/>
            <a:r>
              <a:rPr/>
              <a:t>Trade-off: denormalization (star) for query speed vs normalization for storage</a:t>
            </a:r>
          </a:p>
          <a:p>
            <a:pPr lvl="0"/>
            <a:r>
              <a:rPr/>
              <a:t>Enforce: no fact query without partition filter above size threshold; target 100 MB–1 GB per file in Lake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 (Engineering Judgment)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DWH vs Lake:</a:t>
            </a:r>
            <a:r>
              <a:rPr/>
              <a:t> DWH for governed BI and low-latency reporting; Lake for raw landing and ML. Hybrid (Lakehouse or sync curated to DWH) when you need both. Don’t expose one huge table without a partition key.</a:t>
            </a:r>
          </a:p>
          <a:p>
            <a:pPr lvl="0"/>
            <a:r>
              <a:rPr b="1"/>
              <a:t>Partition pruning is the lever.</a:t>
            </a:r>
            <a:r>
              <a:rPr/>
              <a:t> Full scan at 1 TB kills dashboards and trust. Require date_key (or equivalent) in WHERE for all fact queries; enforce in governance and BI templates.</a:t>
            </a:r>
          </a:p>
          <a:p>
            <a:pPr lvl="0"/>
            <a:r>
              <a:rPr b="1"/>
              <a:t>Star schema + partition by time:</a:t>
            </a:r>
            <a:r>
              <a:rPr/>
              <a:t> Predictable joins and pruning. Keep dimensions small; broadcast them; stream fact with pruning. In Lake, coalesce small files—target 100 MB–1 GB per file.</a:t>
            </a:r>
          </a:p>
          <a:p>
            <a:pPr lvl="0"/>
            <a:r>
              <a:rPr b="1"/>
              <a:t>Cost:</a:t>
            </a:r>
            <a:r>
              <a:rPr/>
              <a:t> At 10× data, enforce partition filter or cost and latency explode. Monitor bytes/partitions read; alert on full scan.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star schema (fact + ≥2 dimensions) with sample rows; write OLAP query with partition filter</a:t>
            </a:r>
          </a:p>
          <a:p>
            <a:pPr lvl="0"/>
            <a:r>
              <a:rPr/>
              <a:t>Show partition pruning: which partitions are read for a given WHERE clause</a:t>
            </a:r>
          </a:p>
          <a:p>
            <a:pPr lvl="0"/>
            <a:r>
              <a:rPr/>
              <a:t>Reason about join size and cost: fact scan vs dimension size; when shuffle dominates</a:t>
            </a:r>
          </a:p>
          <a:p>
            <a:pPr lvl="0"/>
            <a:r>
              <a:rPr/>
              <a:t>Optional: incremental load into fact (watermark) and idempotent rerun (from Week 4)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2026-01-29T09:08:34Z</dcterms:created>
  <dcterms:modified xsi:type="dcterms:W3CDTF">2026-01-29T09:08:34Z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