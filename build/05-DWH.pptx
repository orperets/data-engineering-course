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0862"/>
    <p:restoredTop sz="94719"/>
  </p:normalViewPr>
  <p:slideViewPr>
    <p:cSldViewPr snapToGrid="0" snapToObjects="1">
      <p:cViewPr varScale="1">
        <p:scale>
          <a:sx d="100" n="148"/>
          <a:sy d="100" n="148"/>
        </p:scale>
        <p:origin x="1528" y="192"/>
      </p:cViewPr>
      <p:guideLst>
        <p:guide orient="horz" pos="2160"/>
        <p:guide pos="3840"/>
      </p:guideLst>
    </p:cSldViewPr>
  </p:slideViewPr>
  <p:notesTextViewPr>
    <p:cViewPr>
      <p:scale>
        <a:sx d="100" n="100"/>
        <a:sy d="100" n="100"/>
      </p:scale>
      <p:origin x="0" y="0"/>
    </p:cViewPr>
  </p:notesTextViewPr>
  <p:notesViewPr>
    <p:cSldViewPr snapToGrid="0" snapToObjects="1">
      <p:cViewPr varScale="1">
        <p:scale>
          <a:sx d="100" n="118"/>
          <a:sy d="100" n="118"/>
        </p:scale>
        <p:origin x="5160" y="21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19" Type="http://schemas.openxmlformats.org/officeDocument/2006/relationships/slide" Target="slides/slide118.xml" /><Relationship Id="rId120" Type="http://schemas.openxmlformats.org/officeDocument/2006/relationships/slide" Target="slides/slide119.xml" /><Relationship Id="rId121" Type="http://schemas.openxmlformats.org/officeDocument/2006/relationships/slide" Target="slides/slide120.xml" /><Relationship Id="rId122" Type="http://schemas.openxmlformats.org/officeDocument/2006/relationships/slide" Target="slides/slide121.xml" /><Relationship Id="rId123" Type="http://schemas.openxmlformats.org/officeDocument/2006/relationships/slide" Target="slides/slide122.xml" /><Relationship Id="rId124" Type="http://schemas.openxmlformats.org/officeDocument/2006/relationships/slide" Target="slides/slide123.xml" /><Relationship Id="rId129" Type="http://schemas.openxmlformats.org/officeDocument/2006/relationships/tableStyles" Target="tableStyles.xml" /><Relationship Id="rId128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127" Type="http://schemas.openxmlformats.org/officeDocument/2006/relationships/viewProps" Target="viewProps.xml" /><Relationship Id="rId126" Type="http://schemas.openxmlformats.org/officeDocument/2006/relationships/presProps" Target="presProps.xml" /><Relationship Id="rId125" Type="http://schemas.openxmlformats.org/officeDocument/2006/relationships/handoutMaster" Target="handoutMasters/handoutMaster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4B5F-BAD9-9946-9D71-AB5C763DA70C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EEA0-9609-584F-90F2-46E4F93E52CD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6A5E-CA21-6B4F-9DE7-1A275F321E49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960-90E0-EA41-937B-E68D4C6A0841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AE4-510D-3C40-B9B0-AA6693EED883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5D179-4B48-7641-AFA1-4656153FFCB8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9621" y="1546412"/>
            <a:ext cx="6338761" cy="4579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1546412"/>
            <a:ext cx="5030548" cy="457975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2D52-0D9F-F345-8384-0DCA30BF1F04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4ED6-1944-D14D-91B5-FC6036DE393D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8E4D-FFEC-474C-BD1C-299FD021CBA4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fmla="*/ 0 w 10972800" name="csX0"/>
                      <a:gd fmla="*/ 0 h 1143000" name="csY0"/>
                      <a:gd fmla="*/ 10972800 w 10972800" name="csX1"/>
                      <a:gd fmla="*/ 0 h 1143000" name="csY1"/>
                      <a:gd fmla="*/ 10972800 w 10972800" name="csX2"/>
                      <a:gd fmla="*/ 1143000 h 1143000" name="csY2"/>
                      <a:gd fmla="*/ 0 w 10972800" name="csX3"/>
                      <a:gd fmla="*/ 1143000 h 1143000" name="csY3"/>
                      <a:gd fmla="*/ 0 w 10972800" name="csX4"/>
                      <a:gd fmla="*/ 0 h 1143000" name="csY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b="b" l="l" r="r" t="t"/>
                    <a:pathLst>
                      <a:path extrusionOk="0" fill="none" h="1143000" w="1097280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extrusionOk="0" h="1143000" stroke="0" w="1097280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E24A-D52C-CB4E-85D6-C52415601A2A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E54F053-C5B3-FA53-FB24-F76EBC23E5F7}"/>
              </a:ext>
            </a:extLst>
          </p:cNvPr>
          <p:cNvSpPr/>
          <p:nvPr/>
        </p:nvSpPr>
        <p:spPr>
          <a:xfrm>
            <a:off x="10492509" y="-832013"/>
            <a:ext cx="5901557" cy="7690013"/>
          </a:xfrm>
          <a:custGeom>
            <a:avLst/>
            <a:gdLst/>
            <a:ahLst/>
            <a:cxnLst/>
            <a:rect b="b" l="l" r="r" t="t"/>
            <a:pathLst>
              <a:path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w="57150">
            <a:solidFill>
              <a:srgbClr val="941100">
                <a:alpha val="44000"/>
              </a:srgbClr>
            </a:solidFill>
            <a:prstDash val="solid"/>
            <a:miter/>
          </a:ln>
        </p:spPr>
        <p:txBody>
          <a:bodyPr/>
          <a:lstStyle/>
          <a:p>
            <a:endParaRPr lang="en-IL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C6ADFD82-3296-8C7F-2ACC-D8399785AC79}"/>
              </a:ext>
            </a:extLst>
          </p:cNvPr>
          <p:cNvSpPr/>
          <p:nvPr/>
        </p:nvSpPr>
        <p:spPr>
          <a:xfrm>
            <a:off x="-6457700" y="-1080266"/>
            <a:ext cx="7329616" cy="7329616"/>
          </a:xfrm>
          <a:custGeom>
            <a:avLst/>
            <a:gdLst/>
            <a:ahLst/>
            <a:cxnLst/>
            <a:rect b="b" l="l" r="r" t="t"/>
            <a:pathLst>
              <a:path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w="514350">
            <a:solidFill>
              <a:srgbClr val="941100">
                <a:alpha val="17929"/>
              </a:srgbClr>
            </a:solidFill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hdr="0"/>
  <p:txStyles>
    <p:titleStyle>
      <a:lvl1pPr algn="ctr" defTabSz="457200" eaLnBrk="1" hangingPunct="1" latinLnBrk="0" rtl="0">
        <a:spcBef>
          <a:spcPct val="0"/>
        </a:spcBef>
        <a:buNone/>
        <a:defRPr b="1"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lnSpc>
          <a:spcPct val="130000"/>
        </a:lnSpc>
        <a:spcBef>
          <a:spcPts val="0"/>
        </a:spcBef>
        <a:buFont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lnSpc>
          <a:spcPct val="130000"/>
        </a:lnSpc>
        <a:spcBef>
          <a:spcPts val="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lnSpc>
          <a:spcPct val="130000"/>
        </a:lnSpc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lnSpc>
          <a:spcPct val="130000"/>
        </a:lnSpc>
        <a:spcBef>
          <a:spcPts val="0"/>
        </a:spcBef>
        <a:buFont typeface="Arial"/>
        <a:buChar char="–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lnSpc>
          <a:spcPct val="130000"/>
        </a:lnSpc>
        <a:spcBef>
          <a:spcPts val="0"/>
        </a:spcBef>
        <a:buFont typeface="Arial"/>
        <a:buChar char="»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1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hasCustomPrompt="1"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5: Data Warehousing and Data Lakes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DWH and Data Lake are primary stores for analytics and BI</a:t>
            </a:r>
          </a:p>
          <a:p>
            <a:pPr lvl="0"/>
            <a:r>
              <a:rPr/>
              <a:t>Schema-on-read vs schema-on-write drives cost and flexibility</a:t>
            </a:r>
          </a:p>
          <a:p>
            <a:pPr lvl="0"/>
            <a:r>
              <a:rPr/>
              <a:t>Partitioning and pruning determine query cost at scale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Define Data Warehouse (DWH) vs Data Lake</a:t>
            </a:r>
          </a:p>
          <a:p>
            <a:pPr lvl="0"/>
            <a:r>
              <a:rPr/>
              <a:t>Explain schema-on-read vs schema-on-write trade-offs</a:t>
            </a:r>
          </a:p>
          <a:p>
            <a:pPr lvl="0"/>
            <a:r>
              <a:rPr/>
              <a:t>Model analytical data with star schema (fact + dimensions)</a:t>
            </a:r>
          </a:p>
          <a:p>
            <a:pPr lvl="0"/>
            <a:r>
              <a:rPr/>
              <a:t>Apply partitioning and partition pruning</a:t>
            </a:r>
          </a:p>
          <a:p>
            <a:pPr lvl="0"/>
            <a:r>
              <a:rPr/>
              <a:t>Reason about join size and query cost in OLAP</a:t>
            </a:r>
          </a:p>
          <a:p>
            <a:pPr lvl="0"/>
            <a:r>
              <a:rPr/>
              <a:t>Connect DWH/Lake to ETL output and BI consumers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Real Problem This Lecture Solves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 Scan Incident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Company put all analytics in one huge table</a:t>
            </a:r>
          </a:p>
          <a:p>
            <a:pPr lvl="0"/>
            <a:r>
              <a:rPr/>
              <a:t>No partition key; BI built “revenue by region” with no date filter</a:t>
            </a:r>
          </a:p>
          <a:p>
            <a:pPr lvl="0"/>
            <a:r>
              <a:rPr/>
              <a:t>Table grew to 1 TB; query scanned full table every time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Dashboards started timing out</a:t>
            </a:r>
          </a:p>
          <a:p>
            <a:pPr lvl="0"/>
            <a:r>
              <a:rPr/>
              <a:t>Finance and sales could not refresh reports</a:t>
            </a:r>
          </a:p>
          <a:p>
            <a:pPr lvl="0"/>
            <a:r>
              <a:rPr/>
              <a:t>Teams exported to Excel and duplicated logic</a:t>
            </a:r>
          </a:p>
          <a:p>
            <a:pPr lvl="0"/>
            <a:r>
              <a:rPr/>
              <a:t>Governance collapsed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Root Cause and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No partition key in the model</a:t>
            </a:r>
          </a:p>
          <a:p>
            <a:pPr lvl="0"/>
            <a:r>
              <a:rPr/>
              <a:t>No governance requiring partition filter</a:t>
            </a:r>
          </a:p>
          <a:p>
            <a:pPr lvl="0"/>
            <a:r>
              <a:rPr b="1"/>
              <a:t>Takeaway:</a:t>
            </a:r>
            <a:r>
              <a:rPr/>
              <a:t> bad warehouse design breaks trust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System We Are Building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Domain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Domain:</a:t>
            </a:r>
            <a:r>
              <a:rPr/>
              <a:t> e-commerce sales analytics</a:t>
            </a:r>
          </a:p>
          <a:p>
            <a:pPr lvl="0"/>
            <a:r>
              <a:rPr/>
              <a:t>Revenue by region, by category, by time</a:t>
            </a:r>
          </a:p>
          <a:p>
            <a:pPr lvl="0"/>
            <a:r>
              <a:rPr b="1"/>
              <a:t>Sources:</a:t>
            </a:r>
            <a:r>
              <a:rPr/>
              <a:t> operational DB and/or ETL output from Week 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Partition Pruning Cost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Fact table size (|F|), partition selectivity (s) (fraction scanned)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ScanCost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|</m:t>
                      </m:r>
                    </m:oMath>
                  </m:oMathPara>
                </a14:m>
              </a:p>
              <a:p>
                <a:pPr lvl="0"/>
                <a:r>
                  <a:rPr/>
                  <a:t>Interpretation: pruning reduces I/O linearly with (s)</a:t>
                </a:r>
              </a:p>
              <a:p>
                <a:pPr lvl="0"/>
                <a:r>
                  <a:rPr/>
                  <a:t>Engineering implication: choose partition keys aligned with filters</a:t>
                </a:r>
              </a:p>
              <a:p>
                <a:pPr lvl="0"/>
                <a:r>
                  <a:rPr/>
                  <a:t>Star join with dimension sizes (|D_i|)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JoinWork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|</m:t>
                          </m:r>
                        </m:e>
                      </m:nary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|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/>
                  <a:t>Interpretation: fact table dominates join cost</a:t>
                </a:r>
              </a:p>
              <a:p>
                <a:pPr lvl="0"/>
                <a:r>
                  <a:rPr/>
                  <a:t>Engineering implication: keep dimensions small; broadcast when possible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Raw:</a:t>
            </a:r>
            <a:r>
              <a:rPr/>
              <a:t> Lake raw zone or DWH staging; schema-on-read</a:t>
            </a:r>
          </a:p>
          <a:p>
            <a:pPr lvl="0"/>
            <a:r>
              <a:rPr b="1"/>
              <a:t>Curated:</a:t>
            </a:r>
            <a:r>
              <a:rPr/>
              <a:t> DWH star schema: sales_fact + dimensions</a:t>
            </a:r>
          </a:p>
          <a:p>
            <a:pPr lvl="0"/>
            <a:r>
              <a:rPr/>
              <a:t>sales_fact partitioned by date_key</a:t>
            </a:r>
          </a:p>
          <a:p>
            <a:pPr lvl="0"/>
            <a:r>
              <a:rPr b="1"/>
              <a:t>Consumers:</a:t>
            </a:r>
            <a:r>
              <a:rPr/>
              <a:t> BI tools (Tableau, Looker); analysts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 Manifest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Slide 13 → week5_lecture_slide13_system_overview.puml</a:t>
            </a:r>
          </a:p>
          <a:p>
            <a:pPr lvl="0"/>
            <a:r>
              <a:rPr/>
              <a:t>Slide 14 → week5_lecture_bad_architecture.puml</a:t>
            </a:r>
          </a:p>
          <a:p>
            <a:pPr lvl="0"/>
            <a:r>
              <a:rPr/>
              <a:t>Slide 15 → week5_lecture_evolution_v1_v2.puml</a:t>
            </a:r>
          </a:p>
          <a:p>
            <a:pPr lvl="0"/>
            <a:r>
              <a:rPr/>
              <a:t>Slide 22 → week5_lecture_slide22_query_flow.puml</a:t>
            </a:r>
          </a:p>
          <a:p>
            <a:pPr lvl="0"/>
            <a:r>
              <a:rPr/>
              <a:t>Slide 38 → week5_lecture_slide38_failure_partition.puml</a:t>
            </a:r>
          </a:p>
          <a:p>
            <a:pPr lvl="0"/>
            <a:r>
              <a:rPr/>
              <a:t>week5_star_schema.puml — Star schema: fact + dimensions (FK, partition)</a:t>
            </a:r>
          </a:p>
          <a:p>
            <a:pPr lvl="0"/>
            <a:r>
              <a:rPr/>
              <a:t>week5_dwh_vs_lake.puml — DWH vs Data Lake comparison</a:t>
            </a:r>
          </a:p>
          <a:p>
            <a:pPr lvl="0"/>
            <a:r>
              <a:rPr/>
              <a:t>week5_partition_pruning_cost.puml — Full scan vs pruned scan cost</a:t>
            </a:r>
          </a:p>
          <a:p>
            <a:pPr lvl="0"/>
            <a:r>
              <a:rPr/>
              <a:t>week5_schema_on_read_vs_write.puml — Schema-on-write vs schema-on-read</a:t>
            </a:r>
          </a:p>
          <a:p>
            <a:pPr lvl="0"/>
            <a:r>
              <a:rPr/>
              <a:t>week5_dimension_hierarchy.puml — Time and product hierarchies (OLAP)</a:t>
            </a:r>
          </a:p>
          <a:p>
            <a:pPr lvl="0"/>
            <a:r>
              <a:rPr/>
              <a:t>week5_star_vs_snowflake.puml — Star vs Snowflake schema</a:t>
            </a:r>
          </a:p>
          <a:p>
            <a:pPr lvl="0"/>
            <a:r>
              <a:rPr/>
              <a:t>week5_inmon_characteristics.puml — Inmon DWH: four characteristics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Core Concepts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 b="1"/>
              <a:t>Data Warehouse (DWH):</a:t>
            </a:r>
            <a:r>
              <a:rPr/>
              <a:t> centralized store for analytical data</a:t>
            </a:r>
          </a:p>
          <a:p>
            <a:pPr lvl="0"/>
            <a:r>
              <a:rPr/>
              <a:t>Schema-on-write; optimized for SQL/OLAP</a:t>
            </a:r>
          </a:p>
          <a:p>
            <a:pPr lvl="0"/>
            <a:r>
              <a:rPr b="1"/>
              <a:t>Data Lake:</a:t>
            </a:r>
            <a:r>
              <a:rPr/>
              <a:t> store for raw and processed data</a:t>
            </a:r>
          </a:p>
          <a:p>
            <a:pPr lvl="0"/>
            <a:r>
              <a:rPr/>
              <a:t>Often schema-on-read; files (Parquet, ORC)</a:t>
            </a:r>
          </a:p>
          <a:p>
            <a:pPr lvl="0"/>
            <a:r>
              <a:rPr b="1"/>
              <a:t>OLAP:</a:t>
            </a:r>
            <a:r>
              <a:rPr/>
              <a:t> aggregations, joins, reporting over large datasets</a:t>
            </a:r>
          </a:p>
        </p:txBody>
      </p:sp>
      <p:pic>
        <p:nvPicPr>
          <p:cNvPr descr="../../diagrams/week05/week5_dwh_vs_lak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21500" y="1536700"/>
            <a:ext cx="4025900" cy="457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Core Concepts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 b="1"/>
              <a:t>Star schema:</a:t>
            </a:r>
            <a:r>
              <a:rPr/>
              <a:t> one fact table + dimension tables</a:t>
            </a:r>
          </a:p>
          <a:p>
            <a:pPr lvl="0"/>
            <a:r>
              <a:rPr/>
              <a:t>Denormalized for query speed</a:t>
            </a:r>
          </a:p>
          <a:p>
            <a:pPr lvl="0"/>
            <a:r>
              <a:rPr b="1"/>
              <a:t>Partitioning:</a:t>
            </a:r>
            <a:r>
              <a:rPr/>
              <a:t> data split by key (e.g. date)</a:t>
            </a:r>
          </a:p>
          <a:p>
            <a:pPr lvl="0"/>
            <a:r>
              <a:rPr b="1"/>
              <a:t>Partition pruning:</a:t>
            </a:r>
            <a:r>
              <a:rPr/>
              <a:t> skips irrelevant partitions</a:t>
            </a:r>
          </a:p>
          <a:p>
            <a:pPr lvl="0"/>
            <a:r>
              <a:rPr b="1"/>
              <a:t>DWH:</a:t>
            </a:r>
            <a:r>
              <a:rPr/>
              <a:t> typically ACID; </a:t>
            </a:r>
            <a:r>
              <a:rPr b="1"/>
              <a:t>Lake:</a:t>
            </a:r>
            <a:r>
              <a:rPr/>
              <a:t> often eventual consistency</a:t>
            </a:r>
          </a:p>
        </p:txBody>
      </p:sp>
      <p:pic>
        <p:nvPicPr>
          <p:cNvPr descr="../../diagrams/week05/week5_star_schem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65800" y="2692400"/>
            <a:ext cx="63373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Context: Star Schema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sales_fact: 1 TB/year, partitioned by date_key</a:t>
            </a:r>
          </a:p>
          <a:p>
            <a:pPr lvl="0"/>
            <a:r>
              <a:rPr/>
              <a:t>dim_customer: ~10K rows; region attribute</a:t>
            </a:r>
          </a:p>
          <a:p>
            <a:pPr lvl="0"/>
            <a:r>
              <a:rPr/>
              <a:t>dim_product: ~1K rows; category attribute</a:t>
            </a:r>
          </a:p>
          <a:p>
            <a:pPr lvl="0"/>
            <a:r>
              <a:rPr/>
              <a:t>dim_date: date_key, month, year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In-Lecture Exercise 1: Partition Pruning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Define partition pruning in one sentence</a:t>
            </a:r>
          </a:p>
          <a:p>
            <a:pPr lvl="0"/>
            <a:r>
              <a:rPr/>
              <a:t>Why is a query without date_key filter expensive?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In-Lecture Exercise 1: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Pruning skips partitions that fail the WHERE predicate</a:t>
            </a:r>
          </a:p>
          <a:p>
            <a:pPr lvl="0"/>
            <a:r>
              <a:rPr/>
              <a:t>Only relevant partitions are scanned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In-Lecture Exercise 1: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No date_key filter forces a full scan of all partitions</a:t>
            </a:r>
          </a:p>
          <a:p>
            <a:pPr lvl="0"/>
            <a:r>
              <a:rPr/>
              <a:t>I/O scales with total table size, not query scope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In-Lecture Exercise 1: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Partition filters are mandatory for large fact tables</a:t>
            </a:r>
          </a:p>
          <a:p>
            <a:pPr lvl="0"/>
            <a:r>
              <a:rPr/>
              <a:t>Missing filters convert OLAP into full scans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Warehouse Definition (Formal)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Bill Inmon’s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“A data warehouse is subject-oriented, integrated, time-variant, and nonvolatile”</a:t>
            </a:r>
          </a:p>
          <a:p>
            <a:pPr lvl="0"/>
            <a:r>
              <a:rPr/>
              <a:t>Collection of data supporting decision-making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Characteristics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 b="1"/>
              <a:t>Subject Oriented:</a:t>
            </a:r>
            <a:r>
              <a:rPr/>
              <a:t> organized around major subjects</a:t>
            </a:r>
          </a:p>
          <a:p>
            <a:pPr lvl="0"/>
            <a:r>
              <a:rPr/>
              <a:t>Customer, product, sales</a:t>
            </a:r>
          </a:p>
          <a:p>
            <a:pPr lvl="0"/>
            <a:r>
              <a:rPr/>
              <a:t>Focusing on modeling and analysis for decision makers</a:t>
            </a:r>
          </a:p>
        </p:txBody>
      </p:sp>
      <p:pic>
        <p:nvPicPr>
          <p:cNvPr descr="../../diagrams/week05/week5_inmon_characteristic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65800" y="3073400"/>
            <a:ext cx="6337300" cy="148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Integrated:</a:t>
            </a:r>
            <a:r>
              <a:rPr/>
              <a:t> multiple heterogeneous data sources</a:t>
            </a:r>
          </a:p>
          <a:p>
            <a:pPr lvl="0"/>
            <a:r>
              <a:rPr/>
              <a:t>Consistent naming conventions and encoding</a:t>
            </a:r>
          </a:p>
          <a:p>
            <a:pPr lvl="0"/>
            <a:r>
              <a:rPr b="1"/>
              <a:t>Time Variant:</a:t>
            </a:r>
            <a:r>
              <a:rPr/>
              <a:t> provides historical perspective (5-10 years)</a:t>
            </a:r>
          </a:p>
          <a:p>
            <a:pPr lvl="0"/>
            <a:r>
              <a:rPr b="1"/>
              <a:t>Non-Volatile:</a:t>
            </a:r>
            <a:r>
              <a:rPr/>
              <a:t> physically separate; operational updates don’t occur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Separate Data Warehouse?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Missing data:</a:t>
            </a:r>
            <a:r>
              <a:rPr/>
              <a:t> DS requires historical data</a:t>
            </a:r>
          </a:p>
          <a:p>
            <a:pPr lvl="0"/>
            <a:r>
              <a:rPr/>
              <a:t>Operational DBs don’t typically maintain history</a:t>
            </a:r>
          </a:p>
          <a:p>
            <a:pPr lvl="0"/>
            <a:r>
              <a:rPr b="1"/>
              <a:t>Data consolidation:</a:t>
            </a:r>
            <a:r>
              <a:rPr/>
              <a:t> DS requires aggregation and summarization</a:t>
            </a:r>
          </a:p>
          <a:p>
            <a:pPr lvl="0"/>
            <a:r>
              <a:rPr b="1"/>
              <a:t>Data quality:</a:t>
            </a:r>
            <a:r>
              <a:rPr/>
              <a:t> different sources use inconsistent representations</a:t>
            </a:r>
          </a:p>
          <a:p>
            <a:pPr lvl="0"/>
            <a:r>
              <a:rPr b="1"/>
              <a:t>Performance:</a:t>
            </a:r>
            <a:r>
              <a:rPr/>
              <a:t> analytical queries shouldn’t impact operations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DWH Back-End Tools and Utilities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Processing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Data extraction:</a:t>
            </a:r>
            <a:r>
              <a:rPr/>
              <a:t> get data from multiple external sources</a:t>
            </a:r>
          </a:p>
          <a:p>
            <a:pPr lvl="0"/>
            <a:r>
              <a:rPr b="1"/>
              <a:t>Data cleaning:</a:t>
            </a:r>
            <a:r>
              <a:rPr/>
              <a:t> detect errors and rectify when possible</a:t>
            </a:r>
          </a:p>
          <a:p>
            <a:pPr lvl="0"/>
            <a:r>
              <a:rPr b="1"/>
              <a:t>Data transformation:</a:t>
            </a:r>
            <a:r>
              <a:rPr/>
              <a:t> convert from legacy to warehouse format</a:t>
            </a:r>
          </a:p>
          <a:p>
            <a:pPr lvl="0"/>
            <a:r>
              <a:rPr b="1"/>
              <a:t>Load:</a:t>
            </a:r>
            <a:r>
              <a:rPr/>
              <a:t> sort, summarize, consolidate, compute views</a:t>
            </a:r>
          </a:p>
          <a:p>
            <a:pPr lvl="0"/>
            <a:r>
              <a:rPr b="1"/>
              <a:t>Refresh:</a:t>
            </a:r>
            <a:r>
              <a:rPr/>
              <a:t> propagate updates from sources to warehouse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DWH Process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Centralized:</a:t>
            </a:r>
            <a:r>
              <a:rPr/>
              <a:t> single centralized storage and processing</a:t>
            </a:r>
          </a:p>
          <a:p>
            <a:pPr lvl="0"/>
            <a:r>
              <a:rPr/>
              <a:t>Huge structure (memory, processor, storage)</a:t>
            </a:r>
          </a:p>
          <a:p>
            <a:pPr lvl="0"/>
            <a:r>
              <a:rPr b="1"/>
              <a:t>Distributed:</a:t>
            </a:r>
            <a:r>
              <a:rPr/>
              <a:t> information across data centers</a:t>
            </a:r>
          </a:p>
          <a:p>
            <a:pPr lvl="0"/>
            <a:r>
              <a:rPr/>
              <a:t>Processing localized; results grouped centrally</a:t>
            </a:r>
          </a:p>
          <a:p>
            <a:pPr lvl="0"/>
            <a:r>
              <a:rPr b="1"/>
              <a:t>Trade-off:</a:t>
            </a:r>
            <a:r>
              <a:rPr/>
              <a:t> centralized simpler; distributed better for scale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Multidimensional Modeling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Multidimensional Modeling?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Technique for structuring data around business concepts</a:t>
            </a:r>
          </a:p>
          <a:p>
            <a:pPr lvl="0"/>
            <a:r>
              <a:rPr b="1"/>
              <a:t>ER models:</a:t>
            </a:r>
            <a:r>
              <a:rPr/>
              <a:t> entities and relationships (operational focus)</a:t>
            </a:r>
          </a:p>
          <a:p>
            <a:pPr lvl="0"/>
            <a:r>
              <a:rPr b="1"/>
              <a:t>Multi-dimensional:</a:t>
            </a:r>
            <a:r>
              <a:rPr/>
              <a:t> measures and dimensions (analytical focus)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Measures and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Measures:</a:t>
            </a:r>
            <a:r>
              <a:rPr/>
              <a:t> numerical data being tracked</a:t>
            </a:r>
          </a:p>
          <a:p>
            <a:pPr lvl="0"/>
            <a:r>
              <a:rPr/>
              <a:t>Can be analyzed and examined (e.g., sales amount, quantity)</a:t>
            </a:r>
          </a:p>
          <a:p>
            <a:pPr lvl="0"/>
            <a:r>
              <a:rPr b="1"/>
              <a:t>Dimensions:</a:t>
            </a:r>
            <a:r>
              <a:rPr/>
              <a:t> business parameters defining a transaction</a:t>
            </a:r>
          </a:p>
          <a:p>
            <a:pPr lvl="0"/>
            <a:r>
              <a:rPr/>
              <a:t>E.g., time, product, store, customer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Dimensional Hierarchy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Dimensions are organized into hierarchies</a:t>
            </a:r>
          </a:p>
          <a:p>
            <a:pPr lvl="0"/>
            <a:r>
              <a:rPr b="1"/>
              <a:t>Time example:</a:t>
            </a:r>
            <a:r>
              <a:rPr/>
              <a:t> days → weeks → quarters → years</a:t>
            </a:r>
          </a:p>
          <a:p>
            <a:pPr lvl="0"/>
            <a:r>
              <a:rPr b="1"/>
              <a:t>Product example:</a:t>
            </a:r>
            <a:r>
              <a:rPr/>
              <a:t> product → line → brand → category</a:t>
            </a:r>
          </a:p>
          <a:p>
            <a:pPr lvl="0"/>
            <a:r>
              <a:rPr/>
              <a:t>Dimensions have attributes (date, month, year; id, city, state)</a:t>
            </a:r>
          </a:p>
          <a:p>
            <a:pPr lvl="0"/>
            <a:r>
              <a:rPr/>
              <a:t>Hierarchies enable drill-down and roll-up in OLAP</a:t>
            </a:r>
          </a:p>
        </p:txBody>
      </p:sp>
      <p:pic>
        <p:nvPicPr>
          <p:cNvPr descr="../../diagrams/week05/week5_dimension_hierarch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188200" y="1536700"/>
            <a:ext cx="3479800" cy="457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DWH Schema Types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Star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Definition:</a:t>
            </a:r>
            <a:r>
              <a:rPr/>
              <a:t> relational model with one-to-many relationships</a:t>
            </a:r>
          </a:p>
          <a:p>
            <a:pPr lvl="0"/>
            <a:r>
              <a:rPr/>
              <a:t>Between dimension tables and fact table</a:t>
            </a:r>
          </a:p>
          <a:p>
            <a:pPr lvl="0"/>
            <a:r>
              <a:rPr/>
              <a:t>Single fact table with detail and summary data</a:t>
            </a:r>
          </a:p>
          <a:p>
            <a:pPr lvl="0"/>
            <a:r>
              <a:rPr/>
              <a:t>Fact table PK has one key column per dimension</a:t>
            </a:r>
          </a:p>
          <a:p>
            <a:pPr lvl="0"/>
            <a:r>
              <a:rPr/>
              <a:t>Each dimension is a single, denormalized table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Star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Benefits:</a:t>
            </a:r>
            <a:r>
              <a:rPr/>
              <a:t> easy to understand; intuitive mapping</a:t>
            </a:r>
          </a:p>
          <a:p>
            <a:pPr lvl="0"/>
            <a:r>
              <a:rPr/>
              <a:t>Easy to define hierarchies; reduces joins</a:t>
            </a:r>
          </a:p>
          <a:p>
            <a:pPr lvl="0"/>
            <a:r>
              <a:rPr b="1"/>
              <a:t>Drawbacks:</a:t>
            </a:r>
            <a:r>
              <a:rPr/>
              <a:t> summary data can yield poorer performance</a:t>
            </a:r>
          </a:p>
          <a:p>
            <a:pPr lvl="0"/>
            <a:r>
              <a:rPr/>
              <a:t>Huge dimension tables can be a problem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 Schema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Sales Fact Table:           time Dimension:
- time_key (FK)             - time_key (PK)
- item_key (FK)             - day, day_of_week
- branch_key (FK)           - month, quarter, year
- location_key (FK)
- units_sold                item Dimension:
- dollars_sold              - item_key (PK)
- avg_sales                 - item_name, brand, type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In-Lecture Exercise 2: Join Size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Query: revenue by region for December 2025</a:t>
            </a:r>
          </a:p>
          <a:p>
            <a:pPr lvl="0"/>
            <a:r>
              <a:rPr/>
              <a:t>sales_fact pruned to December; dim_customer is small</a:t>
            </a:r>
          </a:p>
          <a:p>
            <a:pPr lvl="0"/>
            <a:r>
              <a:rPr/>
              <a:t>Decide which side to broadcast in a distributed join</a:t>
            </a:r>
          </a:p>
          <a:p>
            <a:pPr lvl="0"/>
            <a:r>
              <a:rPr/>
              <a:t>What if dim_customer were 10 GB instead of 10 MB?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In-Lecture Exercise 2: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Fact slice is far larger than dim_customer</a:t>
            </a:r>
          </a:p>
          <a:p>
            <a:pPr lvl="0"/>
            <a:r>
              <a:rPr/>
              <a:t>Broadcast dim_customer; keep fact partitions local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In-Lecture Exercise 2: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If dim_customer is 10 GB, broadcast is too large</a:t>
            </a:r>
          </a:p>
          <a:p>
            <a:pPr lvl="0"/>
            <a:r>
              <a:rPr/>
              <a:t>Use shuffle/hash join on customer_key instead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In-Lecture Exercise 2: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Join strategy depends on relative table sizes</a:t>
            </a:r>
          </a:p>
          <a:p>
            <a:pPr lvl="0"/>
            <a:r>
              <a:rPr/>
              <a:t>Small dimensions should be broadcast when possible</a:t>
            </a:r>
          </a:p>
          <a:p>
            <a:pPr lvl="0"/>
            <a:r>
              <a:rPr/>
              <a:t>Size shifts can flip the optimal strategy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Snowflake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Definition:</a:t>
            </a:r>
            <a:r>
              <a:rPr/>
              <a:t> some dimensions don’t connect directly to fact</a:t>
            </a:r>
          </a:p>
          <a:p>
            <a:pPr lvl="0"/>
            <a:r>
              <a:rPr/>
              <a:t>Must join through other dimension tables</a:t>
            </a:r>
          </a:p>
          <a:p>
            <a:pPr lvl="0"/>
            <a:r>
              <a:rPr b="1"/>
              <a:t>Snowflaking:</a:t>
            </a:r>
            <a:r>
              <a:rPr/>
              <a:t> normalizing dimension tables in star schema</a:t>
            </a:r>
          </a:p>
          <a:p>
            <a:pPr lvl="0"/>
            <a:r>
              <a:rPr/>
              <a:t>Low cardinality attributes form separate tables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Snowflake Schema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Suitable for:</a:t>
            </a:r>
            <a:r>
              <a:rPr/>
              <a:t> many-to-many and one-to-many relationships</a:t>
            </a:r>
          </a:p>
          <a:p>
            <a:pPr lvl="0"/>
            <a:r>
              <a:rPr b="1"/>
              <a:t>Result:</a:t>
            </a:r>
            <a:r>
              <a:rPr/>
              <a:t> more complex queries; reduced performance</a:t>
            </a:r>
          </a:p>
          <a:p>
            <a:pPr lvl="0"/>
            <a:r>
              <a:rPr b="1"/>
              <a:t>Advantages:</a:t>
            </a:r>
            <a:r>
              <a:rPr/>
              <a:t> small storage savings; easier to maintain</a:t>
            </a:r>
          </a:p>
          <a:p>
            <a:pPr lvl="0"/>
            <a:r>
              <a:rPr b="1"/>
              <a:t>Disadvantages:</a:t>
            </a:r>
            <a:r>
              <a:rPr/>
              <a:t> less intuitive; difficult to browse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Galaxy Schema (Fact Constellation)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Definition:</a:t>
            </a:r>
            <a:r>
              <a:rPr/>
              <a:t> two or more fact tables sharing dimensions</a:t>
            </a:r>
          </a:p>
          <a:p>
            <a:pPr lvl="0"/>
            <a:r>
              <a:rPr b="1"/>
              <a:t>Use case:</a:t>
            </a:r>
            <a:r>
              <a:rPr/>
              <a:t> multiple business processes share common dimensions</a:t>
            </a:r>
          </a:p>
          <a:p>
            <a:pPr lvl="0"/>
            <a:r>
              <a:rPr b="1"/>
              <a:t>Example:</a:t>
            </a:r>
            <a:r>
              <a:rPr/>
              <a:t> sales fact and shipping fact sharing time, item, location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Which Schema Design is Best?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 b="1"/>
              <a:t>Performance benchmarking</a:t>
            </a:r>
            <a:r>
              <a:rPr/>
              <a:t> determines best for your use case</a:t>
            </a:r>
          </a:p>
          <a:p>
            <a:pPr lvl="0"/>
            <a:r>
              <a:rPr b="1"/>
              <a:t>Snowflake:</a:t>
            </a:r>
            <a:r>
              <a:rPr/>
              <a:t> easier when dimension tables very large</a:t>
            </a:r>
          </a:p>
          <a:p>
            <a:pPr lvl="0"/>
            <a:r>
              <a:rPr b="1"/>
              <a:t>Star:</a:t>
            </a:r>
            <a:r>
              <a:rPr/>
              <a:t> more effective for data cube browsing (fewer joins)</a:t>
            </a:r>
          </a:p>
          <a:p>
            <a:pPr lvl="0"/>
            <a:r>
              <a:rPr b="1"/>
              <a:t>Engineering rule:</a:t>
            </a:r>
            <a:r>
              <a:rPr/>
              <a:t> start with star; snowflake if proven bottleneck</a:t>
            </a:r>
          </a:p>
        </p:txBody>
      </p:sp>
      <p:pic>
        <p:nvPicPr>
          <p:cNvPr descr="../../diagrams/week05/week5_star_vs_snowflak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65800" y="2006600"/>
            <a:ext cx="6337300" cy="364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Architectural Fork: Lake First vs DWH First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Option A — Lake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Ingest raw to Lake; process in Lake (Spark)</a:t>
            </a:r>
          </a:p>
          <a:p>
            <a:pPr lvl="0"/>
            <a:r>
              <a:rPr/>
              <a:t>Sync curated tables to DWH or query Lake with SQL engine</a:t>
            </a:r>
          </a:p>
          <a:p>
            <a:pPr lvl="0"/>
            <a:r>
              <a:rPr b="1"/>
              <a:t>Pros:</a:t>
            </a:r>
            <a:r>
              <a:rPr/>
              <a:t> raw preserved; flexibility for ML; storage cheap</a:t>
            </a:r>
          </a:p>
          <a:p>
            <a:pPr lvl="0"/>
            <a:r>
              <a:rPr b="1"/>
              <a:t>Cons:</a:t>
            </a:r>
            <a:r>
              <a:rPr/>
              <a:t> two places to govern; small-file issues in Lake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Option B — DWH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Ingest (or ETL) directly into DWH; star schema in DWH</a:t>
            </a:r>
          </a:p>
          <a:p>
            <a:pPr lvl="0"/>
            <a:r>
              <a:rPr/>
              <a:t>BI only on DWH</a:t>
            </a:r>
          </a:p>
          <a:p>
            <a:pPr lvl="0"/>
            <a:r>
              <a:rPr b="1"/>
              <a:t>Pros:</a:t>
            </a:r>
            <a:r>
              <a:rPr/>
              <a:t> one place for BI; strong consistency</a:t>
            </a:r>
          </a:p>
          <a:p>
            <a:pPr lvl="0"/>
            <a:r>
              <a:rPr b="1"/>
              <a:t>Cons:</a:t>
            </a:r>
            <a:r>
              <a:rPr/>
              <a:t> raw may be limited; less flexibility for ML</a:t>
            </a:r>
          </a:p>
          <a:p>
            <a:pPr lvl="0"/>
            <a:r>
              <a:rPr b="1"/>
              <a:t>Decision:</a:t>
            </a:r>
            <a:r>
              <a:rPr/>
              <a:t> Lake for raw + ML; DWH for governed reporting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Schema-on-Read vs Schema-on-Write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Schema-on-Write (DWH Default)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Data validated and typed on load</a:t>
            </a:r>
          </a:p>
          <a:p>
            <a:pPr lvl="0"/>
            <a:r>
              <a:rPr/>
              <a:t>Bad row fails load</a:t>
            </a:r>
          </a:p>
          <a:p>
            <a:pPr lvl="0"/>
            <a:r>
              <a:rPr b="1"/>
              <a:t>Pros:</a:t>
            </a:r>
            <a:r>
              <a:rPr/>
              <a:t> predictable types; simple queries</a:t>
            </a:r>
          </a:p>
          <a:p>
            <a:pPr lvl="0"/>
            <a:r>
              <a:rPr b="1"/>
              <a:t>Cons:</a:t>
            </a:r>
            <a:r>
              <a:rPr/>
              <a:t> one bad row fails batch; schema change = migration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Schema-on-Read (Lake Default)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Load raw (Parquet/JSON); apply schema when querying</a:t>
            </a:r>
          </a:p>
          <a:p>
            <a:pPr lvl="0"/>
            <a:r>
              <a:rPr b="1"/>
              <a:t>Pros:</a:t>
            </a:r>
            <a:r>
              <a:rPr/>
              <a:t> flexibility; schema evolution without reload</a:t>
            </a:r>
          </a:p>
          <a:p>
            <a:pPr lvl="0"/>
            <a:r>
              <a:rPr b="1"/>
              <a:t>Cons:</a:t>
            </a:r>
            <a:r>
              <a:rPr/>
              <a:t> consumers handle types; consistency is eventual</a:t>
            </a:r>
          </a:p>
          <a:p>
            <a:pPr lvl="0"/>
            <a:r>
              <a:rPr b="1"/>
              <a:t>Decision:</a:t>
            </a:r>
            <a:r>
              <a:rPr/>
              <a:t> schema-on-write for curated; schema-on-read at landing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DWH vs Data Lake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DWH:</a:t>
            </a:r>
            <a:r>
              <a:rPr/>
              <a:t> structured; schema enforced on load</a:t>
            </a:r>
          </a:p>
          <a:p>
            <a:pPr lvl="0"/>
            <a:r>
              <a:rPr/>
              <a:t>SQL engines (Snowflake, BigQuery, Redshift)</a:t>
            </a:r>
          </a:p>
          <a:p>
            <a:pPr lvl="0"/>
            <a:r>
              <a:rPr/>
              <a:t>Best for curated reporting</a:t>
            </a:r>
          </a:p>
          <a:p>
            <a:pPr lvl="0"/>
            <a:r>
              <a:rPr b="1"/>
              <a:t>Lake:</a:t>
            </a:r>
            <a:r>
              <a:rPr/>
              <a:t> raw + processed; schema applied at read</a:t>
            </a:r>
          </a:p>
          <a:p>
            <a:pPr lvl="0"/>
            <a:r>
              <a:rPr/>
              <a:t>File-based (S3, HDFS); best for flexibility and cost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DWH vs Data Lake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Cost model:</a:t>
            </a:r>
            <a:r>
              <a:rPr/>
              <a:t> DWH compute + storage often coupled</a:t>
            </a:r>
          </a:p>
          <a:p>
            <a:pPr lvl="0"/>
            <a:r>
              <a:rPr/>
              <a:t>Lake: storage cheap, compute on demand</a:t>
            </a:r>
          </a:p>
          <a:p>
            <a:pPr lvl="0"/>
            <a:r>
              <a:rPr b="1"/>
              <a:t>Hybrid:</a:t>
            </a:r>
            <a:r>
              <a:rPr/>
              <a:t> Lakehouse (Delta, Iceberg) combines both</a:t>
            </a:r>
          </a:p>
          <a:p>
            <a:pPr lvl="0"/>
            <a:r>
              <a:rPr b="1"/>
              <a:t>What breaks:</a:t>
            </a:r>
            <a:r>
              <a:rPr/>
              <a:t> DWH = large single table scans</a:t>
            </a:r>
          </a:p>
          <a:p>
            <a:pPr lvl="0"/>
            <a:r>
              <a:rPr/>
              <a:t>Lake = small-file problem; both: skew and hot partitions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 Schema and OLAP (This System)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Fact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sales_fact(sale_id, customer_key, product_key, date_key, quantity, amount)</a:t>
            </a:r>
          </a:p>
          <a:p>
            <a:pPr lvl="0"/>
            <a:r>
              <a:rPr/>
              <a:t>Partitioned by date_key</a:t>
            </a:r>
          </a:p>
          <a:p>
            <a:pPr lvl="0"/>
            <a:r>
              <a:rPr/>
              <a:t>BI queries always filter by date_key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Dimension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dim_customer(customer_key, name, region)</a:t>
            </a:r>
          </a:p>
          <a:p>
            <a:pPr lvl="0"/>
            <a:r>
              <a:rPr>
                <a:latin typeface="Courier"/>
              </a:rPr>
              <a:t>dim_product(product_key, name, category)</a:t>
            </a:r>
          </a:p>
          <a:p>
            <a:pPr lvl="0"/>
            <a:r>
              <a:rPr>
                <a:latin typeface="Courier"/>
              </a:rPr>
              <a:t>dim_date(date_key, date, month, year)</a:t>
            </a:r>
          </a:p>
          <a:p>
            <a:pPr lvl="0"/>
            <a:r>
              <a:rPr b="1"/>
              <a:t>Benefit:</a:t>
            </a:r>
            <a:r>
              <a:rPr/>
              <a:t> simple joins; predictable query patterns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Partitioning and Pruning</a:t>
            </a:r>
          </a:p>
        </p:txBody>
      </p:sp>
      <p:pic>
        <p:nvPicPr>
          <p:cNvPr descr="../../diagrams/week05/week5_partition_pruning_co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29100" y="1600200"/>
            <a:ext cx="3746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Partition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E.g. </a:t>
            </a:r>
            <a:r>
              <a:rPr>
                <a:latin typeface="Courier"/>
              </a:rPr>
              <a:t>date_key</a:t>
            </a:r>
            <a:r>
              <a:rPr/>
              <a:t>; data stored in directories per partition</a:t>
            </a:r>
          </a:p>
          <a:p>
            <a:pPr lvl="0"/>
            <a:r>
              <a:rPr/>
              <a:t>Query with </a:t>
            </a:r>
            <a:r>
              <a:rPr>
                <a:latin typeface="Courier"/>
              </a:rPr>
              <a:t>WHERE date_key BETWEEN 20251201 AND 20251231</a:t>
            </a:r>
          </a:p>
          <a:p>
            <a:pPr lvl="0"/>
            <a:r>
              <a:rPr/>
              <a:t>Reads only those partitions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Pruning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Scan size ≈ (selected partitions / total) × table size</a:t>
            </a:r>
          </a:p>
          <a:p>
            <a:pPr lvl="0"/>
            <a:r>
              <a:rPr/>
              <a:t>Pruning reduces I/O significantly</a:t>
            </a:r>
          </a:p>
          <a:p>
            <a:pPr lvl="0"/>
            <a:r>
              <a:rPr/>
              <a:t>Engineering: require partition filter in WHERE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In-Lecture Exercise 3: Pruning Cost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365 partitions/year; total size 1 TB</a:t>
            </a:r>
          </a:p>
          <a:p>
            <a:pPr lvl="0"/>
            <a:r>
              <a:rPr/>
              <a:t>December query uses date_key between 20251201 and 20251231</a:t>
            </a:r>
          </a:p>
          <a:p>
            <a:pPr lvl="0"/>
            <a:r>
              <a:rPr/>
              <a:t>Compute partitions read and bytes scanned</a:t>
            </a:r>
          </a:p>
          <a:p>
            <a:pPr lvl="0"/>
            <a:r>
              <a:rPr/>
              <a:t>What if the date filter is missing?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In-Lecture Exercise 3: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Partitions read: 31 (one per day in December)</a:t>
            </a:r>
          </a:p>
          <a:p>
            <a:pPr lvl="0"/>
            <a:r>
              <a:rPr/>
              <a:t>Size per partition: 1 TB / 365 ≈ 2.7 GB</a:t>
            </a:r>
          </a:p>
          <a:p>
            <a:pPr lvl="0"/>
            <a:r>
              <a:rPr/>
              <a:t>Bytes scanned: 31 × 2.7 GB ≈ 84 GB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In-Lecture Exercise 3: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Without date filter: all 365 partitions scanned</a:t>
            </a:r>
          </a:p>
          <a:p>
            <a:pPr lvl="0"/>
            <a:r>
              <a:rPr/>
              <a:t>Full 1 TB scan for every report</a:t>
            </a:r>
          </a:p>
          <a:p>
            <a:pPr lvl="0"/>
            <a:r>
              <a:rPr/>
              <a:t>Cost and latency explode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In-Lecture Exercise 3: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Partition pruning is the main cost lever in OLAP</a:t>
            </a:r>
          </a:p>
          <a:p>
            <a:pPr lvl="0"/>
            <a:r>
              <a:rPr/>
              <a:t>Always enforce date filters in BI queries</a:t>
            </a:r>
          </a:p>
          <a:p>
            <a:pPr lvl="0"/>
            <a:r>
              <a:rPr/>
              <a:t>Full scans break dashboards at scale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DWH and Lake: Pipeline Overview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Sources (DB, logs) → ETL/ELT → DWH (star) and/or Lake (raw + processed)</a:t>
            </a:r>
          </a:p>
          <a:p>
            <a:pPr lvl="0"/>
            <a:r>
              <a:rPr/>
              <a:t>BI and analytics query DWH or Lake via SQL engines</a:t>
            </a:r>
          </a:p>
        </p:txBody>
      </p:sp>
      <p:pic>
        <p:nvPicPr>
          <p:cNvPr descr="../../diagrams/week05/week5_lecture_slide13_system_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5000" y="1536700"/>
            <a:ext cx="3911600" cy="457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Bad Architecture: Why This Fails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Anti-Pattern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One huge fact-like table; no partition key</a:t>
            </a:r>
          </a:p>
          <a:p>
            <a:pPr lvl="0"/>
            <a:r>
              <a:rPr/>
              <a:t>BI reports with no date filter</a:t>
            </a:r>
          </a:p>
          <a:p>
            <a:pPr lvl="0"/>
            <a:r>
              <a:rPr/>
              <a:t>Every query does full table scan</a:t>
            </a:r>
          </a:p>
          <a:p>
            <a:pPr lvl="0"/>
            <a:r>
              <a:rPr/>
              <a:t>At 1 TB, queries timeout; dashboards break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Hot Partition Problem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If partitioned but only by date, “today” gets all writes and reads</a:t>
            </a:r>
          </a:p>
          <a:p>
            <a:pPr lvl="0"/>
            <a:r>
              <a:rPr/>
              <a:t>⇒ throttle and skew</a:t>
            </a:r>
          </a:p>
        </p:txBody>
      </p:sp>
      <p:pic>
        <p:nvPicPr>
          <p:cNvPr descr="../../diagrams/week05/week5_lecture_bad_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57900" y="1536700"/>
            <a:ext cx="5740400" cy="457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of Naïve Design (DWH / Lake)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Naïve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Naïve:</a:t>
            </a:r>
            <a:r>
              <a:rPr/>
              <a:t> one big table; no partition key</a:t>
            </a:r>
          </a:p>
          <a:p>
            <a:pPr lvl="0"/>
            <a:r>
              <a:rPr/>
              <a:t>“We’ll add filters in the query”</a:t>
            </a:r>
          </a:p>
          <a:p>
            <a:pPr lvl="0"/>
            <a:r>
              <a:rPr b="1"/>
              <a:t>Cost:</a:t>
            </a:r>
            <a:r>
              <a:rPr/>
              <a:t> full scan at 1 TB ⇒ 15+ min or timeout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Dashboards fail; teams export to Excel</a:t>
            </a:r>
          </a:p>
          <a:p>
            <a:pPr lvl="0"/>
            <a:r>
              <a:rPr/>
              <a:t>Duplicate logic; governance collapses</a:t>
            </a:r>
          </a:p>
          <a:p>
            <a:pPr lvl="0"/>
            <a:r>
              <a:rPr b="1"/>
              <a:t>Engineering rule:</a:t>
            </a:r>
            <a:r>
              <a:rPr/>
              <a:t> partition by time; require filter in WHERE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Evolution: v1 Single Table → v2 Star + Partitioned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v1: Single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One big table; no partition key; ad-hoc WHERE</a:t>
            </a:r>
          </a:p>
          <a:p>
            <a:pPr lvl="0"/>
            <a:r>
              <a:rPr/>
              <a:t>Fails at scale: full scan; unpredictable join cost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v2: Star + Partitioned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Star schema; fact partitioned by date_key</a:t>
            </a:r>
          </a:p>
          <a:p>
            <a:pPr lvl="0"/>
            <a:r>
              <a:rPr/>
              <a:t>Dimensions small; BI required to filter by date_key</a:t>
            </a:r>
          </a:p>
          <a:p>
            <a:pPr lvl="0"/>
            <a:r>
              <a:rPr/>
              <a:t>Pruned scan; predictable cost; governance</a:t>
            </a:r>
          </a:p>
        </p:txBody>
      </p:sp>
      <p:pic>
        <p:nvPicPr>
          <p:cNvPr descr="../../diagrams/week05/week5_lecture_evolution_v1_v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65800" y="2032000"/>
            <a:ext cx="6337300" cy="359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Data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Domain:</a:t>
            </a:r>
            <a:r>
              <a:rPr/>
              <a:t> e-commerce sales analytics</a:t>
            </a:r>
          </a:p>
          <a:p>
            <a:pPr lvl="0"/>
            <a:r>
              <a:rPr b="1"/>
              <a:t>Fact:</a:t>
            </a:r>
            <a:r>
              <a:rPr/>
              <a:t> </a:t>
            </a:r>
            <a:r>
              <a:rPr>
                <a:latin typeface="Courier"/>
              </a:rPr>
              <a:t>sales_fact(sale_id, customer_key, product_key, date_key, quantity, amount)</a:t>
            </a:r>
          </a:p>
          <a:p>
            <a:pPr lvl="0"/>
            <a:r>
              <a:rPr/>
              <a:t>Partitioned by date_key</a:t>
            </a:r>
          </a:p>
          <a:p>
            <a:pPr lvl="0"/>
            <a:r>
              <a:rPr b="1"/>
              <a:t>Dimensions:</a:t>
            </a:r>
            <a:r>
              <a:rPr/>
              <a:t> dim_customer, dim_product, dim_date</a:t>
            </a:r>
          </a:p>
          <a:p>
            <a:pPr lvl="0"/>
            <a:r>
              <a:rPr b="1"/>
              <a:t>Goal:</a:t>
            </a:r>
            <a:r>
              <a:rPr/>
              <a:t> revenue by region and by category with pruning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Step 1:</a:t>
            </a:r>
            <a:r>
              <a:rPr/>
              <a:t> Fact table partitioned by date_key (one partition per day)</a:t>
            </a:r>
          </a:p>
          <a:p>
            <a:pPr lvl="0"/>
            <a:r>
              <a:rPr/>
              <a:t>Sample: (1, 101, 201, 20251201, 2, 19.98)</a:t>
            </a:r>
          </a:p>
          <a:p>
            <a:pPr lvl="0"/>
            <a:r>
              <a:rPr/>
              <a:t>Dimensions: small; not partitioned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Step 2:</a:t>
            </a:r>
            <a:r>
              <a:rPr/>
              <a:t> Query: revenue by region for December 2025</a:t>
            </a:r>
          </a:p>
          <a:p>
            <a:pPr lvl="0"/>
            <a:r>
              <a:rPr/>
              <a:t>Join sales_fact → dim_customer on customer_key</a:t>
            </a:r>
          </a:p>
          <a:p>
            <a:pPr lvl="0"/>
            <a:r>
              <a:rPr/>
              <a:t>Filter date_key between 20251201 and 20251231</a:t>
            </a:r>
          </a:p>
          <a:p>
            <a:pPr lvl="0"/>
            <a:r>
              <a:rPr/>
              <a:t>Partition pruning: only December partitions scanned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Revenue by Region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c.region,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(f.amount)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total_revenue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sales_fact f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dim_customer c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f.customer_key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c.customer_key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f.date_key </a:t>
            </a:r>
            <a:r>
              <a:rPr b="1">
                <a:solidFill>
                  <a:srgbClr val="007020"/>
                </a:solidFill>
                <a:latin typeface="Courier"/>
              </a:rPr>
              <a:t>BETWEEN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20251201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20251231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c.region </a:t>
            </a:r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total_revenue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Step 3:</a:t>
            </a:r>
            <a:r>
              <a:rPr/>
              <a:t> Same fact, different dimension: revenue by category</a:t>
            </a:r>
          </a:p>
          <a:p>
            <a:pPr lvl="0"/>
            <a:r>
              <a:rPr/>
              <a:t>Join sales_fact → dim_product on product_key</a:t>
            </a:r>
          </a:p>
          <a:p>
            <a:pPr lvl="0"/>
            <a:r>
              <a:rPr/>
              <a:t>Same date filter; same partition pruning</a:t>
            </a:r>
          </a:p>
          <a:p>
            <a:pPr lvl="0"/>
            <a:r>
              <a:rPr/>
              <a:t>Different dimension join; same fact scan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Output:</a:t>
            </a:r>
            <a:r>
              <a:rPr/>
              <a:t> (region, total_revenue) and (category, total_revenue)</a:t>
            </a:r>
          </a:p>
          <a:p>
            <a:pPr lvl="0"/>
            <a:r>
              <a:rPr b="1"/>
              <a:t>Conclusion:</a:t>
            </a:r>
            <a:r>
              <a:rPr/>
              <a:t> star schema + partition by date = predictable joins</a:t>
            </a:r>
          </a:p>
          <a:p>
            <a:pPr lvl="0"/>
            <a:r>
              <a:rPr b="1"/>
              <a:t>Trade-off:</a:t>
            </a:r>
            <a:r>
              <a:rPr/>
              <a:t> denormalization duplicates attributes; acceptable for analytics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Time model:</a:t>
                </a:r>
                <a:r>
                  <a:rPr/>
                  <a:t> query time ≈ scan + join + aggregate</a:t>
                </a:r>
              </a:p>
              <a:p>
                <a:pPr lvl="0"/>
                <a:r>
                  <a:rPr/>
                  <a:t>Scan time ∝ rows read; partition pruning reduces rows</a:t>
                </a:r>
              </a:p>
              <a:p>
                <a:pPr lvl="0"/>
                <a:r>
                  <a:rPr/>
                  <a:t>Formula: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∝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scan</m:t>
                          </m:r>
                        </m:sub>
                      </m:sSub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nor/>
                          <m:sty m:val="p"/>
                        </m:rPr>
                        <m:t>throughput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Memory / storage:</a:t>
            </a:r>
            <a:r>
              <a:rPr/>
              <a:t> fact table dominates; dimensions small</a:t>
            </a:r>
          </a:p>
          <a:p>
            <a:pPr lvl="0"/>
            <a:r>
              <a:rPr/>
              <a:t>Partition fact to bound scan per query</a:t>
            </a:r>
          </a:p>
          <a:p>
            <a:pPr lvl="0"/>
            <a:r>
              <a:rPr/>
              <a:t>DWH often columnar (compress well); Lake: Parquet/ORC</a:t>
            </a:r>
          </a:p>
          <a:p>
            <a:pPr lvl="0"/>
            <a:r>
              <a:rPr/>
              <a:t>Peak memory: join buffers or hash tables for large joins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Network / throughput:</a:t>
            </a:r>
            <a:r>
              <a:rPr/>
              <a:t> in distributed DWH, shuffle for joins</a:t>
            </a:r>
          </a:p>
          <a:p>
            <a:pPr lvl="0"/>
            <a:r>
              <a:rPr/>
              <a:t>Partition pruning reduces data moved</a:t>
            </a:r>
          </a:p>
          <a:p>
            <a:pPr lvl="0"/>
            <a:r>
              <a:rPr/>
              <a:t>Co-location by key reduces shuffle</a:t>
            </a:r>
          </a:p>
          <a:p>
            <a:pPr lvl="0"/>
            <a:r>
              <a:rPr/>
              <a:t>Latency: BI queries often 1–30 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Intuition: What Changes at 10× Scale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Fact Table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10M → 1B rows:</a:t>
            </a:r>
            <a:r>
              <a:rPr/>
              <a:t> full scan 100× more I/O than 10M</a:t>
            </a:r>
          </a:p>
          <a:p>
            <a:pPr lvl="0"/>
            <a:r>
              <a:rPr/>
              <a:t>Without pruning, dashboards time out</a:t>
            </a:r>
          </a:p>
          <a:p>
            <a:pPr lvl="0"/>
            <a:r>
              <a:rPr/>
              <a:t>With 31-day filter, scan ≈ 1/12 of year ⇒ ~30M rows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Daily vs hourly partitions:</a:t>
            </a:r>
            <a:r>
              <a:rPr/>
              <a:t> more partitions = smaller size</a:t>
            </a:r>
          </a:p>
          <a:p>
            <a:pPr lvl="0"/>
            <a:r>
              <a:rPr/>
              <a:t>Avoid 10K+ tiny files in Lake (coalesce to 100 MB–1 GB)</a:t>
            </a:r>
          </a:p>
          <a:p>
            <a:pPr lvl="0"/>
            <a:r>
              <a:rPr b="1"/>
              <a:t>Rule of thumb:</a:t>
            </a:r>
            <a:r>
              <a:rPr/>
              <a:t> at 10× data, enforce partition filter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Query Flow: From BI to Result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Query Execution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BI tool issues SQL → query planner</a:t>
            </a:r>
          </a:p>
          <a:p>
            <a:pPr lvl="0"/>
            <a:r>
              <a:rPr/>
              <a:t>Partition pruning (filter by partition key)</a:t>
            </a:r>
          </a:p>
          <a:p>
            <a:pPr lvl="0"/>
            <a:r>
              <a:rPr/>
              <a:t>Scan only selected partitions</a:t>
            </a:r>
          </a:p>
          <a:p>
            <a:pPr lvl="0"/>
            <a:r>
              <a:rPr/>
              <a:t>Join fact to dimensions (broadcast small dims)</a:t>
            </a:r>
          </a:p>
          <a:p>
            <a:pPr lvl="0"/>
            <a:r>
              <a:rPr/>
              <a:t>Aggregate; return result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Query Flow Diagram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-457200" marL="457200">
              <a:buAutoNum type="arabicParenR"/>
            </a:pPr>
            <a:r>
              <a:rPr/>
              <a:t>Parse query; extract partition filter</a:t>
            </a:r>
          </a:p>
          <a:p>
            <a:pPr lvl="0" indent="-457200" marL="457200">
              <a:buAutoNum startAt="2" type="arabicParenR"/>
            </a:pPr>
            <a:r>
              <a:rPr/>
              <a:t>List partitions to read; skip others</a:t>
            </a:r>
          </a:p>
          <a:p>
            <a:pPr lvl="0" indent="-457200" marL="457200">
              <a:buAutoNum startAt="3" type="arabicParenR"/>
            </a:pPr>
            <a:r>
              <a:rPr/>
              <a:t>Scan fact partitions; join to dimensions; aggregate</a:t>
            </a:r>
          </a:p>
        </p:txBody>
      </p:sp>
      <p:pic>
        <p:nvPicPr>
          <p:cNvPr descr="../../diagrams/week05/week5_lecture_slide22_query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102600" y="1536700"/>
            <a:ext cx="1651000" cy="457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Join Size and Cost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Fact–dim join:</a:t>
            </a:r>
            <a:r>
              <a:rPr/>
              <a:t> fact has FK; dimension small</a:t>
            </a:r>
          </a:p>
          <a:p>
            <a:pPr lvl="0"/>
            <a:r>
              <a:rPr/>
              <a:t>Cost ≈ scan fact (pruned) + lookup dim (in memory)</a:t>
            </a:r>
          </a:p>
          <a:p>
            <a:pPr lvl="0"/>
            <a:r>
              <a:rPr b="1"/>
              <a:t>Large join:</a:t>
            </a:r>
            <a:r>
              <a:rPr/>
              <a:t> if dimension huge, shuffle dominates</a:t>
            </a:r>
          </a:p>
          <a:p>
            <a:pPr lvl="0"/>
            <a:r>
              <a:rPr b="1"/>
              <a:t>Best practice:</a:t>
            </a:r>
            <a:r>
              <a:rPr/>
              <a:t> partition fact by time; keep dimensions small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 Story 1: Full Scan Kills Dashboards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Incident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Table grew to 1 TB; “revenue by region” had no date filter</a:t>
            </a:r>
          </a:p>
          <a:p>
            <a:pPr lvl="0"/>
            <a:r>
              <a:rPr/>
              <a:t>New analyst copied old query without WHERE date_key</a:t>
            </a:r>
          </a:p>
          <a:p>
            <a:pPr lvl="0"/>
            <a:r>
              <a:rPr/>
              <a:t>Report ran 15+ minutes or timed out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Root Cause and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No partition filter; optimizer scanned all partitions</a:t>
            </a:r>
          </a:p>
          <a:p>
            <a:pPr lvl="0"/>
            <a:r>
              <a:rPr b="1"/>
              <a:t>Fix:</a:t>
            </a:r>
            <a:r>
              <a:rPr/>
              <a:t> enforce partition filter above size threshold</a:t>
            </a:r>
          </a:p>
          <a:p>
            <a:pPr lvl="0"/>
            <a:r>
              <a:rPr/>
              <a:t>BI template requires date range; monitor bytes read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 Story 2: Small-File Explosion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Incident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Streaming inserts wrote one small file per micro-batch</a:t>
            </a:r>
          </a:p>
          <a:p>
            <a:pPr lvl="0"/>
            <a:r>
              <a:rPr/>
              <a:t>Partition “2025-12-01” had 50K files</a:t>
            </a:r>
          </a:p>
          <a:p>
            <a:pPr lvl="0"/>
            <a:r>
              <a:rPr/>
              <a:t>Queries over that partition took minutes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Root Cause and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Many small files; scan cost = file open + read</a:t>
            </a:r>
          </a:p>
          <a:p>
            <a:pPr lvl="0"/>
            <a:r>
              <a:rPr/>
              <a:t>50K files ⇒ 50K× metadata overhead</a:t>
            </a:r>
          </a:p>
          <a:p>
            <a:pPr lvl="0"/>
            <a:r>
              <a:rPr b="1"/>
              <a:t>Fix:</a:t>
            </a:r>
            <a:r>
              <a:rPr/>
              <a:t> compaction job; coalesce to 100 MB–1 GB per file</a:t>
            </a:r>
          </a:p>
          <a:p>
            <a:pPr lvl="0"/>
            <a:r>
              <a:rPr/>
              <a:t>Use table formats (Delta, Iceberg) with automatic compaction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No partition key in query:</a:t>
            </a:r>
            <a:r>
              <a:rPr/>
              <a:t> full table scan</a:t>
            </a:r>
          </a:p>
          <a:p>
            <a:pPr lvl="0"/>
            <a:r>
              <a:rPr/>
              <a:t>High latency and cost; common in ad-hoc SQL</a:t>
            </a:r>
          </a:p>
          <a:p>
            <a:pPr lvl="0"/>
            <a:r>
              <a:rPr b="1"/>
              <a:t>Schema evolution:</a:t>
            </a:r>
            <a:r>
              <a:rPr/>
              <a:t> new columns in Lake</a:t>
            </a:r>
          </a:p>
          <a:p>
            <a:pPr lvl="0"/>
            <a:r>
              <a:rPr/>
              <a:t>DWH requires ALTER or new version</a:t>
            </a:r>
          </a:p>
          <a:p>
            <a:pPr lvl="0"/>
            <a:r>
              <a:rPr b="1"/>
              <a:t>Small-file problem (Lake):</a:t>
            </a:r>
            <a:r>
              <a:rPr/>
              <a:t> many tiny files; overhead per file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Pitfalls: Full Scan When Pruning Missed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Query “revenue by region” without WHERE on date</a:t>
            </a:r>
          </a:p>
          <a:p>
            <a:pPr lvl="0"/>
            <a:r>
              <a:rPr/>
              <a:t>Engine scans all partitions ⇒ full scan</a:t>
            </a:r>
          </a:p>
          <a:p>
            <a:pPr lvl="0"/>
            <a:r>
              <a:rPr b="1"/>
              <a:t>Fix:</a:t>
            </a:r>
            <a:r>
              <a:rPr/>
              <a:t> require partition filter in critical reports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Pitfalls: Hot Partition and Skew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One partition (today) gets most writes and reads</a:t>
            </a:r>
          </a:p>
          <a:p>
            <a:pPr lvl="0"/>
            <a:r>
              <a:rPr/>
              <a:t>Can throttle writes and slow queries</a:t>
            </a:r>
          </a:p>
          <a:p>
            <a:pPr lvl="0"/>
            <a:r>
              <a:rPr/>
              <a:t>Many small files in one partition</a:t>
            </a:r>
          </a:p>
          <a:p>
            <a:pPr lvl="0"/>
            <a:r>
              <a:rPr b="1"/>
              <a:t>Mitigation:</a:t>
            </a:r>
            <a:r>
              <a:rPr/>
              <a:t> partition by date + bucket by key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Pitfalls: Dimension Too Large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If dimension is huge, join causes large shuffle</a:t>
            </a:r>
          </a:p>
          <a:p>
            <a:pPr lvl="0"/>
            <a:r>
              <a:rPr b="1"/>
              <a:t>Options:</a:t>
            </a:r>
            <a:r>
              <a:rPr/>
              <a:t> pre-aggregate; keep only needed attributes</a:t>
            </a:r>
          </a:p>
          <a:p>
            <a:pPr lvl="0"/>
            <a:r>
              <a:rPr/>
              <a:t>Or partition dimension</a:t>
            </a:r>
          </a:p>
          <a:p>
            <a:pPr lvl="0"/>
            <a:r>
              <a:rPr/>
              <a:t>Join size ≈ O(|fact scan|) if dim fits in memory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Pitfalls: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Monitor: query scan size (rows/bytes); partitions read</a:t>
            </a:r>
          </a:p>
          <a:p>
            <a:pPr lvl="0"/>
            <a:r>
              <a:rPr/>
              <a:t>Alert: full table scan; long-running joins; OOM on dim join</a:t>
            </a:r>
          </a:p>
          <a:p>
            <a:pPr lvl="0"/>
            <a:r>
              <a:rPr/>
              <a:t>Metrics: per-query bytes read; partition count; join spill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Pitfalls: Mitigation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Always use partition filter where possible</a:t>
            </a:r>
          </a:p>
          <a:p>
            <a:pPr lvl="0"/>
            <a:r>
              <a:rPr/>
              <a:t>Coalesce small files in Lake; size partitions for 100MB–1GB</a:t>
            </a:r>
          </a:p>
        </p:txBody>
      </p:sp>
      <p:pic>
        <p:nvPicPr>
          <p:cNvPr descr="../../diagrams/week05/week5_lecture_slide38_failure_parti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65800" y="1549400"/>
            <a:ext cx="6337300" cy="455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Engineering Judgment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Never expose large fact table without partition key</a:t>
            </a:r>
          </a:p>
          <a:p>
            <a:pPr lvl="0"/>
            <a:r>
              <a:rPr/>
              <a:t>Default: partition by date; require date range in WHERE</a:t>
            </a:r>
          </a:p>
          <a:p>
            <a:pPr lvl="0"/>
            <a:r>
              <a:rPr b="1"/>
              <a:t>In Lake, never leave small-file problem unaddressed</a:t>
            </a:r>
          </a:p>
          <a:p>
            <a:pPr lvl="0"/>
            <a:r>
              <a:rPr/>
              <a:t>Target 100 MB–1 GB per file per partition</a:t>
            </a:r>
          </a:p>
          <a:p>
            <a:pPr lvl="0"/>
            <a:r>
              <a:rPr b="1"/>
              <a:t>Choose DWH for governed BI, Lake for raw +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Rerun and Idempotency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Incremental load into fact: watermark on date</a:t>
            </a:r>
          </a:p>
          <a:p>
            <a:pPr lvl="0"/>
            <a:r>
              <a:rPr/>
              <a:t>Same pattern as Week 4 ETL</a:t>
            </a:r>
          </a:p>
          <a:p>
            <a:pPr lvl="0"/>
            <a:r>
              <a:rPr/>
              <a:t>Rerun must not duplicate fact rows</a:t>
            </a:r>
          </a:p>
          <a:p>
            <a:pPr lvl="0"/>
            <a:r>
              <a:rPr/>
              <a:t>Use MERGE or partition-level overwrite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Control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last_loaded_date; update only after successful load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Lake: Small-File and Compaction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Many small writes create many small files per partition</a:t>
            </a:r>
          </a:p>
          <a:p>
            <a:pPr lvl="0"/>
            <a:r>
              <a:rPr/>
              <a:t>Each file has metadata and open overhead</a:t>
            </a:r>
          </a:p>
          <a:p>
            <a:pPr lvl="0"/>
            <a:r>
              <a:rPr/>
              <a:t>Compaction: coalesce small files into larger ones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DWH: Partition Key in Every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Critical reports must filter by partition key</a:t>
            </a:r>
          </a:p>
          <a:p>
            <a:pPr lvl="0"/>
            <a:r>
              <a:rPr/>
              <a:t>Without filter: optimizer may scan all partitions</a:t>
            </a:r>
          </a:p>
          <a:p>
            <a:pPr lvl="0"/>
            <a:r>
              <a:rPr b="1"/>
              <a:t>Governance:</a:t>
            </a:r>
            <a:r>
              <a:rPr/>
              <a:t> require filter for tables above size threshold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Recap: Pruning vs Full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Pruned:</a:t>
            </a:r>
            <a:r>
              <a:rPr/>
              <a:t> scan size = (selected / total) × table size</a:t>
            </a:r>
          </a:p>
          <a:p>
            <a:pPr lvl="0"/>
            <a:r>
              <a:rPr/>
              <a:t>E.g. 1/365 of year</a:t>
            </a:r>
          </a:p>
          <a:p>
            <a:pPr lvl="0"/>
            <a:r>
              <a:rPr b="1"/>
              <a:t>Full scan:</a:t>
            </a:r>
            <a:r>
              <a:rPr/>
              <a:t> 365× more I/O and time</a:t>
            </a:r>
          </a:p>
          <a:p>
            <a:pPr lvl="0"/>
            <a:r>
              <a:rPr b="1"/>
              <a:t>Enforce filters in BI; document partition key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Failure: What We Want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Query with date filter → few partitions → low latency</a:t>
            </a:r>
          </a:p>
          <a:p>
            <a:pPr lvl="0"/>
            <a:r>
              <a:rPr/>
              <a:t>Query without date filter → all partitions → high latency</a:t>
            </a:r>
          </a:p>
        </p:txBody>
      </p:sp>
      <p:pic>
        <p:nvPicPr>
          <p:cNvPr descr="../../diagrams/week05/week5_lecture_slide38_failure_parti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65800" y="1549400"/>
            <a:ext cx="6337300" cy="455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Detection:</a:t>
            </a:r>
            <a:r>
              <a:rPr/>
              <a:t> scan size, partition count, join spill</a:t>
            </a:r>
          </a:p>
          <a:p>
            <a:pPr lvl="0"/>
            <a:r>
              <a:rPr b="1"/>
              <a:t>Mitigation:</a:t>
            </a:r>
            <a:r>
              <a:rPr/>
              <a:t> enforce partition filters; coalesce files</a:t>
            </a:r>
          </a:p>
          <a:p>
            <a:pPr lvl="0"/>
            <a:r>
              <a:rPr b="1"/>
              <a:t>Lake + DWH:</a:t>
            </a:r>
            <a:r>
              <a:rPr/>
              <a:t> Lake for raw and ML; DWH for governed BI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 Consumers and Dashboards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Dashboard?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Stephen Few (2004):</a:t>
            </a:r>
            <a:r>
              <a:rPr/>
              <a:t> visual display of most important information</a:t>
            </a:r>
          </a:p>
          <a:p>
            <a:pPr lvl="0"/>
            <a:r>
              <a:rPr/>
              <a:t>Needed to achieve one or more objectives</a:t>
            </a:r>
          </a:p>
          <a:p>
            <a:pPr lvl="0"/>
            <a:r>
              <a:rPr/>
              <a:t>Consolidated on a single screen</a:t>
            </a:r>
          </a:p>
          <a:p>
            <a:pPr lvl="0"/>
            <a:r>
              <a:rPr/>
              <a:t>Can be monitored at a glance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Dashboard?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Big Book of Dashboards (2017):</a:t>
            </a:r>
            <a:r>
              <a:rPr/>
              <a:t> visual display of data</a:t>
            </a:r>
          </a:p>
          <a:p>
            <a:pPr lvl="0"/>
            <a:r>
              <a:rPr/>
              <a:t>Used to monitor conditions and/or facilitate understanding</a:t>
            </a:r>
          </a:p>
          <a:p>
            <a:pPr lvl="0"/>
            <a:r>
              <a:rPr b="1"/>
              <a:t>Key insight:</a:t>
            </a:r>
            <a:r>
              <a:rPr/>
              <a:t> dashboards are primary DWH consumers</a:t>
            </a:r>
          </a:p>
          <a:p>
            <a:pPr lvl="0"/>
            <a:r>
              <a:rPr/>
              <a:t>Design DWH for dashboard query patterns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a Good Dashboard?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Answers a set of questions</a:t>
            </a:r>
          </a:p>
          <a:p>
            <a:pPr lvl="0"/>
            <a:r>
              <a:rPr/>
              <a:t>Follows a flow and invites interactivity</a:t>
            </a:r>
          </a:p>
          <a:p>
            <a:pPr lvl="0"/>
            <a:r>
              <a:rPr/>
              <a:t>Primarily summaries and exceptions</a:t>
            </a:r>
          </a:p>
          <a:p>
            <a:pPr lvl="0"/>
            <a:r>
              <a:rPr/>
              <a:t>Specific to and customized for audience</a:t>
            </a:r>
          </a:p>
          <a:p>
            <a:pPr lvl="0"/>
            <a:r>
              <a:rPr/>
              <a:t>Makes strategic use of color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UI/UX Design Principles for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User familiarity:</a:t>
            </a:r>
            <a:r>
              <a:rPr/>
              <a:t> user-oriented terms</a:t>
            </a:r>
          </a:p>
          <a:p>
            <a:pPr lvl="0"/>
            <a:r>
              <a:rPr b="1"/>
              <a:t>Consistency:</a:t>
            </a:r>
            <a:r>
              <a:rPr/>
              <a:t> appropriate level in display</a:t>
            </a:r>
          </a:p>
          <a:p>
            <a:pPr lvl="0"/>
            <a:r>
              <a:rPr b="1"/>
              <a:t>Minimal surprise:</a:t>
            </a:r>
            <a:r>
              <a:rPr/>
              <a:t> predictable operation</a:t>
            </a:r>
          </a:p>
          <a:p>
            <a:pPr lvl="0"/>
            <a:r>
              <a:rPr b="1"/>
              <a:t>User guidance:</a:t>
            </a:r>
            <a:r>
              <a:rPr/>
              <a:t> help systems, online manuals</a:t>
            </a:r>
          </a:p>
          <a:p>
            <a:pPr lvl="0"/>
            <a:r>
              <a:rPr b="1"/>
              <a:t>User diversity:</a:t>
            </a:r>
            <a:r>
              <a:rPr/>
              <a:t> different interaction preferences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Human Factors in Dashboard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Limited short-term memory:</a:t>
            </a:r>
            <a:r>
              <a:rPr/>
              <a:t> ~7 items maximum</a:t>
            </a:r>
          </a:p>
          <a:p>
            <a:pPr lvl="0"/>
            <a:r>
              <a:rPr/>
              <a:t>Presenting more increases mistakes</a:t>
            </a:r>
          </a:p>
          <a:p>
            <a:pPr lvl="0"/>
            <a:r>
              <a:rPr b="1"/>
              <a:t>People make mistakes:</a:t>
            </a:r>
            <a:r>
              <a:rPr/>
              <a:t> inappropriate alarms increase stress</a:t>
            </a:r>
          </a:p>
          <a:p>
            <a:pPr lvl="0"/>
            <a:r>
              <a:rPr b="1"/>
              <a:t>Different preferences:</a:t>
            </a:r>
            <a:r>
              <a:rPr/>
              <a:t> some like pictures, some like text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Color Use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Limit the number of colors used</a:t>
            </a:r>
          </a:p>
          <a:p>
            <a:pPr lvl="0"/>
            <a:r>
              <a:rPr/>
              <a:t>Use color change to show status change</a:t>
            </a:r>
          </a:p>
          <a:p>
            <a:pPr lvl="0"/>
            <a:r>
              <a:rPr/>
              <a:t>Use color coding to support the task</a:t>
            </a:r>
          </a:p>
          <a:p>
            <a:pPr lvl="0"/>
            <a:r>
              <a:rPr/>
              <a:t>Be consistent; be careful about color pairings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Information Presentation Types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Static vs Dynamic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Static:</a:t>
            </a:r>
            <a:r>
              <a:rPr/>
              <a:t> initialized at session start; does not change</a:t>
            </a:r>
          </a:p>
          <a:p>
            <a:pPr lvl="0"/>
            <a:r>
              <a:rPr b="1"/>
              <a:t>Dynamic:</a:t>
            </a:r>
            <a:r>
              <a:rPr/>
              <a:t> changes during session; must communicate changes</a:t>
            </a:r>
          </a:p>
          <a:p>
            <a:pPr lvl="0"/>
            <a:r>
              <a:rPr b="1"/>
              <a:t>Engineering implication:</a:t>
            </a:r>
            <a:r>
              <a:rPr/>
              <a:t> DWH must support batch and near-real-time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 Tools Connection to DWH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BI tools connect via SQL, stored procedures, or APIs</a:t>
            </a:r>
          </a:p>
          <a:p>
            <a:pPr lvl="0"/>
            <a:r>
              <a:rPr/>
              <a:t>Common: SQL Server, Excel, Tableau, Power BI, Looker</a:t>
            </a:r>
          </a:p>
          <a:p>
            <a:pPr lvl="0"/>
            <a:r>
              <a:rPr b="1"/>
              <a:t>Architecture:</a:t>
            </a:r>
            <a:r>
              <a:rPr/>
              <a:t> DWH → Stored Procedures → BI Tool → Reports</a:t>
            </a:r>
          </a:p>
          <a:p>
            <a:pPr lvl="0"/>
            <a:r>
              <a:rPr/>
              <a:t>All tools assume clean, well-modeled data in DWH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Model analytics with star schema; partition fact by date</a:t>
            </a:r>
          </a:p>
          <a:p>
            <a:pPr lvl="0"/>
            <a:r>
              <a:rPr/>
              <a:t>Always include partition key in WHERE for large tables</a:t>
            </a:r>
          </a:p>
          <a:p>
            <a:pPr lvl="0"/>
            <a:r>
              <a:rPr/>
              <a:t>Use surrogate keys in fact for dimensions (SCD Type 2)</a:t>
            </a:r>
          </a:p>
          <a:p>
            <a:pPr lvl="0"/>
            <a:r>
              <a:rPr/>
              <a:t>Keep dimensions small or partitioned</a:t>
            </a:r>
          </a:p>
          <a:p>
            <a:pPr lvl="0"/>
            <a:r>
              <a:rPr/>
              <a:t>In Lake: store in columnar format (Parquet/ORC)</a:t>
            </a:r>
          </a:p>
          <a:p>
            <a:pPr lvl="0"/>
            <a:r>
              <a:rPr/>
              <a:t>Coalesce small files; schema evolution with care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Document partition key and expected query patterns</a:t>
            </a:r>
          </a:p>
          <a:p>
            <a:pPr lvl="0"/>
            <a:r>
              <a:rPr/>
              <a:t>Monitor query cost (bytes read, partitions read)</a:t>
            </a:r>
          </a:p>
          <a:p>
            <a:pPr lvl="0"/>
            <a:r>
              <a:rPr/>
              <a:t>Alert on full scans</a:t>
            </a:r>
          </a:p>
          <a:p>
            <a:pPr lvl="0"/>
            <a:r>
              <a:rPr/>
              <a:t>Separate raw, processed, and curated zones</a:t>
            </a:r>
          </a:p>
          <a:p>
            <a:pPr lvl="0"/>
            <a:r>
              <a:rPr/>
              <a:t>Govern access to curated layer</a:t>
            </a:r>
          </a:p>
          <a:p>
            <a:pPr lvl="0"/>
            <a:r>
              <a:rPr b="1"/>
              <a:t>Enforce:</a:t>
            </a:r>
            <a:r>
              <a:rPr/>
              <a:t> no fact query without partition filter above size threshold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 (Engineering Judgment)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DWH vs Lake:</a:t>
            </a:r>
            <a:r>
              <a:rPr/>
              <a:t> DWH for governed BI; Lake for raw and ML</a:t>
            </a:r>
          </a:p>
          <a:p>
            <a:pPr lvl="0"/>
            <a:r>
              <a:rPr/>
              <a:t>Hybrid when you need both</a:t>
            </a:r>
          </a:p>
          <a:p>
            <a:pPr lvl="0"/>
            <a:r>
              <a:rPr b="1"/>
              <a:t>Partition pruning is the lever:</a:t>
            </a:r>
            <a:r>
              <a:rPr/>
              <a:t> full scan kills dashboards</a:t>
            </a:r>
          </a:p>
          <a:p>
            <a:pPr lvl="0"/>
            <a:r>
              <a:rPr b="1"/>
              <a:t>Star schema + partition by time:</a:t>
            </a:r>
            <a:r>
              <a:rPr/>
              <a:t> predictable joins and pruning</a:t>
            </a:r>
          </a:p>
          <a:p>
            <a:pPr lvl="0"/>
            <a:r>
              <a:rPr b="1"/>
              <a:t>Cost:</a:t>
            </a:r>
            <a:r>
              <a:rPr/>
              <a:t> at 10× data, enforce partition filter</a:t>
            </a:r>
          </a:p>
          <a:p>
            <a:pPr lvl="0"/>
            <a:r>
              <a:rPr/>
              <a:t>Monitor bytes/partitions read; alert on full scan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Pointers to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Build star schema (fact + ≥2 dimensions) with sample rows</a:t>
            </a:r>
          </a:p>
          <a:p>
            <a:pPr lvl="0"/>
            <a:r>
              <a:rPr/>
              <a:t>Write OLAP query with partition filter</a:t>
            </a:r>
          </a:p>
          <a:p>
            <a:pPr lvl="0"/>
            <a:r>
              <a:rPr/>
              <a:t>Show partition pruning: which partitions are read</a:t>
            </a:r>
          </a:p>
          <a:p>
            <a:pPr lvl="0"/>
            <a:r>
              <a:rPr/>
              <a:t>Reason about join size and cost</a:t>
            </a:r>
          </a:p>
          <a:p>
            <a:pPr lvl="0"/>
            <a:r>
              <a:rPr/>
              <a:t>Optional: incremental load into fact from Week 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Additional Diagrams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Practice: Star Query Flow</a:t>
            </a:r>
          </a:p>
        </p:txBody>
      </p:sp>
      <p:pic>
        <p:nvPicPr>
          <p:cNvPr descr="../../diagrams/week05/week5_practice_slide18_star_query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366000" y="1536700"/>
            <a:ext cx="3136900" cy="457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18</Words>
  <Application>Microsoft Macintosh PowerPoint</Application>
  <PresentationFormat>מסך רחב</PresentationFormat>
  <Paragraphs>12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2026-01-31T06:32:40Z</dcterms:created>
  <dcterms:modified xsi:type="dcterms:W3CDTF">2026-01-31T06:32:40Z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