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6" r:id="rId9"/>
    <p:sldId id="267" r:id="rId10"/>
    <p:sldId id="270" r:id="rId11"/>
    <p:sldId id="271" r:id="rId12"/>
    <p:sldId id="272" r:id="rId13"/>
    <p:sldId id="426" r:id="rId14"/>
    <p:sldId id="439" r:id="rId15"/>
    <p:sldId id="440" r:id="rId16"/>
    <p:sldId id="441" r:id="rId17"/>
    <p:sldId id="442" r:id="rId18"/>
    <p:sldId id="443" r:id="rId19"/>
    <p:sldId id="453" r:id="rId20"/>
    <p:sldId id="445" r:id="rId21"/>
    <p:sldId id="446" r:id="rId22"/>
    <p:sldId id="447" r:id="rId23"/>
    <p:sldId id="265" r:id="rId24"/>
    <p:sldId id="448" r:id="rId25"/>
    <p:sldId id="449" r:id="rId26"/>
    <p:sldId id="268" r:id="rId27"/>
    <p:sldId id="269" r:id="rId28"/>
    <p:sldId id="452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1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סגנון ביניים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סגנון ביניים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ללא סגנון, רשת טבלה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94"/>
    <p:restoredTop sz="94913"/>
  </p:normalViewPr>
  <p:slideViewPr>
    <p:cSldViewPr snapToGrid="0" snapToObjects="1">
      <p:cViewPr varScale="1">
        <p:scale>
          <a:sx n="103" d="100"/>
          <a:sy n="103" d="100"/>
        </p:scale>
        <p:origin x="1176" y="1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914E82E3-032E-6649-ACF9-F907BDF9845D}" type="datetimeFigureOut">
              <a:rPr lang="he-IL" smtClean="0"/>
              <a:t>כ"א.אייר.תשפ"ו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561DDD31-2410-A246-B520-AA8293EEE4A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73459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13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646518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EAFBD-3F3B-1723-16C1-A37F51707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BDF19F-7E73-001C-54D2-82F2FEA55C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82E967-C8BA-C37B-D649-6E38B06DD4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B225A1-4A34-EFFE-E7B0-B26EAB9FDE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14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87636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FCF4A-178F-C6F3-9AA7-0051F7B05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6B04B8-6A66-8790-901D-831C9F81A1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46B55C-ECBA-E04A-B876-4006F76E1C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19CD5-84F3-F082-5991-4938207E9F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15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217445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13848-C686-6C03-760C-3EBB4556E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C23A1F-C3C4-8517-832B-AE8A00A5DF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060E4A-5997-4D51-C07D-77EE284F83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080558-2A62-8491-1DD3-FC2ACCB824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16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906829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13DBF-41CD-EFEA-B5AC-806391EFF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3298BF-A661-C85A-AC31-4B0B481670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DA3945-AA31-3005-8966-328A66094D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2A5A2-5BC4-EC35-EFA7-BB82C44F92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17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520534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04677-BE0B-5446-DFF1-83B753BAD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6D0FA1-E0E3-3D1A-4E69-1BCA95896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98078D-AD07-DCCE-538E-FFF6533B89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D0FA9E-8C53-902A-44FC-A59166A128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18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095427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9D31E-8012-A0AA-8590-A7A13FBC2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6767D3-E4D9-A3C6-6116-8EB6B563A4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9EF3C2-E7C2-7512-4FB8-6C6200B0EB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65AD4-CE00-6E29-2F13-654343C64D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19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85922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64B5F-BAD9-9946-9D71-AB5C763DA70C}" type="datetime9">
              <a:rPr lang="he-IL" smtClean="0"/>
              <a:t>8 מאי,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1EEA0-9609-584F-90F2-46E4F93E52CD}" type="datetime9">
              <a:rPr lang="he-IL" smtClean="0"/>
              <a:t>8 מאי,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A6A5E-CA21-6B4F-9DE7-1A275F321E49}" type="datetime9">
              <a:rPr lang="he-IL" smtClean="0"/>
              <a:t>8 מאי,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29F15AE-737D-866E-3CF2-D0120AD833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6840" y="1600201"/>
            <a:ext cx="1062556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C6960-90E0-EA41-937B-E68D4C6A0841}" type="datetime9">
              <a:rPr lang="he-IL" smtClean="0"/>
              <a:t>8 מאי,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6A8D-C7E4-194A-BF0A-D552B24EBF94}" type="datetime9">
              <a:rPr lang="he-IL" smtClean="0"/>
              <a:t>8 מאי,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3E56AFE-36F7-8DA5-652B-89A25DA319A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57403" y="1417638"/>
            <a:ext cx="7624997" cy="4357028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965200" y="1417638"/>
            <a:ext cx="2844801" cy="4357028"/>
          </a:xfrm>
        </p:spPr>
        <p:txBody>
          <a:bodyPr/>
          <a:lstStyle>
            <a:lvl1pPr marL="0" indent="0">
              <a:buNone/>
              <a:defRPr sz="2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43415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AE1C8-A9FA-924F-80DA-3B96C0343AF4}" type="datetime9">
              <a:rPr lang="he-IL" smtClean="0"/>
              <a:t>8 מאי,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F26D49-397F-B715-D50A-B77591A11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1558" y="1600201"/>
            <a:ext cx="8437945" cy="45259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AE1C8-A9FA-924F-80DA-3B96C0343AF4}" type="datetime9">
              <a:rPr lang="he-IL" smtClean="0"/>
              <a:t>8 מאי,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4" name="טבלה 3">
            <a:extLst>
              <a:ext uri="{FF2B5EF4-FFF2-40B4-BE49-F238E27FC236}">
                <a16:creationId xmlns:a16="http://schemas.microsoft.com/office/drawing/2014/main" id="{71812306-B812-4C50-F7A0-862C984F42D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33391168"/>
              </p:ext>
            </p:extLst>
          </p:nvPr>
        </p:nvGraphicFramePr>
        <p:xfrm>
          <a:off x="2058972" y="2126696"/>
          <a:ext cx="7775550" cy="2107502"/>
        </p:xfrm>
        <a:graphic>
          <a:graphicData uri="http://schemas.openxmlformats.org/drawingml/2006/table">
            <a:tbl>
              <a:tblPr rtl="1" firstRow="1" bandRow="1">
                <a:tableStyleId>{793D81CF-94F2-401A-BA57-92F5A7B2D0C5}</a:tableStyleId>
              </a:tblPr>
              <a:tblGrid>
                <a:gridCol w="1295925">
                  <a:extLst>
                    <a:ext uri="{9D8B030D-6E8A-4147-A177-3AD203B41FA5}">
                      <a16:colId xmlns:a16="http://schemas.microsoft.com/office/drawing/2014/main" val="3224435564"/>
                    </a:ext>
                  </a:extLst>
                </a:gridCol>
                <a:gridCol w="1295925">
                  <a:extLst>
                    <a:ext uri="{9D8B030D-6E8A-4147-A177-3AD203B41FA5}">
                      <a16:colId xmlns:a16="http://schemas.microsoft.com/office/drawing/2014/main" val="1520824301"/>
                    </a:ext>
                  </a:extLst>
                </a:gridCol>
                <a:gridCol w="1295925">
                  <a:extLst>
                    <a:ext uri="{9D8B030D-6E8A-4147-A177-3AD203B41FA5}">
                      <a16:colId xmlns:a16="http://schemas.microsoft.com/office/drawing/2014/main" val="2907090588"/>
                    </a:ext>
                  </a:extLst>
                </a:gridCol>
                <a:gridCol w="1295925">
                  <a:extLst>
                    <a:ext uri="{9D8B030D-6E8A-4147-A177-3AD203B41FA5}">
                      <a16:colId xmlns:a16="http://schemas.microsoft.com/office/drawing/2014/main" val="2141296278"/>
                    </a:ext>
                  </a:extLst>
                </a:gridCol>
                <a:gridCol w="1295925">
                  <a:extLst>
                    <a:ext uri="{9D8B030D-6E8A-4147-A177-3AD203B41FA5}">
                      <a16:colId xmlns:a16="http://schemas.microsoft.com/office/drawing/2014/main" val="1831022972"/>
                    </a:ext>
                  </a:extLst>
                </a:gridCol>
                <a:gridCol w="1295925">
                  <a:extLst>
                    <a:ext uri="{9D8B030D-6E8A-4147-A177-3AD203B41FA5}">
                      <a16:colId xmlns:a16="http://schemas.microsoft.com/office/drawing/2014/main" val="626801781"/>
                    </a:ext>
                  </a:extLst>
                </a:gridCol>
              </a:tblGrid>
              <a:tr h="494140"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he-IL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4863574"/>
                  </a:ext>
                </a:extLst>
              </a:tr>
              <a:tr h="806681"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he-IL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625601"/>
                  </a:ext>
                </a:extLst>
              </a:tr>
              <a:tr h="806681"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he-IL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7572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2468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92AE4-510D-3C40-B9B0-AA6693EED883}" type="datetime9">
              <a:rPr lang="he-IL" smtClean="0"/>
              <a:t>8 מאי,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1D8F28D-D1D2-34A5-D88A-549DD7AD701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46768" y="1600201"/>
            <a:ext cx="10635632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5D179-4B48-7641-AFA1-4656153FFCB8}" type="datetime9">
              <a:rPr lang="he-IL" smtClean="0"/>
              <a:t>8 מאי,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F1439EE-8346-69C4-2D2A-C45C952E131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46768" y="1600201"/>
            <a:ext cx="10635632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5291BFA-5674-76B5-89A7-703C97229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6A8D-C7E4-194A-BF0A-D552B24EBF94}" type="datetime9">
              <a:rPr lang="he-IL" smtClean="0"/>
              <a:t>8 מאי,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3E56AFE-36F7-8DA5-652B-89A25DA319A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57403" y="1417638"/>
            <a:ext cx="7624997" cy="4357028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965200" y="1417638"/>
            <a:ext cx="2844801" cy="4357028"/>
          </a:xfrm>
        </p:spPr>
        <p:txBody>
          <a:bodyPr/>
          <a:lstStyle>
            <a:lvl1pPr marL="0" indent="0">
              <a:buNone/>
              <a:defRPr sz="2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B2D52-0D9F-F345-8384-0DCA30BF1F04}" type="datetime9">
              <a:rPr lang="he-IL" smtClean="0"/>
              <a:t>8 מאי,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4ED6-1944-D14D-91B5-FC6036DE393D}" type="datetime9">
              <a:rPr lang="he-IL" smtClean="0"/>
              <a:t>8 מאי,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68E4D-FFEC-474C-BD1C-299FD021CBA4}" type="datetime9">
              <a:rPr lang="he-IL" smtClean="0"/>
              <a:t>8 מאי,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257D3F8-87F0-4DF5-8F98-66DFD99EE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3474"/>
            <a:ext cx="10515600" cy="5593489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L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BCDE1D59-793A-43B8-B383-259A90AD52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96E8B87-F9FD-464E-B534-DBC261D83ADB}" type="datetime8">
              <a:rPr lang="en-US" smtClean="0"/>
              <a:t>5/8/26 1:16 PM</a:t>
            </a:fld>
            <a:endParaRPr lang="en-IL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A69F713-2159-4167-B614-5042E8DE4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F40A595-FC21-4942-AC1C-EC8D0EE8F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1800"/>
            </a:lvl1pPr>
          </a:lstStyle>
          <a:p>
            <a:fld id="{C9D69B18-316A-457F-86C2-CFE4F951EE27}" type="slidenum">
              <a:rPr lang="en-IL" smtClean="0"/>
              <a:pPr/>
              <a:t>‹#›</a:t>
            </a:fld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45533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>
        <p:tmplLst>
          <p:tmpl lvl="1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oundRect">
            <a:avLst/>
          </a:prstGeom>
          <a:ln w="1270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10972800"/>
                      <a:gd name="csY0" fmla="*/ 0 h 1143000"/>
                      <a:gd name="csX1" fmla="*/ 10972800 w 10972800"/>
                      <a:gd name="csY1" fmla="*/ 0 h 1143000"/>
                      <a:gd name="csX2" fmla="*/ 10972800 w 10972800"/>
                      <a:gd name="csY2" fmla="*/ 1143000 h 1143000"/>
                      <a:gd name="csX3" fmla="*/ 0 w 10972800"/>
                      <a:gd name="csY3" fmla="*/ 1143000 h 1143000"/>
                      <a:gd name="csX4" fmla="*/ 0 w 10972800"/>
                      <a:gd name="csY4" fmla="*/ 0 h 11430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10972800" h="1143000" fill="none" extrusionOk="0">
                        <a:moveTo>
                          <a:pt x="0" y="0"/>
                        </a:moveTo>
                        <a:cubicBezTo>
                          <a:pt x="4674310" y="-49533"/>
                          <a:pt x="6929254" y="-14809"/>
                          <a:pt x="10972800" y="0"/>
                        </a:cubicBezTo>
                        <a:cubicBezTo>
                          <a:pt x="10969069" y="570730"/>
                          <a:pt x="11062171" y="914526"/>
                          <a:pt x="10972800" y="1143000"/>
                        </a:cubicBezTo>
                        <a:cubicBezTo>
                          <a:pt x="6482996" y="1094769"/>
                          <a:pt x="3552735" y="1227455"/>
                          <a:pt x="0" y="1143000"/>
                        </a:cubicBezTo>
                        <a:cubicBezTo>
                          <a:pt x="69309" y="672287"/>
                          <a:pt x="-28229" y="279082"/>
                          <a:pt x="0" y="0"/>
                        </a:cubicBezTo>
                        <a:close/>
                      </a:path>
                      <a:path w="10972800" h="1143000" stroke="0" extrusionOk="0">
                        <a:moveTo>
                          <a:pt x="0" y="0"/>
                        </a:moveTo>
                        <a:cubicBezTo>
                          <a:pt x="3528079" y="118645"/>
                          <a:pt x="9610931" y="116012"/>
                          <a:pt x="10972800" y="0"/>
                        </a:cubicBezTo>
                        <a:cubicBezTo>
                          <a:pt x="11055528" y="134374"/>
                          <a:pt x="10882381" y="1028043"/>
                          <a:pt x="10972800" y="1143000"/>
                        </a:cubicBezTo>
                        <a:cubicBezTo>
                          <a:pt x="8799093" y="1277600"/>
                          <a:pt x="3316512" y="985804"/>
                          <a:pt x="0" y="1143000"/>
                        </a:cubicBezTo>
                        <a:cubicBezTo>
                          <a:pt x="94203" y="956839"/>
                          <a:pt x="-18710" y="28947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768" y="1600201"/>
            <a:ext cx="1063563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9E24A-D52C-CB4E-85D6-C52415601A2A}" type="datetime9">
              <a:rPr lang="he-IL" smtClean="0"/>
              <a:t>8 מאי,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9E54F053-C5B3-FA53-FB24-F76EBC23E5F7}"/>
              </a:ext>
            </a:extLst>
          </p:cNvPr>
          <p:cNvSpPr/>
          <p:nvPr/>
        </p:nvSpPr>
        <p:spPr>
          <a:xfrm>
            <a:off x="10492509" y="-832013"/>
            <a:ext cx="5901557" cy="7690013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57150" cap="sq">
            <a:solidFill>
              <a:srgbClr val="941100">
                <a:alpha val="44000"/>
              </a:srgbClr>
            </a:solidFill>
            <a:prstDash val="solid"/>
            <a:miter/>
          </a:ln>
        </p:spPr>
        <p:txBody>
          <a:bodyPr/>
          <a:lstStyle/>
          <a:p>
            <a:endParaRPr lang="en-IL"/>
          </a:p>
        </p:txBody>
      </p:sp>
      <p:sp>
        <p:nvSpPr>
          <p:cNvPr id="12" name="Freeform 20">
            <a:extLst>
              <a:ext uri="{FF2B5EF4-FFF2-40B4-BE49-F238E27FC236}">
                <a16:creationId xmlns:a16="http://schemas.microsoft.com/office/drawing/2014/main" id="{C6ADFD82-3296-8C7F-2ACC-D8399785AC79}"/>
              </a:ext>
            </a:extLst>
          </p:cNvPr>
          <p:cNvSpPr/>
          <p:nvPr/>
        </p:nvSpPr>
        <p:spPr>
          <a:xfrm>
            <a:off x="-6720016" y="-1088358"/>
            <a:ext cx="7329616" cy="7329616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514350" cap="sq">
            <a:solidFill>
              <a:srgbClr val="941100">
                <a:alpha val="17929"/>
              </a:srgbClr>
            </a:solidFill>
            <a:prstDash val="solid"/>
            <a:miter/>
          </a:ln>
        </p:spPr>
        <p:txBody>
          <a:bodyPr/>
          <a:lstStyle/>
          <a:p>
            <a:endParaRPr lang="en-IL" sz="933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53" r:id="rId6"/>
    <p:sldLayoutId id="2147483661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2" r:id="rId14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3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lnSpc>
          <a:spcPct val="130000"/>
        </a:lnSpc>
        <a:spcBef>
          <a:spcPts val="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lnSpc>
          <a:spcPct val="130000"/>
        </a:lnSpc>
        <a:spcBef>
          <a:spcPts val="0"/>
        </a:spcBef>
        <a:buFont typeface="Arial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lnSpc>
          <a:spcPct val="130000"/>
        </a:lnSpc>
        <a:spcBef>
          <a:spcPts val="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lnSpc>
          <a:spcPct val="130000"/>
        </a:lnSpc>
        <a:spcBef>
          <a:spcPts val="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lnSpc>
          <a:spcPct val="130000"/>
        </a:lnSpc>
        <a:spcBef>
          <a:spcPts val="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29F15AE-737D-866E-3CF2-D0120AD833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pPr marL="0" lvl="0" indent="0">
              <a:buNone/>
            </a:pPr>
            <a:r>
              <a:rPr lang="en-US" dirty="0"/>
              <a:t>Regex &amp; </a:t>
            </a:r>
            <a:r>
              <a:rPr dirty="0"/>
              <a:t>TF-IDF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Learning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Each block builds the input needed by the next one.</a:t>
            </a:r>
          </a:p>
          <a:p>
            <a:pPr marL="457200" lvl="0" indent="-457200">
              <a:buAutoNum type="arabicPeriod"/>
            </a:pPr>
            <a:r>
              <a:rPr b="1"/>
              <a:t>Messy text</a:t>
            </a:r>
            <a:r>
              <a:t>: tickets, complaints, logs.</a:t>
            </a:r>
          </a:p>
          <a:p>
            <a:pPr marL="457200" lvl="0" indent="-457200">
              <a:buAutoNum type="arabicPeriod"/>
            </a:pPr>
            <a:r>
              <a:rPr b="1"/>
              <a:t>Regex</a:t>
            </a:r>
            <a:r>
              <a:t>: extract and normalize fields.</a:t>
            </a:r>
          </a:p>
          <a:p>
            <a:pPr marL="457200" lvl="0" indent="-457200">
              <a:buAutoNum type="arabicPeriod"/>
            </a:pPr>
            <a:r>
              <a:rPr b="1"/>
              <a:t>Tokens</a:t>
            </a:r>
            <a:r>
              <a:t>: create stable units for counting.</a:t>
            </a:r>
          </a:p>
          <a:p>
            <a:pPr marL="457200" lvl="0" indent="-457200">
              <a:buAutoNum type="arabicPeriod"/>
            </a:pPr>
            <a:r>
              <a:rPr b="1"/>
              <a:t>TF-IDF</a:t>
            </a:r>
            <a:r>
              <a:t>: combine local focus with global rarity.</a:t>
            </a:r>
          </a:p>
          <a:p>
            <a:pPr marL="457200" lvl="0" indent="-457200">
              <a:buAutoNum type="arabicPeriod"/>
            </a:pPr>
            <a:r>
              <a:rPr b="1"/>
              <a:t>Pipeline</a:t>
            </a:r>
            <a:r>
              <a:t>: implement the stages and control operational risks.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marL="0" lvl="0" indent="0">
              <a:buNone/>
            </a:pPr>
            <a:r>
              <a:t>Why Text Analytics Matters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152482" y="1632928"/>
            <a:ext cx="9256212" cy="435702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2400" dirty="0"/>
              <a:t>Most operational signals arrive as text before they become structured data.</a:t>
            </a:r>
            <a:r>
              <a:rPr lang="en-US" sz="2400" dirty="0"/>
              <a:t> </a:t>
            </a:r>
            <a:r>
              <a:rPr sz="2400" dirty="0"/>
              <a:t>The goal is not to read everything manually. The goal is to turn language into auditable features.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6096664"/>
              </p:ext>
            </p:extLst>
          </p:nvPr>
        </p:nvGraphicFramePr>
        <p:xfrm>
          <a:off x="1970588" y="3429000"/>
          <a:ext cx="7620000" cy="2194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Typical signal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Tickets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delays, faults, queues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errors, timeouts, retries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Complaints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refunds, churn, severity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Surveys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free-text satisfaction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Notes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supplier and field context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marL="0" lvl="0" indent="0">
              <a:buNone/>
            </a:pPr>
            <a:r>
              <a:t>From Raw Text to Structured Features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729462" y="1542898"/>
            <a:ext cx="8341638" cy="435702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2400" dirty="0"/>
              <a:t>Regex is usually the first stabilizing step in the pipeline.</a:t>
            </a:r>
          </a:p>
          <a:p>
            <a:pPr marL="0" lvl="0" indent="0">
              <a:buNone/>
            </a:pPr>
            <a:r>
              <a:rPr lang="en-US" sz="2400" dirty="0"/>
              <a:t>E</a:t>
            </a:r>
            <a:r>
              <a:rPr sz="2400" dirty="0"/>
              <a:t>very transformation should be explainable, repeatable, and testable on examples.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5311589"/>
              </p:ext>
            </p:extLst>
          </p:nvPr>
        </p:nvGraphicFramePr>
        <p:xfrm>
          <a:off x="1870379" y="3486302"/>
          <a:ext cx="7620000" cy="1828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49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01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Raw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Printer   JAM!!! Ticket=TKT-1042</a:t>
                      </a:r>
                      <a:endParaRPr dirty="0">
                        <a:latin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Extract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 err="1"/>
                        <a:t>ticket_id</a:t>
                      </a:r>
                      <a:r>
                        <a:rPr dirty="0"/>
                        <a:t> = TKT-1042</a:t>
                      </a:r>
                      <a:endParaRPr dirty="0">
                        <a:latin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Normalize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printer jam ticket </a:t>
                      </a:r>
                      <a:r>
                        <a:rPr dirty="0" err="1"/>
                        <a:t>tkt</a:t>
                      </a:r>
                      <a:r>
                        <a:rPr dirty="0"/>
                        <a:t> 1042</a:t>
                      </a:r>
                      <a:endParaRPr dirty="0">
                        <a:latin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printer, jam, ticket, </a:t>
                      </a:r>
                      <a:r>
                        <a:rPr dirty="0" err="1"/>
                        <a:t>tkt</a:t>
                      </a:r>
                      <a:r>
                        <a:rPr dirty="0"/>
                        <a:t>, 1042</a:t>
                      </a:r>
                      <a:endParaRPr dirty="0">
                        <a:latin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marL="0" lvl="0" indent="0">
              <a:buNone/>
            </a:pPr>
            <a:r>
              <a:t>Regex Basics as Building Blocks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741814" y="1636183"/>
            <a:ext cx="8164186" cy="435702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2400" dirty="0"/>
              <a:t>A regex is a small grammar for matching text.</a:t>
            </a:r>
          </a:p>
          <a:p>
            <a:pPr marL="0" lvl="0" indent="0">
              <a:buNone/>
            </a:pPr>
            <a:r>
              <a:rPr sz="2400" dirty="0"/>
              <a:t>Combined pattern:</a:t>
            </a:r>
          </a:p>
          <a:p>
            <a:pPr lvl="0" indent="0">
              <a:buNone/>
            </a:pPr>
            <a:r>
              <a:rPr sz="2400" dirty="0">
                <a:latin typeface="Courier"/>
              </a:rPr>
              <a:t>\</a:t>
            </a:r>
            <a:r>
              <a:rPr sz="2400" dirty="0" err="1">
                <a:latin typeface="Courier"/>
              </a:rPr>
              <a:t>bTKT</a:t>
            </a:r>
            <a:r>
              <a:rPr sz="2400" dirty="0">
                <a:latin typeface="Courier"/>
              </a:rPr>
              <a:t>-\d{4,6}\b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4061265"/>
              </p:ext>
            </p:extLst>
          </p:nvPr>
        </p:nvGraphicFramePr>
        <p:xfrm>
          <a:off x="2013907" y="3473363"/>
          <a:ext cx="7620000" cy="2103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Building 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Literal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TKT</a:t>
                      </a:r>
                      <a:endParaRPr dirty="0">
                        <a:latin typeface="Couri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match these characters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Character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\d</a:t>
                      </a:r>
                      <a:endParaRPr>
                        <a:latin typeface="Couri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match one digit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Quantifier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{4,6}</a:t>
                      </a:r>
                      <a:endParaRPr>
                        <a:latin typeface="Couri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repeat 4 to 6 times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Boundary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\b</a:t>
                      </a:r>
                      <a:endParaRPr>
                        <a:latin typeface="Couri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do not leak into neighboring 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marL="0" lvl="0" indent="0">
              <a:buNone/>
            </a:pPr>
            <a:r>
              <a:t>Character Classes: What Counts as a Match?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965200" y="1708480"/>
            <a:ext cx="9506733" cy="435702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2400" dirty="0"/>
              <a:t>Classes define the alphabet that a pattern can consume.</a:t>
            </a:r>
          </a:p>
          <a:p>
            <a:pPr marL="0" lvl="0" indent="0">
              <a:buNone/>
            </a:pPr>
            <a:r>
              <a:rPr sz="2400" dirty="0"/>
              <a:t>Changing the class changes the evidence collected downstream.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1870406"/>
              </p:ext>
            </p:extLst>
          </p:nvPr>
        </p:nvGraphicFramePr>
        <p:xfrm>
          <a:off x="1720067" y="3094096"/>
          <a:ext cx="7620000" cy="1828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Example match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\d</a:t>
                      </a:r>
                      <a:endParaRPr>
                        <a:latin typeface="Couri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one digit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7 in delay 7 days</a:t>
                      </a:r>
                      <a:endParaRPr dirty="0">
                        <a:latin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\d+</a:t>
                      </a:r>
                      <a:endParaRPr>
                        <a:latin typeface="Couri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one or more digits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1200 in USD 1200</a:t>
                      </a:r>
                      <a:endParaRPr dirty="0">
                        <a:latin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[A-Z]+</a:t>
                      </a:r>
                      <a:endParaRPr>
                        <a:latin typeface="Couri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uppercase letters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ERR in ERR-404</a:t>
                      </a:r>
                      <a:endParaRPr dirty="0">
                        <a:latin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\w+</a:t>
                      </a:r>
                      <a:endParaRPr>
                        <a:latin typeface="Couri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word characters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printer</a:t>
                      </a:r>
                      <a:endParaRPr dirty="0">
                        <a:latin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marL="0" lvl="0" indent="0">
              <a:buNone/>
            </a:pPr>
            <a:r>
              <a:t>Quantifiers Encode Business Rules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797659" y="1419835"/>
            <a:ext cx="7940805" cy="435702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2400" dirty="0"/>
              <a:t>Quantifiers specify how many times the previous unit may repeat.</a:t>
            </a:r>
            <a:r>
              <a:rPr lang="en-US" sz="2400" dirty="0"/>
              <a:t> </a:t>
            </a:r>
            <a:r>
              <a:rPr sz="2400" dirty="0">
                <a:latin typeface="Courier"/>
              </a:rPr>
              <a:t>TKT-\d{4,6}</a:t>
            </a:r>
          </a:p>
          <a:p>
            <a:pPr marL="0" lvl="0" indent="0">
              <a:buNone/>
            </a:pPr>
            <a:r>
              <a:rPr sz="2400" dirty="0">
                <a:latin typeface="Courier"/>
              </a:rPr>
              <a:t>{4,6}</a:t>
            </a:r>
            <a:r>
              <a:rPr sz="2400" dirty="0"/>
              <a:t> is the rule: valid ticket IDs contain 4 to 6 digits.</a:t>
            </a:r>
          </a:p>
          <a:p>
            <a:pPr marL="0" lvl="0" indent="0">
              <a:buNone/>
            </a:pPr>
            <a:r>
              <a:rPr sz="2400" dirty="0"/>
              <a:t>When this rule changes, historical data quality changes too. Document it.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2772584"/>
              </p:ext>
            </p:extLst>
          </p:nvPr>
        </p:nvGraphicFramePr>
        <p:xfrm>
          <a:off x="1958062" y="3948063"/>
          <a:ext cx="7620000" cy="1828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Decision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TKT-1042</a:t>
                      </a:r>
                      <a:endParaRPr>
                        <a:latin typeface="Couri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accept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TKT-998877</a:t>
                      </a:r>
                      <a:endParaRPr>
                        <a:latin typeface="Couri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accept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TKT-12</a:t>
                      </a:r>
                      <a:endParaRPr>
                        <a:latin typeface="Couri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reject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TKT-1042A</a:t>
                      </a:r>
                      <a:endParaRPr>
                        <a:latin typeface="Couri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reject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Cleaning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indent="0">
              <a:buNone/>
            </a:pPr>
            <a:r>
              <a:rPr dirty="0">
                <a:latin typeface="Courier"/>
              </a:rPr>
              <a:t>Raw: "Printer   JAM!!! Ticket=TKT-1042"</a:t>
            </a:r>
          </a:p>
          <a:p>
            <a:pPr marL="457200" lvl="0" indent="-457200">
              <a:buAutoNum type="arabicPeriod"/>
            </a:pPr>
            <a:r>
              <a:rPr b="1" dirty="0"/>
              <a:t>Extract ID</a:t>
            </a:r>
            <a:r>
              <a:rPr dirty="0"/>
              <a:t>: </a:t>
            </a:r>
            <a:r>
              <a:rPr dirty="0">
                <a:latin typeface="Courier"/>
              </a:rPr>
              <a:t>TKT-1042</a:t>
            </a:r>
            <a:r>
              <a:rPr dirty="0"/>
              <a:t> becomes a field.</a:t>
            </a:r>
          </a:p>
          <a:p>
            <a:pPr marL="457200" lvl="0" indent="-457200">
              <a:buAutoNum type="arabicPeriod"/>
            </a:pPr>
            <a:r>
              <a:rPr b="1" dirty="0"/>
              <a:t>Lowercase</a:t>
            </a:r>
            <a:r>
              <a:rPr dirty="0"/>
              <a:t>: </a:t>
            </a:r>
            <a:r>
              <a:rPr dirty="0">
                <a:latin typeface="Courier"/>
              </a:rPr>
              <a:t>Printer JAM</a:t>
            </a:r>
            <a:r>
              <a:rPr dirty="0"/>
              <a:t> becomes </a:t>
            </a:r>
            <a:r>
              <a:rPr dirty="0">
                <a:latin typeface="Courier"/>
              </a:rPr>
              <a:t>printer jam</a:t>
            </a:r>
            <a:r>
              <a:rPr dirty="0"/>
              <a:t>.</a:t>
            </a:r>
          </a:p>
          <a:p>
            <a:pPr marL="457200" lvl="0" indent="-457200">
              <a:buAutoNum type="arabicPeriod"/>
            </a:pPr>
            <a:r>
              <a:rPr b="1" dirty="0"/>
              <a:t>Punctuation</a:t>
            </a:r>
            <a:r>
              <a:rPr dirty="0"/>
              <a:t>: replace punctuation with spaces.</a:t>
            </a:r>
          </a:p>
          <a:p>
            <a:pPr marL="457200" lvl="0" indent="-457200">
              <a:buAutoNum type="arabicPeriod"/>
            </a:pPr>
            <a:r>
              <a:rPr b="1" dirty="0"/>
              <a:t>Tokenize</a:t>
            </a:r>
            <a:r>
              <a:rPr dirty="0"/>
              <a:t>: split into stable terms.</a:t>
            </a:r>
          </a:p>
          <a:p>
            <a:pPr marL="0" lvl="0" indent="0">
              <a:buNone/>
            </a:pPr>
            <a:r>
              <a:rPr dirty="0"/>
              <a:t>Tokens:</a:t>
            </a:r>
          </a:p>
          <a:p>
            <a:pPr lvl="0" indent="0">
              <a:buNone/>
            </a:pPr>
            <a:r>
              <a:rPr dirty="0">
                <a:latin typeface="Courier"/>
              </a:rPr>
              <a:t>printer | jam | ticket | </a:t>
            </a:r>
            <a:r>
              <a:rPr dirty="0" err="1">
                <a:latin typeface="Courier"/>
              </a:rPr>
              <a:t>tkt</a:t>
            </a:r>
            <a:r>
              <a:rPr dirty="0">
                <a:latin typeface="Courier"/>
              </a:rPr>
              <a:t> | 1042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Regex Case: Amount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Groups separate the currency from the numeric value.</a:t>
            </a:r>
          </a:p>
          <a:p>
            <a:pPr lvl="0" indent="0">
              <a:buNone/>
            </a:pPr>
            <a:r>
              <a:rPr dirty="0">
                <a:latin typeface="Courier"/>
              </a:rPr>
              <a:t>(USD|ILS|EUR)\s?(\d+(?:\.\d{1,2})?)</a:t>
            </a:r>
          </a:p>
          <a:p>
            <a:pPr lvl="0" indent="0">
              <a:buNone/>
            </a:pPr>
            <a:r>
              <a:rPr dirty="0">
                <a:latin typeface="Courier"/>
              </a:rPr>
              <a:t>Text:     refund USD 120.50 requested
Group 1:  currency = USD
Group 2:  amount = 120.50</a:t>
            </a:r>
          </a:p>
          <a:p>
            <a:pPr marL="0" lvl="0" indent="0">
              <a:buNone/>
            </a:pPr>
            <a:r>
              <a:rPr dirty="0">
                <a:latin typeface="Courier"/>
              </a:rPr>
              <a:t>(?:\.\d{1,2})?</a:t>
            </a:r>
            <a:r>
              <a:rPr dirty="0"/>
              <a:t> is a non-capturing group. </a:t>
            </a:r>
            <a:br>
              <a:rPr lang="en-US" dirty="0"/>
            </a:br>
            <a:r>
              <a:rPr dirty="0"/>
              <a:t>It structures the pattern without creating another output field.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TF-IDF Mechanics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Local frequency, global rarity, and worked calculations.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grpSp>
        <p:nvGrpSpPr>
          <p:cNvPr id="8" name="קבוצה 7">
            <a:extLst>
              <a:ext uri="{FF2B5EF4-FFF2-40B4-BE49-F238E27FC236}">
                <a16:creationId xmlns:a16="http://schemas.microsoft.com/office/drawing/2014/main" id="{BF0ABF72-A061-8105-1966-18F1ACE9613F}"/>
              </a:ext>
            </a:extLst>
          </p:cNvPr>
          <p:cNvGrpSpPr/>
          <p:nvPr/>
        </p:nvGrpSpPr>
        <p:grpSpPr>
          <a:xfrm>
            <a:off x="2521053" y="2517732"/>
            <a:ext cx="7149894" cy="3838619"/>
            <a:chOff x="1881372" y="2100593"/>
            <a:chExt cx="7776195" cy="4255758"/>
          </a:xfrm>
        </p:grpSpPr>
        <p:pic>
          <p:nvPicPr>
            <p:cNvPr id="4" name="תמונה 3" descr="What Is TF-IDF? Search Intent and Inverse Document Frequency">
              <a:extLst>
                <a:ext uri="{FF2B5EF4-FFF2-40B4-BE49-F238E27FC236}">
                  <a16:creationId xmlns:a16="http://schemas.microsoft.com/office/drawing/2014/main" id="{6145B5B3-B97D-CE65-B9DD-9E53B41561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81372" y="2100593"/>
              <a:ext cx="7772400" cy="4255758"/>
            </a:xfrm>
            <a:prstGeom prst="rect">
              <a:avLst/>
            </a:prstGeom>
          </p:spPr>
        </p:pic>
        <p:sp>
          <p:nvSpPr>
            <p:cNvPr id="7" name="מלבן 6">
              <a:extLst>
                <a:ext uri="{FF2B5EF4-FFF2-40B4-BE49-F238E27FC236}">
                  <a16:creationId xmlns:a16="http://schemas.microsoft.com/office/drawing/2014/main" id="{6EA4AE9C-D7F4-685C-63B4-281A89BB2516}"/>
                </a:ext>
              </a:extLst>
            </p:cNvPr>
            <p:cNvSpPr/>
            <p:nvPr/>
          </p:nvSpPr>
          <p:spPr>
            <a:xfrm>
              <a:off x="8505173" y="5674290"/>
              <a:ext cx="1152394" cy="659489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marL="0" lvl="0" indent="0">
              <a:buNone/>
            </a:pPr>
            <a:r>
              <a:t>TF-IDF Intuition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965200" y="1417638"/>
            <a:ext cx="7339556" cy="435702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2600" dirty="0"/>
              <a:t>A high score needs both local focus and global rarity.</a:t>
            </a:r>
          </a:p>
          <a:p>
            <a:pPr marL="0" lvl="0" indent="0">
              <a:buNone/>
            </a:pPr>
            <a:r>
              <a:rPr sz="2600" dirty="0"/>
              <a:t>TF-IDF = local focus × global rarity.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2307640"/>
              </p:ext>
            </p:extLst>
          </p:nvPr>
        </p:nvGraphicFramePr>
        <p:xfrm>
          <a:off x="2070796" y="2926874"/>
          <a:ext cx="7620000" cy="19202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Term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How much does this document talk about the term?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jam = 0.67, printer = 0.33</a:t>
                      </a:r>
                      <a:endParaRPr dirty="0">
                        <a:latin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Inverse document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How rare is this term across the corpus?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outage = 1.10, jam = 0.69</a:t>
                      </a:r>
                      <a:endParaRPr dirty="0">
                        <a:latin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marL="0" lvl="0" indent="0">
              <a:buNone/>
            </a:pPr>
            <a:r>
              <a:t>Notation Cheat Sheet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0901585"/>
              </p:ext>
            </p:extLst>
          </p:nvPr>
        </p:nvGraphicFramePr>
        <p:xfrm>
          <a:off x="6502400" y="2270026"/>
          <a:ext cx="5080000" cy="25603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742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7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8989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t</a:t>
                      </a:r>
                      <a:endParaRPr>
                        <a:latin typeface="Couri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term after preprocessing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d</a:t>
                      </a:r>
                      <a:endParaRPr>
                        <a:latin typeface="Couri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one document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N</a:t>
                      </a:r>
                      <a:endParaRPr>
                        <a:latin typeface="Couri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number of documents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count(t,d)</a:t>
                      </a:r>
                      <a:endParaRPr>
                        <a:latin typeface="Couri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count of term t in document d</a:t>
                      </a:r>
                      <a:endParaRPr dirty="0">
                        <a:latin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|d|</a:t>
                      </a:r>
                      <a:endParaRPr>
                        <a:latin typeface="Couri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number of tokens in document d</a:t>
                      </a:r>
                      <a:endParaRPr>
                        <a:latin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df(t)</a:t>
                      </a:r>
                      <a:endParaRPr>
                        <a:latin typeface="Couri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number of documents containing t</a:t>
                      </a:r>
                      <a:endParaRPr dirty="0">
                        <a:latin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תיבת טקסט 4">
                <a:extLst>
                  <a:ext uri="{FF2B5EF4-FFF2-40B4-BE49-F238E27FC236}">
                    <a16:creationId xmlns:a16="http://schemas.microsoft.com/office/drawing/2014/main" id="{7745EA5C-02CD-E41B-4A34-47B9700D043B}"/>
                  </a:ext>
                </a:extLst>
              </p:cNvPr>
              <p:cNvSpPr txBox="1"/>
              <p:nvPr/>
            </p:nvSpPr>
            <p:spPr>
              <a:xfrm>
                <a:off x="1043796" y="2201676"/>
                <a:ext cx="5339751" cy="26970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smtClean="0">
                          <a:latin typeface="Cambria Math" panose="02040503050406030204" pitchFamily="18" charset="0"/>
                        </a:rPr>
                        <m:t>𝑡𝑓</m:t>
                      </m:r>
                      <m:r>
                        <a:rPr lang="en-US" sz="220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2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sz="22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𝑐𝑜𝑢𝑛𝑡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</m:den>
                      </m:f>
                    </m:oMath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𝑖𝑑𝑓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𝑑𝑓</m:t>
                              </m:r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den>
                          </m:f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2200"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num>
                            <m:den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𝑑𝑓</m:t>
                              </m:r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+ 1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he-IL" sz="2200" b="0" i="1" dirty="0">
                  <a:latin typeface="Cambria Math" panose="020405030504060302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𝑡𝑓</m:t>
                      </m:r>
                      <m:r>
                        <a:rPr lang="en-US" sz="2200" b="0" i="0" smtClean="0">
                          <a:latin typeface="Cambria Math" panose="02040503050406030204" pitchFamily="18" charset="0"/>
                        </a:rPr>
                        <m:t>𝑖𝑑𝑓</m:t>
                      </m:r>
                      <m:d>
                        <m:dPr>
                          <m:ctrlPr>
                            <a:rPr lang="en-US" sz="2200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2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𝑡𝑓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𝑖𝑑𝑓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e-IL" sz="2200" dirty="0"/>
              </a:p>
            </p:txBody>
          </p:sp>
        </mc:Choice>
        <mc:Fallback>
          <p:sp>
            <p:nvSpPr>
              <p:cNvPr id="5" name="תיבת טקסט 4">
                <a:extLst>
                  <a:ext uri="{FF2B5EF4-FFF2-40B4-BE49-F238E27FC236}">
                    <a16:creationId xmlns:a16="http://schemas.microsoft.com/office/drawing/2014/main" id="{7745EA5C-02CD-E41B-4A34-47B9700D0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796" y="2201676"/>
                <a:ext cx="5339751" cy="2697020"/>
              </a:xfrm>
              <a:prstGeom prst="rect">
                <a:avLst/>
              </a:prstGeom>
              <a:blipFill>
                <a:blip r:embed="rId2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134" y="76203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200000"/>
              </a:lnSpc>
            </a:pPr>
            <a:endParaRPr lang="en-US" sz="2400" b="1" dirty="0"/>
          </a:p>
          <a:p>
            <a:pPr algn="ctr">
              <a:lnSpc>
                <a:spcPct val="200000"/>
              </a:lnSpc>
            </a:pPr>
            <a:endParaRPr lang="en-US" sz="2400" b="1" dirty="0"/>
          </a:p>
          <a:p>
            <a:pPr>
              <a:lnSpc>
                <a:spcPct val="200000"/>
              </a:lnSpc>
            </a:pPr>
            <a:r>
              <a:rPr lang="en-US" sz="2400" b="1" dirty="0"/>
              <a:t>			Document 1 </a:t>
            </a:r>
            <a:r>
              <a:rPr lang="en-US" sz="2400" dirty="0"/>
              <a:t>data science uses data.</a:t>
            </a:r>
          </a:p>
          <a:p>
            <a:pPr>
              <a:lnSpc>
                <a:spcPct val="200000"/>
              </a:lnSpc>
            </a:pPr>
            <a:r>
              <a:rPr lang="en-US" sz="2400" b="1" dirty="0"/>
              <a:t>			Document 2 </a:t>
            </a:r>
            <a:r>
              <a:rPr lang="en-US" sz="2400" dirty="0"/>
              <a:t>data engineering builds pipelines.</a:t>
            </a:r>
          </a:p>
          <a:p>
            <a:pPr>
              <a:lnSpc>
                <a:spcPct val="200000"/>
              </a:lnSpc>
            </a:pPr>
            <a:r>
              <a:rPr lang="en-US" sz="2400" b="1" dirty="0"/>
              <a:t>			Document 3 </a:t>
            </a:r>
            <a:r>
              <a:rPr lang="en-US" sz="2400" dirty="0"/>
              <a:t>science uses experiments.</a:t>
            </a:r>
          </a:p>
          <a:p>
            <a:pPr>
              <a:lnSpc>
                <a:spcPct val="200000"/>
              </a:lnSpc>
            </a:pPr>
            <a:r>
              <a:rPr lang="en-US" sz="2400" b="1" dirty="0"/>
              <a:t>			Document 4 </a:t>
            </a:r>
            <a:r>
              <a:rPr lang="en-US" sz="2400" dirty="0"/>
              <a:t> engineering uses data pipelines.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13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1E24163-3283-CA05-FEEC-C6DF9F60A7BF}"/>
              </a:ext>
            </a:extLst>
          </p:cNvPr>
          <p:cNvSpPr txBox="1">
            <a:spLocks/>
          </p:cNvSpPr>
          <p:nvPr/>
        </p:nvSpPr>
        <p:spPr>
          <a:xfrm>
            <a:off x="609600" y="274638"/>
            <a:ext cx="10972800" cy="1143000"/>
          </a:xfrm>
          <a:prstGeom prst="roundRect">
            <a:avLst/>
          </a:prstGeom>
          <a:ln w="1270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10972800"/>
                      <a:gd name="csY0" fmla="*/ 0 h 1143000"/>
                      <a:gd name="csX1" fmla="*/ 10972800 w 10972800"/>
                      <a:gd name="csY1" fmla="*/ 0 h 1143000"/>
                      <a:gd name="csX2" fmla="*/ 10972800 w 10972800"/>
                      <a:gd name="csY2" fmla="*/ 1143000 h 1143000"/>
                      <a:gd name="csX3" fmla="*/ 0 w 10972800"/>
                      <a:gd name="csY3" fmla="*/ 1143000 h 1143000"/>
                      <a:gd name="csX4" fmla="*/ 0 w 10972800"/>
                      <a:gd name="csY4" fmla="*/ 0 h 11430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10972800" h="1143000" fill="none" extrusionOk="0">
                        <a:moveTo>
                          <a:pt x="0" y="0"/>
                        </a:moveTo>
                        <a:cubicBezTo>
                          <a:pt x="4674310" y="-49533"/>
                          <a:pt x="6929254" y="-14809"/>
                          <a:pt x="10972800" y="0"/>
                        </a:cubicBezTo>
                        <a:cubicBezTo>
                          <a:pt x="10969069" y="570730"/>
                          <a:pt x="11062171" y="914526"/>
                          <a:pt x="10972800" y="1143000"/>
                        </a:cubicBezTo>
                        <a:cubicBezTo>
                          <a:pt x="6482996" y="1094769"/>
                          <a:pt x="3552735" y="1227455"/>
                          <a:pt x="0" y="1143000"/>
                        </a:cubicBezTo>
                        <a:cubicBezTo>
                          <a:pt x="69309" y="672287"/>
                          <a:pt x="-28229" y="279082"/>
                          <a:pt x="0" y="0"/>
                        </a:cubicBezTo>
                        <a:close/>
                      </a:path>
                      <a:path w="10972800" h="1143000" stroke="0" extrusionOk="0">
                        <a:moveTo>
                          <a:pt x="0" y="0"/>
                        </a:moveTo>
                        <a:cubicBezTo>
                          <a:pt x="3528079" y="118645"/>
                          <a:pt x="9610931" y="116012"/>
                          <a:pt x="10972800" y="0"/>
                        </a:cubicBezTo>
                        <a:cubicBezTo>
                          <a:pt x="11055528" y="134374"/>
                          <a:pt x="10882381" y="1028043"/>
                          <a:pt x="10972800" y="1143000"/>
                        </a:cubicBezTo>
                        <a:cubicBezTo>
                          <a:pt x="8799093" y="1277600"/>
                          <a:pt x="3316512" y="985804"/>
                          <a:pt x="0" y="1143000"/>
                        </a:cubicBezTo>
                        <a:cubicBezTo>
                          <a:pt x="94203" y="956839"/>
                          <a:pt x="-18710" y="28947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ctr">
            <a:normAutofit/>
          </a:bodyPr>
          <a:lstStyle>
            <a:lvl1pPr lvl="0" indent="0" algn="ctr">
              <a:spcBef>
                <a:spcPct val="0"/>
              </a:spcBef>
              <a:buNone/>
              <a:defRPr sz="3400"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"/>
              <a:t>Example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2719990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69EC312-3719-0612-FFDA-B262818A6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46A48A-38B1-08A2-5BA3-9DC42036F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134" y="76203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200000"/>
              </a:lnSpc>
            </a:pPr>
            <a:endParaRPr lang="en-US" sz="2400" b="1" dirty="0"/>
          </a:p>
          <a:p>
            <a:pPr algn="ctr">
              <a:lnSpc>
                <a:spcPct val="200000"/>
              </a:lnSpc>
            </a:pPr>
            <a:endParaRPr lang="en-US" sz="2400" b="1" dirty="0"/>
          </a:p>
          <a:p>
            <a:pPr>
              <a:lnSpc>
                <a:spcPct val="200000"/>
              </a:lnSpc>
            </a:pPr>
            <a:r>
              <a:rPr lang="en-US" sz="2400" b="1" dirty="0"/>
              <a:t>		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ABCAAA-6B11-EF98-5103-0615EDD83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14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48C77-D808-187B-7EB6-6243D5DCC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50B9D1-2FB4-FC38-DA90-3040FFA4287F}"/>
              </a:ext>
            </a:extLst>
          </p:cNvPr>
          <p:cNvSpPr txBox="1">
            <a:spLocks/>
          </p:cNvSpPr>
          <p:nvPr/>
        </p:nvSpPr>
        <p:spPr>
          <a:xfrm>
            <a:off x="609600" y="274638"/>
            <a:ext cx="10972800" cy="1143000"/>
          </a:xfrm>
          <a:prstGeom prst="roundRect">
            <a:avLst/>
          </a:prstGeom>
          <a:ln w="1270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10972800"/>
                      <a:gd name="csY0" fmla="*/ 0 h 1143000"/>
                      <a:gd name="csX1" fmla="*/ 10972800 w 10972800"/>
                      <a:gd name="csY1" fmla="*/ 0 h 1143000"/>
                      <a:gd name="csX2" fmla="*/ 10972800 w 10972800"/>
                      <a:gd name="csY2" fmla="*/ 1143000 h 1143000"/>
                      <a:gd name="csX3" fmla="*/ 0 w 10972800"/>
                      <a:gd name="csY3" fmla="*/ 1143000 h 1143000"/>
                      <a:gd name="csX4" fmla="*/ 0 w 10972800"/>
                      <a:gd name="csY4" fmla="*/ 0 h 11430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10972800" h="1143000" fill="none" extrusionOk="0">
                        <a:moveTo>
                          <a:pt x="0" y="0"/>
                        </a:moveTo>
                        <a:cubicBezTo>
                          <a:pt x="4674310" y="-49533"/>
                          <a:pt x="6929254" y="-14809"/>
                          <a:pt x="10972800" y="0"/>
                        </a:cubicBezTo>
                        <a:cubicBezTo>
                          <a:pt x="10969069" y="570730"/>
                          <a:pt x="11062171" y="914526"/>
                          <a:pt x="10972800" y="1143000"/>
                        </a:cubicBezTo>
                        <a:cubicBezTo>
                          <a:pt x="6482996" y="1094769"/>
                          <a:pt x="3552735" y="1227455"/>
                          <a:pt x="0" y="1143000"/>
                        </a:cubicBezTo>
                        <a:cubicBezTo>
                          <a:pt x="69309" y="672287"/>
                          <a:pt x="-28229" y="279082"/>
                          <a:pt x="0" y="0"/>
                        </a:cubicBezTo>
                        <a:close/>
                      </a:path>
                      <a:path w="10972800" h="1143000" stroke="0" extrusionOk="0">
                        <a:moveTo>
                          <a:pt x="0" y="0"/>
                        </a:moveTo>
                        <a:cubicBezTo>
                          <a:pt x="3528079" y="118645"/>
                          <a:pt x="9610931" y="116012"/>
                          <a:pt x="10972800" y="0"/>
                        </a:cubicBezTo>
                        <a:cubicBezTo>
                          <a:pt x="11055528" y="134374"/>
                          <a:pt x="10882381" y="1028043"/>
                          <a:pt x="10972800" y="1143000"/>
                        </a:cubicBezTo>
                        <a:cubicBezTo>
                          <a:pt x="8799093" y="1277600"/>
                          <a:pt x="3316512" y="985804"/>
                          <a:pt x="0" y="1143000"/>
                        </a:cubicBezTo>
                        <a:cubicBezTo>
                          <a:pt x="94203" y="956839"/>
                          <a:pt x="-18710" y="28947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ctr">
            <a:normAutofit/>
          </a:bodyPr>
          <a:lstStyle>
            <a:lvl1pPr lvl="0" indent="0" algn="ctr">
              <a:spcBef>
                <a:spcPct val="0"/>
              </a:spcBef>
              <a:buNone/>
              <a:defRPr sz="3400"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" dirty="0"/>
              <a:t>Step 1: Counts</a:t>
            </a:r>
          </a:p>
        </p:txBody>
      </p:sp>
      <p:graphicFrame>
        <p:nvGraphicFramePr>
          <p:cNvPr id="3" name="טבלה 2">
            <a:extLst>
              <a:ext uri="{FF2B5EF4-FFF2-40B4-BE49-F238E27FC236}">
                <a16:creationId xmlns:a16="http://schemas.microsoft.com/office/drawing/2014/main" id="{869ECE79-0FD3-FF31-B715-B2369022A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8231289"/>
              </p:ext>
            </p:extLst>
          </p:nvPr>
        </p:nvGraphicFramePr>
        <p:xfrm>
          <a:off x="1828800" y="2069716"/>
          <a:ext cx="8003315" cy="3048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00663">
                  <a:extLst>
                    <a:ext uri="{9D8B030D-6E8A-4147-A177-3AD203B41FA5}">
                      <a16:colId xmlns:a16="http://schemas.microsoft.com/office/drawing/2014/main" val="2806349276"/>
                    </a:ext>
                  </a:extLst>
                </a:gridCol>
                <a:gridCol w="1600663">
                  <a:extLst>
                    <a:ext uri="{9D8B030D-6E8A-4147-A177-3AD203B41FA5}">
                      <a16:colId xmlns:a16="http://schemas.microsoft.com/office/drawing/2014/main" val="1354535103"/>
                    </a:ext>
                  </a:extLst>
                </a:gridCol>
                <a:gridCol w="1600663">
                  <a:extLst>
                    <a:ext uri="{9D8B030D-6E8A-4147-A177-3AD203B41FA5}">
                      <a16:colId xmlns:a16="http://schemas.microsoft.com/office/drawing/2014/main" val="2460819799"/>
                    </a:ext>
                  </a:extLst>
                </a:gridCol>
                <a:gridCol w="1600663">
                  <a:extLst>
                    <a:ext uri="{9D8B030D-6E8A-4147-A177-3AD203B41FA5}">
                      <a16:colId xmlns:a16="http://schemas.microsoft.com/office/drawing/2014/main" val="3286450963"/>
                    </a:ext>
                  </a:extLst>
                </a:gridCol>
                <a:gridCol w="1600663">
                  <a:extLst>
                    <a:ext uri="{9D8B030D-6E8A-4147-A177-3AD203B41FA5}">
                      <a16:colId xmlns:a16="http://schemas.microsoft.com/office/drawing/2014/main" val="14672736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2000" b="1" dirty="0">
                          <a:effectLst/>
                        </a:rPr>
                        <a:t>Term</a:t>
                      </a:r>
                      <a:endParaRPr lang="en" sz="2000" b="1" dirty="0">
                        <a:solidFill>
                          <a:srgbClr val="1A1C1F"/>
                        </a:solidFill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2000" b="1" dirty="0">
                          <a:effectLst/>
                        </a:rPr>
                        <a:t>S1</a:t>
                      </a:r>
                      <a:endParaRPr lang="en" sz="2000" b="1" dirty="0">
                        <a:solidFill>
                          <a:srgbClr val="1A1C1F"/>
                        </a:solidFill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2000" b="1" dirty="0">
                          <a:effectLst/>
                        </a:rPr>
                        <a:t>S2</a:t>
                      </a:r>
                      <a:endParaRPr lang="en" sz="2000" b="1" dirty="0">
                        <a:solidFill>
                          <a:srgbClr val="1A1C1F"/>
                        </a:solidFill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2000" b="1" dirty="0">
                          <a:effectLst/>
                        </a:rPr>
                        <a:t>S3</a:t>
                      </a:r>
                      <a:endParaRPr lang="en" sz="2000" b="1" dirty="0">
                        <a:solidFill>
                          <a:srgbClr val="1A1C1F"/>
                        </a:solidFill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2000" b="1" dirty="0">
                          <a:effectLst/>
                        </a:rPr>
                        <a:t>S4</a:t>
                      </a:r>
                      <a:endParaRPr lang="en" sz="2000" b="1" dirty="0">
                        <a:solidFill>
                          <a:srgbClr val="1A1C1F"/>
                        </a:solidFill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648393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2000" b="1" dirty="0">
                          <a:effectLst/>
                        </a:rPr>
                        <a:t>data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 dirty="0">
                          <a:effectLst/>
                        </a:rPr>
                        <a:t>2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 dirty="0">
                          <a:effectLst/>
                        </a:rPr>
                        <a:t>1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 dirty="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 dirty="0">
                          <a:effectLst/>
                        </a:rPr>
                        <a:t>1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1031341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2000" b="1" dirty="0">
                          <a:effectLst/>
                        </a:rPr>
                        <a:t>science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 dirty="0">
                          <a:effectLst/>
                        </a:rPr>
                        <a:t>1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 dirty="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>
                          <a:effectLst/>
                        </a:rPr>
                        <a:t>1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 dirty="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401273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2000" b="1" dirty="0">
                          <a:effectLst/>
                        </a:rPr>
                        <a:t>uses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>
                          <a:effectLst/>
                        </a:rPr>
                        <a:t>1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 dirty="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>
                          <a:effectLst/>
                        </a:rPr>
                        <a:t>1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 dirty="0">
                          <a:effectLst/>
                        </a:rPr>
                        <a:t>1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581437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2000" b="1" dirty="0">
                          <a:effectLst/>
                        </a:rPr>
                        <a:t>engineering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>
                          <a:effectLst/>
                        </a:rPr>
                        <a:t>1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 dirty="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 dirty="0">
                          <a:effectLst/>
                        </a:rPr>
                        <a:t>1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307830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2000" b="1" dirty="0">
                          <a:effectLst/>
                        </a:rPr>
                        <a:t>builds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>
                          <a:effectLst/>
                        </a:rPr>
                        <a:t>1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 dirty="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4008375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2000" b="1" dirty="0">
                          <a:effectLst/>
                        </a:rPr>
                        <a:t>pipelines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>
                          <a:effectLst/>
                        </a:rPr>
                        <a:t>1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 dirty="0">
                          <a:effectLst/>
                        </a:rPr>
                        <a:t>1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982203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2000" b="1" dirty="0">
                          <a:effectLst/>
                        </a:rPr>
                        <a:t>experiments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>
                          <a:effectLst/>
                        </a:rPr>
                        <a:t>1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 dirty="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1259475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69604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C19895C-8238-71A0-6E69-4815125CE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52E524A-CD53-B6C9-32B8-CE2D2190D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134" y="76203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200000"/>
              </a:lnSpc>
            </a:pPr>
            <a:endParaRPr lang="en-US" sz="2400" b="1" dirty="0"/>
          </a:p>
          <a:p>
            <a:pPr algn="ctr">
              <a:lnSpc>
                <a:spcPct val="200000"/>
              </a:lnSpc>
            </a:pPr>
            <a:endParaRPr lang="en-US" sz="2400" b="1" dirty="0"/>
          </a:p>
          <a:p>
            <a:pPr>
              <a:lnSpc>
                <a:spcPct val="200000"/>
              </a:lnSpc>
            </a:pPr>
            <a:r>
              <a:rPr lang="en-US" sz="2400" b="1" dirty="0"/>
              <a:t>		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0867ED-C55F-7757-9B86-AE615DC26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15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DBEBAB-0CC0-DA1D-027E-83AF4FDE5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1FAAD52-4236-7E04-88DE-5F7D53C95E95}"/>
              </a:ext>
            </a:extLst>
          </p:cNvPr>
          <p:cNvSpPr txBox="1">
            <a:spLocks/>
          </p:cNvSpPr>
          <p:nvPr/>
        </p:nvSpPr>
        <p:spPr>
          <a:xfrm>
            <a:off x="609600" y="274638"/>
            <a:ext cx="10972800" cy="1143000"/>
          </a:xfrm>
          <a:prstGeom prst="roundRect">
            <a:avLst/>
          </a:prstGeom>
          <a:ln w="1270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10972800"/>
                      <a:gd name="csY0" fmla="*/ 0 h 1143000"/>
                      <a:gd name="csX1" fmla="*/ 10972800 w 10972800"/>
                      <a:gd name="csY1" fmla="*/ 0 h 1143000"/>
                      <a:gd name="csX2" fmla="*/ 10972800 w 10972800"/>
                      <a:gd name="csY2" fmla="*/ 1143000 h 1143000"/>
                      <a:gd name="csX3" fmla="*/ 0 w 10972800"/>
                      <a:gd name="csY3" fmla="*/ 1143000 h 1143000"/>
                      <a:gd name="csX4" fmla="*/ 0 w 10972800"/>
                      <a:gd name="csY4" fmla="*/ 0 h 11430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10972800" h="1143000" fill="none" extrusionOk="0">
                        <a:moveTo>
                          <a:pt x="0" y="0"/>
                        </a:moveTo>
                        <a:cubicBezTo>
                          <a:pt x="4674310" y="-49533"/>
                          <a:pt x="6929254" y="-14809"/>
                          <a:pt x="10972800" y="0"/>
                        </a:cubicBezTo>
                        <a:cubicBezTo>
                          <a:pt x="10969069" y="570730"/>
                          <a:pt x="11062171" y="914526"/>
                          <a:pt x="10972800" y="1143000"/>
                        </a:cubicBezTo>
                        <a:cubicBezTo>
                          <a:pt x="6482996" y="1094769"/>
                          <a:pt x="3552735" y="1227455"/>
                          <a:pt x="0" y="1143000"/>
                        </a:cubicBezTo>
                        <a:cubicBezTo>
                          <a:pt x="69309" y="672287"/>
                          <a:pt x="-28229" y="279082"/>
                          <a:pt x="0" y="0"/>
                        </a:cubicBezTo>
                        <a:close/>
                      </a:path>
                      <a:path w="10972800" h="1143000" stroke="0" extrusionOk="0">
                        <a:moveTo>
                          <a:pt x="0" y="0"/>
                        </a:moveTo>
                        <a:cubicBezTo>
                          <a:pt x="3528079" y="118645"/>
                          <a:pt x="9610931" y="116012"/>
                          <a:pt x="10972800" y="0"/>
                        </a:cubicBezTo>
                        <a:cubicBezTo>
                          <a:pt x="11055528" y="134374"/>
                          <a:pt x="10882381" y="1028043"/>
                          <a:pt x="10972800" y="1143000"/>
                        </a:cubicBezTo>
                        <a:cubicBezTo>
                          <a:pt x="8799093" y="1277600"/>
                          <a:pt x="3316512" y="985804"/>
                          <a:pt x="0" y="1143000"/>
                        </a:cubicBezTo>
                        <a:cubicBezTo>
                          <a:pt x="94203" y="956839"/>
                          <a:pt x="-18710" y="28947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ctr">
            <a:normAutofit/>
          </a:bodyPr>
          <a:lstStyle>
            <a:lvl1pPr lvl="0" indent="0" algn="ctr">
              <a:spcBef>
                <a:spcPct val="0"/>
              </a:spcBef>
              <a:buNone/>
              <a:defRPr sz="3400"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" dirty="0"/>
              <a:t>Step 2: Term Frequency (TF)</a:t>
            </a:r>
          </a:p>
        </p:txBody>
      </p:sp>
      <p:graphicFrame>
        <p:nvGraphicFramePr>
          <p:cNvPr id="3" name="טבלה 2">
            <a:extLst>
              <a:ext uri="{FF2B5EF4-FFF2-40B4-BE49-F238E27FC236}">
                <a16:creationId xmlns:a16="http://schemas.microsoft.com/office/drawing/2014/main" id="{096F5C7F-96FF-015C-A293-DD8BB53FEB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6760087"/>
              </p:ext>
            </p:extLst>
          </p:nvPr>
        </p:nvGraphicFramePr>
        <p:xfrm>
          <a:off x="1828800" y="2482045"/>
          <a:ext cx="8003315" cy="3048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00663">
                  <a:extLst>
                    <a:ext uri="{9D8B030D-6E8A-4147-A177-3AD203B41FA5}">
                      <a16:colId xmlns:a16="http://schemas.microsoft.com/office/drawing/2014/main" val="2806349276"/>
                    </a:ext>
                  </a:extLst>
                </a:gridCol>
                <a:gridCol w="1600663">
                  <a:extLst>
                    <a:ext uri="{9D8B030D-6E8A-4147-A177-3AD203B41FA5}">
                      <a16:colId xmlns:a16="http://schemas.microsoft.com/office/drawing/2014/main" val="1354535103"/>
                    </a:ext>
                  </a:extLst>
                </a:gridCol>
                <a:gridCol w="1600663">
                  <a:extLst>
                    <a:ext uri="{9D8B030D-6E8A-4147-A177-3AD203B41FA5}">
                      <a16:colId xmlns:a16="http://schemas.microsoft.com/office/drawing/2014/main" val="2460819799"/>
                    </a:ext>
                  </a:extLst>
                </a:gridCol>
                <a:gridCol w="1600663">
                  <a:extLst>
                    <a:ext uri="{9D8B030D-6E8A-4147-A177-3AD203B41FA5}">
                      <a16:colId xmlns:a16="http://schemas.microsoft.com/office/drawing/2014/main" val="3286450963"/>
                    </a:ext>
                  </a:extLst>
                </a:gridCol>
                <a:gridCol w="1600663">
                  <a:extLst>
                    <a:ext uri="{9D8B030D-6E8A-4147-A177-3AD203B41FA5}">
                      <a16:colId xmlns:a16="http://schemas.microsoft.com/office/drawing/2014/main" val="14672736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2000" b="1" dirty="0">
                          <a:effectLst/>
                        </a:rPr>
                        <a:t>Term</a:t>
                      </a:r>
                      <a:endParaRPr lang="en" sz="2000" b="1" dirty="0">
                        <a:solidFill>
                          <a:srgbClr val="1A1C1F"/>
                        </a:solidFill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2000" b="1" dirty="0">
                          <a:effectLst/>
                        </a:rPr>
                        <a:t>S1</a:t>
                      </a:r>
                      <a:endParaRPr lang="en" sz="2000" b="1" dirty="0">
                        <a:solidFill>
                          <a:srgbClr val="1A1C1F"/>
                        </a:solidFill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2000" b="1" dirty="0">
                          <a:effectLst/>
                        </a:rPr>
                        <a:t>S2</a:t>
                      </a:r>
                      <a:endParaRPr lang="en" sz="2000" b="1" dirty="0">
                        <a:solidFill>
                          <a:srgbClr val="1A1C1F"/>
                        </a:solidFill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2000" b="1" dirty="0">
                          <a:effectLst/>
                        </a:rPr>
                        <a:t>S3</a:t>
                      </a:r>
                      <a:endParaRPr lang="en" sz="2000" b="1" dirty="0">
                        <a:solidFill>
                          <a:srgbClr val="1A1C1F"/>
                        </a:solidFill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2000" b="1" dirty="0">
                          <a:effectLst/>
                        </a:rPr>
                        <a:t>S4</a:t>
                      </a:r>
                      <a:endParaRPr lang="en" sz="2000" b="1" dirty="0">
                        <a:solidFill>
                          <a:srgbClr val="1A1C1F"/>
                        </a:solidFill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648393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2000" b="1" dirty="0">
                          <a:effectLst/>
                        </a:rPr>
                        <a:t>data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000" dirty="0">
                          <a:effectLst/>
                        </a:rPr>
                        <a:t>0.5</a:t>
                      </a:r>
                      <a:endParaRPr lang="he-IL" sz="2000" dirty="0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marR="0" lvl="0" indent="0" algn="ctr" defTabSz="457200" rtl="1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effectLst/>
                        </a:rPr>
                        <a:t>0.25</a:t>
                      </a:r>
                      <a:endParaRPr lang="he-IL" sz="2000" dirty="0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 dirty="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marR="0" lvl="0" indent="0" algn="ctr" defTabSz="457200" rtl="1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effectLst/>
                        </a:rPr>
                        <a:t>0.25</a:t>
                      </a:r>
                      <a:endParaRPr lang="he-IL" sz="2000" dirty="0"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1031341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2000" b="1" dirty="0">
                          <a:effectLst/>
                        </a:rPr>
                        <a:t>science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marR="0" lvl="0" indent="0" algn="ctr" defTabSz="457200" rtl="1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effectLst/>
                        </a:rPr>
                        <a:t>0.25</a:t>
                      </a:r>
                      <a:endParaRPr lang="he-IL" sz="2000" dirty="0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 dirty="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000" dirty="0">
                          <a:effectLst/>
                        </a:rPr>
                        <a:t>0.333</a:t>
                      </a:r>
                      <a:endParaRPr lang="he-IL" sz="2000" dirty="0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 dirty="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401273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2000" b="1" dirty="0">
                          <a:effectLst/>
                        </a:rPr>
                        <a:t>uses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marR="0" lvl="0" indent="0" algn="ctr" defTabSz="457200" rtl="1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effectLst/>
                        </a:rPr>
                        <a:t>0.25</a:t>
                      </a:r>
                      <a:endParaRPr lang="he-IL" sz="2000" dirty="0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 dirty="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000" dirty="0">
                          <a:effectLst/>
                        </a:rPr>
                        <a:t>0.333</a:t>
                      </a:r>
                      <a:endParaRPr lang="he-IL" sz="2000" dirty="0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marR="0" lvl="0" indent="0" algn="ctr" defTabSz="457200" rtl="1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0.25</a:t>
                      </a:r>
                      <a:endParaRPr kumimoji="0" lang="he-IL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581437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2000" b="1" dirty="0">
                          <a:effectLst/>
                        </a:rPr>
                        <a:t>engineering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marR="0" lvl="0" indent="0" algn="ctr" defTabSz="457200" rtl="1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0.25</a:t>
                      </a:r>
                      <a:endParaRPr kumimoji="0" lang="he-IL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 dirty="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marR="0" lvl="0" indent="0" algn="ctr" defTabSz="457200" rtl="1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0.25</a:t>
                      </a:r>
                      <a:endParaRPr kumimoji="0" lang="he-IL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307830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2000" b="1" dirty="0">
                          <a:effectLst/>
                        </a:rPr>
                        <a:t>builds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marR="0" lvl="0" indent="0" algn="ctr" defTabSz="457200" rtl="1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0.25</a:t>
                      </a:r>
                      <a:endParaRPr kumimoji="0" lang="he-IL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 dirty="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4008375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2000" b="1" dirty="0">
                          <a:effectLst/>
                        </a:rPr>
                        <a:t>pipelines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marR="0" lvl="0" indent="0" algn="ctr" defTabSz="457200" rtl="1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0.25</a:t>
                      </a:r>
                      <a:endParaRPr kumimoji="0" lang="he-IL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marR="0" lvl="0" indent="0" algn="ctr" defTabSz="457200" rtl="1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effectLst/>
                        </a:rPr>
                        <a:t>0.25</a:t>
                      </a:r>
                      <a:endParaRPr lang="he-IL" sz="2000" dirty="0"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982203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2000" b="1" dirty="0">
                          <a:effectLst/>
                        </a:rPr>
                        <a:t>experiments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2000" dirty="0">
                          <a:effectLst/>
                        </a:rPr>
                        <a:t>0.333</a:t>
                      </a:r>
                      <a:endParaRPr lang="he-IL" sz="2000" dirty="0"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 dirty="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12594759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תיבת טקסט 7">
                <a:extLst>
                  <a:ext uri="{FF2B5EF4-FFF2-40B4-BE49-F238E27FC236}">
                    <a16:creationId xmlns:a16="http://schemas.microsoft.com/office/drawing/2014/main" id="{22E881DA-2F1C-B546-1799-9B85B68549B8}"/>
                  </a:ext>
                </a:extLst>
              </p:cNvPr>
              <p:cNvSpPr txBox="1"/>
              <p:nvPr/>
            </p:nvSpPr>
            <p:spPr>
              <a:xfrm>
                <a:off x="272558" y="1576453"/>
                <a:ext cx="11699308" cy="6674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𝑐𝑜𝑢𝑛𝑡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𝑛𝑢𝑚𝑏𝑒𝑟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𝑤𝑜𝑟𝑑𝑠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8" name="תיבת טקסט 7">
                <a:extLst>
                  <a:ext uri="{FF2B5EF4-FFF2-40B4-BE49-F238E27FC236}">
                    <a16:creationId xmlns:a16="http://schemas.microsoft.com/office/drawing/2014/main" id="{22E881DA-2F1C-B546-1799-9B85B68549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558" y="1576453"/>
                <a:ext cx="11699308" cy="667490"/>
              </a:xfrm>
              <a:prstGeom prst="rect">
                <a:avLst/>
              </a:prstGeom>
              <a:blipFill>
                <a:blip r:embed="rId3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92121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897D9FC-4A8A-4BAF-CD5D-1A25771C0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53B37A-5D78-27DE-437A-AE2DB3589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134" y="76203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200000"/>
              </a:lnSpc>
            </a:pPr>
            <a:endParaRPr lang="en-US" sz="2400" b="1" dirty="0"/>
          </a:p>
          <a:p>
            <a:pPr algn="ctr">
              <a:lnSpc>
                <a:spcPct val="200000"/>
              </a:lnSpc>
            </a:pPr>
            <a:endParaRPr lang="en-US" sz="2400" b="1" dirty="0"/>
          </a:p>
          <a:p>
            <a:pPr>
              <a:lnSpc>
                <a:spcPct val="200000"/>
              </a:lnSpc>
            </a:pPr>
            <a:r>
              <a:rPr lang="en-US" sz="2400" b="1" dirty="0"/>
              <a:t>		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F91230-53A0-E52D-CD04-37CD09765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16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08847-566A-7E4C-C535-5D9EBCDC7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142641A-E4A4-52F2-BECF-B2C09D931570}"/>
              </a:ext>
            </a:extLst>
          </p:cNvPr>
          <p:cNvSpPr txBox="1">
            <a:spLocks/>
          </p:cNvSpPr>
          <p:nvPr/>
        </p:nvSpPr>
        <p:spPr>
          <a:xfrm>
            <a:off x="609600" y="274638"/>
            <a:ext cx="10972800" cy="1143000"/>
          </a:xfrm>
          <a:prstGeom prst="roundRect">
            <a:avLst/>
          </a:prstGeom>
          <a:ln w="1270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10972800"/>
                      <a:gd name="csY0" fmla="*/ 0 h 1143000"/>
                      <a:gd name="csX1" fmla="*/ 10972800 w 10972800"/>
                      <a:gd name="csY1" fmla="*/ 0 h 1143000"/>
                      <a:gd name="csX2" fmla="*/ 10972800 w 10972800"/>
                      <a:gd name="csY2" fmla="*/ 1143000 h 1143000"/>
                      <a:gd name="csX3" fmla="*/ 0 w 10972800"/>
                      <a:gd name="csY3" fmla="*/ 1143000 h 1143000"/>
                      <a:gd name="csX4" fmla="*/ 0 w 10972800"/>
                      <a:gd name="csY4" fmla="*/ 0 h 11430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10972800" h="1143000" fill="none" extrusionOk="0">
                        <a:moveTo>
                          <a:pt x="0" y="0"/>
                        </a:moveTo>
                        <a:cubicBezTo>
                          <a:pt x="4674310" y="-49533"/>
                          <a:pt x="6929254" y="-14809"/>
                          <a:pt x="10972800" y="0"/>
                        </a:cubicBezTo>
                        <a:cubicBezTo>
                          <a:pt x="10969069" y="570730"/>
                          <a:pt x="11062171" y="914526"/>
                          <a:pt x="10972800" y="1143000"/>
                        </a:cubicBezTo>
                        <a:cubicBezTo>
                          <a:pt x="6482996" y="1094769"/>
                          <a:pt x="3552735" y="1227455"/>
                          <a:pt x="0" y="1143000"/>
                        </a:cubicBezTo>
                        <a:cubicBezTo>
                          <a:pt x="69309" y="672287"/>
                          <a:pt x="-28229" y="279082"/>
                          <a:pt x="0" y="0"/>
                        </a:cubicBezTo>
                        <a:close/>
                      </a:path>
                      <a:path w="10972800" h="1143000" stroke="0" extrusionOk="0">
                        <a:moveTo>
                          <a:pt x="0" y="0"/>
                        </a:moveTo>
                        <a:cubicBezTo>
                          <a:pt x="3528079" y="118645"/>
                          <a:pt x="9610931" y="116012"/>
                          <a:pt x="10972800" y="0"/>
                        </a:cubicBezTo>
                        <a:cubicBezTo>
                          <a:pt x="11055528" y="134374"/>
                          <a:pt x="10882381" y="1028043"/>
                          <a:pt x="10972800" y="1143000"/>
                        </a:cubicBezTo>
                        <a:cubicBezTo>
                          <a:pt x="8799093" y="1277600"/>
                          <a:pt x="3316512" y="985804"/>
                          <a:pt x="0" y="1143000"/>
                        </a:cubicBezTo>
                        <a:cubicBezTo>
                          <a:pt x="94203" y="956839"/>
                          <a:pt x="-18710" y="28947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ctr">
            <a:normAutofit/>
          </a:bodyPr>
          <a:lstStyle>
            <a:lvl1pPr lvl="0" indent="0" algn="ctr">
              <a:spcBef>
                <a:spcPct val="0"/>
              </a:spcBef>
              <a:buNone/>
              <a:defRPr sz="3400"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" dirty="0"/>
              <a:t>Step 3: Inverse Document Frequency (IDF)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תיבת טקסט 7">
                <a:extLst>
                  <a:ext uri="{FF2B5EF4-FFF2-40B4-BE49-F238E27FC236}">
                    <a16:creationId xmlns:a16="http://schemas.microsoft.com/office/drawing/2014/main" id="{F85EA267-88BA-6CBE-F7B7-18B52CFD48F5}"/>
                  </a:ext>
                </a:extLst>
              </p:cNvPr>
              <p:cNvSpPr txBox="1"/>
              <p:nvPr/>
            </p:nvSpPr>
            <p:spPr>
              <a:xfrm>
                <a:off x="272558" y="1576453"/>
                <a:ext cx="11699308" cy="6519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𝐷𝐹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den>
                              </m:f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=4</m:t>
                          </m:r>
                        </m:e>
                      </m:func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8" name="תיבת טקסט 7">
                <a:extLst>
                  <a:ext uri="{FF2B5EF4-FFF2-40B4-BE49-F238E27FC236}">
                    <a16:creationId xmlns:a16="http://schemas.microsoft.com/office/drawing/2014/main" id="{F85EA267-88BA-6CBE-F7B7-18B52CFD48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558" y="1576453"/>
                <a:ext cx="11699308" cy="6519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טבלה 6">
                <a:extLst>
                  <a:ext uri="{FF2B5EF4-FFF2-40B4-BE49-F238E27FC236}">
                    <a16:creationId xmlns:a16="http://schemas.microsoft.com/office/drawing/2014/main" id="{7235451A-3ABC-EFE5-F5D5-B7A43BD2BAF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5683190"/>
                  </p:ext>
                </p:extLst>
              </p:nvPr>
            </p:nvGraphicFramePr>
            <p:xfrm>
              <a:off x="1996556" y="2387241"/>
              <a:ext cx="8251311" cy="3600387"/>
            </p:xfrm>
            <a:graphic>
              <a:graphicData uri="http://schemas.openxmlformats.org/drawingml/2006/table">
                <a:tbl>
                  <a:tblPr/>
                  <a:tblGrid>
                    <a:gridCol w="1988298">
                      <a:extLst>
                        <a:ext uri="{9D8B030D-6E8A-4147-A177-3AD203B41FA5}">
                          <a16:colId xmlns:a16="http://schemas.microsoft.com/office/drawing/2014/main" val="2454578159"/>
                        </a:ext>
                      </a:extLst>
                    </a:gridCol>
                    <a:gridCol w="1853852">
                      <a:extLst>
                        <a:ext uri="{9D8B030D-6E8A-4147-A177-3AD203B41FA5}">
                          <a16:colId xmlns:a16="http://schemas.microsoft.com/office/drawing/2014/main" val="3498401051"/>
                        </a:ext>
                      </a:extLst>
                    </a:gridCol>
                    <a:gridCol w="4409161">
                      <a:extLst>
                        <a:ext uri="{9D8B030D-6E8A-4147-A177-3AD203B41FA5}">
                          <a16:colId xmlns:a16="http://schemas.microsoft.com/office/drawing/2014/main" val="121676309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en" sz="2200" b="1">
                              <a:effectLst/>
                            </a:rPr>
                            <a:t>Term</a:t>
                          </a:r>
                          <a:endParaRPr lang="en" sz="2200" b="1">
                            <a:solidFill>
                              <a:srgbClr val="1A1C1F"/>
                            </a:solidFill>
                            <a:effectLst/>
                          </a:endParaRPr>
                        </a:p>
                      </a:txBody>
                      <a:tcPr marL="38100" marR="38100" marT="38100" marB="38100"/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en" sz="2200" b="1">
                              <a:effectLst/>
                            </a:rPr>
                            <a:t>df</a:t>
                          </a:r>
                          <a:endParaRPr lang="en" sz="2200" b="1">
                            <a:solidFill>
                              <a:srgbClr val="1A1C1F"/>
                            </a:solidFill>
                            <a:effectLst/>
                          </a:endParaRPr>
                        </a:p>
                      </a:txBody>
                      <a:tcPr marL="38100" marR="38100" marT="38100" marB="38100"/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en" sz="2200" b="1" dirty="0">
                              <a:effectLst/>
                            </a:rPr>
                            <a:t>IDF</a:t>
                          </a:r>
                          <a:endParaRPr lang="en" sz="2200" b="1" dirty="0">
                            <a:solidFill>
                              <a:srgbClr val="1A1C1F"/>
                            </a:solidFill>
                            <a:effectLst/>
                          </a:endParaRPr>
                        </a:p>
                      </a:txBody>
                      <a:tcPr marL="38100" marR="38100" marT="38100" marB="38100"/>
                    </a:tc>
                    <a:extLst>
                      <a:ext uri="{0D108BD9-81ED-4DB2-BD59-A6C34878D82A}">
                        <a16:rowId xmlns:a16="http://schemas.microsoft.com/office/drawing/2014/main" val="139887169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en" sz="2200">
                              <a:effectLst/>
                            </a:rPr>
                            <a:t>data</a:t>
                          </a:r>
                        </a:p>
                      </a:txBody>
                      <a:tcPr marL="38100" marR="38100" marT="38100" marB="38100"/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he-IL" sz="2200" dirty="0">
                              <a:effectLst/>
                            </a:rPr>
                            <a:t>3</a:t>
                          </a:r>
                        </a:p>
                      </a:txBody>
                      <a:tcPr marL="38100" marR="38100" marT="38100" marB="38100"/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2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200" b="0" i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2200" b="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2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5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den>
                                        </m:f>
                                      </m:e>
                                    </m:d>
                                    <m:r>
                                      <a:rPr lang="en-US" sz="2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=0.321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he-IL" sz="2200" dirty="0">
                            <a:effectLst/>
                          </a:endParaRPr>
                        </a:p>
                      </a:txBody>
                      <a:tcPr marL="38100" marR="38100" marT="38100" marB="38100"/>
                    </a:tc>
                    <a:extLst>
                      <a:ext uri="{0D108BD9-81ED-4DB2-BD59-A6C34878D82A}">
                        <a16:rowId xmlns:a16="http://schemas.microsoft.com/office/drawing/2014/main" val="86249375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en" sz="2200">
                              <a:effectLst/>
                            </a:rPr>
                            <a:t>science</a:t>
                          </a:r>
                        </a:p>
                      </a:txBody>
                      <a:tcPr marL="38100" marR="38100" marT="38100" marB="38100"/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he-IL" sz="2200">
                              <a:effectLst/>
                            </a:rPr>
                            <a:t>2</a:t>
                          </a:r>
                        </a:p>
                      </a:txBody>
                      <a:tcPr marL="38100" marR="38100" marT="38100" marB="38100"/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en-US" sz="2200" dirty="0">
                              <a:effectLst/>
                            </a:rPr>
                            <a:t>0.736</a:t>
                          </a:r>
                          <a:endParaRPr lang="he-IL" sz="2200" dirty="0">
                            <a:effectLst/>
                          </a:endParaRPr>
                        </a:p>
                      </a:txBody>
                      <a:tcPr marL="38100" marR="38100" marT="38100" marB="38100"/>
                    </a:tc>
                    <a:extLst>
                      <a:ext uri="{0D108BD9-81ED-4DB2-BD59-A6C34878D82A}">
                        <a16:rowId xmlns:a16="http://schemas.microsoft.com/office/drawing/2014/main" val="98278292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en" sz="2200">
                              <a:effectLst/>
                            </a:rPr>
                            <a:t>uses</a:t>
                          </a:r>
                        </a:p>
                      </a:txBody>
                      <a:tcPr marL="38100" marR="38100" marT="38100" marB="38100"/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he-IL" sz="2200">
                              <a:effectLst/>
                            </a:rPr>
                            <a:t>3</a:t>
                          </a:r>
                        </a:p>
                      </a:txBody>
                      <a:tcPr marL="38100" marR="38100" marT="38100" marB="38100"/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en-US" sz="2200" dirty="0">
                              <a:effectLst/>
                            </a:rPr>
                            <a:t>0.321</a:t>
                          </a:r>
                          <a:endParaRPr lang="he-IL" sz="2200" dirty="0">
                            <a:effectLst/>
                          </a:endParaRPr>
                        </a:p>
                      </a:txBody>
                      <a:tcPr marL="38100" marR="38100" marT="38100" marB="38100"/>
                    </a:tc>
                    <a:extLst>
                      <a:ext uri="{0D108BD9-81ED-4DB2-BD59-A6C34878D82A}">
                        <a16:rowId xmlns:a16="http://schemas.microsoft.com/office/drawing/2014/main" val="257907151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en" sz="2200">
                              <a:effectLst/>
                            </a:rPr>
                            <a:t>engineering</a:t>
                          </a:r>
                        </a:p>
                      </a:txBody>
                      <a:tcPr marL="38100" marR="38100" marT="38100" marB="38100"/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he-IL" sz="2200" dirty="0">
                              <a:effectLst/>
                            </a:rPr>
                            <a:t>2</a:t>
                          </a:r>
                        </a:p>
                      </a:txBody>
                      <a:tcPr marL="38100" marR="38100" marT="38100" marB="38100"/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en-US" sz="2200" dirty="0">
                              <a:effectLst/>
                            </a:rPr>
                            <a:t>0.736</a:t>
                          </a:r>
                          <a:endParaRPr lang="he-IL" sz="2200" dirty="0">
                            <a:effectLst/>
                          </a:endParaRPr>
                        </a:p>
                      </a:txBody>
                      <a:tcPr marL="38100" marR="38100" marT="38100" marB="38100"/>
                    </a:tc>
                    <a:extLst>
                      <a:ext uri="{0D108BD9-81ED-4DB2-BD59-A6C34878D82A}">
                        <a16:rowId xmlns:a16="http://schemas.microsoft.com/office/drawing/2014/main" val="171879704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en" sz="2200">
                              <a:effectLst/>
                            </a:rPr>
                            <a:t>builds</a:t>
                          </a:r>
                        </a:p>
                      </a:txBody>
                      <a:tcPr marL="38100" marR="38100" marT="38100" marB="38100"/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he-IL" sz="2200">
                              <a:effectLst/>
                            </a:rPr>
                            <a:t>1</a:t>
                          </a:r>
                        </a:p>
                      </a:txBody>
                      <a:tcPr marL="38100" marR="38100" marT="38100" marB="38100"/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en-US" sz="2200" dirty="0">
                              <a:effectLst/>
                            </a:rPr>
                            <a:t>1.321</a:t>
                          </a:r>
                          <a:endParaRPr lang="he-IL" sz="2200" dirty="0">
                            <a:effectLst/>
                          </a:endParaRPr>
                        </a:p>
                      </a:txBody>
                      <a:tcPr marL="38100" marR="38100" marT="38100" marB="38100"/>
                    </a:tc>
                    <a:extLst>
                      <a:ext uri="{0D108BD9-81ED-4DB2-BD59-A6C34878D82A}">
                        <a16:rowId xmlns:a16="http://schemas.microsoft.com/office/drawing/2014/main" val="174085540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en" sz="2200">
                              <a:effectLst/>
                            </a:rPr>
                            <a:t>pipelines</a:t>
                          </a:r>
                        </a:p>
                      </a:txBody>
                      <a:tcPr marL="38100" marR="38100" marT="38100" marB="38100"/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he-IL" sz="2200">
                              <a:effectLst/>
                            </a:rPr>
                            <a:t>2</a:t>
                          </a:r>
                        </a:p>
                      </a:txBody>
                      <a:tcPr marL="38100" marR="38100" marT="38100" marB="38100"/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en-US" sz="2200" dirty="0">
                              <a:effectLst/>
                            </a:rPr>
                            <a:t>0.736</a:t>
                          </a:r>
                          <a:endParaRPr lang="he-IL" sz="2200" dirty="0">
                            <a:effectLst/>
                          </a:endParaRPr>
                        </a:p>
                      </a:txBody>
                      <a:tcPr marL="38100" marR="38100" marT="38100" marB="38100"/>
                    </a:tc>
                    <a:extLst>
                      <a:ext uri="{0D108BD9-81ED-4DB2-BD59-A6C34878D82A}">
                        <a16:rowId xmlns:a16="http://schemas.microsoft.com/office/drawing/2014/main" val="401587600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en" sz="2200">
                              <a:effectLst/>
                            </a:rPr>
                            <a:t>experiments</a:t>
                          </a:r>
                        </a:p>
                      </a:txBody>
                      <a:tcPr marL="38100" marR="38100" marT="38100" marB="38100"/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he-IL" sz="2200">
                              <a:effectLst/>
                            </a:rPr>
                            <a:t>1</a:t>
                          </a:r>
                        </a:p>
                      </a:txBody>
                      <a:tcPr marL="38100" marR="38100" marT="38100" marB="38100"/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en-US" sz="2200" dirty="0">
                              <a:effectLst/>
                            </a:rPr>
                            <a:t>1.321</a:t>
                          </a:r>
                          <a:endParaRPr lang="he-IL" sz="2200" dirty="0">
                            <a:effectLst/>
                          </a:endParaRPr>
                        </a:p>
                      </a:txBody>
                      <a:tcPr marL="38100" marR="38100" marT="38100" marB="38100"/>
                    </a:tc>
                    <a:extLst>
                      <a:ext uri="{0D108BD9-81ED-4DB2-BD59-A6C34878D82A}">
                        <a16:rowId xmlns:a16="http://schemas.microsoft.com/office/drawing/2014/main" val="27084448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טבלה 6">
                <a:extLst>
                  <a:ext uri="{FF2B5EF4-FFF2-40B4-BE49-F238E27FC236}">
                    <a16:creationId xmlns:a16="http://schemas.microsoft.com/office/drawing/2014/main" id="{7235451A-3ABC-EFE5-F5D5-B7A43BD2BAF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5683190"/>
                  </p:ext>
                </p:extLst>
              </p:nvPr>
            </p:nvGraphicFramePr>
            <p:xfrm>
              <a:off x="1996556" y="2387241"/>
              <a:ext cx="8251311" cy="3600387"/>
            </p:xfrm>
            <a:graphic>
              <a:graphicData uri="http://schemas.openxmlformats.org/drawingml/2006/table">
                <a:tbl>
                  <a:tblPr/>
                  <a:tblGrid>
                    <a:gridCol w="1988298">
                      <a:extLst>
                        <a:ext uri="{9D8B030D-6E8A-4147-A177-3AD203B41FA5}">
                          <a16:colId xmlns:a16="http://schemas.microsoft.com/office/drawing/2014/main" val="2454578159"/>
                        </a:ext>
                      </a:extLst>
                    </a:gridCol>
                    <a:gridCol w="1853852">
                      <a:extLst>
                        <a:ext uri="{9D8B030D-6E8A-4147-A177-3AD203B41FA5}">
                          <a16:colId xmlns:a16="http://schemas.microsoft.com/office/drawing/2014/main" val="3498401051"/>
                        </a:ext>
                      </a:extLst>
                    </a:gridCol>
                    <a:gridCol w="4409161">
                      <a:extLst>
                        <a:ext uri="{9D8B030D-6E8A-4147-A177-3AD203B41FA5}">
                          <a16:colId xmlns:a16="http://schemas.microsoft.com/office/drawing/2014/main" val="121676309"/>
                        </a:ext>
                      </a:extLst>
                    </a:gridCol>
                  </a:tblGrid>
                  <a:tr h="411480"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en" sz="2200" b="1">
                              <a:effectLst/>
                            </a:rPr>
                            <a:t>Term</a:t>
                          </a:r>
                          <a:endParaRPr lang="en" sz="2200" b="1">
                            <a:solidFill>
                              <a:srgbClr val="1A1C1F"/>
                            </a:solidFill>
                            <a:effectLst/>
                          </a:endParaRPr>
                        </a:p>
                      </a:txBody>
                      <a:tcPr marL="38100" marR="38100" marT="38100" marB="38100"/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en" sz="2200" b="1">
                              <a:effectLst/>
                            </a:rPr>
                            <a:t>df</a:t>
                          </a:r>
                          <a:endParaRPr lang="en" sz="2200" b="1">
                            <a:solidFill>
                              <a:srgbClr val="1A1C1F"/>
                            </a:solidFill>
                            <a:effectLst/>
                          </a:endParaRPr>
                        </a:p>
                      </a:txBody>
                      <a:tcPr marL="38100" marR="38100" marT="38100" marB="38100"/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en" sz="2200" b="1" dirty="0">
                              <a:effectLst/>
                            </a:rPr>
                            <a:t>IDF</a:t>
                          </a:r>
                          <a:endParaRPr lang="en" sz="2200" b="1" dirty="0">
                            <a:solidFill>
                              <a:srgbClr val="1A1C1F"/>
                            </a:solidFill>
                            <a:effectLst/>
                          </a:endParaRPr>
                        </a:p>
                      </a:txBody>
                      <a:tcPr marL="38100" marR="38100" marT="38100" marB="38100"/>
                    </a:tc>
                    <a:extLst>
                      <a:ext uri="{0D108BD9-81ED-4DB2-BD59-A6C34878D82A}">
                        <a16:rowId xmlns:a16="http://schemas.microsoft.com/office/drawing/2014/main" val="1398871698"/>
                      </a:ext>
                    </a:extLst>
                  </a:tr>
                  <a:tr h="720027"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en" sz="2200">
                              <a:effectLst/>
                            </a:rPr>
                            <a:t>data</a:t>
                          </a:r>
                        </a:p>
                      </a:txBody>
                      <a:tcPr marL="38100" marR="38100" marT="38100" marB="38100"/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he-IL" sz="2200" dirty="0">
                              <a:effectLst/>
                            </a:rPr>
                            <a:t>3</a:t>
                          </a:r>
                        </a:p>
                      </a:txBody>
                      <a:tcPr marL="38100" marR="38100" marT="38100" marB="38100"/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 marL="38100" marR="38100" marT="38100" marB="38100">
                        <a:blipFill>
                          <a:blip r:embed="rId4"/>
                          <a:stretch>
                            <a:fillRect l="-87608" t="-63158" r="-576" b="-3596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62493752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en" sz="2200">
                              <a:effectLst/>
                            </a:rPr>
                            <a:t>science</a:t>
                          </a:r>
                        </a:p>
                      </a:txBody>
                      <a:tcPr marL="38100" marR="38100" marT="38100" marB="38100"/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he-IL" sz="2200">
                              <a:effectLst/>
                            </a:rPr>
                            <a:t>2</a:t>
                          </a:r>
                        </a:p>
                      </a:txBody>
                      <a:tcPr marL="38100" marR="38100" marT="38100" marB="38100"/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en-US" sz="2200" dirty="0">
                              <a:effectLst/>
                            </a:rPr>
                            <a:t>0.736</a:t>
                          </a:r>
                          <a:endParaRPr lang="he-IL" sz="2200" dirty="0">
                            <a:effectLst/>
                          </a:endParaRPr>
                        </a:p>
                      </a:txBody>
                      <a:tcPr marL="38100" marR="38100" marT="38100" marB="38100"/>
                    </a:tc>
                    <a:extLst>
                      <a:ext uri="{0D108BD9-81ED-4DB2-BD59-A6C34878D82A}">
                        <a16:rowId xmlns:a16="http://schemas.microsoft.com/office/drawing/2014/main" val="982782923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en" sz="2200">
                              <a:effectLst/>
                            </a:rPr>
                            <a:t>uses</a:t>
                          </a:r>
                        </a:p>
                      </a:txBody>
                      <a:tcPr marL="38100" marR="38100" marT="38100" marB="38100"/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he-IL" sz="2200">
                              <a:effectLst/>
                            </a:rPr>
                            <a:t>3</a:t>
                          </a:r>
                        </a:p>
                      </a:txBody>
                      <a:tcPr marL="38100" marR="38100" marT="38100" marB="38100"/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en-US" sz="2200" dirty="0">
                              <a:effectLst/>
                            </a:rPr>
                            <a:t>0.321</a:t>
                          </a:r>
                          <a:endParaRPr lang="he-IL" sz="2200" dirty="0">
                            <a:effectLst/>
                          </a:endParaRPr>
                        </a:p>
                      </a:txBody>
                      <a:tcPr marL="38100" marR="38100" marT="38100" marB="38100"/>
                    </a:tc>
                    <a:extLst>
                      <a:ext uri="{0D108BD9-81ED-4DB2-BD59-A6C34878D82A}">
                        <a16:rowId xmlns:a16="http://schemas.microsoft.com/office/drawing/2014/main" val="2579071516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en" sz="2200">
                              <a:effectLst/>
                            </a:rPr>
                            <a:t>engineering</a:t>
                          </a:r>
                        </a:p>
                      </a:txBody>
                      <a:tcPr marL="38100" marR="38100" marT="38100" marB="38100"/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he-IL" sz="2200" dirty="0">
                              <a:effectLst/>
                            </a:rPr>
                            <a:t>2</a:t>
                          </a:r>
                        </a:p>
                      </a:txBody>
                      <a:tcPr marL="38100" marR="38100" marT="38100" marB="38100"/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en-US" sz="2200" dirty="0">
                              <a:effectLst/>
                            </a:rPr>
                            <a:t>0.736</a:t>
                          </a:r>
                          <a:endParaRPr lang="he-IL" sz="2200" dirty="0">
                            <a:effectLst/>
                          </a:endParaRPr>
                        </a:p>
                      </a:txBody>
                      <a:tcPr marL="38100" marR="38100" marT="38100" marB="38100"/>
                    </a:tc>
                    <a:extLst>
                      <a:ext uri="{0D108BD9-81ED-4DB2-BD59-A6C34878D82A}">
                        <a16:rowId xmlns:a16="http://schemas.microsoft.com/office/drawing/2014/main" val="1718797047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en" sz="2200">
                              <a:effectLst/>
                            </a:rPr>
                            <a:t>builds</a:t>
                          </a:r>
                        </a:p>
                      </a:txBody>
                      <a:tcPr marL="38100" marR="38100" marT="38100" marB="38100"/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he-IL" sz="2200">
                              <a:effectLst/>
                            </a:rPr>
                            <a:t>1</a:t>
                          </a:r>
                        </a:p>
                      </a:txBody>
                      <a:tcPr marL="38100" marR="38100" marT="38100" marB="38100"/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en-US" sz="2200" dirty="0">
                              <a:effectLst/>
                            </a:rPr>
                            <a:t>1.321</a:t>
                          </a:r>
                          <a:endParaRPr lang="he-IL" sz="2200" dirty="0">
                            <a:effectLst/>
                          </a:endParaRPr>
                        </a:p>
                      </a:txBody>
                      <a:tcPr marL="38100" marR="38100" marT="38100" marB="38100"/>
                    </a:tc>
                    <a:extLst>
                      <a:ext uri="{0D108BD9-81ED-4DB2-BD59-A6C34878D82A}">
                        <a16:rowId xmlns:a16="http://schemas.microsoft.com/office/drawing/2014/main" val="1740855404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en" sz="2200">
                              <a:effectLst/>
                            </a:rPr>
                            <a:t>pipelines</a:t>
                          </a:r>
                        </a:p>
                      </a:txBody>
                      <a:tcPr marL="38100" marR="38100" marT="38100" marB="38100"/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he-IL" sz="2200">
                              <a:effectLst/>
                            </a:rPr>
                            <a:t>2</a:t>
                          </a:r>
                        </a:p>
                      </a:txBody>
                      <a:tcPr marL="38100" marR="38100" marT="38100" marB="38100"/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en-US" sz="2200" dirty="0">
                              <a:effectLst/>
                            </a:rPr>
                            <a:t>0.736</a:t>
                          </a:r>
                          <a:endParaRPr lang="he-IL" sz="2200" dirty="0">
                            <a:effectLst/>
                          </a:endParaRPr>
                        </a:p>
                      </a:txBody>
                      <a:tcPr marL="38100" marR="38100" marT="38100" marB="38100"/>
                    </a:tc>
                    <a:extLst>
                      <a:ext uri="{0D108BD9-81ED-4DB2-BD59-A6C34878D82A}">
                        <a16:rowId xmlns:a16="http://schemas.microsoft.com/office/drawing/2014/main" val="4015876008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en" sz="2200">
                              <a:effectLst/>
                            </a:rPr>
                            <a:t>experiments</a:t>
                          </a:r>
                        </a:p>
                      </a:txBody>
                      <a:tcPr marL="38100" marR="38100" marT="38100" marB="38100"/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he-IL" sz="2200">
                              <a:effectLst/>
                            </a:rPr>
                            <a:t>1</a:t>
                          </a:r>
                        </a:p>
                      </a:txBody>
                      <a:tcPr marL="38100" marR="38100" marT="38100" marB="38100"/>
                    </a:tc>
                    <a:tc>
                      <a:txBody>
                        <a:bodyPr/>
                        <a:lstStyle/>
                        <a:p>
                          <a:pPr algn="ctr" fontAlgn="t">
                            <a:buNone/>
                          </a:pPr>
                          <a:r>
                            <a:rPr lang="en-US" sz="2200" dirty="0">
                              <a:effectLst/>
                            </a:rPr>
                            <a:t>1.321</a:t>
                          </a:r>
                          <a:endParaRPr lang="he-IL" sz="2200" dirty="0">
                            <a:effectLst/>
                          </a:endParaRPr>
                        </a:p>
                      </a:txBody>
                      <a:tcPr marL="38100" marR="38100" marT="38100" marB="38100"/>
                    </a:tc>
                    <a:extLst>
                      <a:ext uri="{0D108BD9-81ED-4DB2-BD59-A6C34878D82A}">
                        <a16:rowId xmlns:a16="http://schemas.microsoft.com/office/drawing/2014/main" val="270844485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309677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6006A95-50D3-C009-345B-B66B3FFCB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B69DCC-7BE1-E749-0B54-024184A6F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134" y="76203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200000"/>
              </a:lnSpc>
            </a:pPr>
            <a:endParaRPr lang="en-US" sz="2400" b="1" dirty="0"/>
          </a:p>
          <a:p>
            <a:pPr algn="ctr">
              <a:lnSpc>
                <a:spcPct val="200000"/>
              </a:lnSpc>
            </a:pPr>
            <a:endParaRPr lang="en-US" sz="2400" b="1" dirty="0"/>
          </a:p>
          <a:p>
            <a:pPr>
              <a:lnSpc>
                <a:spcPct val="200000"/>
              </a:lnSpc>
            </a:pPr>
            <a:r>
              <a:rPr lang="en-US" sz="2400" b="1" dirty="0"/>
              <a:t>		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852148-BA59-4C1B-E560-146F23B3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17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ED38E-A997-BFAA-8B0E-6487B38CC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EB26859-D387-DC70-97B5-25F277CE9573}"/>
              </a:ext>
            </a:extLst>
          </p:cNvPr>
          <p:cNvSpPr txBox="1">
            <a:spLocks/>
          </p:cNvSpPr>
          <p:nvPr/>
        </p:nvSpPr>
        <p:spPr>
          <a:xfrm>
            <a:off x="609600" y="274638"/>
            <a:ext cx="10972800" cy="1143000"/>
          </a:xfrm>
          <a:prstGeom prst="roundRect">
            <a:avLst/>
          </a:prstGeom>
          <a:ln w="1270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10972800"/>
                      <a:gd name="csY0" fmla="*/ 0 h 1143000"/>
                      <a:gd name="csX1" fmla="*/ 10972800 w 10972800"/>
                      <a:gd name="csY1" fmla="*/ 0 h 1143000"/>
                      <a:gd name="csX2" fmla="*/ 10972800 w 10972800"/>
                      <a:gd name="csY2" fmla="*/ 1143000 h 1143000"/>
                      <a:gd name="csX3" fmla="*/ 0 w 10972800"/>
                      <a:gd name="csY3" fmla="*/ 1143000 h 1143000"/>
                      <a:gd name="csX4" fmla="*/ 0 w 10972800"/>
                      <a:gd name="csY4" fmla="*/ 0 h 11430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10972800" h="1143000" fill="none" extrusionOk="0">
                        <a:moveTo>
                          <a:pt x="0" y="0"/>
                        </a:moveTo>
                        <a:cubicBezTo>
                          <a:pt x="4674310" y="-49533"/>
                          <a:pt x="6929254" y="-14809"/>
                          <a:pt x="10972800" y="0"/>
                        </a:cubicBezTo>
                        <a:cubicBezTo>
                          <a:pt x="10969069" y="570730"/>
                          <a:pt x="11062171" y="914526"/>
                          <a:pt x="10972800" y="1143000"/>
                        </a:cubicBezTo>
                        <a:cubicBezTo>
                          <a:pt x="6482996" y="1094769"/>
                          <a:pt x="3552735" y="1227455"/>
                          <a:pt x="0" y="1143000"/>
                        </a:cubicBezTo>
                        <a:cubicBezTo>
                          <a:pt x="69309" y="672287"/>
                          <a:pt x="-28229" y="279082"/>
                          <a:pt x="0" y="0"/>
                        </a:cubicBezTo>
                        <a:close/>
                      </a:path>
                      <a:path w="10972800" h="1143000" stroke="0" extrusionOk="0">
                        <a:moveTo>
                          <a:pt x="0" y="0"/>
                        </a:moveTo>
                        <a:cubicBezTo>
                          <a:pt x="3528079" y="118645"/>
                          <a:pt x="9610931" y="116012"/>
                          <a:pt x="10972800" y="0"/>
                        </a:cubicBezTo>
                        <a:cubicBezTo>
                          <a:pt x="11055528" y="134374"/>
                          <a:pt x="10882381" y="1028043"/>
                          <a:pt x="10972800" y="1143000"/>
                        </a:cubicBezTo>
                        <a:cubicBezTo>
                          <a:pt x="8799093" y="1277600"/>
                          <a:pt x="3316512" y="985804"/>
                          <a:pt x="0" y="1143000"/>
                        </a:cubicBezTo>
                        <a:cubicBezTo>
                          <a:pt x="94203" y="956839"/>
                          <a:pt x="-18710" y="28947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ctr">
            <a:normAutofit/>
          </a:bodyPr>
          <a:lstStyle>
            <a:lvl1pPr lvl="0" indent="0" algn="ctr">
              <a:spcBef>
                <a:spcPct val="0"/>
              </a:spcBef>
              <a:buNone/>
              <a:defRPr sz="3400"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" dirty="0"/>
              <a:t>Step 4: TF-IDF</a:t>
            </a:r>
          </a:p>
        </p:txBody>
      </p:sp>
      <p:graphicFrame>
        <p:nvGraphicFramePr>
          <p:cNvPr id="3" name="טבלה 2">
            <a:extLst>
              <a:ext uri="{FF2B5EF4-FFF2-40B4-BE49-F238E27FC236}">
                <a16:creationId xmlns:a16="http://schemas.microsoft.com/office/drawing/2014/main" id="{AEF19399-0DDB-A146-700F-D2D1014287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9225183"/>
              </p:ext>
            </p:extLst>
          </p:nvPr>
        </p:nvGraphicFramePr>
        <p:xfrm>
          <a:off x="1891430" y="1889560"/>
          <a:ext cx="7840475" cy="3254416"/>
        </p:xfrm>
        <a:graphic>
          <a:graphicData uri="http://schemas.openxmlformats.org/drawingml/2006/table">
            <a:tbl>
              <a:tblPr/>
              <a:tblGrid>
                <a:gridCol w="1568095">
                  <a:extLst>
                    <a:ext uri="{9D8B030D-6E8A-4147-A177-3AD203B41FA5}">
                      <a16:colId xmlns:a16="http://schemas.microsoft.com/office/drawing/2014/main" val="4006791628"/>
                    </a:ext>
                  </a:extLst>
                </a:gridCol>
                <a:gridCol w="1568095">
                  <a:extLst>
                    <a:ext uri="{9D8B030D-6E8A-4147-A177-3AD203B41FA5}">
                      <a16:colId xmlns:a16="http://schemas.microsoft.com/office/drawing/2014/main" val="2400052038"/>
                    </a:ext>
                  </a:extLst>
                </a:gridCol>
                <a:gridCol w="1568095">
                  <a:extLst>
                    <a:ext uri="{9D8B030D-6E8A-4147-A177-3AD203B41FA5}">
                      <a16:colId xmlns:a16="http://schemas.microsoft.com/office/drawing/2014/main" val="563497572"/>
                    </a:ext>
                  </a:extLst>
                </a:gridCol>
                <a:gridCol w="1568095">
                  <a:extLst>
                    <a:ext uri="{9D8B030D-6E8A-4147-A177-3AD203B41FA5}">
                      <a16:colId xmlns:a16="http://schemas.microsoft.com/office/drawing/2014/main" val="3597428852"/>
                    </a:ext>
                  </a:extLst>
                </a:gridCol>
                <a:gridCol w="1568095">
                  <a:extLst>
                    <a:ext uri="{9D8B030D-6E8A-4147-A177-3AD203B41FA5}">
                      <a16:colId xmlns:a16="http://schemas.microsoft.com/office/drawing/2014/main" val="2647148317"/>
                    </a:ext>
                  </a:extLst>
                </a:gridCol>
              </a:tblGrid>
              <a:tr h="40680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2000" b="1" dirty="0">
                          <a:effectLst/>
                        </a:rPr>
                        <a:t>Term</a:t>
                      </a:r>
                      <a:endParaRPr lang="en" sz="2000" b="1" dirty="0">
                        <a:solidFill>
                          <a:srgbClr val="1A1C1F"/>
                        </a:solidFill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2000" b="1" dirty="0">
                          <a:effectLst/>
                        </a:rPr>
                        <a:t>S1</a:t>
                      </a:r>
                      <a:endParaRPr lang="en" sz="2000" b="1" dirty="0">
                        <a:solidFill>
                          <a:srgbClr val="1A1C1F"/>
                        </a:solidFill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2000" b="1" dirty="0">
                          <a:effectLst/>
                        </a:rPr>
                        <a:t>S2</a:t>
                      </a:r>
                      <a:endParaRPr lang="en" sz="2000" b="1" dirty="0">
                        <a:solidFill>
                          <a:srgbClr val="1A1C1F"/>
                        </a:solidFill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2000" b="1" dirty="0">
                          <a:effectLst/>
                        </a:rPr>
                        <a:t>S3</a:t>
                      </a:r>
                      <a:endParaRPr lang="en" sz="2000" b="1" dirty="0">
                        <a:solidFill>
                          <a:srgbClr val="1A1C1F"/>
                        </a:solidFill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2000" b="1" dirty="0">
                          <a:effectLst/>
                        </a:rPr>
                        <a:t>S4</a:t>
                      </a:r>
                      <a:endParaRPr lang="en" sz="2000" b="1" dirty="0">
                        <a:solidFill>
                          <a:srgbClr val="1A1C1F"/>
                        </a:solidFill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217221549"/>
                  </a:ext>
                </a:extLst>
              </a:tr>
              <a:tr h="40680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2000" b="1" dirty="0">
                          <a:effectLst/>
                        </a:rPr>
                        <a:t>data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 dirty="0">
                          <a:effectLst/>
                        </a:rPr>
                        <a:t>0.161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 dirty="0">
                          <a:effectLst/>
                        </a:rPr>
                        <a:t>0.080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 dirty="0">
                          <a:effectLst/>
                        </a:rPr>
                        <a:t>0.080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197079664"/>
                  </a:ext>
                </a:extLst>
              </a:tr>
              <a:tr h="40680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2000" b="1" dirty="0">
                          <a:effectLst/>
                        </a:rPr>
                        <a:t>science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>
                          <a:effectLst/>
                        </a:rPr>
                        <a:t>0.184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>
                          <a:effectLst/>
                        </a:rPr>
                        <a:t>0.245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 dirty="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037572192"/>
                  </a:ext>
                </a:extLst>
              </a:tr>
              <a:tr h="40680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2000" b="1" dirty="0">
                          <a:effectLst/>
                        </a:rPr>
                        <a:t>uses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>
                          <a:effectLst/>
                        </a:rPr>
                        <a:t>0.080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>
                          <a:effectLst/>
                        </a:rPr>
                        <a:t>0.107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 dirty="0">
                          <a:effectLst/>
                        </a:rPr>
                        <a:t>0.080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289610721"/>
                  </a:ext>
                </a:extLst>
              </a:tr>
              <a:tr h="40680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2000" b="1" dirty="0">
                          <a:effectLst/>
                        </a:rPr>
                        <a:t>engineering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 dirty="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>
                          <a:effectLst/>
                        </a:rPr>
                        <a:t>0.184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 dirty="0">
                          <a:effectLst/>
                        </a:rPr>
                        <a:t>0.184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4615925"/>
                  </a:ext>
                </a:extLst>
              </a:tr>
              <a:tr h="40680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2000" b="1" dirty="0">
                          <a:effectLst/>
                        </a:rPr>
                        <a:t>builds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>
                          <a:effectLst/>
                        </a:rPr>
                        <a:t>0.330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 dirty="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357482550"/>
                  </a:ext>
                </a:extLst>
              </a:tr>
              <a:tr h="40680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2000" b="1" dirty="0">
                          <a:effectLst/>
                        </a:rPr>
                        <a:t>pipelines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>
                          <a:effectLst/>
                        </a:rPr>
                        <a:t>0.184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 dirty="0">
                          <a:effectLst/>
                        </a:rPr>
                        <a:t>0.184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523463004"/>
                  </a:ext>
                </a:extLst>
              </a:tr>
              <a:tr h="40680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2000" b="1" dirty="0">
                          <a:effectLst/>
                        </a:rPr>
                        <a:t>experiments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>
                          <a:effectLst/>
                        </a:rPr>
                        <a:t>0.440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 dirty="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1301748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35865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8BD2D9B-252B-D6E4-B4F5-84BF1050D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143971-1DCC-0489-F102-5F723A560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134" y="76203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200000"/>
              </a:lnSpc>
            </a:pPr>
            <a:endParaRPr lang="en-US" sz="2400" b="1" dirty="0"/>
          </a:p>
          <a:p>
            <a:pPr algn="ctr">
              <a:lnSpc>
                <a:spcPct val="200000"/>
              </a:lnSpc>
            </a:pPr>
            <a:endParaRPr lang="en-US" sz="2400" b="1" dirty="0"/>
          </a:p>
          <a:p>
            <a:pPr>
              <a:lnSpc>
                <a:spcPct val="200000"/>
              </a:lnSpc>
            </a:pPr>
            <a:r>
              <a:rPr lang="en-US" sz="2400" b="1" dirty="0"/>
              <a:t>		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0ECB86-45C9-235E-1270-734FC9323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18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9A086E-474A-DF2D-4B1C-B8D6BC140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E9ECCB2-FF3C-8F1F-F26D-8F9A9CE952E6}"/>
              </a:ext>
            </a:extLst>
          </p:cNvPr>
          <p:cNvSpPr txBox="1">
            <a:spLocks/>
          </p:cNvSpPr>
          <p:nvPr/>
        </p:nvSpPr>
        <p:spPr>
          <a:xfrm>
            <a:off x="609600" y="274638"/>
            <a:ext cx="10972800" cy="1143000"/>
          </a:xfrm>
          <a:prstGeom prst="roundRect">
            <a:avLst/>
          </a:prstGeom>
          <a:ln w="1270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10972800"/>
                      <a:gd name="csY0" fmla="*/ 0 h 1143000"/>
                      <a:gd name="csX1" fmla="*/ 10972800 w 10972800"/>
                      <a:gd name="csY1" fmla="*/ 0 h 1143000"/>
                      <a:gd name="csX2" fmla="*/ 10972800 w 10972800"/>
                      <a:gd name="csY2" fmla="*/ 1143000 h 1143000"/>
                      <a:gd name="csX3" fmla="*/ 0 w 10972800"/>
                      <a:gd name="csY3" fmla="*/ 1143000 h 1143000"/>
                      <a:gd name="csX4" fmla="*/ 0 w 10972800"/>
                      <a:gd name="csY4" fmla="*/ 0 h 11430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10972800" h="1143000" fill="none" extrusionOk="0">
                        <a:moveTo>
                          <a:pt x="0" y="0"/>
                        </a:moveTo>
                        <a:cubicBezTo>
                          <a:pt x="4674310" y="-49533"/>
                          <a:pt x="6929254" y="-14809"/>
                          <a:pt x="10972800" y="0"/>
                        </a:cubicBezTo>
                        <a:cubicBezTo>
                          <a:pt x="10969069" y="570730"/>
                          <a:pt x="11062171" y="914526"/>
                          <a:pt x="10972800" y="1143000"/>
                        </a:cubicBezTo>
                        <a:cubicBezTo>
                          <a:pt x="6482996" y="1094769"/>
                          <a:pt x="3552735" y="1227455"/>
                          <a:pt x="0" y="1143000"/>
                        </a:cubicBezTo>
                        <a:cubicBezTo>
                          <a:pt x="69309" y="672287"/>
                          <a:pt x="-28229" y="279082"/>
                          <a:pt x="0" y="0"/>
                        </a:cubicBezTo>
                        <a:close/>
                      </a:path>
                      <a:path w="10972800" h="1143000" stroke="0" extrusionOk="0">
                        <a:moveTo>
                          <a:pt x="0" y="0"/>
                        </a:moveTo>
                        <a:cubicBezTo>
                          <a:pt x="3528079" y="118645"/>
                          <a:pt x="9610931" y="116012"/>
                          <a:pt x="10972800" y="0"/>
                        </a:cubicBezTo>
                        <a:cubicBezTo>
                          <a:pt x="11055528" y="134374"/>
                          <a:pt x="10882381" y="1028043"/>
                          <a:pt x="10972800" y="1143000"/>
                        </a:cubicBezTo>
                        <a:cubicBezTo>
                          <a:pt x="8799093" y="1277600"/>
                          <a:pt x="3316512" y="985804"/>
                          <a:pt x="0" y="1143000"/>
                        </a:cubicBezTo>
                        <a:cubicBezTo>
                          <a:pt x="94203" y="956839"/>
                          <a:pt x="-18710" y="28947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ctr">
            <a:normAutofit/>
          </a:bodyPr>
          <a:lstStyle>
            <a:lvl1pPr lvl="0" indent="0" algn="ctr">
              <a:spcBef>
                <a:spcPct val="0"/>
              </a:spcBef>
              <a:buNone/>
              <a:defRPr sz="3400"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" dirty="0"/>
              <a:t>Step 4: TF-IDF</a:t>
            </a:r>
          </a:p>
        </p:txBody>
      </p:sp>
      <p:graphicFrame>
        <p:nvGraphicFramePr>
          <p:cNvPr id="3" name="טבלה 2">
            <a:extLst>
              <a:ext uri="{FF2B5EF4-FFF2-40B4-BE49-F238E27FC236}">
                <a16:creationId xmlns:a16="http://schemas.microsoft.com/office/drawing/2014/main" id="{083F61A2-D330-BEB1-260F-3751323CD4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2887708"/>
              </p:ext>
            </p:extLst>
          </p:nvPr>
        </p:nvGraphicFramePr>
        <p:xfrm>
          <a:off x="1891430" y="1889560"/>
          <a:ext cx="7840475" cy="3254416"/>
        </p:xfrm>
        <a:graphic>
          <a:graphicData uri="http://schemas.openxmlformats.org/drawingml/2006/table">
            <a:tbl>
              <a:tblPr/>
              <a:tblGrid>
                <a:gridCol w="1568095">
                  <a:extLst>
                    <a:ext uri="{9D8B030D-6E8A-4147-A177-3AD203B41FA5}">
                      <a16:colId xmlns:a16="http://schemas.microsoft.com/office/drawing/2014/main" val="4006791628"/>
                    </a:ext>
                  </a:extLst>
                </a:gridCol>
                <a:gridCol w="1568095">
                  <a:extLst>
                    <a:ext uri="{9D8B030D-6E8A-4147-A177-3AD203B41FA5}">
                      <a16:colId xmlns:a16="http://schemas.microsoft.com/office/drawing/2014/main" val="2400052038"/>
                    </a:ext>
                  </a:extLst>
                </a:gridCol>
                <a:gridCol w="1568095">
                  <a:extLst>
                    <a:ext uri="{9D8B030D-6E8A-4147-A177-3AD203B41FA5}">
                      <a16:colId xmlns:a16="http://schemas.microsoft.com/office/drawing/2014/main" val="563497572"/>
                    </a:ext>
                  </a:extLst>
                </a:gridCol>
                <a:gridCol w="1568095">
                  <a:extLst>
                    <a:ext uri="{9D8B030D-6E8A-4147-A177-3AD203B41FA5}">
                      <a16:colId xmlns:a16="http://schemas.microsoft.com/office/drawing/2014/main" val="3597428852"/>
                    </a:ext>
                  </a:extLst>
                </a:gridCol>
                <a:gridCol w="1568095">
                  <a:extLst>
                    <a:ext uri="{9D8B030D-6E8A-4147-A177-3AD203B41FA5}">
                      <a16:colId xmlns:a16="http://schemas.microsoft.com/office/drawing/2014/main" val="2647148317"/>
                    </a:ext>
                  </a:extLst>
                </a:gridCol>
              </a:tblGrid>
              <a:tr h="40680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2000" b="1" dirty="0">
                          <a:effectLst/>
                        </a:rPr>
                        <a:t>Term</a:t>
                      </a:r>
                      <a:endParaRPr lang="en" sz="2000" b="1" dirty="0">
                        <a:solidFill>
                          <a:srgbClr val="1A1C1F"/>
                        </a:solidFill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2000" b="1" dirty="0">
                          <a:effectLst/>
                        </a:rPr>
                        <a:t>S1</a:t>
                      </a:r>
                      <a:endParaRPr lang="en" sz="2000" b="1" dirty="0">
                        <a:solidFill>
                          <a:srgbClr val="1A1C1F"/>
                        </a:solidFill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2000" b="1" dirty="0">
                          <a:effectLst/>
                        </a:rPr>
                        <a:t>S2</a:t>
                      </a:r>
                      <a:endParaRPr lang="en" sz="2000" b="1" dirty="0">
                        <a:solidFill>
                          <a:srgbClr val="1A1C1F"/>
                        </a:solidFill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2000" b="1" dirty="0">
                          <a:effectLst/>
                        </a:rPr>
                        <a:t>S3</a:t>
                      </a:r>
                      <a:endParaRPr lang="en" sz="2000" b="1" dirty="0">
                        <a:solidFill>
                          <a:srgbClr val="1A1C1F"/>
                        </a:solidFill>
                        <a:effectLst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2000" b="1" dirty="0">
                          <a:effectLst/>
                        </a:rPr>
                        <a:t>S4</a:t>
                      </a:r>
                      <a:endParaRPr lang="en" sz="2000" b="1" dirty="0">
                        <a:solidFill>
                          <a:srgbClr val="1A1C1F"/>
                        </a:solidFill>
                        <a:effectLst/>
                      </a:endParaRP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2217221549"/>
                  </a:ext>
                </a:extLst>
              </a:tr>
              <a:tr h="40680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2000" b="1" dirty="0">
                          <a:effectLst/>
                        </a:rPr>
                        <a:t>data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 dirty="0">
                          <a:solidFill>
                            <a:srgbClr val="FF0000"/>
                          </a:solidFill>
                          <a:effectLst/>
                        </a:rPr>
                        <a:t>0.161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 dirty="0">
                          <a:solidFill>
                            <a:srgbClr val="FF0000"/>
                          </a:solidFill>
                          <a:effectLst/>
                        </a:rPr>
                        <a:t>0.080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 dirty="0">
                          <a:solidFill>
                            <a:srgbClr val="FF0000"/>
                          </a:solidFill>
                          <a:effectLst/>
                        </a:rPr>
                        <a:t>0.080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197079664"/>
                  </a:ext>
                </a:extLst>
              </a:tr>
              <a:tr h="40680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2000" b="1" dirty="0">
                          <a:effectLst/>
                        </a:rPr>
                        <a:t>science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 dirty="0">
                          <a:solidFill>
                            <a:srgbClr val="FF0000"/>
                          </a:solidFill>
                          <a:effectLst/>
                        </a:rPr>
                        <a:t>0.184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 dirty="0">
                          <a:solidFill>
                            <a:srgbClr val="FF0000"/>
                          </a:solidFill>
                          <a:effectLst/>
                        </a:rPr>
                        <a:t>0.245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 dirty="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037572192"/>
                  </a:ext>
                </a:extLst>
              </a:tr>
              <a:tr h="40680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2000" b="1" dirty="0">
                          <a:effectLst/>
                        </a:rPr>
                        <a:t>uses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 dirty="0">
                          <a:solidFill>
                            <a:srgbClr val="FF0000"/>
                          </a:solidFill>
                          <a:effectLst/>
                        </a:rPr>
                        <a:t>0.080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 dirty="0">
                          <a:solidFill>
                            <a:srgbClr val="FF0000"/>
                          </a:solidFill>
                          <a:effectLst/>
                        </a:rPr>
                        <a:t>0.107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 dirty="0">
                          <a:solidFill>
                            <a:srgbClr val="FF0000"/>
                          </a:solidFill>
                          <a:effectLst/>
                        </a:rPr>
                        <a:t>0.080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289610721"/>
                  </a:ext>
                </a:extLst>
              </a:tr>
              <a:tr h="40680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2000" b="1" dirty="0">
                          <a:effectLst/>
                        </a:rPr>
                        <a:t>engineering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 dirty="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 dirty="0">
                          <a:solidFill>
                            <a:srgbClr val="FF0000"/>
                          </a:solidFill>
                          <a:effectLst/>
                        </a:rPr>
                        <a:t>0.184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 dirty="0">
                          <a:solidFill>
                            <a:srgbClr val="FF0000"/>
                          </a:solidFill>
                          <a:effectLst/>
                        </a:rPr>
                        <a:t>0.184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4615925"/>
                  </a:ext>
                </a:extLst>
              </a:tr>
              <a:tr h="40680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2000" b="1" dirty="0">
                          <a:effectLst/>
                        </a:rPr>
                        <a:t>builds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 dirty="0">
                          <a:solidFill>
                            <a:srgbClr val="FF0000"/>
                          </a:solidFill>
                          <a:effectLst/>
                        </a:rPr>
                        <a:t>0.330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 dirty="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357482550"/>
                  </a:ext>
                </a:extLst>
              </a:tr>
              <a:tr h="40680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2000" b="1" dirty="0">
                          <a:effectLst/>
                        </a:rPr>
                        <a:t>pipelines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 dirty="0">
                          <a:solidFill>
                            <a:srgbClr val="FF0000"/>
                          </a:solidFill>
                          <a:effectLst/>
                        </a:rPr>
                        <a:t>0.184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 dirty="0">
                          <a:solidFill>
                            <a:srgbClr val="FF0000"/>
                          </a:solidFill>
                          <a:effectLst/>
                        </a:rPr>
                        <a:t>0.184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3523463004"/>
                  </a:ext>
                </a:extLst>
              </a:tr>
              <a:tr h="40680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" sz="2000" b="1" dirty="0">
                          <a:effectLst/>
                        </a:rPr>
                        <a:t>experiments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 dirty="0">
                          <a:solidFill>
                            <a:srgbClr val="FF0000"/>
                          </a:solidFill>
                          <a:effectLst/>
                        </a:rPr>
                        <a:t>0.440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2000" dirty="0">
                          <a:effectLst/>
                        </a:rPr>
                        <a:t>0</a:t>
                      </a:r>
                    </a:p>
                  </a:txBody>
                  <a:tcPr marL="38100" marR="38100" marT="38100" marB="38100"/>
                </a:tc>
                <a:extLst>
                  <a:ext uri="{0D108BD9-81ED-4DB2-BD59-A6C34878D82A}">
                    <a16:rowId xmlns:a16="http://schemas.microsoft.com/office/drawing/2014/main" val="11301748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56137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95FEB52-B91A-DF26-3A25-099509656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E4C736-AEDD-740A-69A9-49AD1C797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134" y="76203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200000"/>
              </a:lnSpc>
            </a:pPr>
            <a:endParaRPr lang="en-US" sz="2400" b="1" dirty="0"/>
          </a:p>
          <a:p>
            <a:pPr algn="ctr">
              <a:lnSpc>
                <a:spcPct val="200000"/>
              </a:lnSpc>
            </a:pPr>
            <a:endParaRPr lang="en-US" sz="2400" b="1" dirty="0"/>
          </a:p>
          <a:p>
            <a:pPr>
              <a:lnSpc>
                <a:spcPct val="200000"/>
              </a:lnSpc>
            </a:pPr>
            <a:r>
              <a:rPr lang="en-US" sz="2400" b="1" dirty="0"/>
              <a:t>		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DEA963-2F72-0C9D-B2E6-E96A0F2E5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19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E01EA-5A5E-2DAC-C11F-10A56FC94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A371C38-BF4F-C2FA-A778-5B90FFBCE87A}"/>
              </a:ext>
            </a:extLst>
          </p:cNvPr>
          <p:cNvSpPr txBox="1">
            <a:spLocks/>
          </p:cNvSpPr>
          <p:nvPr/>
        </p:nvSpPr>
        <p:spPr>
          <a:xfrm>
            <a:off x="609600" y="274638"/>
            <a:ext cx="10972800" cy="1143000"/>
          </a:xfrm>
          <a:prstGeom prst="roundRect">
            <a:avLst/>
          </a:prstGeom>
          <a:ln w="1270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10972800"/>
                      <a:gd name="csY0" fmla="*/ 0 h 1143000"/>
                      <a:gd name="csX1" fmla="*/ 10972800 w 10972800"/>
                      <a:gd name="csY1" fmla="*/ 0 h 1143000"/>
                      <a:gd name="csX2" fmla="*/ 10972800 w 10972800"/>
                      <a:gd name="csY2" fmla="*/ 1143000 h 1143000"/>
                      <a:gd name="csX3" fmla="*/ 0 w 10972800"/>
                      <a:gd name="csY3" fmla="*/ 1143000 h 1143000"/>
                      <a:gd name="csX4" fmla="*/ 0 w 10972800"/>
                      <a:gd name="csY4" fmla="*/ 0 h 11430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10972800" h="1143000" fill="none" extrusionOk="0">
                        <a:moveTo>
                          <a:pt x="0" y="0"/>
                        </a:moveTo>
                        <a:cubicBezTo>
                          <a:pt x="4674310" y="-49533"/>
                          <a:pt x="6929254" y="-14809"/>
                          <a:pt x="10972800" y="0"/>
                        </a:cubicBezTo>
                        <a:cubicBezTo>
                          <a:pt x="10969069" y="570730"/>
                          <a:pt x="11062171" y="914526"/>
                          <a:pt x="10972800" y="1143000"/>
                        </a:cubicBezTo>
                        <a:cubicBezTo>
                          <a:pt x="6482996" y="1094769"/>
                          <a:pt x="3552735" y="1227455"/>
                          <a:pt x="0" y="1143000"/>
                        </a:cubicBezTo>
                        <a:cubicBezTo>
                          <a:pt x="69309" y="672287"/>
                          <a:pt x="-28229" y="279082"/>
                          <a:pt x="0" y="0"/>
                        </a:cubicBezTo>
                        <a:close/>
                      </a:path>
                      <a:path w="10972800" h="1143000" stroke="0" extrusionOk="0">
                        <a:moveTo>
                          <a:pt x="0" y="0"/>
                        </a:moveTo>
                        <a:cubicBezTo>
                          <a:pt x="3528079" y="118645"/>
                          <a:pt x="9610931" y="116012"/>
                          <a:pt x="10972800" y="0"/>
                        </a:cubicBezTo>
                        <a:cubicBezTo>
                          <a:pt x="11055528" y="134374"/>
                          <a:pt x="10882381" y="1028043"/>
                          <a:pt x="10972800" y="1143000"/>
                        </a:cubicBezTo>
                        <a:cubicBezTo>
                          <a:pt x="8799093" y="1277600"/>
                          <a:pt x="3316512" y="985804"/>
                          <a:pt x="0" y="1143000"/>
                        </a:cubicBezTo>
                        <a:cubicBezTo>
                          <a:pt x="94203" y="956839"/>
                          <a:pt x="-18710" y="28947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vert="horz" lIns="91440" tIns="45720" rIns="91440" bIns="45720" rtlCol="0" anchor="ctr">
            <a:normAutofit/>
          </a:bodyPr>
          <a:lstStyle>
            <a:lvl1pPr lvl="0" indent="0" algn="ctr">
              <a:spcBef>
                <a:spcPct val="0"/>
              </a:spcBef>
              <a:buNone/>
              <a:defRPr sz="3400"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" dirty="0"/>
              <a:t>Distributed TF-IDF</a:t>
            </a:r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E510DA59-3B12-4D55-6577-32730FFD58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81" t="14424" r="1461" b="2490"/>
          <a:stretch>
            <a:fillRect/>
          </a:stretch>
        </p:blipFill>
        <p:spPr>
          <a:xfrm>
            <a:off x="1411550" y="1704638"/>
            <a:ext cx="8788894" cy="420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4311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Task 1 Mapper: Word Frequency in Doc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sz="2400" b="1" dirty="0"/>
              <a:t>Mapper</a:t>
            </a:r>
            <a:r>
              <a:rPr sz="2400" dirty="0"/>
              <a:t>:</a:t>
            </a:r>
          </a:p>
          <a:p>
            <a:pPr lvl="0" indent="0">
              <a:buNone/>
            </a:pPr>
            <a:r>
              <a:rPr sz="2400" dirty="0">
                <a:latin typeface="Courier"/>
              </a:rPr>
              <a:t>Input:  (</a:t>
            </a:r>
            <a:r>
              <a:rPr sz="2400" dirty="0" err="1">
                <a:latin typeface="Courier"/>
              </a:rPr>
              <a:t>docname</a:t>
            </a:r>
            <a:r>
              <a:rPr sz="2400" dirty="0">
                <a:latin typeface="Courier"/>
              </a:rPr>
              <a:t>, contents)
Output: ((word, </a:t>
            </a:r>
            <a:r>
              <a:rPr sz="2400" dirty="0" err="1">
                <a:latin typeface="Courier"/>
              </a:rPr>
              <a:t>docname</a:t>
            </a:r>
            <a:r>
              <a:rPr sz="2400" dirty="0">
                <a:latin typeface="Courier"/>
              </a:rPr>
              <a:t>), 1)</a:t>
            </a:r>
          </a:p>
          <a:p>
            <a:pPr marL="0" lvl="0" indent="0">
              <a:buNone/>
            </a:pPr>
            <a:r>
              <a:rPr sz="2400" dirty="0"/>
              <a:t>Example input:</a:t>
            </a:r>
          </a:p>
          <a:p>
            <a:pPr lvl="0" indent="0">
              <a:buNone/>
            </a:pPr>
            <a:r>
              <a:rPr sz="2400" dirty="0">
                <a:latin typeface="Courier"/>
              </a:rPr>
              <a:t>(D1, "data science uses data.")</a:t>
            </a:r>
          </a:p>
          <a:p>
            <a:pPr marL="0" lvl="0" indent="0">
              <a:buNone/>
            </a:pPr>
            <a:r>
              <a:rPr sz="2400" dirty="0"/>
              <a:t>Example output:</a:t>
            </a:r>
          </a:p>
          <a:p>
            <a:pPr lvl="0" indent="0">
              <a:buNone/>
            </a:pPr>
            <a:r>
              <a:rPr sz="2400" dirty="0">
                <a:latin typeface="Courier"/>
              </a:rPr>
              <a:t>((data, D1), 1), ((science, D1), 1),
((uses, D1), 1), ((data, D1), 1)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marL="0" lvl="0" indent="0">
              <a:buNone/>
            </a:pPr>
            <a:r>
              <a:t>Task 1 Reducer: Sum Word Counts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965200" y="1417638"/>
            <a:ext cx="8066657" cy="4357028"/>
          </a:xfrm>
        </p:spPr>
        <p:txBody>
          <a:bodyPr/>
          <a:lstStyle/>
          <a:p>
            <a:pPr marL="0" lvl="0" indent="0">
              <a:buNone/>
            </a:pPr>
            <a:r>
              <a:rPr b="1" dirty="0"/>
              <a:t>Reducer</a:t>
            </a:r>
            <a:r>
              <a:rPr dirty="0"/>
              <a:t>:</a:t>
            </a:r>
          </a:p>
          <a:p>
            <a:pPr lvl="0" indent="0">
              <a:buNone/>
            </a:pPr>
            <a:r>
              <a:rPr dirty="0">
                <a:latin typeface="Courier"/>
              </a:rPr>
              <a:t>Input:  ((word, </a:t>
            </a:r>
            <a:r>
              <a:rPr dirty="0" err="1">
                <a:latin typeface="Courier"/>
              </a:rPr>
              <a:t>docname</a:t>
            </a:r>
            <a:r>
              <a:rPr dirty="0">
                <a:latin typeface="Courier"/>
              </a:rPr>
              <a:t>), [1, 1, ...])
Output: ((word, </a:t>
            </a:r>
            <a:r>
              <a:rPr dirty="0" err="1">
                <a:latin typeface="Courier"/>
              </a:rPr>
              <a:t>docname</a:t>
            </a:r>
            <a:r>
              <a:rPr dirty="0">
                <a:latin typeface="Courier"/>
              </a:rPr>
              <a:t>), n)</a:t>
            </a:r>
          </a:p>
          <a:p>
            <a:pPr marL="0" lvl="0" indent="0">
              <a:buNone/>
            </a:pPr>
            <a:r>
              <a:rPr dirty="0"/>
              <a:t>Example shuffle and reduce: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635433"/>
              </p:ext>
            </p:extLst>
          </p:nvPr>
        </p:nvGraphicFramePr>
        <p:xfrm>
          <a:off x="1939745" y="3616311"/>
          <a:ext cx="7620000" cy="1463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grouped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reducer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(data, D1)</a:t>
                      </a:r>
                      <a:endParaRPr>
                        <a:latin typeface="Couri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[1, 1]</a:t>
                      </a:r>
                      <a:endParaRPr dirty="0">
                        <a:latin typeface="Couri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((data, D1), 2)</a:t>
                      </a:r>
                      <a:endParaRPr dirty="0">
                        <a:latin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(science, D1)</a:t>
                      </a:r>
                      <a:endParaRPr>
                        <a:latin typeface="Couri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[1]</a:t>
                      </a:r>
                      <a:endParaRPr>
                        <a:latin typeface="Couri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((science, D1), 1)</a:t>
                      </a:r>
                      <a:endParaRPr dirty="0">
                        <a:latin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(uses, D1)</a:t>
                      </a:r>
                      <a:endParaRPr>
                        <a:latin typeface="Couri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t>[1]</a:t>
                      </a:r>
                      <a:endParaRPr>
                        <a:latin typeface="Couri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dirty="0"/>
                        <a:t>((uses, D1), 1)</a:t>
                      </a:r>
                      <a:endParaRPr dirty="0">
                        <a:latin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Task 2 Mapper: Group by Document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/>
          <a:p>
            <a:pPr marL="0" lvl="0" indent="0">
              <a:lnSpc>
                <a:spcPct val="150000"/>
              </a:lnSpc>
              <a:buNone/>
            </a:pPr>
            <a:r>
              <a:rPr sz="2200" b="1" dirty="0"/>
              <a:t>Mapper</a:t>
            </a:r>
            <a:r>
              <a:rPr sz="2200" dirty="0"/>
              <a:t>:</a:t>
            </a:r>
          </a:p>
          <a:p>
            <a:pPr lvl="0" indent="0">
              <a:lnSpc>
                <a:spcPct val="150000"/>
              </a:lnSpc>
              <a:buNone/>
            </a:pPr>
            <a:r>
              <a:rPr sz="2200" dirty="0">
                <a:latin typeface="Courier"/>
              </a:rPr>
              <a:t>Input:  ((word, </a:t>
            </a:r>
            <a:r>
              <a:rPr sz="2200" dirty="0" err="1">
                <a:latin typeface="Courier"/>
              </a:rPr>
              <a:t>docname</a:t>
            </a:r>
            <a:r>
              <a:rPr sz="2200" dirty="0">
                <a:latin typeface="Courier"/>
              </a:rPr>
              <a:t>), n)
Output: (</a:t>
            </a:r>
            <a:r>
              <a:rPr sz="2200" dirty="0" err="1">
                <a:latin typeface="Courier"/>
              </a:rPr>
              <a:t>docname</a:t>
            </a:r>
            <a:r>
              <a:rPr sz="2200" dirty="0">
                <a:latin typeface="Courier"/>
              </a:rPr>
              <a:t>, (word, n))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sz="2200" dirty="0"/>
              <a:t>Example input from Task 1:</a:t>
            </a:r>
          </a:p>
          <a:p>
            <a:pPr lvl="0" indent="0">
              <a:lnSpc>
                <a:spcPct val="150000"/>
              </a:lnSpc>
              <a:buNone/>
            </a:pPr>
            <a:r>
              <a:rPr sz="2200" dirty="0">
                <a:latin typeface="Courier"/>
              </a:rPr>
              <a:t>((data, D1), 2), ((science, D1), 1), ((uses, D1), 1)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sz="2200" dirty="0"/>
              <a:t>Example output:</a:t>
            </a:r>
          </a:p>
          <a:p>
            <a:pPr lvl="0" indent="0">
              <a:lnSpc>
                <a:spcPct val="150000"/>
              </a:lnSpc>
              <a:buNone/>
            </a:pPr>
            <a:r>
              <a:rPr sz="2200" dirty="0">
                <a:latin typeface="Courier"/>
              </a:rPr>
              <a:t>(D1, (data, 2)), (D1, (science, 1)), (D1, (uses, 1))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Task 2 Reducer: Add Document Length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" sz="2200" b="1" dirty="0"/>
              <a:t>Reducer</a:t>
            </a:r>
            <a:r>
              <a:rPr sz="2200" dirty="0"/>
              <a:t>:</a:t>
            </a:r>
          </a:p>
          <a:p>
            <a:pPr lvl="0" indent="0">
              <a:buNone/>
            </a:pPr>
            <a:r>
              <a:rPr sz="2200" dirty="0">
                <a:latin typeface="Courier"/>
              </a:rPr>
              <a:t>Input:  (</a:t>
            </a:r>
            <a:r>
              <a:rPr sz="2200" dirty="0" err="1">
                <a:latin typeface="Courier"/>
              </a:rPr>
              <a:t>docname</a:t>
            </a:r>
            <a:r>
              <a:rPr sz="2200" dirty="0">
                <a:latin typeface="Courier"/>
              </a:rPr>
              <a:t>, [(word, n), ...])
Output: ((word, </a:t>
            </a:r>
            <a:r>
              <a:rPr sz="2200" dirty="0" err="1">
                <a:latin typeface="Courier"/>
              </a:rPr>
              <a:t>docname</a:t>
            </a:r>
            <a:r>
              <a:rPr sz="2200" dirty="0">
                <a:latin typeface="Courier"/>
              </a:rPr>
              <a:t>), (n, </a:t>
            </a:r>
            <a:r>
              <a:rPr sz="2200" dirty="0" err="1">
                <a:latin typeface="Courier"/>
              </a:rPr>
              <a:t>doc_len</a:t>
            </a:r>
            <a:r>
              <a:rPr sz="2200" dirty="0">
                <a:latin typeface="Courier"/>
              </a:rPr>
              <a:t>))</a:t>
            </a:r>
          </a:p>
          <a:p>
            <a:pPr marL="0" lvl="0" indent="0">
              <a:buNone/>
            </a:pPr>
            <a:r>
              <a:rPr sz="2200" dirty="0"/>
              <a:t>For D1:</a:t>
            </a:r>
          </a:p>
          <a:p>
            <a:pPr lvl="0" indent="0">
              <a:buNone/>
            </a:pPr>
            <a:r>
              <a:rPr sz="2200" dirty="0" err="1">
                <a:latin typeface="Courier"/>
              </a:rPr>
              <a:t>doc_len</a:t>
            </a:r>
            <a:r>
              <a:rPr sz="2200" dirty="0">
                <a:latin typeface="Courier"/>
              </a:rPr>
              <a:t>(D1) = 2 + 1 + 1 = 4</a:t>
            </a:r>
          </a:p>
          <a:p>
            <a:pPr marL="0" lvl="0" indent="0">
              <a:buNone/>
            </a:pPr>
            <a:r>
              <a:rPr sz="2200" dirty="0"/>
              <a:t>Reducer output:</a:t>
            </a:r>
          </a:p>
          <a:p>
            <a:pPr lvl="0" indent="0">
              <a:buNone/>
            </a:pPr>
            <a:r>
              <a:rPr sz="2200" dirty="0">
                <a:latin typeface="Courier"/>
              </a:rPr>
              <a:t>((data, D1), (2, 4))
((science, D1), (1, 4))
((uses, D1), (1, 4))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Task 3 Mapper: Group by 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sz="2200" b="1" dirty="0"/>
              <a:t>Mapper</a:t>
            </a:r>
            <a:r>
              <a:rPr sz="2200" dirty="0"/>
              <a:t>:</a:t>
            </a:r>
          </a:p>
          <a:p>
            <a:pPr lvl="0" indent="0">
              <a:buNone/>
            </a:pPr>
            <a:r>
              <a:rPr sz="2200" dirty="0">
                <a:latin typeface="Courier"/>
              </a:rPr>
              <a:t>Input:  ((word, </a:t>
            </a:r>
            <a:r>
              <a:rPr sz="2200" dirty="0" err="1">
                <a:latin typeface="Courier"/>
              </a:rPr>
              <a:t>docname</a:t>
            </a:r>
            <a:r>
              <a:rPr sz="2200" dirty="0">
                <a:latin typeface="Courier"/>
              </a:rPr>
              <a:t>), (n, </a:t>
            </a:r>
            <a:r>
              <a:rPr sz="2200" dirty="0" err="1">
                <a:latin typeface="Courier"/>
              </a:rPr>
              <a:t>doc_len</a:t>
            </a:r>
            <a:r>
              <a:rPr sz="2200" dirty="0">
                <a:latin typeface="Courier"/>
              </a:rPr>
              <a:t>))
Output: (word, (</a:t>
            </a:r>
            <a:r>
              <a:rPr sz="2200" dirty="0" err="1">
                <a:latin typeface="Courier"/>
              </a:rPr>
              <a:t>docname</a:t>
            </a:r>
            <a:r>
              <a:rPr sz="2200" dirty="0">
                <a:latin typeface="Courier"/>
              </a:rPr>
              <a:t>, n, </a:t>
            </a:r>
            <a:r>
              <a:rPr sz="2200" dirty="0" err="1">
                <a:latin typeface="Courier"/>
              </a:rPr>
              <a:t>doc_len</a:t>
            </a:r>
            <a:r>
              <a:rPr sz="2200" dirty="0">
                <a:latin typeface="Courier"/>
              </a:rPr>
              <a:t>, 1))</a:t>
            </a:r>
          </a:p>
          <a:p>
            <a:pPr marL="0" lvl="0" indent="0">
              <a:buNone/>
            </a:pPr>
            <a:r>
              <a:rPr sz="2200" dirty="0"/>
              <a:t>Example mapper output for </a:t>
            </a:r>
            <a:r>
              <a:rPr sz="2200" dirty="0">
                <a:latin typeface="Courier"/>
              </a:rPr>
              <a:t>data</a:t>
            </a:r>
            <a:r>
              <a:rPr sz="2200" dirty="0"/>
              <a:t>:</a:t>
            </a:r>
          </a:p>
          <a:p>
            <a:pPr lvl="0" indent="0">
              <a:buNone/>
            </a:pPr>
            <a:r>
              <a:rPr sz="2200" dirty="0">
                <a:latin typeface="Courier"/>
              </a:rPr>
              <a:t>(data, (D1, 2, 4, 1))
(data, (D2, 1, 4, 1))
(data, (D4, 1, 4, 1))</a:t>
            </a:r>
          </a:p>
          <a:p>
            <a:pPr marL="0" lvl="0" indent="0">
              <a:buNone/>
            </a:pPr>
            <a:r>
              <a:rPr sz="2200" dirty="0"/>
              <a:t>Each document contributes </a:t>
            </a:r>
            <a:r>
              <a:rPr sz="2200" dirty="0">
                <a:latin typeface="Courier"/>
              </a:rPr>
              <a:t>1</a:t>
            </a:r>
            <a:r>
              <a:rPr sz="2200" dirty="0"/>
              <a:t> to </a:t>
            </a:r>
            <a:r>
              <a:rPr sz="2200" dirty="0" err="1">
                <a:latin typeface="Courier"/>
              </a:rPr>
              <a:t>df</a:t>
            </a:r>
            <a:r>
              <a:rPr sz="2200" dirty="0">
                <a:latin typeface="Courier"/>
              </a:rPr>
              <a:t>(data)</a:t>
            </a:r>
            <a:r>
              <a:rPr sz="2200" dirty="0"/>
              <a:t>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Task 3 Reducer: Compute Document Frequency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sz="2200" b="1" dirty="0"/>
              <a:t>Reducer</a:t>
            </a:r>
            <a:r>
              <a:rPr sz="2200" dirty="0"/>
              <a:t>:</a:t>
            </a:r>
          </a:p>
          <a:p>
            <a:pPr lvl="0" indent="0">
              <a:buNone/>
            </a:pPr>
            <a:r>
              <a:rPr sz="2200" dirty="0">
                <a:latin typeface="Courier"/>
              </a:rPr>
              <a:t>Input:  (word, [(</a:t>
            </a:r>
            <a:r>
              <a:rPr sz="2200" dirty="0" err="1">
                <a:latin typeface="Courier"/>
              </a:rPr>
              <a:t>docname</a:t>
            </a:r>
            <a:r>
              <a:rPr sz="2200" dirty="0">
                <a:latin typeface="Courier"/>
              </a:rPr>
              <a:t>, n, </a:t>
            </a:r>
            <a:r>
              <a:rPr sz="2200" dirty="0" err="1">
                <a:latin typeface="Courier"/>
              </a:rPr>
              <a:t>doc_len</a:t>
            </a:r>
            <a:r>
              <a:rPr sz="2200" dirty="0">
                <a:latin typeface="Courier"/>
              </a:rPr>
              <a:t>, 1), ...])
Output: ((word, </a:t>
            </a:r>
            <a:r>
              <a:rPr sz="2200" dirty="0" err="1">
                <a:latin typeface="Courier"/>
              </a:rPr>
              <a:t>docname</a:t>
            </a:r>
            <a:r>
              <a:rPr sz="2200" dirty="0">
                <a:latin typeface="Courier"/>
              </a:rPr>
              <a:t>), (n, </a:t>
            </a:r>
            <a:r>
              <a:rPr sz="2200" dirty="0" err="1">
                <a:latin typeface="Courier"/>
              </a:rPr>
              <a:t>doc_len</a:t>
            </a:r>
            <a:r>
              <a:rPr sz="2200" dirty="0">
                <a:latin typeface="Courier"/>
              </a:rPr>
              <a:t>, </a:t>
            </a:r>
            <a:r>
              <a:rPr sz="2200" dirty="0" err="1">
                <a:latin typeface="Courier"/>
              </a:rPr>
              <a:t>df</a:t>
            </a:r>
            <a:r>
              <a:rPr sz="2200" dirty="0">
                <a:latin typeface="Courier"/>
              </a:rPr>
              <a:t>))</a:t>
            </a:r>
          </a:p>
          <a:p>
            <a:pPr marL="0" lvl="0" indent="0">
              <a:buNone/>
            </a:pPr>
            <a:r>
              <a:rPr sz="2200" dirty="0"/>
              <a:t>For </a:t>
            </a:r>
            <a:r>
              <a:rPr sz="2200" dirty="0">
                <a:latin typeface="Courier"/>
              </a:rPr>
              <a:t>data</a:t>
            </a:r>
            <a:r>
              <a:rPr sz="2200" dirty="0"/>
              <a:t>:</a:t>
            </a:r>
          </a:p>
          <a:p>
            <a:pPr lvl="0" indent="0">
              <a:buNone/>
            </a:pPr>
            <a:r>
              <a:rPr sz="2200" dirty="0" err="1">
                <a:latin typeface="Courier"/>
              </a:rPr>
              <a:t>df</a:t>
            </a:r>
            <a:r>
              <a:rPr sz="2200" dirty="0">
                <a:latin typeface="Courier"/>
              </a:rPr>
              <a:t>(data) = 1 + 1 + 1 = 3</a:t>
            </a:r>
          </a:p>
          <a:p>
            <a:pPr marL="0" lvl="0" indent="0">
              <a:buNone/>
            </a:pPr>
            <a:r>
              <a:rPr sz="2200" dirty="0"/>
              <a:t>Reducer output:</a:t>
            </a:r>
          </a:p>
          <a:p>
            <a:pPr lvl="0" indent="0">
              <a:buNone/>
            </a:pPr>
            <a:r>
              <a:rPr sz="2200" dirty="0">
                <a:latin typeface="Courier"/>
              </a:rPr>
              <a:t>((data, D1), (2, 4, 3))
((data, D2), (1, 4, 3))
((data, D4), (1, 4, 3))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Task 4 Mapper: Calculate TF-IDF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sz="2200" b="1" dirty="0"/>
              <a:t>Mapper</a:t>
            </a:r>
            <a:r>
              <a:rPr sz="2200" dirty="0"/>
              <a:t>:</a:t>
            </a:r>
          </a:p>
          <a:p>
            <a:pPr lvl="0" indent="0">
              <a:buNone/>
            </a:pPr>
            <a:r>
              <a:rPr sz="2200" dirty="0">
                <a:latin typeface="Courier"/>
              </a:rPr>
              <a:t>Input:  ((word, </a:t>
            </a:r>
            <a:r>
              <a:rPr sz="2200" dirty="0" err="1">
                <a:latin typeface="Courier"/>
              </a:rPr>
              <a:t>docname</a:t>
            </a:r>
            <a:r>
              <a:rPr sz="2200" dirty="0">
                <a:latin typeface="Courier"/>
              </a:rPr>
              <a:t>), (n, </a:t>
            </a:r>
            <a:r>
              <a:rPr sz="2200" dirty="0" err="1">
                <a:latin typeface="Courier"/>
              </a:rPr>
              <a:t>doc_len</a:t>
            </a:r>
            <a:r>
              <a:rPr sz="2200" dirty="0">
                <a:latin typeface="Courier"/>
              </a:rPr>
              <a:t>, </a:t>
            </a:r>
            <a:r>
              <a:rPr sz="2200" dirty="0" err="1">
                <a:latin typeface="Courier"/>
              </a:rPr>
              <a:t>df</a:t>
            </a:r>
            <a:r>
              <a:rPr sz="2200" dirty="0">
                <a:latin typeface="Courier"/>
              </a:rPr>
              <a:t>))
Output: ((word, </a:t>
            </a:r>
            <a:r>
              <a:rPr sz="2200" dirty="0" err="1">
                <a:latin typeface="Courier"/>
              </a:rPr>
              <a:t>docname</a:t>
            </a:r>
            <a:r>
              <a:rPr sz="2200" dirty="0">
                <a:latin typeface="Courier"/>
              </a:rPr>
              <a:t>), </a:t>
            </a:r>
            <a:r>
              <a:rPr sz="2200" dirty="0" err="1">
                <a:latin typeface="Courier"/>
              </a:rPr>
              <a:t>tfidf</a:t>
            </a:r>
            <a:r>
              <a:rPr sz="2200" dirty="0">
                <a:latin typeface="Courier"/>
              </a:rPr>
              <a:t>)</a:t>
            </a:r>
          </a:p>
          <a:p>
            <a:pPr marL="0" lvl="0" indent="0">
              <a:buNone/>
            </a:pPr>
            <a:r>
              <a:rPr sz="2200" dirty="0"/>
              <a:t>Example for </a:t>
            </a:r>
            <a:r>
              <a:rPr sz="2200" dirty="0">
                <a:latin typeface="Courier"/>
              </a:rPr>
              <a:t>(data, D1)</a:t>
            </a:r>
            <a:r>
              <a:rPr sz="2200" dirty="0"/>
              <a:t>:</a:t>
            </a:r>
          </a:p>
          <a:p>
            <a:pPr lvl="0" indent="0">
              <a:buNone/>
            </a:pPr>
            <a:r>
              <a:rPr sz="2200" dirty="0" err="1">
                <a:latin typeface="Courier"/>
              </a:rPr>
              <a:t>tf</a:t>
            </a:r>
            <a:r>
              <a:rPr sz="2200" dirty="0">
                <a:latin typeface="Courier"/>
              </a:rPr>
              <a:t> = 2 / 4 = 0.5000
</a:t>
            </a:r>
            <a:r>
              <a:rPr sz="2200" dirty="0" err="1">
                <a:latin typeface="Courier"/>
              </a:rPr>
              <a:t>idf</a:t>
            </a:r>
            <a:r>
              <a:rPr sz="2200" dirty="0">
                <a:latin typeface="Courier"/>
              </a:rPr>
              <a:t> = ln((4 + 1) / (3 + 1)) = 0.2231
</a:t>
            </a:r>
            <a:r>
              <a:rPr sz="2200" dirty="0" err="1">
                <a:latin typeface="Courier"/>
              </a:rPr>
              <a:t>tfidf</a:t>
            </a:r>
            <a:r>
              <a:rPr sz="2200" dirty="0">
                <a:latin typeface="Courier"/>
              </a:rPr>
              <a:t> = 0.5000 * 0.2231 = 0.1116</a:t>
            </a:r>
          </a:p>
          <a:p>
            <a:pPr marL="0" lvl="0" indent="0">
              <a:buNone/>
            </a:pPr>
            <a:r>
              <a:rPr sz="2200" dirty="0"/>
              <a:t>Mapper output:</a:t>
            </a:r>
          </a:p>
          <a:p>
            <a:pPr lvl="0" indent="0">
              <a:buNone/>
            </a:pPr>
            <a:r>
              <a:rPr sz="2200" dirty="0">
                <a:latin typeface="Courier"/>
              </a:rPr>
              <a:t>((data, D1), 0.1116)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Task 4 Reducer: Identity Reducer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/>
          <a:p>
            <a:pPr marL="0" lvl="0" indent="0">
              <a:lnSpc>
                <a:spcPct val="150000"/>
              </a:lnSpc>
              <a:buNone/>
            </a:pPr>
            <a:r>
              <a:rPr sz="2200" b="1" dirty="0"/>
              <a:t>Reducer</a:t>
            </a:r>
            <a:r>
              <a:rPr sz="2200" dirty="0"/>
              <a:t>:</a:t>
            </a:r>
          </a:p>
          <a:p>
            <a:pPr lvl="0" indent="0">
              <a:lnSpc>
                <a:spcPct val="150000"/>
              </a:lnSpc>
              <a:buNone/>
            </a:pPr>
            <a:r>
              <a:rPr sz="2200" dirty="0">
                <a:latin typeface="Courier"/>
              </a:rPr>
              <a:t>Input:  ((word, </a:t>
            </a:r>
            <a:r>
              <a:rPr sz="2200" dirty="0" err="1">
                <a:latin typeface="Courier"/>
              </a:rPr>
              <a:t>docname</a:t>
            </a:r>
            <a:r>
              <a:rPr sz="2200" dirty="0">
                <a:latin typeface="Courier"/>
              </a:rPr>
              <a:t>), [</a:t>
            </a:r>
            <a:r>
              <a:rPr sz="2200" dirty="0" err="1">
                <a:latin typeface="Courier"/>
              </a:rPr>
              <a:t>tfidf</a:t>
            </a:r>
            <a:r>
              <a:rPr sz="2200" dirty="0">
                <a:latin typeface="Courier"/>
              </a:rPr>
              <a:t>])
Output: ((word, </a:t>
            </a:r>
            <a:r>
              <a:rPr sz="2200" dirty="0" err="1">
                <a:latin typeface="Courier"/>
              </a:rPr>
              <a:t>docname</a:t>
            </a:r>
            <a:r>
              <a:rPr sz="2200" dirty="0">
                <a:latin typeface="Courier"/>
              </a:rPr>
              <a:t>), </a:t>
            </a:r>
            <a:r>
              <a:rPr sz="2200" dirty="0" err="1">
                <a:latin typeface="Courier"/>
              </a:rPr>
              <a:t>tfidf</a:t>
            </a:r>
            <a:r>
              <a:rPr sz="2200" dirty="0">
                <a:latin typeface="Courier"/>
              </a:rPr>
              <a:t>)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sz="2200" dirty="0"/>
              <a:t>Example:</a:t>
            </a:r>
          </a:p>
          <a:p>
            <a:pPr lvl="0" indent="0">
              <a:lnSpc>
                <a:spcPct val="150000"/>
              </a:lnSpc>
              <a:buNone/>
            </a:pPr>
            <a:r>
              <a:rPr sz="2200" dirty="0">
                <a:latin typeface="Courier"/>
              </a:rPr>
              <a:t>Input:  ((data, D1), [0.1116])
Output: ((data, D1), 0.1116)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sz="2200" dirty="0"/>
              <a:t>The final score is already computed by the mapper.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lvl="0" indent="0">
              <a:buNone/>
            </a:pPr>
            <a:r>
              <a:t>SQL Implementation: Same Logic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28</a:t>
            </a:fld>
            <a:endParaRPr lang="en-US"/>
          </a:p>
        </p:txBody>
      </p:sp>
      <p:sp>
        <p:nvSpPr>
          <p:cNvPr id="7" name="מציין מיקום תוכן 6">
            <a:extLst>
              <a:ext uri="{FF2B5EF4-FFF2-40B4-BE49-F238E27FC236}">
                <a16:creationId xmlns:a16="http://schemas.microsoft.com/office/drawing/2014/main" id="{446DA5EC-EF23-CFAF-80B4-B91C09282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file “</a:t>
            </a:r>
            <a:r>
              <a:rPr lang="en-US" dirty="0" err="1"/>
              <a:t>tf-idf.sql</a:t>
            </a:r>
            <a:r>
              <a:rPr lang="en-US" dirty="0"/>
              <a:t>”.</a:t>
            </a:r>
            <a:endParaRPr lang="he-IL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1676</Words>
  <Application>Microsoft Macintosh PowerPoint</Application>
  <PresentationFormat>מסך רחב</PresentationFormat>
  <Paragraphs>475</Paragraphs>
  <Slides>28</Slides>
  <Notes>7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28</vt:i4>
      </vt:variant>
    </vt:vector>
  </HeadingPairs>
  <TitlesOfParts>
    <vt:vector size="34" baseType="lpstr">
      <vt:lpstr>Aptos</vt:lpstr>
      <vt:lpstr>Arial</vt:lpstr>
      <vt:lpstr>Calibri</vt:lpstr>
      <vt:lpstr>Cambria Math</vt:lpstr>
      <vt:lpstr>Courier</vt:lpstr>
      <vt:lpstr>Office Theme</vt:lpstr>
      <vt:lpstr>Regex &amp; TF-IDF</vt:lpstr>
      <vt:lpstr>Learning Path</vt:lpstr>
      <vt:lpstr>Why Text Analytics Matters</vt:lpstr>
      <vt:lpstr>From Raw Text to Structured Features</vt:lpstr>
      <vt:lpstr>Regex Basics as Building Blocks</vt:lpstr>
      <vt:lpstr>Character Classes: What Counts as a Match?</vt:lpstr>
      <vt:lpstr>Quantifiers Encode Business Rules</vt:lpstr>
      <vt:lpstr>Cleaning Example</vt:lpstr>
      <vt:lpstr>Regex Case: Amount Extraction</vt:lpstr>
      <vt:lpstr>TF-IDF Mechanics</vt:lpstr>
      <vt:lpstr>TF-IDF Intuition</vt:lpstr>
      <vt:lpstr>Notation Cheat Sheet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Task 1 Mapper: Word Frequency in Doc</vt:lpstr>
      <vt:lpstr>Task 1 Reducer: Sum Word Counts</vt:lpstr>
      <vt:lpstr>Task 2 Mapper: Group by Document</vt:lpstr>
      <vt:lpstr>Task 2 Reducer: Add Document Length</vt:lpstr>
      <vt:lpstr>Task 3 Mapper: Group by Word</vt:lpstr>
      <vt:lpstr>Task 3 Reducer: Compute Document Frequency</vt:lpstr>
      <vt:lpstr>Task 4 Mapper: Calculate TF-IDF</vt:lpstr>
      <vt:lpstr>Task 4 Reducer: Identity Reducer</vt:lpstr>
      <vt:lpstr>SQL Implementation: Same Logic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emplate>Facet</Template>
  <TotalTime>17</TotalTime>
  <Words>27</Words>
  <Application>Microsoft Macintosh PowerPoint</Application>
  <PresentationFormat>מסך רחב</PresentationFormat>
  <Paragraphs>18</Paragraphs>
  <Slides>9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Or Perets</cp:lastModifiedBy>
  <cp:revision>12</cp:revision>
  <dcterms:created xsi:type="dcterms:W3CDTF">2026-05-06T14:19:38Z</dcterms:created>
  <dcterms:modified xsi:type="dcterms:W3CDTF">2026-05-08T10:25:43Z</dcterms:modified>
</cp:coreProperties>
</file>