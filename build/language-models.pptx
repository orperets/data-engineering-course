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2" r:id="rId11"/>
    <p:sldId id="274" r:id="rId12"/>
    <p:sldId id="276" r:id="rId13"/>
    <p:sldId id="278" r:id="rId14"/>
    <p:sldId id="282" r:id="rId15"/>
    <p:sldId id="283" r:id="rId16"/>
    <p:sldId id="284" r:id="rId17"/>
    <p:sldId id="286" r:id="rId18"/>
    <p:sldId id="287" r:id="rId19"/>
    <p:sldId id="288" r:id="rId20"/>
    <p:sldId id="289" r:id="rId21"/>
    <p:sldId id="290" r:id="rId22"/>
    <p:sldId id="291" r:id="rId23"/>
    <p:sldId id="293" r:id="rId24"/>
    <p:sldId id="295" r:id="rId25"/>
    <p:sldId id="296" r:id="rId26"/>
    <p:sldId id="297" r:id="rId27"/>
    <p:sldId id="299" r:id="rId28"/>
    <p:sldId id="300" r:id="rId29"/>
    <p:sldId id="301" r:id="rId30"/>
    <p:sldId id="302" r:id="rId31"/>
    <p:sldId id="303" r:id="rId32"/>
    <p:sldId id="305" r:id="rId33"/>
    <p:sldId id="306" r:id="rId34"/>
    <p:sldId id="307" r:id="rId35"/>
    <p:sldId id="308" r:id="rId36"/>
    <p:sldId id="309" r:id="rId37"/>
    <p:sldId id="310" r:id="rId38"/>
    <p:sldId id="312" r:id="rId39"/>
    <p:sldId id="321" r:id="rId40"/>
    <p:sldId id="322" r:id="rId41"/>
    <p:sldId id="324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סגנון ביניים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4"/>
    <p:restoredTop sz="94896"/>
  </p:normalViewPr>
  <p:slideViewPr>
    <p:cSldViewPr snapToGrid="0" snapToObjects="1">
      <p:cViewPr varScale="1">
        <p:scale>
          <a:sx n="102" d="100"/>
          <a:sy n="102" d="100"/>
        </p:scale>
        <p:origin x="1200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9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9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9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1062556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9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9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62076" y="3438525"/>
            <a:ext cx="8934450" cy="23456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65225" y="1579563"/>
            <a:ext cx="9064625" cy="435702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341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9 מאי,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26D49-397F-B715-D50A-B77591A1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558" y="1600201"/>
            <a:ext cx="8437945" cy="45259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9 מאי,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71812306-B812-4C50-F7A0-862C984F42D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78729032"/>
              </p:ext>
            </p:extLst>
          </p:nvPr>
        </p:nvGraphicFramePr>
        <p:xfrm>
          <a:off x="4672422" y="2231471"/>
          <a:ext cx="3600000" cy="2635803"/>
        </p:xfrm>
        <a:graphic>
          <a:graphicData uri="http://schemas.openxmlformats.org/drawingml/2006/table">
            <a:tbl>
              <a:tblPr rtl="1" firstRow="1" bandRow="1">
                <a:tableStyleId>{793D81CF-94F2-401A-BA57-92F5A7B2D0C5}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3224435564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1520824301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907090588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141296278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1831022972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626801781"/>
                    </a:ext>
                  </a:extLst>
                </a:gridCol>
              </a:tblGrid>
              <a:tr h="618009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863574"/>
                  </a:ext>
                </a:extLst>
              </a:tr>
              <a:tr h="1008897">
                <a:tc>
                  <a:txBody>
                    <a:bodyPr/>
                    <a:lstStyle/>
                    <a:p>
                      <a:pPr algn="ctr" rtl="1" fontAlgn="ctr"/>
                      <a:endParaRPr lang="he-IL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625601"/>
                  </a:ext>
                </a:extLst>
              </a:tr>
              <a:tr h="1008897">
                <a:tc>
                  <a:txBody>
                    <a:bodyPr/>
                    <a:lstStyle/>
                    <a:p>
                      <a:pPr algn="ctr" rtl="1" fontAlgn="ctr"/>
                      <a:endParaRPr lang="he-IL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he-IL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57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46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9 מאי,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D8F28D-D1D2-34A5-D88A-549DD7AD70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9 מאי,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1439EE-8346-69C4-2D2A-C45C952E13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291BFA-5674-76B5-89A7-703C9722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9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E080CD-5224-9141-7E29-FC08A3B3FD7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62076" y="3438525"/>
            <a:ext cx="8934450" cy="23456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904EEE-C9D3-E47E-C69D-A4A1BC1D9F2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65225" y="1579563"/>
            <a:ext cx="9064625" cy="435702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9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9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9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9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7150" cap="sq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14350" cap="sq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61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Week 17: Language Models and End-to-End RAG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What Is a Language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5086610" cy="4525963"/>
          </a:xfrm>
        </p:spPr>
        <p:txBody>
          <a:bodyPr/>
          <a:lstStyle/>
          <a:p>
            <a:pPr lvl="0"/>
            <a:r>
              <a:rPr dirty="0"/>
              <a:t>A language model assigns probabilities to text.</a:t>
            </a:r>
          </a:p>
          <a:p>
            <a:pPr lvl="0"/>
            <a:r>
              <a:rPr dirty="0"/>
              <a:t>It predicts likely next tokens from previous tokens.</a:t>
            </a:r>
          </a:p>
          <a:p>
            <a:pPr lvl="0"/>
            <a:r>
              <a:rPr dirty="0"/>
              <a:t>Generation repeats prediction, selection, and appending.</a:t>
            </a:r>
          </a:p>
          <a:p>
            <a:pPr lvl="0"/>
            <a:r>
              <a:rPr dirty="0"/>
              <a:t>The output is </a:t>
            </a:r>
            <a:r>
              <a:rPr b="1" dirty="0"/>
              <a:t>probabilistic</a:t>
            </a:r>
            <a:r>
              <a:rPr dirty="0"/>
              <a:t>, not guaranteed truth.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68287BC8-6762-4597-DA3A-76D00893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8" t="7238" b="7315"/>
          <a:stretch>
            <a:fillRect/>
          </a:stretch>
        </p:blipFill>
        <p:spPr>
          <a:xfrm>
            <a:off x="6194295" y="1647825"/>
            <a:ext cx="5086610" cy="45259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Formal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t>Let a token sequence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t>.</a:t>
                </a:r>
              </a:p>
              <a:p>
                <a:pPr lvl="0"/>
                <a:r>
                  <a:t>A language model assigns a probability to the sequence.</a:t>
                </a:r>
              </a:p>
              <a:p>
                <a:pPr lvl="0"/>
                <a:r>
                  <a:t>The probability decomposes into next-token conditionals.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 b="-1932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Simple Example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904EEE-C9D3-E47E-C69D-A4A1BC1D9F2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Given:</a:t>
            </a:r>
          </a:p>
          <a:p>
            <a:pPr lvl="0" indent="0">
              <a:buNone/>
            </a:pPr>
            <a:r>
              <a:rPr>
                <a:latin typeface="Courier"/>
              </a:rPr>
              <a:t>The final project is due</a:t>
            </a:r>
          </a:p>
          <a:p>
            <a:pPr marL="0" lvl="0" indent="0">
              <a:buNone/>
            </a:pPr>
            <a:r>
              <a:t>A language model estimates: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464616"/>
              </p:ext>
            </p:extLst>
          </p:nvPr>
        </p:nvGraphicFramePr>
        <p:xfrm>
          <a:off x="2421581" y="3310325"/>
          <a:ext cx="6771846" cy="266951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385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903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next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903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tomorrow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903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903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903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Tokenization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904EEE-C9D3-E47E-C69D-A4A1BC1D9F2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/>
        <p:txBody>
          <a:bodyPr/>
          <a:lstStyle/>
          <a:p>
            <a:pPr lvl="0"/>
            <a:r>
              <a:t>Models do not directly process words.</a:t>
            </a:r>
          </a:p>
          <a:p>
            <a:pPr lvl="0"/>
            <a:r>
              <a:t>Text is split into tokens.</a:t>
            </a:r>
          </a:p>
          <a:p>
            <a:pPr lvl="0"/>
            <a:r>
              <a:t>Tokens can be words, word pieces, punctuation, or spaces.</a:t>
            </a:r>
          </a:p>
          <a:p>
            <a:pPr lvl="0"/>
            <a:r>
              <a:t>Tokenization controls cost, context length, and reproducibility.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251433"/>
              </p:ext>
            </p:extLst>
          </p:nvPr>
        </p:nvGraphicFramePr>
        <p:xfrm>
          <a:off x="1314450" y="4181157"/>
          <a:ext cx="8915400" cy="109728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possible tokens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homework 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home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work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deadline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RAG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>
                          <a:latin typeface="Courier"/>
                        </a:rPr>
                        <a:t>R</a:t>
                      </a:r>
                      <a:r>
                        <a:rPr dirty="0"/>
                        <a:t>, </a:t>
                      </a:r>
                      <a:r>
                        <a:rPr dirty="0">
                          <a:latin typeface="Courier"/>
                        </a:rPr>
                        <a:t>AG</a:t>
                      </a:r>
                      <a:r>
                        <a:rPr dirty="0"/>
                        <a:t>, </a:t>
                      </a:r>
                      <a:r>
                        <a:rPr dirty="0">
                          <a:latin typeface="Courier"/>
                        </a:rPr>
                        <a:t>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Sequence Probability Example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904EEE-C9D3-E47E-C69D-A4A1BC1D9F2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Assume these next-token probabilities: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9286243"/>
              </p:ext>
            </p:extLst>
          </p:nvPr>
        </p:nvGraphicFramePr>
        <p:xfrm>
          <a:off x="1445398" y="2514600"/>
          <a:ext cx="8915400" cy="1828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49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>
                          <a:latin typeface="Courier"/>
                        </a:rPr>
                        <a:t>homework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>
                          <a:latin typeface="Courier"/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sequence 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>
                          <a:latin typeface="Courier"/>
                        </a:rPr>
                        <a:t>0.50 * 0.40 * 0.25 = 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Cross-Entropy and Perplexity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Cross-entropy measures average surprise per token.</a:t>
                </a:r>
              </a:p>
              <a:p>
                <a:pPr lvl="0"/>
                <a:r>
                  <a:rPr dirty="0"/>
                  <a:t>Perplexity converts surprise into an effective branching factor.</a:t>
                </a:r>
              </a:p>
              <a:p>
                <a:pPr lvl="0"/>
                <a:r>
                  <a:rPr dirty="0"/>
                  <a:t>These are language-model metrics, not quality guarantees.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 b="-1932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Perplexity Mini-Calculation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If four correct tokens each receive probability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The model behaves like choosing between two </a:t>
                </a:r>
                <a:br>
                  <a:rPr lang="en-US" dirty="0"/>
                </a:br>
                <a:r>
                  <a:rPr dirty="0"/>
                  <a:t>equally likely options.</a:t>
                </a:r>
              </a:p>
              <a:p>
                <a:pPr lvl="0"/>
                <a:r>
                  <a:rPr dirty="0"/>
                  <a:t>Good perplexity does not prove factual correctness.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Generation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457200" lvl="0" indent="-457200">
              <a:buAutoNum type="arabicPeriod"/>
            </a:pPr>
            <a:r>
              <a:rPr dirty="0"/>
              <a:t>Read prompt tokens.</a:t>
            </a:r>
          </a:p>
          <a:p>
            <a:pPr marL="457200" lvl="0" indent="-457200">
              <a:buAutoNum type="arabicPeriod"/>
            </a:pPr>
            <a:r>
              <a:rPr dirty="0"/>
              <a:t>Estimate next-token distribution.</a:t>
            </a:r>
          </a:p>
          <a:p>
            <a:pPr marL="457200" lvl="0" indent="-457200">
              <a:buAutoNum type="arabicPeriod"/>
            </a:pPr>
            <a:r>
              <a:rPr dirty="0"/>
              <a:t>Select a token by greedy decoding, sampling, or beam search.</a:t>
            </a:r>
          </a:p>
          <a:p>
            <a:pPr marL="457200" lvl="0" indent="-457200">
              <a:buAutoNum type="arabicPeriod"/>
            </a:pPr>
            <a:r>
              <a:rPr dirty="0"/>
              <a:t>Append the token to the context.</a:t>
            </a:r>
          </a:p>
          <a:p>
            <a:pPr marL="457200" lvl="0" indent="-457200">
              <a:buAutoNum type="arabicPeriod"/>
            </a:pPr>
            <a:r>
              <a:rPr dirty="0"/>
              <a:t>Repeat until stop condition or token budget.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b="1" dirty="0"/>
              <a:t>This is why prompt wording changes outputs.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Makes an LLM Different?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544816"/>
              </p:ext>
            </p:extLst>
          </p:nvPr>
        </p:nvGraphicFramePr>
        <p:xfrm>
          <a:off x="2842741" y="1680078"/>
          <a:ext cx="7086600" cy="195854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52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3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70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70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many parameters and training 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70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can condition on long prompts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70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instruction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follows natural-language tasks better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0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tool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can be wrapped with retrieval, tools, and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6FF0F68A-6886-7E58-012F-2C62ECC7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389874"/>
            <a:ext cx="7772400" cy="1576095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4719E45B-8C5C-7D19-2446-E19C1E764024}"/>
              </a:ext>
            </a:extLst>
          </p:cNvPr>
          <p:cNvSpPr txBox="1"/>
          <p:nvPr/>
        </p:nvSpPr>
        <p:spPr>
          <a:xfrm>
            <a:off x="1105423" y="3866654"/>
            <a:ext cx="11705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dirty="0"/>
              <a:t>parameters</a:t>
            </a:r>
            <a:endParaRPr lang="he-IL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Critical 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A language model completes text.</a:t>
            </a:r>
          </a:p>
          <a:p>
            <a:pPr lvl="0"/>
            <a:r>
              <a:t>It does not automatically verify truth.</a:t>
            </a:r>
          </a:p>
          <a:p>
            <a:pPr lvl="0"/>
            <a:r>
              <a:t>It may answer from outdated training data.</a:t>
            </a:r>
          </a:p>
          <a:p>
            <a:pPr lvl="0"/>
            <a:r>
              <a:t>It may invent a plausible rule when evidence is missing.</a:t>
            </a:r>
          </a:p>
          <a:p>
            <a:pPr lvl="0"/>
            <a:r>
              <a:t>Factual tasks need evidence outside the model.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dirty="0"/>
              <a:t>RAG means Retrieval-Augmented Generation.</a:t>
            </a:r>
          </a:p>
          <a:p>
            <a:pPr lvl="0"/>
            <a:r>
              <a:rPr dirty="0"/>
              <a:t>Retrieve relevant evidence from a trusted corpus.</a:t>
            </a:r>
          </a:p>
          <a:p>
            <a:pPr lvl="0"/>
            <a:r>
              <a:rPr dirty="0"/>
              <a:t>Augment the prompt with that evidence.</a:t>
            </a:r>
          </a:p>
          <a:p>
            <a:pPr lvl="0"/>
            <a:r>
              <a:rPr dirty="0"/>
              <a:t>Generate an answer grounded in retrieved sources.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844C3985-5BDD-9211-3CD1-22D7715D77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1789796"/>
              </p:ext>
            </p:extLst>
          </p:nvPr>
        </p:nvGraphicFramePr>
        <p:xfrm>
          <a:off x="2360827" y="4133335"/>
          <a:ext cx="7086600" cy="1828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Problem with LM 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RAG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training data may be 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retrieve current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private data is absent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index internal corpus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answer is hard to 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cite evidence 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context window is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retrieve only relevant chunks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RAG </a:t>
            </a:r>
            <a:r>
              <a:rPr lang="en-US" dirty="0"/>
              <a:t>Flow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FF8ED5D1-D2E3-D6E0-1717-BD28BA7C8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865" y="1805954"/>
            <a:ext cx="7772400" cy="43380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Step 1: Ingest and Clean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Collect PDFs, slides, markdown files, and policy pages.</a:t>
            </a:r>
          </a:p>
          <a:p>
            <a:pPr lvl="0"/>
            <a:r>
              <a:t>Extract text with page, section, and document metadata.</a:t>
            </a:r>
          </a:p>
          <a:p>
            <a:pPr lvl="0"/>
            <a:r>
              <a:t>Remove boilerplate, broken headers, and duplicated footers.</a:t>
            </a:r>
          </a:p>
          <a:p>
            <a:pPr lvl="0"/>
            <a:r>
              <a:t>Normalize whitespace and encoding.</a:t>
            </a:r>
          </a:p>
          <a:p>
            <a:pPr lvl="0"/>
            <a:r>
              <a:t>Store the original source reference.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Step 2: Chunk the Corpus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t>A chunk is a small passage used for retrieval.</a:t>
            </a:r>
          </a:p>
          <a:p>
            <a:pPr lvl="0"/>
            <a:r>
              <a:t>Chunking makes long documents searchable.</a:t>
            </a:r>
          </a:p>
          <a:p>
            <a:pPr lvl="0"/>
            <a:r>
              <a:t>Too large: expensive and noisy.</a:t>
            </a:r>
          </a:p>
          <a:p>
            <a:pPr lvl="0"/>
            <a:r>
              <a:t>Too small: loses context.</a:t>
            </a:r>
          </a:p>
          <a:p>
            <a:pPr lvl="0"/>
            <a:r>
              <a:t>Overlap protects information near boundaries.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Chunking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Let:</a:t>
                </a:r>
              </a:p>
              <a:p>
                <a:pPr lvl="0"/>
                <a:r>
                  <a:t>document length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  <m:r>
                      <a:rPr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t> tokens.</a:t>
                </a:r>
              </a:p>
              <a:p>
                <a:pPr lvl="0"/>
                <a:r>
                  <a:t>chunk size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  <m:r>
                      <a:rPr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t> tokens.</a:t>
                </a:r>
              </a:p>
              <a:p>
                <a:pPr lvl="0"/>
                <a:r>
                  <a:t>overlap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𝑜</m:t>
                    </m:r>
                    <m:r>
                      <a:rPr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t> tokens.</a:t>
                </a:r>
              </a:p>
              <a:p>
                <a:pPr lvl="0"/>
                <a:r>
                  <a:t>step size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𝑜</m:t>
                    </m:r>
                    <m:r>
                      <a:rPr>
                        <a:latin typeface="Cambria Math" panose="02040503050406030204" pitchFamily="18" charset="0"/>
                      </a:rPr>
                      <m:t>=160</m:t>
                    </m:r>
                  </m:oMath>
                </a14:m>
                <a:r>
                  <a:t> tokens.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=1+</m:t>
                      </m:r>
                      <m:d>
                        <m:dPr>
                          <m:begChr m:val="⌈"/>
                          <m:endChr m:val="⌉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den>
                          </m:f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=1+</m:t>
                      </m:r>
                      <m:d>
                        <m:dPr>
                          <m:begChr m:val="⌈"/>
                          <m:endChr m:val="⌉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800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160</m:t>
                              </m:r>
                            </m:den>
                          </m:f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Step 3: Store Chunk Metadata</a:t>
            </a:r>
            <a:r>
              <a:rPr lang="en-US" dirty="0"/>
              <a:t> (Why??)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961356"/>
              </p:ext>
            </p:extLst>
          </p:nvPr>
        </p:nvGraphicFramePr>
        <p:xfrm>
          <a:off x="2348470" y="1797907"/>
          <a:ext cx="7086600" cy="37132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57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57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chunk_id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D1-C2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57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doc_id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57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source_title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Homework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57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Late Submissions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57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Late homework is accepted…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57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token_count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57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updated_at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2026-05-08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57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permissions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Step 4: Embed and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9060" y="1694140"/>
            <a:ext cx="3069178" cy="4525963"/>
          </a:xfrm>
        </p:spPr>
        <p:txBody>
          <a:bodyPr>
            <a:normAutofit fontScale="92500"/>
          </a:bodyPr>
          <a:lstStyle/>
          <a:p>
            <a:pPr lvl="0"/>
            <a:r>
              <a:rPr dirty="0"/>
              <a:t>Each chunk is converted to an embedding vector.</a:t>
            </a:r>
          </a:p>
          <a:p>
            <a:pPr lvl="0"/>
            <a:r>
              <a:rPr dirty="0"/>
              <a:t>Store vectors in a vector index.</a:t>
            </a:r>
            <a:endParaRPr lang="en-US" dirty="0"/>
          </a:p>
          <a:p>
            <a:pPr lvl="0"/>
            <a:r>
              <a:rPr lang="en-US" dirty="0"/>
              <a:t>Vector are semantic and context oriented.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DF9B563-7771-082C-D7E6-D16382092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448" y="1694140"/>
            <a:ext cx="7772400" cy="43380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Step 5: Query-Time Retrieval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/>
              </p:cNvSpPr>
              <p:nvPr>
                <p:ph type="body" sz="half" idx="2" hasCustomPrompt="1"/>
              </p:nvPr>
            </p:nvSpPr>
            <p:spPr/>
            <p:txBody>
              <a:bodyPr>
                <a:norm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sz="2800" dirty="0"/>
                  <a:t>Embed the user question into query vector </a:t>
                </a:r>
                <a14:m>
                  <m:oMath xmlns:m="http://schemas.openxmlformats.org/officeDocument/2006/math">
                    <m:r>
                      <a:rPr sz="2800"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rPr sz="2800" dirty="0"/>
                  <a:t>.</a:t>
                </a:r>
              </a:p>
              <a:p>
                <a:pPr lvl="0">
                  <a:lnSpc>
                    <a:spcPct val="150000"/>
                  </a:lnSpc>
                </a:pPr>
                <a:r>
                  <a:rPr sz="2800" dirty="0"/>
                  <a:t>Retrieve top candidates by similarity score.</a:t>
                </a:r>
              </a:p>
              <a:p>
                <a:pPr lvl="0">
                  <a:lnSpc>
                    <a:spcPct val="150000"/>
                  </a:lnSpc>
                </a:pPr>
                <a:r>
                  <a:rPr sz="2800" dirty="0"/>
                  <a:t>Pass selected evidence to the LLM.</a:t>
                </a:r>
                <a:endParaRPr lang="en-US" sz="2800" dirty="0"/>
              </a:p>
              <a:p>
                <a:pPr lvl="0">
                  <a:lnSpc>
                    <a:spcPct val="150000"/>
                  </a:lnSpc>
                </a:pPr>
                <a:endParaRPr lang="en-US" sz="2800" dirty="0"/>
              </a:p>
              <a:p>
                <a:pPr lvl="0">
                  <a:lnSpc>
                    <a:spcPct val="150000"/>
                  </a:lnSpc>
                </a:pPr>
                <a:r>
                  <a:rPr lang="en-US" sz="2800" dirty="0"/>
                  <a:t>But how ???</a:t>
                </a:r>
                <a:endParaRPr sz="2800" dirty="0"/>
              </a:p>
            </p:txBody>
          </p:sp>
        </mc:Choice>
        <mc:Fallback xmlns="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 hasCustomPrompt="1"/>
              </p:nvPr>
            </p:nvSpPr>
            <p:spPr>
              <a:blipFill>
                <a:blip r:embed="rId2"/>
                <a:stretch>
                  <a:fillRect l="-139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B05B027-4C7B-A945-0FCE-81765D7113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36" t="14484" r="7808"/>
          <a:stretch>
            <a:fillRect/>
          </a:stretch>
        </p:blipFill>
        <p:spPr>
          <a:xfrm>
            <a:off x="6474941" y="3354858"/>
            <a:ext cx="5288692" cy="29470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Formal Retrieval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t>Corpus chunks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t>.</a:t>
                </a:r>
              </a:p>
              <a:p>
                <a:pPr lvl="0"/>
                <a:r>
                  <a:t>Query embedding is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t>.</a:t>
                </a:r>
              </a:p>
              <a:p>
                <a:pPr lvl="0"/>
                <a:r>
                  <a:t>Chunk embeddings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t>.</a:t>
                </a:r>
              </a:p>
              <a:p>
                <a:pPr lvl="0"/>
                <a:r>
                  <a:t>Retrieval returns top-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chunks by score.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𝑡𝑜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Cosine Similarity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t>Cosine similarity measures vector direction.</a:t>
                </a:r>
              </a:p>
              <a:p>
                <a:pPr lvl="0"/>
                <a:r>
                  <a:t>It is common for dense semantic retrieval.</a:t>
                </a:r>
              </a:p>
              <a:p>
                <a:pPr lvl="0"/>
                <a:r>
                  <a:t>Scores near 1 are more aligned.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𝐜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𝐪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𝐜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𝐪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∥∥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𝐜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∥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Worked Example: Candidate Vectors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A904EEE-C9D3-E47E-C69D-A4A1BC1D9F2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Query:</a:t>
            </a:r>
          </a:p>
          <a:p>
            <a:pPr lvl="0" indent="0">
              <a:buNone/>
            </a:pPr>
            <a:r>
              <a:rPr>
                <a:latin typeface="Courier"/>
              </a:rPr>
              <a:t>q = (0.8, 0.6, 0.0)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3486905"/>
              </p:ext>
            </p:extLst>
          </p:nvPr>
        </p:nvGraphicFramePr>
        <p:xfrm>
          <a:off x="2446295" y="2848232"/>
          <a:ext cx="6771846" cy="14630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060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4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6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chunk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vector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late homework 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>
                          <a:latin typeface="Courier"/>
                        </a:rPr>
                        <a:t>(0.9, 0.5, 0.1)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office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>
                          <a:latin typeface="Courier"/>
                        </a:rPr>
                        <a:t>(0.1, 0.2, 0.9)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homework grading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>
                          <a:latin typeface="Courier"/>
                        </a:rPr>
                        <a:t>(0.6, 0.7, 0.2)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F5A2BA17-6174-98C5-F3CC-9CDB785B8765}"/>
                  </a:ext>
                </a:extLst>
              </p:cNvPr>
              <p:cNvSpPr txBox="1"/>
              <p:nvPr/>
            </p:nvSpPr>
            <p:spPr>
              <a:xfrm>
                <a:off x="120478" y="4612165"/>
                <a:ext cx="11708026" cy="1608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sz="220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ar-AE" sz="220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2200" smtClean="0">
                          <a:latin typeface="Cambria Math" panose="02040503050406030204" pitchFamily="18" charset="0"/>
                        </a:rPr>
                        <m:t>𝐂𝟏</m:t>
                      </m:r>
                      <m:r>
                        <a:rPr lang="ar-AE" sz="2200" smtClean="0">
                          <a:latin typeface="Cambria Math" panose="02040503050406030204" pitchFamily="18" charset="0"/>
                        </a:rPr>
                        <m:t>=0.8⋅0.9+0.6⋅0.5+0.0⋅0.1=1.02</m:t>
                      </m:r>
                    </m:oMath>
                  </m:oMathPara>
                </a14:m>
                <a:endParaRPr lang="ar-AE" sz="22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sz="2200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ar-AE" sz="220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ar-AE" sz="2200">
                          <a:latin typeface="Cambria Math" panose="02040503050406030204" pitchFamily="18" charset="0"/>
                        </a:rPr>
                        <m:t>∥=</m:t>
                      </m:r>
                      <m:rad>
                        <m:radPr>
                          <m:degHide m:val="on"/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sup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0.6</m:t>
                              </m:r>
                            </m:e>
                            <m:sup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2200">
                          <a:latin typeface="Cambria Math" panose="02040503050406030204" pitchFamily="18" charset="0"/>
                        </a:rPr>
                        <m:t>=1.00</m:t>
                      </m:r>
                    </m:oMath>
                  </m:oMathPara>
                </a14:m>
                <a:endParaRPr lang="ar-AE" sz="22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sz="2200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ar-AE" sz="2200">
                          <a:latin typeface="Cambria Math" panose="02040503050406030204" pitchFamily="18" charset="0"/>
                        </a:rPr>
                        <m:t>𝐂𝟏</m:t>
                      </m:r>
                      <m:r>
                        <a:rPr lang="ar-AE" sz="2200">
                          <a:latin typeface="Cambria Math" panose="02040503050406030204" pitchFamily="18" charset="0"/>
                        </a:rPr>
                        <m:t>∥=</m:t>
                      </m:r>
                      <m:rad>
                        <m:radPr>
                          <m:degHide m:val="on"/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  <m:sup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sup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sup>
                              <m:r>
                                <a:rPr lang="ar-AE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2200">
                          <a:latin typeface="Cambria Math" panose="02040503050406030204" pitchFamily="18" charset="0"/>
                        </a:rPr>
                        <m:t>=1.034</m:t>
                      </m:r>
                    </m:oMath>
                  </m:oMathPara>
                </a14:m>
                <a:endParaRPr lang="ar-AE" sz="22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" sz="220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" sz="2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" sz="220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" sz="22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" sz="220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" sz="2200">
                          <a:latin typeface="Cambria Math" panose="02040503050406030204" pitchFamily="18" charset="0"/>
                        </a:rPr>
                        <m:t>1)=1.02/(1.00⋅1.034)=0.986</m:t>
                      </m:r>
                    </m:oMath>
                  </m:oMathPara>
                </a14:m>
                <a:endParaRPr lang="en" sz="2200" dirty="0"/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F5A2BA17-6174-98C5-F3CC-9CDB785B8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78" y="4612165"/>
                <a:ext cx="11708026" cy="1608261"/>
              </a:xfrm>
              <a:prstGeom prst="rect">
                <a:avLst/>
              </a:prstGeom>
              <a:blipFill>
                <a:blip r:embed="rId2"/>
                <a:stretch>
                  <a:fillRect t="-2362" b="-393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Similarity Ranking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548765"/>
              </p:ext>
            </p:extLst>
          </p:nvPr>
        </p:nvGraphicFramePr>
        <p:xfrm>
          <a:off x="3040448" y="1773194"/>
          <a:ext cx="5881131" cy="1828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960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0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chunk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cosine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0.986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0.216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47B732F9-5D7F-9897-885D-6B0A69861FAD}"/>
              </a:ext>
            </a:extLst>
          </p:cNvPr>
          <p:cNvSpPr txBox="1"/>
          <p:nvPr/>
        </p:nvSpPr>
        <p:spPr>
          <a:xfrm>
            <a:off x="2286686" y="4307321"/>
            <a:ext cx="11708026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/>
              <a:t>Not sure its enough for ”understanding” context </a:t>
            </a:r>
            <a:r>
              <a:rPr lang="en-US" sz="2800" dirty="0">
                <a:sym typeface="Wingdings" pitchFamily="2" charset="2"/>
              </a:rPr>
              <a:t>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BM25 Appears in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dirty="0"/>
              <a:t>RAG often starts with a search problem.</a:t>
            </a:r>
          </a:p>
          <a:p>
            <a:pPr lvl="0"/>
            <a:r>
              <a:rPr dirty="0"/>
              <a:t>Dense vectors find semantic similarity.</a:t>
            </a:r>
          </a:p>
          <a:p>
            <a:pPr lvl="0"/>
            <a:r>
              <a:rPr dirty="0"/>
              <a:t>BM25 finds exact lexical evidence.</a:t>
            </a:r>
          </a:p>
          <a:p>
            <a:pPr lvl="0"/>
            <a:r>
              <a:rPr dirty="0"/>
              <a:t>A good retriever often combines dense and lexical scores.</a:t>
            </a:r>
            <a:endParaRPr lang="en-US" dirty="0"/>
          </a:p>
          <a:p>
            <a:pPr lvl="0"/>
            <a:endParaRPr lang="en-US" dirty="0"/>
          </a:p>
          <a:p>
            <a:pPr marL="0" lvl="0" indent="0">
              <a:buNone/>
            </a:pPr>
            <a:r>
              <a:rPr lang="en-US" dirty="0"/>
              <a:t>BM25 (Best Matching) is improvement of simple TF-IDF </a:t>
            </a:r>
            <a:r>
              <a:rPr lang="en-US" dirty="0">
                <a:sym typeface="Wingdings" pitchFamily="2" charset="2"/>
              </a:rPr>
              <a:t> 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BM25 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BM25 rewards a document when:</a:t>
            </a:r>
          </a:p>
          <a:p>
            <a:pPr lvl="0"/>
            <a:r>
              <a:rPr dirty="0"/>
              <a:t>query terms appear in the document.</a:t>
            </a:r>
          </a:p>
          <a:p>
            <a:pPr lvl="0"/>
            <a:r>
              <a:rPr dirty="0"/>
              <a:t>rare terms appear.</a:t>
            </a:r>
          </a:p>
          <a:p>
            <a:pPr lvl="0"/>
            <a:r>
              <a:rPr dirty="0"/>
              <a:t>terms appear enough times, but not endlessly.</a:t>
            </a:r>
          </a:p>
          <a:p>
            <a:pPr lvl="0"/>
            <a:r>
              <a:rPr dirty="0"/>
              <a:t>the document is not only long because it contains many words.</a:t>
            </a:r>
          </a:p>
          <a:p>
            <a:pPr marL="0" lvl="0" indent="0">
              <a:buNone/>
            </a:pPr>
            <a:r>
              <a:rPr dirty="0"/>
              <a:t>This improves over raw word counts.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BM25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" dirty="0"/>
                  <a:t>For query </a:t>
                </a:r>
                <a14:m>
                  <m:oMath xmlns:m="http://schemas.openxmlformats.org/officeDocument/2006/math">
                    <m:r>
                      <a:rPr lang="en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" dirty="0"/>
                  <a:t> and document or chunk </a:t>
                </a:r>
                <a14:m>
                  <m:oMath xmlns:m="http://schemas.openxmlformats.org/officeDocument/2006/math">
                    <m:r>
                      <a:rPr lang="en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" sz="2600">
                          <a:latin typeface="Cambria Math" panose="02040503050406030204" pitchFamily="18" charset="0"/>
                        </a:rPr>
                        <m:t>𝐵𝑀</m:t>
                      </m:r>
                      <m:r>
                        <a:rPr lang="en" sz="2600">
                          <a:latin typeface="Cambria Math" panose="02040503050406030204" pitchFamily="18" charset="0"/>
                        </a:rPr>
                        <m:t>25(</m:t>
                      </m:r>
                      <m:r>
                        <a:rPr lang="en" sz="260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" sz="26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" sz="260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" sz="260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nary>
                      <m:r>
                        <a:rPr lang="ar-AE" sz="2600">
                          <a:latin typeface="Cambria Math" panose="02040503050406030204" pitchFamily="18" charset="0"/>
                        </a:rPr>
                        <m:t>𝐷𝐹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)⋅</m:t>
                      </m:r>
                      <m:f>
                        <m:f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sz="2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 sz="260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sz="2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6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ar-AE" sz="26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ar-AE" sz="2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6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ar-AE" sz="2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ar-AE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60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ar-AE" sz="2600">
                                      <a:latin typeface="Cambria Math" panose="02040503050406030204" pitchFamily="18" charset="0"/>
                                    </a:rPr>
                                    <m:t>𝑎𝑣𝑔</m:t>
                                  </m:r>
                                  <m:sSub>
                                    <m:sSub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600" b="0" i="0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ar-AE" sz="2600" dirty="0"/>
              </a:p>
              <a:p>
                <a:pPr marL="0" lvl="0" indent="0">
                  <a:buNone/>
                </a:pPr>
                <a:r>
                  <a:rPr lang="en" dirty="0"/>
                  <a:t>Common defaults: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=1.2</m:t>
                    </m:r>
                  </m:oMath>
                </a14:m>
                <a:r>
                  <a:rPr lang="ar-AE" dirty="0"/>
                  <a:t> </a:t>
                </a:r>
                <a:r>
                  <a:rPr lang="en" dirty="0"/>
                  <a:t>controls term-frequency saturation.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en" dirty="0"/>
                  <a:t> controls document-length normalization.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92" t="-1120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IDF: Rarity Weight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/>
              </p:cNvSpPr>
              <p:nvPr>
                <p:ph type="body" sz="half" idx="2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Rare query terms should matter more than common terms.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𝐼𝐷𝐹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)+0.5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)+0.5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 hasCustomPrompt="1"/>
              </p:nvPr>
            </p:nvSpPr>
            <p:spPr>
              <a:blipFill>
                <a:blip r:embed="rId2"/>
                <a:stretch>
                  <a:fillRect l="-97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554036"/>
              </p:ext>
            </p:extLst>
          </p:nvPr>
        </p:nvGraphicFramePr>
        <p:xfrm>
          <a:off x="3212412" y="3372316"/>
          <a:ext cx="5424958" cy="1849437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712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2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47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47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number of chunks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47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df(t)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chunks containing term </a:t>
                      </a:r>
                      <a:r>
                        <a:rPr dirty="0">
                          <a:latin typeface="Courier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IDF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/>
              </p:cNvSpPr>
              <p:nvPr>
                <p:ph type="body" sz="half" idx="2" hasCustomPrompt="1"/>
              </p:nvPr>
            </p:nvSpPr>
            <p:spPr>
              <a:xfrm>
                <a:off x="1165225" y="1591920"/>
                <a:ext cx="9064625" cy="435702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t>Assume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  <m:r>
                      <a:rPr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t> chunks.</a:t>
                </a:r>
              </a:p>
            </p:txBody>
          </p:sp>
        </mc:Choice>
        <mc:Fallback xmlns="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 hasCustomPrompt="1"/>
              </p:nvPr>
            </p:nvSpPr>
            <p:spPr>
              <a:xfrm>
                <a:off x="1165225" y="1591920"/>
                <a:ext cx="9064625" cy="4357028"/>
              </a:xfrm>
              <a:blipFill>
                <a:blip r:embed="rId2"/>
                <a:stretch>
                  <a:fillRect l="-97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6477493"/>
              </p:ext>
            </p:extLst>
          </p:nvPr>
        </p:nvGraphicFramePr>
        <p:xfrm>
          <a:off x="1418109" y="2551670"/>
          <a:ext cx="8890000" cy="14630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IDF intuition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IDF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rare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4.56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homework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very common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Term Frequency Saturation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/>
              </p:cNvSpPr>
              <p:nvPr>
                <p:ph type="body" sz="half" idx="2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BM25 does not reward repeated words linearly.</a:t>
                </a:r>
              </a:p>
              <a:p>
                <a:pPr marL="0" lvl="0" indent="0">
                  <a:buNone/>
                </a:pPr>
                <a:r>
                  <a:rPr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=1.2</m:t>
                    </m:r>
                  </m:oMath>
                </a14:m>
                <a:r>
                  <a:rPr dirty="0"/>
                  <a:t> and average-length chunks.</a:t>
                </a:r>
              </a:p>
            </p:txBody>
          </p:sp>
        </mc:Choice>
        <mc:Fallback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 hasCustomPrompt="1"/>
              </p:nvPr>
            </p:nvSpPr>
            <p:spPr>
              <a:blipFill>
                <a:blip r:embed="rId2"/>
                <a:stretch>
                  <a:fillRect l="-97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4458714"/>
              </p:ext>
            </p:extLst>
          </p:nvPr>
        </p:nvGraphicFramePr>
        <p:xfrm>
          <a:off x="3854965" y="2848231"/>
          <a:ext cx="3806224" cy="184943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90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88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term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BM25 </a:t>
                      </a:r>
                      <a:r>
                        <a:rPr dirty="0" err="1"/>
                        <a:t>tf</a:t>
                      </a:r>
                      <a:r>
                        <a:rPr dirty="0"/>
                        <a:t>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Document Length Normalization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/>
              </p:cNvSpPr>
              <p:nvPr>
                <p:ph type="body" sz="half" idx="2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" dirty="0"/>
                  <a:t>Long chunks naturally contain more words.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">
                          <a:latin typeface="Cambria Math" panose="02040503050406030204" pitchFamily="18" charset="0"/>
                        </a:rPr>
                        <m:t>𝑛𝑜𝑟𝑚</m:t>
                      </m:r>
                      <m:r>
                        <a:rPr lang="en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">
                          <a:latin typeface="Cambria Math" panose="02040503050406030204" pitchFamily="18" charset="0"/>
                        </a:rPr>
                        <m:t>𝑏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𝑎𝑣𝑔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" dirty="0"/>
                  <a:t>Assume </a:t>
                </a:r>
                <a14:m>
                  <m:oMath xmlns:m="http://schemas.openxmlformats.org/officeDocument/2006/math">
                    <m:r>
                      <a:rPr lang="en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en" dirty="0"/>
                  <a:t> and </a:t>
                </a:r>
                <a14:m>
                  <m:oMath xmlns:m="http://schemas.openxmlformats.org/officeDocument/2006/math">
                    <m:r>
                      <a:rPr lang="en">
                        <a:latin typeface="Cambria Math" panose="02040503050406030204" pitchFamily="18" charset="0"/>
                      </a:rPr>
                      <m:t>𝑎𝑣𝑔𝑑𝑙</m:t>
                    </m:r>
                    <m:r>
                      <a:rPr lang="en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rPr lang="en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 hasCustomPrompt="1"/>
              </p:nvPr>
            </p:nvSpPr>
            <p:spPr>
              <a:blipFill>
                <a:blip r:embed="rId2"/>
                <a:stretch>
                  <a:fillRect l="-97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0761895"/>
              </p:ext>
            </p:extLst>
          </p:nvPr>
        </p:nvGraphicFramePr>
        <p:xfrm>
          <a:off x="3503398" y="3865414"/>
          <a:ext cx="5185204" cy="174455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92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13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chunk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length norm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13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13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13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BM25 Mini-Corpus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/>
              </p:cNvSpPr>
              <p:nvPr>
                <p:ph type="body" sz="half" idx="2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Query:</a:t>
                </a:r>
              </a:p>
              <a:p>
                <a:pPr lvl="0" indent="0">
                  <a:buNone/>
                </a:pPr>
                <a:r>
                  <a:rPr dirty="0">
                    <a:latin typeface="Courier"/>
                  </a:rPr>
                  <a:t>late homework penalty</a:t>
                </a:r>
                <a:endParaRPr lang="en-US" dirty="0">
                  <a:latin typeface="Courier"/>
                </a:endParaRPr>
              </a:p>
              <a:p>
                <a:pPr lvl="0" indent="0">
                  <a:buNone/>
                </a:pPr>
                <a:endParaRPr lang="en-US" dirty="0">
                  <a:latin typeface="Courier"/>
                </a:endParaRPr>
              </a:p>
              <a:p>
                <a:pPr lvl="0" indent="0">
                  <a:buNone/>
                </a:pPr>
                <a:endParaRPr lang="en-US" dirty="0">
                  <a:latin typeface="Courier"/>
                </a:endParaRPr>
              </a:p>
              <a:p>
                <a:pPr lvl="0" indent="0">
                  <a:buNone/>
                </a:pPr>
                <a:endParaRPr lang="en-US" dirty="0">
                  <a:latin typeface="Courier"/>
                </a:endParaRPr>
              </a:p>
              <a:p>
                <a:pPr lvl="0" indent="0">
                  <a:buNone/>
                </a:pPr>
                <a:endParaRPr lang="en-US" dirty="0">
                  <a:latin typeface="Courier"/>
                </a:endParaRPr>
              </a:p>
              <a:p>
                <a:r>
                  <a:rPr lang="en" dirty="0"/>
                  <a:t>Assume </a:t>
                </a:r>
                <a14:m>
                  <m:oMath xmlns:m="http://schemas.openxmlformats.org/officeDocument/2006/math">
                    <m:r>
                      <a:rPr lang="en">
                        <a:latin typeface="Cambria Math" panose="02040503050406030204" pitchFamily="18" charset="0"/>
                      </a:rPr>
                      <m:t>𝑎𝑣𝑔𝑑𝑙</m:t>
                    </m:r>
                    <m:r>
                      <a:rPr lang="en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=1.2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ar-AE" dirty="0"/>
                  <a:t>.</a:t>
                </a:r>
              </a:p>
              <a:p>
                <a:pPr lvl="0" indent="0">
                  <a:buNone/>
                </a:pPr>
                <a:endParaRPr dirty="0">
                  <a:latin typeface="Courier"/>
                </a:endParaRPr>
              </a:p>
            </p:txBody>
          </p:sp>
        </mc:Choice>
        <mc:Fallback xmlns="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 hasCustomPrompt="1"/>
              </p:nvPr>
            </p:nvSpPr>
            <p:spPr>
              <a:blipFill>
                <a:blip r:embed="rId2"/>
                <a:stretch>
                  <a:fillRect l="-97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838086"/>
              </p:ext>
            </p:extLst>
          </p:nvPr>
        </p:nvGraphicFramePr>
        <p:xfrm>
          <a:off x="2846001" y="2815972"/>
          <a:ext cx="6499998" cy="150134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81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33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chunk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text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33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late homework penalty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33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office hours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337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homework grading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1B1FE954-93E8-8421-9F29-1A02F839AD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8925724"/>
              </p:ext>
            </p:extLst>
          </p:nvPr>
        </p:nvGraphicFramePr>
        <p:xfrm>
          <a:off x="3828363" y="5163571"/>
          <a:ext cx="4535274" cy="14630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511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01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01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 err="1">
                          <a:latin typeface="Courier"/>
                        </a:rPr>
                        <a:t>avgdl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average chunk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01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 err="1"/>
                        <a:t>tf</a:t>
                      </a:r>
                      <a:r>
                        <a:rPr dirty="0"/>
                        <a:t> saturation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01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length normalization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BM25 Term Statistics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6934058"/>
              </p:ext>
            </p:extLst>
          </p:nvPr>
        </p:nvGraphicFramePr>
        <p:xfrm>
          <a:off x="939800" y="1600199"/>
          <a:ext cx="6338331" cy="16743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112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58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IDF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58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0.981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8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homework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0.470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8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>
                          <a:latin typeface="Courier"/>
                        </a:rPr>
                        <a:t>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0.981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C1 Term Frequencies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For C1:</a:t>
            </a:r>
          </a:p>
          <a:p>
            <a:pPr lvl="0"/>
            <a:r>
              <a:t>all three terms appear once.</a:t>
            </a:r>
          </a:p>
          <a:p>
            <a:pPr lvl="0"/>
            <a:r>
              <a:t>chunk length is 8 tokens.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BM25 Worked Example: C1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Length normalization: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1−0.75+0.75⋅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=1.25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Term weight for each one-time term: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1(1.2+1)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1+1.2(1.25)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2.2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2.5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=0.88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BM25 Worked Score: C1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C1 contains </a:t>
                </a:r>
                <a:r>
                  <a:rPr>
                    <a:latin typeface="Courier"/>
                  </a:rPr>
                  <a:t>late</a:t>
                </a:r>
                <a:r>
                  <a:t>, </a:t>
                </a:r>
                <a:r>
                  <a:rPr>
                    <a:latin typeface="Courier"/>
                  </a:rPr>
                  <a:t>homework</a:t>
                </a:r>
                <a:r>
                  <a:t>, and </a:t>
                </a:r>
                <a:r>
                  <a:rPr>
                    <a:latin typeface="Courier"/>
                  </a:rPr>
                  <a:t>penalty</a:t>
                </a:r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𝐵𝑀</m:t>
                      </m:r>
                      <m:r>
                        <a:rPr>
                          <a:latin typeface="Cambria Math" panose="02040503050406030204" pitchFamily="18" charset="0"/>
                        </a:rPr>
                        <m:t>25(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>
                          <a:latin typeface="Cambria Math" panose="02040503050406030204" pitchFamily="18" charset="0"/>
                        </a:rPr>
                        <m:t>1)=0.88(0.981+0.470+0.981)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𝐵𝑀</m:t>
                      </m:r>
                      <m:r>
                        <a:rPr>
                          <a:latin typeface="Cambria Math" panose="02040503050406030204" pitchFamily="18" charset="0"/>
                        </a:rPr>
                        <m:t>25(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>
                          <a:latin typeface="Cambria Math" panose="02040503050406030204" pitchFamily="18" charset="0"/>
                        </a:rPr>
                        <m:t>1)=0.88⋅2.432=2.140</m:t>
                      </m:r>
                    </m:oMath>
                  </m:oMathPara>
                </a14:m>
                <a:endParaRPr/>
              </a:p>
              <a:p>
                <a:pPr lvl="0"/>
                <a:r>
                  <a:t>C1 receives a strong lexical score.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BM25 Ranking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600200"/>
          <a:ext cx="10629900" cy="14630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matched query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raw BM25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late, homework, 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2.140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homework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Normalizing BM25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/>
              </p:cNvSpPr>
              <p:nvPr>
                <p:ph type="body" sz="half" idx="2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BM25 is not naturally bounded like cosine similarity.</a:t>
                </a:r>
              </a:p>
              <a:p>
                <a:pPr marL="0" lvl="0" indent="0">
                  <a:buNone/>
                </a:pPr>
                <a:r>
                  <a:t>Before mixing scores: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𝐵𝑀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25(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25)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25)−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25)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 hasCustomPrompt="1"/>
              </p:nvPr>
            </p:nvSpPr>
            <p:spPr>
              <a:blipFill>
                <a:blip r:embed="rId2"/>
                <a:stretch>
                  <a:fillRect l="-97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277178"/>
              </p:ext>
            </p:extLst>
          </p:nvPr>
        </p:nvGraphicFramePr>
        <p:xfrm>
          <a:off x="1358900" y="4424680"/>
          <a:ext cx="8915400" cy="14630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chunk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raw BM25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normalized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2.140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0.470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Hybrid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Let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𝐵𝑀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</m:oMath>
                </a14:m>
                <a:r>
                  <a:t> be a normalized lexical score.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)=0.7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)+0.3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𝐵𝑀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lvl="0"/>
                <a:r>
                  <a:t>Dense score captures semantic similarity.</a:t>
                </a:r>
              </a:p>
              <a:p>
                <a:pPr lvl="0"/>
                <a:r>
                  <a:t>Lexical score rewards exact policy words.</a:t>
                </a:r>
              </a:p>
              <a:p>
                <a:pPr lvl="0"/>
                <a:r>
                  <a:t>Weights should be tested on real queries.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Retrieval 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/>
              </p:cNvSpPr>
              <p:nvPr>
                <p:ph type="body" sz="half" idx="2" hasCustomPrompt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Retrieval quality is measured before generation.</a:t>
                </a:r>
              </a:p>
              <a:p>
                <a:pPr lvl="0"/>
                <a:r>
                  <a:rPr dirty="0"/>
                  <a:t>A fluent answer can hide bad retrieval.</a:t>
                </a:r>
              </a:p>
              <a:p>
                <a:pPr lvl="0"/>
                <a:r>
                  <a:rPr dirty="0"/>
                  <a:t>Build a small gold set of realistic questions.</a:t>
                </a:r>
              </a:p>
              <a:p>
                <a:pPr lvl="0"/>
                <a:r>
                  <a:rPr dirty="0"/>
                  <a:t>Label which chunks are relevant for each question.</a:t>
                </a:r>
                <a:endParaRPr lang="en-US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𝑟𝑒𝑙𝑒𝑣𝑎𝑛𝑡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𝑟𝑒𝑡𝑟𝑖𝑒𝑣𝑒𝑑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𝑟𝑒𝑙𝑒𝑣𝑎𝑛𝑡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𝑟𝑒𝑡𝑟𝑖𝑒𝑣𝑒𝑑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𝑎𝑙𝑙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𝑟𝑒𝑙𝑒𝑣𝑎𝑛𝑡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0A904EEE-C9D3-E47E-C69D-A4A1BC1D9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 hasCustomPrompt="1"/>
              </p:nvPr>
            </p:nvSpPr>
            <p:spPr>
              <a:blipFill>
                <a:blip r:embed="rId2"/>
                <a:stretch>
                  <a:fillRect l="-97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Precision and Recall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@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𝑟𝑒𝑙𝑒𝑣𝑎𝑛𝑡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𝑟𝑒𝑡𝑟𝑖𝑒𝑣𝑒𝑑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>
                          <a:latin typeface="Cambria Math" panose="02040503050406030204" pitchFamily="18" charset="0"/>
                        </a:rPr>
                        <m:t>@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𝑟𝑒𝑙𝑒𝑣𝑎𝑛𝑡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𝑟𝑒𝑡𝑟𝑖𝑒𝑣𝑒𝑑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𝑎𝑙𝑙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𝑟𝑒𝑙𝑒𝑣𝑎𝑛𝑡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Example:</a:t>
                </a:r>
              </a:p>
              <a:p>
                <a:pPr lvl="0"/>
                <a:r>
                  <a:rPr dirty="0"/>
                  <a:t>relevant chunks for query: C1 and C3.</a:t>
                </a:r>
              </a:p>
              <a:p>
                <a:pPr lvl="0"/>
                <a:r>
                  <a:rPr dirty="0"/>
                  <a:t>top-3 retrieved: C1, C2, C3.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>
                        <a:latin typeface="Cambria Math" panose="02040503050406030204" pitchFamily="18" charset="0"/>
                      </a:rPr>
                      <m:t>@3=2/3=0.667</m:t>
                    </m:r>
                  </m:oMath>
                </a14:m>
                <a:r>
                  <a:rPr dirty="0"/>
                  <a:t>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>
                        <a:latin typeface="Cambria Math" panose="02040503050406030204" pitchFamily="18" charset="0"/>
                      </a:rPr>
                      <m:t>@3=2/2=1.0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 b="-5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Reranking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/>
              <a:lstStyle/>
              <a:p>
                <a:pPr lvl="0"/>
                <a:r>
                  <a:t>First-stage retrieval gets many candidates quickly.</a:t>
                </a:r>
              </a:p>
              <a:p>
                <a:pPr lvl="0"/>
                <a:r>
                  <a:t>Reranking reorders a smaller candidate set.</a:t>
                </a:r>
              </a:p>
              <a:p>
                <a:pPr lvl="0"/>
                <a:r>
                  <a:t>Reranker can inspect query and chunk together.</a:t>
                </a:r>
              </a:p>
              <a:p>
                <a:pPr lvl="0"/>
                <a:r>
                  <a:t>Use reranking when top candidates are close or noisy.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𝑓𝑖𝑛𝑎𝑙</m:t>
                      </m:r>
                      <m:r>
                        <a:rPr>
                          <a:latin typeface="Cambria Math" panose="02040503050406030204" pitchFamily="18" charset="0"/>
                        </a:rPr>
                        <m:t>_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𝑟𝑎𝑛𝑘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𝑟𝑒𝑟𝑎𝑛𝑘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>
                          <a:latin typeface="Cambria Math" panose="02040503050406030204" pitchFamily="18" charset="0"/>
                        </a:rPr>
                        <m:t>, 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𝑡𝑜𝑝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_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𝑐𝑎𝑛𝑑𝑖𝑑𝑎𝑡𝑒𝑠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1689</Words>
  <Application>Microsoft Macintosh PowerPoint</Application>
  <PresentationFormat>מסך רחב</PresentationFormat>
  <Paragraphs>468</Paragraphs>
  <Slides>41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41</vt:i4>
      </vt:variant>
    </vt:vector>
  </HeadingPairs>
  <TitlesOfParts>
    <vt:vector size="47" baseType="lpstr">
      <vt:lpstr>Arial</vt:lpstr>
      <vt:lpstr>Calibri</vt:lpstr>
      <vt:lpstr>Cambria Math</vt:lpstr>
      <vt:lpstr>Courier</vt:lpstr>
      <vt:lpstr>Wingdings</vt:lpstr>
      <vt:lpstr>Office Theme</vt:lpstr>
      <vt:lpstr>Week 17: Language Models and End-to-End RAG</vt:lpstr>
      <vt:lpstr>What Is a Language Model?</vt:lpstr>
      <vt:lpstr>Formal Definition</vt:lpstr>
      <vt:lpstr>Simple Example</vt:lpstr>
      <vt:lpstr>Tokenization</vt:lpstr>
      <vt:lpstr>Sequence Probability Example</vt:lpstr>
      <vt:lpstr>Cross-Entropy and Perplexity</vt:lpstr>
      <vt:lpstr>Perplexity Mini-Calculation</vt:lpstr>
      <vt:lpstr>Generation Loop</vt:lpstr>
      <vt:lpstr>What Makes an LLM Different?</vt:lpstr>
      <vt:lpstr>Critical Limitation</vt:lpstr>
      <vt:lpstr>What Is RAG?</vt:lpstr>
      <vt:lpstr>RAG Flow</vt:lpstr>
      <vt:lpstr>Step 1: Ingest and Clean</vt:lpstr>
      <vt:lpstr>Step 2: Chunk the Corpus</vt:lpstr>
      <vt:lpstr>Chunking Calculation</vt:lpstr>
      <vt:lpstr>Step 3: Store Chunk Metadata (Why??)</vt:lpstr>
      <vt:lpstr>Step 4: Embed and Index</vt:lpstr>
      <vt:lpstr>Step 5: Query-Time Retrieval</vt:lpstr>
      <vt:lpstr>Formal Retrieval Model</vt:lpstr>
      <vt:lpstr>Cosine Similarity</vt:lpstr>
      <vt:lpstr>Worked Example: Candidate Vectors</vt:lpstr>
      <vt:lpstr>Similarity Ranking</vt:lpstr>
      <vt:lpstr>Why BM25 Appears in RAG</vt:lpstr>
      <vt:lpstr>BM25 Core Idea</vt:lpstr>
      <vt:lpstr>BM25 Formula</vt:lpstr>
      <vt:lpstr>IDF: Rarity Weight</vt:lpstr>
      <vt:lpstr>IDF Example</vt:lpstr>
      <vt:lpstr>Term Frequency Saturation</vt:lpstr>
      <vt:lpstr>Document Length Normalization</vt:lpstr>
      <vt:lpstr>BM25 Mini-Corpus</vt:lpstr>
      <vt:lpstr>BM25 Term Statistics</vt:lpstr>
      <vt:lpstr>C1 Term Frequencies</vt:lpstr>
      <vt:lpstr>BM25 Worked Example: C1</vt:lpstr>
      <vt:lpstr>BM25 Worked Score: C1</vt:lpstr>
      <vt:lpstr>BM25 Ranking Example</vt:lpstr>
      <vt:lpstr>Normalizing BM25</vt:lpstr>
      <vt:lpstr>Hybrid Score</vt:lpstr>
      <vt:lpstr>Retrieval Evaluation</vt:lpstr>
      <vt:lpstr>Precision and Recall</vt:lpstr>
      <vt:lpstr>Reranking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27</Words>
  <Application>Microsoft Macintosh PowerPoint</Application>
  <PresentationFormat>מסך רחב</PresentationFormat>
  <Paragraphs>18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Or Perets</cp:lastModifiedBy>
  <cp:revision>2</cp:revision>
  <dcterms:created xsi:type="dcterms:W3CDTF">2026-05-08T13:49:11Z</dcterms:created>
  <dcterms:modified xsi:type="dcterms:W3CDTF">2026-05-09T16:19:40Z</dcterms:modified>
</cp:coreProperties>
</file>