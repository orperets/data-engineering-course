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14"/>
    <p:restoredTop sz="94719"/>
  </p:normalViewPr>
  <p:slideViewPr>
    <p:cSldViewPr snapToGrid="0" snapToObjects="1">
      <p:cViewPr varScale="1">
        <p:scale>
          <a:sx d="100" n="158"/>
          <a:sy d="100" n="158"/>
        </p:scale>
        <p:origin x="440" y="184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Relationship Id="rId4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2066925"/>
            <a:ext cx="103632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dirty="0"/>
              <a:t>MASTER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1219200" y="2066925"/>
            <a:ext cx="103632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4: Data Ingestion and ETL Pipelines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Ingestion is the first mile of data: source → storage</a:t>
            </a:r>
          </a:p>
          <a:p>
            <a:pPr lvl="0"/>
            <a:r>
              <a:rPr/>
              <a:t>ETL/ELT pipelines are the backbone of analytics and DWH</a:t>
            </a:r>
          </a:p>
          <a:p>
            <a:pPr lvl="0"/>
            <a:r>
              <a:rPr/>
              <a:t>Failures and reruns must not corrupt or duplicate data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ETL vs ELT and when to use each</a:t>
            </a:r>
          </a:p>
          <a:p>
            <a:pPr lvl="0"/>
            <a:r>
              <a:rPr/>
              <a:t>Classify ingestion: batch vs incremental; full vs delta</a:t>
            </a:r>
          </a:p>
          <a:p>
            <a:pPr lvl="0"/>
            <a:r>
              <a:rPr/>
              <a:t>Apply idempotency and watermark for safe reruns</a:t>
            </a:r>
          </a:p>
          <a:p>
            <a:pPr lvl="0"/>
            <a:r>
              <a:rPr/>
              <a:t>Design staging, dedup, and MERGE for incremental load</a:t>
            </a:r>
          </a:p>
          <a:p>
            <a:pPr lvl="0"/>
            <a:r>
              <a:rPr/>
              <a:t>Handle failure: partition-based resume, DLQ, no duplicates on rerun</a:t>
            </a:r>
          </a:p>
          <a:p>
            <a:pPr lvl="0"/>
            <a:r>
              <a:rPr/>
              <a:t>Reason about cost: I/O, network, and latency vs consistency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Sources Used (Reference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sources/Lecture 4.pptx</a:t>
            </a:r>
          </a:p>
          <a:p>
            <a:pPr lvl="0"/>
            <a:r>
              <a:rPr/>
              <a:t>exercises1.md (ETL/ELT, batch ingestion, incremental, failure/reprocessing)</a:t>
            </a:r>
          </a:p>
          <a:p>
            <a:pPr lvl="0"/>
            <a:r>
              <a:rPr/>
              <a:t>exercises2.md (Module 3: Robust Data Ingestion, watermarking, DLQ, schema-on-read)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Slide 13 → week4_lecture_slide13_pipeline_overview.puml → ETL pipeline system overview</a:t>
            </a:r>
          </a:p>
          <a:p>
            <a:pPr lvl="0"/>
            <a:r>
              <a:rPr/>
              <a:t>Slide 22 → week4_lecture_slide22_execution_flow.puml → execution flow (trigger → load → watermark)</a:t>
            </a:r>
          </a:p>
          <a:p>
            <a:pPr lvl="0"/>
            <a:r>
              <a:rPr/>
              <a:t>Slide 38 → week4_lecture_slide38_failure_rerun.puml → failure: partial run and idempotent rerun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ETL:</a:t>
            </a:r>
            <a:r>
              <a:rPr/>
              <a:t> Extract (read source) → Transform (clean, join, aggregate) → Load (write target)</a:t>
            </a:r>
          </a:p>
          <a:p>
            <a:pPr lvl="0"/>
            <a:r>
              <a:rPr b="1"/>
              <a:t>ELT:</a:t>
            </a:r>
            <a:r>
              <a:rPr/>
              <a:t> Extract → Load (raw into lake/DWH) → Transform (SQL in place); scales with engine</a:t>
            </a:r>
          </a:p>
          <a:p>
            <a:pPr lvl="0"/>
            <a:r>
              <a:rPr b="1"/>
              <a:t>Batch:</a:t>
            </a:r>
            <a:r>
              <a:rPr/>
              <a:t> periodic bulk load (e.g. nightly); </a:t>
            </a:r>
            <a:r>
              <a:rPr b="1"/>
              <a:t>incremental:</a:t>
            </a:r>
            <a:r>
              <a:rPr/>
              <a:t> only new/changed rows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Idempotency:</a:t>
            </a:r>
            <a:r>
              <a:rPr/>
              <a:t> running the job N times yields same result as running once</a:t>
            </a:r>
          </a:p>
          <a:p>
            <a:pPr lvl="0"/>
            <a:r>
              <a:rPr b="1"/>
              <a:t>Watermark:</a:t>
            </a:r>
            <a:r>
              <a:rPr/>
              <a:t> last_loaded_at or max(id); next run reads only data after watermark</a:t>
            </a:r>
          </a:p>
          <a:p>
            <a:pPr lvl="0"/>
            <a:r>
              <a:rPr b="1"/>
              <a:t>CDC:</a:t>
            </a:r>
            <a:r>
              <a:rPr/>
              <a:t> change data capture; apply inserts/updates/deletes from source log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Data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Source:</a:t>
            </a:r>
            <a:r>
              <a:rPr/>
              <a:t> raw_events (event_id, user_id, event_type, event_timestamp, details)</a:t>
            </a:r>
          </a:p>
          <a:p>
            <a:pPr lvl="0"/>
            <a:r>
              <a:rPr b="1"/>
              <a:t>Sample:</a:t>
            </a:r>
            <a:r>
              <a:rPr/>
              <a:t> (1,101,‘click’,‘2025/12/01 08:00:00’,‘{“page”:“home”}’); duplicate event_id 1</a:t>
            </a:r>
          </a:p>
          <a:p>
            <a:pPr lvl="0"/>
            <a:r>
              <a:rPr b="1"/>
              <a:t>Target:</a:t>
            </a:r>
            <a:r>
              <a:rPr/>
              <a:t> events_clean same schema; event_time TIMESTAMP; no duplicates</a:t>
            </a:r>
          </a:p>
          <a:p>
            <a:pPr lvl="0"/>
            <a:r>
              <a:rPr b="1"/>
              <a:t>Goal:</a:t>
            </a:r>
            <a:r>
              <a:rPr/>
              <a:t> load raw → clean; dedup by event_id; idempotent rerun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1: Extract</a:t>
            </a:r>
            <a:r>
              <a:rPr/>
              <a:t> — read raw_events (e.g. partition by date)</a:t>
            </a:r>
          </a:p>
          <a:p>
            <a:pPr lvl="0"/>
            <a:r>
              <a:rPr/>
              <a:t>Filter event_type IN (‘click’,‘view’,‘purchase’)</a:t>
            </a:r>
          </a:p>
          <a:p>
            <a:pPr lvl="0"/>
            <a:r>
              <a:rPr/>
              <a:t>Cast event_timestamp string → TIMESTAMP; validate format</a:t>
            </a:r>
          </a:p>
          <a:p>
            <a:pPr lvl="0"/>
            <a:r>
              <a:rPr/>
              <a:t>Output: rows with event_time; invalid rows → DLQ or skip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2: Dedup (in-batch)</a:t>
            </a:r>
            <a:r>
              <a:rPr/>
              <a:t> — one row per event_id</a:t>
            </a:r>
          </a:p>
          <a:p>
            <a:pPr lvl="0"/>
            <a:r>
              <a:rPr/>
              <a:t>ROW_NUMBER() OVER (PARTITION BY event_id ORDER BY event_time) AS rn</a:t>
            </a:r>
          </a:p>
          <a:p>
            <a:pPr lvl="0"/>
            <a:r>
              <a:rPr/>
              <a:t>Keep WHERE rn = 1; drop rest</a:t>
            </a:r>
          </a:p>
          <a:p>
            <a:pPr lvl="0"/>
            <a:r>
              <a:rPr/>
              <a:t>Ensures staging does not insert duplicate keys into target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3: Load (merge)</a:t>
            </a:r>
            <a:r>
              <a:rPr/>
              <a:t> — MERGE INTO events_clean</a:t>
            </a:r>
          </a:p>
          <a:p>
            <a:pPr lvl="0"/>
            <a:r>
              <a:rPr/>
              <a:t>ON target.event_id = source.event_id</a:t>
            </a:r>
          </a:p>
          <a:p>
            <a:pPr lvl="0"/>
            <a:r>
              <a:rPr/>
              <a:t>WHEN NOT MATCHED THEN INSERT</a:t>
            </a:r>
          </a:p>
          <a:p>
            <a:pPr lvl="0"/>
            <a:r>
              <a:rPr/>
              <a:t>WHEN MATCHED AND source.event_time &gt; target.event_time THEN UPDATE (optional)</a:t>
            </a:r>
          </a:p>
          <a:p>
            <a:pPr lvl="0"/>
            <a:r>
              <a:rPr/>
              <a:t>Rerun with same source: no new rows inserted (idempotent)</a:t>
            </a:r>
          </a:p>
          <a:p>
            <a:pPr lvl="0"/>
            <a:r>
              <a:rPr/>
              <a:t>See slide 13 (ETL Pipeline Overview) for pipeline diagram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Result:</a:t>
            </a:r>
            <a:r>
              <a:rPr/>
              <a:t> events_clean has one row per event_id; correct types</a:t>
            </a:r>
          </a:p>
          <a:p>
            <a:pPr lvl="0"/>
            <a:r>
              <a:rPr b="1"/>
              <a:t>Trade-off:</a:t>
            </a:r>
            <a:r>
              <a:rPr/>
              <a:t> MERGE cost = join source vs target; index on event_id critical</a:t>
            </a:r>
          </a:p>
          <a:p>
            <a:pPr lvl="0"/>
            <a:r>
              <a:rPr b="1"/>
              <a:t>Conclusion:</a:t>
            </a:r>
            <a:r>
              <a:rPr/>
              <a:t> staging + dedup + MERGE gives safe, repeatable ingestion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example to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Same pattern: extract (with filter) → dedup → merge; scales to many sources</a:t>
            </a:r>
          </a:p>
          <a:p>
            <a:pPr lvl="0"/>
            <a:r>
              <a:rPr/>
              <a:t>Next: system view of ETL pipeline; then cost and failure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ETL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Sources (DB, files, API) → Extract → Staging (optional) → Transform → Load → Target</a:t>
            </a:r>
          </a:p>
          <a:p>
            <a:pPr lvl="0"/>
            <a:r>
              <a:rPr/>
              <a:t>Staging allows schema-on-read and validation before touching target</a:t>
            </a:r>
          </a:p>
          <a:p>
            <a:pPr lvl="0"/>
            <a:r>
              <a:rPr/>
              <a:t>Diagram: week4_lecture_slide13_pipeline_overview.puml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Time model:</a:t>
            </a:r>
            <a:r>
              <a:rPr/>
              <a:t> T ≈ read_time + transform_time + write_time</a:t>
            </a:r>
          </a:p>
          <a:p>
            <a:pPr lvl="0"/>
            <a:r>
              <a:rPr/>
              <a:t>Read: I/O and network from source; Write: target load (indexes, constraints)</a:t>
            </a:r>
          </a:p>
          <a:p>
            <a:pPr lvl="0"/>
            <a:r>
              <a:rPr/>
              <a:t>Batch size vs latency: larger batches ⇒ fewer runs, higher per-run time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Memory / storage:</a:t>
            </a:r>
            <a:r>
              <a:rPr/>
              <a:t> staging holds one batch; target grows monotonically</a:t>
            </a:r>
          </a:p>
          <a:p>
            <a:pPr lvl="0"/>
            <a:r>
              <a:rPr/>
              <a:t>Peak disk = max(staging size, target write buffer)</a:t>
            </a:r>
          </a:p>
          <a:p>
            <a:pPr lvl="0"/>
            <a:r>
              <a:rPr/>
              <a:t>Partition target by date to limit scan and enable partition pruning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Network / throughput:</a:t>
            </a:r>
            <a:r>
              <a:rPr/>
              <a:t> extract and load move bytes; often bottleneck</a:t>
            </a:r>
          </a:p>
          <a:p>
            <a:pPr lvl="0"/>
            <a:r>
              <a:rPr/>
              <a:t>Compression (e.g. Parquet, gzip) reduces transfer; trade CPU for bandwidth</a:t>
            </a:r>
          </a:p>
          <a:p>
            <a:pPr lvl="0"/>
            <a:r>
              <a:rPr/>
              <a:t>Incremental load reduces data moved vs full refresh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summary: what drives ingestion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Read: source I/O and network; Write: target load and indexes</a:t>
            </a:r>
          </a:p>
          <a:p>
            <a:pPr lvl="0"/>
            <a:r>
              <a:rPr/>
              <a:t>Transform: CPU and memory; staging size bounds memory</a:t>
            </a:r>
          </a:p>
          <a:p>
            <a:pPr lvl="0"/>
            <a:r>
              <a:rPr/>
              <a:t>Incremental + partition pruning cut data volume per run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and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Staging: one batch at a time; truncate or overwrite per run</a:t>
            </a:r>
          </a:p>
          <a:p>
            <a:pPr lvl="0"/>
            <a:r>
              <a:rPr/>
              <a:t>Target: partition by date (or key) for pruning and partition-level rerun</a:t>
            </a:r>
          </a:p>
          <a:p>
            <a:pPr lvl="0"/>
            <a:r>
              <a:rPr/>
              <a:t>Control table: small; stores watermark and job state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Incremental load: watermark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Store last_loaded_at (or max(modified_at)) in control table</a:t>
            </a:r>
          </a:p>
          <a:p>
            <a:pPr lvl="0"/>
            <a:r>
              <a:rPr/>
              <a:t>Next run: SELECT * FROM source WHERE modified_at &gt; last_loaded_at</a:t>
            </a:r>
          </a:p>
          <a:p>
            <a:pPr lvl="0"/>
            <a:r>
              <a:rPr/>
              <a:t>Update watermark only after successful load; rerun skips already-loaded data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Watermark and late-arriving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Safety buffer: upper_bound = NOW() - 5 min so committed transactions included</a:t>
            </a:r>
          </a:p>
          <a:p>
            <a:pPr lvl="0"/>
            <a:r>
              <a:rPr/>
              <a:t>If job runs at 12:02 and txn commits at 12:05, row can be missed then skipped next run</a:t>
            </a:r>
          </a:p>
          <a:p>
            <a:pPr lvl="0"/>
            <a:r>
              <a:rPr/>
              <a:t>Trade latency (data 5 min old) for consistency (no loss)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Execution flow: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Trigger (schedule or event) → read source with watermark → transform → write target</a:t>
            </a:r>
          </a:p>
          <a:p>
            <a:pPr lvl="0"/>
            <a:r>
              <a:rPr/>
              <a:t>After successful write: update watermark in control table</a:t>
            </a:r>
          </a:p>
          <a:p>
            <a:pPr lvl="0"/>
            <a:r>
              <a:rPr/>
              <a:t>On failure: do not update watermark; next run re-reads same slice (idempotent)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Execution flow: trigger to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Trigger (schedule or event) → read source (with watermark) → transform → write target → update watermark</a:t>
            </a:r>
          </a:p>
          <a:p>
            <a:pPr lvl="0"/>
            <a:r>
              <a:rPr/>
              <a:t>Failure before watermark update: next run re-reads same slice (idempotent)</a:t>
            </a:r>
          </a:p>
          <a:p>
            <a:pPr lvl="0"/>
            <a:r>
              <a:rPr/>
              <a:t>Diagram: week4_lecture_slide22_execution_flow.puml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Non-idempotent load:</a:t>
            </a:r>
            <a:r>
              <a:rPr/>
              <a:t> INSERT without dedup or MERGE ⇒ rerun duplicates rows</a:t>
            </a:r>
          </a:p>
          <a:p>
            <a:pPr lvl="0"/>
            <a:r>
              <a:rPr b="1"/>
              <a:t>No watermark:</a:t>
            </a:r>
            <a:r>
              <a:rPr/>
              <a:t> full table scan every run ⇒ slow and risky for partial failure</a:t>
            </a:r>
          </a:p>
          <a:p>
            <a:pPr lvl="0"/>
            <a:r>
              <a:rPr b="1"/>
              <a:t>Overwrite instead of merge:</a:t>
            </a:r>
            <a:r>
              <a:rPr/>
              <a:t> reprocessing overwrites good data with stale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partial failure and resume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Job processes partitions P1, P2, P3; fails after writing P2</a:t>
            </a:r>
          </a:p>
          <a:p>
            <a:pPr lvl="0"/>
            <a:r>
              <a:rPr/>
              <a:t>Rerun from start: without idempotent write, P1 and P2 duplicated in target</a:t>
            </a:r>
          </a:p>
          <a:p>
            <a:pPr lvl="0"/>
            <a:r>
              <a:rPr/>
              <a:t>Fix: partition-level writes (e.g. by date) + MERGE or INSERT ON CONFLICT DO NOTHING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duplicate source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Upstream retries send same batch twice; or file re-delivered</a:t>
            </a:r>
          </a:p>
          <a:p>
            <a:pPr lvl="0"/>
            <a:r>
              <a:rPr/>
              <a:t>Dedup in staging (ROW_NUMBER by business key) then MERGE into target</a:t>
            </a:r>
          </a:p>
          <a:p>
            <a:pPr lvl="0"/>
            <a:r>
              <a:rPr/>
              <a:t>Idempotency: processing same batch again changes nothing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bad data and DLQ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bad row (wrong type, null required) can fail whole batch in schema-on-write</a:t>
            </a:r>
          </a:p>
          <a:p>
            <a:pPr lvl="0"/>
            <a:r>
              <a:rPr/>
              <a:t>Schema-on-read: load raw to staging (e.g. all VARCHAR); valid rows → target, invalid → DLQ</a:t>
            </a:r>
          </a:p>
          <a:p>
            <a:pPr lvl="0"/>
            <a:r>
              <a:rPr/>
              <a:t>Pipeline does not crash; bad rows auditable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Summary:</a:t>
            </a:r>
            <a:r>
              <a:rPr/>
              <a:t> partial run, duplicate source, bad data; all need design for rerun and validation</a:t>
            </a:r>
          </a:p>
          <a:p>
            <a:pPr lvl="0"/>
            <a:r>
              <a:rPr/>
              <a:t>Next: diagram of partial failure and idempotent rerun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non-idempotent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INSERT without key check: rerun inserts same rows again ⇒ duplicates</a:t>
            </a:r>
          </a:p>
          <a:p>
            <a:pPr lvl="0"/>
            <a:r>
              <a:rPr/>
              <a:t>Fix: MERGE or INSERT ON CONFLICT DO NOTHING keyed by business key</a:t>
            </a:r>
          </a:p>
          <a:p>
            <a:pPr lvl="0"/>
            <a:r>
              <a:rPr/>
              <a:t>Watermark alone is not enough if source can resend same batch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partition-level resume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Track which partitions (e.g. dates) are completed in control table</a:t>
            </a:r>
          </a:p>
          <a:p>
            <a:pPr lvl="0"/>
            <a:r>
              <a:rPr/>
              <a:t>On failure: skip already-completed partitions; process only remaining</a:t>
            </a:r>
          </a:p>
          <a:p>
            <a:pPr lvl="0"/>
            <a:r>
              <a:rPr/>
              <a:t>Write per partition (or MERGE) so rerun does not duplicate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duplicate source and dedup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Upstream retries or re-delivery: same event_id appears twice in batch</a:t>
            </a:r>
          </a:p>
          <a:p>
            <a:pPr lvl="0"/>
            <a:r>
              <a:rPr/>
              <a:t>In-staging dedup: ROW_NUMBER() PARTITION BY event_id ORDER BY event_time; keep rn=1</a:t>
            </a:r>
          </a:p>
          <a:p>
            <a:pPr lvl="0"/>
            <a:r>
              <a:rPr/>
              <a:t>MERGE into target: WHEN NOT MATCHED THEN INSERT; no duplicate keys in target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DLQ and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Invalid rows (type error, null required) → Dead Letter Queue table</a:t>
            </a:r>
          </a:p>
          <a:p>
            <a:pPr lvl="0"/>
            <a:r>
              <a:rPr/>
              <a:t>DLQ columns: raw row, error_reason, ingest_ts; analyze patterns (e.g. one device broken)</a:t>
            </a:r>
          </a:p>
          <a:p>
            <a:pPr lvl="0"/>
            <a:r>
              <a:rPr/>
              <a:t>Do not drop bad rows silently; audit and fix schema or source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Monitor: rows read vs rows written; watermark lag; DLQ row count</a:t>
            </a:r>
          </a:p>
          <a:p>
            <a:pPr lvl="0"/>
            <a:r>
              <a:rPr/>
              <a:t>Alert: load duration spike; zero rows written (possible bug); DLQ growth</a:t>
            </a:r>
          </a:p>
          <a:p>
            <a:pPr lvl="0"/>
            <a:r>
              <a:rPr/>
              <a:t>Metrics: per-partition counts; control table last_updated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mitigation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Idempotent write (MERGE/ON CONFLICT); partition-level watermark and commit</a:t>
            </a:r>
          </a:p>
          <a:p>
            <a:pPr lvl="0"/>
            <a:r>
              <a:rPr/>
              <a:t>Staging + dedup + DLQ; update watermark only after success</a:t>
            </a:r>
          </a:p>
          <a:p>
            <a:pPr lvl="0"/>
            <a:r>
              <a:rPr/>
              <a:t>Next: diagram of partial run and idempotent rerun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CDC and deletes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Watermark on table scan detects inserts/updates; deletes leave no row</a:t>
            </a:r>
          </a:p>
          <a:p>
            <a:pPr lvl="0"/>
            <a:r>
              <a:rPr/>
              <a:t>To capture deletes: log-based CDC (WAL, binlog) or soft-delete column</a:t>
            </a:r>
          </a:p>
          <a:p>
            <a:pPr lvl="0"/>
            <a:r>
              <a:rPr/>
              <a:t>Trade-off: complexity of CDC vs accepting no delete sync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 table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Columns: job_key, last_watermark (timestamp or max id), last_run_ts, status</a:t>
            </a:r>
          </a:p>
          <a:p>
            <a:pPr lvl="0"/>
            <a:r>
              <a:rPr/>
              <a:t>Read before run; update only after successful commit (in same txn as load)</a:t>
            </a:r>
          </a:p>
          <a:p>
            <a:pPr lvl="0"/>
            <a:r>
              <a:rPr/>
              <a:t>Partition-level: store completed partition list or max partition date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Rerun scenario: what we want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Job processes P1, P2, P3; fails after P2 written; rerun processes only P3</a:t>
            </a:r>
          </a:p>
          <a:p>
            <a:pPr lvl="0"/>
            <a:r>
              <a:rPr/>
              <a:t>Target must not contain duplicate rows for P1, P2 (idempotent write)</a:t>
            </a:r>
          </a:p>
          <a:p>
            <a:pPr lvl="0"/>
            <a:r>
              <a:rPr/>
              <a:t>Diagram next: partial run and safe rerun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scenario: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Job runs for 2025-12-01, 2025-12-02, 2025-12-03; fails after loading 12-02</a:t>
            </a:r>
          </a:p>
          <a:p>
            <a:pPr lvl="0"/>
            <a:r>
              <a:rPr/>
              <a:t>Rerun: only process 2025-12-03; do not re-insert 12-01 and 12-02 (idempotent write)</a:t>
            </a:r>
          </a:p>
          <a:p>
            <a:pPr lvl="0"/>
            <a:r>
              <a:rPr/>
              <a:t>Control table: mark 12-01 and 12-02 completed; skip on rerun; process 12-03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Visual: partial run and idempotent rerun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Diagram shows: run 1 processes P1, P2, fails before P3; run 2 processes only P3</a:t>
            </a:r>
          </a:p>
          <a:p>
            <a:pPr lvl="0"/>
            <a:r>
              <a:rPr/>
              <a:t>Target: P1 and P2 written once; P3 written on run 2; no duplicates</a:t>
            </a:r>
          </a:p>
          <a:p>
            <a:pPr lvl="0"/>
            <a:r>
              <a:rPr/>
              <a:t>Diagram: week4_lecture_slide38_failure_rerun.puml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Detection:</a:t>
            </a:r>
            <a:r>
              <a:rPr/>
              <a:t> monitor row counts, watermark lag, DLQ size; alert on anomalies</a:t>
            </a:r>
          </a:p>
          <a:p>
            <a:pPr lvl="0"/>
            <a:r>
              <a:rPr b="1"/>
              <a:t>Mitigation:</a:t>
            </a:r>
            <a:r>
              <a:rPr/>
              <a:t> idempotent writes (MERGE/ON CONFLICT); watermark + buffer; partition-level commit</a:t>
            </a:r>
          </a:p>
          <a:p>
            <a:pPr lvl="0"/>
            <a:r>
              <a:rPr b="1"/>
              <a:t>CDC for deletes:</a:t>
            </a:r>
            <a:r>
              <a:rPr/>
              <a:t> watermark on table scan misses deletes; use log-based CDC if deletes matter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Use staging for raw load; validate and dedup before target</a:t>
            </a:r>
          </a:p>
          <a:p>
            <a:pPr lvl="0"/>
            <a:r>
              <a:rPr/>
              <a:t>Design for idempotency: MERGE or INSERT ON CONFLICT; key by business key</a:t>
            </a:r>
          </a:p>
          <a:p>
            <a:pPr lvl="0"/>
            <a:r>
              <a:rPr/>
              <a:t>Watermark incremental loads; update only after successful commit</a:t>
            </a:r>
          </a:p>
          <a:p>
            <a:pPr lvl="0"/>
            <a:r>
              <a:rPr/>
              <a:t>Partition target by date (or key range) for pruning and safe rerun</a:t>
            </a:r>
          </a:p>
          <a:p>
            <a:pPr lvl="0"/>
            <a:r>
              <a:rPr/>
              <a:t>Route bad rows to DLQ; do not fail entire batch on one bad row</a:t>
            </a:r>
          </a:p>
          <a:p>
            <a:pPr lvl="0"/>
            <a:r>
              <a:rPr/>
              <a:t>Use transactions so partial write does not leave half-updated state</a:t>
            </a:r>
          </a:p>
          <a:p>
            <a:pPr lvl="0"/>
            <a:r>
              <a:rPr/>
              <a:t>Document schema, keys, and expected volumes for operators</a:t>
            </a:r>
          </a:p>
          <a:p>
            <a:pPr lvl="0"/>
            <a:r>
              <a:rPr/>
              <a:t>Monitor load duration, row counts, and watermark lag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ETL vs ELT: transform before vs after load; ELT scales with engine</a:t>
            </a:r>
          </a:p>
          <a:p>
            <a:pPr lvl="0"/>
            <a:r>
              <a:rPr/>
              <a:t>Idempotency and watermark are essential for safe reruns and incremental load</a:t>
            </a:r>
          </a:p>
          <a:p>
            <a:pPr lvl="0"/>
            <a:r>
              <a:rPr/>
              <a:t>Staging + dedup + MERGE pattern avoids duplicates and allows reprocessing</a:t>
            </a:r>
          </a:p>
          <a:p>
            <a:pPr lvl="0"/>
            <a:r>
              <a:rPr/>
              <a:t>Partial failure and duplicate source require partition-aware, idempotent design</a:t>
            </a:r>
          </a:p>
          <a:p>
            <a:pPr lvl="0"/>
            <a:r>
              <a:rPr/>
              <a:t>Cost: I/O and network dominate; incremental and compression reduce load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Pointers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Write SQL: raw → clean with dedup and MERGE; incremental slice by watermark</a:t>
            </a:r>
          </a:p>
          <a:p>
            <a:pPr lvl="0"/>
            <a:r>
              <a:rPr/>
              <a:t>Reason about rerun: job fails after 2/3 partitions; ensure no duplicates on rerun</a:t>
            </a:r>
          </a:p>
          <a:p>
            <a:pPr lvl="0"/>
            <a:r>
              <a:rPr/>
              <a:t>Design: staging schema, DLQ, and control table for one pipeline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מסך רחב</PresentationFormat>
  <Paragraphs>0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2026-01-29T05:50:38Z</dcterms:created>
  <dcterms:modified xsi:type="dcterms:W3CDTF">2026-01-29T05:50:38Z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