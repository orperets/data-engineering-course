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10"/>
    <p:restoredTop sz="94646"/>
  </p:normalViewPr>
  <p:slideViewPr>
    <p:cSldViewPr snapToGrid="0" snapToObjects="1">
      <p:cViewPr varScale="1">
        <p:scale>
          <a:sx d="100" n="111"/>
          <a:sy d="100" n="111"/>
        </p:scale>
        <p:origin x="1680" y="19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presProps" Target="presProps.xml" /><Relationship Id="rId38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37" Type="http://schemas.openxmlformats.org/officeDocument/2006/relationships/theme" Target="theme/theme1.xml" /><Relationship Id="rId36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z="240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z="240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/>
              <a:t>Click to edit Master text styles</a:t>
            </a:r>
          </a:p>
          <a:p>
            <a:pPr lvl="1"/>
            <a:r>
              <a:rPr lang="en-US" sz="2400" dirty="0"/>
              <a:t>Second level</a:t>
            </a:r>
          </a:p>
          <a:p>
            <a:pPr lvl="2"/>
            <a:r>
              <a:rPr lang="en-US" sz="2400" dirty="0"/>
              <a:t>Third level</a:t>
            </a:r>
          </a:p>
          <a:p>
            <a:pPr lvl="3"/>
            <a:r>
              <a:rPr lang="en-US" sz="2400" dirty="0"/>
              <a:t>Fourth level</a:t>
            </a:r>
          </a:p>
          <a:p>
            <a:pPr lvl="4"/>
            <a:r>
              <a:rPr lang="en-US" sz="2400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z="320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z="240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z="2400"/>
              <a:t>Click to edit Master text styles</a:t>
            </a:r>
          </a:p>
          <a:p>
            <a:pPr lvl="1"/>
            <a:r>
              <a:rPr lang="en-US" sz="2400"/>
              <a:t>Second level</a:t>
            </a:r>
          </a:p>
          <a:p>
            <a:pPr lvl="2"/>
            <a:r>
              <a:rPr lang="en-US" sz="2400"/>
              <a:t>Third level</a:t>
            </a:r>
          </a:p>
          <a:p>
            <a:pPr lvl="3"/>
            <a:r>
              <a:rPr lang="en-US" sz="2400"/>
              <a:t>Fourth level</a:t>
            </a:r>
          </a:p>
          <a:p>
            <a:pPr lvl="4"/>
            <a:r>
              <a:rPr lang="en-US" sz="240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z="2400"/>
              <a:t>Click to edit Master text styles</a:t>
            </a:r>
          </a:p>
          <a:p>
            <a:pPr lvl="1"/>
            <a:r>
              <a:rPr lang="en-US" sz="2400"/>
              <a:t>Second level</a:t>
            </a:r>
          </a:p>
          <a:p>
            <a:pPr lvl="2"/>
            <a:r>
              <a:rPr lang="en-US" sz="2400"/>
              <a:t>Third level</a:t>
            </a:r>
          </a:p>
          <a:p>
            <a:pPr lvl="3"/>
            <a:r>
              <a:rPr lang="en-US" sz="2400"/>
              <a:t>Fourth level</a:t>
            </a:r>
          </a:p>
          <a:p>
            <a:pPr lvl="4"/>
            <a:r>
              <a:rPr lang="en-US" sz="240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z="320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z="240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z="2400"/>
              <a:t>Click to edit Master text styles</a:t>
            </a:r>
          </a:p>
          <a:p>
            <a:pPr lvl="1"/>
            <a:r>
              <a:rPr lang="en-US" sz="2400"/>
              <a:t>Second level</a:t>
            </a:r>
          </a:p>
          <a:p>
            <a:pPr lvl="2"/>
            <a:r>
              <a:rPr lang="en-US" sz="2400"/>
              <a:t>Third level</a:t>
            </a:r>
          </a:p>
          <a:p>
            <a:pPr lvl="3"/>
            <a:r>
              <a:rPr lang="en-US" sz="2400"/>
              <a:t>Fourth level</a:t>
            </a:r>
          </a:p>
          <a:p>
            <a:pPr lvl="4"/>
            <a:r>
              <a:rPr lang="en-US" sz="240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z="240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z="2400"/>
              <a:t>Click to edit Master text styles</a:t>
            </a:r>
          </a:p>
          <a:p>
            <a:pPr lvl="1"/>
            <a:r>
              <a:rPr lang="en-US" sz="2400"/>
              <a:t>Second level</a:t>
            </a:r>
          </a:p>
          <a:p>
            <a:pPr lvl="2"/>
            <a:r>
              <a:rPr lang="en-US" sz="2400"/>
              <a:t>Third level</a:t>
            </a:r>
          </a:p>
          <a:p>
            <a:pPr lvl="3"/>
            <a:r>
              <a:rPr lang="en-US" sz="2400"/>
              <a:t>Fourth level</a:t>
            </a:r>
          </a:p>
          <a:p>
            <a:pPr lvl="4"/>
            <a:r>
              <a:rPr lang="en-US" sz="240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z="320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z="2400"/>
              <a:t>Click to edit Master text styles</a:t>
            </a:r>
          </a:p>
          <a:p>
            <a:pPr lvl="1"/>
            <a:r>
              <a:rPr lang="en-US" sz="2400"/>
              <a:t>Second level</a:t>
            </a:r>
          </a:p>
          <a:p>
            <a:pPr lvl="2"/>
            <a:r>
              <a:rPr lang="en-US" sz="2400"/>
              <a:t>Third level</a:t>
            </a:r>
          </a:p>
          <a:p>
            <a:pPr lvl="3"/>
            <a:r>
              <a:rPr lang="en-US" sz="2400"/>
              <a:t>Fourth level</a:t>
            </a:r>
          </a:p>
          <a:p>
            <a:pPr lvl="4"/>
            <a:r>
              <a:rPr lang="en-US" sz="240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z="240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z="320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z="240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z="2400"/>
              <a:t>Click to edit Master text styles</a:t>
            </a:r>
          </a:p>
          <a:p>
            <a:pPr lvl="1"/>
            <a:r>
              <a:rPr lang="en-US" sz="2400"/>
              <a:t>Second level</a:t>
            </a:r>
          </a:p>
          <a:p>
            <a:pPr lvl="2"/>
            <a:r>
              <a:rPr lang="en-US" sz="2400"/>
              <a:t>Third level</a:t>
            </a:r>
          </a:p>
          <a:p>
            <a:pPr lvl="3"/>
            <a:r>
              <a:rPr lang="en-US" sz="2400"/>
              <a:t>Fourth level</a:t>
            </a:r>
          </a:p>
          <a:p>
            <a:pPr lvl="4"/>
            <a:r>
              <a:rPr lang="en-US" sz="240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z="320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z="2400"/>
              <a:t>Click to edit Master text styles</a:t>
            </a:r>
          </a:p>
          <a:p>
            <a:pPr lvl="1"/>
            <a:r>
              <a:rPr lang="en-US" sz="2400"/>
              <a:t>Second level</a:t>
            </a:r>
          </a:p>
          <a:p>
            <a:pPr lvl="2"/>
            <a:r>
              <a:rPr lang="en-US" sz="2400"/>
              <a:t>Third level</a:t>
            </a:r>
          </a:p>
          <a:p>
            <a:pPr lvl="3"/>
            <a:r>
              <a:rPr lang="en-US" sz="2400"/>
              <a:t>Fourth level</a:t>
            </a:r>
          </a:p>
          <a:p>
            <a:pPr lvl="4"/>
            <a:r>
              <a:rPr lang="en-US" sz="240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b="1" kern="1200" sz="36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kern="1200" sz="2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Week 1: Introduction to Data Engineering — Practice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Engineering course: show calculations</a:t>
            </a:r>
          </a:p>
          <a:p>
            <a:pPr lvl="0"/>
            <a:r>
              <a:rPr/>
              <a:t>Show reasoning for each step</a:t>
            </a:r>
          </a:p>
          <a:p>
            <a:pPr lvl="0"/>
            <a:r>
              <a:rPr/>
              <a:t>Include units in all calculations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Context (MANDATORY BEFORE QUESTIONS)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Schema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E-commerce analytics system</a:t>
            </a:r>
          </a:p>
          <a:p>
            <a:pPr lvl="0"/>
            <a:r>
              <a:rPr/>
              <a:t>Three main tables</a:t>
            </a:r>
          </a:p>
          <a:p>
            <a:pPr lvl="0"/>
            <a:r>
              <a:rPr/>
              <a:t>Orders, customers, products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Table: orders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Columns: order_id, customer_id, product_id</a:t>
            </a:r>
          </a:p>
          <a:p>
            <a:pPr lvl="0"/>
            <a:r>
              <a:rPr/>
              <a:t>Also: quantity, price, order_date</a:t>
            </a:r>
          </a:p>
          <a:p>
            <a:pPr lvl="0"/>
            <a:r>
              <a:rPr/>
              <a:t>Rows: 10,000,000</a:t>
            </a:r>
          </a:p>
          <a:p>
            <a:pPr lvl="0"/>
            <a:r>
              <a:rPr/>
              <a:t>Size: ~2 GB (200 bytes/row)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Sample: orders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order_id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customer_id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product_id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29.99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49.99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19.99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Table: customers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Columns: customer_id, name, city</a:t>
            </a:r>
          </a:p>
          <a:p>
            <a:pPr lvl="0"/>
            <a:r>
              <a:rPr/>
              <a:t>Also: registration_date</a:t>
            </a:r>
          </a:p>
          <a:p>
            <a:pPr lvl="0"/>
            <a:r>
              <a:rPr/>
              <a:t>Rows: 1,000,000</a:t>
            </a:r>
          </a:p>
          <a:p>
            <a:pPr lvl="0"/>
            <a:r>
              <a:rPr/>
              <a:t>Size: ~200 MB (200 bytes/row)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Sample: customers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customer_id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registration_date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 Aviv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2023-06-01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Haifa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2023-07-15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Jerusalem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2023-08-20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Table: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Columns: product_id, name, category</a:t>
            </a:r>
          </a:p>
          <a:p>
            <a:pPr lvl="0"/>
            <a:r>
              <a:rPr/>
              <a:t>Also: cost</a:t>
            </a:r>
          </a:p>
          <a:p>
            <a:pPr lvl="0"/>
            <a:r>
              <a:rPr/>
              <a:t>Rows: 100,000</a:t>
            </a:r>
          </a:p>
          <a:p>
            <a:pPr lvl="0"/>
            <a:r>
              <a:rPr/>
              <a:t>Size: ~50 MB (500 bytes/row)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Sample: products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product_id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cost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Widget 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Electronics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15.00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Widget 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Electronics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30.00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Gadget 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Warm-up Exercises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Given the following SQL query: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customer_id,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order_count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orders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order_date </a:t>
            </a:r>
            <a:r>
              <a:rPr>
                <a:solidFill>
                  <a:srgbClr val="666666"/>
                </a:solidFill>
                <a:latin typeface="Courier"/>
              </a:rPr>
              <a:t>&gt;=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'2024-01-01'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customer_id;</a:t>
            </a:r>
          </a:p>
          <a:p>
            <a:pPr lvl="0" indent="0" marL="0">
              <a:buNone/>
            </a:pPr>
            <a:r>
              <a:rPr/>
              <a:t>How many rows are scanned? How many rows are produced? Calculate the data reduction ratio.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Given the following SQL query: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o.order_id, c.name, p.name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product_name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orders o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customers c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o.customer_id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c.customer_id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products p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o.product_id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p.product_id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o.order_date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'2024-01-15'</a:t>
            </a:r>
            <a:r>
              <a:rPr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/>
              <a:t>Estimate the maximum number of rows in the intermediate result after the first join (orders JOIN customers). Assume uniform distribution.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Given the following SQL query: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category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(quantity)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total_quantity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orders o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products p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o.product_id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p.product_id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category</a:t>
            </a:r>
            <a:r>
              <a:rPr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/>
              <a:t>How many rows are in the final output? What is the reduction from the input orders table (10M rows)?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Engineering Exercises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Given the following SQL query: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c.city,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DISTINCT</a:t>
            </a:r>
            <a:r>
              <a:rPr>
                <a:latin typeface="Courier"/>
              </a:rPr>
              <a:t> o.customer_id)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unique_customers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orders o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customers c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o.customer_id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c.customer_id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o.order_date </a:t>
            </a:r>
            <a:r>
              <a:rPr b="1">
                <a:solidFill>
                  <a:srgbClr val="007020"/>
                </a:solidFill>
                <a:latin typeface="Courier"/>
              </a:rPr>
              <a:t>BETWEEN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'2024-01-01'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'2024-01-31'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c.city;</a:t>
            </a:r>
          </a:p>
          <a:p>
            <a:pPr lvl="0" indent="0" marL="0">
              <a:buNone/>
            </a:pPr>
            <a:r>
              <a:rPr/>
              <a:t>Calculate: (a) Rows scanned from orders after WHERE filter (assume 10% match), (b) Rows in intermediate result after JOIN, (c) Final output rows (assume 50 cities), (d) Total bytes transferred if each row is 500 bytes.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Compare two query approaches for finding top 10 customers by revenue:</a:t>
            </a:r>
          </a:p>
          <a:p>
            <a:pPr lvl="0" indent="0" marL="0">
              <a:buNone/>
            </a:pPr>
            <a:r>
              <a:rPr b="1"/>
              <a:t>Approach A (Late Aggregation):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customer_id, 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(price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quantity)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revenue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orders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customer_id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revenue </a:t>
            </a:r>
            <a:r>
              <a:rPr b="1">
                <a:solidFill>
                  <a:srgbClr val="007020"/>
                </a:solidFill>
                <a:latin typeface="Courier"/>
              </a:rPr>
              <a:t>DESC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LIMIT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 b="1"/>
              <a:t>Approach B (Early Filter):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customer_id, 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(price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quantity)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revenue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orders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order_date </a:t>
            </a:r>
            <a:r>
              <a:rPr>
                <a:solidFill>
                  <a:srgbClr val="666666"/>
                </a:solidFill>
                <a:latin typeface="Courier"/>
              </a:rPr>
              <a:t>&gt;=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'2024-01-01'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customer_id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revenue </a:t>
            </a:r>
            <a:r>
              <a:rPr b="1">
                <a:solidFill>
                  <a:srgbClr val="007020"/>
                </a:solidFill>
                <a:latin typeface="Courier"/>
              </a:rPr>
              <a:t>DESC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LIMIT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/>
              <a:t>If 80% of orders are from 2024, calculate: (a) Rows processed in each approach, (b) Intermediate result size difference, (c) Which is more efficient and why?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Given this query that finds products with low profit margins: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p.product_id, p.name,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latin typeface="Courier"/>
              </a:rPr>
              <a:t>(o.price)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avg_sale_price,</a:t>
            </a:r>
            <a:br/>
            <a:r>
              <a:rPr>
                <a:latin typeface="Courier"/>
              </a:rPr>
              <a:t>       p.</a:t>
            </a:r>
            <a:r>
              <a:rPr b="1">
                <a:solidFill>
                  <a:srgbClr val="007020"/>
                </a:solidFill>
                <a:latin typeface="Courier"/>
              </a:rPr>
              <a:t>cost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(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latin typeface="Courier"/>
              </a:rPr>
              <a:t>(o.price)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p.</a:t>
            </a:r>
            <a:r>
              <a:rPr b="1">
                <a:solidFill>
                  <a:srgbClr val="007020"/>
                </a:solidFill>
                <a:latin typeface="Courier"/>
              </a:rPr>
              <a:t>cost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profit_margin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orders o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products p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o.product_id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p.product_id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p.product_id, p.name, p.</a:t>
            </a:r>
            <a:r>
              <a:rPr b="1">
                <a:solidFill>
                  <a:srgbClr val="007020"/>
                </a:solidFill>
                <a:latin typeface="Courier"/>
              </a:rPr>
              <a:t>cost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HAVING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latin typeface="Courier"/>
              </a:rPr>
              <a:t>(o.price)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p.</a:t>
            </a:r>
            <a:r>
              <a:rPr b="1">
                <a:solidFill>
                  <a:srgbClr val="007020"/>
                </a:solidFill>
                <a:latin typeface="Courier"/>
              </a:rPr>
              <a:t>cost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5.00</a:t>
            </a:r>
            <a:r>
              <a:rPr>
                <a:latin typeface="Courier"/>
              </a:rPr>
              <a:t>;</a:t>
            </a:r>
          </a:p>
          <a:p>
            <a:pPr lvl="0" indent="0" marL="0">
              <a:buNone/>
            </a:pPr>
            <a:r>
              <a:rPr/>
              <a:t>Rewrite this query to be more efficient. Calculate the improvement: (a) Original query scans, (b) Optimized query scans, (c) Reduction percentage.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Challenge Exercise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daily revenue report: - Total revenue per city - Average order value per city - Top 3 products per city - Cities with &gt; 1000 orders only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 7 Part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Write single SQL query for report. Calculate expected output size. Include rows and bytes.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 7 Part 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Break into two queries: - Query 1: Filter and aggregate orders - Query 2: Join customers, finalize Calculate intermediate sizes per step.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 7 Part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Compare both approaches. Which is better for daily batch? Consider: time, memory, maintainability.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Solutions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Solution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Rows scanned: 10,000,000 (full table scan)</a:t>
            </a:r>
          </a:p>
          <a:p>
            <a:pPr lvl="0"/>
            <a:r>
              <a:rPr/>
              <a:t>Filtered rows: Assume 30% match date filter = 3,000,000 rows</a:t>
            </a:r>
          </a:p>
          <a:p>
            <a:pPr lvl="0"/>
            <a:r>
              <a:rPr/>
              <a:t>After GROUP BY: 1,000,000 customer_ids (one per customer)</a:t>
            </a:r>
          </a:p>
          <a:p>
            <a:pPr lvl="0"/>
            <a:r>
              <a:rPr/>
              <a:t>Data reduction: 10M → 1M = 10:1 ratio</a:t>
            </a:r>
          </a:p>
          <a:p>
            <a:pPr lvl="0"/>
            <a:r>
              <a:rPr/>
              <a:t>Bytes scanned: 10M × 200 bytes = 2 GB</a:t>
            </a:r>
          </a:p>
          <a:p>
            <a:pPr lvl="0"/>
            <a:r>
              <a:rPr/>
              <a:t>Bytes output: 1M × 16 bytes ≈ 16 MB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Solution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Orders filtered: Assume 0.1% match single date = 10,000 rows</a:t>
            </a:r>
          </a:p>
          <a:p>
            <a:pPr lvl="0"/>
            <a:r>
              <a:rPr/>
              <a:t>Customers table: 1,000,000 rows</a:t>
            </a:r>
          </a:p>
          <a:p>
            <a:pPr lvl="0"/>
            <a:r>
              <a:rPr/>
              <a:t>Join cardinality: 10,000 × 1,000,000 = 10 billion possible</a:t>
            </a:r>
          </a:p>
          <a:p>
            <a:pPr lvl="0"/>
            <a:r>
              <a:rPr/>
              <a:t>Actual after JOIN: 10,000 rows (one-to-one match)</a:t>
            </a:r>
          </a:p>
          <a:p>
            <a:pPr lvl="0"/>
            <a:r>
              <a:rPr/>
              <a:t>Intermediate size: 10,000 rows × 300 bytes = 3 MB</a:t>
            </a:r>
          </a:p>
          <a:p>
            <a:pPr lvl="0"/>
            <a:r>
              <a:rPr/>
              <a:t>Then JOIN with products: 10,000 × 1 = 10,000 rows</a:t>
            </a:r>
          </a:p>
          <a:p>
            <a:pPr lvl="0"/>
            <a:r>
              <a:rPr/>
              <a:t>Final: 10,000 rows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Solution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Input: 10,000,000 orders</a:t>
            </a:r>
          </a:p>
          <a:p>
            <a:pPr lvl="0"/>
            <a:r>
              <a:rPr/>
              <a:t>After JOIN: 10,000,000 rows (one order = one product)</a:t>
            </a:r>
          </a:p>
          <a:p>
            <a:pPr lvl="0"/>
            <a:r>
              <a:rPr/>
              <a:t>After GROUP BY: Assume 20 categories</a:t>
            </a:r>
          </a:p>
          <a:p>
            <a:pPr lvl="0"/>
            <a:r>
              <a:rPr/>
              <a:t>Final output: 20 rows</a:t>
            </a:r>
          </a:p>
          <a:p>
            <a:pPr lvl="0"/>
            <a:r>
              <a:rPr/>
              <a:t>Reduction: 10M → 20 = 500,000:1 ratio</a:t>
            </a:r>
          </a:p>
          <a:p>
            <a:pPr lvl="0"/>
            <a:r>
              <a:rPr/>
              <a:t>Aggregation reduces data dramatically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Solution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lphaLcParenBoth"/>
            </a:pPr>
            <a:r>
              <a:rPr/>
              <a:t>Rows scanned: 10M × 10% = 1,000,000 orders</a:t>
            </a:r>
          </a:p>
          <a:p>
            <a:pPr lvl="0" indent="-457200" marL="457200">
              <a:buAutoNum startAt="2" type="alphaLcParenBoth"/>
            </a:pPr>
            <a:r>
              <a:rPr/>
              <a:t>After JOIN: 1,000,000 rows (each order has one customer)</a:t>
            </a:r>
          </a:p>
          <a:p>
            <a:pPr lvl="0" indent="-457200" marL="457200">
              <a:buAutoNum startAt="3" type="alphaLcParenBoth"/>
            </a:pPr>
            <a:r>
              <a:rPr/>
              <a:t>Final output: 50 cities (one row per city)</a:t>
            </a:r>
          </a:p>
          <a:p>
            <a:pPr lvl="0" indent="-457200" marL="457200">
              <a:buAutoNum startAt="4" type="alphaLcParenBoth"/>
            </a:pPr>
            <a:r>
              <a:rPr/>
              <a:t>Bytes transferred: 50 × 500 = 25 KB</a:t>
            </a:r>
          </a:p>
          <a:p>
            <a:pPr lvl="0"/>
            <a:r>
              <a:rPr/>
              <a:t>Total processing: 1M orders → 1M joined → 50 aggregated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Solution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Approach A: Processes 10M rows, groups to 1M customers</a:t>
            </a:r>
          </a:p>
          <a:p>
            <a:pPr lvl="0"/>
            <a:r>
              <a:rPr/>
              <a:t>Approach B: Filters first (10M × 80% = 8M), then groups to ~800K</a:t>
            </a:r>
          </a:p>
          <a:p>
            <a:pPr lvl="0"/>
            <a:r>
              <a:rPr/>
              <a:t>Intermediate A: 1M customer rows × 16 bytes = 16 MB</a:t>
            </a:r>
          </a:p>
          <a:p>
            <a:pPr lvl="0"/>
            <a:r>
              <a:rPr/>
              <a:t>Intermediate B: 800K customer rows × 16 bytes = 12.8 MB</a:t>
            </a:r>
          </a:p>
          <a:p>
            <a:pPr lvl="0"/>
            <a:r>
              <a:rPr/>
              <a:t>Approach B is 20% more efficient</a:t>
            </a:r>
          </a:p>
          <a:p>
            <a:pPr lvl="0"/>
            <a:r>
              <a:rPr/>
              <a:t>Early filtering reduces work downstream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Solution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Optimized query: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p.product_id, p.name, p.</a:t>
            </a:r>
            <a:r>
              <a:rPr b="1">
                <a:solidFill>
                  <a:srgbClr val="007020"/>
                </a:solidFill>
                <a:latin typeface="Courier"/>
              </a:rPr>
              <a:t>cost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latin typeface="Courier"/>
              </a:rPr>
              <a:t>(o.price)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avg_sale_price,</a:t>
            </a:r>
            <a:br/>
            <a:r>
              <a:rPr>
                <a:latin typeface="Courier"/>
              </a:rPr>
              <a:t>       (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latin typeface="Courier"/>
              </a:rPr>
              <a:t>(o.price)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p.</a:t>
            </a:r>
            <a:r>
              <a:rPr b="1">
                <a:solidFill>
                  <a:srgbClr val="007020"/>
                </a:solidFill>
                <a:latin typeface="Courier"/>
              </a:rPr>
              <a:t>cost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profit_margin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orders o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products p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o.product_id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p.product_id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p.</a:t>
            </a:r>
            <a:r>
              <a:rPr b="1">
                <a:solidFill>
                  <a:srgbClr val="007020"/>
                </a:solidFill>
                <a:latin typeface="Courier"/>
              </a:rPr>
              <a:t>cost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NULL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p.product_id, p.name, p.</a:t>
            </a:r>
            <a:r>
              <a:rPr b="1">
                <a:solidFill>
                  <a:srgbClr val="007020"/>
                </a:solidFill>
                <a:latin typeface="Courier"/>
              </a:rPr>
              <a:t>cost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HAVING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latin typeface="Courier"/>
              </a:rPr>
              <a:t>(o.price)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p.</a:t>
            </a:r>
            <a:r>
              <a:rPr b="1">
                <a:solidFill>
                  <a:srgbClr val="007020"/>
                </a:solidFill>
                <a:latin typeface="Courier"/>
              </a:rPr>
              <a:t>cost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5.00</a:t>
            </a:r>
            <a:r>
              <a:rPr>
                <a:latin typeface="Courier"/>
              </a:rPr>
              <a:t>;</a:t>
            </a:r>
          </a:p>
          <a:p>
            <a:pPr lvl="0"/>
            <a:r>
              <a:rPr/>
              <a:t>Original: Scans 10M orders, joins 100K products</a:t>
            </a:r>
          </a:p>
          <a:p>
            <a:pPr lvl="0"/>
            <a:r>
              <a:rPr/>
              <a:t>Optimized: Same scan, but WHERE filters nulls early</a:t>
            </a:r>
          </a:p>
          <a:p>
            <a:pPr lvl="0"/>
            <a:r>
              <a:rPr/>
              <a:t>Better: Add index on products.cost, filter products first</a:t>
            </a:r>
          </a:p>
          <a:p>
            <a:pPr lvl="0"/>
            <a:r>
              <a:rPr/>
              <a:t>Reduction: Filter products to low-cost ones first (assume 20K), then join = 2M rows vs 10M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Solution 7 Part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Single query approach: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WITH</a:t>
            </a:r>
            <a:r>
              <a:rPr>
                <a:latin typeface="Courier"/>
              </a:rPr>
              <a:t> city_orders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(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c.city, o.product_id,</a:t>
            </a:r>
            <a:br/>
            <a:r>
              <a:rPr>
                <a:latin typeface="Courier"/>
              </a:rPr>
              <a:t>         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(o.price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o.quantity)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revenue,</a:t>
            </a:r>
            <a:br/>
            <a:r>
              <a:rPr>
                <a:latin typeface="Courier"/>
              </a:rPr>
              <a:t>        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order_count,</a:t>
            </a:r>
            <a:br/>
            <a:r>
              <a:rPr>
                <a:latin typeface="Courier"/>
              </a:rPr>
              <a:t>         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latin typeface="Courier"/>
              </a:rPr>
              <a:t>(o.price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o.quantity)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avg_order_value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orders o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customers c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o.customer_id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c.customer_id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o.order_date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CURRENT_DATE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c.city, o.product_id</a:t>
            </a:r>
            <a:br/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city_totals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(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city,</a:t>
            </a:r>
            <a:br/>
            <a:r>
              <a:rPr>
                <a:latin typeface="Courier"/>
              </a:rPr>
              <a:t>         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(revenue)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total_revenue,</a:t>
            </a:r>
            <a:br/>
            <a:r>
              <a:rPr>
                <a:latin typeface="Courier"/>
              </a:rPr>
              <a:t>         </a:t>
            </a:r>
            <a:r>
              <a:rPr>
                <a:solidFill>
                  <a:srgbClr val="06287E"/>
                </a:solidFill>
                <a:latin typeface="Courier"/>
              </a:rPr>
              <a:t>AVG</a:t>
            </a:r>
            <a:r>
              <a:rPr>
                <a:latin typeface="Courier"/>
              </a:rPr>
              <a:t>(avg_order_value)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city_avg_order_value,</a:t>
            </a:r>
            <a:br/>
            <a:r>
              <a:rPr>
                <a:latin typeface="Courier"/>
              </a:rPr>
              <a:t>         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(order_count)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total_orders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city_orders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city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HAVING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(order_count)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1000</a:t>
            </a:r>
            <a:br/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top_products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(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city, product_id, revenue,</a:t>
            </a:r>
            <a:br/>
            <a:r>
              <a:rPr>
                <a:latin typeface="Courier"/>
              </a:rPr>
              <a:t>         </a:t>
            </a:r>
            <a:r>
              <a:rPr>
                <a:solidFill>
                  <a:srgbClr val="06287E"/>
                </a:solidFill>
                <a:latin typeface="Courier"/>
              </a:rPr>
              <a:t>ROW_NUMBER</a:t>
            </a:r>
            <a:r>
              <a:rPr>
                <a:latin typeface="Courier"/>
              </a:rPr>
              <a:t>() </a:t>
            </a:r>
            <a:r>
              <a:rPr b="1">
                <a:solidFill>
                  <a:srgbClr val="007020"/>
                </a:solidFill>
                <a:latin typeface="Courier"/>
              </a:rPr>
              <a:t>OVER</a:t>
            </a:r>
            <a:r>
              <a:rPr>
                <a:latin typeface="Courier"/>
              </a:rPr>
              <a:t> (</a:t>
            </a:r>
            <a:r>
              <a:rPr b="1">
                <a:solidFill>
                  <a:srgbClr val="007020"/>
                </a:solidFill>
                <a:latin typeface="Courier"/>
              </a:rPr>
              <a:t>PARTITION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city </a:t>
            </a:r>
            <a:r>
              <a:rPr b="1">
                <a:solidFill>
                  <a:srgbClr val="007020"/>
                </a:solidFill>
                <a:latin typeface="Courier"/>
              </a:rPr>
              <a:t>ORDER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revenue </a:t>
            </a:r>
            <a:r>
              <a:rPr b="1">
                <a:solidFill>
                  <a:srgbClr val="007020"/>
                </a:solidFill>
                <a:latin typeface="Courier"/>
              </a:rPr>
              <a:t>DESC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rn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city_orders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city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(</a:t>
            </a: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city </a:t>
            </a:r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city_totals)</a:t>
            </a:r>
            <a:br/>
            <a:r>
              <a:rPr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ct.city, ct.total_revenue, ct.city_avg_order_value,</a:t>
            </a:r>
            <a:br/>
            <a:r>
              <a:rPr>
                <a:latin typeface="Courier"/>
              </a:rPr>
              <a:t>       tp.product_id, tp.revenue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product_revenue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city_totals ct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LEFT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JOIN</a:t>
            </a:r>
            <a:r>
              <a:rPr>
                <a:latin typeface="Courier"/>
              </a:rPr>
              <a:t> top_products tp </a:t>
            </a:r>
            <a:r>
              <a:rPr b="1">
                <a:solidFill>
                  <a:srgbClr val="007020"/>
                </a:solidFill>
                <a:latin typeface="Courier"/>
              </a:rPr>
              <a:t>ON</a:t>
            </a:r>
            <a:r>
              <a:rPr>
                <a:latin typeface="Courier"/>
              </a:rPr>
              <a:t> ct.city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tp.city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tp.rn </a:t>
            </a:r>
            <a:r>
              <a:rPr>
                <a:solidFill>
                  <a:srgbClr val="666666"/>
                </a:solidFill>
                <a:latin typeface="Courier"/>
              </a:rPr>
              <a:t>&lt;=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;</a:t>
            </a:r>
          </a:p>
          <a:p>
            <a:pPr lvl="0"/>
            <a:r>
              <a:rPr/>
              <a:t>Expected output: 50 cities × 3 = 150 rows</a:t>
            </a:r>
          </a:p>
          <a:p>
            <a:pPr lvl="0"/>
            <a:r>
              <a:rPr/>
              <a:t>Bytes: 150 × 400 = 60 KB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Solution 7 Part 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Two-step approach:</a:t>
            </a:r>
          </a:p>
          <a:p>
            <a:pPr lvl="0" indent="0" marL="0">
              <a:buNone/>
            </a:pPr>
            <a:r>
              <a:rPr/>
              <a:t>Step 1 query: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SELECT</a:t>
            </a:r>
            <a:r>
              <a:rPr>
                <a:latin typeface="Courier"/>
              </a:rPr>
              <a:t> customer_id, product_id,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(price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quantity)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revenue,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order_count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orders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WHERE</a:t>
            </a:r>
            <a:r>
              <a:rPr>
                <a:latin typeface="Courier"/>
              </a:rPr>
              <a:t> order_date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CURRENT_DATE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GROUP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BY</a:t>
            </a:r>
            <a:r>
              <a:rPr>
                <a:latin typeface="Courier"/>
              </a:rPr>
              <a:t> customer_id, product_id;</a:t>
            </a:r>
          </a:p>
          <a:p>
            <a:pPr lvl="0"/>
            <a:r>
              <a:rPr/>
              <a:t>Intermediate: ~500K rows</a:t>
            </a:r>
          </a:p>
          <a:p>
            <a:pPr lvl="0" indent="0" marL="0">
              <a:buNone/>
            </a:pPr>
            <a:r>
              <a:rPr/>
              <a:t>Step 2: Join customers, aggregate - Final: 150 rows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Solution 7 Part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Single query: Simpler, one pass Two-step: Checkpointing, debugging Daily batch: Two-step preferred Memory: Single needs more Two-step: Can write to disk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60</Words>
  <Application>Microsoft Macintosh PowerPoint</Application>
  <PresentationFormat>‫הצגה על המסך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2026-01-21T10:46:55Z</dcterms:created>
  <dcterms:modified xsi:type="dcterms:W3CDTF">2026-01-21T10:46:55Z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