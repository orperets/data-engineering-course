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3519"/>
    <p:restoredTop sz="94811"/>
  </p:normalViewPr>
  <p:slideViewPr>
    <p:cSldViewPr snapToGrid="0" snapToObjects="1">
      <p:cViewPr varScale="1">
        <p:scale>
          <a:sx d="100" n="111"/>
          <a:sy d="100" n="111"/>
        </p:scale>
        <p:origin x="640" y="192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 snapToGrid="0" snapToObjects="1">
      <p:cViewPr varScale="1">
        <p:scale>
          <a:sx d="100" n="118"/>
          <a:sy d="100" n="118"/>
        </p:scale>
        <p:origin x="5160" y="21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2" Type="http://schemas.openxmlformats.org/officeDocument/2006/relationships/theme" Target="theme/theme1.xml" /><Relationship Id="rId4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40" Type="http://schemas.openxmlformats.org/officeDocument/2006/relationships/presProps" Target="presProps.xml" /><Relationship Id="rId39" Type="http://schemas.openxmlformats.org/officeDocument/2006/relationships/handoutMaster" Target="handoutMasters/handoutMaster1.xml" /><Relationship Id="rId43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660142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7894" y="2569580"/>
            <a:ext cx="5864506" cy="3556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41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6D49-397F-B715-D50A-B77591A1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58" y="1600201"/>
            <a:ext cx="843794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fmla="*/ 0 w 10972800" name="csX0"/>
                      <a:gd fmla="*/ 0 h 1143000" name="csY0"/>
                      <a:gd fmla="*/ 10972800 w 10972800" name="csX1"/>
                      <a:gd fmla="*/ 0 h 1143000" name="csY1"/>
                      <a:gd fmla="*/ 10972800 w 10972800" name="csX2"/>
                      <a:gd fmla="*/ 1143000 h 1143000" name="csY2"/>
                      <a:gd fmla="*/ 0 w 10972800" name="csX3"/>
                      <a:gd fmla="*/ 1143000 h 1143000" name="csY3"/>
                      <a:gd fmla="*/ 0 w 10972800" name="csX4"/>
                      <a:gd fmla="*/ 0 h 1143000" name="csY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b="b" l="l" r="r" t="t"/>
                    <a:pathLst>
                      <a:path extrusionOk="0" fill="none" h="1143000" w="1097280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extrusionOk="0" h="1143000" stroke="0" w="1097280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7150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14350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hdr="0"/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lnSpc>
          <a:spcPct val="130000"/>
        </a:lnSpc>
        <a:spcBef>
          <a:spcPts val="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lnSpc>
          <a:spcPct val="130000"/>
        </a:lnSpc>
        <a:spcBef>
          <a:spcPts val="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lnSpc>
          <a:spcPct val="130000"/>
        </a:lnSpc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lnSpc>
          <a:spcPct val="130000"/>
        </a:lnSpc>
        <a:spcBef>
          <a:spcPts val="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lnSpc>
          <a:spcPct val="130000"/>
        </a:lnSpc>
        <a:spcBef>
          <a:spcPts val="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7: MapReduce Examples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 &amp;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Purpose:</a:t>
            </a:r>
            <a:r>
              <a:rPr/>
              <a:t> Demonstrate MapReduce through four canonical examples, from simple filtering to multi-phase joins and graph algorithms. Each example shows problem → solution design → step-by-step input/output per phase.</a:t>
            </a:r>
          </a:p>
          <a:p>
            <a:pPr lvl="0"/>
            <a:r>
              <a:rPr b="1"/>
              <a:t>Learning Objectives:</a:t>
            </a:r>
          </a:p>
          <a:p>
            <a:pPr lvl="1"/>
            <a:r>
              <a:rPr/>
              <a:t>Design key/value pairs so Map → Shuffle → Reduce produce the desired result</a:t>
            </a:r>
          </a:p>
          <a:p>
            <a:pPr lvl="1"/>
            <a:r>
              <a:rPr/>
              <a:t>Trace data flow phase-by-phase with concrete inputs and outputs</a:t>
            </a:r>
          </a:p>
          <a:p>
            <a:pPr lvl="1"/>
            <a:r>
              <a:rPr/>
              <a:t>Decide when combiners are safe and when multiple MapReduce phases are needed</a:t>
            </a:r>
          </a:p>
          <a:p>
            <a:pPr lvl="1"/>
            <a:r>
              <a:rPr/>
              <a:t>Recognize patterns: filtering, inverted index, join+aggregate, iterative graph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1: Filtering Pattern — Count Errors by Service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1.1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run a fleet of API services and need to </a:t>
            </a:r>
            <a:r>
              <a:rPr b="1"/>
              <a:t>count errors by service name</a:t>
            </a:r>
            <a:r>
              <a:rPr/>
              <a:t>. Raw logs are large; only rows with status code ≥ 500 are relevant. You want to avoid shuffling and reducing over successful requests.</a:t>
            </a:r>
          </a:p>
          <a:p>
            <a:pPr lvl="0" indent="0" marL="0">
              <a:buNone/>
            </a:pPr>
            <a:r>
              <a:rPr b="1"/>
              <a:t>Input:</a:t>
            </a:r>
            <a:r>
              <a:rPr/>
              <a:t> API request logs (timestamp, service, status, latency_ms).</a:t>
            </a:r>
            <a:br/>
            <a:r>
              <a:rPr b="1"/>
              <a:t>Output:</a:t>
            </a:r>
            <a:r>
              <a:rPr/>
              <a:t> For each service, the number of error rows (status ≥ 500).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1.2 Solution (Key/Value 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Filter in the mapper:</a:t>
            </a:r>
            <a:r>
              <a:rPr/>
              <a:t> emit only for status ≥ 500; non-error rows emit nothing.</a:t>
            </a:r>
          </a:p>
          <a:p>
            <a:pPr lvl="0"/>
            <a:r>
              <a:rPr b="1"/>
              <a:t>Key:</a:t>
            </a:r>
            <a:r>
              <a:rPr/>
              <a:t> </a:t>
            </a:r>
            <a:r>
              <a:rPr>
                <a:latin typeface="Courier"/>
              </a:rPr>
              <a:t>service</a:t>
            </a:r>
          </a:p>
          <a:p>
            <a:pPr lvl="0"/>
            <a:r>
              <a:rPr b="1"/>
              <a:t>Value:</a:t>
            </a:r>
            <a:r>
              <a:rPr/>
              <a:t> </a:t>
            </a:r>
            <a:r>
              <a:rPr>
                <a:latin typeface="Courier"/>
              </a:rPr>
              <a:t>1</a:t>
            </a:r>
            <a:r>
              <a:rPr/>
              <a:t> (one count per error row)</a:t>
            </a:r>
          </a:p>
          <a:p>
            <a:pPr lvl="0" indent="0" marL="0">
              <a:buNone/>
            </a:pPr>
            <a:r>
              <a:rPr/>
              <a:t>Reducer groups by service and sums the 1s → error count per service.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Formal Solution (Filtering)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map(record):
  if record.status &lt; 500:
    emit nothing
  else:
    emit (record.service, 1)
reduce(key, values):
  emit (key, sum(values))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Step-by-Step: Input (Filtering)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/>
                <a:gridCol w="2654300"/>
                <a:gridCol w="2654300"/>
                <a:gridCol w="2654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latency_ms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 Step-by-Step: Map &amp; Shuffle (Filtering)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Rows with status &lt; 500 → </a:t>
            </a:r>
            <a:r>
              <a:rPr b="1"/>
              <a:t>emit nothing</a:t>
            </a:r>
            <a:r>
              <a:rPr/>
              <a:t> (filtered out).</a:t>
            </a:r>
          </a:p>
          <a:p>
            <a:pPr lvl="0"/>
            <a:r>
              <a:rPr/>
              <a:t>Rows with status ≥ 500 → emit </a:t>
            </a:r>
            <a:r>
              <a:rPr>
                <a:latin typeface="Courier"/>
              </a:rPr>
              <a:t>(service, 1)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Mapper output (only error rows):</a:t>
            </a:r>
            <a:r>
              <a:rPr/>
              <a:t> 10:01 → (auth, 1), 10:03 → (cart, 1), 10:05 → (search, 1).</a:t>
            </a:r>
          </a:p>
          <a:p>
            <a:pPr lvl="0" indent="0" marL="0">
              <a:buNone/>
            </a:pPr>
            <a:r>
              <a:rPr b="1"/>
              <a:t>Shuffle — grouped by key </a:t>
            </a:r>
            <a:r>
              <a:rPr b="1">
                <a:latin typeface="Courier"/>
              </a:rPr>
              <a:t>service</a:t>
            </a:r>
            <a:r>
              <a:rPr b="1"/>
              <a:t>:</a:t>
            </a:r>
            <a:r>
              <a:rPr/>
              <a:t> auth → [1], cart → [1], search → [1].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1.6 Step-by-Step: Reduce &amp; Final Output (Filtering)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service key: sum all values; emit </a:t>
            </a:r>
            <a:r>
              <a:rPr>
                <a:latin typeface="Courier"/>
              </a:rPr>
              <a:t>service&lt;TAB&gt;error_count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error_count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1.7 Combiner &amp; Engineering (Filtering)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Combiner:</a:t>
            </a:r>
            <a:r>
              <a:rPr/>
              <a:t> Safe — summing counts is associative and commutative. Can pre-aggregate (e.g. (auth, 1), (auth, 1) → (auth, 2) locally).</a:t>
            </a:r>
          </a:p>
          <a:p>
            <a:pPr lvl="0"/>
            <a:r>
              <a:rPr b="1"/>
              <a:t>Why filter in map:</a:t>
            </a:r>
            <a:r>
              <a:rPr/>
              <a:t> Reduces shuffle traffic; only error rows move. Downside: wrong filter logic can silently drop data — monitor filter rates and validate with sampling.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2: Inverted Index — Term → Document Postings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2.1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have a small document collection (e.g. internal wiki or log snippets). For each </a:t>
            </a:r>
            <a:r>
              <a:rPr b="1"/>
              <a:t>term</a:t>
            </a:r>
            <a:r>
              <a:rPr/>
              <a:t>, you want a </a:t>
            </a:r>
            <a:r>
              <a:rPr b="1"/>
              <a:t>posting list</a:t>
            </a:r>
            <a:r>
              <a:rPr/>
              <a:t>: the documents that contain it and the </a:t>
            </a:r>
            <a:r>
              <a:rPr b="1"/>
              <a:t>term frequency</a:t>
            </a:r>
            <a:r>
              <a:rPr/>
              <a:t> in each document. This is the core structure for search.</a:t>
            </a:r>
          </a:p>
          <a:p>
            <a:pPr lvl="0" indent="0" marL="0">
              <a:buNone/>
            </a:pPr>
            <a:r>
              <a:rPr b="1"/>
              <a:t>Input:</a:t>
            </a:r>
            <a:r>
              <a:rPr/>
              <a:t> Documents (doc_id + raw text).</a:t>
            </a:r>
            <a:br/>
            <a:r>
              <a:rPr b="1"/>
              <a:t>Output:</a:t>
            </a:r>
            <a:r>
              <a:rPr/>
              <a:t> For each term: </a:t>
            </a:r>
            <a:r>
              <a:rPr>
                <a:latin typeface="Courier"/>
              </a:rPr>
              <a:t>doc_id:tf, doc_id:tf, ...</a:t>
            </a:r>
            <a:r>
              <a:rPr/>
              <a:t> (e.g. </a:t>
            </a:r>
            <a:r>
              <a:rPr>
                <a:latin typeface="Courier"/>
              </a:rPr>
              <a:t>data → 1:1,2:2,3:1,4:1</a:t>
            </a:r>
            <a:r>
              <a:rPr/>
              <a:t>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2.2 Solution (Key/Value 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Map:</a:t>
            </a:r>
            <a:r>
              <a:rPr/>
              <a:t> Tokenize (lowercase, split on whitespace). Emit one pair per (term, doc) occurrence so we can count.</a:t>
            </a:r>
          </a:p>
          <a:p>
            <a:pPr lvl="0"/>
            <a:r>
              <a:rPr b="1"/>
              <a:t>Key:</a:t>
            </a:r>
            <a:r>
              <a:rPr/>
              <a:t> </a:t>
            </a:r>
            <a:r>
              <a:rPr>
                <a:latin typeface="Courier"/>
              </a:rPr>
              <a:t>(term, doc_id)</a:t>
            </a:r>
            <a:r>
              <a:rPr/>
              <a:t> — groups all occurrences of the same term in the same document.</a:t>
            </a:r>
          </a:p>
          <a:p>
            <a:pPr lvl="0"/>
            <a:r>
              <a:rPr b="1"/>
              <a:t>Value:</a:t>
            </a:r>
            <a:r>
              <a:rPr/>
              <a:t> </a:t>
            </a:r>
            <a:r>
              <a:rPr>
                <a:latin typeface="Courier"/>
              </a:rPr>
              <a:t>1</a:t>
            </a:r>
          </a:p>
          <a:p>
            <a:pPr lvl="0" indent="0" marL="0">
              <a:buNone/>
            </a:pPr>
            <a:r>
              <a:rPr/>
              <a:t>Reducer (or combiner) sums the 1s → term frequency per (term, doc). Then we format postings per term (e.g. by tracking “current term” and emitting when term changes; postings are sorted by doc_id because key is (term, doc_id)).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Formal Solution (Inverted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map(doc_id, text):
  for term in tokenize(text):   // lowercase, split on whitespace
    emit ((term, doc_id), 1)
reduce((term, doc_id), values):
  tf = sum(values)
  emit (term, "doc_id:tf" appended to postings list for term)
  // output: term \t doc1:tf1,doc2:tf2,...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 Step-by-Step: Input (Inverted Index)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/>
                <a:gridCol w="9537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engineering is fun and practical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pipelines need reliable data quality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mapreduce is practical for large scale data processing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quality matters in data engineering pipelines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Tokenization: lowercase, split on whitespace, keep duplicates (for term frequency).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2.5 Step-by-Step: Map &amp; Shuffle (Inverted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token emit </a:t>
            </a:r>
            <a:r>
              <a:rPr b="1"/>
              <a:t>((term, doc_id), 1)</a:t>
            </a:r>
            <a:r>
              <a:rPr/>
              <a:t>. Example: doc 2 → ((data, 2), 1), ((pipelines, 2), 1), ((data, 2), 1), ((quality, 2), 1).</a:t>
            </a:r>
          </a:p>
          <a:p>
            <a:pPr lvl="0" indent="0" marL="0">
              <a:buNone/>
            </a:pPr>
            <a:r>
              <a:rPr b="1"/>
              <a:t>Shuffle — grouped by </a:t>
            </a:r>
            <a:r>
              <a:rPr b="1">
                <a:latin typeface="Courier"/>
              </a:rPr>
              <a:t>(term, doc_id)</a:t>
            </a:r>
            <a:r>
              <a:rPr b="1"/>
              <a:t>:</a:t>
            </a:r>
            <a:r>
              <a:rPr/>
              <a:t> (data, 1)→[1], (data, 2)→[1,1], (data, 3)→[1], (data, 4)→[1], (engineering, 1)→[1], (engineering, 4)→[1], (pipelines, 2)→[1], (pipelines, 4)→[1], (quality, 2)→[1], (quality, 4)→[1].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 Step-by-Step: Reduce &amp; Final Output (Inverted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key </a:t>
            </a:r>
            <a:r>
              <a:rPr>
                <a:latin typeface="Courier"/>
              </a:rPr>
              <a:t>(term, doc_id)</a:t>
            </a:r>
            <a:r>
              <a:rPr/>
              <a:t>: sum values → tf. Maintain current term; when term changes, emit previous term with posting list. Output: </a:t>
            </a:r>
            <a:r>
              <a:rPr>
                <a:latin typeface="Courier"/>
              </a:rPr>
              <a:t>term&lt;TAB&gt;doc1:tf1,doc2:tf2,...</a:t>
            </a:r>
            <a:r>
              <a:rPr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2.7 Combiner &amp; Pitfalls (Inverted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Combiner:</a:t>
            </a:r>
            <a:r>
              <a:rPr/>
              <a:t> Safe and useful. Locally aggregate </a:t>
            </a:r>
            <a:r>
              <a:rPr>
                <a:latin typeface="Courier"/>
              </a:rPr>
              <a:t>((term, doc_id), 1)</a:t>
            </a:r>
            <a:r>
              <a:rPr/>
              <a:t> → </a:t>
            </a:r>
            <a:r>
              <a:rPr>
                <a:latin typeface="Courier"/>
              </a:rPr>
              <a:t>((term, doc_id), partial_count)</a:t>
            </a:r>
            <a:r>
              <a:rPr/>
              <a:t>. Sum is associative/commutative. Do not build final posting strings in the combiner — only counts.</a:t>
            </a:r>
          </a:p>
          <a:p>
            <a:pPr lvl="0"/>
            <a:r>
              <a:rPr b="1"/>
              <a:t>Pitfalls:</a:t>
            </a:r>
            <a:r>
              <a:rPr/>
              <a:t> Removing duplicates in map breaks term frequency; keying only by term (no doc_id) loses per-document counts; unclear tokenization makes results ambiguous.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3: Matrix–Vector Multiplication (Two-Phase)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are scoring documents with a </a:t>
            </a:r>
            <a:r>
              <a:rPr b="1"/>
              <a:t>sparse feature matrix</a:t>
            </a:r>
            <a:r>
              <a:rPr/>
              <a:t> </a:t>
            </a:r>
            <a:r>
              <a:rPr>
                <a:latin typeface="Courier"/>
              </a:rPr>
              <a:t>A</a:t>
            </a:r>
            <a:r>
              <a:rPr/>
              <a:t> and a </a:t>
            </a:r>
            <a:r>
              <a:rPr b="1"/>
              <a:t>weight vector</a:t>
            </a:r>
            <a:r>
              <a:rPr/>
              <a:t> </a:t>
            </a:r>
            <a:r>
              <a:rPr>
                <a:latin typeface="Courier"/>
              </a:rPr>
              <a:t>v</a:t>
            </a:r>
            <a:r>
              <a:rPr/>
              <a:t>. Each </a:t>
            </a:r>
            <a:r>
              <a:rPr>
                <a:latin typeface="Courier"/>
              </a:rPr>
              <a:t>A[i,j]</a:t>
            </a:r>
            <a:r>
              <a:rPr/>
              <a:t> is the feature value for document </a:t>
            </a:r>
            <a:r>
              <a:rPr>
                <a:latin typeface="Courier"/>
              </a:rPr>
              <a:t>i</a:t>
            </a:r>
            <a:r>
              <a:rPr/>
              <a:t>, feature </a:t>
            </a:r>
            <a:r>
              <a:rPr>
                <a:latin typeface="Courier"/>
              </a:rPr>
              <a:t>j</a:t>
            </a:r>
            <a:r>
              <a:rPr/>
              <a:t>; each </a:t>
            </a:r>
            <a:r>
              <a:rPr>
                <a:latin typeface="Courier"/>
              </a:rPr>
              <a:t>v[j]</a:t>
            </a:r>
            <a:r>
              <a:rPr/>
              <a:t> is the weight for feature </a:t>
            </a:r>
            <a:r>
              <a:rPr>
                <a:latin typeface="Courier"/>
              </a:rPr>
              <a:t>j</a:t>
            </a:r>
            <a:r>
              <a:rPr/>
              <a:t>. You need the score per document:</a:t>
            </a:r>
          </a:p>
          <a:p>
            <a:pPr lvl="0" indent="0" marL="0">
              <a:buNone/>
            </a:pPr>
            <a:r>
              <a:rPr b="1"/>
              <a:t>y[i] = Σ_j A[i,j] · v[j]</a:t>
            </a:r>
          </a:p>
          <a:p>
            <a:pPr lvl="0" indent="0" marL="0">
              <a:buNone/>
            </a:pPr>
            <a:r>
              <a:rPr/>
              <a:t>So you must </a:t>
            </a:r>
            <a:r>
              <a:rPr b="1"/>
              <a:t>join</a:t>
            </a:r>
            <a:r>
              <a:rPr/>
              <a:t> matrix entries with the vector on index </a:t>
            </a:r>
            <a:r>
              <a:rPr>
                <a:latin typeface="Courier"/>
              </a:rPr>
              <a:t>j</a:t>
            </a:r>
            <a:r>
              <a:rPr/>
              <a:t>, compute products, then </a:t>
            </a:r>
            <a:r>
              <a:rPr b="1"/>
              <a:t>sum by row</a:t>
            </a:r>
            <a:r>
              <a:rPr/>
              <a:t> </a:t>
            </a:r>
            <a:r>
              <a:rPr>
                <a:latin typeface="Courier"/>
              </a:rPr>
              <a:t>i</a:t>
            </a:r>
            <a:r>
              <a:rPr/>
              <a:t>. Join is keyed by </a:t>
            </a:r>
            <a:r>
              <a:rPr>
                <a:latin typeface="Courier"/>
              </a:rPr>
              <a:t>j</a:t>
            </a:r>
            <a:r>
              <a:rPr/>
              <a:t>; final aggregation is keyed by </a:t>
            </a:r>
            <a:r>
              <a:rPr>
                <a:latin typeface="Courier"/>
              </a:rPr>
              <a:t>i</a:t>
            </a:r>
            <a:r>
              <a:rPr/>
              <a:t> — hence </a:t>
            </a:r>
            <a:r>
              <a:rPr b="1"/>
              <a:t>two MapReduce phases</a:t>
            </a:r>
            <a:r>
              <a:rPr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Solution (Key/Value 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 — Join on j:</a:t>
            </a:r>
            <a:r>
              <a:rPr/>
              <a:t> Key </a:t>
            </a:r>
            <a:r>
              <a:rPr>
                <a:latin typeface="Courier"/>
              </a:rPr>
              <a:t>j</a:t>
            </a:r>
            <a:r>
              <a:rPr/>
              <a:t>; value tagged — matrix: </a:t>
            </a:r>
            <a:r>
              <a:rPr>
                <a:latin typeface="Courier"/>
              </a:rPr>
              <a:t>(A, i, A[i,j])</a:t>
            </a:r>
            <a:r>
              <a:rPr/>
              <a:t>, vector: </a:t>
            </a:r>
            <a:r>
              <a:rPr>
                <a:latin typeface="Courier"/>
              </a:rPr>
              <a:t>(V, v[j])</a:t>
            </a:r>
            <a:r>
              <a:rPr/>
              <a:t>. Reducer computes partials and emits </a:t>
            </a:r>
            <a:r>
              <a:rPr b="1"/>
              <a:t>(i, partial)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Phase 2 — Sum by i:</a:t>
            </a:r>
            <a:r>
              <a:rPr/>
              <a:t> Key </a:t>
            </a:r>
            <a:r>
              <a:rPr>
                <a:latin typeface="Courier"/>
              </a:rPr>
              <a:t>i</a:t>
            </a:r>
            <a:r>
              <a:rPr/>
              <a:t>; value partial product. Reducer sums → </a:t>
            </a:r>
            <a:r>
              <a:rPr b="1"/>
              <a:t>y[i]</a:t>
            </a:r>
            <a:r>
              <a:rPr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Formal Solution (Matrix–Vector)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</a:t>
            </a:r>
            <a:r>
              <a:rPr/>
              <a:t> map emits (j, (A,i,A[i,j])) or (j, (V,v[j])); reduce(j) uses v_j, emits (i, a_ij*v_j).</a:t>
            </a:r>
            <a:br/>
            <a:r>
              <a:rPr b="1"/>
              <a:t>Phase 2:</a:t>
            </a:r>
            <a:r>
              <a:rPr/>
              <a:t> map identity; reduce(i) emits (i, sum(values)).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3.4 Step-by-Step: Input (Matrix–Vector)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Matrix A (sparse):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 (row)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j (col)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A[i,j]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Vector v:</a:t>
            </a:r>
            <a:r>
              <a:rPr/>
              <a:t> j=1→10, j=2→1, j=3→2.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3.5 Step-by-Step: Phase 1 — Map, Shuffle, Reduce (Matrix–Vector)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Map:</a:t>
            </a:r>
            <a:r>
              <a:rPr/>
              <a:t> Matrix → (j, (A, i, A[i,j])); vector → (j, (V, v[j])). Example j=1: (1,(A,1,2)), (1,(A,2,4)), (1,(V,10)).</a:t>
            </a:r>
          </a:p>
          <a:p>
            <a:pPr lvl="0" indent="0" marL="0">
              <a:buNone/>
            </a:pPr>
            <a:r>
              <a:rPr b="1"/>
              <a:t>Shuffle:</a:t>
            </a:r>
            <a:r>
              <a:rPr/>
              <a:t> Key 1 → [(A,1,2), (A,2,4), (V,10)].</a:t>
            </a:r>
          </a:p>
          <a:p>
            <a:pPr lvl="0" indent="0" marL="0">
              <a:buNone/>
            </a:pPr>
            <a:r>
              <a:rPr b="1"/>
              <a:t>Reduce:</a:t>
            </a:r>
            <a:r>
              <a:rPr/>
              <a:t> For each j take v[j]; for each (A, i, a_ij) emit (i, a_ij*v_j). j=1 → (1,20), (2,40); j=2 → (2,5); j=3 → (1,2), (3,6).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3.6 Step-by-Step: Phase 2 &amp; Final Output (Matrix–Vector)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2:</a:t>
            </a:r>
            <a:r>
              <a:rPr/>
              <a:t> Identity map; shuffle by i: 1→[20,2], 2→[40,5], 3→[6]; reduce sums per i.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y[i]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3.7 Combiner &amp; Engineering (Matrix–Vector)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Phase 1:</a:t>
            </a:r>
            <a:r>
              <a:rPr/>
              <a:t> Combiner not applicable — need vector value to compute products; reducer must see both matrix and vector.</a:t>
            </a:r>
          </a:p>
          <a:p>
            <a:pPr lvl="0"/>
            <a:r>
              <a:rPr b="1"/>
              <a:t>Phase 2:</a:t>
            </a:r>
            <a:r>
              <a:rPr/>
              <a:t> Combiner safe — sum of partials is associative and commutative.</a:t>
            </a:r>
          </a:p>
          <a:p>
            <a:pPr lvl="0"/>
            <a:r>
              <a:rPr b="1"/>
              <a:t>Bottleneck:</a:t>
            </a:r>
            <a:r>
              <a:rPr/>
              <a:t> Shuffle of all matrix entries keyed by </a:t>
            </a:r>
            <a:r>
              <a:rPr>
                <a:latin typeface="Courier"/>
              </a:rPr>
              <a:t>j</a:t>
            </a:r>
            <a:r>
              <a:rPr/>
              <a:t>; can be large if matrix is dense or skewed. Mitigate with map-side broadcast of vector if it fits in memory, or combiners in phase 2 to reduce network.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4: PageRank (Single Iteration, with Damping)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4.1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have a small directed graph (e.g. internal wiki pages). You want </a:t>
            </a:r>
            <a:r>
              <a:rPr b="1"/>
              <a:t>one iteration of PageRank</a:t>
            </a:r>
            <a:r>
              <a:rPr/>
              <a:t> with damping and proper handling of </a:t>
            </a:r>
            <a:r>
              <a:rPr b="1"/>
              <a:t>dangling nodes</a:t>
            </a:r>
            <a:r>
              <a:rPr/>
              <a:t> (no outlinks). Each page distributes its current rank equally to its outlinks; dangling rank is redistributed to all pages.</a:t>
            </a:r>
          </a:p>
          <a:p>
            <a:pPr lvl="0" indent="0" marL="0">
              <a:buNone/>
            </a:pPr>
            <a:r>
              <a:rPr b="1"/>
              <a:t>Input:</a:t>
            </a:r>
            <a:r>
              <a:rPr/>
              <a:t> Edges (from_page, to_page) and set of pages (including dangling). Initial rank PR0 = 1/N per page.</a:t>
            </a:r>
            <a:br/>
            <a:r>
              <a:rPr b="1"/>
              <a:t>Output:</a:t>
            </a:r>
            <a:r>
              <a:rPr/>
              <a:t> Updated rank PR1 per page after one iteration.</a:t>
            </a:r>
          </a:p>
          <a:p>
            <a:pPr lvl="0" indent="0" marL="0">
              <a:buNone/>
            </a:pPr>
            <a:r>
              <a:rPr/>
              <a:t>Formula (with damping d = 0.85):</a:t>
            </a:r>
            <a:br/>
            <a:r>
              <a:rPr b="1"/>
              <a:t>PR1(p) = (1−d)/N + d · (sum of incoming contributions + dangling_mass/N)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Solution (Key/Value 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Mapper per page: has current rank and adjacency list.</a:t>
            </a:r>
          </a:p>
          <a:p>
            <a:pPr lvl="0"/>
            <a:r>
              <a:rPr b="1"/>
              <a:t>Rank contributions:</a:t>
            </a:r>
            <a:r>
              <a:rPr/>
              <a:t> For each outlink </a:t>
            </a:r>
            <a:r>
              <a:rPr>
                <a:latin typeface="Courier"/>
              </a:rPr>
              <a:t>to_page</a:t>
            </a:r>
            <a:r>
              <a:rPr/>
              <a:t>, emit </a:t>
            </a:r>
            <a:r>
              <a:rPr b="1"/>
              <a:t>(to_page, contrib)</a:t>
            </a:r>
            <a:r>
              <a:rPr/>
              <a:t> where contrib = current_rank / num_outlinks. If no outlinks (dangling), contrib is the full rank — tracked as “dangling mass” and redistributed in reducer.</a:t>
            </a:r>
          </a:p>
          <a:p>
            <a:pPr lvl="0"/>
            <a:r>
              <a:rPr b="1"/>
              <a:t>Structure:</a:t>
            </a:r>
            <a:r>
              <a:rPr/>
              <a:t> Emit </a:t>
            </a:r>
            <a:r>
              <a:rPr b="1"/>
              <a:t>(page, adjacency_list)</a:t>
            </a:r>
            <a:r>
              <a:rPr/>
              <a:t> so the graph is preserved for the next iteration.</a:t>
            </a:r>
          </a:p>
          <a:p>
            <a:pPr lvl="0" indent="0" marL="0">
              <a:buNone/>
            </a:pPr>
            <a:r>
              <a:rPr/>
              <a:t>Reducer for page </a:t>
            </a:r>
            <a:r>
              <a:rPr>
                <a:latin typeface="Courier"/>
              </a:rPr>
              <a:t>p</a:t>
            </a:r>
            <a:r>
              <a:rPr/>
              <a:t>: receives contributions and (once) its adjacency list; sums incoming contributions; adds share of dangling mass; applies damping formula; emits </a:t>
            </a:r>
            <a:r>
              <a:rPr b="1"/>
              <a:t>(p, PR1(p))</a:t>
            </a:r>
            <a:r>
              <a:rPr/>
              <a:t> and passes adjacency list for next round.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Formal solution</a:t>
            </a:r>
          </a:p>
          <a:p>
            <a:pPr lvl="0" indent="0">
              <a:buNone/>
            </a:pPr>
            <a:r>
              <a:rPr>
                <a:latin typeface="Courier"/>
              </a:rPr>
              <a:t>map(page, rank, adj_list):
  if adj_list is empty:
    emit (page, [])                    // preserve structure
    dangling_mass += rank              // tracked globally for reducer
  else:
    contrib = rank / len(adj_list)
    for to_page in adj_list:
      emit (to_page, contrib)
    emit (page, adj_list)              // pass through for next iteration
reduce(page, values):
  adj_list = single value that is a list (pass through)
  sum_in = sum(numeric values in values)
  PR1 = (1-d)/N + d * (sum_in + dangling_mass/N)
  emit (page, PR1)   // and adj_list for next iteration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 Step-by-Step: Input (PageRank)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Edges:</a:t>
            </a:r>
            <a:r>
              <a:rPr/>
              <a:t> A→B, A→C, B→C, C→A. Pages: A, B, C, D (D dangling). N=4, PR0=0.25 each, d=0.85.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4.5 Step-by-Step: Map &amp; Shuffle (PageRank)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Map:</a:t>
            </a:r>
            <a:r>
              <a:rPr/>
              <a:t> A → (B,0.125), (C,0.125), (A,[B,C]). B → (C,0.25), (B,[C]). C → (A,0.25), (C,[A]). D → (D,[]); dangling mass 0.25.</a:t>
            </a:r>
          </a:p>
          <a:p>
            <a:pPr lvl="0" indent="0" marL="0">
              <a:buNone/>
            </a:pPr>
            <a:r>
              <a:rPr b="1"/>
              <a:t>Shuffle (e.g. key C):</a:t>
            </a:r>
            <a:r>
              <a:rPr/>
              <a:t> [0.125 from A, 0.25 from B, adj list [A]]. Reducer separates contributions from adjacency list.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4.6 Step-by-Step: Reduce &amp; Final Output (PageRank)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 incoming contributions; add 0.0625 (dangling_mass/N); base 0.0375; PR1 = 0.0375 + 0.85·(sum_in + 0.0625).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PR1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0.1969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0.4094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0.0906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4.7 Combiner &amp; Engineering (PageRank)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Combiner:</a:t>
            </a:r>
            <a:r>
              <a:rPr/>
              <a:t> Safe for </a:t>
            </a:r>
            <a:r>
              <a:rPr b="1"/>
              <a:t>summing contributions</a:t>
            </a:r>
            <a:r>
              <a:rPr/>
              <a:t> per key (addition is associative). Must not drop the adjacency list — pass it through; only numeric contributions are combined.</a:t>
            </a:r>
          </a:p>
          <a:p>
            <a:pPr lvl="0"/>
            <a:r>
              <a:rPr b="1"/>
              <a:t>Dangling nodes:</a:t>
            </a:r>
            <a:r>
              <a:rPr/>
              <a:t> If not handled, rank “leaks” and total rank shrinks each iteration. Redistributing dangling mass preserves total rank and keeps PageRank well-defined.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Pattern Overview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2362200"/>
                <a:gridCol w="863600"/>
                <a:gridCol w="5041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idea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 +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 in map; key = group (service); value =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Inverted 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Scan + group +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(term, doc_id); value 1; format postings in reduce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Matrix–vector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Join + aggregate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1 join on j; phase 2 sum on 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PageRank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Graph iteration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(per iter)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Emit contributions to targets; preserve graph; handle dangling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Teaching order:</a:t>
            </a:r>
            <a:r>
              <a:rPr/>
              <a:t> Filtering (simplest) → Inverted index (canonical MR) → Matrix–vector (two phases) → PageRank (graph + special handling).</a:t>
            </a:r>
          </a:p>
          <a:p>
            <a:pPr lvl="0"/>
            <a:r>
              <a:rPr/>
              <a:t>For each example: state problem → give key/value design → walk one concrete input through Map output → Shuffle grouping → Reduce output → final table.</a:t>
            </a:r>
          </a:p>
          <a:p>
            <a:pPr lvl="0"/>
            <a:r>
              <a:rPr/>
              <a:t>Emphasize: key choice determines grouping; value choice determines what reducer aggregates; combiners only when operation is associative/commutative; multi-phase when join key ≠ aggregate key.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21</Words>
  <Application>Microsoft Macintosh PowerPoint</Application>
  <PresentationFormat>מסך רחב</PresentationFormat>
  <Paragraphs>14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2026-02-10T10:18:12Z</dcterms:created>
  <dcterms:modified xsi:type="dcterms:W3CDTF">2026-02-10T10:18:12Z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