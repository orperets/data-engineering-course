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package/2006/relationships/metadata/extended-properties" Target="docProps/app0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60" r:id="rId4"/>
    <p:sldId id="261" r:id="rId5"/>
    <p:sldId id="262" r:id="rId6"/>
    <p:sldId id="263" r:id="rId7"/>
    <p:sldId id="264" r:id="rId8"/>
    <p:sldId id="266" r:id="rId9"/>
    <p:sldId id="267" r:id="rId10"/>
    <p:sldId id="265" r:id="rId11"/>
    <p:sldId id="268" r:id="rId12"/>
    <p:sldId id="270" r:id="rId13"/>
    <p:sldId id="271" r:id="rId14"/>
    <p:sldId id="272" r:id="rId15"/>
    <p:sldId id="275" r:id="rId16"/>
    <p:sldId id="276" r:id="rId17"/>
    <p:sldId id="277" r:id="rId18"/>
    <p:sldId id="278" r:id="rId19"/>
    <p:sldId id="280" r:id="rId20"/>
    <p:sldId id="282" r:id="rId21"/>
    <p:sldId id="283" r:id="rId22"/>
    <p:sldId id="284" r:id="rId23"/>
    <p:sldId id="285" r:id="rId24"/>
    <p:sldId id="287" r:id="rId25"/>
    <p:sldId id="288" r:id="rId26"/>
    <p:sldId id="289" r:id="rId27"/>
    <p:sldId id="290" r:id="rId28"/>
    <p:sldId id="293" r:id="rId29"/>
    <p:sldId id="294" r:id="rId30"/>
    <p:sldId id="295" r:id="rId31"/>
    <p:sldId id="296" r:id="rId3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411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064"/>
    <p:restoredTop sz="94757"/>
  </p:normalViewPr>
  <p:slideViewPr>
    <p:cSldViewPr snapToGrid="0" snapToObjects="1">
      <p:cViewPr varScale="1">
        <p:scale>
          <a:sx n="104" d="100"/>
          <a:sy n="104" d="100"/>
        </p:scale>
        <p:origin x="1104" y="20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118" d="100"/>
          <a:sy n="118" d="100"/>
        </p:scale>
        <p:origin x="5160" y="21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14400" y="2130426"/>
            <a:ext cx="10363200" cy="1470025"/>
          </a:xfrm>
        </p:spPr>
        <p:txBody>
          <a:bodyPr/>
          <a:lstStyle>
            <a:lvl1pPr>
              <a:defRPr sz="4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964B5F-BAD9-9946-9D71-AB5C763DA70C}" type="datetime9">
              <a:rPr lang="he-IL" smtClean="0"/>
              <a:t>9 פברואר,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34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1EEA0-9609-584F-90F2-46E4F93E52CD}" type="datetime9">
              <a:rPr lang="he-IL" smtClean="0"/>
              <a:t>9 פברואר,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A6A5E-CA21-6B4F-9DE7-1A275F321E49}" type="datetime9">
              <a:rPr lang="he-IL" smtClean="0"/>
              <a:t>9 פברואר,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29F15AE-737D-866E-3CF2-D0120AD833A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4400" y="2130426"/>
            <a:ext cx="10363200" cy="1470025"/>
          </a:xfrm>
        </p:spPr>
        <p:txBody>
          <a:bodyPr/>
          <a:lstStyle>
            <a:lvl1pPr>
              <a:defRPr sz="42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56840" y="1600201"/>
            <a:ext cx="6601428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717894" y="2569580"/>
            <a:ext cx="5864506" cy="355658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C6960-90E0-EA41-937B-E68D4C6A0841}" type="datetime9">
              <a:rPr lang="he-IL" smtClean="0"/>
              <a:t>9 פברואר,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AE1C8-A9FA-924F-80DA-3B96C0343AF4}" type="datetime9">
              <a:rPr lang="he-IL" smtClean="0"/>
              <a:t>9 פברואר, 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92AE4-510D-3C40-B9B0-AA6693EED883}" type="datetime9">
              <a:rPr lang="he-IL" smtClean="0"/>
              <a:t>9 פברואר, 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1D8F28D-D1D2-34A5-D88A-549DD7AD701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46768" y="1600201"/>
            <a:ext cx="10635632" cy="4525963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5D179-4B48-7641-AFA1-4656153FFCB8}" type="datetime9">
              <a:rPr lang="he-IL" smtClean="0"/>
              <a:t>9 פברואר, 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F1439EE-8346-69C4-2D2A-C45C952E131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46768" y="1600201"/>
            <a:ext cx="10635632" cy="4525963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96A8D-C7E4-194A-BF0A-D552B24EBF94}" type="datetime9">
              <a:rPr lang="he-IL" smtClean="0"/>
              <a:t>9 פברואר,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F24627C-5938-5D06-969C-341161F72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63E56AFE-36F7-8DA5-652B-89A25DA319A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957403" y="1417638"/>
            <a:ext cx="7624997" cy="4357028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838FFFFD-68E9-C4E4-7764-523BAE32B83B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965200" y="1417638"/>
            <a:ext cx="2844801" cy="4357028"/>
          </a:xfrm>
        </p:spPr>
        <p:txBody>
          <a:bodyPr/>
          <a:lstStyle>
            <a:lvl1pPr marL="0" indent="0">
              <a:buNone/>
              <a:defRPr sz="2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B2D52-0D9F-F345-8384-0DCA30BF1F04}" type="datetime9">
              <a:rPr lang="he-IL" smtClean="0"/>
              <a:t>9 פברואר,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744ED6-1944-D14D-91B5-FC6036DE393D}" type="datetime9">
              <a:rPr lang="he-IL" smtClean="0"/>
              <a:t>9 פברואר,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68E4D-FFEC-474C-BD1C-299FD021CBA4}" type="datetime9">
              <a:rPr lang="he-IL" smtClean="0"/>
              <a:t>9 פברואר,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oundRect">
            <a:avLst/>
          </a:prstGeom>
          <a:ln w="12700">
            <a:solidFill>
              <a:schemeClr val="accent2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10972800"/>
                      <a:gd name="csY0" fmla="*/ 0 h 1143000"/>
                      <a:gd name="csX1" fmla="*/ 10972800 w 10972800"/>
                      <a:gd name="csY1" fmla="*/ 0 h 1143000"/>
                      <a:gd name="csX2" fmla="*/ 10972800 w 10972800"/>
                      <a:gd name="csY2" fmla="*/ 1143000 h 1143000"/>
                      <a:gd name="csX3" fmla="*/ 0 w 10972800"/>
                      <a:gd name="csY3" fmla="*/ 1143000 h 1143000"/>
                      <a:gd name="csX4" fmla="*/ 0 w 10972800"/>
                      <a:gd name="csY4" fmla="*/ 0 h 11430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10972800" h="1143000" fill="none" extrusionOk="0">
                        <a:moveTo>
                          <a:pt x="0" y="0"/>
                        </a:moveTo>
                        <a:cubicBezTo>
                          <a:pt x="4674310" y="-49533"/>
                          <a:pt x="6929254" y="-14809"/>
                          <a:pt x="10972800" y="0"/>
                        </a:cubicBezTo>
                        <a:cubicBezTo>
                          <a:pt x="10969069" y="570730"/>
                          <a:pt x="11062171" y="914526"/>
                          <a:pt x="10972800" y="1143000"/>
                        </a:cubicBezTo>
                        <a:cubicBezTo>
                          <a:pt x="6482996" y="1094769"/>
                          <a:pt x="3552735" y="1227455"/>
                          <a:pt x="0" y="1143000"/>
                        </a:cubicBezTo>
                        <a:cubicBezTo>
                          <a:pt x="69309" y="672287"/>
                          <a:pt x="-28229" y="279082"/>
                          <a:pt x="0" y="0"/>
                        </a:cubicBezTo>
                        <a:close/>
                      </a:path>
                      <a:path w="10972800" h="1143000" stroke="0" extrusionOk="0">
                        <a:moveTo>
                          <a:pt x="0" y="0"/>
                        </a:moveTo>
                        <a:cubicBezTo>
                          <a:pt x="3528079" y="118645"/>
                          <a:pt x="9610931" y="116012"/>
                          <a:pt x="10972800" y="0"/>
                        </a:cubicBezTo>
                        <a:cubicBezTo>
                          <a:pt x="11055528" y="134374"/>
                          <a:pt x="10882381" y="1028043"/>
                          <a:pt x="10972800" y="1143000"/>
                        </a:cubicBezTo>
                        <a:cubicBezTo>
                          <a:pt x="8799093" y="1277600"/>
                          <a:pt x="3316512" y="985804"/>
                          <a:pt x="0" y="1143000"/>
                        </a:cubicBezTo>
                        <a:cubicBezTo>
                          <a:pt x="94203" y="956839"/>
                          <a:pt x="-18710" y="289479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6768" y="1600201"/>
            <a:ext cx="10635632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A9E24A-D52C-CB4E-85D6-C52415601A2A}" type="datetime9">
              <a:rPr lang="he-IL" smtClean="0"/>
              <a:t>9 פברואר,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Freeform 6">
            <a:extLst>
              <a:ext uri="{FF2B5EF4-FFF2-40B4-BE49-F238E27FC236}">
                <a16:creationId xmlns:a16="http://schemas.microsoft.com/office/drawing/2014/main" id="{9E54F053-C5B3-FA53-FB24-F76EBC23E5F7}"/>
              </a:ext>
            </a:extLst>
          </p:cNvPr>
          <p:cNvSpPr/>
          <p:nvPr/>
        </p:nvSpPr>
        <p:spPr>
          <a:xfrm>
            <a:off x="10492509" y="-832013"/>
            <a:ext cx="5901557" cy="7690013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57150" cap="sq">
            <a:solidFill>
              <a:srgbClr val="941100">
                <a:alpha val="44000"/>
              </a:srgbClr>
            </a:solidFill>
            <a:prstDash val="solid"/>
            <a:miter/>
          </a:ln>
        </p:spPr>
        <p:txBody>
          <a:bodyPr/>
          <a:lstStyle/>
          <a:p>
            <a:endParaRPr lang="en-IL"/>
          </a:p>
        </p:txBody>
      </p:sp>
      <p:sp>
        <p:nvSpPr>
          <p:cNvPr id="12" name="Freeform 20">
            <a:extLst>
              <a:ext uri="{FF2B5EF4-FFF2-40B4-BE49-F238E27FC236}">
                <a16:creationId xmlns:a16="http://schemas.microsoft.com/office/drawing/2014/main" id="{C6ADFD82-3296-8C7F-2ACC-D8399785AC79}"/>
              </a:ext>
            </a:extLst>
          </p:cNvPr>
          <p:cNvSpPr/>
          <p:nvPr/>
        </p:nvSpPr>
        <p:spPr>
          <a:xfrm>
            <a:off x="-6720016" y="-1088358"/>
            <a:ext cx="7329616" cy="7329616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514350" cap="sq">
            <a:solidFill>
              <a:srgbClr val="941100">
                <a:alpha val="17929"/>
              </a:srgbClr>
            </a:solidFill>
            <a:prstDash val="solid"/>
            <a:miter/>
          </a:ln>
        </p:spPr>
        <p:txBody>
          <a:bodyPr/>
          <a:lstStyle/>
          <a:p>
            <a:endParaRPr lang="en-IL" sz="933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1" latinLnBrk="0" hangingPunct="1">
        <a:spcBef>
          <a:spcPct val="0"/>
        </a:spcBef>
        <a:buNone/>
        <a:defRPr sz="3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lnSpc>
          <a:spcPct val="130000"/>
        </a:lnSpc>
        <a:spcBef>
          <a:spcPts val="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lnSpc>
          <a:spcPct val="130000"/>
        </a:lnSpc>
        <a:spcBef>
          <a:spcPts val="0"/>
        </a:spcBef>
        <a:buFont typeface="Arial"/>
        <a:buChar char="–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lnSpc>
          <a:spcPct val="130000"/>
        </a:lnSpc>
        <a:spcBef>
          <a:spcPts val="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lnSpc>
          <a:spcPct val="130000"/>
        </a:lnSpc>
        <a:spcBef>
          <a:spcPts val="0"/>
        </a:spcBef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lnSpc>
          <a:spcPct val="130000"/>
        </a:lnSpc>
        <a:spcBef>
          <a:spcPts val="0"/>
        </a:spcBef>
        <a:buFont typeface="Arial"/>
        <a:buChar char="»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29F15AE-737D-866E-3CF2-D0120AD833A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4400" y="2130426"/>
            <a:ext cx="10363200" cy="1470025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Week </a:t>
            </a:r>
            <a:r>
              <a:rPr lang="en-US" dirty="0"/>
              <a:t>3</a:t>
            </a:r>
            <a:r>
              <a:rPr dirty="0"/>
              <a:t>: Distributed Systems + Parallelism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Learning </a:t>
            </a:r>
            <a:r>
              <a:rPr lang="en-US" dirty="0"/>
              <a:t>Objectives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dirty="0"/>
              <a:t>Describe why we partition data and work across many machines</a:t>
            </a:r>
          </a:p>
          <a:p>
            <a:pPr lvl="0"/>
            <a:r>
              <a:rPr dirty="0"/>
              <a:t>Explain SQL vs NoSQL using ACID/BASE and CAP vocabulary</a:t>
            </a:r>
          </a:p>
          <a:p>
            <a:pPr lvl="0"/>
            <a:r>
              <a:rPr dirty="0"/>
              <a:t>Distinguish parallelism vs concurrency, and process vs thread (conceptual)</a:t>
            </a:r>
            <a:endParaRPr lang="en-US" dirty="0"/>
          </a:p>
          <a:p>
            <a:pPr lvl="0"/>
            <a:r>
              <a:rPr lang="en" dirty="0"/>
              <a:t>Use divide-conquer-combine to reason about scalable jobs</a:t>
            </a:r>
          </a:p>
          <a:p>
            <a:pPr lvl="0"/>
            <a:r>
              <a:rPr lang="en" dirty="0"/>
              <a:t>Recognize common failure modes: hot keys, skew, and stale reads</a:t>
            </a:r>
          </a:p>
          <a:p>
            <a:pPr lvl="0"/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Flow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t>The scaling problem: data and work outgrow one machine</a:t>
            </a:r>
          </a:p>
          <a:p>
            <a:pPr lvl="0"/>
            <a:r>
              <a:t>Distributed data: partitioning, replication, and consistency trade-offs</a:t>
            </a:r>
          </a:p>
          <a:p>
            <a:pPr lvl="0"/>
            <a:r>
              <a:t>Distributed work: parallelism, divide-and-conquer, and bottlenecks</a:t>
            </a:r>
          </a:p>
          <a:p>
            <a:pPr lvl="0"/>
            <a:r>
              <a:t>Practical examples and decision checklist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The Scaling Problem (Big Picture)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t>One machine has limits in storage, speed, and uptime</a:t>
            </a:r>
          </a:p>
          <a:p>
            <a:pPr lvl="0"/>
            <a:r>
              <a:t>As volume grows, delays and downtime become business risk</a:t>
            </a:r>
          </a:p>
          <a:p>
            <a:pPr lvl="0"/>
            <a:r>
              <a:t>Solution: </a:t>
            </a:r>
            <a:r>
              <a:rPr b="1"/>
              <a:t>distribute</a:t>
            </a:r>
            <a:r>
              <a:t> both data storage and computation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Two Sides of the Same Coin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b="1"/>
              <a:t>Distributed data</a:t>
            </a:r>
            <a:r>
              <a:t>: many nodes store one logical database</a:t>
            </a:r>
          </a:p>
          <a:p>
            <a:pPr lvl="0"/>
            <a:r>
              <a:rPr b="1"/>
              <a:t>Parallel compute</a:t>
            </a:r>
            <a:r>
              <a:t>: many workers process one logical job</a:t>
            </a:r>
          </a:p>
          <a:p>
            <a:pPr lvl="0"/>
            <a:r>
              <a:t>The goal: same user experience, higher scale and resilience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Why Single-Node Databases Break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t>Storage runs out faster than expected (data + indexes)</a:t>
            </a:r>
          </a:p>
          <a:p>
            <a:pPr lvl="0"/>
            <a:r>
              <a:t>Throughput saturates during peak demand</a:t>
            </a:r>
          </a:p>
          <a:p>
            <a:pPr lvl="0"/>
            <a:r>
              <a:t>Maintenance windows hurt service availability</a:t>
            </a:r>
          </a:p>
          <a:p>
            <a:pPr lvl="0"/>
            <a:r>
              <a:t>Risk increases as the business depends on real-time data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Why Single-Node Databases Break (Visual)</a:t>
            </a:r>
          </a:p>
        </p:txBody>
      </p:sp>
      <p:pic>
        <p:nvPicPr>
          <p:cNvPr id="3" name="Picture 1" descr="../../diagrams/week02/week2_single_node_limits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162300" y="1600200"/>
            <a:ext cx="61849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Distributed Databases: Architecture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8</a:t>
            </a:fld>
            <a:endParaRPr lang="en-US"/>
          </a:p>
        </p:txBody>
      </p:sp>
      <p:pic>
        <p:nvPicPr>
          <p:cNvPr id="10" name="תמונה 9" descr="תמונה שמכילה טקסט, תרשים, צילום מסך, עיצוב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5681E8AE-7ED3-0373-A04F-1999E83567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723633"/>
            <a:ext cx="7772400" cy="432672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Distributed Databases: Logical vs Physical View</a:t>
            </a:r>
          </a:p>
        </p:txBody>
      </p:sp>
      <p:pic>
        <p:nvPicPr>
          <p:cNvPr id="3" name="Picture 1" descr="../../diagrams/week02/week2_user_view_logical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89200" y="1600200"/>
            <a:ext cx="75311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Distributed Databases: Core Ideas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b="1"/>
              <a:t>Partitioning</a:t>
            </a:r>
            <a:r>
              <a:t> splits data across nodes to scale</a:t>
            </a:r>
          </a:p>
          <a:p>
            <a:pPr lvl="0"/>
            <a:r>
              <a:rPr b="1"/>
              <a:t>Replication</a:t>
            </a:r>
            <a:r>
              <a:t> copies data for availability and durability</a:t>
            </a:r>
          </a:p>
          <a:p>
            <a:pPr lvl="0"/>
            <a:r>
              <a:t>Network failures are normal, not exceptional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10</a:t>
            </a:fld>
            <a:endParaRPr lang="en-US"/>
          </a:p>
        </p:txBody>
      </p:sp>
      <p:pic>
        <p:nvPicPr>
          <p:cNvPr id="4" name="תמונה 3" descr="Partition and Replication">
            <a:extLst>
              <a:ext uri="{FF2B5EF4-FFF2-40B4-BE49-F238E27FC236}">
                <a16:creationId xmlns:a16="http://schemas.microsoft.com/office/drawing/2014/main" id="{DD445A21-C668-147B-D3C6-799EEC7A6D5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243" t="16475" r="19089" b="10938"/>
          <a:stretch>
            <a:fillRect/>
          </a:stretch>
        </p:blipFill>
        <p:spPr>
          <a:xfrm>
            <a:off x="3937747" y="3540534"/>
            <a:ext cx="4316505" cy="276819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Partitioning + Replication (Intuition)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t>Per-node storage roughly scales with data / nodes</a:t>
            </a:r>
          </a:p>
          <a:p>
            <a:pPr lvl="0"/>
            <a:r>
              <a:t>Replication raises availability but increases write cost</a:t>
            </a:r>
          </a:p>
          <a:p>
            <a:pPr lvl="0"/>
            <a:r>
              <a:t>Choose replication level based on risk tolerance and budget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11</a:t>
            </a:fld>
            <a:endParaRPr lang="en-US"/>
          </a:p>
        </p:txBody>
      </p:sp>
      <p:pic>
        <p:nvPicPr>
          <p:cNvPr id="4" name="תמונה 3" descr="Partition and Replication">
            <a:extLst>
              <a:ext uri="{FF2B5EF4-FFF2-40B4-BE49-F238E27FC236}">
                <a16:creationId xmlns:a16="http://schemas.microsoft.com/office/drawing/2014/main" id="{39F0E6CF-DF71-B494-C369-DFE8D2E0E6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243" t="16475" r="19089" b="10938"/>
          <a:stretch>
            <a:fillRect/>
          </a:stretch>
        </p:blipFill>
        <p:spPr>
          <a:xfrm>
            <a:off x="3937747" y="3540534"/>
            <a:ext cx="4316505" cy="276819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Partition Keys: Good vs Bad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t>Good keys match dominant access patterns</a:t>
            </a:r>
          </a:p>
          <a:p>
            <a:pPr lvl="0"/>
            <a:r>
              <a:t>Bad keys create </a:t>
            </a:r>
            <a:r>
              <a:rPr b="1"/>
              <a:t>hot partitions</a:t>
            </a:r>
            <a:r>
              <a:t> and bottlenecks</a:t>
            </a:r>
          </a:p>
          <a:p>
            <a:pPr lvl="0"/>
            <a:r>
              <a:t>Example:</a:t>
            </a:r>
          </a:p>
          <a:p>
            <a:pPr lvl="1"/>
            <a:r>
              <a:t>Good: </a:t>
            </a:r>
            <a:r>
              <a:rPr>
                <a:latin typeface="Courier"/>
              </a:rPr>
              <a:t>user_id</a:t>
            </a:r>
            <a:r>
              <a:t> for user feed</a:t>
            </a:r>
          </a:p>
          <a:p>
            <a:pPr lvl="1"/>
            <a:r>
              <a:t>Bad: </a:t>
            </a:r>
            <a:r>
              <a:rPr>
                <a:latin typeface="Courier"/>
              </a:rPr>
              <a:t>country</a:t>
            </a:r>
            <a:r>
              <a:t> when only a few values dominate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Partition Keys: Good vs Bad (Visual)</a:t>
            </a:r>
          </a:p>
        </p:txBody>
      </p:sp>
      <p:pic>
        <p:nvPicPr>
          <p:cNvPr id="3" name="Picture 1" descr="../../diagrams/week02/week2_partitioning_key_good_bad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00056" y="1880394"/>
            <a:ext cx="4305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Replication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t>Reads can be served by replicas (faster, scalable)</a:t>
            </a:r>
          </a:p>
          <a:p>
            <a:pPr lvl="0"/>
            <a:r>
              <a:t>Writes must be coordinated (slower, more cost)</a:t>
            </a:r>
          </a:p>
          <a:p>
            <a:pPr lvl="0"/>
            <a:r>
              <a:t>Replica lag can cause </a:t>
            </a:r>
            <a:r>
              <a:rPr b="1"/>
              <a:t>stale reads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SQL vs NoSQL: Simple Decision Lens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b="1" dirty="0"/>
              <a:t>SQL</a:t>
            </a:r>
            <a:br>
              <a:rPr lang="en-US" b="1" dirty="0"/>
            </a:br>
            <a:r>
              <a:rPr lang="en-US" b="1" dirty="0"/>
              <a:t>	</a:t>
            </a:r>
            <a:r>
              <a:rPr dirty="0"/>
              <a:t>strong integrity and joins</a:t>
            </a:r>
            <a:r>
              <a:rPr lang="en-US" dirty="0"/>
              <a:t>, </a:t>
            </a:r>
            <a:r>
              <a:rPr dirty="0"/>
              <a:t>best for correctness-critical workflows</a:t>
            </a:r>
          </a:p>
          <a:p>
            <a:pPr lvl="0"/>
            <a:r>
              <a:rPr b="1" dirty="0"/>
              <a:t>NoSQL</a:t>
            </a:r>
            <a:endParaRPr lang="en-US" b="1" dirty="0"/>
          </a:p>
          <a:p>
            <a:pPr marL="0" lvl="0" indent="0">
              <a:buNone/>
            </a:pPr>
            <a:r>
              <a:rPr lang="en-US" dirty="0"/>
              <a:t>	</a:t>
            </a:r>
            <a:r>
              <a:rPr dirty="0"/>
              <a:t>fast key-based access</a:t>
            </a:r>
            <a:r>
              <a:rPr lang="en-US" dirty="0"/>
              <a:t>, </a:t>
            </a:r>
            <a:r>
              <a:rPr dirty="0"/>
              <a:t>best for high-throughput serving paths</a:t>
            </a:r>
          </a:p>
          <a:p>
            <a:pPr lvl="0"/>
            <a:r>
              <a:rPr lang="en-US" b="1" dirty="0"/>
              <a:t>H</a:t>
            </a:r>
            <a:r>
              <a:rPr b="1" dirty="0"/>
              <a:t>ybrid</a:t>
            </a:r>
            <a:endParaRPr lang="en-US" b="1" dirty="0"/>
          </a:p>
          <a:p>
            <a:pPr marL="0" lvl="0" indent="0">
              <a:buNone/>
            </a:pPr>
            <a:r>
              <a:rPr lang="en-US" dirty="0"/>
              <a:t>	</a:t>
            </a:r>
            <a:r>
              <a:rPr dirty="0"/>
              <a:t>NoSQL for serving + SQL for analytics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SQL vs NoSQL: Access Patterns</a:t>
            </a:r>
          </a:p>
        </p:txBody>
      </p:sp>
      <p:pic>
        <p:nvPicPr>
          <p:cNvPr id="3" name="Picture 1" descr="../../diagrams/week02/week2_sql_vs_nosql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39800" y="1714500"/>
            <a:ext cx="106299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SQL vs NoSQL: Hybrid Architecture</a:t>
            </a:r>
          </a:p>
        </p:txBody>
      </p:sp>
      <p:pic>
        <p:nvPicPr>
          <p:cNvPr id="3" name="Picture 1" descr="../../diagrams/week02/week2_hybrid_architecture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00400" y="1600200"/>
            <a:ext cx="61087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ACID, BASE, and CAP (Key Terms)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b="1"/>
              <a:t>ACID</a:t>
            </a:r>
            <a:r>
              <a:t>: atomicity, consistency, isolation, durability</a:t>
            </a:r>
          </a:p>
          <a:p>
            <a:pPr lvl="0"/>
            <a:r>
              <a:rPr b="1"/>
              <a:t>BASE</a:t>
            </a:r>
            <a:r>
              <a:t>: basically available, soft state, eventual consistency</a:t>
            </a:r>
          </a:p>
          <a:p>
            <a:pPr lvl="0"/>
            <a:r>
              <a:rPr b="1"/>
              <a:t>CAP</a:t>
            </a:r>
            <a:r>
              <a:t>: under network partition, choose </a:t>
            </a:r>
            <a:r>
              <a:rPr b="1"/>
              <a:t>consistency</a:t>
            </a:r>
            <a:r>
              <a:t> or </a:t>
            </a:r>
            <a:r>
              <a:rPr b="1"/>
              <a:t>availability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Example: Activity Log Service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t>100M events/day</a:t>
            </a:r>
          </a:p>
          <a:p>
            <a:pPr lvl="0"/>
            <a:r>
              <a:t>Query A: user feed by </a:t>
            </a:r>
            <a:r>
              <a:rPr>
                <a:latin typeface="Courier"/>
              </a:rPr>
              <a:t>user_id</a:t>
            </a:r>
          </a:p>
          <a:p>
            <a:pPr lvl="0"/>
            <a:r>
              <a:t>Query B: analytics by </a:t>
            </a:r>
            <a:r>
              <a:rPr>
                <a:latin typeface="Courier"/>
              </a:rPr>
              <a:t>item_id</a:t>
            </a:r>
          </a:p>
          <a:p>
            <a:pPr lvl="0"/>
            <a:r>
              <a:t>Serving latency target under 50 ms</a:t>
            </a:r>
          </a:p>
          <a:p>
            <a:pPr lvl="0"/>
            <a:r>
              <a:t>Typical answer: NoSQL for the feed, SQL for analytics, sync in between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7F24627C-5938-5D06-969C-341161F72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/>
          <a:p>
            <a:pPr marL="0" lvl="0" indent="0">
              <a:buNone/>
            </a:pPr>
            <a:r>
              <a:t>Parallelism vs Concurrency (Plain Language)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838FFFFD-68E9-C4E4-7764-523BAE32B83B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1231556" y="1605133"/>
            <a:ext cx="5868087" cy="4357028"/>
          </a:xfrm>
        </p:spPr>
        <p:txBody>
          <a:bodyPr/>
          <a:lstStyle/>
          <a:p>
            <a:pPr lvl="0"/>
            <a:r>
              <a:rPr b="1" dirty="0"/>
              <a:t>Parallelism</a:t>
            </a:r>
            <a:r>
              <a:rPr dirty="0"/>
              <a:t>: tasks run at the same time (speed)</a:t>
            </a:r>
          </a:p>
          <a:p>
            <a:pPr lvl="0"/>
            <a:r>
              <a:rPr b="1" dirty="0"/>
              <a:t>Concurrency</a:t>
            </a:r>
            <a:r>
              <a:rPr dirty="0"/>
              <a:t>: tasks overlap in time (utilization)</a:t>
            </a:r>
          </a:p>
        </p:txBody>
      </p:sp>
      <p:pic>
        <p:nvPicPr>
          <p:cNvPr id="2" name="Picture 1" descr="../../diagrams/week03/week3_parallelism_concurrency_timeline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00435" y="1605133"/>
            <a:ext cx="2274330" cy="4563722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7F24627C-5938-5D06-969C-341161F72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/>
          <a:p>
            <a:pPr marL="0" lvl="0" indent="0">
              <a:buNone/>
            </a:pPr>
            <a:r>
              <a:t>Process vs Thread (Conceptual)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838FFFFD-68E9-C4E4-7764-523BAE32B83B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965200" y="1417638"/>
            <a:ext cx="4840759" cy="4357028"/>
          </a:xfrm>
        </p:spPr>
        <p:txBody>
          <a:bodyPr/>
          <a:lstStyle/>
          <a:p>
            <a:pPr lvl="0"/>
            <a:r>
              <a:rPr b="1" dirty="0"/>
              <a:t>Process</a:t>
            </a:r>
            <a:r>
              <a:rPr dirty="0"/>
              <a:t>: isolated memory and resources (safer)</a:t>
            </a:r>
          </a:p>
          <a:p>
            <a:pPr lvl="0"/>
            <a:r>
              <a:rPr b="1" dirty="0"/>
              <a:t>Thread</a:t>
            </a:r>
            <a:r>
              <a:rPr dirty="0"/>
              <a:t>: shared memory (faster coordination, higher risk)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21</a:t>
            </a:fld>
            <a:endParaRPr lang="en-US"/>
          </a:p>
        </p:txBody>
      </p:sp>
      <p:pic>
        <p:nvPicPr>
          <p:cNvPr id="5" name="תמונה 4" descr="Difference Between Process And Thread in Linux">
            <a:extLst>
              <a:ext uri="{FF2B5EF4-FFF2-40B4-BE49-F238E27FC236}">
                <a16:creationId xmlns:a16="http://schemas.microsoft.com/office/drawing/2014/main" id="{8CEF5F6E-69A8-49EB-5298-B664855FF1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5959" y="1959032"/>
            <a:ext cx="4759068" cy="3274239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Divide</a:t>
            </a:r>
            <a:r>
              <a:rPr lang="en-US" dirty="0"/>
              <a:t>-</a:t>
            </a:r>
            <a:r>
              <a:rPr dirty="0"/>
              <a:t>Conquer</a:t>
            </a:r>
            <a:r>
              <a:rPr lang="en-US" dirty="0"/>
              <a:t>-</a:t>
            </a:r>
            <a:r>
              <a:rPr dirty="0"/>
              <a:t>Combine (Core Pattern)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b="1"/>
              <a:t>Divide</a:t>
            </a:r>
            <a:r>
              <a:t>: split input into independent chunks</a:t>
            </a:r>
          </a:p>
          <a:p>
            <a:pPr lvl="0"/>
            <a:r>
              <a:rPr b="1"/>
              <a:t>Conquer</a:t>
            </a:r>
            <a:r>
              <a:t>: run the same logic per chunk</a:t>
            </a:r>
          </a:p>
          <a:p>
            <a:pPr lvl="0"/>
            <a:r>
              <a:rPr b="1"/>
              <a:t>Combine</a:t>
            </a:r>
            <a:r>
              <a:t>: merge partial results</a:t>
            </a:r>
          </a:p>
          <a:p>
            <a:pPr lvl="0"/>
            <a:r>
              <a:t>This is the shape behind MapReduce and Spark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Divide–Conquer–Combine (Overview)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23</a:t>
            </a:fld>
            <a:endParaRPr lang="en-US"/>
          </a:p>
        </p:txBody>
      </p:sp>
      <p:pic>
        <p:nvPicPr>
          <p:cNvPr id="9" name="Picture 2" descr="Divide and Conquer Algorithm. The divide and conquer approach as the… | by  Harsh | CodeX | Medium">
            <a:extLst>
              <a:ext uri="{FF2B5EF4-FFF2-40B4-BE49-F238E27FC236}">
                <a16:creationId xmlns:a16="http://schemas.microsoft.com/office/drawing/2014/main" id="{3458227C-F46B-5533-0296-B7BADFC780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80733" y="1927654"/>
            <a:ext cx="7895416" cy="33843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Example: Merge Sort (Concept)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b="1" dirty="0"/>
              <a:t>Divide</a:t>
            </a:r>
            <a:br>
              <a:rPr lang="en-US" b="1" dirty="0"/>
            </a:br>
            <a:r>
              <a:rPr lang="en-US" b="1" dirty="0"/>
              <a:t>	</a:t>
            </a:r>
            <a:r>
              <a:rPr dirty="0"/>
              <a:t>split array in half until each chunk has 0–1 elements</a:t>
            </a:r>
          </a:p>
          <a:p>
            <a:pPr lvl="0"/>
            <a:r>
              <a:rPr b="1" dirty="0"/>
              <a:t>Conquer</a:t>
            </a:r>
            <a:br>
              <a:rPr lang="en-US" b="1" dirty="0"/>
            </a:br>
            <a:r>
              <a:rPr lang="en-US" b="1" dirty="0"/>
              <a:t>	</a:t>
            </a:r>
            <a:r>
              <a:rPr dirty="0"/>
              <a:t>each single-element chunk is “sorted”; then sort each half recursively</a:t>
            </a:r>
          </a:p>
          <a:p>
            <a:pPr lvl="0"/>
            <a:r>
              <a:rPr b="1" dirty="0"/>
              <a:t>Combine</a:t>
            </a:r>
            <a:br>
              <a:rPr lang="en-US" b="1" dirty="0"/>
            </a:br>
            <a:r>
              <a:rPr lang="en-US" b="1" dirty="0"/>
              <a:t>	</a:t>
            </a:r>
            <a:r>
              <a:rPr dirty="0"/>
              <a:t>merge two sorted halves into one sorted array (linear scan)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7F24627C-5938-5D06-969C-341161F72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/>
          <a:p>
            <a:pPr marL="0" lvl="0" indent="0">
              <a:buNone/>
            </a:pPr>
            <a:r>
              <a:t>Example: Merge Sort (Numerical Demo)</a:t>
            </a:r>
          </a:p>
        </p:txBody>
      </p:sp>
      <p:sp>
        <p:nvSpPr>
          <p:cNvPr id="2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25</a:t>
            </a:fld>
            <a:endParaRPr lang="en-US"/>
          </a:p>
        </p:txBody>
      </p:sp>
      <p:sp>
        <p:nvSpPr>
          <p:cNvPr id="65" name="Text Box 12">
            <a:extLst>
              <a:ext uri="{FF2B5EF4-FFF2-40B4-BE49-F238E27FC236}">
                <a16:creationId xmlns:a16="http://schemas.microsoft.com/office/drawing/2014/main" id="{1AC1CCEE-4008-257B-8468-B01A4335106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72839" y="2376660"/>
            <a:ext cx="14033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en-IL" sz="2400" u="sng">
                <a:latin typeface="Times New Roman" panose="02020603050405020304" pitchFamily="18" charset="0"/>
              </a:rPr>
              <a:t>8  2   9   4</a:t>
            </a:r>
          </a:p>
        </p:txBody>
      </p:sp>
      <p:sp>
        <p:nvSpPr>
          <p:cNvPr id="66" name="Text Box 13">
            <a:extLst>
              <a:ext uri="{FF2B5EF4-FFF2-40B4-BE49-F238E27FC236}">
                <a16:creationId xmlns:a16="http://schemas.microsoft.com/office/drawing/2014/main" id="{A0C745F4-D6E2-CBE8-AA91-53CD8F8A19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33577" y="2413172"/>
            <a:ext cx="1479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en-IL" sz="2400" u="sng">
                <a:latin typeface="Times New Roman" panose="02020603050405020304" pitchFamily="18" charset="0"/>
              </a:rPr>
              <a:t>5   3   1   6</a:t>
            </a:r>
          </a:p>
        </p:txBody>
      </p:sp>
      <p:sp>
        <p:nvSpPr>
          <p:cNvPr id="67" name="Text Box 14">
            <a:extLst>
              <a:ext uri="{FF2B5EF4-FFF2-40B4-BE49-F238E27FC236}">
                <a16:creationId xmlns:a16="http://schemas.microsoft.com/office/drawing/2014/main" id="{3D97BBF5-846C-27B3-8207-BA7E603315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07652" y="3018010"/>
            <a:ext cx="717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en-IL" sz="2400" u="sng">
                <a:latin typeface="Times New Roman" panose="02020603050405020304" pitchFamily="18" charset="0"/>
              </a:rPr>
              <a:t>8   2</a:t>
            </a:r>
          </a:p>
        </p:txBody>
      </p:sp>
      <p:sp>
        <p:nvSpPr>
          <p:cNvPr id="68" name="Text Box 15">
            <a:extLst>
              <a:ext uri="{FF2B5EF4-FFF2-40B4-BE49-F238E27FC236}">
                <a16:creationId xmlns:a16="http://schemas.microsoft.com/office/drawing/2014/main" id="{78087D91-34B7-87E7-4112-376252338A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02027" y="3008485"/>
            <a:ext cx="717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en-IL" sz="2400" u="sng">
                <a:latin typeface="Times New Roman" panose="02020603050405020304" pitchFamily="18" charset="0"/>
              </a:rPr>
              <a:t>1   6</a:t>
            </a:r>
          </a:p>
        </p:txBody>
      </p:sp>
      <p:sp>
        <p:nvSpPr>
          <p:cNvPr id="69" name="Text Box 16">
            <a:extLst>
              <a:ext uri="{FF2B5EF4-FFF2-40B4-BE49-F238E27FC236}">
                <a16:creationId xmlns:a16="http://schemas.microsoft.com/office/drawing/2014/main" id="{04A78479-8FD3-F588-C439-E9F169226E6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03114" y="3006897"/>
            <a:ext cx="717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en-IL" sz="2400" u="sng">
                <a:latin typeface="Times New Roman" panose="02020603050405020304" pitchFamily="18" charset="0"/>
              </a:rPr>
              <a:t>9   4</a:t>
            </a:r>
          </a:p>
        </p:txBody>
      </p:sp>
      <p:sp>
        <p:nvSpPr>
          <p:cNvPr id="70" name="Text Box 17">
            <a:extLst>
              <a:ext uri="{FF2B5EF4-FFF2-40B4-BE49-F238E27FC236}">
                <a16:creationId xmlns:a16="http://schemas.microsoft.com/office/drawing/2014/main" id="{1C62F450-413C-792B-1A80-CA00129575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43077" y="3025947"/>
            <a:ext cx="717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en-IL" sz="2400" u="sng">
                <a:latin typeface="Times New Roman" panose="02020603050405020304" pitchFamily="18" charset="0"/>
              </a:rPr>
              <a:t>5   3</a:t>
            </a:r>
          </a:p>
        </p:txBody>
      </p:sp>
      <p:sp>
        <p:nvSpPr>
          <p:cNvPr id="71" name="Text Box 18">
            <a:extLst>
              <a:ext uri="{FF2B5EF4-FFF2-40B4-BE49-F238E27FC236}">
                <a16:creationId xmlns:a16="http://schemas.microsoft.com/office/drawing/2014/main" id="{F039322C-D6EC-4623-1BCD-1F6447EC49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93352" y="3654597"/>
            <a:ext cx="6813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en-IL" sz="2400" u="sng">
                <a:latin typeface="Times New Roman" panose="02020603050405020304" pitchFamily="18" charset="0"/>
              </a:rPr>
              <a:t>8</a:t>
            </a:r>
            <a:r>
              <a:rPr lang="en-US" altLang="en-IL" sz="2400">
                <a:latin typeface="Times New Roman" panose="02020603050405020304" pitchFamily="18" charset="0"/>
              </a:rPr>
              <a:t>     </a:t>
            </a:r>
            <a:r>
              <a:rPr lang="en-US" altLang="en-IL" sz="2400" u="sng">
                <a:latin typeface="Times New Roman" panose="02020603050405020304" pitchFamily="18" charset="0"/>
              </a:rPr>
              <a:t>2</a:t>
            </a:r>
            <a:r>
              <a:rPr lang="en-US" altLang="en-IL" sz="2400">
                <a:latin typeface="Times New Roman" panose="02020603050405020304" pitchFamily="18" charset="0"/>
              </a:rPr>
              <a:t>	           </a:t>
            </a:r>
            <a:r>
              <a:rPr lang="en-US" altLang="en-IL" sz="2400" u="sng">
                <a:latin typeface="Times New Roman" panose="02020603050405020304" pitchFamily="18" charset="0"/>
              </a:rPr>
              <a:t>9</a:t>
            </a:r>
            <a:r>
              <a:rPr lang="en-US" altLang="en-IL" sz="2400">
                <a:latin typeface="Times New Roman" panose="02020603050405020304" pitchFamily="18" charset="0"/>
              </a:rPr>
              <a:t>        </a:t>
            </a:r>
            <a:r>
              <a:rPr lang="en-US" altLang="en-IL" sz="2400" u="sng">
                <a:latin typeface="Times New Roman" panose="02020603050405020304" pitchFamily="18" charset="0"/>
              </a:rPr>
              <a:t>4</a:t>
            </a:r>
            <a:r>
              <a:rPr lang="en-US" altLang="en-IL" sz="2400">
                <a:latin typeface="Times New Roman" panose="02020603050405020304" pitchFamily="18" charset="0"/>
              </a:rPr>
              <a:t>		    </a:t>
            </a:r>
            <a:r>
              <a:rPr lang="en-US" altLang="en-IL" sz="2400" u="sng">
                <a:latin typeface="Times New Roman" panose="02020603050405020304" pitchFamily="18" charset="0"/>
              </a:rPr>
              <a:t>5</a:t>
            </a:r>
            <a:r>
              <a:rPr lang="en-US" altLang="en-IL" sz="2400">
                <a:latin typeface="Times New Roman" panose="02020603050405020304" pitchFamily="18" charset="0"/>
              </a:rPr>
              <a:t>	</a:t>
            </a:r>
            <a:r>
              <a:rPr lang="en-US" altLang="en-IL" sz="2400" u="sng">
                <a:latin typeface="Times New Roman" panose="02020603050405020304" pitchFamily="18" charset="0"/>
              </a:rPr>
              <a:t>3</a:t>
            </a:r>
            <a:r>
              <a:rPr lang="en-US" altLang="en-IL" sz="2400">
                <a:latin typeface="Times New Roman" panose="02020603050405020304" pitchFamily="18" charset="0"/>
              </a:rPr>
              <a:t>	  </a:t>
            </a:r>
            <a:r>
              <a:rPr lang="en-US" altLang="en-IL" sz="2400" u="sng">
                <a:latin typeface="Times New Roman" panose="02020603050405020304" pitchFamily="18" charset="0"/>
              </a:rPr>
              <a:t>1</a:t>
            </a:r>
            <a:r>
              <a:rPr lang="en-US" altLang="en-IL" sz="2400">
                <a:latin typeface="Times New Roman" panose="02020603050405020304" pitchFamily="18" charset="0"/>
              </a:rPr>
              <a:t> 	 </a:t>
            </a:r>
            <a:r>
              <a:rPr lang="en-US" altLang="en-IL" sz="2400" u="sng">
                <a:latin typeface="Times New Roman" panose="02020603050405020304" pitchFamily="18" charset="0"/>
              </a:rPr>
              <a:t>6</a:t>
            </a:r>
          </a:p>
        </p:txBody>
      </p:sp>
      <p:sp>
        <p:nvSpPr>
          <p:cNvPr id="72" name="Text Box 19">
            <a:extLst>
              <a:ext uri="{FF2B5EF4-FFF2-40B4-BE49-F238E27FC236}">
                <a16:creationId xmlns:a16="http://schemas.microsoft.com/office/drawing/2014/main" id="{6F01B49F-360A-813C-0681-206E864D77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90164" y="4299122"/>
            <a:ext cx="67373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en-IL" sz="2400">
                <a:latin typeface="Times New Roman" panose="02020603050405020304" pitchFamily="18" charset="0"/>
              </a:rPr>
              <a:t>   </a:t>
            </a:r>
            <a:r>
              <a:rPr lang="en-US" altLang="en-IL" sz="2400" u="sng">
                <a:latin typeface="Times New Roman" panose="02020603050405020304" pitchFamily="18" charset="0"/>
              </a:rPr>
              <a:t>2   8</a:t>
            </a:r>
            <a:r>
              <a:rPr lang="en-US" altLang="en-IL" sz="2400">
                <a:latin typeface="Times New Roman" panose="02020603050405020304" pitchFamily="18" charset="0"/>
              </a:rPr>
              <a:t>	               </a:t>
            </a:r>
            <a:r>
              <a:rPr lang="en-US" altLang="en-IL" sz="2400" u="sng">
                <a:latin typeface="Times New Roman" panose="02020603050405020304" pitchFamily="18" charset="0"/>
              </a:rPr>
              <a:t>4    9</a:t>
            </a:r>
            <a:r>
              <a:rPr lang="en-US" altLang="en-IL" sz="2400">
                <a:latin typeface="Times New Roman" panose="02020603050405020304" pitchFamily="18" charset="0"/>
              </a:rPr>
              <a:t>		        </a:t>
            </a:r>
            <a:r>
              <a:rPr lang="en-US" altLang="en-IL" sz="2400" u="sng">
                <a:latin typeface="Times New Roman" panose="02020603050405020304" pitchFamily="18" charset="0"/>
              </a:rPr>
              <a:t>3   5</a:t>
            </a:r>
            <a:r>
              <a:rPr lang="en-US" altLang="en-IL" sz="2400">
                <a:latin typeface="Times New Roman" panose="02020603050405020304" pitchFamily="18" charset="0"/>
              </a:rPr>
              <a:t>	       </a:t>
            </a:r>
            <a:r>
              <a:rPr lang="en-US" altLang="en-IL" sz="2400" u="sng">
                <a:latin typeface="Times New Roman" panose="02020603050405020304" pitchFamily="18" charset="0"/>
              </a:rPr>
              <a:t>1   6</a:t>
            </a:r>
          </a:p>
        </p:txBody>
      </p:sp>
      <p:sp>
        <p:nvSpPr>
          <p:cNvPr id="73" name="Text Box 20">
            <a:extLst>
              <a:ext uri="{FF2B5EF4-FFF2-40B4-BE49-F238E27FC236}">
                <a16:creationId xmlns:a16="http://schemas.microsoft.com/office/drawing/2014/main" id="{585E02ED-7EDA-A21B-22F1-53DDAE87850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23514" y="4997622"/>
            <a:ext cx="59753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en-IL" sz="2400">
                <a:latin typeface="Times New Roman" panose="02020603050405020304" pitchFamily="18" charset="0"/>
              </a:rPr>
              <a:t>        </a:t>
            </a:r>
            <a:r>
              <a:rPr lang="en-US" altLang="en-IL" sz="2400" u="sng">
                <a:latin typeface="Times New Roman" panose="02020603050405020304" pitchFamily="18" charset="0"/>
              </a:rPr>
              <a:t>2   4   8   9</a:t>
            </a:r>
            <a:r>
              <a:rPr lang="en-US" altLang="en-IL" sz="2400">
                <a:latin typeface="Times New Roman" panose="02020603050405020304" pitchFamily="18" charset="0"/>
              </a:rPr>
              <a:t>		           </a:t>
            </a:r>
            <a:r>
              <a:rPr lang="en-US" altLang="en-IL" sz="2400" u="sng">
                <a:latin typeface="Times New Roman" panose="02020603050405020304" pitchFamily="18" charset="0"/>
              </a:rPr>
              <a:t>1   3   5   6</a:t>
            </a:r>
          </a:p>
        </p:txBody>
      </p:sp>
      <p:sp>
        <p:nvSpPr>
          <p:cNvPr id="74" name="Text Box 21">
            <a:extLst>
              <a:ext uri="{FF2B5EF4-FFF2-40B4-BE49-F238E27FC236}">
                <a16:creationId xmlns:a16="http://schemas.microsoft.com/office/drawing/2014/main" id="{39EF54DE-023D-0268-70BC-D029A711F2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39564" y="5702472"/>
            <a:ext cx="36131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en-IL" sz="2400">
                <a:latin typeface="Times New Roman" panose="02020603050405020304" pitchFamily="18" charset="0"/>
              </a:rPr>
              <a:t>        </a:t>
            </a:r>
            <a:r>
              <a:rPr lang="en-US" altLang="en-IL" sz="2400" u="sng">
                <a:latin typeface="Times New Roman" panose="02020603050405020304" pitchFamily="18" charset="0"/>
              </a:rPr>
              <a:t>1   2   3   4   5   6   8   9</a:t>
            </a:r>
          </a:p>
        </p:txBody>
      </p:sp>
      <p:sp>
        <p:nvSpPr>
          <p:cNvPr id="75" name="Line 22">
            <a:extLst>
              <a:ext uri="{FF2B5EF4-FFF2-40B4-BE49-F238E27FC236}">
                <a16:creationId xmlns:a16="http://schemas.microsoft.com/office/drawing/2014/main" id="{BD81AF9E-CDAD-6F24-A202-0EBD26D551A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904814" y="2189336"/>
            <a:ext cx="565150" cy="8413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IL"/>
          </a:p>
        </p:txBody>
      </p:sp>
      <p:sp>
        <p:nvSpPr>
          <p:cNvPr id="76" name="Line 23">
            <a:extLst>
              <a:ext uri="{FF2B5EF4-FFF2-40B4-BE49-F238E27FC236}">
                <a16:creationId xmlns:a16="http://schemas.microsoft.com/office/drawing/2014/main" id="{ED6A0062-9173-72E4-71BE-FBB5A5E28469}"/>
              </a:ext>
            </a:extLst>
          </p:cNvPr>
          <p:cNvSpPr>
            <a:spLocks noChangeShapeType="1"/>
          </p:cNvSpPr>
          <p:nvPr/>
        </p:nvSpPr>
        <p:spPr bwMode="auto">
          <a:xfrm>
            <a:off x="6982728" y="2189336"/>
            <a:ext cx="585787" cy="8413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IL"/>
          </a:p>
        </p:txBody>
      </p:sp>
      <p:sp>
        <p:nvSpPr>
          <p:cNvPr id="77" name="Line 24">
            <a:extLst>
              <a:ext uri="{FF2B5EF4-FFF2-40B4-BE49-F238E27FC236}">
                <a16:creationId xmlns:a16="http://schemas.microsoft.com/office/drawing/2014/main" id="{64D3D1E2-1587-2724-4C2B-2B37A6CEC18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117290" y="2848147"/>
            <a:ext cx="574675" cy="2159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IL"/>
          </a:p>
        </p:txBody>
      </p:sp>
      <p:sp>
        <p:nvSpPr>
          <p:cNvPr id="78" name="Line 25">
            <a:extLst>
              <a:ext uri="{FF2B5EF4-FFF2-40B4-BE49-F238E27FC236}">
                <a16:creationId xmlns:a16="http://schemas.microsoft.com/office/drawing/2014/main" id="{F9102C37-2F73-44F9-3535-9E35D6049E1B}"/>
              </a:ext>
            </a:extLst>
          </p:cNvPr>
          <p:cNvSpPr>
            <a:spLocks noChangeShapeType="1"/>
          </p:cNvSpPr>
          <p:nvPr/>
        </p:nvSpPr>
        <p:spPr bwMode="auto">
          <a:xfrm>
            <a:off x="4877703" y="2827510"/>
            <a:ext cx="492125" cy="1651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IL"/>
          </a:p>
        </p:txBody>
      </p:sp>
      <p:sp>
        <p:nvSpPr>
          <p:cNvPr id="79" name="Line 26">
            <a:extLst>
              <a:ext uri="{FF2B5EF4-FFF2-40B4-BE49-F238E27FC236}">
                <a16:creationId xmlns:a16="http://schemas.microsoft.com/office/drawing/2014/main" id="{95266BEC-F4A8-B827-CAA4-9F90EA48A04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8000315" y="2868785"/>
            <a:ext cx="328613" cy="195262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IL"/>
          </a:p>
        </p:txBody>
      </p:sp>
      <p:sp>
        <p:nvSpPr>
          <p:cNvPr id="80" name="Line 27">
            <a:extLst>
              <a:ext uri="{FF2B5EF4-FFF2-40B4-BE49-F238E27FC236}">
                <a16:creationId xmlns:a16="http://schemas.microsoft.com/office/drawing/2014/main" id="{F43A0F75-1BBC-D738-1890-5B9B3F3EDE7C}"/>
              </a:ext>
            </a:extLst>
          </p:cNvPr>
          <p:cNvSpPr>
            <a:spLocks noChangeShapeType="1"/>
          </p:cNvSpPr>
          <p:nvPr/>
        </p:nvSpPr>
        <p:spPr bwMode="auto">
          <a:xfrm>
            <a:off x="8648015" y="2868786"/>
            <a:ext cx="390525" cy="23653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IL"/>
          </a:p>
        </p:txBody>
      </p:sp>
      <p:sp>
        <p:nvSpPr>
          <p:cNvPr id="81" name="Line 28">
            <a:extLst>
              <a:ext uri="{FF2B5EF4-FFF2-40B4-BE49-F238E27FC236}">
                <a16:creationId xmlns:a16="http://schemas.microsoft.com/office/drawing/2014/main" id="{CDEB2212-486F-F3A7-82E1-6795C523553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356877" y="3484735"/>
            <a:ext cx="215900" cy="227012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IL"/>
          </a:p>
        </p:txBody>
      </p:sp>
      <p:sp>
        <p:nvSpPr>
          <p:cNvPr id="82" name="Line 29">
            <a:extLst>
              <a:ext uri="{FF2B5EF4-FFF2-40B4-BE49-F238E27FC236}">
                <a16:creationId xmlns:a16="http://schemas.microsoft.com/office/drawing/2014/main" id="{7E25F33B-9A2F-98C5-439C-B8FBD57B2064}"/>
              </a:ext>
            </a:extLst>
          </p:cNvPr>
          <p:cNvSpPr>
            <a:spLocks noChangeShapeType="1"/>
          </p:cNvSpPr>
          <p:nvPr/>
        </p:nvSpPr>
        <p:spPr bwMode="auto">
          <a:xfrm>
            <a:off x="3685490" y="3505372"/>
            <a:ext cx="123825" cy="18573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IL"/>
          </a:p>
        </p:txBody>
      </p:sp>
      <p:sp>
        <p:nvSpPr>
          <p:cNvPr id="83" name="Line 30">
            <a:extLst>
              <a:ext uri="{FF2B5EF4-FFF2-40B4-BE49-F238E27FC236}">
                <a16:creationId xmlns:a16="http://schemas.microsoft.com/office/drawing/2014/main" id="{90CD978C-F8D3-9444-FF56-1FFFB101DCE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215840" y="3516485"/>
            <a:ext cx="195263" cy="1841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IL"/>
          </a:p>
        </p:txBody>
      </p:sp>
      <p:sp>
        <p:nvSpPr>
          <p:cNvPr id="84" name="Line 31">
            <a:extLst>
              <a:ext uri="{FF2B5EF4-FFF2-40B4-BE49-F238E27FC236}">
                <a16:creationId xmlns:a16="http://schemas.microsoft.com/office/drawing/2014/main" id="{DBDB4DDA-0026-76B1-83A7-40BAC4A51D60}"/>
              </a:ext>
            </a:extLst>
          </p:cNvPr>
          <p:cNvSpPr>
            <a:spLocks noChangeShapeType="1"/>
          </p:cNvSpPr>
          <p:nvPr/>
        </p:nvSpPr>
        <p:spPr bwMode="auto">
          <a:xfrm>
            <a:off x="5493653" y="3484736"/>
            <a:ext cx="236537" cy="20637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IL"/>
          </a:p>
        </p:txBody>
      </p:sp>
      <p:sp>
        <p:nvSpPr>
          <p:cNvPr id="85" name="Line 32">
            <a:extLst>
              <a:ext uri="{FF2B5EF4-FFF2-40B4-BE49-F238E27FC236}">
                <a16:creationId xmlns:a16="http://schemas.microsoft.com/office/drawing/2014/main" id="{3D6E3639-2E25-B90D-6E78-FB575039926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373252" y="3516485"/>
            <a:ext cx="195262" cy="163512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IL"/>
          </a:p>
        </p:txBody>
      </p:sp>
      <p:sp>
        <p:nvSpPr>
          <p:cNvPr id="86" name="Line 33">
            <a:extLst>
              <a:ext uri="{FF2B5EF4-FFF2-40B4-BE49-F238E27FC236}">
                <a16:creationId xmlns:a16="http://schemas.microsoft.com/office/drawing/2014/main" id="{B9A0126D-783B-3C43-A817-EF8D63B119EF}"/>
              </a:ext>
            </a:extLst>
          </p:cNvPr>
          <p:cNvSpPr>
            <a:spLocks noChangeShapeType="1"/>
          </p:cNvSpPr>
          <p:nvPr/>
        </p:nvSpPr>
        <p:spPr bwMode="auto">
          <a:xfrm>
            <a:off x="7651065" y="3505372"/>
            <a:ext cx="123825" cy="15398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IL"/>
          </a:p>
        </p:txBody>
      </p:sp>
      <p:sp>
        <p:nvSpPr>
          <p:cNvPr id="87" name="Line 34">
            <a:extLst>
              <a:ext uri="{FF2B5EF4-FFF2-40B4-BE49-F238E27FC236}">
                <a16:creationId xmlns:a16="http://schemas.microsoft.com/office/drawing/2014/main" id="{D079E224-269B-B3F0-BDFA-D6406A485BAB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9089339" y="3526010"/>
            <a:ext cx="298450" cy="227012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IL"/>
          </a:p>
        </p:txBody>
      </p:sp>
      <p:sp>
        <p:nvSpPr>
          <p:cNvPr id="88" name="Line 35">
            <a:extLst>
              <a:ext uri="{FF2B5EF4-FFF2-40B4-BE49-F238E27FC236}">
                <a16:creationId xmlns:a16="http://schemas.microsoft.com/office/drawing/2014/main" id="{0ECF2E35-2FDB-C393-C7E8-D27AA03B03B3}"/>
              </a:ext>
            </a:extLst>
          </p:cNvPr>
          <p:cNvSpPr>
            <a:spLocks noChangeShapeType="1"/>
          </p:cNvSpPr>
          <p:nvPr/>
        </p:nvSpPr>
        <p:spPr bwMode="auto">
          <a:xfrm>
            <a:off x="9479865" y="3526011"/>
            <a:ext cx="174625" cy="18573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IL"/>
          </a:p>
        </p:txBody>
      </p:sp>
      <p:sp>
        <p:nvSpPr>
          <p:cNvPr id="89" name="Line 36">
            <a:extLst>
              <a:ext uri="{FF2B5EF4-FFF2-40B4-BE49-F238E27FC236}">
                <a16:creationId xmlns:a16="http://schemas.microsoft.com/office/drawing/2014/main" id="{39DC7DDB-D282-0612-534B-70E3A24EFED5}"/>
              </a:ext>
            </a:extLst>
          </p:cNvPr>
          <p:cNvSpPr>
            <a:spLocks noChangeShapeType="1"/>
          </p:cNvSpPr>
          <p:nvPr/>
        </p:nvSpPr>
        <p:spPr bwMode="auto">
          <a:xfrm>
            <a:off x="3233052" y="4081635"/>
            <a:ext cx="349250" cy="2667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IL"/>
          </a:p>
        </p:txBody>
      </p:sp>
      <p:sp>
        <p:nvSpPr>
          <p:cNvPr id="90" name="Line 37">
            <a:extLst>
              <a:ext uri="{FF2B5EF4-FFF2-40B4-BE49-F238E27FC236}">
                <a16:creationId xmlns:a16="http://schemas.microsoft.com/office/drawing/2014/main" id="{49A05567-8401-8A2E-0F40-CA9A1215B61E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602940" y="4081635"/>
            <a:ext cx="174625" cy="2667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IL"/>
          </a:p>
        </p:txBody>
      </p:sp>
      <p:sp>
        <p:nvSpPr>
          <p:cNvPr id="91" name="Line 38">
            <a:extLst>
              <a:ext uri="{FF2B5EF4-FFF2-40B4-BE49-F238E27FC236}">
                <a16:creationId xmlns:a16="http://schemas.microsoft.com/office/drawing/2014/main" id="{F62DB2A8-DED0-222C-FE12-B1678920E695}"/>
              </a:ext>
            </a:extLst>
          </p:cNvPr>
          <p:cNvSpPr>
            <a:spLocks noChangeShapeType="1"/>
          </p:cNvSpPr>
          <p:nvPr/>
        </p:nvSpPr>
        <p:spPr bwMode="auto">
          <a:xfrm>
            <a:off x="5080902" y="4080047"/>
            <a:ext cx="349250" cy="2667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IL"/>
          </a:p>
        </p:txBody>
      </p:sp>
      <p:sp>
        <p:nvSpPr>
          <p:cNvPr id="92" name="Line 39">
            <a:extLst>
              <a:ext uri="{FF2B5EF4-FFF2-40B4-BE49-F238E27FC236}">
                <a16:creationId xmlns:a16="http://schemas.microsoft.com/office/drawing/2014/main" id="{AC286818-F0FA-3979-CBEF-596C46F43B70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450790" y="4080047"/>
            <a:ext cx="174625" cy="2667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IL"/>
          </a:p>
        </p:txBody>
      </p:sp>
      <p:sp>
        <p:nvSpPr>
          <p:cNvPr id="93" name="Line 40">
            <a:extLst>
              <a:ext uri="{FF2B5EF4-FFF2-40B4-BE49-F238E27FC236}">
                <a16:creationId xmlns:a16="http://schemas.microsoft.com/office/drawing/2014/main" id="{39D7C582-913E-93EE-B5DD-C4033D16066A}"/>
              </a:ext>
            </a:extLst>
          </p:cNvPr>
          <p:cNvSpPr>
            <a:spLocks noChangeShapeType="1"/>
          </p:cNvSpPr>
          <p:nvPr/>
        </p:nvSpPr>
        <p:spPr bwMode="auto">
          <a:xfrm>
            <a:off x="7268477" y="4070522"/>
            <a:ext cx="349250" cy="2667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IL"/>
          </a:p>
        </p:txBody>
      </p:sp>
      <p:sp>
        <p:nvSpPr>
          <p:cNvPr id="94" name="Line 41">
            <a:extLst>
              <a:ext uri="{FF2B5EF4-FFF2-40B4-BE49-F238E27FC236}">
                <a16:creationId xmlns:a16="http://schemas.microsoft.com/office/drawing/2014/main" id="{0242C4B4-79E4-E865-83A4-6C3041E6D25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638365" y="4070522"/>
            <a:ext cx="174625" cy="2667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IL"/>
          </a:p>
        </p:txBody>
      </p:sp>
      <p:sp>
        <p:nvSpPr>
          <p:cNvPr id="95" name="Line 42">
            <a:extLst>
              <a:ext uri="{FF2B5EF4-FFF2-40B4-BE49-F238E27FC236}">
                <a16:creationId xmlns:a16="http://schemas.microsoft.com/office/drawing/2014/main" id="{7EBEBF51-0D2D-F29A-821D-EC5DE02FE449}"/>
              </a:ext>
            </a:extLst>
          </p:cNvPr>
          <p:cNvSpPr>
            <a:spLocks noChangeShapeType="1"/>
          </p:cNvSpPr>
          <p:nvPr/>
        </p:nvSpPr>
        <p:spPr bwMode="auto">
          <a:xfrm>
            <a:off x="9035364" y="4089572"/>
            <a:ext cx="349250" cy="2667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IL"/>
          </a:p>
        </p:txBody>
      </p:sp>
      <p:sp>
        <p:nvSpPr>
          <p:cNvPr id="96" name="Line 43">
            <a:extLst>
              <a:ext uri="{FF2B5EF4-FFF2-40B4-BE49-F238E27FC236}">
                <a16:creationId xmlns:a16="http://schemas.microsoft.com/office/drawing/2014/main" id="{1AC1A277-F532-F231-8303-1FF2DDC3745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9405253" y="4089572"/>
            <a:ext cx="174625" cy="2667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IL"/>
          </a:p>
        </p:txBody>
      </p:sp>
      <p:sp>
        <p:nvSpPr>
          <p:cNvPr id="97" name="Line 44">
            <a:extLst>
              <a:ext uri="{FF2B5EF4-FFF2-40B4-BE49-F238E27FC236}">
                <a16:creationId xmlns:a16="http://schemas.microsoft.com/office/drawing/2014/main" id="{40412AA3-9DBA-CED2-B7B3-4E83DD952222}"/>
              </a:ext>
            </a:extLst>
          </p:cNvPr>
          <p:cNvSpPr>
            <a:spLocks noChangeShapeType="1"/>
          </p:cNvSpPr>
          <p:nvPr/>
        </p:nvSpPr>
        <p:spPr bwMode="auto">
          <a:xfrm>
            <a:off x="3706127" y="4738861"/>
            <a:ext cx="760412" cy="30797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IL"/>
          </a:p>
        </p:txBody>
      </p:sp>
      <p:sp>
        <p:nvSpPr>
          <p:cNvPr id="98" name="Line 45">
            <a:extLst>
              <a:ext uri="{FF2B5EF4-FFF2-40B4-BE49-F238E27FC236}">
                <a16:creationId xmlns:a16="http://schemas.microsoft.com/office/drawing/2014/main" id="{4CEDB6EF-259C-3362-D053-D1CD478A726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496703" y="4729335"/>
            <a:ext cx="955675" cy="3175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IL"/>
          </a:p>
        </p:txBody>
      </p:sp>
      <p:sp>
        <p:nvSpPr>
          <p:cNvPr id="99" name="Line 46">
            <a:extLst>
              <a:ext uri="{FF2B5EF4-FFF2-40B4-BE49-F238E27FC236}">
                <a16:creationId xmlns:a16="http://schemas.microsoft.com/office/drawing/2014/main" id="{6E058511-8F88-4A50-DE8E-14486AF560CE}"/>
              </a:ext>
            </a:extLst>
          </p:cNvPr>
          <p:cNvSpPr>
            <a:spLocks noChangeShapeType="1"/>
          </p:cNvSpPr>
          <p:nvPr/>
        </p:nvSpPr>
        <p:spPr bwMode="auto">
          <a:xfrm>
            <a:off x="7587565" y="4726161"/>
            <a:ext cx="760413" cy="30797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IL"/>
          </a:p>
        </p:txBody>
      </p:sp>
      <p:sp>
        <p:nvSpPr>
          <p:cNvPr id="100" name="Line 47">
            <a:extLst>
              <a:ext uri="{FF2B5EF4-FFF2-40B4-BE49-F238E27FC236}">
                <a16:creationId xmlns:a16="http://schemas.microsoft.com/office/drawing/2014/main" id="{6D36A2D3-A426-FEA5-BD0C-889A7CD41AB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8378140" y="4716635"/>
            <a:ext cx="955675" cy="3175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IL"/>
          </a:p>
        </p:txBody>
      </p:sp>
      <p:sp>
        <p:nvSpPr>
          <p:cNvPr id="101" name="Line 48">
            <a:extLst>
              <a:ext uri="{FF2B5EF4-FFF2-40B4-BE49-F238E27FC236}">
                <a16:creationId xmlns:a16="http://schemas.microsoft.com/office/drawing/2014/main" id="{631F28E2-2D63-8B29-9226-D3C1C554386E}"/>
              </a:ext>
            </a:extLst>
          </p:cNvPr>
          <p:cNvSpPr>
            <a:spLocks noChangeShapeType="1"/>
          </p:cNvSpPr>
          <p:nvPr/>
        </p:nvSpPr>
        <p:spPr bwMode="auto">
          <a:xfrm>
            <a:off x="4528453" y="5437360"/>
            <a:ext cx="2065337" cy="328612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IL"/>
          </a:p>
        </p:txBody>
      </p:sp>
      <p:sp>
        <p:nvSpPr>
          <p:cNvPr id="102" name="Line 49">
            <a:extLst>
              <a:ext uri="{FF2B5EF4-FFF2-40B4-BE49-F238E27FC236}">
                <a16:creationId xmlns:a16="http://schemas.microsoft.com/office/drawing/2014/main" id="{BAE720F1-0736-3D01-2EC3-270BAF7C304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612840" y="5448472"/>
            <a:ext cx="1768475" cy="3175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IL"/>
          </a:p>
        </p:txBody>
      </p:sp>
      <p:sp>
        <p:nvSpPr>
          <p:cNvPr id="103" name="Text Box 50">
            <a:extLst>
              <a:ext uri="{FF2B5EF4-FFF2-40B4-BE49-F238E27FC236}">
                <a16:creationId xmlns:a16="http://schemas.microsoft.com/office/drawing/2014/main" id="{0428CBF1-844C-6724-44DC-CAC50ECD76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24978" y="4141960"/>
            <a:ext cx="979487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en-IL" sz="2400">
                <a:latin typeface="Times New Roman" panose="02020603050405020304" pitchFamily="18" charset="0"/>
              </a:rPr>
              <a:t>Merge</a:t>
            </a:r>
          </a:p>
        </p:txBody>
      </p:sp>
      <p:sp>
        <p:nvSpPr>
          <p:cNvPr id="104" name="Text Box 51">
            <a:extLst>
              <a:ext uri="{FF2B5EF4-FFF2-40B4-BE49-F238E27FC236}">
                <a16:creationId xmlns:a16="http://schemas.microsoft.com/office/drawing/2014/main" id="{62A84C98-1E02-3EE7-DC34-9CB09937CA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53603" y="4807122"/>
            <a:ext cx="979487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en-IL" sz="2400">
                <a:latin typeface="Times New Roman" panose="02020603050405020304" pitchFamily="18" charset="0"/>
              </a:rPr>
              <a:t>Merge</a:t>
            </a:r>
          </a:p>
        </p:txBody>
      </p:sp>
      <p:sp>
        <p:nvSpPr>
          <p:cNvPr id="105" name="Text Box 52">
            <a:extLst>
              <a:ext uri="{FF2B5EF4-FFF2-40B4-BE49-F238E27FC236}">
                <a16:creationId xmlns:a16="http://schemas.microsoft.com/office/drawing/2014/main" id="{505A63D1-040A-3931-1BD1-018135BFA7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63264" y="5548485"/>
            <a:ext cx="979488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en-IL" sz="2400">
                <a:latin typeface="Times New Roman" panose="02020603050405020304" pitchFamily="18" charset="0"/>
              </a:rPr>
              <a:t>Merge</a:t>
            </a:r>
          </a:p>
        </p:txBody>
      </p:sp>
      <p:sp>
        <p:nvSpPr>
          <p:cNvPr id="106" name="Text Box 53">
            <a:extLst>
              <a:ext uri="{FF2B5EF4-FFF2-40B4-BE49-F238E27FC236}">
                <a16:creationId xmlns:a16="http://schemas.microsoft.com/office/drawing/2014/main" id="{6C16AF7E-BE16-6B33-00E4-18EC6F5A613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07628" y="2044872"/>
            <a:ext cx="10128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en-IL" sz="2400">
                <a:latin typeface="Times New Roman" panose="02020603050405020304" pitchFamily="18" charset="0"/>
              </a:rPr>
              <a:t>Divide</a:t>
            </a:r>
          </a:p>
        </p:txBody>
      </p:sp>
      <p:sp>
        <p:nvSpPr>
          <p:cNvPr id="107" name="Text Box 54">
            <a:extLst>
              <a:ext uri="{FF2B5EF4-FFF2-40B4-BE49-F238E27FC236}">
                <a16:creationId xmlns:a16="http://schemas.microsoft.com/office/drawing/2014/main" id="{2AFC1500-6685-4FB7-69F4-BB35649159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34553" y="2617960"/>
            <a:ext cx="10128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en-IL" sz="2400">
                <a:latin typeface="Times New Roman" panose="02020603050405020304" pitchFamily="18" charset="0"/>
              </a:rPr>
              <a:t>Divide</a:t>
            </a:r>
          </a:p>
        </p:txBody>
      </p:sp>
      <p:sp>
        <p:nvSpPr>
          <p:cNvPr id="108" name="Text Box 55">
            <a:extLst>
              <a:ext uri="{FF2B5EF4-FFF2-40B4-BE49-F238E27FC236}">
                <a16:creationId xmlns:a16="http://schemas.microsoft.com/office/drawing/2014/main" id="{9E997BDE-C544-1488-DC73-DFF3FC4D37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53553" y="3205335"/>
            <a:ext cx="10128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en-IL" sz="2400">
                <a:latin typeface="Times New Roman" panose="02020603050405020304" pitchFamily="18" charset="0"/>
              </a:rPr>
              <a:t>Divide</a:t>
            </a:r>
          </a:p>
        </p:txBody>
      </p:sp>
      <p:sp>
        <p:nvSpPr>
          <p:cNvPr id="109" name="Text Box 56">
            <a:extLst>
              <a:ext uri="{FF2B5EF4-FFF2-40B4-BE49-F238E27FC236}">
                <a16:creationId xmlns:a16="http://schemas.microsoft.com/office/drawing/2014/main" id="{CB9CDF9D-FEDA-665B-887A-9FA99279EF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78890" y="3624435"/>
            <a:ext cx="137477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en-IL" sz="2400">
                <a:latin typeface="Times New Roman" panose="02020603050405020304" pitchFamily="18" charset="0"/>
              </a:rPr>
              <a:t>1 element</a:t>
            </a:r>
          </a:p>
        </p:txBody>
      </p:sp>
      <p:sp>
        <p:nvSpPr>
          <p:cNvPr id="110" name="Text Box 57">
            <a:extLst>
              <a:ext uri="{FF2B5EF4-FFF2-40B4-BE49-F238E27FC236}">
                <a16:creationId xmlns:a16="http://schemas.microsoft.com/office/drawing/2014/main" id="{9E73795F-0EAA-5EA2-248C-67E3B648DA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25314" y="1670223"/>
            <a:ext cx="457200" cy="3841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IL" sz="2400">
                <a:latin typeface="Times New Roman" panose="02020603050405020304" pitchFamily="18" charset="0"/>
              </a:rPr>
              <a:t>8</a:t>
            </a:r>
          </a:p>
        </p:txBody>
      </p:sp>
      <p:sp>
        <p:nvSpPr>
          <p:cNvPr id="111" name="Text Box 58">
            <a:extLst>
              <a:ext uri="{FF2B5EF4-FFF2-40B4-BE49-F238E27FC236}">
                <a16:creationId xmlns:a16="http://schemas.microsoft.com/office/drawing/2014/main" id="{5209CC58-8A7C-1D43-3DFC-30112D9FFA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82514" y="1670223"/>
            <a:ext cx="457200" cy="3841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IL" sz="2400">
                <a:latin typeface="Times New Roman" panose="02020603050405020304" pitchFamily="18" charset="0"/>
              </a:rPr>
              <a:t>2</a:t>
            </a:r>
          </a:p>
        </p:txBody>
      </p:sp>
      <p:sp>
        <p:nvSpPr>
          <p:cNvPr id="112" name="Text Box 59">
            <a:extLst>
              <a:ext uri="{FF2B5EF4-FFF2-40B4-BE49-F238E27FC236}">
                <a16:creationId xmlns:a16="http://schemas.microsoft.com/office/drawing/2014/main" id="{071E11C7-57F5-0596-2E1C-E0AB035CCC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39714" y="1670223"/>
            <a:ext cx="457200" cy="3841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IL" sz="2400">
                <a:latin typeface="Times New Roman" panose="02020603050405020304" pitchFamily="18" charset="0"/>
              </a:rPr>
              <a:t>9</a:t>
            </a:r>
          </a:p>
        </p:txBody>
      </p:sp>
      <p:sp>
        <p:nvSpPr>
          <p:cNvPr id="113" name="Text Box 60">
            <a:extLst>
              <a:ext uri="{FF2B5EF4-FFF2-40B4-BE49-F238E27FC236}">
                <a16:creationId xmlns:a16="http://schemas.microsoft.com/office/drawing/2014/main" id="{56DB1B44-06FE-A7AE-DFCD-55C3E5F041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96914" y="1670222"/>
            <a:ext cx="457200" cy="3810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IL" sz="2400">
                <a:latin typeface="Times New Roman" panose="02020603050405020304" pitchFamily="18" charset="0"/>
              </a:rPr>
              <a:t>4</a:t>
            </a:r>
          </a:p>
        </p:txBody>
      </p:sp>
      <p:sp>
        <p:nvSpPr>
          <p:cNvPr id="114" name="Text Box 61">
            <a:extLst>
              <a:ext uri="{FF2B5EF4-FFF2-40B4-BE49-F238E27FC236}">
                <a16:creationId xmlns:a16="http://schemas.microsoft.com/office/drawing/2014/main" id="{4C44D898-6CCA-F3E2-EE60-CA2DAB6FAC7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54114" y="1670222"/>
            <a:ext cx="457200" cy="3810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IL" sz="2400">
                <a:latin typeface="Times New Roman" panose="02020603050405020304" pitchFamily="18" charset="0"/>
              </a:rPr>
              <a:t>5</a:t>
            </a:r>
          </a:p>
        </p:txBody>
      </p:sp>
      <p:sp>
        <p:nvSpPr>
          <p:cNvPr id="115" name="Text Box 62">
            <a:extLst>
              <a:ext uri="{FF2B5EF4-FFF2-40B4-BE49-F238E27FC236}">
                <a16:creationId xmlns:a16="http://schemas.microsoft.com/office/drawing/2014/main" id="{BE6C8FA9-6D05-B3FB-EB8C-5D836870A1E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11314" y="1670223"/>
            <a:ext cx="457200" cy="3841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IL" sz="2400">
                <a:latin typeface="Times New Roman" panose="02020603050405020304" pitchFamily="18" charset="0"/>
              </a:rPr>
              <a:t>3</a:t>
            </a:r>
          </a:p>
        </p:txBody>
      </p:sp>
      <p:sp>
        <p:nvSpPr>
          <p:cNvPr id="116" name="Text Box 63">
            <a:extLst>
              <a:ext uri="{FF2B5EF4-FFF2-40B4-BE49-F238E27FC236}">
                <a16:creationId xmlns:a16="http://schemas.microsoft.com/office/drawing/2014/main" id="{E5D58F01-51FC-5BB1-C5F0-CE5277A536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68514" y="1670222"/>
            <a:ext cx="457200" cy="3810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IL" sz="2400"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117" name="Text Box 64">
            <a:extLst>
              <a:ext uri="{FF2B5EF4-FFF2-40B4-BE49-F238E27FC236}">
                <a16:creationId xmlns:a16="http://schemas.microsoft.com/office/drawing/2014/main" id="{3DD9AC9F-36E1-E46B-FBE2-FF36332CF8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25714" y="1670222"/>
            <a:ext cx="457200" cy="3810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IL" sz="2400">
                <a:latin typeface="Times New Roman" panose="02020603050405020304" pitchFamily="18" charset="0"/>
              </a:rPr>
              <a:t>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Example: Merge Sort (Takeaway)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t>Each “merge” step does one pass over two sorted lists.</a:t>
            </a:r>
          </a:p>
          <a:p>
            <a:pPr lvl="0"/>
            <a:r>
              <a:t>Total work across levels is </a:t>
            </a:r>
            <a:r>
              <a:rPr b="1"/>
              <a:t>O(n log n)</a:t>
            </a:r>
            <a:r>
              <a:t>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Example: Quick Sort (Concept)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b="1"/>
              <a:t>Divide</a:t>
            </a:r>
            <a:r>
              <a:t>: choose a </a:t>
            </a:r>
            <a:r>
              <a:rPr b="1"/>
              <a:t>pivot</a:t>
            </a:r>
            <a:r>
              <a:t> (e.g. last element); partition into “≤ pivot” and “&gt; pivot”</a:t>
            </a:r>
          </a:p>
          <a:p>
            <a:pPr lvl="0"/>
            <a:r>
              <a:rPr b="1"/>
              <a:t>Conquer</a:t>
            </a:r>
            <a:r>
              <a:t>: recursively quick-sort each partition</a:t>
            </a:r>
          </a:p>
          <a:p>
            <a:pPr lvl="0"/>
            <a:r>
              <a:rPr b="1"/>
              <a:t>Combine</a:t>
            </a:r>
            <a:r>
              <a:t>: concatenate (left, pivot, right) — no merge step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Example: Product Frequency Count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t>Input: </a:t>
            </a:r>
            <a:r>
              <a:rPr>
                <a:latin typeface="Courier"/>
              </a:rPr>
              <a:t>order_id, product_id</a:t>
            </a:r>
          </a:p>
          <a:p>
            <a:pPr lvl="0"/>
            <a:r>
              <a:t>Divide: split log files into blocks</a:t>
            </a:r>
          </a:p>
          <a:p>
            <a:pPr lvl="0"/>
            <a:r>
              <a:t>Conquer: each worker emits </a:t>
            </a:r>
            <a:r>
              <a:rPr>
                <a:latin typeface="Courier"/>
              </a:rPr>
              <a:t>(product_id, 1)</a:t>
            </a:r>
          </a:p>
          <a:p>
            <a:pPr lvl="0"/>
            <a:r>
              <a:t>Combine: reducers sum counts per </a:t>
            </a:r>
            <a:r>
              <a:rPr>
                <a:latin typeface="Courier"/>
              </a:rPr>
              <a:t>product_id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Example: Product Frequency Count (Local Aggregation)</a:t>
            </a:r>
          </a:p>
        </p:txBody>
      </p:sp>
      <p:pic>
        <p:nvPicPr>
          <p:cNvPr id="3" name="Picture 1" descr="../../diagrams/week03/week3_local_aggregation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00200"/>
            <a:ext cx="32131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Performance Reality: The Slowest Worker Wins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t>End-to-end time is bounded by the </a:t>
            </a:r>
            <a:r>
              <a:rPr b="1"/>
              <a:t>slowest partition</a:t>
            </a:r>
          </a:p>
          <a:p>
            <a:pPr lvl="0"/>
            <a:r>
              <a:t>Skewed data causes long-tail delays</a:t>
            </a:r>
          </a:p>
          <a:p>
            <a:pPr lvl="0"/>
            <a:r>
              <a:t>One hot key can stall the entire job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Performance Reality: Straggler Effect</a:t>
            </a:r>
          </a:p>
        </p:txBody>
      </p:sp>
      <p:pic>
        <p:nvPicPr>
          <p:cNvPr id="3" name="Picture 1" descr="../../diagrams/week03/week3_straggler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1600200"/>
            <a:ext cx="5448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993</Words>
  <Application>Microsoft Macintosh PowerPoint</Application>
  <PresentationFormat>מסך רחב</PresentationFormat>
  <Paragraphs>187</Paragraphs>
  <Slides>31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4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31</vt:i4>
      </vt:variant>
    </vt:vector>
  </HeadingPairs>
  <TitlesOfParts>
    <vt:vector size="36" baseType="lpstr">
      <vt:lpstr>Arial</vt:lpstr>
      <vt:lpstr>Calibri</vt:lpstr>
      <vt:lpstr>Courier</vt:lpstr>
      <vt:lpstr>Times New Roman</vt:lpstr>
      <vt:lpstr>Office Theme</vt:lpstr>
      <vt:lpstr>Week 3: Distributed Systems + Parallelism</vt:lpstr>
      <vt:lpstr>Learning Objectives</vt:lpstr>
      <vt:lpstr>Flow for Today</vt:lpstr>
      <vt:lpstr>The Scaling Problem (Big Picture)</vt:lpstr>
      <vt:lpstr>Two Sides of the Same Coin</vt:lpstr>
      <vt:lpstr>Why Single-Node Databases Break</vt:lpstr>
      <vt:lpstr>Why Single-Node Databases Break (Visual)</vt:lpstr>
      <vt:lpstr>Distributed Databases: Architecture</vt:lpstr>
      <vt:lpstr>Distributed Databases: Logical vs Physical View</vt:lpstr>
      <vt:lpstr>Distributed Databases: Core Ideas</vt:lpstr>
      <vt:lpstr>Partitioning + Replication (Intuition)</vt:lpstr>
      <vt:lpstr>Partition Keys: Good vs Bad</vt:lpstr>
      <vt:lpstr>Partition Keys: Good vs Bad (Visual)</vt:lpstr>
      <vt:lpstr>Replication Trade-Offs</vt:lpstr>
      <vt:lpstr>SQL vs NoSQL: Simple Decision Lens</vt:lpstr>
      <vt:lpstr>SQL vs NoSQL: Access Patterns</vt:lpstr>
      <vt:lpstr>SQL vs NoSQL: Hybrid Architecture</vt:lpstr>
      <vt:lpstr>ACID, BASE, and CAP (Key Terms)</vt:lpstr>
      <vt:lpstr>Example: Activity Log Service</vt:lpstr>
      <vt:lpstr>Parallelism vs Concurrency (Plain Language)</vt:lpstr>
      <vt:lpstr>Process vs Thread (Conceptual)</vt:lpstr>
      <vt:lpstr>Divide-Conquer-Combine (Core Pattern)</vt:lpstr>
      <vt:lpstr>Divide–Conquer–Combine (Overview)</vt:lpstr>
      <vt:lpstr>Example: Merge Sort (Concept)</vt:lpstr>
      <vt:lpstr>Example: Merge Sort (Numerical Demo)</vt:lpstr>
      <vt:lpstr>Example: Merge Sort (Takeaway)</vt:lpstr>
      <vt:lpstr>Example: Quick Sort (Concept)</vt:lpstr>
      <vt:lpstr>Example: Product Frequency Count</vt:lpstr>
      <vt:lpstr>Example: Product Frequency Count (Local Aggregation)</vt:lpstr>
      <vt:lpstr>Performance Reality: The Slowest Worker Wins</vt:lpstr>
      <vt:lpstr>Performance Reality: Straggler Effect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emplate>Facet</Template>
  <TotalTime>12</TotalTime>
  <Words>18</Words>
  <Application>Microsoft Macintosh PowerPoint</Application>
  <PresentationFormat>מסך רחב</PresentationFormat>
  <Paragraphs>12</Paragraphs>
  <Slides>6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3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6</vt:i4>
      </vt:variant>
    </vt:vector>
  </HeadingPairs>
  <TitlesOfParts>
    <vt:vector size="10" baseType="lpstr">
      <vt:lpstr>Aptos</vt:lpstr>
      <vt:lpstr>Arial</vt:lpstr>
      <vt:lpstr>Calibri</vt:lpstr>
      <vt:lpstr>Office Theme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cp:lastModifiedBy>Or Perets</cp:lastModifiedBy>
  <cp:revision>1</cp:revision>
  <dcterms:created xsi:type="dcterms:W3CDTF">2026-02-09T10:45:10Z</dcterms:created>
  <dcterms:modified xsi:type="dcterms:W3CDTF">2026-02-09T13:47:36Z</dcterms:modified>
</cp:coreProperties>
</file>