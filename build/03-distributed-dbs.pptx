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80" r:id="rId17"/>
    <p:sldId id="288" r:id="rId18"/>
    <p:sldId id="292" r:id="rId19"/>
    <p:sldId id="296" r:id="rId20"/>
    <p:sldId id="297" r:id="rId21"/>
    <p:sldId id="392" r:id="rId22"/>
    <p:sldId id="388" r:id="rId23"/>
    <p:sldId id="393" r:id="rId24"/>
    <p:sldId id="303" r:id="rId25"/>
    <p:sldId id="305" r:id="rId26"/>
    <p:sldId id="310" r:id="rId27"/>
    <p:sldId id="311" r:id="rId28"/>
    <p:sldId id="312" r:id="rId29"/>
    <p:sldId id="313" r:id="rId30"/>
    <p:sldId id="300" r:id="rId31"/>
    <p:sldId id="301" r:id="rId32"/>
    <p:sldId id="302" r:id="rId33"/>
    <p:sldId id="304" r:id="rId34"/>
    <p:sldId id="314" r:id="rId35"/>
    <p:sldId id="306" r:id="rId36"/>
    <p:sldId id="308" r:id="rId37"/>
    <p:sldId id="307" r:id="rId38"/>
    <p:sldId id="309" r:id="rId39"/>
    <p:sldId id="31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9"/>
    <p:restoredTop sz="94719"/>
  </p:normalViewPr>
  <p:slideViewPr>
    <p:cSldViewPr snapToGrid="0" snapToObjects="1">
      <p:cViewPr varScale="1">
        <p:scale>
          <a:sx n="148" d="100"/>
          <a:sy n="148" d="100"/>
        </p:scale>
        <p:origin x="1376" y="2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1E4B16A-5B0A-7D43-BCDF-F7F4A987D2AC}" type="datetimeFigureOut">
              <a:rPr lang="he-IL" smtClean="0"/>
              <a:t>כ"ג.שבט.תשפ"ו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C970791-496D-9841-BAC8-8766301B5B0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774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311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4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252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66014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894" y="2569580"/>
            <a:ext cx="5864506" cy="3556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04787-1EEE-2B40-912B-125D90697066}" type="datetime8">
              <a:rPr lang="en-US" smtClean="0"/>
              <a:t>2/10/26 9:16 AM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8272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8760"/>
            <a:ext cx="10744200" cy="466820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A1A5FF7-E3C8-AE4C-A7F5-5AED5B85172D}" type="datetime8">
              <a:rPr lang="en-US" smtClean="0"/>
              <a:t>2/10/26 9:24 AM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56461-6E27-2993-49E2-66DB9A92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98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Week </a:t>
            </a:r>
            <a:r>
              <a:rPr lang="en-US" dirty="0"/>
              <a:t>3</a:t>
            </a:r>
            <a:r>
              <a:rPr dirty="0"/>
              <a:t>: Distributed Systems + Parallelism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Describe why we partition data and work across many machines</a:t>
            </a:r>
          </a:p>
          <a:p>
            <a:pPr lvl="0"/>
            <a:r>
              <a:rPr dirty="0"/>
              <a:t>Explain SQL vs NoSQL using correctness vs scale (ACID/BASE, CAP intuition)</a:t>
            </a:r>
          </a:p>
          <a:p>
            <a:pPr lvl="0"/>
            <a:r>
              <a:rPr dirty="0"/>
              <a:t>Distinguish parallelism vs concurrency in operations terms</a:t>
            </a:r>
            <a:endParaRPr lang="en-US" dirty="0"/>
          </a:p>
          <a:p>
            <a:pPr lvl="0"/>
            <a:r>
              <a:rPr lang="en" dirty="0"/>
              <a:t>Use divide-conquer-combine to reason about scalable jobs</a:t>
            </a:r>
          </a:p>
          <a:p>
            <a:pPr lvl="0"/>
            <a:r>
              <a:rPr lang="en" dirty="0"/>
              <a:t>Recognize common failure modes: hot keys, skew, stale reads, and what to monitor</a:t>
            </a:r>
          </a:p>
          <a:p>
            <a:pPr lvl="0"/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Flow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The scaling problem: data and work outgrow one machine</a:t>
            </a:r>
          </a:p>
          <a:p>
            <a:pPr lvl="0"/>
            <a:r>
              <a:t>Distributed data: partitioning, replication, and consistency trade-offs</a:t>
            </a:r>
          </a:p>
          <a:p>
            <a:pPr lvl="0"/>
            <a:r>
              <a:t>Distributed work: parallelism, divide-and-conquer, and bottlenecks</a:t>
            </a:r>
          </a:p>
          <a:p>
            <a:pPr lvl="0"/>
            <a:r>
              <a:t>Failure modes and decision checklist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terms: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6016740" cy="4525963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SLA (Service Level Agreement)</a:t>
            </a:r>
            <a:br>
              <a:rPr lang="en-US" b="1" dirty="0"/>
            </a:br>
            <a:r>
              <a:rPr dirty="0"/>
              <a:t>A commitment between provider and customer </a:t>
            </a:r>
            <a:br>
              <a:rPr lang="en-US" dirty="0"/>
            </a:br>
            <a:r>
              <a:rPr dirty="0"/>
              <a:t>(e.g. “99.9% uptime” or “p95 response time &lt; 200 </a:t>
            </a:r>
            <a:r>
              <a:rPr dirty="0" err="1"/>
              <a:t>ms</a:t>
            </a:r>
            <a:r>
              <a:rPr dirty="0"/>
              <a:t>”). </a:t>
            </a:r>
            <a:br>
              <a:rPr lang="en-US" dirty="0"/>
            </a:b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4" name="תמונה 3" descr="SLA | Full Form, Components and Types - GeeksforGeeks">
            <a:extLst>
              <a:ext uri="{FF2B5EF4-FFF2-40B4-BE49-F238E27FC236}">
                <a16:creationId xmlns:a16="http://schemas.microsoft.com/office/drawing/2014/main" id="{CDD747A7-D1AF-569F-F24F-13F00D7C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17"/>
          <a:stretch>
            <a:fillRect/>
          </a:stretch>
        </p:blipFill>
        <p:spPr>
          <a:xfrm>
            <a:off x="6831622" y="1920082"/>
            <a:ext cx="452217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terms: Why we care about response-time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When we measure </a:t>
            </a:r>
            <a:r>
              <a:rPr b="1" dirty="0"/>
              <a:t>response time</a:t>
            </a:r>
            <a:r>
              <a:rPr dirty="0"/>
              <a:t> (e.g. how long a query or request takes), we care about the full distribution, not only the average.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So we need also </a:t>
            </a:r>
            <a:r>
              <a:rPr lang="en" dirty="0"/>
              <a:t>Latency measures 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terms: Latency percentiles (p50, p95, p99)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574728"/>
              </p:ext>
            </p:extLst>
          </p:nvPr>
        </p:nvGraphicFramePr>
        <p:xfrm>
          <a:off x="1282057" y="1965324"/>
          <a:ext cx="9627885" cy="381200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20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7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7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b="1" dirty="0"/>
                        <a:t>p50 (median)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Half of requests finish within this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Typical user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7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b="1"/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95% of requests finish within this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Most user</a:t>
                      </a:r>
                      <a:r>
                        <a:rPr lang="en-US" sz="2200" dirty="0"/>
                        <a:t>, </a:t>
                      </a:r>
                      <a:r>
                        <a:rPr sz="2200" dirty="0"/>
                        <a:t>long tail starts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72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b="1"/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99% of requests finish within this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Worst regular users</a:t>
                      </a:r>
                      <a:r>
                        <a:rPr lang="en-US" sz="2200" dirty="0"/>
                        <a:t>, </a:t>
                      </a:r>
                      <a:r>
                        <a:rPr sz="2200" dirty="0"/>
                        <a:t>SLA and penalties often defined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Distributed Data &amp; Parallelism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we do not scale systems for “technical elegance.” </a:t>
            </a:r>
            <a:endParaRPr lang="en-US" dirty="0"/>
          </a:p>
          <a:p>
            <a:pPr marL="0" lvl="0" indent="0">
              <a:buNone/>
            </a:pPr>
            <a:r>
              <a:rPr dirty="0"/>
              <a:t>We scale because business processes generate more demand, </a:t>
            </a:r>
            <a:endParaRPr lang="en-US" dirty="0"/>
          </a:p>
          <a:p>
            <a:pPr marL="0" lvl="0" indent="0">
              <a:buNone/>
            </a:pPr>
            <a:r>
              <a:rPr dirty="0"/>
              <a:t>more events, and more decisions per minute than a </a:t>
            </a:r>
            <a:endParaRPr lang="en-US" dirty="0"/>
          </a:p>
          <a:p>
            <a:pPr marL="0" lvl="0" indent="0">
              <a:buNone/>
            </a:pPr>
            <a:r>
              <a:rPr dirty="0"/>
              <a:t>single machine can handle.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Think like a system designer, not a programmer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 dirty="0"/>
              <a:t>Distributed database decisions</a:t>
            </a:r>
            <a:br>
              <a:rPr lang="en-US" b="1" dirty="0"/>
            </a:br>
            <a:r>
              <a:rPr lang="en-US" b="1" dirty="0"/>
              <a:t>		</a:t>
            </a:r>
            <a:r>
              <a:rPr i="1" dirty="0"/>
              <a:t>Where is the data stored so service stays reliable and responsive?</a:t>
            </a:r>
          </a:p>
          <a:p>
            <a:pPr lvl="0"/>
            <a:r>
              <a:rPr b="1" dirty="0"/>
              <a:t>Parallel processing decisions</a:t>
            </a:r>
            <a:br>
              <a:rPr lang="en-US" b="1" dirty="0"/>
            </a:br>
            <a:r>
              <a:rPr lang="en-US" b="1" dirty="0"/>
              <a:t>		</a:t>
            </a:r>
            <a:r>
              <a:rPr i="1" dirty="0"/>
              <a:t>How is the workload split so decisions arrive on time at acceptable cost?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Operational objective: KPIs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583508"/>
              </p:ext>
            </p:extLst>
          </p:nvPr>
        </p:nvGraphicFramePr>
        <p:xfrm>
          <a:off x="781050" y="1921476"/>
          <a:ext cx="10629900" cy="35661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What it means in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Why leadership cares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Throughput (req/s, rows/s)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System capacity per unit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Revenue volume and SLA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Latency (p50/p95/p99)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Response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User experience, abandonment, penalty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Availability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Uptime under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Business continuity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Cost per 1M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Infrastructure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Margin and budget predictability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Freshness (replication lag)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Data age at read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Decision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sides of the same coin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 dirty="0"/>
              <a:t>Distributed data:</a:t>
            </a:r>
            <a:r>
              <a:rPr dirty="0"/>
              <a:t> many nodes store one logical database </a:t>
            </a:r>
            <a:br>
              <a:rPr lang="en-US" dirty="0"/>
            </a:br>
            <a:r>
              <a:rPr dirty="0"/>
              <a:t>(where the data lives)</a:t>
            </a:r>
          </a:p>
          <a:p>
            <a:pPr lvl="0"/>
            <a:r>
              <a:rPr b="1" dirty="0"/>
              <a:t>Parallel compute:</a:t>
            </a:r>
            <a:r>
              <a:rPr dirty="0"/>
              <a:t> many workers process one logical job </a:t>
            </a:r>
            <a:br>
              <a:rPr lang="en-US" dirty="0"/>
            </a:br>
            <a:r>
              <a:rPr dirty="0"/>
              <a:t>(how the work is split)</a:t>
            </a:r>
          </a:p>
          <a:p>
            <a:pPr lvl="0"/>
            <a:r>
              <a:rPr dirty="0"/>
              <a:t>Same user experience, higher scale and resilience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Scaling Problem (Business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single-node architecture often works early, then fails suddenly during growth.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Scaling: stages and symptoms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801724"/>
              </p:ext>
            </p:extLst>
          </p:nvPr>
        </p:nvGraphicFramePr>
        <p:xfrm>
          <a:off x="939799" y="1600199"/>
          <a:ext cx="9847648" cy="392452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08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26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Daily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Peak request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Typical symptom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26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100k rows/day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50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No visible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262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5M rows/day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800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Slow dashboards, timeout spikes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697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100M rows/day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8,000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Queue buildup, SLA misses, outage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breaks (operations terms)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One machine becomes a </a:t>
            </a:r>
            <a:r>
              <a:rPr b="1"/>
              <a:t>bottleneck station</a:t>
            </a:r>
            <a:r>
              <a:t>.</a:t>
            </a:r>
          </a:p>
          <a:p>
            <a:pPr lvl="0"/>
            <a:r>
              <a:t>Maintenance or failure creates a </a:t>
            </a:r>
            <a:r>
              <a:rPr b="1"/>
              <a:t>single point of stoppage</a:t>
            </a:r>
            <a:r>
              <a:t>.</a:t>
            </a:r>
          </a:p>
          <a:p>
            <a:pPr lvl="0"/>
            <a:r>
              <a:t>Peak demand creates long tails (p95/p99 explode before average does).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Distributed Databases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תמונה 3" descr="תמונה שמכילה טקסט, תרשים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6BABEE6-D384-4692-B8D6-BAE941F5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3633"/>
            <a:ext cx="7772400" cy="43267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Partitioning: split data across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Partitioning means dividing rows so each node stores a subset.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4" name="תמונה 3" descr="Understanding Database Partitioning in Distributed Systems : Rebalancing  Partitions | by Priya Patidar | The Developer's Diary | Medium">
            <a:extLst>
              <a:ext uri="{FF2B5EF4-FFF2-40B4-BE49-F238E27FC236}">
                <a16:creationId xmlns:a16="http://schemas.microsoft.com/office/drawing/2014/main" id="{7DFC834F-98DB-8A2D-96EF-7185C8F4F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139" y="2664964"/>
            <a:ext cx="4549174" cy="32825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Replication: copy data for availability and read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Replication keeps multiple copies (primary + replicas).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EED34EC-3FDA-2EC4-977A-213823422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031" y="2496843"/>
            <a:ext cx="5248704" cy="33775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SQL vs NoSQL trade-offs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021046"/>
              </p:ext>
            </p:extLst>
          </p:nvPr>
        </p:nvGraphicFramePr>
        <p:xfrm>
          <a:off x="887970" y="1661983"/>
          <a:ext cx="10416060" cy="401830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472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2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78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SQL systems (typical)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NoSQL systems (typical)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62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Strong integrity, joins,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High write/read scale, flexible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78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Best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Finance, orders, master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Event logs, feeds, session/state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62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Cost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Higher coordination cost at very high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Lower per-operation coordination, higher app-level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62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Risk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Performance bottlenecks under extreme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Consistency/freshness caveats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ACID / BASE / CAP (intuition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ACID intuition:</a:t>
            </a:r>
            <a:r>
              <a:t> prioritize correctness of each transaction.</a:t>
            </a:r>
          </a:p>
          <a:p>
            <a:pPr lvl="0"/>
            <a:r>
              <a:rPr b="1"/>
              <a:t>BASE intuition:</a:t>
            </a:r>
            <a:r>
              <a:t> prioritize availability and scale; consistency may be delayed.</a:t>
            </a:r>
          </a:p>
          <a:p>
            <a:pPr lvl="0"/>
            <a:r>
              <a:rPr b="1"/>
              <a:t>CAP intuition:</a:t>
            </a:r>
            <a:r>
              <a:t> during network partition, you cannot maximize both immediate consistency and availability simultaneously.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Parallelism &amp; Work Distribution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3" name="תמונה 2" descr="Scaling Deep Learning with Distributed Training: Data Parallelism to Ring  AllReduce | Morteza Mirzaei">
            <a:extLst>
              <a:ext uri="{FF2B5EF4-FFF2-40B4-BE49-F238E27FC236}">
                <a16:creationId xmlns:a16="http://schemas.microsoft.com/office/drawing/2014/main" id="{7F2D516F-5060-723C-7A0E-FF36E0DC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36"/>
          <a:stretch>
            <a:fillRect/>
          </a:stretch>
        </p:blipFill>
        <p:spPr>
          <a:xfrm>
            <a:off x="4681512" y="1684961"/>
            <a:ext cx="2828976" cy="46713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Parallelism vs concurrency using operations logic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017695"/>
              </p:ext>
            </p:extLst>
          </p:nvPr>
        </p:nvGraphicFramePr>
        <p:xfrm>
          <a:off x="939800" y="1600199"/>
          <a:ext cx="10428417" cy="26010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476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9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Operations 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Main KPI impacted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5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One agent juggling multiple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Utilization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54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Parallelism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/>
                        <a:t>Multiple agents serving calls simultaneously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200" dirty="0"/>
                        <a:t>Throughput +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0" y="1554480"/>
            <a:ext cx="10302240" cy="462248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 </a:t>
            </a:r>
            <a:r>
              <a:rPr lang="en-US" b="1" dirty="0"/>
              <a:t>process</a:t>
            </a:r>
            <a:r>
              <a:rPr lang="en-US" dirty="0"/>
              <a:t> is an instance of a running program.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Process</a:t>
            </a:r>
            <a:r>
              <a:rPr lang="en-US" dirty="0"/>
              <a:t> may contain one or more </a:t>
            </a:r>
            <a:r>
              <a:rPr lang="en-US" b="1" dirty="0"/>
              <a:t>threads</a:t>
            </a:r>
            <a:r>
              <a:rPr lang="en-US" dirty="0"/>
              <a:t>, but a thread cannot contain a </a:t>
            </a:r>
            <a:r>
              <a:rPr lang="en-US" b="1" dirty="0"/>
              <a:t>process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Process</a:t>
            </a:r>
            <a:r>
              <a:rPr lang="en-US" dirty="0"/>
              <a:t> has a self-contained execution environment. It has its own memory space.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Process don't share its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Multiple </a:t>
            </a:r>
            <a:r>
              <a:rPr lang="en-US" b="1" dirty="0"/>
              <a:t>threads</a:t>
            </a:r>
            <a:r>
              <a:rPr lang="en-US" dirty="0"/>
              <a:t> in a </a:t>
            </a:r>
            <a:r>
              <a:rPr lang="en-US" b="1" dirty="0"/>
              <a:t>process</a:t>
            </a:r>
            <a:r>
              <a:rPr lang="en-US" dirty="0"/>
              <a:t> share resources.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21</a:t>
            </a:fld>
            <a:endParaRPr lang="en-IL" dirty="0"/>
          </a:p>
        </p:txBody>
      </p:sp>
      <p:sp>
        <p:nvSpPr>
          <p:cNvPr id="13" name="כותרת 12">
            <a:extLst>
              <a:ext uri="{FF2B5EF4-FFF2-40B4-BE49-F238E27FC236}">
                <a16:creationId xmlns:a16="http://schemas.microsoft.com/office/drawing/2014/main" id="{EC9F40A1-0195-D82E-8035-3B188D54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B365B2-1333-A16E-8719-37F4448C9B9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en-IL" sz="3000" dirty="0">
                <a:latin typeface="+mn-lt"/>
                <a:ea typeface="+mn-ea"/>
                <a:cs typeface="+mn-cs"/>
              </a:rPr>
              <a:t>Process vs. Thread</a:t>
            </a:r>
          </a:p>
        </p:txBody>
      </p:sp>
    </p:spTree>
    <p:extLst>
      <p:ext uri="{BB962C8B-B14F-4D97-AF65-F5344CB8AC3E}">
        <p14:creationId xmlns:p14="http://schemas.microsoft.com/office/powerpoint/2010/main" val="161321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8760"/>
            <a:ext cx="10744200" cy="4668203"/>
          </a:xfrm>
        </p:spPr>
        <p:txBody>
          <a:bodyPr>
            <a:normAutofit/>
          </a:bodyPr>
          <a:lstStyle/>
          <a:p>
            <a:r>
              <a:rPr lang="en-US" sz="2400" dirty="0"/>
              <a:t>Threading allows you to have different parts of your process run concurrently. For example, A web-browser could be a process, an application running multiple cameras simultaneously could be a process.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22</a:t>
            </a:fld>
            <a:endParaRPr lang="en-IL" dirty="0"/>
          </a:p>
        </p:txBody>
      </p:sp>
      <p:sp>
        <p:nvSpPr>
          <p:cNvPr id="9" name="כותרת 8">
            <a:extLst>
              <a:ext uri="{FF2B5EF4-FFF2-40B4-BE49-F238E27FC236}">
                <a16:creationId xmlns:a16="http://schemas.microsoft.com/office/drawing/2014/main" id="{558AC2C2-F9F6-6F29-3064-354EE757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Computation</a:t>
            </a: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FECD15-0A1F-BD4C-B192-DEB1A1E74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3251972"/>
            <a:ext cx="48641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FD4630-DA09-EE40-90A2-7E48167ACE5C}"/>
              </a:ext>
            </a:extLst>
          </p:cNvPr>
          <p:cNvSpPr/>
          <p:nvPr/>
        </p:nvSpPr>
        <p:spPr>
          <a:xfrm>
            <a:off x="3234735" y="5626872"/>
            <a:ext cx="5722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multiple threads work together to achieve a common goal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2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8760"/>
            <a:ext cx="10744200" cy="4668203"/>
          </a:xfrm>
        </p:spPr>
        <p:txBody>
          <a:bodyPr>
            <a:normAutofit/>
          </a:bodyPr>
          <a:lstStyle/>
          <a:p>
            <a:r>
              <a:rPr lang="en-US" sz="2400" b="1" dirty="0"/>
              <a:t>Multiprocessor/multicore</a:t>
            </a:r>
            <a:br>
              <a:rPr lang="en-US" sz="2400" dirty="0"/>
            </a:br>
            <a:r>
              <a:rPr lang="en-US" sz="2400" dirty="0"/>
              <a:t>	several processors work on data stored in shared memory</a:t>
            </a:r>
          </a:p>
          <a:p>
            <a:r>
              <a:rPr lang="en-US" sz="2400" b="1" dirty="0"/>
              <a:t>Cluster</a:t>
            </a:r>
            <a:br>
              <a:rPr lang="en-US" sz="2400" dirty="0"/>
            </a:br>
            <a:r>
              <a:rPr lang="en-US" sz="2400" dirty="0"/>
              <a:t>	several processor units work together by exchanging data over a network</a:t>
            </a:r>
          </a:p>
          <a:p>
            <a:r>
              <a:rPr lang="en-US" sz="2400" b="1" dirty="0"/>
              <a:t>Co-processor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a general-purpose processor </a:t>
            </a:r>
            <a:br>
              <a:rPr lang="en-US" sz="2400" dirty="0"/>
            </a:br>
            <a:r>
              <a:rPr lang="en-US" sz="2400" dirty="0"/>
              <a:t>delegates specific tasks to a </a:t>
            </a:r>
            <a:br>
              <a:rPr lang="en-US" sz="2400" dirty="0"/>
            </a:br>
            <a:r>
              <a:rPr lang="en-US" sz="2400" dirty="0"/>
              <a:t>special-purpose processor (GPU)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23</a:t>
            </a:fld>
            <a:endParaRPr lang="en-IL" dirty="0"/>
          </a:p>
        </p:txBody>
      </p:sp>
      <p:sp>
        <p:nvSpPr>
          <p:cNvPr id="9" name="כותרת 8">
            <a:extLst>
              <a:ext uri="{FF2B5EF4-FFF2-40B4-BE49-F238E27FC236}">
                <a16:creationId xmlns:a16="http://schemas.microsoft.com/office/drawing/2014/main" id="{809B6B25-1A4A-1317-FAA6-C1337E54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/>
              <a:t>Parallel Computation</a:t>
            </a:r>
          </a:p>
        </p:txBody>
      </p:sp>
      <p:pic>
        <p:nvPicPr>
          <p:cNvPr id="2050" name="Picture 2" descr="Multi-Threading and MultiProcessing in Python | by Renu Khandelwal | Level  Up Coding">
            <a:extLst>
              <a:ext uri="{FF2B5EF4-FFF2-40B4-BE49-F238E27FC236}">
                <a16:creationId xmlns:a16="http://schemas.microsoft.com/office/drawing/2014/main" id="{B9DA59F9-31E6-1643-B6E3-6DBCB126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23" y="3733007"/>
            <a:ext cx="5392127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313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Divide</a:t>
            </a:r>
            <a:r>
              <a:rPr lang="en-US" dirty="0"/>
              <a:t>-</a:t>
            </a:r>
            <a:r>
              <a:rPr dirty="0"/>
              <a:t>Conquer</a:t>
            </a:r>
            <a:r>
              <a:rPr lang="en-US" dirty="0"/>
              <a:t>-</a:t>
            </a:r>
            <a:r>
              <a:rPr dirty="0"/>
              <a:t>Combine as the central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 dirty="0"/>
              <a:t>Divide:</a:t>
            </a:r>
            <a:r>
              <a:rPr dirty="0"/>
              <a:t> partition data/workload.</a:t>
            </a:r>
          </a:p>
          <a:p>
            <a:pPr lvl="0"/>
            <a:r>
              <a:rPr b="1" dirty="0"/>
              <a:t>Conquer:</a:t>
            </a:r>
            <a:r>
              <a:rPr dirty="0"/>
              <a:t> same operation on each partition independently.</a:t>
            </a:r>
          </a:p>
          <a:p>
            <a:pPr lvl="0"/>
            <a:r>
              <a:rPr b="1" dirty="0"/>
              <a:t>Combine:</a:t>
            </a:r>
            <a:r>
              <a:rPr dirty="0"/>
              <a:t> merge partial outputs.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2" descr="Divide and Conquer Algorithm. The divide and conquer approach as the… | by  Harsh | CodeX | Medium">
            <a:extLst>
              <a:ext uri="{FF2B5EF4-FFF2-40B4-BE49-F238E27FC236}">
                <a16:creationId xmlns:a16="http://schemas.microsoft.com/office/drawing/2014/main" id="{EDCAADB4-AF59-C8BF-8668-A6326ECFA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05" y="3674392"/>
            <a:ext cx="5461348" cy="234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Example: Merge Sort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Merge Sort is a Divide and Conquer algorithm.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It divides the input array into two halves, calls itself for the two halves, and then merges the two sorted halves. 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BBA1A42A-4164-5B8A-ECAF-8717A58FFF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51835" y="4571999"/>
            <a:ext cx="838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FB6C0FF-70BB-9F31-16A8-F3016DA2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2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6D30B5EA-C5A9-E365-3C99-BD79CB790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6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40ACC2CE-BD46-11A9-F80E-45F4A8FA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0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DCB9F3A7-D6F2-700A-A693-1FCC4DAC7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4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88CDBE95-C358-B68B-FBF7-2ECF3A923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8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6355B098-4065-2FF8-8A53-64D2B6155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2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id="{E7EF1087-BF67-110F-AD8C-17F676D57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6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9FF73B4F-C074-BF2D-D77C-9029D212A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035" y="4038599"/>
            <a:ext cx="533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FB5571E6-2EB5-E53B-21E8-782C241E3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1835" y="3733799"/>
            <a:ext cx="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2236-A983-932E-929E-C0BC35EB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9BEA-5ECD-5189-4E9E-08A7FF8A2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Example: Merge Sort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15376-BF47-2409-B15A-CB3BF989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CB38-AB2B-BA01-9B42-BA285A61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FC814E0C-8FC3-6CF0-E07D-51B932367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25" y="2438441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8  2   9   4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91C6EA30-7C2D-5DCC-F096-18E6DBFAB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8863" y="2474953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5   3   1   6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56062226-9113-FE32-824B-5E229917E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3079791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8   2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85C7CB77-D06F-3EF8-549E-049932D56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313" y="3070266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1   6</a:t>
            </a: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58BB0D1B-65E4-5C3A-F2E6-87C942327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400" y="3068678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9   4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2A5EE7AF-62BD-37E9-BE9B-0F19A1AE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363" y="3087728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5   3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7A14AA5C-EB62-952F-D1DD-D0040437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3716378"/>
            <a:ext cx="681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 u="sng">
                <a:latin typeface="Times New Roman" panose="02020603050405020304" pitchFamily="18" charset="0"/>
              </a:rPr>
              <a:t>8</a:t>
            </a:r>
            <a:r>
              <a:rPr lang="en-US" altLang="en-IL" sz="2400">
                <a:latin typeface="Times New Roman" panose="02020603050405020304" pitchFamily="18" charset="0"/>
              </a:rPr>
              <a:t>     </a:t>
            </a:r>
            <a:r>
              <a:rPr lang="en-US" altLang="en-IL" sz="2400" u="sng">
                <a:latin typeface="Times New Roman" panose="02020603050405020304" pitchFamily="18" charset="0"/>
              </a:rPr>
              <a:t>2</a:t>
            </a:r>
            <a:r>
              <a:rPr lang="en-US" altLang="en-IL" sz="2400">
                <a:latin typeface="Times New Roman" panose="02020603050405020304" pitchFamily="18" charset="0"/>
              </a:rPr>
              <a:t>	           </a:t>
            </a:r>
            <a:r>
              <a:rPr lang="en-US" altLang="en-IL" sz="2400" u="sng">
                <a:latin typeface="Times New Roman" panose="02020603050405020304" pitchFamily="18" charset="0"/>
              </a:rPr>
              <a:t>9</a:t>
            </a:r>
            <a:r>
              <a:rPr lang="en-US" altLang="en-IL" sz="2400">
                <a:latin typeface="Times New Roman" panose="02020603050405020304" pitchFamily="18" charset="0"/>
              </a:rPr>
              <a:t>        </a:t>
            </a:r>
            <a:r>
              <a:rPr lang="en-US" altLang="en-IL" sz="2400" u="sng">
                <a:latin typeface="Times New Roman" panose="02020603050405020304" pitchFamily="18" charset="0"/>
              </a:rPr>
              <a:t>4</a:t>
            </a:r>
            <a:r>
              <a:rPr lang="en-US" altLang="en-IL" sz="2400">
                <a:latin typeface="Times New Roman" panose="02020603050405020304" pitchFamily="18" charset="0"/>
              </a:rPr>
              <a:t>		    </a:t>
            </a:r>
            <a:r>
              <a:rPr lang="en-US" altLang="en-IL" sz="2400" u="sng">
                <a:latin typeface="Times New Roman" panose="02020603050405020304" pitchFamily="18" charset="0"/>
              </a:rPr>
              <a:t>5</a:t>
            </a:r>
            <a:r>
              <a:rPr lang="en-US" altLang="en-IL" sz="2400">
                <a:latin typeface="Times New Roman" panose="02020603050405020304" pitchFamily="18" charset="0"/>
              </a:rPr>
              <a:t>	</a:t>
            </a:r>
            <a:r>
              <a:rPr lang="en-US" altLang="en-IL" sz="2400" u="sng">
                <a:latin typeface="Times New Roman" panose="02020603050405020304" pitchFamily="18" charset="0"/>
              </a:rPr>
              <a:t>3</a:t>
            </a:r>
            <a:r>
              <a:rPr lang="en-US" altLang="en-IL" sz="2400">
                <a:latin typeface="Times New Roman" panose="02020603050405020304" pitchFamily="18" charset="0"/>
              </a:rPr>
              <a:t>	  </a:t>
            </a:r>
            <a:r>
              <a:rPr lang="en-US" altLang="en-IL" sz="2400" u="sng">
                <a:latin typeface="Times New Roman" panose="02020603050405020304" pitchFamily="18" charset="0"/>
              </a:rPr>
              <a:t>1</a:t>
            </a:r>
            <a:r>
              <a:rPr lang="en-US" altLang="en-IL" sz="2400">
                <a:latin typeface="Times New Roman" panose="02020603050405020304" pitchFamily="18" charset="0"/>
              </a:rPr>
              <a:t> 	 </a:t>
            </a:r>
            <a:r>
              <a:rPr lang="en-US" altLang="en-IL" sz="2400" u="sng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EC309A9C-E3DC-0E42-EA9D-C94AFDAE5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450" y="4360903"/>
            <a:ext cx="673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   </a:t>
            </a:r>
            <a:r>
              <a:rPr lang="en-US" altLang="en-IL" sz="2400" u="sng">
                <a:latin typeface="Times New Roman" panose="02020603050405020304" pitchFamily="18" charset="0"/>
              </a:rPr>
              <a:t>2   8</a:t>
            </a:r>
            <a:r>
              <a:rPr lang="en-US" altLang="en-IL" sz="2400">
                <a:latin typeface="Times New Roman" panose="02020603050405020304" pitchFamily="18" charset="0"/>
              </a:rPr>
              <a:t>	               </a:t>
            </a:r>
            <a:r>
              <a:rPr lang="en-US" altLang="en-IL" sz="2400" u="sng">
                <a:latin typeface="Times New Roman" panose="02020603050405020304" pitchFamily="18" charset="0"/>
              </a:rPr>
              <a:t>4    9</a:t>
            </a:r>
            <a:r>
              <a:rPr lang="en-US" altLang="en-IL" sz="2400">
                <a:latin typeface="Times New Roman" panose="02020603050405020304" pitchFamily="18" charset="0"/>
              </a:rPr>
              <a:t>		        </a:t>
            </a:r>
            <a:r>
              <a:rPr lang="en-US" altLang="en-IL" sz="2400" u="sng">
                <a:latin typeface="Times New Roman" panose="02020603050405020304" pitchFamily="18" charset="0"/>
              </a:rPr>
              <a:t>3   5</a:t>
            </a:r>
            <a:r>
              <a:rPr lang="en-US" altLang="en-IL" sz="2400">
                <a:latin typeface="Times New Roman" panose="02020603050405020304" pitchFamily="18" charset="0"/>
              </a:rPr>
              <a:t>	       </a:t>
            </a:r>
            <a:r>
              <a:rPr lang="en-US" altLang="en-IL" sz="2400" u="sng">
                <a:latin typeface="Times New Roman" panose="02020603050405020304" pitchFamily="18" charset="0"/>
              </a:rPr>
              <a:t>1   6</a:t>
            </a:r>
          </a:p>
        </p:txBody>
      </p:sp>
      <p:sp>
        <p:nvSpPr>
          <p:cNvPr id="26" name="Text Box 20">
            <a:extLst>
              <a:ext uri="{FF2B5EF4-FFF2-40B4-BE49-F238E27FC236}">
                <a16:creationId xmlns:a16="http://schemas.microsoft.com/office/drawing/2014/main" id="{A8786473-8558-B68F-1002-FCA670448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5059403"/>
            <a:ext cx="597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        </a:t>
            </a:r>
            <a:r>
              <a:rPr lang="en-US" altLang="en-IL" sz="2400" u="sng">
                <a:latin typeface="Times New Roman" panose="02020603050405020304" pitchFamily="18" charset="0"/>
              </a:rPr>
              <a:t>2   4   8   9</a:t>
            </a:r>
            <a:r>
              <a:rPr lang="en-US" altLang="en-IL" sz="2400">
                <a:latin typeface="Times New Roman" panose="02020603050405020304" pitchFamily="18" charset="0"/>
              </a:rPr>
              <a:t>		           </a:t>
            </a:r>
            <a:r>
              <a:rPr lang="en-US" altLang="en-IL" sz="2400" u="sng">
                <a:latin typeface="Times New Roman" panose="02020603050405020304" pitchFamily="18" charset="0"/>
              </a:rPr>
              <a:t>1   3   5   6</a:t>
            </a:r>
          </a:p>
        </p:txBody>
      </p:sp>
      <p:sp>
        <p:nvSpPr>
          <p:cNvPr id="27" name="Text Box 21">
            <a:extLst>
              <a:ext uri="{FF2B5EF4-FFF2-40B4-BE49-F238E27FC236}">
                <a16:creationId xmlns:a16="http://schemas.microsoft.com/office/drawing/2014/main" id="{25FE0996-C076-A633-7A3B-5924F2525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5764253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        </a:t>
            </a:r>
            <a:r>
              <a:rPr lang="en-US" altLang="en-IL" sz="2400" u="sng">
                <a:latin typeface="Times New Roman" panose="02020603050405020304" pitchFamily="18" charset="0"/>
              </a:rPr>
              <a:t>1   2   3   4   5   6   8   9</a:t>
            </a:r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id="{690AD662-9C3C-E177-EF7A-7BD08438C2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0100" y="2251117"/>
            <a:ext cx="565150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A47A8FA5-2759-7C6C-9365-E091401E2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014" y="2251117"/>
            <a:ext cx="585787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0" name="Line 24">
            <a:extLst>
              <a:ext uri="{FF2B5EF4-FFF2-40B4-BE49-F238E27FC236}">
                <a16:creationId xmlns:a16="http://schemas.microsoft.com/office/drawing/2014/main" id="{44DBFF31-542B-49E5-26B4-FC7BA0FB7D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92576" y="2909928"/>
            <a:ext cx="574675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1" name="Line 25">
            <a:extLst>
              <a:ext uri="{FF2B5EF4-FFF2-40B4-BE49-F238E27FC236}">
                <a16:creationId xmlns:a16="http://schemas.microsoft.com/office/drawing/2014/main" id="{9CAFF5BA-111B-7C8D-3CC0-32FE29302E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9" y="2889291"/>
            <a:ext cx="492125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2" name="Line 26">
            <a:extLst>
              <a:ext uri="{FF2B5EF4-FFF2-40B4-BE49-F238E27FC236}">
                <a16:creationId xmlns:a16="http://schemas.microsoft.com/office/drawing/2014/main" id="{CF37EE6B-2766-2F3F-95AD-BC96A40DDF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75601" y="2930566"/>
            <a:ext cx="328613" cy="195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389359C4-9B37-8EDC-061E-24B66D38E8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3301" y="2930567"/>
            <a:ext cx="390525" cy="236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4" name="Line 28">
            <a:extLst>
              <a:ext uri="{FF2B5EF4-FFF2-40B4-BE49-F238E27FC236}">
                <a16:creationId xmlns:a16="http://schemas.microsoft.com/office/drawing/2014/main" id="{8BDFC290-D3F2-D2FD-47D1-ABC2943B72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2163" y="3546516"/>
            <a:ext cx="21590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5" name="Line 29">
            <a:extLst>
              <a:ext uri="{FF2B5EF4-FFF2-40B4-BE49-F238E27FC236}">
                <a16:creationId xmlns:a16="http://schemas.microsoft.com/office/drawing/2014/main" id="{0A2CF225-E80D-0F21-2E3C-FCE927442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0776" y="3567153"/>
            <a:ext cx="123825" cy="185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6" name="Line 30">
            <a:extLst>
              <a:ext uri="{FF2B5EF4-FFF2-40B4-BE49-F238E27FC236}">
                <a16:creationId xmlns:a16="http://schemas.microsoft.com/office/drawing/2014/main" id="{4DA0AD81-FD20-26D0-C0D4-16E5B312A5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1126" y="3578266"/>
            <a:ext cx="195263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7" name="Line 31">
            <a:extLst>
              <a:ext uri="{FF2B5EF4-FFF2-40B4-BE49-F238E27FC236}">
                <a16:creationId xmlns:a16="http://schemas.microsoft.com/office/drawing/2014/main" id="{BC67D862-1FF3-7E37-3FC6-16D01CD12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8939" y="3546517"/>
            <a:ext cx="236537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8" name="Line 32">
            <a:extLst>
              <a:ext uri="{FF2B5EF4-FFF2-40B4-BE49-F238E27FC236}">
                <a16:creationId xmlns:a16="http://schemas.microsoft.com/office/drawing/2014/main" id="{D35C9DB2-8574-977E-DFA6-7176ADEBE9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8538" y="3578266"/>
            <a:ext cx="195262" cy="163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39" name="Line 33">
            <a:extLst>
              <a:ext uri="{FF2B5EF4-FFF2-40B4-BE49-F238E27FC236}">
                <a16:creationId xmlns:a16="http://schemas.microsoft.com/office/drawing/2014/main" id="{A3A496F7-31DC-4E46-B023-16364D031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6351" y="3567153"/>
            <a:ext cx="123825" cy="153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0" name="Line 34">
            <a:extLst>
              <a:ext uri="{FF2B5EF4-FFF2-40B4-BE49-F238E27FC236}">
                <a16:creationId xmlns:a16="http://schemas.microsoft.com/office/drawing/2014/main" id="{FB7F427A-7843-EA80-79CA-D58D43243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4625" y="3587791"/>
            <a:ext cx="298450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1" name="Line 35">
            <a:extLst>
              <a:ext uri="{FF2B5EF4-FFF2-40B4-BE49-F238E27FC236}">
                <a16:creationId xmlns:a16="http://schemas.microsoft.com/office/drawing/2014/main" id="{6EFEAC42-EDCB-E581-2478-2FCCF99A2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5151" y="3587792"/>
            <a:ext cx="174625" cy="185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2" name="Line 36">
            <a:extLst>
              <a:ext uri="{FF2B5EF4-FFF2-40B4-BE49-F238E27FC236}">
                <a16:creationId xmlns:a16="http://schemas.microsoft.com/office/drawing/2014/main" id="{B8DB75D6-F381-5E5A-E440-3B1184385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8338" y="4143416"/>
            <a:ext cx="34925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3" name="Line 37">
            <a:extLst>
              <a:ext uri="{FF2B5EF4-FFF2-40B4-BE49-F238E27FC236}">
                <a16:creationId xmlns:a16="http://schemas.microsoft.com/office/drawing/2014/main" id="{87AC56D4-B020-6C6D-CF00-B0E8793651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8226" y="4143416"/>
            <a:ext cx="174625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4" name="Line 38">
            <a:extLst>
              <a:ext uri="{FF2B5EF4-FFF2-40B4-BE49-F238E27FC236}">
                <a16:creationId xmlns:a16="http://schemas.microsoft.com/office/drawing/2014/main" id="{14B983BE-70D5-3376-02A0-8D860B3DC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188" y="4141828"/>
            <a:ext cx="34925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5" name="Line 39">
            <a:extLst>
              <a:ext uri="{FF2B5EF4-FFF2-40B4-BE49-F238E27FC236}">
                <a16:creationId xmlns:a16="http://schemas.microsoft.com/office/drawing/2014/main" id="{B9E87E64-956B-6E22-9F46-093590B567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6076" y="4141828"/>
            <a:ext cx="174625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6" name="Line 40">
            <a:extLst>
              <a:ext uri="{FF2B5EF4-FFF2-40B4-BE49-F238E27FC236}">
                <a16:creationId xmlns:a16="http://schemas.microsoft.com/office/drawing/2014/main" id="{368A7955-1D00-C7A7-ED0E-E776537BF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4132303"/>
            <a:ext cx="34925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7" name="Line 41">
            <a:extLst>
              <a:ext uri="{FF2B5EF4-FFF2-40B4-BE49-F238E27FC236}">
                <a16:creationId xmlns:a16="http://schemas.microsoft.com/office/drawing/2014/main" id="{D013C3F9-96BC-758E-72A4-F477B1B87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13651" y="4132303"/>
            <a:ext cx="174625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8" name="Line 42">
            <a:extLst>
              <a:ext uri="{FF2B5EF4-FFF2-40B4-BE49-F238E27FC236}">
                <a16:creationId xmlns:a16="http://schemas.microsoft.com/office/drawing/2014/main" id="{B4B5DD8D-D4D5-E41C-BBEB-B59C9AAB1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0650" y="4151353"/>
            <a:ext cx="34925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49" name="Line 43">
            <a:extLst>
              <a:ext uri="{FF2B5EF4-FFF2-40B4-BE49-F238E27FC236}">
                <a16:creationId xmlns:a16="http://schemas.microsoft.com/office/drawing/2014/main" id="{FCF5841C-B51E-B071-E026-89719876C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80539" y="4151353"/>
            <a:ext cx="174625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0" name="Line 44">
            <a:extLst>
              <a:ext uri="{FF2B5EF4-FFF2-40B4-BE49-F238E27FC236}">
                <a16:creationId xmlns:a16="http://schemas.microsoft.com/office/drawing/2014/main" id="{3752C7FF-6714-550E-8E53-EEE85069E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1413" y="4800642"/>
            <a:ext cx="760412" cy="307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1" name="Line 45">
            <a:extLst>
              <a:ext uri="{FF2B5EF4-FFF2-40B4-BE49-F238E27FC236}">
                <a16:creationId xmlns:a16="http://schemas.microsoft.com/office/drawing/2014/main" id="{EAD381F2-FB29-DB93-5D12-785D32F6CE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71989" y="4791116"/>
            <a:ext cx="955675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2" name="Line 46">
            <a:extLst>
              <a:ext uri="{FF2B5EF4-FFF2-40B4-BE49-F238E27FC236}">
                <a16:creationId xmlns:a16="http://schemas.microsoft.com/office/drawing/2014/main" id="{8504236A-D768-22CC-E5A2-14086D975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2851" y="4787942"/>
            <a:ext cx="760413" cy="307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3" name="Line 47">
            <a:extLst>
              <a:ext uri="{FF2B5EF4-FFF2-40B4-BE49-F238E27FC236}">
                <a16:creationId xmlns:a16="http://schemas.microsoft.com/office/drawing/2014/main" id="{14BF00B8-7EB8-1ADB-21ED-9F2CC75BB4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53426" y="4778416"/>
            <a:ext cx="955675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4" name="Line 48">
            <a:extLst>
              <a:ext uri="{FF2B5EF4-FFF2-40B4-BE49-F238E27FC236}">
                <a16:creationId xmlns:a16="http://schemas.microsoft.com/office/drawing/2014/main" id="{68D9E43D-EC0C-3DDC-A0E3-1744CF261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3739" y="5499141"/>
            <a:ext cx="2065337" cy="328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5" name="Line 49">
            <a:extLst>
              <a:ext uri="{FF2B5EF4-FFF2-40B4-BE49-F238E27FC236}">
                <a16:creationId xmlns:a16="http://schemas.microsoft.com/office/drawing/2014/main" id="{4874BA36-57AC-5492-F653-BE1E07DF9B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126" y="5510253"/>
            <a:ext cx="1768475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56" name="Text Box 50">
            <a:extLst>
              <a:ext uri="{FF2B5EF4-FFF2-40B4-BE49-F238E27FC236}">
                <a16:creationId xmlns:a16="http://schemas.microsoft.com/office/drawing/2014/main" id="{0F91C7A7-7C33-4C7C-D984-B4EDD7BD6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4" y="4203741"/>
            <a:ext cx="97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Merge</a:t>
            </a:r>
          </a:p>
        </p:txBody>
      </p:sp>
      <p:sp>
        <p:nvSpPr>
          <p:cNvPr id="57" name="Text Box 51">
            <a:extLst>
              <a:ext uri="{FF2B5EF4-FFF2-40B4-BE49-F238E27FC236}">
                <a16:creationId xmlns:a16="http://schemas.microsoft.com/office/drawing/2014/main" id="{72ABDCC5-6C33-713B-ED51-F709655B2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9" y="4868903"/>
            <a:ext cx="97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Merge</a:t>
            </a:r>
          </a:p>
        </p:txBody>
      </p:sp>
      <p:sp>
        <p:nvSpPr>
          <p:cNvPr id="58" name="Text Box 52">
            <a:extLst>
              <a:ext uri="{FF2B5EF4-FFF2-40B4-BE49-F238E27FC236}">
                <a16:creationId xmlns:a16="http://schemas.microsoft.com/office/drawing/2014/main" id="{A18F1B62-B026-1E2A-81FD-FBE60B8DC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5610266"/>
            <a:ext cx="97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Merge</a:t>
            </a:r>
          </a:p>
        </p:txBody>
      </p:sp>
      <p:sp>
        <p:nvSpPr>
          <p:cNvPr id="59" name="Text Box 53">
            <a:extLst>
              <a:ext uri="{FF2B5EF4-FFF2-40B4-BE49-F238E27FC236}">
                <a16:creationId xmlns:a16="http://schemas.microsoft.com/office/drawing/2014/main" id="{FF0BFD15-1C14-3241-5CE7-09BC42431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4" y="2106653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Divide</a:t>
            </a:r>
          </a:p>
        </p:txBody>
      </p:sp>
      <p:sp>
        <p:nvSpPr>
          <p:cNvPr id="60" name="Text Box 54">
            <a:extLst>
              <a:ext uri="{FF2B5EF4-FFF2-40B4-BE49-F238E27FC236}">
                <a16:creationId xmlns:a16="http://schemas.microsoft.com/office/drawing/2014/main" id="{93CF6CC2-2CD5-C36C-8124-232864C11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9" y="2679741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Divide</a:t>
            </a:r>
          </a:p>
        </p:txBody>
      </p:sp>
      <p:sp>
        <p:nvSpPr>
          <p:cNvPr id="61" name="Text Box 55">
            <a:extLst>
              <a:ext uri="{FF2B5EF4-FFF2-40B4-BE49-F238E27FC236}">
                <a16:creationId xmlns:a16="http://schemas.microsoft.com/office/drawing/2014/main" id="{A323F845-B7B9-CD06-D268-0D540BB7C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39" y="3267116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Divide</a:t>
            </a:r>
          </a:p>
        </p:txBody>
      </p:sp>
      <p:sp>
        <p:nvSpPr>
          <p:cNvPr id="62" name="Text Box 56">
            <a:extLst>
              <a:ext uri="{FF2B5EF4-FFF2-40B4-BE49-F238E27FC236}">
                <a16:creationId xmlns:a16="http://schemas.microsoft.com/office/drawing/2014/main" id="{AB0328DA-EEA3-8266-DF27-03610C24C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3686216"/>
            <a:ext cx="1374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400">
                <a:latin typeface="Times New Roman" panose="02020603050405020304" pitchFamily="18" charset="0"/>
              </a:rPr>
              <a:t>1 element</a:t>
            </a:r>
          </a:p>
        </p:txBody>
      </p:sp>
      <p:sp>
        <p:nvSpPr>
          <p:cNvPr id="63" name="Text Box 57">
            <a:extLst>
              <a:ext uri="{FF2B5EF4-FFF2-40B4-BE49-F238E27FC236}">
                <a16:creationId xmlns:a16="http://schemas.microsoft.com/office/drawing/2014/main" id="{3E936D1F-D884-2364-3EB5-8C4412A3B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732004"/>
            <a:ext cx="457200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64" name="Text Box 58">
            <a:extLst>
              <a:ext uri="{FF2B5EF4-FFF2-40B4-BE49-F238E27FC236}">
                <a16:creationId xmlns:a16="http://schemas.microsoft.com/office/drawing/2014/main" id="{03E99D47-A944-A0A2-C3C9-C48A0DC21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732004"/>
            <a:ext cx="457200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5" name="Text Box 59">
            <a:extLst>
              <a:ext uri="{FF2B5EF4-FFF2-40B4-BE49-F238E27FC236}">
                <a16:creationId xmlns:a16="http://schemas.microsoft.com/office/drawing/2014/main" id="{DBF350EC-22C6-05A2-0A24-83B5BF5B7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732004"/>
            <a:ext cx="457200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66" name="Text Box 60">
            <a:extLst>
              <a:ext uri="{FF2B5EF4-FFF2-40B4-BE49-F238E27FC236}">
                <a16:creationId xmlns:a16="http://schemas.microsoft.com/office/drawing/2014/main" id="{1D38B2EB-101C-5C88-8814-C3B5FC0A2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732003"/>
            <a:ext cx="457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7" name="Text Box 61">
            <a:extLst>
              <a:ext uri="{FF2B5EF4-FFF2-40B4-BE49-F238E27FC236}">
                <a16:creationId xmlns:a16="http://schemas.microsoft.com/office/drawing/2014/main" id="{18C69126-8E6A-2972-0986-DCDDFD00A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732003"/>
            <a:ext cx="457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8" name="Text Box 62">
            <a:extLst>
              <a:ext uri="{FF2B5EF4-FFF2-40B4-BE49-F238E27FC236}">
                <a16:creationId xmlns:a16="http://schemas.microsoft.com/office/drawing/2014/main" id="{AB72970B-97EB-AEB1-90D4-0A4FA84E1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32004"/>
            <a:ext cx="457200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9" name="Text Box 63">
            <a:extLst>
              <a:ext uri="{FF2B5EF4-FFF2-40B4-BE49-F238E27FC236}">
                <a16:creationId xmlns:a16="http://schemas.microsoft.com/office/drawing/2014/main" id="{F812381E-74FA-0360-DAEF-1F3ADFA2D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732003"/>
            <a:ext cx="457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0" name="Text Box 64">
            <a:extLst>
              <a:ext uri="{FF2B5EF4-FFF2-40B4-BE49-F238E27FC236}">
                <a16:creationId xmlns:a16="http://schemas.microsoft.com/office/drawing/2014/main" id="{20492DFD-DFE4-0443-19FC-4E5DA13F3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1732003"/>
            <a:ext cx="457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 sz="2400">
                <a:latin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18948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D257-0877-4EAE-2F3A-B5BA2B444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DC01-95D0-DC83-90BE-74B0802B7F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Example: Merge Sort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2F423-A125-077B-1299-AC9877A281A2}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IL" dirty="0"/>
                  <a:t>Mergesort divides array in half and calls itself on the two halves.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IL" dirty="0"/>
                  <a:t>After returning, it merges both halves using a temporary array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IL" dirty="0"/>
                  <a:t>Each recursive call takes </a:t>
                </a:r>
                <a14:m>
                  <m:oMath xmlns:m="http://schemas.openxmlformats.org/officeDocument/2006/math">
                    <m:r>
                      <a:rPr lang="en-US" altLang="en-IL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IL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en-I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IL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IL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en-IL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IL" dirty="0"/>
                  <a:t> and merging takes </a:t>
                </a:r>
                <a14:m>
                  <m:oMath xmlns:m="http://schemas.openxmlformats.org/officeDocument/2006/math">
                    <m:r>
                      <a:rPr lang="en-US" altLang="en-IL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IL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IL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IL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IL" dirty="0"/>
              </a:p>
              <a:p>
                <a:pPr>
                  <a:lnSpc>
                    <a:spcPct val="150000"/>
                  </a:lnSpc>
                </a:pPr>
                <a:r>
                  <a:rPr lang="en-US" altLang="en-IL" dirty="0"/>
                  <a:t>Total of </a:t>
                </a:r>
                <a14:m>
                  <m:oMath xmlns:m="http://schemas.openxmlformats.org/officeDocument/2006/math">
                    <m:r>
                      <a:rPr lang="en-US" altLang="en-IL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I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IL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en-IL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IL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en-I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en-I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IL" dirty="0"/>
              </a:p>
              <a:p>
                <a:pPr>
                  <a:lnSpc>
                    <a:spcPct val="150000"/>
                  </a:lnSpc>
                </a:pPr>
                <a:endParaRPr lang="en-US" alt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2F423-A125-077B-1299-AC9877A28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882DF-98F4-BB77-18C1-A27565A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792BB-B6FB-F4F7-2E83-655D9800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41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A686-7D43-A9FD-8160-0BC404AC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137C-E236-4F27-51A2-B9757829F0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Example: Binary Search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E89AD-E6B1-FFA1-1F7D-6BDDFA0D5EC1}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Search value in sorted array.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dirty="0"/>
                  <a:t>Each level in the recursion, we split the array in half (divide by two), thus: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IL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I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IL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I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IL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en-I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en-I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IL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en-IL" i="1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altLang="en-I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dirty="0"/>
                  <a:t>By Master theorem, </a:t>
                </a:r>
                <a14:m>
                  <m:oMath xmlns:m="http://schemas.openxmlformats.org/officeDocument/2006/math">
                    <m:r>
                      <a:rPr lang="en-US" altLang="en-IL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en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en-IL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en-I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IL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en-IL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en-IL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en-I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8E89AD-E6B1-FFA1-1F7D-6BDDFA0D5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63982-4E36-6E5E-63A3-AC632FA4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A0F5B-9B43-9EE1-C6DC-3F862A99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04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B623455-8682-034B-98D4-816087DEB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Example: Binary Search</a:t>
            </a:r>
            <a:endParaRPr lang="en-US" altLang="en-IL" dirty="0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A934BAB-D61E-EF4E-BBA6-6B3801614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0C0BAC42-5976-134C-8EFC-08D5C7876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93189" name="Text Box 5">
            <a:extLst>
              <a:ext uri="{FF2B5EF4-FFF2-40B4-BE49-F238E27FC236}">
                <a16:creationId xmlns:a16="http://schemas.microsoft.com/office/drawing/2014/main" id="{0DCA12FD-C332-254B-A470-6F66DB556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FF965341-75B5-7E43-BA32-2E9D9B7D4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4233B3B9-21D9-E649-AF53-7A346EF87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93192" name="Rectangle 8">
            <a:extLst>
              <a:ext uri="{FF2B5EF4-FFF2-40B4-BE49-F238E27FC236}">
                <a16:creationId xmlns:a16="http://schemas.microsoft.com/office/drawing/2014/main" id="{E04AE909-F66E-D04F-A50F-356AAFF11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93193" name="Rectangle 9">
            <a:extLst>
              <a:ext uri="{FF2B5EF4-FFF2-40B4-BE49-F238E27FC236}">
                <a16:creationId xmlns:a16="http://schemas.microsoft.com/office/drawing/2014/main" id="{C16888AD-4FFE-E54A-A9FC-43CEA6125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93194" name="Rectangle 10">
            <a:extLst>
              <a:ext uri="{FF2B5EF4-FFF2-40B4-BE49-F238E27FC236}">
                <a16:creationId xmlns:a16="http://schemas.microsoft.com/office/drawing/2014/main" id="{94ADB26A-D3F0-8542-AE78-D62C660F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93195" name="Rectangle 11">
            <a:extLst>
              <a:ext uri="{FF2B5EF4-FFF2-40B4-BE49-F238E27FC236}">
                <a16:creationId xmlns:a16="http://schemas.microsoft.com/office/drawing/2014/main" id="{ADFCAC0D-5BAA-934D-90D9-F12AF085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93196" name="Rectangle 12">
            <a:extLst>
              <a:ext uri="{FF2B5EF4-FFF2-40B4-BE49-F238E27FC236}">
                <a16:creationId xmlns:a16="http://schemas.microsoft.com/office/drawing/2014/main" id="{E687355B-8252-C244-89C3-3A824CDA1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93197" name="Rectangle 13">
            <a:extLst>
              <a:ext uri="{FF2B5EF4-FFF2-40B4-BE49-F238E27FC236}">
                <a16:creationId xmlns:a16="http://schemas.microsoft.com/office/drawing/2014/main" id="{FBB2B2BB-6FA0-EB49-905E-7B194335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93198" name="Rectangle 14">
            <a:extLst>
              <a:ext uri="{FF2B5EF4-FFF2-40B4-BE49-F238E27FC236}">
                <a16:creationId xmlns:a16="http://schemas.microsoft.com/office/drawing/2014/main" id="{F6C8CA4A-298C-AD47-8F11-092FBD84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93199" name="Rectangle 15">
            <a:extLst>
              <a:ext uri="{FF2B5EF4-FFF2-40B4-BE49-F238E27FC236}">
                <a16:creationId xmlns:a16="http://schemas.microsoft.com/office/drawing/2014/main" id="{F7738CEC-82CB-A747-B76D-24E691C78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93200" name="Rectangle 16">
            <a:extLst>
              <a:ext uri="{FF2B5EF4-FFF2-40B4-BE49-F238E27FC236}">
                <a16:creationId xmlns:a16="http://schemas.microsoft.com/office/drawing/2014/main" id="{D67FED00-499E-5E45-B581-36C8E933D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93201" name="Rectangle 17">
            <a:extLst>
              <a:ext uri="{FF2B5EF4-FFF2-40B4-BE49-F238E27FC236}">
                <a16:creationId xmlns:a16="http://schemas.microsoft.com/office/drawing/2014/main" id="{5F7B5500-7767-D84D-8E73-1E73A8977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05CB41-485F-9C42-941E-9FAEB23E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48ACA-AEC0-974D-93CC-F9E47C39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29</a:t>
            </a:fld>
            <a:endParaRPr lang="en-IL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26">
            <a:extLst>
              <a:ext uri="{FF2B5EF4-FFF2-40B4-BE49-F238E27FC236}">
                <a16:creationId xmlns:a16="http://schemas.microsoft.com/office/drawing/2014/main" id="{D370FD26-7EF0-3448-935C-80486A3BD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0899" name="Rectangle 1027">
            <a:extLst>
              <a:ext uri="{FF2B5EF4-FFF2-40B4-BE49-F238E27FC236}">
                <a16:creationId xmlns:a16="http://schemas.microsoft.com/office/drawing/2014/main" id="{AECB9C22-BC0D-AD4D-8E8A-984F1E498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0900" name="Rectangle 1028">
            <a:extLst>
              <a:ext uri="{FF2B5EF4-FFF2-40B4-BE49-F238E27FC236}">
                <a16:creationId xmlns:a16="http://schemas.microsoft.com/office/drawing/2014/main" id="{E9FC9D42-001B-7742-B23C-6A4DE5813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0901" name="Text Box 1029">
            <a:extLst>
              <a:ext uri="{FF2B5EF4-FFF2-40B4-BE49-F238E27FC236}">
                <a16:creationId xmlns:a16="http://schemas.microsoft.com/office/drawing/2014/main" id="{5FD80C50-E3EB-5346-9F2E-36D981652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0902" name="Rectangle 1030">
            <a:extLst>
              <a:ext uri="{FF2B5EF4-FFF2-40B4-BE49-F238E27FC236}">
                <a16:creationId xmlns:a16="http://schemas.microsoft.com/office/drawing/2014/main" id="{B2B31C63-4E92-1648-B426-FF7EDAFD8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0903" name="Rectangle 1031">
            <a:extLst>
              <a:ext uri="{FF2B5EF4-FFF2-40B4-BE49-F238E27FC236}">
                <a16:creationId xmlns:a16="http://schemas.microsoft.com/office/drawing/2014/main" id="{8401E343-CE1D-3C4B-9566-D409EDD2A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0904" name="Rectangle 1032">
            <a:extLst>
              <a:ext uri="{FF2B5EF4-FFF2-40B4-BE49-F238E27FC236}">
                <a16:creationId xmlns:a16="http://schemas.microsoft.com/office/drawing/2014/main" id="{1709D261-A30E-0A47-9200-0ABD4E543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0905" name="Rectangle 1033">
            <a:extLst>
              <a:ext uri="{FF2B5EF4-FFF2-40B4-BE49-F238E27FC236}">
                <a16:creationId xmlns:a16="http://schemas.microsoft.com/office/drawing/2014/main" id="{694D5375-DCE4-6B49-BCF0-FB94C782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0906" name="Rectangle 1034">
            <a:extLst>
              <a:ext uri="{FF2B5EF4-FFF2-40B4-BE49-F238E27FC236}">
                <a16:creationId xmlns:a16="http://schemas.microsoft.com/office/drawing/2014/main" id="{EA1B6C01-8806-8D43-BEF4-3D3B8740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0907" name="Rectangle 1035">
            <a:extLst>
              <a:ext uri="{FF2B5EF4-FFF2-40B4-BE49-F238E27FC236}">
                <a16:creationId xmlns:a16="http://schemas.microsoft.com/office/drawing/2014/main" id="{0DA15A96-EADC-4A4D-9B47-D99F4C9E7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0908" name="Rectangle 1036">
            <a:extLst>
              <a:ext uri="{FF2B5EF4-FFF2-40B4-BE49-F238E27FC236}">
                <a16:creationId xmlns:a16="http://schemas.microsoft.com/office/drawing/2014/main" id="{98721070-53DB-9F43-A054-EBB8D633A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0909" name="Rectangle 1037">
            <a:extLst>
              <a:ext uri="{FF2B5EF4-FFF2-40B4-BE49-F238E27FC236}">
                <a16:creationId xmlns:a16="http://schemas.microsoft.com/office/drawing/2014/main" id="{432EC948-F0ED-6F40-85D1-74FBF32E5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0910" name="Rectangle 1038">
            <a:extLst>
              <a:ext uri="{FF2B5EF4-FFF2-40B4-BE49-F238E27FC236}">
                <a16:creationId xmlns:a16="http://schemas.microsoft.com/office/drawing/2014/main" id="{D6702C6A-AFD0-C04E-B1BF-29DDE4AC2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0911" name="Rectangle 1039">
            <a:extLst>
              <a:ext uri="{FF2B5EF4-FFF2-40B4-BE49-F238E27FC236}">
                <a16:creationId xmlns:a16="http://schemas.microsoft.com/office/drawing/2014/main" id="{C6709D8F-1C88-B741-BE3D-ADC91E3A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0912" name="Rectangle 1040">
            <a:extLst>
              <a:ext uri="{FF2B5EF4-FFF2-40B4-BE49-F238E27FC236}">
                <a16:creationId xmlns:a16="http://schemas.microsoft.com/office/drawing/2014/main" id="{2F16E7BE-52D4-E64F-A305-6E9DD9928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0913" name="Rectangle 1041">
            <a:extLst>
              <a:ext uri="{FF2B5EF4-FFF2-40B4-BE49-F238E27FC236}">
                <a16:creationId xmlns:a16="http://schemas.microsoft.com/office/drawing/2014/main" id="{1FB892A2-0E19-E442-A5DC-6D3AAE836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0914" name="Line 1042">
            <a:extLst>
              <a:ext uri="{FF2B5EF4-FFF2-40B4-BE49-F238E27FC236}">
                <a16:creationId xmlns:a16="http://schemas.microsoft.com/office/drawing/2014/main" id="{7DC0B37A-45A4-F043-999D-3A4B41690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0915" name="Text Box 1043">
            <a:extLst>
              <a:ext uri="{FF2B5EF4-FFF2-40B4-BE49-F238E27FC236}">
                <a16:creationId xmlns:a16="http://schemas.microsoft.com/office/drawing/2014/main" id="{B03B5E0E-1073-A445-B2B8-0E22529CC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5756275"/>
            <a:ext cx="2728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Find approximate midpoint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8A12D2-0A11-BA44-B279-A22F18ED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BD2A2-3E1C-3F4A-B529-C3F85753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30</a:t>
            </a:fld>
            <a:endParaRPr lang="en-IL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26">
            <a:extLst>
              <a:ext uri="{FF2B5EF4-FFF2-40B4-BE49-F238E27FC236}">
                <a16:creationId xmlns:a16="http://schemas.microsoft.com/office/drawing/2014/main" id="{129B1DF0-0AC5-184C-9E11-224B20EA1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1923" name="Rectangle 1027">
            <a:extLst>
              <a:ext uri="{FF2B5EF4-FFF2-40B4-BE49-F238E27FC236}">
                <a16:creationId xmlns:a16="http://schemas.microsoft.com/office/drawing/2014/main" id="{4639594C-3113-2942-80E6-F4EDBB61F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1924" name="Rectangle 1028">
            <a:extLst>
              <a:ext uri="{FF2B5EF4-FFF2-40B4-BE49-F238E27FC236}">
                <a16:creationId xmlns:a16="http://schemas.microsoft.com/office/drawing/2014/main" id="{E90B8F78-258E-524F-B294-D19E354E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1925" name="Text Box 1029">
            <a:extLst>
              <a:ext uri="{FF2B5EF4-FFF2-40B4-BE49-F238E27FC236}">
                <a16:creationId xmlns:a16="http://schemas.microsoft.com/office/drawing/2014/main" id="{4DEA9D3D-EBE0-BC4E-A8AC-6605E402B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1926" name="Rectangle 1030">
            <a:extLst>
              <a:ext uri="{FF2B5EF4-FFF2-40B4-BE49-F238E27FC236}">
                <a16:creationId xmlns:a16="http://schemas.microsoft.com/office/drawing/2014/main" id="{18939DF3-7ECA-C744-A57C-562278CC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1927" name="Rectangle 1031">
            <a:extLst>
              <a:ext uri="{FF2B5EF4-FFF2-40B4-BE49-F238E27FC236}">
                <a16:creationId xmlns:a16="http://schemas.microsoft.com/office/drawing/2014/main" id="{534FFFD0-C2E2-2E48-B8A5-263ABA4A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1928" name="Rectangle 1032">
            <a:extLst>
              <a:ext uri="{FF2B5EF4-FFF2-40B4-BE49-F238E27FC236}">
                <a16:creationId xmlns:a16="http://schemas.microsoft.com/office/drawing/2014/main" id="{4EEA2B36-0E45-DC49-82E7-BC70DDF9B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1929" name="Rectangle 1033">
            <a:extLst>
              <a:ext uri="{FF2B5EF4-FFF2-40B4-BE49-F238E27FC236}">
                <a16:creationId xmlns:a16="http://schemas.microsoft.com/office/drawing/2014/main" id="{89CA2BC4-2A2A-404B-97FB-23F079441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1930" name="Rectangle 1034">
            <a:extLst>
              <a:ext uri="{FF2B5EF4-FFF2-40B4-BE49-F238E27FC236}">
                <a16:creationId xmlns:a16="http://schemas.microsoft.com/office/drawing/2014/main" id="{C9586792-602D-894F-AD7D-FA81FB115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1931" name="Rectangle 1035">
            <a:extLst>
              <a:ext uri="{FF2B5EF4-FFF2-40B4-BE49-F238E27FC236}">
                <a16:creationId xmlns:a16="http://schemas.microsoft.com/office/drawing/2014/main" id="{CF99247C-833F-B046-AECD-0C18C5E8E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1932" name="Rectangle 1036">
            <a:extLst>
              <a:ext uri="{FF2B5EF4-FFF2-40B4-BE49-F238E27FC236}">
                <a16:creationId xmlns:a16="http://schemas.microsoft.com/office/drawing/2014/main" id="{AED215AB-3D62-4141-8892-EB199A74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1933" name="Rectangle 1037">
            <a:extLst>
              <a:ext uri="{FF2B5EF4-FFF2-40B4-BE49-F238E27FC236}">
                <a16:creationId xmlns:a16="http://schemas.microsoft.com/office/drawing/2014/main" id="{4B0604C4-D892-D443-BB69-E00C17043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1934" name="Rectangle 1038">
            <a:extLst>
              <a:ext uri="{FF2B5EF4-FFF2-40B4-BE49-F238E27FC236}">
                <a16:creationId xmlns:a16="http://schemas.microsoft.com/office/drawing/2014/main" id="{799EBFC6-D96E-2840-AB41-0F28FFE1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1935" name="Rectangle 1039">
            <a:extLst>
              <a:ext uri="{FF2B5EF4-FFF2-40B4-BE49-F238E27FC236}">
                <a16:creationId xmlns:a16="http://schemas.microsoft.com/office/drawing/2014/main" id="{B45EBC59-2E0A-034A-8BFB-33903A77C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1936" name="Rectangle 1040">
            <a:extLst>
              <a:ext uri="{FF2B5EF4-FFF2-40B4-BE49-F238E27FC236}">
                <a16:creationId xmlns:a16="http://schemas.microsoft.com/office/drawing/2014/main" id="{81AFAB8C-25BE-8D44-BB39-AFD38009B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1937" name="Rectangle 1041">
            <a:extLst>
              <a:ext uri="{FF2B5EF4-FFF2-40B4-BE49-F238E27FC236}">
                <a16:creationId xmlns:a16="http://schemas.microsoft.com/office/drawing/2014/main" id="{597B198D-8AC2-724D-8263-496F16C24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1938" name="Line 1042">
            <a:extLst>
              <a:ext uri="{FF2B5EF4-FFF2-40B4-BE49-F238E27FC236}">
                <a16:creationId xmlns:a16="http://schemas.microsoft.com/office/drawing/2014/main" id="{C1C81512-329D-4749-86CC-C590B70B2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1939" name="Text Box 1043">
            <a:extLst>
              <a:ext uri="{FF2B5EF4-FFF2-40B4-BE49-F238E27FC236}">
                <a16:creationId xmlns:a16="http://schemas.microsoft.com/office/drawing/2014/main" id="{9D532137-636D-3049-9F89-0FE251C14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513" y="5756276"/>
            <a:ext cx="25122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Is 7 = midpoint key?  NO.</a:t>
            </a:r>
          </a:p>
          <a:p>
            <a:r>
              <a:rPr lang="en-US" altLang="en-IL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2A3B35-2FFA-6C4C-9A4B-6864DA9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C437C8-9BD0-FD43-B8DB-ADD2B64B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31</a:t>
            </a:fld>
            <a:endParaRPr lang="en-IL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>
            <a:extLst>
              <a:ext uri="{FF2B5EF4-FFF2-40B4-BE49-F238E27FC236}">
                <a16:creationId xmlns:a16="http://schemas.microsoft.com/office/drawing/2014/main" id="{221903DA-FFE7-024C-A4D3-0EB120475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2947" name="Rectangle 1027">
            <a:extLst>
              <a:ext uri="{FF2B5EF4-FFF2-40B4-BE49-F238E27FC236}">
                <a16:creationId xmlns:a16="http://schemas.microsoft.com/office/drawing/2014/main" id="{BFDF8F8C-9DFA-DA46-9BAF-580EAC241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2948" name="Rectangle 1028">
            <a:extLst>
              <a:ext uri="{FF2B5EF4-FFF2-40B4-BE49-F238E27FC236}">
                <a16:creationId xmlns:a16="http://schemas.microsoft.com/office/drawing/2014/main" id="{0CC5735E-1B71-9D4C-B65E-537637617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2949" name="Text Box 1029">
            <a:extLst>
              <a:ext uri="{FF2B5EF4-FFF2-40B4-BE49-F238E27FC236}">
                <a16:creationId xmlns:a16="http://schemas.microsoft.com/office/drawing/2014/main" id="{FEF32C32-FB25-C94E-ACB8-6AD1FFA9D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2950" name="Rectangle 1030">
            <a:extLst>
              <a:ext uri="{FF2B5EF4-FFF2-40B4-BE49-F238E27FC236}">
                <a16:creationId xmlns:a16="http://schemas.microsoft.com/office/drawing/2014/main" id="{1EC578E8-26C1-E14E-B4CF-E01C5B1E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2951" name="Rectangle 1031">
            <a:extLst>
              <a:ext uri="{FF2B5EF4-FFF2-40B4-BE49-F238E27FC236}">
                <a16:creationId xmlns:a16="http://schemas.microsoft.com/office/drawing/2014/main" id="{19210D30-8667-0A4D-A293-B78710192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2952" name="Rectangle 1032">
            <a:extLst>
              <a:ext uri="{FF2B5EF4-FFF2-40B4-BE49-F238E27FC236}">
                <a16:creationId xmlns:a16="http://schemas.microsoft.com/office/drawing/2014/main" id="{F48F88FF-709D-5D41-9189-2FB3F8AA6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2953" name="Rectangle 1033">
            <a:extLst>
              <a:ext uri="{FF2B5EF4-FFF2-40B4-BE49-F238E27FC236}">
                <a16:creationId xmlns:a16="http://schemas.microsoft.com/office/drawing/2014/main" id="{519C8146-AC14-1543-87CF-8D237ADFC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2954" name="Rectangle 1034">
            <a:extLst>
              <a:ext uri="{FF2B5EF4-FFF2-40B4-BE49-F238E27FC236}">
                <a16:creationId xmlns:a16="http://schemas.microsoft.com/office/drawing/2014/main" id="{AF1CF491-0F63-6B47-97DA-87A47559E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2955" name="Rectangle 1035">
            <a:extLst>
              <a:ext uri="{FF2B5EF4-FFF2-40B4-BE49-F238E27FC236}">
                <a16:creationId xmlns:a16="http://schemas.microsoft.com/office/drawing/2014/main" id="{FD11CF98-1EA0-9F46-81D3-15EDB82D7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2956" name="Rectangle 1036">
            <a:extLst>
              <a:ext uri="{FF2B5EF4-FFF2-40B4-BE49-F238E27FC236}">
                <a16:creationId xmlns:a16="http://schemas.microsoft.com/office/drawing/2014/main" id="{61D367CA-1136-C74C-8F91-EFE215FA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2957" name="Rectangle 1037">
            <a:extLst>
              <a:ext uri="{FF2B5EF4-FFF2-40B4-BE49-F238E27FC236}">
                <a16:creationId xmlns:a16="http://schemas.microsoft.com/office/drawing/2014/main" id="{C8D05E97-BFA8-4144-8C08-AB26FBE1F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2958" name="Rectangle 1038">
            <a:extLst>
              <a:ext uri="{FF2B5EF4-FFF2-40B4-BE49-F238E27FC236}">
                <a16:creationId xmlns:a16="http://schemas.microsoft.com/office/drawing/2014/main" id="{5FD18460-ED2F-614D-9D27-54AD52AB9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2959" name="Rectangle 1039">
            <a:extLst>
              <a:ext uri="{FF2B5EF4-FFF2-40B4-BE49-F238E27FC236}">
                <a16:creationId xmlns:a16="http://schemas.microsoft.com/office/drawing/2014/main" id="{C1FD19F8-194C-B047-A04A-EF488E92C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2960" name="Rectangle 1040">
            <a:extLst>
              <a:ext uri="{FF2B5EF4-FFF2-40B4-BE49-F238E27FC236}">
                <a16:creationId xmlns:a16="http://schemas.microsoft.com/office/drawing/2014/main" id="{9BC3EE35-EA2D-A045-A6F4-DE501C64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2961" name="Rectangle 1041">
            <a:extLst>
              <a:ext uri="{FF2B5EF4-FFF2-40B4-BE49-F238E27FC236}">
                <a16:creationId xmlns:a16="http://schemas.microsoft.com/office/drawing/2014/main" id="{8F459B6B-2862-D444-97AA-9741046E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2962" name="Line 1042">
            <a:extLst>
              <a:ext uri="{FF2B5EF4-FFF2-40B4-BE49-F238E27FC236}">
                <a16:creationId xmlns:a16="http://schemas.microsoft.com/office/drawing/2014/main" id="{072E75AA-8FAB-194A-9397-8408999F9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2963" name="Text Box 1043">
            <a:extLst>
              <a:ext uri="{FF2B5EF4-FFF2-40B4-BE49-F238E27FC236}">
                <a16:creationId xmlns:a16="http://schemas.microsoft.com/office/drawing/2014/main" id="{80D19AA7-CE20-314D-9FBB-429BF8507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5282" y="5756275"/>
            <a:ext cx="24893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/>
              <a:t>Is 7 &lt; midpoint key? YES.</a:t>
            </a:r>
          </a:p>
          <a:p>
            <a:pPr algn="ctr"/>
            <a:endParaRPr lang="en-US" altLang="en-IL"/>
          </a:p>
          <a:p>
            <a:pPr algn="ctr"/>
            <a:r>
              <a:rPr lang="en-US" altLang="en-IL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9BAC29-A636-1C46-835B-4B2818E2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016F7-9019-E74C-9C82-FBAC04F0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32</a:t>
            </a:fld>
            <a:endParaRPr lang="en-IL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26">
            <a:extLst>
              <a:ext uri="{FF2B5EF4-FFF2-40B4-BE49-F238E27FC236}">
                <a16:creationId xmlns:a16="http://schemas.microsoft.com/office/drawing/2014/main" id="{41F92AA0-B58A-2447-81D6-9B4A9F593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4995" name="Rectangle 1027">
            <a:extLst>
              <a:ext uri="{FF2B5EF4-FFF2-40B4-BE49-F238E27FC236}">
                <a16:creationId xmlns:a16="http://schemas.microsoft.com/office/drawing/2014/main" id="{16D3F88B-6E38-3745-AA63-1D0C20125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4996" name="Rectangle 1028">
            <a:extLst>
              <a:ext uri="{FF2B5EF4-FFF2-40B4-BE49-F238E27FC236}">
                <a16:creationId xmlns:a16="http://schemas.microsoft.com/office/drawing/2014/main" id="{13ABD333-FB04-AE41-93F8-E2592853B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4997" name="Text Box 1029">
            <a:extLst>
              <a:ext uri="{FF2B5EF4-FFF2-40B4-BE49-F238E27FC236}">
                <a16:creationId xmlns:a16="http://schemas.microsoft.com/office/drawing/2014/main" id="{FF1AA9F4-A0A0-3A4A-B9E8-36217DC42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4998" name="Rectangle 1030">
            <a:extLst>
              <a:ext uri="{FF2B5EF4-FFF2-40B4-BE49-F238E27FC236}">
                <a16:creationId xmlns:a16="http://schemas.microsoft.com/office/drawing/2014/main" id="{E3AD6BBA-D4ED-6147-9F43-0EB7EFE71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4999" name="Rectangle 1031">
            <a:extLst>
              <a:ext uri="{FF2B5EF4-FFF2-40B4-BE49-F238E27FC236}">
                <a16:creationId xmlns:a16="http://schemas.microsoft.com/office/drawing/2014/main" id="{FEB654AF-6D62-1C46-99B0-0157D7BA5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5000" name="Rectangle 1032">
            <a:extLst>
              <a:ext uri="{FF2B5EF4-FFF2-40B4-BE49-F238E27FC236}">
                <a16:creationId xmlns:a16="http://schemas.microsoft.com/office/drawing/2014/main" id="{A63873DE-9BE1-2B41-8094-3258FFFA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5001" name="Rectangle 1033">
            <a:extLst>
              <a:ext uri="{FF2B5EF4-FFF2-40B4-BE49-F238E27FC236}">
                <a16:creationId xmlns:a16="http://schemas.microsoft.com/office/drawing/2014/main" id="{19BA392F-21C0-B341-9892-EB7EB6508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5002" name="Rectangle 1034">
            <a:extLst>
              <a:ext uri="{FF2B5EF4-FFF2-40B4-BE49-F238E27FC236}">
                <a16:creationId xmlns:a16="http://schemas.microsoft.com/office/drawing/2014/main" id="{72B172F6-B56F-404E-B42A-5993C3073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5003" name="Rectangle 1035">
            <a:extLst>
              <a:ext uri="{FF2B5EF4-FFF2-40B4-BE49-F238E27FC236}">
                <a16:creationId xmlns:a16="http://schemas.microsoft.com/office/drawing/2014/main" id="{5F11273D-DC96-CA48-BF1F-E791B5D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5004" name="Rectangle 1036">
            <a:extLst>
              <a:ext uri="{FF2B5EF4-FFF2-40B4-BE49-F238E27FC236}">
                <a16:creationId xmlns:a16="http://schemas.microsoft.com/office/drawing/2014/main" id="{2EF488E6-FE78-014B-A23E-3477E2B6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5005" name="Rectangle 1037">
            <a:extLst>
              <a:ext uri="{FF2B5EF4-FFF2-40B4-BE49-F238E27FC236}">
                <a16:creationId xmlns:a16="http://schemas.microsoft.com/office/drawing/2014/main" id="{C1745480-DD98-8A47-B6B3-1E3A6F96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5006" name="Rectangle 1038">
            <a:extLst>
              <a:ext uri="{FF2B5EF4-FFF2-40B4-BE49-F238E27FC236}">
                <a16:creationId xmlns:a16="http://schemas.microsoft.com/office/drawing/2014/main" id="{192EC0EF-5A7B-0340-9B60-AFCF1845D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5007" name="Rectangle 1039">
            <a:extLst>
              <a:ext uri="{FF2B5EF4-FFF2-40B4-BE49-F238E27FC236}">
                <a16:creationId xmlns:a16="http://schemas.microsoft.com/office/drawing/2014/main" id="{153A2016-707A-1540-8A50-4F54DA5B5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5008" name="Rectangle 1040">
            <a:extLst>
              <a:ext uri="{FF2B5EF4-FFF2-40B4-BE49-F238E27FC236}">
                <a16:creationId xmlns:a16="http://schemas.microsoft.com/office/drawing/2014/main" id="{3A76C319-C625-CB44-BFBA-AC4611FF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5009" name="Rectangle 1041">
            <a:extLst>
              <a:ext uri="{FF2B5EF4-FFF2-40B4-BE49-F238E27FC236}">
                <a16:creationId xmlns:a16="http://schemas.microsoft.com/office/drawing/2014/main" id="{83FAB91E-E3AE-D044-B7AB-C511B28B1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5010" name="Text Box 1042">
            <a:extLst>
              <a:ext uri="{FF2B5EF4-FFF2-40B4-BE49-F238E27FC236}">
                <a16:creationId xmlns:a16="http://schemas.microsoft.com/office/drawing/2014/main" id="{698B248E-E34E-1F4F-B5D6-30DFB307F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3131" y="5257801"/>
            <a:ext cx="48057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/>
              <a:t>Search for the target in the area before midpoint.</a:t>
            </a:r>
          </a:p>
          <a:p>
            <a:pPr algn="ctr"/>
            <a:r>
              <a:rPr lang="en-US" altLang="en-IL"/>
              <a:t> </a:t>
            </a:r>
          </a:p>
        </p:txBody>
      </p:sp>
      <p:sp>
        <p:nvSpPr>
          <p:cNvPr id="85011" name="AutoShape 1043">
            <a:extLst>
              <a:ext uri="{FF2B5EF4-FFF2-40B4-BE49-F238E27FC236}">
                <a16:creationId xmlns:a16="http://schemas.microsoft.com/office/drawing/2014/main" id="{A2F28FF6-3DDA-4A43-92BD-8251FF8C21C2}"/>
              </a:ext>
            </a:extLst>
          </p:cNvPr>
          <p:cNvSpPr>
            <a:spLocks/>
          </p:cNvSpPr>
          <p:nvPr/>
        </p:nvSpPr>
        <p:spPr bwMode="auto">
          <a:xfrm rot="16200000">
            <a:off x="3619500" y="3314700"/>
            <a:ext cx="533400" cy="2743200"/>
          </a:xfrm>
          <a:prstGeom prst="leftBrace">
            <a:avLst>
              <a:gd name="adj1" fmla="val 4285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7561CE-F925-7D4A-82C3-DF5509D5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A1E35D-EFD7-A145-984C-879C2FDF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33</a:t>
            </a:fld>
            <a:endParaRPr lang="en-IL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6">
            <a:extLst>
              <a:ext uri="{FF2B5EF4-FFF2-40B4-BE49-F238E27FC236}">
                <a16:creationId xmlns:a16="http://schemas.microsoft.com/office/drawing/2014/main" id="{0A202C13-8E12-2C43-A54F-CCD682D7D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6019" name="Rectangle 1027">
            <a:extLst>
              <a:ext uri="{FF2B5EF4-FFF2-40B4-BE49-F238E27FC236}">
                <a16:creationId xmlns:a16="http://schemas.microsoft.com/office/drawing/2014/main" id="{E70D1A22-B757-F143-A2B9-5A9004547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6020" name="Rectangle 1028">
            <a:extLst>
              <a:ext uri="{FF2B5EF4-FFF2-40B4-BE49-F238E27FC236}">
                <a16:creationId xmlns:a16="http://schemas.microsoft.com/office/drawing/2014/main" id="{C93ADD64-7072-0C4F-A94C-265AE215B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6021" name="Text Box 1029">
            <a:extLst>
              <a:ext uri="{FF2B5EF4-FFF2-40B4-BE49-F238E27FC236}">
                <a16:creationId xmlns:a16="http://schemas.microsoft.com/office/drawing/2014/main" id="{A4CC7D57-0E35-8D45-A2EE-875D13B80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6022" name="Rectangle 1030">
            <a:extLst>
              <a:ext uri="{FF2B5EF4-FFF2-40B4-BE49-F238E27FC236}">
                <a16:creationId xmlns:a16="http://schemas.microsoft.com/office/drawing/2014/main" id="{9477D3C5-8991-8749-A1DF-5AF50E210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6023" name="Rectangle 1031">
            <a:extLst>
              <a:ext uri="{FF2B5EF4-FFF2-40B4-BE49-F238E27FC236}">
                <a16:creationId xmlns:a16="http://schemas.microsoft.com/office/drawing/2014/main" id="{EE98729C-95DB-9045-9F01-1F5143983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6024" name="Rectangle 1032">
            <a:extLst>
              <a:ext uri="{FF2B5EF4-FFF2-40B4-BE49-F238E27FC236}">
                <a16:creationId xmlns:a16="http://schemas.microsoft.com/office/drawing/2014/main" id="{24511726-86BD-A74D-9B85-B5AE4D2EE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6025" name="Rectangle 1033">
            <a:extLst>
              <a:ext uri="{FF2B5EF4-FFF2-40B4-BE49-F238E27FC236}">
                <a16:creationId xmlns:a16="http://schemas.microsoft.com/office/drawing/2014/main" id="{78890262-2257-A240-831F-DE889056B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6026" name="Rectangle 1034">
            <a:extLst>
              <a:ext uri="{FF2B5EF4-FFF2-40B4-BE49-F238E27FC236}">
                <a16:creationId xmlns:a16="http://schemas.microsoft.com/office/drawing/2014/main" id="{8A293EEF-8FAE-C845-8600-580DC0BB4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6027" name="Rectangle 1035">
            <a:extLst>
              <a:ext uri="{FF2B5EF4-FFF2-40B4-BE49-F238E27FC236}">
                <a16:creationId xmlns:a16="http://schemas.microsoft.com/office/drawing/2014/main" id="{D3DF05AD-5751-1043-BCEE-791D5E0B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6028" name="Rectangle 1036">
            <a:extLst>
              <a:ext uri="{FF2B5EF4-FFF2-40B4-BE49-F238E27FC236}">
                <a16:creationId xmlns:a16="http://schemas.microsoft.com/office/drawing/2014/main" id="{13A78C1C-F8F2-7445-B2A7-4D8C45FC1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6029" name="Rectangle 1037">
            <a:extLst>
              <a:ext uri="{FF2B5EF4-FFF2-40B4-BE49-F238E27FC236}">
                <a16:creationId xmlns:a16="http://schemas.microsoft.com/office/drawing/2014/main" id="{E3A54C84-1EF5-5940-B5AF-6722FD782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6030" name="Rectangle 1038">
            <a:extLst>
              <a:ext uri="{FF2B5EF4-FFF2-40B4-BE49-F238E27FC236}">
                <a16:creationId xmlns:a16="http://schemas.microsoft.com/office/drawing/2014/main" id="{E4FC76E4-3E02-184E-AAA8-74A230A3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6031" name="Rectangle 1039">
            <a:extLst>
              <a:ext uri="{FF2B5EF4-FFF2-40B4-BE49-F238E27FC236}">
                <a16:creationId xmlns:a16="http://schemas.microsoft.com/office/drawing/2014/main" id="{AE37FD2B-B602-8847-B7E2-7DD4D5DEF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6032" name="Rectangle 1040">
            <a:extLst>
              <a:ext uri="{FF2B5EF4-FFF2-40B4-BE49-F238E27FC236}">
                <a16:creationId xmlns:a16="http://schemas.microsoft.com/office/drawing/2014/main" id="{1B981ECA-1A2E-9D4D-9C47-13EEC2537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6033" name="Rectangle 1041">
            <a:extLst>
              <a:ext uri="{FF2B5EF4-FFF2-40B4-BE49-F238E27FC236}">
                <a16:creationId xmlns:a16="http://schemas.microsoft.com/office/drawing/2014/main" id="{A5972FD8-3BA3-104E-AD28-A4E8A01D2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6036" name="Line 1044">
            <a:extLst>
              <a:ext uri="{FF2B5EF4-FFF2-40B4-BE49-F238E27FC236}">
                <a16:creationId xmlns:a16="http://schemas.microsoft.com/office/drawing/2014/main" id="{915E917A-09BD-8F4A-854F-306815EB5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6037" name="Text Box 1045">
            <a:extLst>
              <a:ext uri="{FF2B5EF4-FFF2-40B4-BE49-F238E27FC236}">
                <a16:creationId xmlns:a16="http://schemas.microsoft.com/office/drawing/2014/main" id="{45B26366-6142-A145-B21C-3BC224B1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756275"/>
            <a:ext cx="2728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Find approximate midpoint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6A80E9-4319-E746-A664-78B0E71F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FFC661-0A69-8E43-B6CD-15E98380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34</a:t>
            </a:fld>
            <a:endParaRPr lang="en-I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26">
            <a:extLst>
              <a:ext uri="{FF2B5EF4-FFF2-40B4-BE49-F238E27FC236}">
                <a16:creationId xmlns:a16="http://schemas.microsoft.com/office/drawing/2014/main" id="{4D58F6BF-8601-B44E-BD5E-34ECC5B46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7043" name="Rectangle 1027">
            <a:extLst>
              <a:ext uri="{FF2B5EF4-FFF2-40B4-BE49-F238E27FC236}">
                <a16:creationId xmlns:a16="http://schemas.microsoft.com/office/drawing/2014/main" id="{76D626EA-3E75-9E48-B7FA-FCC9F132C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7044" name="Rectangle 1028">
            <a:extLst>
              <a:ext uri="{FF2B5EF4-FFF2-40B4-BE49-F238E27FC236}">
                <a16:creationId xmlns:a16="http://schemas.microsoft.com/office/drawing/2014/main" id="{AB222C75-07F6-0F41-B3C7-1A1E28995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7045" name="Text Box 1029">
            <a:extLst>
              <a:ext uri="{FF2B5EF4-FFF2-40B4-BE49-F238E27FC236}">
                <a16:creationId xmlns:a16="http://schemas.microsoft.com/office/drawing/2014/main" id="{A5C6A77D-D039-C446-8257-5C07F6782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7046" name="Rectangle 1030">
            <a:extLst>
              <a:ext uri="{FF2B5EF4-FFF2-40B4-BE49-F238E27FC236}">
                <a16:creationId xmlns:a16="http://schemas.microsoft.com/office/drawing/2014/main" id="{17F45041-A350-0B46-902C-2CE94C69F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7047" name="Rectangle 1031">
            <a:extLst>
              <a:ext uri="{FF2B5EF4-FFF2-40B4-BE49-F238E27FC236}">
                <a16:creationId xmlns:a16="http://schemas.microsoft.com/office/drawing/2014/main" id="{4E1890C6-F256-254B-BAF8-12DD047EE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7048" name="Rectangle 1032">
            <a:extLst>
              <a:ext uri="{FF2B5EF4-FFF2-40B4-BE49-F238E27FC236}">
                <a16:creationId xmlns:a16="http://schemas.microsoft.com/office/drawing/2014/main" id="{3F32D10B-3E55-8742-B38A-5FF076009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7049" name="Rectangle 1033">
            <a:extLst>
              <a:ext uri="{FF2B5EF4-FFF2-40B4-BE49-F238E27FC236}">
                <a16:creationId xmlns:a16="http://schemas.microsoft.com/office/drawing/2014/main" id="{4BEE6E7F-51F0-A447-98EF-4DE3D7F90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7050" name="Rectangle 1034">
            <a:extLst>
              <a:ext uri="{FF2B5EF4-FFF2-40B4-BE49-F238E27FC236}">
                <a16:creationId xmlns:a16="http://schemas.microsoft.com/office/drawing/2014/main" id="{4859C3D7-30AD-AD45-9FED-6EEB550BD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7051" name="Rectangle 1035">
            <a:extLst>
              <a:ext uri="{FF2B5EF4-FFF2-40B4-BE49-F238E27FC236}">
                <a16:creationId xmlns:a16="http://schemas.microsoft.com/office/drawing/2014/main" id="{B1216BD2-944C-9141-82C1-AB4BDFE15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7052" name="Rectangle 1036">
            <a:extLst>
              <a:ext uri="{FF2B5EF4-FFF2-40B4-BE49-F238E27FC236}">
                <a16:creationId xmlns:a16="http://schemas.microsoft.com/office/drawing/2014/main" id="{C4DB8709-A13E-4D43-A1F7-2B25D790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7053" name="Rectangle 1037">
            <a:extLst>
              <a:ext uri="{FF2B5EF4-FFF2-40B4-BE49-F238E27FC236}">
                <a16:creationId xmlns:a16="http://schemas.microsoft.com/office/drawing/2014/main" id="{0892273C-0104-E848-B78C-D2AA608D8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7054" name="Rectangle 1038">
            <a:extLst>
              <a:ext uri="{FF2B5EF4-FFF2-40B4-BE49-F238E27FC236}">
                <a16:creationId xmlns:a16="http://schemas.microsoft.com/office/drawing/2014/main" id="{A3226ACC-DA30-8E4B-B69E-19EC06269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7055" name="Rectangle 1039">
            <a:extLst>
              <a:ext uri="{FF2B5EF4-FFF2-40B4-BE49-F238E27FC236}">
                <a16:creationId xmlns:a16="http://schemas.microsoft.com/office/drawing/2014/main" id="{DD4203F3-7867-294B-855D-F7AA68FC2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7056" name="Rectangle 1040">
            <a:extLst>
              <a:ext uri="{FF2B5EF4-FFF2-40B4-BE49-F238E27FC236}">
                <a16:creationId xmlns:a16="http://schemas.microsoft.com/office/drawing/2014/main" id="{CD47E43C-52AE-6740-B0C2-C17B28D43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7057" name="Rectangle 1041">
            <a:extLst>
              <a:ext uri="{FF2B5EF4-FFF2-40B4-BE49-F238E27FC236}">
                <a16:creationId xmlns:a16="http://schemas.microsoft.com/office/drawing/2014/main" id="{AD1E2E10-D046-EA47-9CA1-EA3BD6FD8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7058" name="Line 1042">
            <a:extLst>
              <a:ext uri="{FF2B5EF4-FFF2-40B4-BE49-F238E27FC236}">
                <a16:creationId xmlns:a16="http://schemas.microsoft.com/office/drawing/2014/main" id="{77F92C29-B77A-DA41-890C-1C85C4DCC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7059" name="Text Box 1043">
            <a:extLst>
              <a:ext uri="{FF2B5EF4-FFF2-40B4-BE49-F238E27FC236}">
                <a16:creationId xmlns:a16="http://schemas.microsoft.com/office/drawing/2014/main" id="{281C4526-D12A-B54B-A666-C3781FB6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756275"/>
            <a:ext cx="29672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Target = key of midpoint? NO.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0F2057-C64E-804B-9F33-FC03330F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523736-2112-4244-8608-D752F404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35</a:t>
            </a:fld>
            <a:endParaRPr lang="en-IL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026">
            <a:extLst>
              <a:ext uri="{FF2B5EF4-FFF2-40B4-BE49-F238E27FC236}">
                <a16:creationId xmlns:a16="http://schemas.microsoft.com/office/drawing/2014/main" id="{4F6315A4-A19E-BD44-99FA-9715B370E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9091" name="Rectangle 1027">
            <a:extLst>
              <a:ext uri="{FF2B5EF4-FFF2-40B4-BE49-F238E27FC236}">
                <a16:creationId xmlns:a16="http://schemas.microsoft.com/office/drawing/2014/main" id="{EE273AA3-27B9-3A46-9AE8-83000D952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9092" name="Rectangle 1028">
            <a:extLst>
              <a:ext uri="{FF2B5EF4-FFF2-40B4-BE49-F238E27FC236}">
                <a16:creationId xmlns:a16="http://schemas.microsoft.com/office/drawing/2014/main" id="{D3B367A0-B593-424A-9259-D7D3387DC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9093" name="Text Box 1029">
            <a:extLst>
              <a:ext uri="{FF2B5EF4-FFF2-40B4-BE49-F238E27FC236}">
                <a16:creationId xmlns:a16="http://schemas.microsoft.com/office/drawing/2014/main" id="{7F7C0428-19BA-AD40-81C7-A4193A370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9094" name="Rectangle 1030">
            <a:extLst>
              <a:ext uri="{FF2B5EF4-FFF2-40B4-BE49-F238E27FC236}">
                <a16:creationId xmlns:a16="http://schemas.microsoft.com/office/drawing/2014/main" id="{D21D62B4-2BD2-A34B-BE74-62E873EF4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9095" name="Rectangle 1031">
            <a:extLst>
              <a:ext uri="{FF2B5EF4-FFF2-40B4-BE49-F238E27FC236}">
                <a16:creationId xmlns:a16="http://schemas.microsoft.com/office/drawing/2014/main" id="{B6AD4929-115D-F444-B275-70F3378A8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9096" name="Rectangle 1032">
            <a:extLst>
              <a:ext uri="{FF2B5EF4-FFF2-40B4-BE49-F238E27FC236}">
                <a16:creationId xmlns:a16="http://schemas.microsoft.com/office/drawing/2014/main" id="{3F3F9550-357A-2245-993D-B3586C4D0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9097" name="Rectangle 1033">
            <a:extLst>
              <a:ext uri="{FF2B5EF4-FFF2-40B4-BE49-F238E27FC236}">
                <a16:creationId xmlns:a16="http://schemas.microsoft.com/office/drawing/2014/main" id="{BED17D78-4675-2349-83C3-C36110255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9098" name="Rectangle 1034">
            <a:extLst>
              <a:ext uri="{FF2B5EF4-FFF2-40B4-BE49-F238E27FC236}">
                <a16:creationId xmlns:a16="http://schemas.microsoft.com/office/drawing/2014/main" id="{649705D5-CEBA-F54E-A6B5-64CE71CE0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9099" name="Rectangle 1035">
            <a:extLst>
              <a:ext uri="{FF2B5EF4-FFF2-40B4-BE49-F238E27FC236}">
                <a16:creationId xmlns:a16="http://schemas.microsoft.com/office/drawing/2014/main" id="{64FACDDB-2E4E-3841-A7DB-E992C0408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9100" name="Rectangle 1036">
            <a:extLst>
              <a:ext uri="{FF2B5EF4-FFF2-40B4-BE49-F238E27FC236}">
                <a16:creationId xmlns:a16="http://schemas.microsoft.com/office/drawing/2014/main" id="{1DA4F7C5-3E10-2D40-BFB2-506338FC6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9101" name="Rectangle 1037">
            <a:extLst>
              <a:ext uri="{FF2B5EF4-FFF2-40B4-BE49-F238E27FC236}">
                <a16:creationId xmlns:a16="http://schemas.microsoft.com/office/drawing/2014/main" id="{E7D1D117-EDFA-C949-A10A-E35AF4316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9102" name="Rectangle 1038">
            <a:extLst>
              <a:ext uri="{FF2B5EF4-FFF2-40B4-BE49-F238E27FC236}">
                <a16:creationId xmlns:a16="http://schemas.microsoft.com/office/drawing/2014/main" id="{732EE5C7-5F60-F444-B092-15EFBB486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9103" name="Rectangle 1039">
            <a:extLst>
              <a:ext uri="{FF2B5EF4-FFF2-40B4-BE49-F238E27FC236}">
                <a16:creationId xmlns:a16="http://schemas.microsoft.com/office/drawing/2014/main" id="{B3937A9F-51EB-BB4E-9625-09BABCEB9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9104" name="Rectangle 1040">
            <a:extLst>
              <a:ext uri="{FF2B5EF4-FFF2-40B4-BE49-F238E27FC236}">
                <a16:creationId xmlns:a16="http://schemas.microsoft.com/office/drawing/2014/main" id="{C0F437FC-A44C-A646-834A-EEB902152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9105" name="Rectangle 1041">
            <a:extLst>
              <a:ext uri="{FF2B5EF4-FFF2-40B4-BE49-F238E27FC236}">
                <a16:creationId xmlns:a16="http://schemas.microsoft.com/office/drawing/2014/main" id="{90F3E995-DFBB-4841-A33A-B5426FD3C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9106" name="Line 1042">
            <a:extLst>
              <a:ext uri="{FF2B5EF4-FFF2-40B4-BE49-F238E27FC236}">
                <a16:creationId xmlns:a16="http://schemas.microsoft.com/office/drawing/2014/main" id="{028E8846-AD7C-8B40-8093-462889F12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9107" name="Text Box 1043">
            <a:extLst>
              <a:ext uri="{FF2B5EF4-FFF2-40B4-BE49-F238E27FC236}">
                <a16:creationId xmlns:a16="http://schemas.microsoft.com/office/drawing/2014/main" id="{50D24AF2-7740-2A4D-A792-8205935BA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756275"/>
            <a:ext cx="29672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Target &lt; key of midpoint? NO.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7DBF04-957C-714C-9995-4F42FCBD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2C43B-DE52-2A43-BB85-B24B7889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36</a:t>
            </a:fld>
            <a:endParaRPr lang="en-IL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26">
            <a:extLst>
              <a:ext uri="{FF2B5EF4-FFF2-40B4-BE49-F238E27FC236}">
                <a16:creationId xmlns:a16="http://schemas.microsoft.com/office/drawing/2014/main" id="{22DBFAB8-D695-6049-8C59-E4EE39B51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88067" name="Rectangle 1027">
            <a:extLst>
              <a:ext uri="{FF2B5EF4-FFF2-40B4-BE49-F238E27FC236}">
                <a16:creationId xmlns:a16="http://schemas.microsoft.com/office/drawing/2014/main" id="{71B1A149-FE56-724B-B9A6-1B2FDCA7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88068" name="Rectangle 1028">
            <a:extLst>
              <a:ext uri="{FF2B5EF4-FFF2-40B4-BE49-F238E27FC236}">
                <a16:creationId xmlns:a16="http://schemas.microsoft.com/office/drawing/2014/main" id="{F960BFCF-B91C-4948-BC2C-A9E49790A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88069" name="Text Box 1029">
            <a:extLst>
              <a:ext uri="{FF2B5EF4-FFF2-40B4-BE49-F238E27FC236}">
                <a16:creationId xmlns:a16="http://schemas.microsoft.com/office/drawing/2014/main" id="{A292EA8D-6B4E-564C-B85B-6776E305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88070" name="Rectangle 1030">
            <a:extLst>
              <a:ext uri="{FF2B5EF4-FFF2-40B4-BE49-F238E27FC236}">
                <a16:creationId xmlns:a16="http://schemas.microsoft.com/office/drawing/2014/main" id="{9C84BC61-F137-4B41-B208-E86A4753C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88071" name="Rectangle 1031">
            <a:extLst>
              <a:ext uri="{FF2B5EF4-FFF2-40B4-BE49-F238E27FC236}">
                <a16:creationId xmlns:a16="http://schemas.microsoft.com/office/drawing/2014/main" id="{90056284-8E9F-B242-ACBB-E9AB79831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88072" name="Rectangle 1032">
            <a:extLst>
              <a:ext uri="{FF2B5EF4-FFF2-40B4-BE49-F238E27FC236}">
                <a16:creationId xmlns:a16="http://schemas.microsoft.com/office/drawing/2014/main" id="{4C05FCA5-7B55-144F-A0B8-50938FE3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88073" name="Rectangle 1033">
            <a:extLst>
              <a:ext uri="{FF2B5EF4-FFF2-40B4-BE49-F238E27FC236}">
                <a16:creationId xmlns:a16="http://schemas.microsoft.com/office/drawing/2014/main" id="{8B039B5F-389C-5D4E-85E8-E2DEC32BB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88074" name="Rectangle 1034">
            <a:extLst>
              <a:ext uri="{FF2B5EF4-FFF2-40B4-BE49-F238E27FC236}">
                <a16:creationId xmlns:a16="http://schemas.microsoft.com/office/drawing/2014/main" id="{E1B91E8D-B2B4-8E4C-B4CA-CDA64405D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88075" name="Rectangle 1035">
            <a:extLst>
              <a:ext uri="{FF2B5EF4-FFF2-40B4-BE49-F238E27FC236}">
                <a16:creationId xmlns:a16="http://schemas.microsoft.com/office/drawing/2014/main" id="{24EAF288-59C2-FE4D-A739-8520E9DAE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88076" name="Rectangle 1036">
            <a:extLst>
              <a:ext uri="{FF2B5EF4-FFF2-40B4-BE49-F238E27FC236}">
                <a16:creationId xmlns:a16="http://schemas.microsoft.com/office/drawing/2014/main" id="{427D7292-BCD9-CF46-987A-FCB443A5F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88077" name="Rectangle 1037">
            <a:extLst>
              <a:ext uri="{FF2B5EF4-FFF2-40B4-BE49-F238E27FC236}">
                <a16:creationId xmlns:a16="http://schemas.microsoft.com/office/drawing/2014/main" id="{39B21C9A-F069-DD4A-8112-3F5787A3A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88078" name="Rectangle 1038">
            <a:extLst>
              <a:ext uri="{FF2B5EF4-FFF2-40B4-BE49-F238E27FC236}">
                <a16:creationId xmlns:a16="http://schemas.microsoft.com/office/drawing/2014/main" id="{7480F9E8-6D15-7048-A5A0-0318D48F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88079" name="Rectangle 1039">
            <a:extLst>
              <a:ext uri="{FF2B5EF4-FFF2-40B4-BE49-F238E27FC236}">
                <a16:creationId xmlns:a16="http://schemas.microsoft.com/office/drawing/2014/main" id="{2DF90603-2D73-1944-AB97-DE1FFA71B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88080" name="Rectangle 1040">
            <a:extLst>
              <a:ext uri="{FF2B5EF4-FFF2-40B4-BE49-F238E27FC236}">
                <a16:creationId xmlns:a16="http://schemas.microsoft.com/office/drawing/2014/main" id="{4B43D94A-3F32-3E48-942F-2C45DB068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88081" name="Rectangle 1041">
            <a:extLst>
              <a:ext uri="{FF2B5EF4-FFF2-40B4-BE49-F238E27FC236}">
                <a16:creationId xmlns:a16="http://schemas.microsoft.com/office/drawing/2014/main" id="{C5FBA20D-D138-E94F-AA4C-6183C04E6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88082" name="Line 1042">
            <a:extLst>
              <a:ext uri="{FF2B5EF4-FFF2-40B4-BE49-F238E27FC236}">
                <a16:creationId xmlns:a16="http://schemas.microsoft.com/office/drawing/2014/main" id="{D7710920-05AC-7B4F-BF25-D75B26CA4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88083" name="Text Box 1043">
            <a:extLst>
              <a:ext uri="{FF2B5EF4-FFF2-40B4-BE49-F238E27FC236}">
                <a16:creationId xmlns:a16="http://schemas.microsoft.com/office/drawing/2014/main" id="{46821D0C-D060-794C-89BB-F063AE06C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5756275"/>
            <a:ext cx="29972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Target &gt; key of midpoint? YES.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9C79C4-837D-A949-8E26-B0197681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3E52C-357F-C143-B74F-B5BD4D12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37</a:t>
            </a:fld>
            <a:endParaRPr lang="en-IL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26">
            <a:extLst>
              <a:ext uri="{FF2B5EF4-FFF2-40B4-BE49-F238E27FC236}">
                <a16:creationId xmlns:a16="http://schemas.microsoft.com/office/drawing/2014/main" id="{FEC6A4AA-4E59-064B-AD9D-7FEA254B5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90115" name="Rectangle 1027">
            <a:extLst>
              <a:ext uri="{FF2B5EF4-FFF2-40B4-BE49-F238E27FC236}">
                <a16:creationId xmlns:a16="http://schemas.microsoft.com/office/drawing/2014/main" id="{BC853B78-809D-2949-BCCF-192157E1D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90116" name="Rectangle 1028">
            <a:extLst>
              <a:ext uri="{FF2B5EF4-FFF2-40B4-BE49-F238E27FC236}">
                <a16:creationId xmlns:a16="http://schemas.microsoft.com/office/drawing/2014/main" id="{7434B9E1-7B56-694D-9937-CBF353669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90117" name="Text Box 1029">
            <a:extLst>
              <a:ext uri="{FF2B5EF4-FFF2-40B4-BE49-F238E27FC236}">
                <a16:creationId xmlns:a16="http://schemas.microsoft.com/office/drawing/2014/main" id="{7FBD2556-933A-B34C-A9A0-3A15183A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90118" name="Rectangle 1030">
            <a:extLst>
              <a:ext uri="{FF2B5EF4-FFF2-40B4-BE49-F238E27FC236}">
                <a16:creationId xmlns:a16="http://schemas.microsoft.com/office/drawing/2014/main" id="{2F533CF9-F6A5-8F46-B00D-CFDE2949A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90119" name="Rectangle 1031">
            <a:extLst>
              <a:ext uri="{FF2B5EF4-FFF2-40B4-BE49-F238E27FC236}">
                <a16:creationId xmlns:a16="http://schemas.microsoft.com/office/drawing/2014/main" id="{D4FCA7EE-A4BD-164F-9151-0C46B1F4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90120" name="Rectangle 1032">
            <a:extLst>
              <a:ext uri="{FF2B5EF4-FFF2-40B4-BE49-F238E27FC236}">
                <a16:creationId xmlns:a16="http://schemas.microsoft.com/office/drawing/2014/main" id="{2C0A30A4-D155-794B-A287-D9A311DB4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90121" name="Rectangle 1033">
            <a:extLst>
              <a:ext uri="{FF2B5EF4-FFF2-40B4-BE49-F238E27FC236}">
                <a16:creationId xmlns:a16="http://schemas.microsoft.com/office/drawing/2014/main" id="{14248AB8-406B-094E-BC37-33F57146E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90122" name="Rectangle 1034">
            <a:extLst>
              <a:ext uri="{FF2B5EF4-FFF2-40B4-BE49-F238E27FC236}">
                <a16:creationId xmlns:a16="http://schemas.microsoft.com/office/drawing/2014/main" id="{E53D3DD9-20BA-F249-89C9-68B25EA92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90123" name="Rectangle 1035">
            <a:extLst>
              <a:ext uri="{FF2B5EF4-FFF2-40B4-BE49-F238E27FC236}">
                <a16:creationId xmlns:a16="http://schemas.microsoft.com/office/drawing/2014/main" id="{551B06B2-9EF9-3545-B0F8-DCBBD840E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90124" name="Rectangle 1036">
            <a:extLst>
              <a:ext uri="{FF2B5EF4-FFF2-40B4-BE49-F238E27FC236}">
                <a16:creationId xmlns:a16="http://schemas.microsoft.com/office/drawing/2014/main" id="{60E1A7E3-CA5A-1645-9264-70EB70FD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90125" name="Rectangle 1037">
            <a:extLst>
              <a:ext uri="{FF2B5EF4-FFF2-40B4-BE49-F238E27FC236}">
                <a16:creationId xmlns:a16="http://schemas.microsoft.com/office/drawing/2014/main" id="{823EF91D-AB26-0746-8BB4-FD1D58C1C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90126" name="Rectangle 1038">
            <a:extLst>
              <a:ext uri="{FF2B5EF4-FFF2-40B4-BE49-F238E27FC236}">
                <a16:creationId xmlns:a16="http://schemas.microsoft.com/office/drawing/2014/main" id="{0288299E-9D9B-9049-AF3D-41D8CAA47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90127" name="Rectangle 1039">
            <a:extLst>
              <a:ext uri="{FF2B5EF4-FFF2-40B4-BE49-F238E27FC236}">
                <a16:creationId xmlns:a16="http://schemas.microsoft.com/office/drawing/2014/main" id="{3CB3A265-3E4A-7E43-A31F-A11B29BB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90128" name="Rectangle 1040">
            <a:extLst>
              <a:ext uri="{FF2B5EF4-FFF2-40B4-BE49-F238E27FC236}">
                <a16:creationId xmlns:a16="http://schemas.microsoft.com/office/drawing/2014/main" id="{382116DE-6362-6648-B211-A0CAC774B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90129" name="Rectangle 1041">
            <a:extLst>
              <a:ext uri="{FF2B5EF4-FFF2-40B4-BE49-F238E27FC236}">
                <a16:creationId xmlns:a16="http://schemas.microsoft.com/office/drawing/2014/main" id="{E56A9456-ACC2-0940-A441-4B06839F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90132" name="Text Box 1044">
            <a:extLst>
              <a:ext uri="{FF2B5EF4-FFF2-40B4-BE49-F238E27FC236}">
                <a16:creationId xmlns:a16="http://schemas.microsoft.com/office/drawing/2014/main" id="{85BCEA39-C3F0-9A43-91CA-07005009A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640" y="5257801"/>
            <a:ext cx="46403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IL"/>
              <a:t>Search for the target in the area after midpoint.</a:t>
            </a:r>
          </a:p>
          <a:p>
            <a:pPr algn="ctr"/>
            <a:r>
              <a:rPr lang="en-US" altLang="en-IL"/>
              <a:t> </a:t>
            </a:r>
          </a:p>
        </p:txBody>
      </p:sp>
      <p:sp>
        <p:nvSpPr>
          <p:cNvPr id="90133" name="AutoShape 1045">
            <a:extLst>
              <a:ext uri="{FF2B5EF4-FFF2-40B4-BE49-F238E27FC236}">
                <a16:creationId xmlns:a16="http://schemas.microsoft.com/office/drawing/2014/main" id="{DC35B15B-6E1A-E943-BEEB-4A80D5297949}"/>
              </a:ext>
            </a:extLst>
          </p:cNvPr>
          <p:cNvSpPr>
            <a:spLocks/>
          </p:cNvSpPr>
          <p:nvPr/>
        </p:nvSpPr>
        <p:spPr bwMode="auto">
          <a:xfrm rot="16200000">
            <a:off x="4533900" y="4229100"/>
            <a:ext cx="533400" cy="914400"/>
          </a:xfrm>
          <a:prstGeom prst="leftBrace">
            <a:avLst>
              <a:gd name="adj1" fmla="val 1428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748126-01F6-AE41-86B0-AB417FDB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B59F0A-8F1E-8C4A-9ED2-4A68A803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38</a:t>
            </a:fld>
            <a:endParaRPr lang="en-IL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26">
            <a:extLst>
              <a:ext uri="{FF2B5EF4-FFF2-40B4-BE49-F238E27FC236}">
                <a16:creationId xmlns:a16="http://schemas.microsoft.com/office/drawing/2014/main" id="{F14728BB-D2BE-F24C-9B42-D28A644F9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b="1" dirty="0">
                <a:latin typeface="+mn-lt"/>
                <a:ea typeface="+mn-ea"/>
                <a:cs typeface="+mn-cs"/>
              </a:rPr>
              <a:t>Binary Search</a:t>
            </a:r>
          </a:p>
        </p:txBody>
      </p:sp>
      <p:sp>
        <p:nvSpPr>
          <p:cNvPr id="91139" name="Rectangle 1027">
            <a:extLst>
              <a:ext uri="{FF2B5EF4-FFF2-40B4-BE49-F238E27FC236}">
                <a16:creationId xmlns:a16="http://schemas.microsoft.com/office/drawing/2014/main" id="{43C7DDD3-12E5-C240-9C51-B862D7A6A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[ 0 ]</a:t>
            </a:r>
          </a:p>
        </p:txBody>
      </p:sp>
      <p:sp>
        <p:nvSpPr>
          <p:cNvPr id="91140" name="Rectangle 1028">
            <a:extLst>
              <a:ext uri="{FF2B5EF4-FFF2-40B4-BE49-F238E27FC236}">
                <a16:creationId xmlns:a16="http://schemas.microsoft.com/office/drawing/2014/main" id="{CB06CA1A-0F7F-3448-AB38-AC467E7C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00" y="2976564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[ 1 ]</a:t>
            </a:r>
          </a:p>
        </p:txBody>
      </p:sp>
      <p:sp>
        <p:nvSpPr>
          <p:cNvPr id="91141" name="Text Box 1029">
            <a:extLst>
              <a:ext uri="{FF2B5EF4-FFF2-40B4-BE49-F238E27FC236}">
                <a16:creationId xmlns:a16="http://schemas.microsoft.com/office/drawing/2014/main" id="{AE16FE09-FDFC-2545-B9C6-23678E159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18185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 sz="2800"/>
              <a:t>Example: sorted array of integer keys.  Target=7.</a:t>
            </a:r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  <a:p>
            <a:endParaRPr lang="en-US" altLang="en-IL" sz="2800"/>
          </a:p>
        </p:txBody>
      </p:sp>
      <p:sp>
        <p:nvSpPr>
          <p:cNvPr id="91142" name="Rectangle 1030">
            <a:extLst>
              <a:ext uri="{FF2B5EF4-FFF2-40B4-BE49-F238E27FC236}">
                <a16:creationId xmlns:a16="http://schemas.microsoft.com/office/drawing/2014/main" id="{2B21E2B0-4A01-CD4D-9F22-F780A5C29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</a:t>
            </a:r>
          </a:p>
        </p:txBody>
      </p:sp>
      <p:sp>
        <p:nvSpPr>
          <p:cNvPr id="91143" name="Rectangle 1031">
            <a:extLst>
              <a:ext uri="{FF2B5EF4-FFF2-40B4-BE49-F238E27FC236}">
                <a16:creationId xmlns:a16="http://schemas.microsoft.com/office/drawing/2014/main" id="{EA1B58A7-CB75-EF4E-AA89-BDCC24440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6</a:t>
            </a:r>
          </a:p>
        </p:txBody>
      </p:sp>
      <p:sp>
        <p:nvSpPr>
          <p:cNvPr id="91144" name="Rectangle 1032">
            <a:extLst>
              <a:ext uri="{FF2B5EF4-FFF2-40B4-BE49-F238E27FC236}">
                <a16:creationId xmlns:a16="http://schemas.microsoft.com/office/drawing/2014/main" id="{726AFCD9-3110-C04A-BCD3-7A3E53B1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429000"/>
            <a:ext cx="914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7</a:t>
            </a:r>
          </a:p>
        </p:txBody>
      </p:sp>
      <p:sp>
        <p:nvSpPr>
          <p:cNvPr id="91145" name="Rectangle 1033">
            <a:extLst>
              <a:ext uri="{FF2B5EF4-FFF2-40B4-BE49-F238E27FC236}">
                <a16:creationId xmlns:a16="http://schemas.microsoft.com/office/drawing/2014/main" id="{31F2A844-CDA1-7C46-BABF-504E7DC77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11</a:t>
            </a:r>
          </a:p>
        </p:txBody>
      </p:sp>
      <p:sp>
        <p:nvSpPr>
          <p:cNvPr id="91146" name="Rectangle 1034">
            <a:extLst>
              <a:ext uri="{FF2B5EF4-FFF2-40B4-BE49-F238E27FC236}">
                <a16:creationId xmlns:a16="http://schemas.microsoft.com/office/drawing/2014/main" id="{CF30E649-927F-AA4C-B7AF-A85A4ECC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32</a:t>
            </a:r>
          </a:p>
        </p:txBody>
      </p:sp>
      <p:sp>
        <p:nvSpPr>
          <p:cNvPr id="91147" name="Rectangle 1035">
            <a:extLst>
              <a:ext uri="{FF2B5EF4-FFF2-40B4-BE49-F238E27FC236}">
                <a16:creationId xmlns:a16="http://schemas.microsoft.com/office/drawing/2014/main" id="{FD457180-A742-8540-A5B7-5686BB77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33</a:t>
            </a:r>
          </a:p>
        </p:txBody>
      </p:sp>
      <p:sp>
        <p:nvSpPr>
          <p:cNvPr id="91148" name="Rectangle 1036">
            <a:extLst>
              <a:ext uri="{FF2B5EF4-FFF2-40B4-BE49-F238E27FC236}">
                <a16:creationId xmlns:a16="http://schemas.microsoft.com/office/drawing/2014/main" id="{2BC17E28-2B33-5D48-A767-A52E52662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914400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IL"/>
              <a:t>53</a:t>
            </a:r>
          </a:p>
        </p:txBody>
      </p:sp>
      <p:sp>
        <p:nvSpPr>
          <p:cNvPr id="91149" name="Rectangle 1037">
            <a:extLst>
              <a:ext uri="{FF2B5EF4-FFF2-40B4-BE49-F238E27FC236}">
                <a16:creationId xmlns:a16="http://schemas.microsoft.com/office/drawing/2014/main" id="{BA5C9C2A-7154-1D44-B370-F1A13FE5F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[ 2 ]</a:t>
            </a:r>
          </a:p>
        </p:txBody>
      </p:sp>
      <p:sp>
        <p:nvSpPr>
          <p:cNvPr id="91150" name="Rectangle 1038">
            <a:extLst>
              <a:ext uri="{FF2B5EF4-FFF2-40B4-BE49-F238E27FC236}">
                <a16:creationId xmlns:a16="http://schemas.microsoft.com/office/drawing/2014/main" id="{0B2E6F80-941B-6A4B-BF5C-55B50A97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1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[ 3 ]</a:t>
            </a:r>
          </a:p>
        </p:txBody>
      </p:sp>
      <p:sp>
        <p:nvSpPr>
          <p:cNvPr id="91151" name="Rectangle 1039">
            <a:extLst>
              <a:ext uri="{FF2B5EF4-FFF2-40B4-BE49-F238E27FC236}">
                <a16:creationId xmlns:a16="http://schemas.microsoft.com/office/drawing/2014/main" id="{EE9FC3A1-EF5A-134B-A070-ABF59EA1F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[ 4 ]</a:t>
            </a:r>
          </a:p>
        </p:txBody>
      </p:sp>
      <p:sp>
        <p:nvSpPr>
          <p:cNvPr id="91152" name="Rectangle 1040">
            <a:extLst>
              <a:ext uri="{FF2B5EF4-FFF2-40B4-BE49-F238E27FC236}">
                <a16:creationId xmlns:a16="http://schemas.microsoft.com/office/drawing/2014/main" id="{A3EC842E-E190-EA4D-8EFB-AE1168F8E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95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IL" b="1">
                <a:latin typeface="Arial" panose="020B0604020202020204" pitchFamily="34" charset="0"/>
              </a:rPr>
              <a:t>[ 5 ]</a:t>
            </a:r>
          </a:p>
        </p:txBody>
      </p:sp>
      <p:sp>
        <p:nvSpPr>
          <p:cNvPr id="91153" name="Rectangle 1041">
            <a:extLst>
              <a:ext uri="{FF2B5EF4-FFF2-40B4-BE49-F238E27FC236}">
                <a16:creationId xmlns:a16="http://schemas.microsoft.com/office/drawing/2014/main" id="{E9179005-2D56-FB4B-9EAA-C36A32F46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971801"/>
            <a:ext cx="59311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IL" b="1">
                <a:latin typeface="Arial" panose="020B0604020202020204" pitchFamily="34" charset="0"/>
              </a:rPr>
              <a:t>[ 6 ]</a:t>
            </a:r>
          </a:p>
        </p:txBody>
      </p:sp>
      <p:sp>
        <p:nvSpPr>
          <p:cNvPr id="91156" name="Line 1044">
            <a:extLst>
              <a:ext uri="{FF2B5EF4-FFF2-40B4-BE49-F238E27FC236}">
                <a16:creationId xmlns:a16="http://schemas.microsoft.com/office/drawing/2014/main" id="{3388D6EC-810C-4446-ABEC-2B7AE0B94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1075" y="44958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91157" name="Text Box 1045">
            <a:extLst>
              <a:ext uri="{FF2B5EF4-FFF2-40B4-BE49-F238E27FC236}">
                <a16:creationId xmlns:a16="http://schemas.microsoft.com/office/drawing/2014/main" id="{0FAF347B-EDFC-F34A-ABFA-AA78F5F05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675" y="5756276"/>
            <a:ext cx="29851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IL"/>
              <a:t>Find approximate midpoint.</a:t>
            </a:r>
          </a:p>
          <a:p>
            <a:r>
              <a:rPr lang="en-US" altLang="en-IL"/>
              <a:t>Is target = midpoint key?  YES.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D82855-5E54-904F-954C-9ED07F76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AC7E4-1C1D-594A-9832-E4CAB6E8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39</a:t>
            </a:fld>
            <a:endParaRPr lang="en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1847</Words>
  <Application>Microsoft Macintosh PowerPoint</Application>
  <PresentationFormat>מסך רחב</PresentationFormat>
  <Paragraphs>502</Paragraphs>
  <Slides>39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39</vt:i4>
      </vt:variant>
    </vt:vector>
  </HeadingPairs>
  <TitlesOfParts>
    <vt:vector size="45" baseType="lpstr">
      <vt:lpstr>Aptos</vt:lpstr>
      <vt:lpstr>Arial</vt:lpstr>
      <vt:lpstr>Calibri</vt:lpstr>
      <vt:lpstr>Cambria Math</vt:lpstr>
      <vt:lpstr>Times New Roman</vt:lpstr>
      <vt:lpstr>Office Theme</vt:lpstr>
      <vt:lpstr>Week 3: Distributed Systems + Parallelism</vt:lpstr>
      <vt:lpstr>Learning objectives</vt:lpstr>
      <vt:lpstr>Flow for today</vt:lpstr>
      <vt:lpstr>Key terms: SLA</vt:lpstr>
      <vt:lpstr>Key terms: Why we care about response-time distribution</vt:lpstr>
      <vt:lpstr>Key terms: Latency percentiles (p50, p95, p99)</vt:lpstr>
      <vt:lpstr>Why Distributed Data &amp; Parallelism Matter</vt:lpstr>
      <vt:lpstr>Think like a system designer, not a programmer</vt:lpstr>
      <vt:lpstr>Operational objective: KPIs</vt:lpstr>
      <vt:lpstr>Two sides of the same coin</vt:lpstr>
      <vt:lpstr>The Scaling Problem (Business View)</vt:lpstr>
      <vt:lpstr>Scaling: stages and symptoms</vt:lpstr>
      <vt:lpstr>Why this breaks (operations terms)</vt:lpstr>
      <vt:lpstr>Distributed Databases</vt:lpstr>
      <vt:lpstr>Partitioning: split data across nodes</vt:lpstr>
      <vt:lpstr>Replication: copy data for availability and read scale</vt:lpstr>
      <vt:lpstr>SQL vs NoSQL trade-offs </vt:lpstr>
      <vt:lpstr>ACID / BASE / CAP (intuition only)</vt:lpstr>
      <vt:lpstr>Parallelism &amp; Work Distribution</vt:lpstr>
      <vt:lpstr>Parallelism vs concurrency using operations logic</vt:lpstr>
      <vt:lpstr>מצגת של PowerPoint‏</vt:lpstr>
      <vt:lpstr>Parallel Computation</vt:lpstr>
      <vt:lpstr>Parallel Computation</vt:lpstr>
      <vt:lpstr>Divide-Conquer-Combine as the central model</vt:lpstr>
      <vt:lpstr>Example: Merge Sort</vt:lpstr>
      <vt:lpstr>Example: Merge Sort</vt:lpstr>
      <vt:lpstr>Example: Merge Sort</vt:lpstr>
      <vt:lpstr>Example: Binary Search</vt:lpstr>
      <vt:lpstr>Example: 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18</Words>
  <Application>Microsoft Macintosh PowerPoint</Application>
  <PresentationFormat>מסך רחב</PresentationFormat>
  <Paragraphs>12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Or Perets</cp:lastModifiedBy>
  <cp:revision>6</cp:revision>
  <dcterms:created xsi:type="dcterms:W3CDTF">2026-02-10T06:41:26Z</dcterms:created>
  <dcterms:modified xsi:type="dcterms:W3CDTF">2026-02-10T07:27:34Z</dcterms:modified>
</cp:coreProperties>
</file>