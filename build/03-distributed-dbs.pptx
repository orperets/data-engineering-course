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9" r:id="rId3"/>
    <p:sldId id="260" r:id="rId4"/>
    <p:sldId id="261" r:id="rId5"/>
    <p:sldId id="262" r:id="rId6"/>
    <p:sldId id="265" r:id="rId7"/>
    <p:sldId id="267" r:id="rId8"/>
    <p:sldId id="268" r:id="rId9"/>
    <p:sldId id="270" r:id="rId10"/>
    <p:sldId id="273" r:id="rId11"/>
    <p:sldId id="274" r:id="rId12"/>
    <p:sldId id="280" r:id="rId13"/>
    <p:sldId id="288" r:id="rId14"/>
    <p:sldId id="296" r:id="rId15"/>
    <p:sldId id="392" r:id="rId16"/>
    <p:sldId id="388" r:id="rId17"/>
    <p:sldId id="393" r:id="rId18"/>
    <p:sldId id="394" r:id="rId19"/>
    <p:sldId id="303" r:id="rId20"/>
    <p:sldId id="305" r:id="rId21"/>
    <p:sldId id="310" r:id="rId22"/>
    <p:sldId id="311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סגנון ביניים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73A0DAA-6AF3-43AB-8588-CEC1D06C72B9}" styleName="סגנון ביניים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90"/>
    <p:restoredTop sz="94778"/>
  </p:normalViewPr>
  <p:slideViewPr>
    <p:cSldViewPr snapToGrid="0" snapToObjects="1">
      <p:cViewPr varScale="1">
        <p:scale>
          <a:sx n="103" d="100"/>
          <a:sy n="103" d="100"/>
        </p:scale>
        <p:origin x="960" y="101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81E4B16A-5B0A-7D43-BCDF-F7F4A987D2AC}" type="datetimeFigureOut">
              <a:rPr lang="he-IL" smtClean="0"/>
              <a:t>כ"ט.ניסן.תשפ"ו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EC970791-496D-9841-BAC8-8766301B5B0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27749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15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23112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16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6425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17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925299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22C8B-C1E8-6858-EA27-1DF67E11A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4AA8E6-4EAB-1C3D-A1D5-D826E88A10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7B1F93-909E-836E-2F63-C078A14F1E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CBD2F-59FD-DFCB-2A2A-ADF58BC75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18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727186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16 אפריל,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16 אפריל,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16 אפריל,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6840" y="1600201"/>
            <a:ext cx="660142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17894" y="2569580"/>
            <a:ext cx="5864506" cy="35565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16 אפריל,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16 אפריל,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16 אפריל,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1D8F28D-D1D2-34A5-D88A-549DD7AD70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10635632" cy="4525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16 אפריל,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F1439EE-8346-69C4-2D2A-C45C952E131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10635632" cy="4525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16 אפריל,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3E56AFE-36F7-8DA5-652B-89A25DA319A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957403" y="1417638"/>
            <a:ext cx="7624997" cy="4357028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965200" y="1417638"/>
            <a:ext cx="2844801" cy="4357028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16 אפריל,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16 אפריל,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16 אפריל,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257D3F8-87F0-4DF5-8F98-66DFD99EE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508760"/>
            <a:ext cx="10744200" cy="4668203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L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CDE1D59-793A-43B8-B383-259A90AD52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9A1A5FF7-E3C8-AE4C-A7F5-5AED5B85172D}" type="datetime8">
              <a:rPr lang="en-US" smtClean="0"/>
              <a:t>4/16/26 4:25 PM</a:t>
            </a:fld>
            <a:endParaRPr lang="en-IL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AA69F713-2159-4167-B614-5042E8DE4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F40A595-FC21-4942-AC1C-EC8D0EE8F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1800"/>
            </a:lvl1pPr>
          </a:lstStyle>
          <a:p>
            <a:fld id="{C9D69B18-316A-457F-86C2-CFE4F951EE27}" type="slidenum">
              <a:rPr lang="en-IL" smtClean="0"/>
              <a:pPr/>
              <a:t>‹#›</a:t>
            </a:fld>
            <a:endParaRPr lang="en-I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F56461-6E27-2993-49E2-66DB9A927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55980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0972800"/>
                      <a:gd name="csY0" fmla="*/ 0 h 1143000"/>
                      <a:gd name="csX1" fmla="*/ 10972800 w 10972800"/>
                      <a:gd name="csY1" fmla="*/ 0 h 1143000"/>
                      <a:gd name="csX2" fmla="*/ 10972800 w 10972800"/>
                      <a:gd name="csY2" fmla="*/ 1143000 h 1143000"/>
                      <a:gd name="csX3" fmla="*/ 0 w 10972800"/>
                      <a:gd name="csY3" fmla="*/ 1143000 h 1143000"/>
                      <a:gd name="csX4" fmla="*/ 0 w 10972800"/>
                      <a:gd name="csY4" fmla="*/ 0 h 11430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0972800" h="1143000" fill="none" extrusionOk="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w="10972800" h="1143000" stroke="0" extrusionOk="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768" y="1600201"/>
            <a:ext cx="1063563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16 אפריל,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 cap="sq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720016" y="-1088358"/>
            <a:ext cx="7329616" cy="7329616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14350" cap="sq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Distributed Systems + Parallelism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Flow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The scaling problem: data and work outgrow one machine</a:t>
            </a:r>
          </a:p>
          <a:p>
            <a:pPr lvl="0"/>
            <a:r>
              <a:t>Distributed data: partitioning, replication, and consistency trade-offs</a:t>
            </a:r>
          </a:p>
          <a:p>
            <a:pPr lvl="0"/>
            <a:r>
              <a:t>Distributed work: parallelism, divide-and-conquer, and bottlenecks</a:t>
            </a:r>
          </a:p>
          <a:p>
            <a:pPr lvl="0"/>
            <a:r>
              <a:t>Failure modes and decision checklist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Key terms: SLA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6016740" cy="4525963"/>
          </a:xfrm>
        </p:spPr>
        <p:txBody>
          <a:bodyPr>
            <a:normAutofit fontScale="92500" lnSpcReduction="10000"/>
          </a:bodyPr>
          <a:lstStyle/>
          <a:p>
            <a:pPr marL="0" lvl="0" indent="0">
              <a:lnSpc>
                <a:spcPct val="200000"/>
              </a:lnSpc>
              <a:buNone/>
            </a:pPr>
            <a:r>
              <a:rPr b="1" dirty="0"/>
              <a:t>SLA (Service Level Agreement)</a:t>
            </a:r>
            <a:br>
              <a:rPr lang="en-US" b="1" dirty="0"/>
            </a:br>
            <a:r>
              <a:rPr dirty="0"/>
              <a:t>A commitment between </a:t>
            </a:r>
            <a:br>
              <a:rPr lang="en-US" dirty="0"/>
            </a:br>
            <a:r>
              <a:rPr dirty="0"/>
              <a:t>provider and customer </a:t>
            </a:r>
            <a:br>
              <a:rPr lang="en-US" dirty="0"/>
            </a:br>
            <a:r>
              <a:rPr dirty="0"/>
              <a:t>(e.g. “99.9% uptime” or “p95 response time &lt; 200 </a:t>
            </a:r>
            <a:r>
              <a:rPr dirty="0" err="1"/>
              <a:t>ms</a:t>
            </a:r>
            <a:r>
              <a:rPr dirty="0"/>
              <a:t>”). </a:t>
            </a:r>
            <a:br>
              <a:rPr lang="en-US" dirty="0"/>
            </a:b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pic>
        <p:nvPicPr>
          <p:cNvPr id="4" name="תמונה 3" descr="SLA | Full Form, Components and Types - GeeksforGeeks">
            <a:extLst>
              <a:ext uri="{FF2B5EF4-FFF2-40B4-BE49-F238E27FC236}">
                <a16:creationId xmlns:a16="http://schemas.microsoft.com/office/drawing/2014/main" id="{CDD747A7-D1AF-569F-F24F-13F00D7C30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817"/>
          <a:stretch>
            <a:fillRect/>
          </a:stretch>
        </p:blipFill>
        <p:spPr>
          <a:xfrm>
            <a:off x="6831622" y="1920082"/>
            <a:ext cx="4522177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Key terms: Why we care about response-time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marL="0" lvl="0" indent="0">
              <a:lnSpc>
                <a:spcPct val="200000"/>
              </a:lnSpc>
              <a:buNone/>
            </a:pPr>
            <a:r>
              <a:rPr dirty="0"/>
              <a:t>When we measure </a:t>
            </a:r>
            <a:r>
              <a:rPr b="1" dirty="0"/>
              <a:t>response time</a:t>
            </a:r>
            <a:r>
              <a:rPr dirty="0"/>
              <a:t> </a:t>
            </a:r>
            <a:br>
              <a:rPr lang="en-US" dirty="0"/>
            </a:br>
            <a:r>
              <a:rPr dirty="0"/>
              <a:t>(e.g. how long a query or request takes), </a:t>
            </a:r>
            <a:br>
              <a:rPr lang="en-US" dirty="0"/>
            </a:br>
            <a:r>
              <a:rPr dirty="0"/>
              <a:t>we care about the full distribution, </a:t>
            </a:r>
            <a:br>
              <a:rPr lang="en-US" dirty="0"/>
            </a:br>
            <a:r>
              <a:rPr dirty="0"/>
              <a:t>not only the average.</a:t>
            </a:r>
            <a:endParaRPr lang="en-US" dirty="0"/>
          </a:p>
          <a:p>
            <a:pPr marL="0" lvl="0" indent="0">
              <a:lnSpc>
                <a:spcPct val="200000"/>
              </a:lnSpc>
              <a:buNone/>
            </a:pP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  <p:pic>
        <p:nvPicPr>
          <p:cNvPr id="4" name="תמונה 3" descr="SLA | Full Form, Components and Types - GeeksforGeeks">
            <a:extLst>
              <a:ext uri="{FF2B5EF4-FFF2-40B4-BE49-F238E27FC236}">
                <a16:creationId xmlns:a16="http://schemas.microsoft.com/office/drawing/2014/main" id="{1B45501E-A09E-6417-8A09-4026B01E1F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817"/>
          <a:stretch>
            <a:fillRect/>
          </a:stretch>
        </p:blipFill>
        <p:spPr>
          <a:xfrm>
            <a:off x="6831622" y="1920082"/>
            <a:ext cx="4522177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Key terms: Latency percentiles (p50, p95, p99)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5574728"/>
              </p:ext>
            </p:extLst>
          </p:nvPr>
        </p:nvGraphicFramePr>
        <p:xfrm>
          <a:off x="1282057" y="1965324"/>
          <a:ext cx="9627885" cy="3812006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2092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92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92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27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/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dirty="0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dirty="0"/>
                        <a:t>Why it matters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5727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b="1" dirty="0"/>
                        <a:t>p50 (median)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dirty="0"/>
                        <a:t>Half of requests finish within this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dirty="0"/>
                        <a:t>Typical user experience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5727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b="1"/>
                        <a:t>p95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dirty="0"/>
                        <a:t>95% of requests finish within this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dirty="0"/>
                        <a:t>Most user</a:t>
                      </a:r>
                      <a:r>
                        <a:rPr lang="en-US" sz="2200" dirty="0"/>
                        <a:t>, </a:t>
                      </a:r>
                      <a:r>
                        <a:rPr sz="2200" dirty="0"/>
                        <a:t>long tail starts here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5727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b="1"/>
                        <a:t>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/>
                        <a:t>99% of requests finish within this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dirty="0"/>
                        <a:t>Worst regular users</a:t>
                      </a:r>
                      <a:r>
                        <a:rPr lang="en-US" sz="2200" dirty="0"/>
                        <a:t>, </a:t>
                      </a:r>
                      <a:r>
                        <a:rPr sz="2200" dirty="0"/>
                        <a:t>SLA and penalties often defined here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Think like a system designer, not a programmer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 dirty="0"/>
              <a:t>Distributed database decisions</a:t>
            </a:r>
            <a:br>
              <a:rPr lang="en-US" b="1" dirty="0"/>
            </a:br>
            <a:r>
              <a:rPr lang="en-US" b="1" dirty="0"/>
              <a:t>		</a:t>
            </a:r>
            <a:r>
              <a:rPr i="1" dirty="0"/>
              <a:t>Where is the data stored so service stays reliable and responsive?</a:t>
            </a:r>
          </a:p>
          <a:p>
            <a:pPr lvl="0"/>
            <a:r>
              <a:rPr b="1" dirty="0"/>
              <a:t>Parallel processing decisions</a:t>
            </a:r>
            <a:br>
              <a:rPr lang="en-US" b="1" dirty="0"/>
            </a:br>
            <a:r>
              <a:rPr lang="en-US" b="1" dirty="0"/>
              <a:t>		</a:t>
            </a:r>
            <a:r>
              <a:rPr i="1" dirty="0"/>
              <a:t>How is the workload split so decisions arrive on time at acceptable cost?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Two sides of the same coin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 dirty="0"/>
              <a:t>Distributed data</a:t>
            </a:r>
            <a:br>
              <a:rPr lang="en-US" b="1" dirty="0"/>
            </a:br>
            <a:r>
              <a:rPr dirty="0"/>
              <a:t>many nodes store one logical database </a:t>
            </a:r>
            <a:br>
              <a:rPr lang="en-US" dirty="0"/>
            </a:br>
            <a:r>
              <a:rPr dirty="0"/>
              <a:t>(where the data lives)</a:t>
            </a:r>
          </a:p>
          <a:p>
            <a:pPr lvl="0"/>
            <a:r>
              <a:rPr b="1" dirty="0"/>
              <a:t>Parallel compute</a:t>
            </a:r>
            <a:br>
              <a:rPr lang="en-US" dirty="0"/>
            </a:br>
            <a:r>
              <a:rPr dirty="0"/>
              <a:t>many workers process one logical job </a:t>
            </a:r>
            <a:br>
              <a:rPr lang="en-US" dirty="0"/>
            </a:br>
            <a:r>
              <a:rPr dirty="0"/>
              <a:t>(how the work is split)</a:t>
            </a:r>
            <a:endParaRPr lang="en-US" dirty="0"/>
          </a:p>
          <a:p>
            <a:pPr marL="0" lvl="0" indent="0">
              <a:buNone/>
            </a:pPr>
            <a:endParaRPr lang="en-US" dirty="0"/>
          </a:p>
          <a:p>
            <a:pPr marL="0" lvl="0" indent="0">
              <a:buNone/>
            </a:pPr>
            <a:r>
              <a:rPr dirty="0"/>
              <a:t>Same user experience, higher scale and resilience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Scaling Problem (Business 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A single-node architecture often works early, </a:t>
            </a:r>
            <a:br>
              <a:rPr lang="en-US" dirty="0"/>
            </a:br>
            <a:r>
              <a:rPr dirty="0"/>
              <a:t>then fails suddenly during growth.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pic>
        <p:nvPicPr>
          <p:cNvPr id="7" name="תמונה 6" descr="תמונה שמכילה טקסט, תרשים, צילום מסך, גופן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8ECA273F-E7C5-5B9A-B86D-B95A9A497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032" y="3122296"/>
            <a:ext cx="5445013" cy="318643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breaks (operations terms)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>
              <a:lnSpc>
                <a:spcPct val="200000"/>
              </a:lnSpc>
            </a:pPr>
            <a:r>
              <a:rPr dirty="0"/>
              <a:t>One machine becomes a </a:t>
            </a:r>
            <a:r>
              <a:rPr b="1" dirty="0"/>
              <a:t>bottleneck station</a:t>
            </a:r>
            <a:r>
              <a:rPr dirty="0"/>
              <a:t>.</a:t>
            </a:r>
          </a:p>
          <a:p>
            <a:pPr lvl="0">
              <a:lnSpc>
                <a:spcPct val="200000"/>
              </a:lnSpc>
            </a:pPr>
            <a:r>
              <a:rPr dirty="0"/>
              <a:t>Maintenance or failure creates a </a:t>
            </a:r>
            <a:r>
              <a:rPr b="1" dirty="0"/>
              <a:t>single point of stoppage</a:t>
            </a:r>
            <a:r>
              <a:rPr dirty="0"/>
              <a:t>.</a:t>
            </a:r>
          </a:p>
          <a:p>
            <a:pPr lvl="0">
              <a:lnSpc>
                <a:spcPct val="200000"/>
              </a:lnSpc>
            </a:pPr>
            <a:r>
              <a:rPr dirty="0"/>
              <a:t>Peak demand creates long tails (p95/p99 explode before average does).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Distributed Databases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  <p:pic>
        <p:nvPicPr>
          <p:cNvPr id="4" name="תמונה 3" descr="תמונה שמכילה טקסט, תרשים, צילום מסך, עיצו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86BABEE6-D384-4692-B8D6-BAE941F5D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23633"/>
            <a:ext cx="7772400" cy="43267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Partitioning: split data across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Partitioning means dividing rows so each node stores a subset.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  <p:pic>
        <p:nvPicPr>
          <p:cNvPr id="4" name="תמונה 3" descr="Understanding Database Partitioning in Distributed Systems : Rebalancing  Partitions | by Priya Patidar | The Developer's Diary | Medium">
            <a:extLst>
              <a:ext uri="{FF2B5EF4-FFF2-40B4-BE49-F238E27FC236}">
                <a16:creationId xmlns:a16="http://schemas.microsoft.com/office/drawing/2014/main" id="{7DFC834F-98DB-8A2D-96EF-7185C8F4F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139" y="2664964"/>
            <a:ext cx="4549174" cy="32825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Replication: copy data for availability and read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Replication keeps multiple copies (primary + replicas).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0EED34EC-3FDA-2EC4-977A-213823422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031" y="2496843"/>
            <a:ext cx="5248704" cy="337759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SQL vs NoSQL trade-offs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5169093"/>
              </p:ext>
            </p:extLst>
          </p:nvPr>
        </p:nvGraphicFramePr>
        <p:xfrm>
          <a:off x="887970" y="1661983"/>
          <a:ext cx="10416060" cy="3760643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4720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2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2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9783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/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/>
                        <a:t>SQL systems (typical)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/>
                        <a:t>NoSQL systems (typical)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962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/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dirty="0"/>
                        <a:t>Strong integrity, joins, transactions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2200" dirty="0"/>
                        <a:t>F</a:t>
                      </a:r>
                      <a:r>
                        <a:rPr sz="2200" dirty="0"/>
                        <a:t>lexible schema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9783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/>
                        <a:t>Best 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dirty="0"/>
                        <a:t>Finance, orders, master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/>
                        <a:t>Event logs, feeds, session/state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962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dirty="0"/>
                        <a:t>Cost pattern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/>
                        <a:t>Higher coordination cost at very high scale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dirty="0"/>
                        <a:t>Lower per-operation coordination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962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/>
                        <a:t>Risk pattern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/>
                        <a:t>Performance bottlenecks under extreme scale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200" dirty="0"/>
                        <a:t>Consistency/freshness caveats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Parallelism &amp; Work Distribution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  <p:pic>
        <p:nvPicPr>
          <p:cNvPr id="3" name="תמונה 2" descr="Scaling Deep Learning with Distributed Training: Data Parallelism to Ring  AllReduce | Morteza Mirzaei">
            <a:extLst>
              <a:ext uri="{FF2B5EF4-FFF2-40B4-BE49-F238E27FC236}">
                <a16:creationId xmlns:a16="http://schemas.microsoft.com/office/drawing/2014/main" id="{7F2D516F-5060-723C-7A0E-FF36E0DCB8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36"/>
          <a:stretch>
            <a:fillRect/>
          </a:stretch>
        </p:blipFill>
        <p:spPr>
          <a:xfrm>
            <a:off x="4681512" y="1684961"/>
            <a:ext cx="2828976" cy="46713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560" y="1554480"/>
            <a:ext cx="10302240" cy="4622483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 </a:t>
            </a:r>
            <a:r>
              <a:rPr lang="en-US" b="1" dirty="0"/>
              <a:t>process</a:t>
            </a:r>
            <a:r>
              <a:rPr lang="en-US" dirty="0"/>
              <a:t> is an instance of a running program.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b="1" dirty="0"/>
              <a:t>Process</a:t>
            </a:r>
            <a:r>
              <a:rPr lang="en-US" dirty="0"/>
              <a:t> may contain one or more </a:t>
            </a:r>
            <a:r>
              <a:rPr lang="en-US" b="1" dirty="0"/>
              <a:t>threads</a:t>
            </a:r>
            <a:r>
              <a:rPr lang="en-US" dirty="0"/>
              <a:t>, but a thread cannot contain a </a:t>
            </a:r>
            <a:r>
              <a:rPr lang="en-US" b="1" dirty="0"/>
              <a:t>process</a:t>
            </a:r>
            <a:r>
              <a:rPr lang="en-US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b="1" dirty="0"/>
              <a:t>Process</a:t>
            </a:r>
            <a:r>
              <a:rPr lang="en-US" dirty="0"/>
              <a:t> has a self-contained execution environment. It has its own memory space.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Process don't share its memory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Multiple </a:t>
            </a:r>
            <a:r>
              <a:rPr lang="en-US" b="1" dirty="0"/>
              <a:t>threads</a:t>
            </a:r>
            <a:r>
              <a:rPr lang="en-US" dirty="0"/>
              <a:t> in a </a:t>
            </a:r>
            <a:r>
              <a:rPr lang="en-US" b="1" dirty="0"/>
              <a:t>process</a:t>
            </a:r>
            <a:r>
              <a:rPr lang="en-US" dirty="0"/>
              <a:t> share resources.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9D69B18-316A-457F-86C2-CFE4F951EE27}" type="slidenum">
              <a:rPr lang="en-IL" smtClean="0"/>
              <a:pPr/>
              <a:t>15</a:t>
            </a:fld>
            <a:endParaRPr lang="en-IL" dirty="0"/>
          </a:p>
        </p:txBody>
      </p:sp>
      <p:sp>
        <p:nvSpPr>
          <p:cNvPr id="13" name="כותרת 12">
            <a:extLst>
              <a:ext uri="{FF2B5EF4-FFF2-40B4-BE49-F238E27FC236}">
                <a16:creationId xmlns:a16="http://schemas.microsoft.com/office/drawing/2014/main" id="{EC9F40A1-0195-D82E-8035-3B188D549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IL" sz="3600" dirty="0"/>
              <a:t>Process vs. Thread</a:t>
            </a:r>
            <a:endParaRPr lang="he-IL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5B365B2-1333-A16E-8719-37F4448C9B9F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852552"/>
            <a:ext cx="10972800" cy="1143000"/>
          </a:xfrm>
          <a:prstGeom prst="roundRect">
            <a:avLst/>
          </a:prstGeom>
        </p:spPr>
        <p:txBody>
          <a:bodyPr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1000"/>
              </a:spcBef>
            </a:pPr>
            <a:endParaRPr lang="en-US" altLang="en-IL" sz="3000" dirty="0"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3215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508760"/>
            <a:ext cx="10744200" cy="4668203"/>
          </a:xfrm>
        </p:spPr>
        <p:txBody>
          <a:bodyPr>
            <a:normAutofit/>
          </a:bodyPr>
          <a:lstStyle/>
          <a:p>
            <a:r>
              <a:rPr lang="en-US" sz="2400" dirty="0"/>
              <a:t>Threading allows you to have different parts of your process run concurrently. For example, A web-browser could be a process, an application running multiple cameras simultaneously could be a process.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9D69B18-316A-457F-86C2-CFE4F951EE27}" type="slidenum">
              <a:rPr lang="en-IL" smtClean="0"/>
              <a:pPr/>
              <a:t>16</a:t>
            </a:fld>
            <a:endParaRPr lang="en-IL" dirty="0"/>
          </a:p>
        </p:txBody>
      </p:sp>
      <p:sp>
        <p:nvSpPr>
          <p:cNvPr id="9" name="כותרת 8">
            <a:extLst>
              <a:ext uri="{FF2B5EF4-FFF2-40B4-BE49-F238E27FC236}">
                <a16:creationId xmlns:a16="http://schemas.microsoft.com/office/drawing/2014/main" id="{558AC2C2-F9F6-6F29-3064-354EE7579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Parallel Computation</a:t>
            </a:r>
            <a:endParaRPr lang="he-IL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8FECD15-0A1F-BD4C-B192-DEB1A1E74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3950" y="3251972"/>
            <a:ext cx="4864100" cy="237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CFD4630-DA09-EE40-90A2-7E48167ACE5C}"/>
              </a:ext>
            </a:extLst>
          </p:cNvPr>
          <p:cNvSpPr/>
          <p:nvPr/>
        </p:nvSpPr>
        <p:spPr>
          <a:xfrm>
            <a:off x="3234735" y="5626872"/>
            <a:ext cx="57225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multiple threads work together to achieve a common goal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82863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508760"/>
            <a:ext cx="10744200" cy="4668203"/>
          </a:xfrm>
        </p:spPr>
        <p:txBody>
          <a:bodyPr>
            <a:normAutofit/>
          </a:bodyPr>
          <a:lstStyle/>
          <a:p>
            <a:r>
              <a:rPr lang="en-US" sz="2400" b="1" dirty="0"/>
              <a:t>Multiprocessor/multicore</a:t>
            </a:r>
            <a:br>
              <a:rPr lang="en-US" sz="2400" dirty="0"/>
            </a:br>
            <a:r>
              <a:rPr lang="en-US" sz="2400" dirty="0"/>
              <a:t>	several processors work on data stored in shared memory</a:t>
            </a:r>
          </a:p>
          <a:p>
            <a:r>
              <a:rPr lang="en-US" sz="2400" b="1" dirty="0"/>
              <a:t>Cluster</a:t>
            </a:r>
            <a:br>
              <a:rPr lang="en-US" sz="2400" dirty="0"/>
            </a:br>
            <a:r>
              <a:rPr lang="en-US" sz="2400" dirty="0"/>
              <a:t>	several processor units work together </a:t>
            </a:r>
            <a:br>
              <a:rPr lang="en-US" sz="2400" dirty="0"/>
            </a:br>
            <a:r>
              <a:rPr lang="en-US" sz="2400" dirty="0"/>
              <a:t>	by exchanging data over a network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9D69B18-316A-457F-86C2-CFE4F951EE27}" type="slidenum">
              <a:rPr lang="en-IL" smtClean="0"/>
              <a:pPr/>
              <a:t>17</a:t>
            </a:fld>
            <a:endParaRPr lang="en-IL" dirty="0"/>
          </a:p>
        </p:txBody>
      </p:sp>
      <p:sp>
        <p:nvSpPr>
          <p:cNvPr id="9" name="כותרת 8">
            <a:extLst>
              <a:ext uri="{FF2B5EF4-FFF2-40B4-BE49-F238E27FC236}">
                <a16:creationId xmlns:a16="http://schemas.microsoft.com/office/drawing/2014/main" id="{809B6B25-1A4A-1317-FAA6-C1337E54B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3600" dirty="0"/>
              <a:t>Parallel Computation</a:t>
            </a:r>
          </a:p>
        </p:txBody>
      </p:sp>
      <p:pic>
        <p:nvPicPr>
          <p:cNvPr id="2050" name="Picture 2" descr="Multi-Threading and MultiProcessing in Python | by Renu Khandelwal | Level  Up Coding">
            <a:extLst>
              <a:ext uri="{FF2B5EF4-FFF2-40B4-BE49-F238E27FC236}">
                <a16:creationId xmlns:a16="http://schemas.microsoft.com/office/drawing/2014/main" id="{B9DA59F9-31E6-1643-B6E3-6DBCB12679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0273" y="3429000"/>
            <a:ext cx="5392127" cy="2533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1313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05FAAC9A-726F-6E9D-D253-3F8FD2775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9A1E6-0D63-357E-70C5-9A5F945A0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771451-A9C7-9286-8235-1293D29CE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9D69B18-316A-457F-86C2-CFE4F951EE27}" type="slidenum">
              <a:rPr lang="en-IL" smtClean="0"/>
              <a:pPr/>
              <a:t>18</a:t>
            </a:fld>
            <a:endParaRPr lang="en-IL" dirty="0"/>
          </a:p>
        </p:txBody>
      </p:sp>
      <p:sp>
        <p:nvSpPr>
          <p:cNvPr id="9" name="כותרת 8">
            <a:extLst>
              <a:ext uri="{FF2B5EF4-FFF2-40B4-BE49-F238E27FC236}">
                <a16:creationId xmlns:a16="http://schemas.microsoft.com/office/drawing/2014/main" id="{2D2206E0-7D88-C8A7-7F58-54D7E06CB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856301"/>
            <a:ext cx="10972800" cy="2987547"/>
          </a:xfrm>
        </p:spPr>
        <p:txBody>
          <a:bodyPr>
            <a:normAutofit/>
          </a:bodyPr>
          <a:lstStyle/>
          <a:p>
            <a:r>
              <a:rPr lang="en" sz="4000" dirty="0"/>
              <a:t>Parallelism in Practice</a:t>
            </a:r>
            <a:endParaRPr lang="he-IL" sz="4000" dirty="0"/>
          </a:p>
        </p:txBody>
      </p:sp>
    </p:spTree>
    <p:extLst>
      <p:ext uri="{BB962C8B-B14F-4D97-AF65-F5344CB8AC3E}">
        <p14:creationId xmlns:p14="http://schemas.microsoft.com/office/powerpoint/2010/main" val="37818975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Divide</a:t>
            </a:r>
            <a:r>
              <a:rPr lang="en-US" dirty="0"/>
              <a:t>-</a:t>
            </a:r>
            <a:r>
              <a:rPr dirty="0"/>
              <a:t>Conquer</a:t>
            </a:r>
            <a:r>
              <a:rPr lang="en-US" dirty="0"/>
              <a:t>-</a:t>
            </a:r>
            <a:r>
              <a:rPr dirty="0"/>
              <a:t>Combine as the central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 dirty="0"/>
              <a:t>Divide:</a:t>
            </a:r>
            <a:r>
              <a:rPr dirty="0"/>
              <a:t> partition data/workload.</a:t>
            </a:r>
          </a:p>
          <a:p>
            <a:pPr lvl="0"/>
            <a:r>
              <a:rPr b="1" dirty="0"/>
              <a:t>Conquer:</a:t>
            </a:r>
            <a:r>
              <a:rPr dirty="0"/>
              <a:t> same operation on each partition independently.</a:t>
            </a:r>
          </a:p>
          <a:p>
            <a:pPr lvl="0"/>
            <a:r>
              <a:rPr b="1" dirty="0"/>
              <a:t>Combine:</a:t>
            </a:r>
            <a:r>
              <a:rPr dirty="0"/>
              <a:t> merge partial outputs.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  <p:pic>
        <p:nvPicPr>
          <p:cNvPr id="4" name="Picture 2" descr="Divide and Conquer Algorithm. The divide and conquer approach as the… | by  Harsh | CodeX | Medium">
            <a:extLst>
              <a:ext uri="{FF2B5EF4-FFF2-40B4-BE49-F238E27FC236}">
                <a16:creationId xmlns:a16="http://schemas.microsoft.com/office/drawing/2014/main" id="{EDCAADB4-AF59-C8BF-8668-A6326ECFA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205" y="3674392"/>
            <a:ext cx="5461348" cy="234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Example: Merge Sort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/>
              <a:t>Merge Sort is a Divide and Conquer algorithm.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It divides the input array into two halves, calls itself for the two halves, and then merges the two sorted halves. 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  <p:sp>
        <p:nvSpPr>
          <p:cNvPr id="7" name="Line 14">
            <a:extLst>
              <a:ext uri="{FF2B5EF4-FFF2-40B4-BE49-F238E27FC236}">
                <a16:creationId xmlns:a16="http://schemas.microsoft.com/office/drawing/2014/main" id="{BBA1A42A-4164-5B8A-ECAF-8717A58FFF9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151835" y="4571999"/>
            <a:ext cx="838200" cy="685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L"/>
          </a:p>
        </p:txBody>
      </p:sp>
      <p:sp>
        <p:nvSpPr>
          <p:cNvPr id="8" name="Rectangle 15">
            <a:extLst>
              <a:ext uri="{FF2B5EF4-FFF2-40B4-BE49-F238E27FC236}">
                <a16:creationId xmlns:a16="http://schemas.microsoft.com/office/drawing/2014/main" id="{1FB6C0FF-70BB-9F31-16A8-F3016DA2E6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18235" y="4038599"/>
            <a:ext cx="5334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8</a:t>
            </a:r>
          </a:p>
        </p:txBody>
      </p:sp>
      <p:sp>
        <p:nvSpPr>
          <p:cNvPr id="9" name="Rectangle 16">
            <a:extLst>
              <a:ext uri="{FF2B5EF4-FFF2-40B4-BE49-F238E27FC236}">
                <a16:creationId xmlns:a16="http://schemas.microsoft.com/office/drawing/2014/main" id="{6D30B5EA-C5A9-E365-3C99-BD79CB790D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1635" y="4038599"/>
            <a:ext cx="5334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0" name="Rectangle 17">
            <a:extLst>
              <a:ext uri="{FF2B5EF4-FFF2-40B4-BE49-F238E27FC236}">
                <a16:creationId xmlns:a16="http://schemas.microsoft.com/office/drawing/2014/main" id="{40ACC2CE-BD46-11A9-F80E-45F4A8FA11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5035" y="4038599"/>
            <a:ext cx="5334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9</a:t>
            </a:r>
          </a:p>
        </p:txBody>
      </p:sp>
      <p:sp>
        <p:nvSpPr>
          <p:cNvPr id="11" name="Rectangle 18">
            <a:extLst>
              <a:ext uri="{FF2B5EF4-FFF2-40B4-BE49-F238E27FC236}">
                <a16:creationId xmlns:a16="http://schemas.microsoft.com/office/drawing/2014/main" id="{DCB9F3A7-D6F2-700A-A693-1FCC4DAC7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8435" y="4038599"/>
            <a:ext cx="5334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12" name="Rectangle 19">
            <a:extLst>
              <a:ext uri="{FF2B5EF4-FFF2-40B4-BE49-F238E27FC236}">
                <a16:creationId xmlns:a16="http://schemas.microsoft.com/office/drawing/2014/main" id="{88CDBE95-C358-B68B-FBF7-2ECF3A923B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1835" y="4038599"/>
            <a:ext cx="5334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5</a:t>
            </a:r>
          </a:p>
        </p:txBody>
      </p:sp>
      <p:sp>
        <p:nvSpPr>
          <p:cNvPr id="13" name="Rectangle 20">
            <a:extLst>
              <a:ext uri="{FF2B5EF4-FFF2-40B4-BE49-F238E27FC236}">
                <a16:creationId xmlns:a16="http://schemas.microsoft.com/office/drawing/2014/main" id="{6355B098-4065-2FF8-8A53-64D2B61559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5235" y="4038599"/>
            <a:ext cx="5334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4" name="Rectangle 21">
            <a:extLst>
              <a:ext uri="{FF2B5EF4-FFF2-40B4-BE49-F238E27FC236}">
                <a16:creationId xmlns:a16="http://schemas.microsoft.com/office/drawing/2014/main" id="{E7EF1087-BF67-110F-AD8C-17F676D57B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8635" y="4038599"/>
            <a:ext cx="5334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5" name="Rectangle 22">
            <a:extLst>
              <a:ext uri="{FF2B5EF4-FFF2-40B4-BE49-F238E27FC236}">
                <a16:creationId xmlns:a16="http://schemas.microsoft.com/office/drawing/2014/main" id="{9FF73B4F-C074-BF2D-D77C-9029D212A7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2035" y="4038599"/>
            <a:ext cx="5334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6</a:t>
            </a:r>
          </a:p>
        </p:txBody>
      </p:sp>
      <p:sp>
        <p:nvSpPr>
          <p:cNvPr id="16" name="Line 23">
            <a:extLst>
              <a:ext uri="{FF2B5EF4-FFF2-40B4-BE49-F238E27FC236}">
                <a16:creationId xmlns:a16="http://schemas.microsoft.com/office/drawing/2014/main" id="{FB5571E6-2EB5-E53B-21E8-782C241E33D8}"/>
              </a:ext>
            </a:extLst>
          </p:cNvPr>
          <p:cNvSpPr>
            <a:spLocks noChangeShapeType="1"/>
          </p:cNvSpPr>
          <p:nvPr/>
        </p:nvSpPr>
        <p:spPr bwMode="auto">
          <a:xfrm>
            <a:off x="6151835" y="3733799"/>
            <a:ext cx="0" cy="11430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L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A2236-A983-932E-929E-C0BC35EB0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09BEA-5ECD-5189-4E9E-08A7FF8A29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Example: Merge Sort</a:t>
            </a:r>
            <a:endParaRPr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815376-BF47-2409-B15A-CB3BF9899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4FCB38-AB2B-BA01-9B42-BA285A61B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  <p:sp>
        <p:nvSpPr>
          <p:cNvPr id="18" name="Text Box 12">
            <a:extLst>
              <a:ext uri="{FF2B5EF4-FFF2-40B4-BE49-F238E27FC236}">
                <a16:creationId xmlns:a16="http://schemas.microsoft.com/office/drawing/2014/main" id="{FC814E0C-8FC3-6CF0-E07D-51B9323670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48125" y="2438441"/>
            <a:ext cx="14033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 u="sng">
                <a:latin typeface="Times New Roman" panose="02020603050405020304" pitchFamily="18" charset="0"/>
              </a:rPr>
              <a:t>8  2   9   4</a:t>
            </a:r>
          </a:p>
        </p:txBody>
      </p:sp>
      <p:sp>
        <p:nvSpPr>
          <p:cNvPr id="19" name="Text Box 13">
            <a:extLst>
              <a:ext uri="{FF2B5EF4-FFF2-40B4-BE49-F238E27FC236}">
                <a16:creationId xmlns:a16="http://schemas.microsoft.com/office/drawing/2014/main" id="{91C6EA30-7C2D-5DCC-F096-18E6DBFAB1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08863" y="2474953"/>
            <a:ext cx="1479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 u="sng">
                <a:latin typeface="Times New Roman" panose="02020603050405020304" pitchFamily="18" charset="0"/>
              </a:rPr>
              <a:t>5   3   1   6</a:t>
            </a:r>
          </a:p>
        </p:txBody>
      </p:sp>
      <p:sp>
        <p:nvSpPr>
          <p:cNvPr id="20" name="Text Box 14">
            <a:extLst>
              <a:ext uri="{FF2B5EF4-FFF2-40B4-BE49-F238E27FC236}">
                <a16:creationId xmlns:a16="http://schemas.microsoft.com/office/drawing/2014/main" id="{56062226-9113-FE32-824B-5E229917E0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2938" y="3079791"/>
            <a:ext cx="717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 u="sng">
                <a:latin typeface="Times New Roman" panose="02020603050405020304" pitchFamily="18" charset="0"/>
              </a:rPr>
              <a:t>8   2</a:t>
            </a:r>
          </a:p>
        </p:txBody>
      </p:sp>
      <p:sp>
        <p:nvSpPr>
          <p:cNvPr id="21" name="Text Box 15">
            <a:extLst>
              <a:ext uri="{FF2B5EF4-FFF2-40B4-BE49-F238E27FC236}">
                <a16:creationId xmlns:a16="http://schemas.microsoft.com/office/drawing/2014/main" id="{85C7CB77-D06F-3EF8-549E-049932D56A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77313" y="3070266"/>
            <a:ext cx="717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 u="sng">
                <a:latin typeface="Times New Roman" panose="02020603050405020304" pitchFamily="18" charset="0"/>
              </a:rPr>
              <a:t>1   6</a:t>
            </a:r>
          </a:p>
        </p:txBody>
      </p:sp>
      <p:sp>
        <p:nvSpPr>
          <p:cNvPr id="22" name="Text Box 16">
            <a:extLst>
              <a:ext uri="{FF2B5EF4-FFF2-40B4-BE49-F238E27FC236}">
                <a16:creationId xmlns:a16="http://schemas.microsoft.com/office/drawing/2014/main" id="{58BB0D1B-65E4-5C3A-F2E6-87C942327A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8400" y="3068678"/>
            <a:ext cx="717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 u="sng">
                <a:latin typeface="Times New Roman" panose="02020603050405020304" pitchFamily="18" charset="0"/>
              </a:rPr>
              <a:t>9   4</a:t>
            </a:r>
          </a:p>
        </p:txBody>
      </p:sp>
      <p:sp>
        <p:nvSpPr>
          <p:cNvPr id="23" name="Text Box 17">
            <a:extLst>
              <a:ext uri="{FF2B5EF4-FFF2-40B4-BE49-F238E27FC236}">
                <a16:creationId xmlns:a16="http://schemas.microsoft.com/office/drawing/2014/main" id="{2A5EE7AF-62BD-37E9-BE9B-0F19A1AE87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18363" y="3087728"/>
            <a:ext cx="717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 u="sng">
                <a:latin typeface="Times New Roman" panose="02020603050405020304" pitchFamily="18" charset="0"/>
              </a:rPr>
              <a:t>5   3</a:t>
            </a:r>
          </a:p>
        </p:txBody>
      </p:sp>
      <p:sp>
        <p:nvSpPr>
          <p:cNvPr id="24" name="Text Box 18">
            <a:extLst>
              <a:ext uri="{FF2B5EF4-FFF2-40B4-BE49-F238E27FC236}">
                <a16:creationId xmlns:a16="http://schemas.microsoft.com/office/drawing/2014/main" id="{7A14AA5C-EB62-952F-D1DD-D00404375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8638" y="3716378"/>
            <a:ext cx="6813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 u="sng">
                <a:latin typeface="Times New Roman" panose="02020603050405020304" pitchFamily="18" charset="0"/>
              </a:rPr>
              <a:t>8</a:t>
            </a:r>
            <a:r>
              <a:rPr lang="en-US" altLang="en-IL" sz="2400">
                <a:latin typeface="Times New Roman" panose="02020603050405020304" pitchFamily="18" charset="0"/>
              </a:rPr>
              <a:t>     </a:t>
            </a:r>
            <a:r>
              <a:rPr lang="en-US" altLang="en-IL" sz="2400" u="sng">
                <a:latin typeface="Times New Roman" panose="02020603050405020304" pitchFamily="18" charset="0"/>
              </a:rPr>
              <a:t>2</a:t>
            </a:r>
            <a:r>
              <a:rPr lang="en-US" altLang="en-IL" sz="2400">
                <a:latin typeface="Times New Roman" panose="02020603050405020304" pitchFamily="18" charset="0"/>
              </a:rPr>
              <a:t>	           </a:t>
            </a:r>
            <a:r>
              <a:rPr lang="en-US" altLang="en-IL" sz="2400" u="sng">
                <a:latin typeface="Times New Roman" panose="02020603050405020304" pitchFamily="18" charset="0"/>
              </a:rPr>
              <a:t>9</a:t>
            </a:r>
            <a:r>
              <a:rPr lang="en-US" altLang="en-IL" sz="2400">
                <a:latin typeface="Times New Roman" panose="02020603050405020304" pitchFamily="18" charset="0"/>
              </a:rPr>
              <a:t>        </a:t>
            </a:r>
            <a:r>
              <a:rPr lang="en-US" altLang="en-IL" sz="2400" u="sng">
                <a:latin typeface="Times New Roman" panose="02020603050405020304" pitchFamily="18" charset="0"/>
              </a:rPr>
              <a:t>4</a:t>
            </a:r>
            <a:r>
              <a:rPr lang="en-US" altLang="en-IL" sz="2400">
                <a:latin typeface="Times New Roman" panose="02020603050405020304" pitchFamily="18" charset="0"/>
              </a:rPr>
              <a:t>		    </a:t>
            </a:r>
            <a:r>
              <a:rPr lang="en-US" altLang="en-IL" sz="2400" u="sng">
                <a:latin typeface="Times New Roman" panose="02020603050405020304" pitchFamily="18" charset="0"/>
              </a:rPr>
              <a:t>5</a:t>
            </a:r>
            <a:r>
              <a:rPr lang="en-US" altLang="en-IL" sz="2400">
                <a:latin typeface="Times New Roman" panose="02020603050405020304" pitchFamily="18" charset="0"/>
              </a:rPr>
              <a:t>	</a:t>
            </a:r>
            <a:r>
              <a:rPr lang="en-US" altLang="en-IL" sz="2400" u="sng">
                <a:latin typeface="Times New Roman" panose="02020603050405020304" pitchFamily="18" charset="0"/>
              </a:rPr>
              <a:t>3</a:t>
            </a:r>
            <a:r>
              <a:rPr lang="en-US" altLang="en-IL" sz="2400">
                <a:latin typeface="Times New Roman" panose="02020603050405020304" pitchFamily="18" charset="0"/>
              </a:rPr>
              <a:t>	  </a:t>
            </a:r>
            <a:r>
              <a:rPr lang="en-US" altLang="en-IL" sz="2400" u="sng">
                <a:latin typeface="Times New Roman" panose="02020603050405020304" pitchFamily="18" charset="0"/>
              </a:rPr>
              <a:t>1</a:t>
            </a:r>
            <a:r>
              <a:rPr lang="en-US" altLang="en-IL" sz="2400">
                <a:latin typeface="Times New Roman" panose="02020603050405020304" pitchFamily="18" charset="0"/>
              </a:rPr>
              <a:t> 	 </a:t>
            </a:r>
            <a:r>
              <a:rPr lang="en-US" altLang="en-IL" sz="2400" u="sng">
                <a:latin typeface="Times New Roman" panose="02020603050405020304" pitchFamily="18" charset="0"/>
              </a:rPr>
              <a:t>6</a:t>
            </a:r>
          </a:p>
        </p:txBody>
      </p:sp>
      <p:sp>
        <p:nvSpPr>
          <p:cNvPr id="25" name="Text Box 19">
            <a:extLst>
              <a:ext uri="{FF2B5EF4-FFF2-40B4-BE49-F238E27FC236}">
                <a16:creationId xmlns:a16="http://schemas.microsoft.com/office/drawing/2014/main" id="{EC309A9C-E3DC-0E42-EA9D-C94AFDAE56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5450" y="4360903"/>
            <a:ext cx="67373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   </a:t>
            </a:r>
            <a:r>
              <a:rPr lang="en-US" altLang="en-IL" sz="2400" u="sng">
                <a:latin typeface="Times New Roman" panose="02020603050405020304" pitchFamily="18" charset="0"/>
              </a:rPr>
              <a:t>2   8</a:t>
            </a:r>
            <a:r>
              <a:rPr lang="en-US" altLang="en-IL" sz="2400">
                <a:latin typeface="Times New Roman" panose="02020603050405020304" pitchFamily="18" charset="0"/>
              </a:rPr>
              <a:t>	               </a:t>
            </a:r>
            <a:r>
              <a:rPr lang="en-US" altLang="en-IL" sz="2400" u="sng">
                <a:latin typeface="Times New Roman" panose="02020603050405020304" pitchFamily="18" charset="0"/>
              </a:rPr>
              <a:t>4    9</a:t>
            </a:r>
            <a:r>
              <a:rPr lang="en-US" altLang="en-IL" sz="2400">
                <a:latin typeface="Times New Roman" panose="02020603050405020304" pitchFamily="18" charset="0"/>
              </a:rPr>
              <a:t>		        </a:t>
            </a:r>
            <a:r>
              <a:rPr lang="en-US" altLang="en-IL" sz="2400" u="sng">
                <a:latin typeface="Times New Roman" panose="02020603050405020304" pitchFamily="18" charset="0"/>
              </a:rPr>
              <a:t>3   5</a:t>
            </a:r>
            <a:r>
              <a:rPr lang="en-US" altLang="en-IL" sz="2400">
                <a:latin typeface="Times New Roman" panose="02020603050405020304" pitchFamily="18" charset="0"/>
              </a:rPr>
              <a:t>	       </a:t>
            </a:r>
            <a:r>
              <a:rPr lang="en-US" altLang="en-IL" sz="2400" u="sng">
                <a:latin typeface="Times New Roman" panose="02020603050405020304" pitchFamily="18" charset="0"/>
              </a:rPr>
              <a:t>1   6</a:t>
            </a:r>
          </a:p>
        </p:txBody>
      </p:sp>
      <p:sp>
        <p:nvSpPr>
          <p:cNvPr id="26" name="Text Box 20">
            <a:extLst>
              <a:ext uri="{FF2B5EF4-FFF2-40B4-BE49-F238E27FC236}">
                <a16:creationId xmlns:a16="http://schemas.microsoft.com/office/drawing/2014/main" id="{A8786473-8558-B68F-1002-FCA6704487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8800" y="5059403"/>
            <a:ext cx="59753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        </a:t>
            </a:r>
            <a:r>
              <a:rPr lang="en-US" altLang="en-IL" sz="2400" u="sng">
                <a:latin typeface="Times New Roman" panose="02020603050405020304" pitchFamily="18" charset="0"/>
              </a:rPr>
              <a:t>2   4   8   9</a:t>
            </a:r>
            <a:r>
              <a:rPr lang="en-US" altLang="en-IL" sz="2400">
                <a:latin typeface="Times New Roman" panose="02020603050405020304" pitchFamily="18" charset="0"/>
              </a:rPr>
              <a:t>		           </a:t>
            </a:r>
            <a:r>
              <a:rPr lang="en-US" altLang="en-IL" sz="2400" u="sng">
                <a:latin typeface="Times New Roman" panose="02020603050405020304" pitchFamily="18" charset="0"/>
              </a:rPr>
              <a:t>1   3   5   6</a:t>
            </a:r>
          </a:p>
        </p:txBody>
      </p:sp>
      <p:sp>
        <p:nvSpPr>
          <p:cNvPr id="27" name="Text Box 21">
            <a:extLst>
              <a:ext uri="{FF2B5EF4-FFF2-40B4-BE49-F238E27FC236}">
                <a16:creationId xmlns:a16="http://schemas.microsoft.com/office/drawing/2014/main" id="{25FE0996-C076-A633-7A3B-5924F25258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4850" y="5764253"/>
            <a:ext cx="3613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        </a:t>
            </a:r>
            <a:r>
              <a:rPr lang="en-US" altLang="en-IL" sz="2400" u="sng">
                <a:latin typeface="Times New Roman" panose="02020603050405020304" pitchFamily="18" charset="0"/>
              </a:rPr>
              <a:t>1   2   3   4   5   6   8   9</a:t>
            </a:r>
          </a:p>
        </p:txBody>
      </p:sp>
      <p:sp>
        <p:nvSpPr>
          <p:cNvPr id="28" name="Line 22">
            <a:extLst>
              <a:ext uri="{FF2B5EF4-FFF2-40B4-BE49-F238E27FC236}">
                <a16:creationId xmlns:a16="http://schemas.microsoft.com/office/drawing/2014/main" id="{690AD662-9C3C-E177-EF7A-7BD08438C29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880100" y="2251117"/>
            <a:ext cx="565150" cy="841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29" name="Line 23">
            <a:extLst>
              <a:ext uri="{FF2B5EF4-FFF2-40B4-BE49-F238E27FC236}">
                <a16:creationId xmlns:a16="http://schemas.microsoft.com/office/drawing/2014/main" id="{A47A8FA5-2759-7C6C-9365-E091401E25ED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8014" y="2251117"/>
            <a:ext cx="585787" cy="841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30" name="Line 24">
            <a:extLst>
              <a:ext uri="{FF2B5EF4-FFF2-40B4-BE49-F238E27FC236}">
                <a16:creationId xmlns:a16="http://schemas.microsoft.com/office/drawing/2014/main" id="{44DBFF31-542B-49E5-26B4-FC7BA0FB7DE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92576" y="2909928"/>
            <a:ext cx="574675" cy="2159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31" name="Line 25">
            <a:extLst>
              <a:ext uri="{FF2B5EF4-FFF2-40B4-BE49-F238E27FC236}">
                <a16:creationId xmlns:a16="http://schemas.microsoft.com/office/drawing/2014/main" id="{9CAFF5BA-111B-7C8D-3CC0-32FE29302EAA}"/>
              </a:ext>
            </a:extLst>
          </p:cNvPr>
          <p:cNvSpPr>
            <a:spLocks noChangeShapeType="1"/>
          </p:cNvSpPr>
          <p:nvPr/>
        </p:nvSpPr>
        <p:spPr bwMode="auto">
          <a:xfrm>
            <a:off x="4852989" y="2889291"/>
            <a:ext cx="492125" cy="1651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32" name="Line 26">
            <a:extLst>
              <a:ext uri="{FF2B5EF4-FFF2-40B4-BE49-F238E27FC236}">
                <a16:creationId xmlns:a16="http://schemas.microsoft.com/office/drawing/2014/main" id="{CF37EE6B-2766-2F3F-95AD-BC96A40DDF7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975601" y="2930566"/>
            <a:ext cx="328613" cy="1952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33" name="Line 27">
            <a:extLst>
              <a:ext uri="{FF2B5EF4-FFF2-40B4-BE49-F238E27FC236}">
                <a16:creationId xmlns:a16="http://schemas.microsoft.com/office/drawing/2014/main" id="{389359C4-9B37-8EDC-061E-24B66D38E887}"/>
              </a:ext>
            </a:extLst>
          </p:cNvPr>
          <p:cNvSpPr>
            <a:spLocks noChangeShapeType="1"/>
          </p:cNvSpPr>
          <p:nvPr/>
        </p:nvSpPr>
        <p:spPr bwMode="auto">
          <a:xfrm>
            <a:off x="8623301" y="2930567"/>
            <a:ext cx="390525" cy="2365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34" name="Line 28">
            <a:extLst>
              <a:ext uri="{FF2B5EF4-FFF2-40B4-BE49-F238E27FC236}">
                <a16:creationId xmlns:a16="http://schemas.microsoft.com/office/drawing/2014/main" id="{8BDFC290-D3F2-D2FD-47D1-ABC2943B727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2163" y="3546516"/>
            <a:ext cx="215900" cy="2270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35" name="Line 29">
            <a:extLst>
              <a:ext uri="{FF2B5EF4-FFF2-40B4-BE49-F238E27FC236}">
                <a16:creationId xmlns:a16="http://schemas.microsoft.com/office/drawing/2014/main" id="{0A2CF225-E80D-0F21-2E3C-FCE92744211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60776" y="3567153"/>
            <a:ext cx="123825" cy="185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36" name="Line 30">
            <a:extLst>
              <a:ext uri="{FF2B5EF4-FFF2-40B4-BE49-F238E27FC236}">
                <a16:creationId xmlns:a16="http://schemas.microsoft.com/office/drawing/2014/main" id="{4DA0AD81-FD20-26D0-C0D4-16E5B312A5B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91126" y="3578266"/>
            <a:ext cx="195263" cy="184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37" name="Line 31">
            <a:extLst>
              <a:ext uri="{FF2B5EF4-FFF2-40B4-BE49-F238E27FC236}">
                <a16:creationId xmlns:a16="http://schemas.microsoft.com/office/drawing/2014/main" id="{BC67D862-1FF3-7E37-3FC6-16D01CD12A4E}"/>
              </a:ext>
            </a:extLst>
          </p:cNvPr>
          <p:cNvSpPr>
            <a:spLocks noChangeShapeType="1"/>
          </p:cNvSpPr>
          <p:nvPr/>
        </p:nvSpPr>
        <p:spPr bwMode="auto">
          <a:xfrm>
            <a:off x="5468939" y="3546517"/>
            <a:ext cx="236537" cy="2063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38" name="Line 32">
            <a:extLst>
              <a:ext uri="{FF2B5EF4-FFF2-40B4-BE49-F238E27FC236}">
                <a16:creationId xmlns:a16="http://schemas.microsoft.com/office/drawing/2014/main" id="{D35C9DB2-8574-977E-DFA6-7176ADEBE97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348538" y="3578266"/>
            <a:ext cx="195262" cy="1635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39" name="Line 33">
            <a:extLst>
              <a:ext uri="{FF2B5EF4-FFF2-40B4-BE49-F238E27FC236}">
                <a16:creationId xmlns:a16="http://schemas.microsoft.com/office/drawing/2014/main" id="{A3A496F7-31DC-4E46-B023-16364D03142A}"/>
              </a:ext>
            </a:extLst>
          </p:cNvPr>
          <p:cNvSpPr>
            <a:spLocks noChangeShapeType="1"/>
          </p:cNvSpPr>
          <p:nvPr/>
        </p:nvSpPr>
        <p:spPr bwMode="auto">
          <a:xfrm>
            <a:off x="7626351" y="3567153"/>
            <a:ext cx="123825" cy="1539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40" name="Line 34">
            <a:extLst>
              <a:ext uri="{FF2B5EF4-FFF2-40B4-BE49-F238E27FC236}">
                <a16:creationId xmlns:a16="http://schemas.microsoft.com/office/drawing/2014/main" id="{FB7F427A-7843-EA80-79CA-D58D43243D0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064625" y="3587791"/>
            <a:ext cx="298450" cy="2270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41" name="Line 35">
            <a:extLst>
              <a:ext uri="{FF2B5EF4-FFF2-40B4-BE49-F238E27FC236}">
                <a16:creationId xmlns:a16="http://schemas.microsoft.com/office/drawing/2014/main" id="{6EFEAC42-EDCB-E581-2478-2FCCF99A274E}"/>
              </a:ext>
            </a:extLst>
          </p:cNvPr>
          <p:cNvSpPr>
            <a:spLocks noChangeShapeType="1"/>
          </p:cNvSpPr>
          <p:nvPr/>
        </p:nvSpPr>
        <p:spPr bwMode="auto">
          <a:xfrm>
            <a:off x="9455151" y="3587792"/>
            <a:ext cx="174625" cy="185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42" name="Line 36">
            <a:extLst>
              <a:ext uri="{FF2B5EF4-FFF2-40B4-BE49-F238E27FC236}">
                <a16:creationId xmlns:a16="http://schemas.microsoft.com/office/drawing/2014/main" id="{B8DB75D6-F381-5E5A-E440-3B1184385F18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8338" y="4143416"/>
            <a:ext cx="34925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43" name="Line 37">
            <a:extLst>
              <a:ext uri="{FF2B5EF4-FFF2-40B4-BE49-F238E27FC236}">
                <a16:creationId xmlns:a16="http://schemas.microsoft.com/office/drawing/2014/main" id="{87AC56D4-B020-6C6D-CF00-B0E8793651C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78226" y="4143416"/>
            <a:ext cx="174625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44" name="Line 38">
            <a:extLst>
              <a:ext uri="{FF2B5EF4-FFF2-40B4-BE49-F238E27FC236}">
                <a16:creationId xmlns:a16="http://schemas.microsoft.com/office/drawing/2014/main" id="{14B983BE-70D5-3376-02A0-8D860B3DC5B0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6188" y="4141828"/>
            <a:ext cx="34925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45" name="Line 39">
            <a:extLst>
              <a:ext uri="{FF2B5EF4-FFF2-40B4-BE49-F238E27FC236}">
                <a16:creationId xmlns:a16="http://schemas.microsoft.com/office/drawing/2014/main" id="{B9E87E64-956B-6E22-9F46-093590B5674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26076" y="4141828"/>
            <a:ext cx="174625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46" name="Line 40">
            <a:extLst>
              <a:ext uri="{FF2B5EF4-FFF2-40B4-BE49-F238E27FC236}">
                <a16:creationId xmlns:a16="http://schemas.microsoft.com/office/drawing/2014/main" id="{368A7955-1D00-C7A7-ED0E-E776537BF35D}"/>
              </a:ext>
            </a:extLst>
          </p:cNvPr>
          <p:cNvSpPr>
            <a:spLocks noChangeShapeType="1"/>
          </p:cNvSpPr>
          <p:nvPr/>
        </p:nvSpPr>
        <p:spPr bwMode="auto">
          <a:xfrm>
            <a:off x="7243763" y="4132303"/>
            <a:ext cx="34925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47" name="Line 41">
            <a:extLst>
              <a:ext uri="{FF2B5EF4-FFF2-40B4-BE49-F238E27FC236}">
                <a16:creationId xmlns:a16="http://schemas.microsoft.com/office/drawing/2014/main" id="{D013C3F9-96BC-758E-72A4-F477B1B87C3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13651" y="4132303"/>
            <a:ext cx="174625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48" name="Line 42">
            <a:extLst>
              <a:ext uri="{FF2B5EF4-FFF2-40B4-BE49-F238E27FC236}">
                <a16:creationId xmlns:a16="http://schemas.microsoft.com/office/drawing/2014/main" id="{B4B5DD8D-D4D5-E41C-BBEB-B59C9AAB12E4}"/>
              </a:ext>
            </a:extLst>
          </p:cNvPr>
          <p:cNvSpPr>
            <a:spLocks noChangeShapeType="1"/>
          </p:cNvSpPr>
          <p:nvPr/>
        </p:nvSpPr>
        <p:spPr bwMode="auto">
          <a:xfrm>
            <a:off x="9010650" y="4151353"/>
            <a:ext cx="34925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49" name="Line 43">
            <a:extLst>
              <a:ext uri="{FF2B5EF4-FFF2-40B4-BE49-F238E27FC236}">
                <a16:creationId xmlns:a16="http://schemas.microsoft.com/office/drawing/2014/main" id="{FCF5841C-B51E-B071-E026-89719876C64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380539" y="4151353"/>
            <a:ext cx="174625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50" name="Line 44">
            <a:extLst>
              <a:ext uri="{FF2B5EF4-FFF2-40B4-BE49-F238E27FC236}">
                <a16:creationId xmlns:a16="http://schemas.microsoft.com/office/drawing/2014/main" id="{3752C7FF-6714-550E-8E53-EEE85069EB08}"/>
              </a:ext>
            </a:extLst>
          </p:cNvPr>
          <p:cNvSpPr>
            <a:spLocks noChangeShapeType="1"/>
          </p:cNvSpPr>
          <p:nvPr/>
        </p:nvSpPr>
        <p:spPr bwMode="auto">
          <a:xfrm>
            <a:off x="3681413" y="4800642"/>
            <a:ext cx="760412" cy="3079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51" name="Line 45">
            <a:extLst>
              <a:ext uri="{FF2B5EF4-FFF2-40B4-BE49-F238E27FC236}">
                <a16:creationId xmlns:a16="http://schemas.microsoft.com/office/drawing/2014/main" id="{EAD381F2-FB29-DB93-5D12-785D32F6CE8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471989" y="4791116"/>
            <a:ext cx="955675" cy="3175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52" name="Line 46">
            <a:extLst>
              <a:ext uri="{FF2B5EF4-FFF2-40B4-BE49-F238E27FC236}">
                <a16:creationId xmlns:a16="http://schemas.microsoft.com/office/drawing/2014/main" id="{8504236A-D768-22CC-E5A2-14086D975F38}"/>
              </a:ext>
            </a:extLst>
          </p:cNvPr>
          <p:cNvSpPr>
            <a:spLocks noChangeShapeType="1"/>
          </p:cNvSpPr>
          <p:nvPr/>
        </p:nvSpPr>
        <p:spPr bwMode="auto">
          <a:xfrm>
            <a:off x="7562851" y="4787942"/>
            <a:ext cx="760413" cy="3079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53" name="Line 47">
            <a:extLst>
              <a:ext uri="{FF2B5EF4-FFF2-40B4-BE49-F238E27FC236}">
                <a16:creationId xmlns:a16="http://schemas.microsoft.com/office/drawing/2014/main" id="{14BF00B8-7EB8-1ADB-21ED-9F2CC75BB45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353426" y="4778416"/>
            <a:ext cx="955675" cy="3175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54" name="Line 48">
            <a:extLst>
              <a:ext uri="{FF2B5EF4-FFF2-40B4-BE49-F238E27FC236}">
                <a16:creationId xmlns:a16="http://schemas.microsoft.com/office/drawing/2014/main" id="{68D9E43D-EC0C-3DDC-A0E3-1744CF261C80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3739" y="5499141"/>
            <a:ext cx="2065337" cy="3286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55" name="Line 49">
            <a:extLst>
              <a:ext uri="{FF2B5EF4-FFF2-40B4-BE49-F238E27FC236}">
                <a16:creationId xmlns:a16="http://schemas.microsoft.com/office/drawing/2014/main" id="{4874BA36-57AC-5492-F653-BE1E07DF9BE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88126" y="5510253"/>
            <a:ext cx="1768475" cy="3175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56" name="Text Box 50">
            <a:extLst>
              <a:ext uri="{FF2B5EF4-FFF2-40B4-BE49-F238E27FC236}">
                <a16:creationId xmlns:a16="http://schemas.microsoft.com/office/drawing/2014/main" id="{0F91C7A7-7C33-4C7C-D984-B4EDD7BD69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00264" y="4203741"/>
            <a:ext cx="9794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Merge</a:t>
            </a:r>
          </a:p>
        </p:txBody>
      </p:sp>
      <p:sp>
        <p:nvSpPr>
          <p:cNvPr id="57" name="Text Box 51">
            <a:extLst>
              <a:ext uri="{FF2B5EF4-FFF2-40B4-BE49-F238E27FC236}">
                <a16:creationId xmlns:a16="http://schemas.microsoft.com/office/drawing/2014/main" id="{72ABDCC5-6C33-713B-ED51-F709655B2E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28889" y="4868903"/>
            <a:ext cx="9794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Merge</a:t>
            </a:r>
          </a:p>
        </p:txBody>
      </p:sp>
      <p:sp>
        <p:nvSpPr>
          <p:cNvPr id="58" name="Text Box 52">
            <a:extLst>
              <a:ext uri="{FF2B5EF4-FFF2-40B4-BE49-F238E27FC236}">
                <a16:creationId xmlns:a16="http://schemas.microsoft.com/office/drawing/2014/main" id="{A18F1B62-B026-1E2A-81FD-FBE60B8DC4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8550" y="5610266"/>
            <a:ext cx="9794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Merge</a:t>
            </a:r>
          </a:p>
        </p:txBody>
      </p:sp>
      <p:sp>
        <p:nvSpPr>
          <p:cNvPr id="59" name="Text Box 53">
            <a:extLst>
              <a:ext uri="{FF2B5EF4-FFF2-40B4-BE49-F238E27FC236}">
                <a16:creationId xmlns:a16="http://schemas.microsoft.com/office/drawing/2014/main" id="{FF0BFD15-1C14-3241-5CE7-09BC42431A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2914" y="2106653"/>
            <a:ext cx="10128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Divide</a:t>
            </a:r>
          </a:p>
        </p:txBody>
      </p:sp>
      <p:sp>
        <p:nvSpPr>
          <p:cNvPr id="60" name="Text Box 54">
            <a:extLst>
              <a:ext uri="{FF2B5EF4-FFF2-40B4-BE49-F238E27FC236}">
                <a16:creationId xmlns:a16="http://schemas.microsoft.com/office/drawing/2014/main" id="{93CF6CC2-2CD5-C36C-8124-232864C114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9839" y="2679741"/>
            <a:ext cx="10128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Divide</a:t>
            </a:r>
          </a:p>
        </p:txBody>
      </p:sp>
      <p:sp>
        <p:nvSpPr>
          <p:cNvPr id="61" name="Text Box 55">
            <a:extLst>
              <a:ext uri="{FF2B5EF4-FFF2-40B4-BE49-F238E27FC236}">
                <a16:creationId xmlns:a16="http://schemas.microsoft.com/office/drawing/2014/main" id="{A323F845-B7B9-CD06-D268-0D540BB7C5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28839" y="3267116"/>
            <a:ext cx="10128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Divide</a:t>
            </a:r>
          </a:p>
        </p:txBody>
      </p:sp>
      <p:sp>
        <p:nvSpPr>
          <p:cNvPr id="62" name="Text Box 56">
            <a:extLst>
              <a:ext uri="{FF2B5EF4-FFF2-40B4-BE49-F238E27FC236}">
                <a16:creationId xmlns:a16="http://schemas.microsoft.com/office/drawing/2014/main" id="{AB0328DA-EEA3-8266-DF27-03610C24C7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4176" y="3686216"/>
            <a:ext cx="13747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1 element</a:t>
            </a:r>
          </a:p>
        </p:txBody>
      </p:sp>
      <p:sp>
        <p:nvSpPr>
          <p:cNvPr id="63" name="Text Box 57">
            <a:extLst>
              <a:ext uri="{FF2B5EF4-FFF2-40B4-BE49-F238E27FC236}">
                <a16:creationId xmlns:a16="http://schemas.microsoft.com/office/drawing/2014/main" id="{3E936D1F-D884-2364-3EB5-8C4412A3BC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0600" y="1732004"/>
            <a:ext cx="457200" cy="3841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8</a:t>
            </a:r>
          </a:p>
        </p:txBody>
      </p:sp>
      <p:sp>
        <p:nvSpPr>
          <p:cNvPr id="64" name="Text Box 58">
            <a:extLst>
              <a:ext uri="{FF2B5EF4-FFF2-40B4-BE49-F238E27FC236}">
                <a16:creationId xmlns:a16="http://schemas.microsoft.com/office/drawing/2014/main" id="{03E99D47-A944-A0A2-C3C9-C48A0DC217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57800" y="1732004"/>
            <a:ext cx="457200" cy="3841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65" name="Text Box 59">
            <a:extLst>
              <a:ext uri="{FF2B5EF4-FFF2-40B4-BE49-F238E27FC236}">
                <a16:creationId xmlns:a16="http://schemas.microsoft.com/office/drawing/2014/main" id="{DBF350EC-22C6-05A2-0A24-83B5BF5B72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000" y="1732004"/>
            <a:ext cx="457200" cy="3841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9</a:t>
            </a:r>
          </a:p>
        </p:txBody>
      </p:sp>
      <p:sp>
        <p:nvSpPr>
          <p:cNvPr id="66" name="Text Box 60">
            <a:extLst>
              <a:ext uri="{FF2B5EF4-FFF2-40B4-BE49-F238E27FC236}">
                <a16:creationId xmlns:a16="http://schemas.microsoft.com/office/drawing/2014/main" id="{1D38B2EB-101C-5C88-8814-C3B5FC0A2F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2200" y="1732003"/>
            <a:ext cx="457200" cy="381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67" name="Text Box 61">
            <a:extLst>
              <a:ext uri="{FF2B5EF4-FFF2-40B4-BE49-F238E27FC236}">
                <a16:creationId xmlns:a16="http://schemas.microsoft.com/office/drawing/2014/main" id="{18C69126-8E6A-2972-0986-DCDDFD00AD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9400" y="1732003"/>
            <a:ext cx="457200" cy="381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5</a:t>
            </a:r>
          </a:p>
        </p:txBody>
      </p:sp>
      <p:sp>
        <p:nvSpPr>
          <p:cNvPr id="68" name="Text Box 62">
            <a:extLst>
              <a:ext uri="{FF2B5EF4-FFF2-40B4-BE49-F238E27FC236}">
                <a16:creationId xmlns:a16="http://schemas.microsoft.com/office/drawing/2014/main" id="{AB72970B-97EB-AEB1-90D4-0A4FA84E13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6600" y="1732004"/>
            <a:ext cx="457200" cy="3841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69" name="Text Box 63">
            <a:extLst>
              <a:ext uri="{FF2B5EF4-FFF2-40B4-BE49-F238E27FC236}">
                <a16:creationId xmlns:a16="http://schemas.microsoft.com/office/drawing/2014/main" id="{F812381E-74FA-0360-DAEF-1F3ADFA2D0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3800" y="1732003"/>
            <a:ext cx="457200" cy="381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70" name="Text Box 64">
            <a:extLst>
              <a:ext uri="{FF2B5EF4-FFF2-40B4-BE49-F238E27FC236}">
                <a16:creationId xmlns:a16="http://schemas.microsoft.com/office/drawing/2014/main" id="{20492DFD-DFE4-0443-19FC-4E5DA13F3F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01000" y="1732003"/>
            <a:ext cx="457200" cy="381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6189486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DD257-0877-4EAE-2F3A-B5BA2B444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2DC01-95D0-DC83-90BE-74B0802B7F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Example: Merge Sort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42F423-A125-077B-1299-AC9877A281A2}"/>
                  </a:ext>
                </a:extLst>
              </p:cNvPr>
              <p:cNvSpPr>
                <a:spLocks noGrp="1"/>
              </p:cNvSpPr>
              <p:nvPr>
                <p:ph idx="1" hasCustomPrompt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en-IL" dirty="0"/>
                  <a:t>Mergesort divides array in half and calls itself on the two halves.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en-IL" dirty="0"/>
                  <a:t>After returning, it merges both halves using a temporary array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en-IL" dirty="0"/>
                  <a:t>Each recursive call takes </a:t>
                </a:r>
                <a14:m>
                  <m:oMath xmlns:m="http://schemas.openxmlformats.org/officeDocument/2006/math">
                    <m:r>
                      <a:rPr lang="en-US" altLang="en-IL" b="0" i="0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en-IL" i="1" dirty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altLang="en-IL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en-IL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en-IL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r>
                              <a:rPr lang="en-US" altLang="en-IL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lang="en-US" altLang="en-IL" dirty="0"/>
                  <a:t> and merging takes </a:t>
                </a:r>
                <a14:m>
                  <m:oMath xmlns:m="http://schemas.openxmlformats.org/officeDocument/2006/math">
                    <m:r>
                      <a:rPr lang="en-US" altLang="en-IL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en-IL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en-IL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en-IL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en-IL" dirty="0"/>
              </a:p>
              <a:p>
                <a:pPr>
                  <a:lnSpc>
                    <a:spcPct val="150000"/>
                  </a:lnSpc>
                </a:pPr>
                <a:r>
                  <a:rPr lang="en-US" altLang="en-IL" dirty="0"/>
                  <a:t>Total of </a:t>
                </a:r>
                <a14:m>
                  <m:oMath xmlns:m="http://schemas.openxmlformats.org/officeDocument/2006/math">
                    <m:r>
                      <a:rPr lang="en-US" altLang="en-IL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en-IL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en-IL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altLang="en-IL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en-IL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altLang="en-IL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altLang="en-IL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en-IL" dirty="0"/>
              </a:p>
              <a:p>
                <a:pPr>
                  <a:lnSpc>
                    <a:spcPct val="150000"/>
                  </a:lnSpc>
                </a:pPr>
                <a:endParaRPr lang="en-US" alt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42F423-A125-077B-1299-AC9877A281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 hasCustomPrompt="1"/>
              </p:nvPr>
            </p:nvSpPr>
            <p:spPr>
              <a:blipFill>
                <a:blip r:embed="rId2"/>
                <a:stretch>
                  <a:fillRect l="-954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4882DF-98F4-BB77-18C1-A27565A23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6792BB-B6FB-F4F7-2E83-655D9800A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641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869</Words>
  <Application>Microsoft Macintosh PowerPoint</Application>
  <PresentationFormat>מסך רחב</PresentationFormat>
  <Paragraphs>166</Paragraphs>
  <Slides>22</Slides>
  <Notes>4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22</vt:i4>
      </vt:variant>
    </vt:vector>
  </HeadingPairs>
  <TitlesOfParts>
    <vt:vector size="28" baseType="lpstr">
      <vt:lpstr>Aptos</vt:lpstr>
      <vt:lpstr>Arial</vt:lpstr>
      <vt:lpstr>Calibri</vt:lpstr>
      <vt:lpstr>Cambria Math</vt:lpstr>
      <vt:lpstr>Times New Roman</vt:lpstr>
      <vt:lpstr>Office Theme</vt:lpstr>
      <vt:lpstr>Distributed Systems + Parallelism</vt:lpstr>
      <vt:lpstr>Flow for today</vt:lpstr>
      <vt:lpstr>Key terms: SLA</vt:lpstr>
      <vt:lpstr>Key terms: Why we care about response-time distribution</vt:lpstr>
      <vt:lpstr>Key terms: Latency percentiles (p50, p95, p99)</vt:lpstr>
      <vt:lpstr>Think like a system designer, not a programmer</vt:lpstr>
      <vt:lpstr>Two sides of the same coin</vt:lpstr>
      <vt:lpstr>The Scaling Problem (Business View)</vt:lpstr>
      <vt:lpstr>Why this breaks (operations terms)</vt:lpstr>
      <vt:lpstr>Distributed Databases</vt:lpstr>
      <vt:lpstr>Partitioning: split data across nodes</vt:lpstr>
      <vt:lpstr>Replication: copy data for availability and read scale</vt:lpstr>
      <vt:lpstr>SQL vs NoSQL trade-offs </vt:lpstr>
      <vt:lpstr>Parallelism &amp; Work Distribution</vt:lpstr>
      <vt:lpstr>Process vs. Thread</vt:lpstr>
      <vt:lpstr>Parallel Computation</vt:lpstr>
      <vt:lpstr>Parallel Computation</vt:lpstr>
      <vt:lpstr>Parallelism in Practice</vt:lpstr>
      <vt:lpstr>Divide-Conquer-Combine as the central model</vt:lpstr>
      <vt:lpstr>Example: Merge Sort</vt:lpstr>
      <vt:lpstr>Example: Merge Sort</vt:lpstr>
      <vt:lpstr>Example: Merge Sort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emplate>Facet</Template>
  <TotalTime>12</TotalTime>
  <Words>18</Words>
  <Application>Microsoft Macintosh PowerPoint</Application>
  <PresentationFormat>מסך רחב</PresentationFormat>
  <Paragraphs>12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Or Perets</cp:lastModifiedBy>
  <cp:revision>14</cp:revision>
  <dcterms:created xsi:type="dcterms:W3CDTF">2026-02-10T06:41:26Z</dcterms:created>
  <dcterms:modified xsi:type="dcterms:W3CDTF">2026-04-16T13:25:23Z</dcterms:modified>
</cp:coreProperties>
</file>