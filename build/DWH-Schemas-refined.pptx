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8" r:id="rId3"/>
    <p:sldId id="260" r:id="rId4"/>
    <p:sldId id="262" r:id="rId5"/>
    <p:sldId id="358" r:id="rId6"/>
    <p:sldId id="353" r:id="rId7"/>
    <p:sldId id="331" r:id="rId8"/>
    <p:sldId id="264" r:id="rId9"/>
    <p:sldId id="488" r:id="rId10"/>
    <p:sldId id="489" r:id="rId11"/>
    <p:sldId id="490" r:id="rId12"/>
    <p:sldId id="491" r:id="rId13"/>
    <p:sldId id="492" r:id="rId14"/>
    <p:sldId id="266" r:id="rId15"/>
    <p:sldId id="493" r:id="rId16"/>
    <p:sldId id="267" r:id="rId17"/>
    <p:sldId id="487" r:id="rId18"/>
    <p:sldId id="268" r:id="rId19"/>
    <p:sldId id="372" r:id="rId20"/>
    <p:sldId id="373" r:id="rId21"/>
    <p:sldId id="274" r:id="rId22"/>
    <p:sldId id="275" r:id="rId23"/>
    <p:sldId id="27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67"/>
    <p:restoredTop sz="94754"/>
  </p:normalViewPr>
  <p:slideViewPr>
    <p:cSldViewPr snapToGrid="0" snapToObjects="1">
      <p:cViewPr varScale="1">
        <p:scale>
          <a:sx n="102" d="100"/>
          <a:sy n="102" d="100"/>
        </p:scale>
        <p:origin x="1176" y="192"/>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118" d="100"/>
          <a:sy n="118" d="100"/>
        </p:scale>
        <p:origin x="516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7144145-9308-8A4B-8FA3-2645374C6399}" type="datetimeFigureOut">
              <a:rPr lang="he-IL" smtClean="0"/>
              <a:t>ו'.אייר.תשפ"ו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E555C55-3E82-AD4D-8F16-F9B28D7295B4}" type="slidenum">
              <a:rPr lang="he-IL" smtClean="0"/>
              <a:t>‹#›</a:t>
            </a:fld>
            <a:endParaRPr lang="he-IL"/>
          </a:p>
        </p:txBody>
      </p:sp>
    </p:spTree>
    <p:extLst>
      <p:ext uri="{BB962C8B-B14F-4D97-AF65-F5344CB8AC3E}">
        <p14:creationId xmlns:p14="http://schemas.microsoft.com/office/powerpoint/2010/main" val="152368278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763450D-99CE-C24A-8D8D-B8CA56C5CC4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E1D7C4A-BC49-1A48-BD91-C46D6C619243}" type="slidenum">
              <a:rPr lang="en-US" altLang="en-GB" sz="1200"/>
              <a:pPr/>
              <a:t>5</a:t>
            </a:fld>
            <a:endParaRPr lang="en-US" altLang="en-GB" sz="1200"/>
          </a:p>
        </p:txBody>
      </p:sp>
      <p:sp>
        <p:nvSpPr>
          <p:cNvPr id="41987" name="Rectangle 2">
            <a:extLst>
              <a:ext uri="{FF2B5EF4-FFF2-40B4-BE49-F238E27FC236}">
                <a16:creationId xmlns:a16="http://schemas.microsoft.com/office/drawing/2014/main" id="{03FBB1CD-983F-A146-BC0C-9A9AC7F59C9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EB98BAC9-F51A-D245-8B1F-7F8D533450FA}"/>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4298DF5-F7A9-D548-A1AD-F7F07AFC4A5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EBF4B6-2F2D-F74A-A95D-51E194C16FF9}" type="slidenum">
              <a:rPr lang="en-US" altLang="en-GB" sz="1200"/>
              <a:pPr/>
              <a:t>6</a:t>
            </a:fld>
            <a:endParaRPr lang="en-US" altLang="en-GB" sz="1200"/>
          </a:p>
        </p:txBody>
      </p:sp>
      <p:sp>
        <p:nvSpPr>
          <p:cNvPr id="44035" name="Rectangle 2">
            <a:extLst>
              <a:ext uri="{FF2B5EF4-FFF2-40B4-BE49-F238E27FC236}">
                <a16:creationId xmlns:a16="http://schemas.microsoft.com/office/drawing/2014/main" id="{561F36E8-F8FA-4045-800D-B491CE196EA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8266394-61EA-2442-9EFD-EF422C450F19}"/>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algn="l" defTabSz="914400" rtl="0" eaLnBrk="1" latinLnBrk="0" hangingPunct="1"/>
            <a:endParaRPr lang="he-IL" dirty="0"/>
          </a:p>
        </p:txBody>
      </p:sp>
      <p:sp>
        <p:nvSpPr>
          <p:cNvPr id="4" name="מציין מיקום של מספר שקופית 3"/>
          <p:cNvSpPr>
            <a:spLocks noGrp="1"/>
          </p:cNvSpPr>
          <p:nvPr>
            <p:ph type="sldNum" sz="quarter" idx="5"/>
          </p:nvPr>
        </p:nvSpPr>
        <p:spPr/>
        <p:txBody>
          <a:bodyPr/>
          <a:lstStyle/>
          <a:p>
            <a:fld id="{DE555C55-3E82-AD4D-8F16-F9B28D7295B4}" type="slidenum">
              <a:rPr lang="he-IL" smtClean="0"/>
              <a:t>13</a:t>
            </a:fld>
            <a:endParaRPr lang="he-IL"/>
          </a:p>
        </p:txBody>
      </p:sp>
    </p:spTree>
    <p:extLst>
      <p:ext uri="{BB962C8B-B14F-4D97-AF65-F5344CB8AC3E}">
        <p14:creationId xmlns:p14="http://schemas.microsoft.com/office/powerpoint/2010/main" val="4202703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17</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985960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0264EBC8-64C4-524C-8295-6DF8A9DA0EF9}"/>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1CCC9D1-262D-6944-A51C-27747F684BC7}" type="slidenum">
              <a:rPr lang="en-US" altLang="en-GB" sz="1200"/>
              <a:pPr/>
              <a:t>19</a:t>
            </a:fld>
            <a:endParaRPr lang="en-US" altLang="en-GB" sz="1200"/>
          </a:p>
        </p:txBody>
      </p:sp>
      <p:sp>
        <p:nvSpPr>
          <p:cNvPr id="57347" name="Rectangle 2">
            <a:extLst>
              <a:ext uri="{FF2B5EF4-FFF2-40B4-BE49-F238E27FC236}">
                <a16:creationId xmlns:a16="http://schemas.microsoft.com/office/drawing/2014/main" id="{F9096E6D-03EF-3F49-8E29-2ED62C5D6CF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8FED176-4817-5446-B6A4-438A37FB2A1F}"/>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37042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FAEADCC-AC9C-7748-B87A-F70A2B3AED2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5E2680B-58F3-2747-9061-778F0121826A}" type="slidenum">
              <a:rPr lang="en-US" altLang="en-GB" sz="1200"/>
              <a:pPr/>
              <a:t>20</a:t>
            </a:fld>
            <a:endParaRPr lang="en-US" altLang="en-GB" sz="1200"/>
          </a:p>
        </p:txBody>
      </p:sp>
      <p:sp>
        <p:nvSpPr>
          <p:cNvPr id="58371" name="Rectangle 2">
            <a:extLst>
              <a:ext uri="{FF2B5EF4-FFF2-40B4-BE49-F238E27FC236}">
                <a16:creationId xmlns:a16="http://schemas.microsoft.com/office/drawing/2014/main" id="{E6B1D164-0948-CC4C-908B-3A909A5E25A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B198510-6FA9-D641-B385-1075C01C0BFD}"/>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88810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3964B5F-BAD9-9946-9D71-AB5C763DA70C}"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400" b="1"/>
            </a:lvl1pPr>
          </a:lstStyle>
          <a:p>
            <a:r>
              <a:rPr lang="en-US" dirty="0"/>
              <a:t>Click to edit Master title style</a:t>
            </a:r>
          </a:p>
        </p:txBody>
      </p:sp>
      <p:sp>
        <p:nvSpPr>
          <p:cNvPr id="3" name="Content Placeholder 2"/>
          <p:cNvSpPr>
            <a:spLocks noGrp="1"/>
          </p:cNvSpPr>
          <p:nvPr>
            <p:ph idx="1" hasCustomPrompt="1"/>
          </p:nvPr>
        </p:nvSpPr>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E1EEA0-9609-584F-90F2-46E4F93E52CD}"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CA6A5E-CA21-6B4F-9DE7-1A275F321E49}"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lvl1pPr>
              <a:defRPr sz="4200"/>
            </a:lvl1pPr>
          </a:lstStyle>
          <a:p>
            <a:r>
              <a:rPr lang="en-US" dirty="0"/>
              <a:t>Click to edit Master title style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56840" y="1600201"/>
            <a:ext cx="660142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717894" y="2569580"/>
            <a:ext cx="5864506" cy="35565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AE3C6960-90E0-EA41-937B-E68D4C6A0841}"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CAE1C8-A9FA-924F-80DA-3B96C0343AF4}" type="datetime9">
              <a:rPr lang="he-IL" smtClean="0"/>
              <a:t>23 אפריל, 2026</a:t>
            </a:fld>
            <a:endParaRPr lang="en-US"/>
          </a:p>
        </p:txBody>
      </p:sp>
      <p:sp>
        <p:nvSpPr>
          <p:cNvPr id="8" name="Footer Placeholder 7"/>
          <p:cNvSpPr>
            <a:spLocks noGrp="1"/>
          </p:cNvSpPr>
          <p:nvPr>
            <p:ph type="ftr" sz="quarter" idx="11"/>
          </p:nvPr>
        </p:nvSpPr>
        <p:spPr/>
        <p:txBody>
          <a:bodyPr/>
          <a:lstStyle/>
          <a:p>
            <a:r>
              <a:rPr lang="en-US"/>
              <a:t>Or Peretz</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C92AE4-510D-3C40-B9B0-AA6693EED883}" type="datetime9">
              <a:rPr lang="he-IL" smtClean="0"/>
              <a:t>23 אפריל, 2026</a:t>
            </a:fld>
            <a:endParaRPr lang="en-US"/>
          </a:p>
        </p:txBody>
      </p:sp>
      <p:sp>
        <p:nvSpPr>
          <p:cNvPr id="4" name="Footer Placeholder 3"/>
          <p:cNvSpPr>
            <a:spLocks noGrp="1"/>
          </p:cNvSpPr>
          <p:nvPr>
            <p:ph type="ftr" sz="quarter" idx="11"/>
          </p:nvPr>
        </p:nvSpPr>
        <p:spPr/>
        <p:txBody>
          <a:bodyPr/>
          <a:lstStyle/>
          <a:p>
            <a:r>
              <a:rPr lang="en-US"/>
              <a:t>Or Peretz</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6" name="Content Placeholder 2">
            <a:extLst>
              <a:ext uri="{FF2B5EF4-FFF2-40B4-BE49-F238E27FC236}">
                <a16:creationId xmlns:a16="http://schemas.microsoft.com/office/drawing/2014/main" id="{E1D8F28D-D1D2-34A5-D88A-549DD7AD701A}"/>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C5D179-4B48-7641-AFA1-4656153FFCB8}" type="datetime9">
              <a:rPr lang="he-IL" smtClean="0"/>
              <a:t>23 אפריל, 2026</a:t>
            </a:fld>
            <a:endParaRPr lang="en-US"/>
          </a:p>
        </p:txBody>
      </p:sp>
      <p:sp>
        <p:nvSpPr>
          <p:cNvPr id="3" name="Footer Placeholder 2"/>
          <p:cNvSpPr>
            <a:spLocks noGrp="1"/>
          </p:cNvSpPr>
          <p:nvPr>
            <p:ph type="ftr" sz="quarter" idx="11"/>
          </p:nvPr>
        </p:nvSpPr>
        <p:spPr/>
        <p:txBody>
          <a:bodyPr/>
          <a:lstStyle/>
          <a:p>
            <a:r>
              <a:rPr lang="en-US"/>
              <a:t>Or Peretz</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5" name="Content Placeholder 2">
            <a:extLst>
              <a:ext uri="{FF2B5EF4-FFF2-40B4-BE49-F238E27FC236}">
                <a16:creationId xmlns:a16="http://schemas.microsoft.com/office/drawing/2014/main" id="{3F1439EE-8346-69C4-2D2A-C45C952E131C}"/>
              </a:ext>
            </a:extLst>
          </p:cNvPr>
          <p:cNvSpPr>
            <a:spLocks noGrp="1"/>
          </p:cNvSpPr>
          <p:nvPr>
            <p:ph idx="1" hasCustomPrompt="1"/>
          </p:nvPr>
        </p:nvSpPr>
        <p:spPr>
          <a:xfrm>
            <a:off x="946768" y="1600201"/>
            <a:ext cx="10635632" cy="4525963"/>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2D96A8D-C7E4-194A-BF0A-D552B24EBF94}"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2" name="Content Placeholder 2">
            <a:extLst>
              <a:ext uri="{FF2B5EF4-FFF2-40B4-BE49-F238E27FC236}">
                <a16:creationId xmlns:a16="http://schemas.microsoft.com/office/drawing/2014/main" id="{63E56AFE-36F7-8DA5-652B-89A25DA319A7}"/>
              </a:ext>
            </a:extLst>
          </p:cNvPr>
          <p:cNvSpPr>
            <a:spLocks noGrp="1"/>
          </p:cNvSpPr>
          <p:nvPr>
            <p:ph idx="1" hasCustomPrompt="1"/>
          </p:nvPr>
        </p:nvSpPr>
        <p:spPr>
          <a:xfrm>
            <a:off x="3957403" y="1417638"/>
            <a:ext cx="7624997" cy="4357028"/>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965200" y="1417638"/>
            <a:ext cx="2844801" cy="4357028"/>
          </a:xfrm>
        </p:spPr>
        <p:txBody>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B2D52-0D9F-F345-8384-0DCA30BF1F04}" type="datetime9">
              <a:rPr lang="he-IL" smtClean="0"/>
              <a:t>23 אפריל, 2026</a:t>
            </a:fld>
            <a:endParaRPr lang="en-US"/>
          </a:p>
        </p:txBody>
      </p:sp>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744ED6-1944-D14D-91B5-FC6036DE393D}"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268E4D-FFEC-474C-BD1C-299FD021CBA4}" type="datetime9">
              <a:rPr lang="he-IL" smtClean="0"/>
              <a:t>23 אפריל, 2026</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29740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4DB5-C319-EF41-9B8F-A436AF5D3376}"/>
              </a:ext>
            </a:extLst>
          </p:cNvPr>
          <p:cNvSpPr>
            <a:spLocks noGrp="1"/>
          </p:cNvSpPr>
          <p:nvPr>
            <p:ph type="title"/>
          </p:nvPr>
        </p:nvSpPr>
        <p:spPr>
          <a:xfrm>
            <a:off x="1727200" y="0"/>
            <a:ext cx="10160000" cy="914400"/>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3B9A124-8850-9E4F-BD09-A71A95B8D74E}"/>
              </a:ext>
            </a:extLst>
          </p:cNvPr>
          <p:cNvSpPr>
            <a:spLocks noGrp="1"/>
          </p:cNvSpPr>
          <p:nvPr>
            <p:ph sz="half" idx="1"/>
          </p:nvPr>
        </p:nvSpPr>
        <p:spPr>
          <a:xfrm>
            <a:off x="17272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2C0A9C8-041F-5F48-A71C-C6E540591858}"/>
              </a:ext>
            </a:extLst>
          </p:cNvPr>
          <p:cNvSpPr>
            <a:spLocks noGrp="1"/>
          </p:cNvSpPr>
          <p:nvPr>
            <p:ph type="body" sz="half" idx="2"/>
          </p:nvPr>
        </p:nvSpPr>
        <p:spPr>
          <a:xfrm>
            <a:off x="69088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E23439D7-70D0-9548-869A-6A40060A1A75}"/>
              </a:ext>
            </a:extLst>
          </p:cNvPr>
          <p:cNvSpPr>
            <a:spLocks noGrp="1"/>
          </p:cNvSpPr>
          <p:nvPr>
            <p:ph type="ftr" sz="quarter" idx="10"/>
          </p:nvPr>
        </p:nvSpPr>
        <p:spPr>
          <a:xfrm>
            <a:off x="1016000" y="6477000"/>
            <a:ext cx="3860800" cy="381000"/>
          </a:xfrm>
        </p:spPr>
        <p:txBody>
          <a:bodyPr/>
          <a:lstStyle>
            <a:lvl1pPr>
              <a:defRPr/>
            </a:lvl1pPr>
          </a:lstStyle>
          <a:p>
            <a:r>
              <a:rPr lang="en-US" altLang="en-US"/>
              <a:t>Or Peretz</a:t>
            </a:r>
          </a:p>
        </p:txBody>
      </p:sp>
      <p:sp>
        <p:nvSpPr>
          <p:cNvPr id="6" name="Slide Number Placeholder 5">
            <a:extLst>
              <a:ext uri="{FF2B5EF4-FFF2-40B4-BE49-F238E27FC236}">
                <a16:creationId xmlns:a16="http://schemas.microsoft.com/office/drawing/2014/main" id="{1FD563C8-AF6F-0E44-82C4-BCAC1D43B12F}"/>
              </a:ext>
            </a:extLst>
          </p:cNvPr>
          <p:cNvSpPr>
            <a:spLocks noGrp="1"/>
          </p:cNvSpPr>
          <p:nvPr>
            <p:ph type="sldNum" sz="quarter" idx="11"/>
          </p:nvPr>
        </p:nvSpPr>
        <p:spPr>
          <a:xfrm>
            <a:off x="10160000" y="6477000"/>
            <a:ext cx="2032000" cy="381000"/>
          </a:xfrm>
        </p:spPr>
        <p:txBody>
          <a:bodyPr/>
          <a:lstStyle>
            <a:lvl1pPr>
              <a:defRPr/>
            </a:lvl1pPr>
          </a:lstStyle>
          <a:p>
            <a:endParaRPr lang="en-US" altLang="en-US"/>
          </a:p>
        </p:txBody>
      </p:sp>
    </p:spTree>
    <p:extLst>
      <p:ext uri="{BB962C8B-B14F-4D97-AF65-F5344CB8AC3E}">
        <p14:creationId xmlns:p14="http://schemas.microsoft.com/office/powerpoint/2010/main" val="382720515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oundRect">
            <a:avLst/>
          </a:prstGeom>
          <a:ln w="12700">
            <a:solidFill>
              <a:schemeClr val="accent2"/>
            </a:solidFill>
            <a:extLst>
              <a:ext uri="{C807C97D-BFC1-408E-A445-0C87EB9F89A2}">
                <ask:lineSketchStyleProps xmlns:ask="http://schemas.microsoft.com/office/drawing/2018/sketchyshapes" sd="1219033472">
                  <a:custGeom>
                    <a:avLst/>
                    <a:gdLst>
                      <a:gd name="csX0" fmla="*/ 0 w 10972800"/>
                      <a:gd name="csY0" fmla="*/ 0 h 1143000"/>
                      <a:gd name="csX1" fmla="*/ 10972800 w 10972800"/>
                      <a:gd name="csY1" fmla="*/ 0 h 1143000"/>
                      <a:gd name="csX2" fmla="*/ 10972800 w 10972800"/>
                      <a:gd name="csY2" fmla="*/ 1143000 h 1143000"/>
                      <a:gd name="csX3" fmla="*/ 0 w 10972800"/>
                      <a:gd name="csY3" fmla="*/ 1143000 h 1143000"/>
                      <a:gd name="csX4" fmla="*/ 0 w 10972800"/>
                      <a:gd name="csY4" fmla="*/ 0 h 1143000"/>
                    </a:gdLst>
                    <a:ahLst/>
                    <a:cxnLst>
                      <a:cxn ang="0">
                        <a:pos x="csX0" y="csY0"/>
                      </a:cxn>
                      <a:cxn ang="0">
                        <a:pos x="csX1" y="csY1"/>
                      </a:cxn>
                      <a:cxn ang="0">
                        <a:pos x="csX2" y="csY2"/>
                      </a:cxn>
                      <a:cxn ang="0">
                        <a:pos x="csX3" y="csY3"/>
                      </a:cxn>
                      <a:cxn ang="0">
                        <a:pos x="csX4" y="csY4"/>
                      </a:cxn>
                    </a:cxnLst>
                    <a:rect l="l" t="t" r="r" b="b"/>
                    <a:pathLst>
                      <a:path w="10972800" h="1143000" fill="none" extrusionOk="0">
                        <a:moveTo>
                          <a:pt x="0" y="0"/>
                        </a:moveTo>
                        <a:cubicBezTo>
                          <a:pt x="4674310" y="-49533"/>
                          <a:pt x="6929254" y="-14809"/>
                          <a:pt x="10972800" y="0"/>
                        </a:cubicBezTo>
                        <a:cubicBezTo>
                          <a:pt x="10969069" y="570730"/>
                          <a:pt x="11062171" y="914526"/>
                          <a:pt x="10972800" y="1143000"/>
                        </a:cubicBezTo>
                        <a:cubicBezTo>
                          <a:pt x="6482996" y="1094769"/>
                          <a:pt x="3552735" y="1227455"/>
                          <a:pt x="0" y="1143000"/>
                        </a:cubicBezTo>
                        <a:cubicBezTo>
                          <a:pt x="69309" y="672287"/>
                          <a:pt x="-28229" y="279082"/>
                          <a:pt x="0" y="0"/>
                        </a:cubicBezTo>
                        <a:close/>
                      </a:path>
                      <a:path w="10972800" h="1143000" stroke="0" extrusionOk="0">
                        <a:moveTo>
                          <a:pt x="0" y="0"/>
                        </a:moveTo>
                        <a:cubicBezTo>
                          <a:pt x="3528079" y="118645"/>
                          <a:pt x="9610931" y="116012"/>
                          <a:pt x="10972800" y="0"/>
                        </a:cubicBezTo>
                        <a:cubicBezTo>
                          <a:pt x="11055528" y="134374"/>
                          <a:pt x="10882381" y="1028043"/>
                          <a:pt x="10972800" y="1143000"/>
                        </a:cubicBezTo>
                        <a:cubicBezTo>
                          <a:pt x="8799093" y="1277600"/>
                          <a:pt x="3316512" y="985804"/>
                          <a:pt x="0" y="1143000"/>
                        </a:cubicBezTo>
                        <a:cubicBezTo>
                          <a:pt x="94203" y="956839"/>
                          <a:pt x="-18710" y="289479"/>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46768" y="1600201"/>
            <a:ext cx="10635632"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9E24A-D52C-CB4E-85D6-C52415601A2A}" type="datetime9">
              <a:rPr lang="he-IL" smtClean="0"/>
              <a:t>23 אפריל, 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Freeform 6">
            <a:extLst>
              <a:ext uri="{FF2B5EF4-FFF2-40B4-BE49-F238E27FC236}">
                <a16:creationId xmlns:a16="http://schemas.microsoft.com/office/drawing/2014/main" id="{9E54F053-C5B3-FA53-FB24-F76EBC23E5F7}"/>
              </a:ext>
            </a:extLst>
          </p:cNvPr>
          <p:cNvSpPr/>
          <p:nvPr/>
        </p:nvSpPr>
        <p:spPr>
          <a:xfrm>
            <a:off x="10492509" y="-832013"/>
            <a:ext cx="5901557" cy="769001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941100">
                <a:alpha val="44000"/>
              </a:srgbClr>
            </a:solidFill>
            <a:prstDash val="solid"/>
            <a:miter/>
          </a:ln>
        </p:spPr>
        <p:txBody>
          <a:bodyPr/>
          <a:lstStyle/>
          <a:p>
            <a:endParaRPr lang="en-IL"/>
          </a:p>
        </p:txBody>
      </p:sp>
      <p:sp>
        <p:nvSpPr>
          <p:cNvPr id="12" name="Freeform 20">
            <a:extLst>
              <a:ext uri="{FF2B5EF4-FFF2-40B4-BE49-F238E27FC236}">
                <a16:creationId xmlns:a16="http://schemas.microsoft.com/office/drawing/2014/main" id="{C6ADFD82-3296-8C7F-2ACC-D8399785AC79}"/>
              </a:ext>
            </a:extLst>
          </p:cNvPr>
          <p:cNvSpPr/>
          <p:nvPr/>
        </p:nvSpPr>
        <p:spPr>
          <a:xfrm>
            <a:off x="-6720016" y="-1088358"/>
            <a:ext cx="7329616" cy="732961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941100">
                <a:alpha val="17929"/>
              </a:srgbClr>
            </a:solidFill>
            <a:prstDash val="solid"/>
            <a:miter/>
          </a:ln>
        </p:spPr>
        <p:txBody>
          <a:bodyPr/>
          <a:lstStyle/>
          <a:p>
            <a:endParaRPr lang="en-IL" sz="933"/>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defTabSz="457200" rtl="0" eaLnBrk="1" latinLnBrk="0" hangingPunct="1">
        <a:spcBef>
          <a:spcPct val="0"/>
        </a:spcBef>
        <a:buNone/>
        <a:defRPr sz="3400" b="1" kern="1200">
          <a:solidFill>
            <a:schemeClr val="tx1"/>
          </a:solidFill>
          <a:latin typeface="+mj-lt"/>
          <a:ea typeface="+mj-ea"/>
          <a:cs typeface="+mj-cs"/>
        </a:defRPr>
      </a:lvl1pPr>
    </p:titleStyle>
    <p:bodyStyle>
      <a:lvl1pPr marL="342900" indent="-342900" algn="l" defTabSz="457200" rtl="0" eaLnBrk="1" latinLnBrk="0" hangingPunct="1">
        <a:lnSpc>
          <a:spcPct val="130000"/>
        </a:lnSpc>
        <a:spcBef>
          <a:spcPts val="0"/>
        </a:spcBef>
        <a:buFont typeface="Arial"/>
        <a:buChar char="•"/>
        <a:defRPr sz="2800" kern="1200">
          <a:solidFill>
            <a:schemeClr val="tx1"/>
          </a:solidFill>
          <a:latin typeface="+mn-lt"/>
          <a:ea typeface="+mn-ea"/>
          <a:cs typeface="+mn-cs"/>
        </a:defRPr>
      </a:lvl1pPr>
      <a:lvl2pPr marL="742950" indent="-285750" algn="l" defTabSz="457200" rtl="0" eaLnBrk="1" latinLnBrk="0" hangingPunct="1">
        <a:lnSpc>
          <a:spcPct val="130000"/>
        </a:lnSpc>
        <a:spcBef>
          <a:spcPts val="0"/>
        </a:spcBef>
        <a:buFont typeface="Arial"/>
        <a:buChar char="–"/>
        <a:defRPr sz="2400" kern="1200">
          <a:solidFill>
            <a:schemeClr val="tx1"/>
          </a:solidFill>
          <a:latin typeface="+mn-lt"/>
          <a:ea typeface="+mn-ea"/>
          <a:cs typeface="+mn-cs"/>
        </a:defRPr>
      </a:lvl2pPr>
      <a:lvl3pPr marL="1143000" indent="-228600" algn="l" defTabSz="457200" rtl="0" eaLnBrk="1" latinLnBrk="0" hangingPunct="1">
        <a:lnSpc>
          <a:spcPct val="130000"/>
        </a:lnSpc>
        <a:spcBef>
          <a:spcPts val="0"/>
        </a:spcBef>
        <a:buFont typeface="Arial"/>
        <a:buChar char="•"/>
        <a:defRPr sz="2000" kern="1200">
          <a:solidFill>
            <a:schemeClr val="tx1"/>
          </a:solidFill>
          <a:latin typeface="+mn-lt"/>
          <a:ea typeface="+mn-ea"/>
          <a:cs typeface="+mn-cs"/>
        </a:defRPr>
      </a:lvl3pPr>
      <a:lvl4pPr marL="16002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4pPr>
      <a:lvl5pPr marL="2057400" indent="-228600" algn="l" defTabSz="457200" rtl="0" eaLnBrk="1" latinLnBrk="0" hangingPunct="1">
        <a:lnSpc>
          <a:spcPct val="130000"/>
        </a:lnSpc>
        <a:spcBef>
          <a:spcPts val="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9F15AE-737D-866E-3CF2-D0120AD833A4}"/>
              </a:ext>
            </a:extLst>
          </p:cNvPr>
          <p:cNvSpPr>
            <a:spLocks noGrp="1"/>
          </p:cNvSpPr>
          <p:nvPr>
            <p:ph type="ctrTitle" hasCustomPrompt="1"/>
          </p:nvPr>
        </p:nvSpPr>
        <p:spPr>
          <a:xfrm>
            <a:off x="914400" y="2130426"/>
            <a:ext cx="10363200" cy="1470025"/>
          </a:xfrm>
        </p:spPr>
        <p:txBody>
          <a:bodyPr/>
          <a:lstStyle/>
          <a:p>
            <a:r>
              <a:t>DWH Schema Design (Part 2)</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Learning Objectives</a:t>
            </a:r>
          </a:p>
        </p:txBody>
      </p:sp>
      <p:sp>
        <p:nvSpPr>
          <p:cNvPr id="3" name="Content Placeholder 2"/>
          <p:cNvSpPr>
            <a:spLocks noGrp="1"/>
          </p:cNvSpPr>
          <p:nvPr>
            <p:ph idx="1" hasCustomPrompt="1"/>
          </p:nvPr>
        </p:nvSpPr>
        <p:spPr/>
        <p:txBody>
          <a:bodyPr/>
          <a:lstStyle/>
          <a:p>
            <a:r>
              <a:t>Declare fact grain, keys, measures, and aggregation rules</a:t>
            </a:r>
          </a:p>
          <a:p>
            <a:r>
              <a:t>Choose star, snowflake, or galaxy schemas by workload</a:t>
            </a:r>
          </a:p>
          <a:p>
            <a:r>
              <a:t>Model history, table behavior, and conformed dimensions</a:t>
            </a:r>
          </a:p>
          <a:p>
            <a:r>
              <a:t>Design partitioning and governance controls for production use</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Why Schema Design Matters</a:t>
            </a:r>
          </a:p>
        </p:txBody>
      </p:sp>
      <p:sp>
        <p:nvSpPr>
          <p:cNvPr id="3" name="Content Placeholder 2"/>
          <p:cNvSpPr>
            <a:spLocks noGrp="1"/>
          </p:cNvSpPr>
          <p:nvPr>
            <p:ph idx="1" hasCustomPrompt="1"/>
          </p:nvPr>
        </p:nvSpPr>
        <p:spPr/>
        <p:txBody>
          <a:bodyPr/>
          <a:lstStyle/>
          <a:p>
            <a:r>
              <a:t>Schema design is where business meaning becomes executable</a:t>
            </a:r>
          </a:p>
          <a:p>
            <a:r>
              <a:t>Wrong grain or keys silently corrupt KPIs and downstream models</a:t>
            </a:r>
          </a:p>
          <a:p>
            <a:r>
              <a:t>Physical choices such as partitioning determine cost and latency</a:t>
            </a:r>
          </a:p>
          <a:p>
            <a:r>
              <a:t>Professional DWH design balances correctness, performance, and operability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Fact and Dimension Contracts</a:t>
            </a:r>
          </a:p>
        </p:txBody>
      </p:sp>
      <p:sp>
        <p:nvSpPr>
          <p:cNvPr id="3" name="Content Placeholder 2"/>
          <p:cNvSpPr>
            <a:spLocks noGrp="1"/>
          </p:cNvSpPr>
          <p:nvPr>
            <p:ph idx="1" hasCustomPrompt="1"/>
          </p:nvPr>
        </p:nvSpPr>
        <p:spPr/>
        <p:txBody>
          <a:bodyPr/>
          <a:lstStyle/>
          <a:p>
            <a:r>
              <a:t>Fact table: measurable business events at one declared grain</a:t>
            </a:r>
          </a:p>
          <a:p>
            <a:r>
              <a:t>Dimension table: descriptive context used to filter, group, and explain facts</a:t>
            </a:r>
          </a:p>
          <a:p>
            <a:r>
              <a:t>Measure: numeric value with explicit aggregation semantics</a:t>
            </a:r>
          </a:p>
          <a:p>
            <a:r>
              <a:t>Hierarchy: governed drill path such as day -&gt; month -&gt; quarter -&gt; year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a:extLst>
              <a:ext uri="{FF2B5EF4-FFF2-40B4-BE49-F238E27FC236}">
                <a16:creationId xmlns:a16="http://schemas.microsoft.com/office/drawing/2014/main" id="{B38943B0-975E-5F47-A0B8-A0569D48BFBB}"/>
              </a:ext>
            </a:extLst>
          </p:cNvPr>
          <p:cNvSpPr>
            <a:spLocks noGrp="1" noChangeArrowheads="1"/>
          </p:cNvSpPr>
          <p:nvPr>
            <p:ph type="title"/>
          </p:nvPr>
        </p:nvSpPr>
        <p:spPr/>
        <p:txBody>
          <a:bodyPr>
            <a:normAutofit/>
          </a:bodyPr>
          <a:lstStyle/>
          <a:p>
            <a:r>
              <a:t>The Multi-Dimensional Model</a:t>
            </a:r>
          </a:p>
        </p:txBody>
      </p:sp>
      <p:sp>
        <p:nvSpPr>
          <p:cNvPr id="4102" name="Rectangle 4">
            <a:extLst>
              <a:ext uri="{FF2B5EF4-FFF2-40B4-BE49-F238E27FC236}">
                <a16:creationId xmlns:a16="http://schemas.microsoft.com/office/drawing/2014/main" id="{38FE7E56-CAC9-D14A-B945-6783C0FD84CF}"/>
              </a:ext>
            </a:extLst>
          </p:cNvPr>
          <p:cNvSpPr>
            <a:spLocks noChangeArrowheads="1"/>
          </p:cNvSpPr>
          <p:nvPr/>
        </p:nvSpPr>
        <p:spPr bwMode="auto">
          <a:xfrm>
            <a:off x="4572000" y="2785532"/>
            <a:ext cx="4191000" cy="1447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03" name="Text Box 5">
            <a:extLst>
              <a:ext uri="{FF2B5EF4-FFF2-40B4-BE49-F238E27FC236}">
                <a16:creationId xmlns:a16="http://schemas.microsoft.com/office/drawing/2014/main" id="{74FD915F-47AF-A641-8580-A745443BFD87}"/>
              </a:ext>
            </a:extLst>
          </p:cNvPr>
          <p:cNvSpPr txBox="1">
            <a:spLocks noChangeArrowheads="1"/>
          </p:cNvSpPr>
          <p:nvPr/>
        </p:nvSpPr>
        <p:spPr bwMode="auto">
          <a:xfrm>
            <a:off x="4572000" y="2785532"/>
            <a:ext cx="4756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 Code	Time Code 	Store Code	 Sales	Qty	</a:t>
            </a:r>
            <a:endParaRPr lang="en-US" altLang="en-GB"/>
          </a:p>
        </p:txBody>
      </p:sp>
      <p:sp>
        <p:nvSpPr>
          <p:cNvPr id="4104" name="Line 6">
            <a:extLst>
              <a:ext uri="{FF2B5EF4-FFF2-40B4-BE49-F238E27FC236}">
                <a16:creationId xmlns:a16="http://schemas.microsoft.com/office/drawing/2014/main" id="{D552DB62-3A4C-F143-870E-697AB749AE7B}"/>
              </a:ext>
            </a:extLst>
          </p:cNvPr>
          <p:cNvSpPr>
            <a:spLocks noChangeShapeType="1"/>
          </p:cNvSpPr>
          <p:nvPr/>
        </p:nvSpPr>
        <p:spPr bwMode="auto">
          <a:xfrm>
            <a:off x="4572000" y="3166532"/>
            <a:ext cx="419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5" name="Line 7">
            <a:extLst>
              <a:ext uri="{FF2B5EF4-FFF2-40B4-BE49-F238E27FC236}">
                <a16:creationId xmlns:a16="http://schemas.microsoft.com/office/drawing/2014/main" id="{1D7858C2-AE37-454F-B3CD-572572ADC1B6}"/>
              </a:ext>
            </a:extLst>
          </p:cNvPr>
          <p:cNvSpPr>
            <a:spLocks noChangeShapeType="1"/>
          </p:cNvSpPr>
          <p:nvPr/>
        </p:nvSpPr>
        <p:spPr bwMode="auto">
          <a:xfrm>
            <a:off x="54864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6" name="Line 8">
            <a:extLst>
              <a:ext uri="{FF2B5EF4-FFF2-40B4-BE49-F238E27FC236}">
                <a16:creationId xmlns:a16="http://schemas.microsoft.com/office/drawing/2014/main" id="{F95C00CB-F790-4C42-B22C-BEB7A1EB7A65}"/>
              </a:ext>
            </a:extLst>
          </p:cNvPr>
          <p:cNvSpPr>
            <a:spLocks noChangeShapeType="1"/>
          </p:cNvSpPr>
          <p:nvPr/>
        </p:nvSpPr>
        <p:spPr bwMode="auto">
          <a:xfrm>
            <a:off x="64008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7" name="Line 9">
            <a:extLst>
              <a:ext uri="{FF2B5EF4-FFF2-40B4-BE49-F238E27FC236}">
                <a16:creationId xmlns:a16="http://schemas.microsoft.com/office/drawing/2014/main" id="{66BBFC74-9048-1643-A879-5B490814AE91}"/>
              </a:ext>
            </a:extLst>
          </p:cNvPr>
          <p:cNvSpPr>
            <a:spLocks noChangeShapeType="1"/>
          </p:cNvSpPr>
          <p:nvPr/>
        </p:nvSpPr>
        <p:spPr bwMode="auto">
          <a:xfrm>
            <a:off x="7315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8" name="Line 10">
            <a:extLst>
              <a:ext uri="{FF2B5EF4-FFF2-40B4-BE49-F238E27FC236}">
                <a16:creationId xmlns:a16="http://schemas.microsoft.com/office/drawing/2014/main" id="{CE606625-BC34-1D48-9CBF-252B62C7F67A}"/>
              </a:ext>
            </a:extLst>
          </p:cNvPr>
          <p:cNvSpPr>
            <a:spLocks noChangeShapeType="1"/>
          </p:cNvSpPr>
          <p:nvPr/>
        </p:nvSpPr>
        <p:spPr bwMode="auto">
          <a:xfrm>
            <a:off x="8077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9" name="Rectangle 11">
            <a:extLst>
              <a:ext uri="{FF2B5EF4-FFF2-40B4-BE49-F238E27FC236}">
                <a16:creationId xmlns:a16="http://schemas.microsoft.com/office/drawing/2014/main" id="{7E4162FA-1850-DF47-A1C0-FE9183F65978}"/>
              </a:ext>
            </a:extLst>
          </p:cNvPr>
          <p:cNvSpPr>
            <a:spLocks noChangeArrowheads="1"/>
          </p:cNvSpPr>
          <p:nvPr/>
        </p:nvSpPr>
        <p:spPr bwMode="auto">
          <a:xfrm>
            <a:off x="2438400" y="18711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GB" altLang="en-GB"/>
          </a:p>
        </p:txBody>
      </p:sp>
      <p:sp>
        <p:nvSpPr>
          <p:cNvPr id="4110" name="Text Box 12">
            <a:extLst>
              <a:ext uri="{FF2B5EF4-FFF2-40B4-BE49-F238E27FC236}">
                <a16:creationId xmlns:a16="http://schemas.microsoft.com/office/drawing/2014/main" id="{28FE381C-DBA7-2242-A6CF-628A9BBEE66F}"/>
              </a:ext>
            </a:extLst>
          </p:cNvPr>
          <p:cNvSpPr txBox="1">
            <a:spLocks noChangeArrowheads="1"/>
          </p:cNvSpPr>
          <p:nvPr/>
        </p:nvSpPr>
        <p:spPr bwMode="auto">
          <a:xfrm>
            <a:off x="2514601" y="18711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Store Info</a:t>
            </a:r>
            <a:endParaRPr lang="en-US" altLang="en-GB"/>
          </a:p>
        </p:txBody>
      </p:sp>
      <p:sp>
        <p:nvSpPr>
          <p:cNvPr id="4111" name="Rectangle 13">
            <a:extLst>
              <a:ext uri="{FF2B5EF4-FFF2-40B4-BE49-F238E27FC236}">
                <a16:creationId xmlns:a16="http://schemas.microsoft.com/office/drawing/2014/main" id="{922BBA25-DC16-3945-91B9-1C8BAB69994C}"/>
              </a:ext>
            </a:extLst>
          </p:cNvPr>
          <p:cNvSpPr>
            <a:spLocks noChangeArrowheads="1"/>
          </p:cNvSpPr>
          <p:nvPr/>
        </p:nvSpPr>
        <p:spPr bwMode="auto">
          <a:xfrm>
            <a:off x="1828800" y="33189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2" name="Text Box 14">
            <a:extLst>
              <a:ext uri="{FF2B5EF4-FFF2-40B4-BE49-F238E27FC236}">
                <a16:creationId xmlns:a16="http://schemas.microsoft.com/office/drawing/2014/main" id="{C6B135E8-6C34-D34C-85F3-A0CAFE4ED8C4}"/>
              </a:ext>
            </a:extLst>
          </p:cNvPr>
          <p:cNvSpPr txBox="1">
            <a:spLocks noChangeArrowheads="1"/>
          </p:cNvSpPr>
          <p:nvPr/>
        </p:nvSpPr>
        <p:spPr bwMode="auto">
          <a:xfrm>
            <a:off x="1905001" y="3318932"/>
            <a:ext cx="1076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Product Info</a:t>
            </a:r>
            <a:endParaRPr lang="en-US" altLang="en-GB"/>
          </a:p>
        </p:txBody>
      </p:sp>
      <p:sp>
        <p:nvSpPr>
          <p:cNvPr id="4113" name="Rectangle 15">
            <a:extLst>
              <a:ext uri="{FF2B5EF4-FFF2-40B4-BE49-F238E27FC236}">
                <a16:creationId xmlns:a16="http://schemas.microsoft.com/office/drawing/2014/main" id="{EF75846C-1D80-F944-91E9-84D3A25D4063}"/>
              </a:ext>
            </a:extLst>
          </p:cNvPr>
          <p:cNvSpPr>
            <a:spLocks noChangeArrowheads="1"/>
          </p:cNvSpPr>
          <p:nvPr/>
        </p:nvSpPr>
        <p:spPr bwMode="auto">
          <a:xfrm>
            <a:off x="3581400" y="47667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4" name="Text Box 16">
            <a:extLst>
              <a:ext uri="{FF2B5EF4-FFF2-40B4-BE49-F238E27FC236}">
                <a16:creationId xmlns:a16="http://schemas.microsoft.com/office/drawing/2014/main" id="{F31E0279-904F-6340-AB7C-032DB7D50429}"/>
              </a:ext>
            </a:extLst>
          </p:cNvPr>
          <p:cNvSpPr txBox="1">
            <a:spLocks noChangeArrowheads="1"/>
          </p:cNvSpPr>
          <p:nvPr/>
        </p:nvSpPr>
        <p:spPr bwMode="auto">
          <a:xfrm>
            <a:off x="3810001" y="47667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Time Info</a:t>
            </a:r>
            <a:endParaRPr lang="en-US" altLang="en-GB"/>
          </a:p>
        </p:txBody>
      </p:sp>
      <p:sp>
        <p:nvSpPr>
          <p:cNvPr id="4116" name="Text Box 18">
            <a:extLst>
              <a:ext uri="{FF2B5EF4-FFF2-40B4-BE49-F238E27FC236}">
                <a16:creationId xmlns:a16="http://schemas.microsoft.com/office/drawing/2014/main" id="{E08C5709-7029-BA45-92FB-574C679C1E17}"/>
              </a:ext>
            </a:extLst>
          </p:cNvPr>
          <p:cNvSpPr txBox="1">
            <a:spLocks noChangeArrowheads="1"/>
          </p:cNvSpPr>
          <p:nvPr/>
        </p:nvSpPr>
        <p:spPr bwMode="auto">
          <a:xfrm>
            <a:off x="7315201" y="2023532"/>
            <a:ext cx="1876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600"/>
              <a:t>Numerical Measures</a:t>
            </a:r>
            <a:endParaRPr lang="en-US" altLang="en-GB"/>
          </a:p>
        </p:txBody>
      </p:sp>
      <p:sp>
        <p:nvSpPr>
          <p:cNvPr id="4117" name="Line 19">
            <a:extLst>
              <a:ext uri="{FF2B5EF4-FFF2-40B4-BE49-F238E27FC236}">
                <a16:creationId xmlns:a16="http://schemas.microsoft.com/office/drawing/2014/main" id="{BC96A399-DB7B-2D41-B21D-69046B7B9C09}"/>
              </a:ext>
            </a:extLst>
          </p:cNvPr>
          <p:cNvSpPr>
            <a:spLocks noChangeShapeType="1"/>
          </p:cNvSpPr>
          <p:nvPr/>
        </p:nvSpPr>
        <p:spPr bwMode="auto">
          <a:xfrm flipH="1">
            <a:off x="7696200" y="2328332"/>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8" name="Line 20">
            <a:extLst>
              <a:ext uri="{FF2B5EF4-FFF2-40B4-BE49-F238E27FC236}">
                <a16:creationId xmlns:a16="http://schemas.microsoft.com/office/drawing/2014/main" id="{01BE0F24-75C2-F74D-8B1D-AD3397C42836}"/>
              </a:ext>
            </a:extLst>
          </p:cNvPr>
          <p:cNvSpPr>
            <a:spLocks noChangeShapeType="1"/>
          </p:cNvSpPr>
          <p:nvPr/>
        </p:nvSpPr>
        <p:spPr bwMode="auto">
          <a:xfrm>
            <a:off x="8153400" y="2328332"/>
            <a:ext cx="304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9" name="Text Box 21">
            <a:extLst>
              <a:ext uri="{FF2B5EF4-FFF2-40B4-BE49-F238E27FC236}">
                <a16:creationId xmlns:a16="http://schemas.microsoft.com/office/drawing/2014/main" id="{9F7C093C-102A-C14E-A5AB-119868358C8F}"/>
              </a:ext>
            </a:extLst>
          </p:cNvPr>
          <p:cNvSpPr txBox="1">
            <a:spLocks noChangeArrowheads="1"/>
          </p:cNvSpPr>
          <p:nvPr/>
        </p:nvSpPr>
        <p:spPr bwMode="auto">
          <a:xfrm>
            <a:off x="4721226" y="1871133"/>
            <a:ext cx="26971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GB" sz="1600"/>
              <a:t>Key columns joining fact table</a:t>
            </a:r>
          </a:p>
          <a:p>
            <a:pPr algn="ctr"/>
            <a:r>
              <a:rPr lang="en-US" altLang="en-GB" sz="1600"/>
              <a:t>to dimension tables</a:t>
            </a:r>
            <a:endParaRPr lang="en-US" altLang="en-GB"/>
          </a:p>
        </p:txBody>
      </p:sp>
      <p:sp>
        <p:nvSpPr>
          <p:cNvPr id="4120" name="Line 22">
            <a:extLst>
              <a:ext uri="{FF2B5EF4-FFF2-40B4-BE49-F238E27FC236}">
                <a16:creationId xmlns:a16="http://schemas.microsoft.com/office/drawing/2014/main" id="{B3D2F552-69DC-C448-8988-66CD648370C9}"/>
              </a:ext>
            </a:extLst>
          </p:cNvPr>
          <p:cNvSpPr>
            <a:spLocks noChangeShapeType="1"/>
          </p:cNvSpPr>
          <p:nvPr/>
        </p:nvSpPr>
        <p:spPr bwMode="auto">
          <a:xfrm flipH="1">
            <a:off x="5029200" y="2404532"/>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1" name="Line 23">
            <a:extLst>
              <a:ext uri="{FF2B5EF4-FFF2-40B4-BE49-F238E27FC236}">
                <a16:creationId xmlns:a16="http://schemas.microsoft.com/office/drawing/2014/main" id="{0FDF37E6-9256-C94D-84A6-AD230E35DD1C}"/>
              </a:ext>
            </a:extLst>
          </p:cNvPr>
          <p:cNvSpPr>
            <a:spLocks noChangeShapeType="1"/>
          </p:cNvSpPr>
          <p:nvPr/>
        </p:nvSpPr>
        <p:spPr bwMode="auto">
          <a:xfrm>
            <a:off x="6019800" y="2404532"/>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2" name="Line 24">
            <a:extLst>
              <a:ext uri="{FF2B5EF4-FFF2-40B4-BE49-F238E27FC236}">
                <a16:creationId xmlns:a16="http://schemas.microsoft.com/office/drawing/2014/main" id="{A3C890C5-B49E-C34D-A63E-633BBD302F74}"/>
              </a:ext>
            </a:extLst>
          </p:cNvPr>
          <p:cNvSpPr>
            <a:spLocks noChangeShapeType="1"/>
          </p:cNvSpPr>
          <p:nvPr/>
        </p:nvSpPr>
        <p:spPr bwMode="auto">
          <a:xfrm>
            <a:off x="6324600" y="2404532"/>
            <a:ext cx="533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3" name="Text Box 25">
            <a:extLst>
              <a:ext uri="{FF2B5EF4-FFF2-40B4-BE49-F238E27FC236}">
                <a16:creationId xmlns:a16="http://schemas.microsoft.com/office/drawing/2014/main" id="{5C512341-F5A8-F74F-842D-C32D87883F82}"/>
              </a:ext>
            </a:extLst>
          </p:cNvPr>
          <p:cNvSpPr txBox="1">
            <a:spLocks noChangeArrowheads="1"/>
          </p:cNvSpPr>
          <p:nvPr/>
        </p:nvSpPr>
        <p:spPr bwMode="auto">
          <a:xfrm>
            <a:off x="8763000" y="3115732"/>
            <a:ext cx="158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Fact table for </a:t>
            </a:r>
          </a:p>
          <a:p>
            <a:r>
              <a:rPr lang="en-US" altLang="en-GB" sz="1800">
                <a:latin typeface="Arial" panose="020B0604020202020204" pitchFamily="34" charset="0"/>
              </a:rPr>
              <a:t>measures</a:t>
            </a:r>
            <a:endParaRPr lang="en-US" altLang="en-GB"/>
          </a:p>
        </p:txBody>
      </p:sp>
      <p:sp>
        <p:nvSpPr>
          <p:cNvPr id="4124" name="Line 26">
            <a:extLst>
              <a:ext uri="{FF2B5EF4-FFF2-40B4-BE49-F238E27FC236}">
                <a16:creationId xmlns:a16="http://schemas.microsoft.com/office/drawing/2014/main" id="{59E4C600-71F9-EC45-9E31-018C5368FF91}"/>
              </a:ext>
            </a:extLst>
          </p:cNvPr>
          <p:cNvSpPr>
            <a:spLocks noChangeShapeType="1"/>
          </p:cNvSpPr>
          <p:nvPr/>
        </p:nvSpPr>
        <p:spPr bwMode="auto">
          <a:xfrm>
            <a:off x="2438400" y="21759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5" name="Line 27">
            <a:extLst>
              <a:ext uri="{FF2B5EF4-FFF2-40B4-BE49-F238E27FC236}">
                <a16:creationId xmlns:a16="http://schemas.microsoft.com/office/drawing/2014/main" id="{27E0D534-D6BE-D14C-AE3F-E9C8468DDE15}"/>
              </a:ext>
            </a:extLst>
          </p:cNvPr>
          <p:cNvSpPr>
            <a:spLocks noChangeShapeType="1"/>
          </p:cNvSpPr>
          <p:nvPr/>
        </p:nvSpPr>
        <p:spPr bwMode="auto">
          <a:xfrm>
            <a:off x="1828800" y="36237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6" name="Line 28">
            <a:extLst>
              <a:ext uri="{FF2B5EF4-FFF2-40B4-BE49-F238E27FC236}">
                <a16:creationId xmlns:a16="http://schemas.microsoft.com/office/drawing/2014/main" id="{35DD8D22-502C-DD4E-915F-43D29361BEF8}"/>
              </a:ext>
            </a:extLst>
          </p:cNvPr>
          <p:cNvSpPr>
            <a:spLocks noChangeShapeType="1"/>
          </p:cNvSpPr>
          <p:nvPr/>
        </p:nvSpPr>
        <p:spPr bwMode="auto">
          <a:xfrm>
            <a:off x="3581400" y="50715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7" name="Line 29">
            <a:extLst>
              <a:ext uri="{FF2B5EF4-FFF2-40B4-BE49-F238E27FC236}">
                <a16:creationId xmlns:a16="http://schemas.microsoft.com/office/drawing/2014/main" id="{5D3CB2E5-4FCE-7C48-A6F8-ACD745B9E1DB}"/>
              </a:ext>
            </a:extLst>
          </p:cNvPr>
          <p:cNvSpPr>
            <a:spLocks noChangeShapeType="1"/>
          </p:cNvSpPr>
          <p:nvPr/>
        </p:nvSpPr>
        <p:spPr bwMode="auto">
          <a:xfrm>
            <a:off x="3810000" y="2480732"/>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8" name="Line 30">
            <a:extLst>
              <a:ext uri="{FF2B5EF4-FFF2-40B4-BE49-F238E27FC236}">
                <a16:creationId xmlns:a16="http://schemas.microsoft.com/office/drawing/2014/main" id="{080588E7-C281-304C-9A61-4FD1BD410AB3}"/>
              </a:ext>
            </a:extLst>
          </p:cNvPr>
          <p:cNvSpPr>
            <a:spLocks noChangeShapeType="1"/>
          </p:cNvSpPr>
          <p:nvPr/>
        </p:nvSpPr>
        <p:spPr bwMode="auto">
          <a:xfrm flipV="1">
            <a:off x="3352800" y="3471332"/>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9" name="Line 31">
            <a:extLst>
              <a:ext uri="{FF2B5EF4-FFF2-40B4-BE49-F238E27FC236}">
                <a16:creationId xmlns:a16="http://schemas.microsoft.com/office/drawing/2014/main" id="{E55C15C7-8B2F-4E48-B9DD-D4CD0BEAB263}"/>
              </a:ext>
            </a:extLst>
          </p:cNvPr>
          <p:cNvSpPr>
            <a:spLocks noChangeShapeType="1"/>
          </p:cNvSpPr>
          <p:nvPr/>
        </p:nvSpPr>
        <p:spPr bwMode="auto">
          <a:xfrm flipV="1">
            <a:off x="4038600" y="4004732"/>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30" name="Text Box 32">
            <a:extLst>
              <a:ext uri="{FF2B5EF4-FFF2-40B4-BE49-F238E27FC236}">
                <a16:creationId xmlns:a16="http://schemas.microsoft.com/office/drawing/2014/main" id="{BE7BC731-F382-544E-B574-FEDF980504E1}"/>
              </a:ext>
            </a:extLst>
          </p:cNvPr>
          <p:cNvSpPr txBox="1">
            <a:spLocks noChangeArrowheads="1"/>
          </p:cNvSpPr>
          <p:nvPr/>
        </p:nvSpPr>
        <p:spPr bwMode="auto">
          <a:xfrm>
            <a:off x="1524000" y="4614333"/>
            <a:ext cx="193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Dimension tables</a:t>
            </a:r>
            <a:endParaRPr lang="en-US" altLang="en-GB"/>
          </a:p>
        </p:txBody>
      </p:sp>
      <p:sp>
        <p:nvSpPr>
          <p:cNvPr id="2" name="Footer Placeholder 1">
            <a:extLst>
              <a:ext uri="{FF2B5EF4-FFF2-40B4-BE49-F238E27FC236}">
                <a16:creationId xmlns:a16="http://schemas.microsoft.com/office/drawing/2014/main" id="{7C2A4356-E613-A34A-B118-169155E8210C}"/>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05F9BB05-9A23-1C43-A0F0-3ECB4E5CDAEF}"/>
              </a:ext>
            </a:extLst>
          </p:cNvPr>
          <p:cNvSpPr>
            <a:spLocks noGrp="1"/>
          </p:cNvSpPr>
          <p:nvPr>
            <p:ph type="sldNum" sz="quarter" idx="12"/>
          </p:nvPr>
        </p:nvSpPr>
        <p:spPr/>
        <p:txBody>
          <a:bodyPr/>
          <a:lstStyle/>
          <a:p>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21D90797-729A-0045-8871-C1183921C696}"/>
              </a:ext>
            </a:extLst>
          </p:cNvPr>
          <p:cNvSpPr>
            <a:spLocks noGrp="1" noChangeArrowheads="1"/>
          </p:cNvSpPr>
          <p:nvPr>
            <p:ph type="title"/>
          </p:nvPr>
        </p:nvSpPr>
        <p:spPr>
          <a:xfrm>
            <a:off x="1981200" y="152400"/>
            <a:ext cx="8001000" cy="914400"/>
          </a:xfrm>
        </p:spPr>
        <p:txBody>
          <a:bodyPr>
            <a:normAutofit/>
          </a:bodyPr>
          <a:lstStyle/>
          <a:p>
            <a:r>
              <a:t>Dimensional Modeling</a:t>
            </a:r>
          </a:p>
        </p:txBody>
      </p:sp>
      <p:sp>
        <p:nvSpPr>
          <p:cNvPr id="6149" name="Rectangle 3">
            <a:extLst>
              <a:ext uri="{FF2B5EF4-FFF2-40B4-BE49-F238E27FC236}">
                <a16:creationId xmlns:a16="http://schemas.microsoft.com/office/drawing/2014/main" id="{A216099D-772B-5A4F-B931-3F2F6C666776}"/>
              </a:ext>
            </a:extLst>
          </p:cNvPr>
          <p:cNvSpPr>
            <a:spLocks noGrp="1" noChangeArrowheads="1"/>
          </p:cNvSpPr>
          <p:nvPr>
            <p:ph type="body" idx="4294967295"/>
          </p:nvPr>
        </p:nvSpPr>
        <p:spPr>
          <a:xfrm>
            <a:off x="609600" y="1066800"/>
            <a:ext cx="9448800" cy="5257800"/>
          </a:xfrm>
        </p:spPr>
        <p:txBody>
          <a:bodyPr/>
          <a:lstStyle/>
          <a:p>
            <a:r>
              <a:t>Dimensions organize attributes into stable analysis paths</a:t>
            </a:r>
          </a:p>
          <a:p>
            <a:r>
              <a:t>E.g., Time: day -&gt; week -&gt; month -&gt; quarter -&gt; year</a:t>
            </a:r>
          </a:p>
          <a:p>
            <a:r>
              <a:t>E.g., Product: SKU -&gt; product line -&gt; brand -&gt; category</a:t>
            </a:r>
          </a:p>
          <a:p>
            <a:r>
              <a:t>Conformed dimensions reuse the same keys and labels across facts</a:t>
            </a:r>
          </a:p>
          <a:p>
            <a:r>
              <a:t>Role-playing dimensions reuse one table in different roles, e.g., order_date and ship_date</a:t>
            </a:r>
          </a:p>
        </p:txBody>
      </p:sp>
      <p:sp>
        <p:nvSpPr>
          <p:cNvPr id="6152" name="Rectangle 9">
            <a:extLst>
              <a:ext uri="{FF2B5EF4-FFF2-40B4-BE49-F238E27FC236}">
                <a16:creationId xmlns:a16="http://schemas.microsoft.com/office/drawing/2014/main" id="{046B59CD-CC0F-FE4E-B5CC-BEF27603B288}"/>
              </a:ext>
            </a:extLst>
          </p:cNvPr>
          <p:cNvSpPr>
            <a:spLocks noChangeArrowheads="1"/>
          </p:cNvSpPr>
          <p:nvPr/>
        </p:nvSpPr>
        <p:spPr bwMode="auto">
          <a:xfrm>
            <a:off x="7373938" y="60229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2" name="Footer Placeholder 1">
            <a:extLst>
              <a:ext uri="{FF2B5EF4-FFF2-40B4-BE49-F238E27FC236}">
                <a16:creationId xmlns:a16="http://schemas.microsoft.com/office/drawing/2014/main" id="{E4232098-CE90-3E4E-B701-CC9863B74290}"/>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CBAF315A-EA2D-4D4A-AFC1-5625C954D217}"/>
              </a:ext>
            </a:extLst>
          </p:cNvPr>
          <p:cNvSpPr>
            <a:spLocks noGrp="1"/>
          </p:cNvSpPr>
          <p:nvPr>
            <p:ph type="sldNum" sz="quarter" idx="12"/>
          </p:nvPr>
        </p:nvSpPr>
        <p:spPr/>
        <p:txBody>
          <a:bodyPr/>
          <a:lstStyle/>
          <a:p>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52F53E2-4D3B-BC42-AE45-483F6CD6E3CD}"/>
              </a:ext>
            </a:extLst>
          </p:cNvPr>
          <p:cNvSpPr>
            <a:spLocks noGrp="1" noChangeArrowheads="1"/>
          </p:cNvSpPr>
          <p:nvPr>
            <p:ph type="title"/>
          </p:nvPr>
        </p:nvSpPr>
        <p:spPr>
          <a:xfrm>
            <a:off x="2070100" y="457200"/>
            <a:ext cx="8001000" cy="609600"/>
          </a:xfrm>
        </p:spPr>
        <p:txBody>
          <a:bodyPr>
            <a:normAutofit fontScale="90000"/>
          </a:bodyPr>
          <a:lstStyle/>
          <a:p>
            <a:r>
              <a:t>Concept Hierarchy: Location Dimension</a:t>
            </a:r>
          </a:p>
        </p:txBody>
      </p:sp>
      <p:sp>
        <p:nvSpPr>
          <p:cNvPr id="66563" name="Text Box 3">
            <a:extLst>
              <a:ext uri="{FF2B5EF4-FFF2-40B4-BE49-F238E27FC236}">
                <a16:creationId xmlns:a16="http://schemas.microsoft.com/office/drawing/2014/main" id="{D661D559-C2C8-4642-8AA3-8DC35B8DEF1D}"/>
              </a:ext>
            </a:extLst>
          </p:cNvPr>
          <p:cNvSpPr txBox="1">
            <a:spLocks noChangeArrowheads="1"/>
          </p:cNvSpPr>
          <p:nvPr/>
        </p:nvSpPr>
        <p:spPr bwMode="auto">
          <a:xfrm>
            <a:off x="6400801" y="14478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64" name="Text Box 4">
            <a:extLst>
              <a:ext uri="{FF2B5EF4-FFF2-40B4-BE49-F238E27FC236}">
                <a16:creationId xmlns:a16="http://schemas.microsoft.com/office/drawing/2014/main" id="{D880A331-F813-404C-9EEC-8A805F556F4B}"/>
              </a:ext>
            </a:extLst>
          </p:cNvPr>
          <p:cNvSpPr txBox="1">
            <a:spLocks noChangeArrowheads="1"/>
          </p:cNvSpPr>
          <p:nvPr/>
        </p:nvSpPr>
        <p:spPr bwMode="auto">
          <a:xfrm>
            <a:off x="4876801" y="2438400"/>
            <a:ext cx="106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Europe</a:t>
            </a:r>
          </a:p>
        </p:txBody>
      </p:sp>
      <p:sp>
        <p:nvSpPr>
          <p:cNvPr id="66565" name="Text Box 5">
            <a:extLst>
              <a:ext uri="{FF2B5EF4-FFF2-40B4-BE49-F238E27FC236}">
                <a16:creationId xmlns:a16="http://schemas.microsoft.com/office/drawing/2014/main" id="{3C582C8A-1E77-3744-AEBB-897F22684AA6}"/>
              </a:ext>
            </a:extLst>
          </p:cNvPr>
          <p:cNvSpPr txBox="1">
            <a:spLocks noChangeArrowheads="1"/>
          </p:cNvSpPr>
          <p:nvPr/>
        </p:nvSpPr>
        <p:spPr bwMode="auto">
          <a:xfrm>
            <a:off x="7924800" y="2438400"/>
            <a:ext cx="209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North_America</a:t>
            </a:r>
          </a:p>
        </p:txBody>
      </p:sp>
      <p:sp>
        <p:nvSpPr>
          <p:cNvPr id="66566" name="Text Box 6">
            <a:extLst>
              <a:ext uri="{FF2B5EF4-FFF2-40B4-BE49-F238E27FC236}">
                <a16:creationId xmlns:a16="http://schemas.microsoft.com/office/drawing/2014/main" id="{E90FEC38-CEB2-944A-A968-338191EA5554}"/>
              </a:ext>
            </a:extLst>
          </p:cNvPr>
          <p:cNvSpPr txBox="1">
            <a:spLocks noChangeArrowheads="1"/>
          </p:cNvSpPr>
          <p:nvPr/>
        </p:nvSpPr>
        <p:spPr bwMode="auto">
          <a:xfrm>
            <a:off x="9553576" y="35052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Mexico</a:t>
            </a:r>
          </a:p>
        </p:txBody>
      </p:sp>
      <p:sp>
        <p:nvSpPr>
          <p:cNvPr id="66567" name="Text Box 7">
            <a:extLst>
              <a:ext uri="{FF2B5EF4-FFF2-40B4-BE49-F238E27FC236}">
                <a16:creationId xmlns:a16="http://schemas.microsoft.com/office/drawing/2014/main" id="{DC480BB9-7E0A-7D4D-BDD6-1351AB24FD47}"/>
              </a:ext>
            </a:extLst>
          </p:cNvPr>
          <p:cNvSpPr txBox="1">
            <a:spLocks noChangeArrowheads="1"/>
          </p:cNvSpPr>
          <p:nvPr/>
        </p:nvSpPr>
        <p:spPr bwMode="auto">
          <a:xfrm>
            <a:off x="7467601" y="35052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Canada</a:t>
            </a:r>
          </a:p>
        </p:txBody>
      </p:sp>
      <p:sp>
        <p:nvSpPr>
          <p:cNvPr id="66568" name="Text Box 8">
            <a:extLst>
              <a:ext uri="{FF2B5EF4-FFF2-40B4-BE49-F238E27FC236}">
                <a16:creationId xmlns:a16="http://schemas.microsoft.com/office/drawing/2014/main" id="{652103C1-C236-7246-AE4E-16D7C7890E44}"/>
              </a:ext>
            </a:extLst>
          </p:cNvPr>
          <p:cNvSpPr txBox="1">
            <a:spLocks noChangeArrowheads="1"/>
          </p:cNvSpPr>
          <p:nvPr/>
        </p:nvSpPr>
        <p:spPr bwMode="auto">
          <a:xfrm>
            <a:off x="5751514" y="3505200"/>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Spain</a:t>
            </a:r>
          </a:p>
        </p:txBody>
      </p:sp>
      <p:sp>
        <p:nvSpPr>
          <p:cNvPr id="66569" name="Text Box 9">
            <a:extLst>
              <a:ext uri="{FF2B5EF4-FFF2-40B4-BE49-F238E27FC236}">
                <a16:creationId xmlns:a16="http://schemas.microsoft.com/office/drawing/2014/main" id="{DE679913-466A-5647-AFCB-4E41D766C82D}"/>
              </a:ext>
            </a:extLst>
          </p:cNvPr>
          <p:cNvSpPr txBox="1">
            <a:spLocks noChangeArrowheads="1"/>
          </p:cNvSpPr>
          <p:nvPr/>
        </p:nvSpPr>
        <p:spPr bwMode="auto">
          <a:xfrm>
            <a:off x="3733801" y="3505200"/>
            <a:ext cx="1317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Germany</a:t>
            </a:r>
          </a:p>
        </p:txBody>
      </p:sp>
      <p:sp>
        <p:nvSpPr>
          <p:cNvPr id="66570" name="Text Box 10">
            <a:extLst>
              <a:ext uri="{FF2B5EF4-FFF2-40B4-BE49-F238E27FC236}">
                <a16:creationId xmlns:a16="http://schemas.microsoft.com/office/drawing/2014/main" id="{D3FD3549-31C8-6949-8EE5-D0E5C51616A6}"/>
              </a:ext>
            </a:extLst>
          </p:cNvPr>
          <p:cNvSpPr txBox="1">
            <a:spLocks noChangeArrowheads="1"/>
          </p:cNvSpPr>
          <p:nvPr/>
        </p:nvSpPr>
        <p:spPr bwMode="auto">
          <a:xfrm>
            <a:off x="6400801" y="4572000"/>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Vancouver</a:t>
            </a:r>
          </a:p>
        </p:txBody>
      </p:sp>
      <p:sp>
        <p:nvSpPr>
          <p:cNvPr id="66571" name="Text Box 11">
            <a:extLst>
              <a:ext uri="{FF2B5EF4-FFF2-40B4-BE49-F238E27FC236}">
                <a16:creationId xmlns:a16="http://schemas.microsoft.com/office/drawing/2014/main" id="{1F70F901-7990-0540-9DC1-A56AAFCC7B35}"/>
              </a:ext>
            </a:extLst>
          </p:cNvPr>
          <p:cNvSpPr txBox="1">
            <a:spLocks noChangeArrowheads="1"/>
          </p:cNvSpPr>
          <p:nvPr/>
        </p:nvSpPr>
        <p:spPr bwMode="auto">
          <a:xfrm>
            <a:off x="7543800" y="55626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 Wind</a:t>
            </a:r>
          </a:p>
        </p:txBody>
      </p:sp>
      <p:sp>
        <p:nvSpPr>
          <p:cNvPr id="66572" name="Text Box 12">
            <a:extLst>
              <a:ext uri="{FF2B5EF4-FFF2-40B4-BE49-F238E27FC236}">
                <a16:creationId xmlns:a16="http://schemas.microsoft.com/office/drawing/2014/main" id="{0DF70A75-6FD1-214B-9D58-2EE2F5DF7740}"/>
              </a:ext>
            </a:extLst>
          </p:cNvPr>
          <p:cNvSpPr txBox="1">
            <a:spLocks noChangeArrowheads="1"/>
          </p:cNvSpPr>
          <p:nvPr/>
        </p:nvSpPr>
        <p:spPr bwMode="auto">
          <a:xfrm>
            <a:off x="5715001" y="55626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L. Chan</a:t>
            </a:r>
          </a:p>
        </p:txBody>
      </p:sp>
      <p:sp>
        <p:nvSpPr>
          <p:cNvPr id="66573" name="Text Box 13">
            <a:extLst>
              <a:ext uri="{FF2B5EF4-FFF2-40B4-BE49-F238E27FC236}">
                <a16:creationId xmlns:a16="http://schemas.microsoft.com/office/drawing/2014/main" id="{53B6CB5A-334C-824D-A63F-7853D1289969}"/>
              </a:ext>
            </a:extLst>
          </p:cNvPr>
          <p:cNvSpPr txBox="1">
            <a:spLocks noChangeArrowheads="1"/>
          </p:cNvSpPr>
          <p:nvPr/>
        </p:nvSpPr>
        <p:spPr bwMode="auto">
          <a:xfrm>
            <a:off x="6858000" y="24384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4" name="Text Box 14">
            <a:extLst>
              <a:ext uri="{FF2B5EF4-FFF2-40B4-BE49-F238E27FC236}">
                <a16:creationId xmlns:a16="http://schemas.microsoft.com/office/drawing/2014/main" id="{824B3FE5-AFB7-774D-9EB9-4ACAE95B5606}"/>
              </a:ext>
            </a:extLst>
          </p:cNvPr>
          <p:cNvSpPr txBox="1">
            <a:spLocks noChangeArrowheads="1"/>
          </p:cNvSpPr>
          <p:nvPr/>
        </p:nvSpPr>
        <p:spPr bwMode="auto">
          <a:xfrm>
            <a:off x="89154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5" name="Text Box 15">
            <a:extLst>
              <a:ext uri="{FF2B5EF4-FFF2-40B4-BE49-F238E27FC236}">
                <a16:creationId xmlns:a16="http://schemas.microsoft.com/office/drawing/2014/main" id="{E173470D-7E3C-EB41-A53B-E0510C59E64C}"/>
              </a:ext>
            </a:extLst>
          </p:cNvPr>
          <p:cNvSpPr txBox="1">
            <a:spLocks noChangeArrowheads="1"/>
          </p:cNvSpPr>
          <p:nvPr/>
        </p:nvSpPr>
        <p:spPr bwMode="auto">
          <a:xfrm>
            <a:off x="51816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6" name="Text Box 16">
            <a:extLst>
              <a:ext uri="{FF2B5EF4-FFF2-40B4-BE49-F238E27FC236}">
                <a16:creationId xmlns:a16="http://schemas.microsoft.com/office/drawing/2014/main" id="{19E109BF-1DFE-6C4A-B1DB-C104401EAD70}"/>
              </a:ext>
            </a:extLst>
          </p:cNvPr>
          <p:cNvSpPr txBox="1">
            <a:spLocks noChangeArrowheads="1"/>
          </p:cNvSpPr>
          <p:nvPr/>
        </p:nvSpPr>
        <p:spPr bwMode="auto">
          <a:xfrm>
            <a:off x="4953000" y="4648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7" name="Text Box 17">
            <a:extLst>
              <a:ext uri="{FF2B5EF4-FFF2-40B4-BE49-F238E27FC236}">
                <a16:creationId xmlns:a16="http://schemas.microsoft.com/office/drawing/2014/main" id="{37BD98FE-539E-544C-BC48-27322E9599B7}"/>
              </a:ext>
            </a:extLst>
          </p:cNvPr>
          <p:cNvSpPr txBox="1">
            <a:spLocks noChangeArrowheads="1"/>
          </p:cNvSpPr>
          <p:nvPr/>
        </p:nvSpPr>
        <p:spPr bwMode="auto">
          <a:xfrm>
            <a:off x="8001000" y="45720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8" name="Text Box 18">
            <a:extLst>
              <a:ext uri="{FF2B5EF4-FFF2-40B4-BE49-F238E27FC236}">
                <a16:creationId xmlns:a16="http://schemas.microsoft.com/office/drawing/2014/main" id="{CDB23A13-C6BE-A74D-A3BA-1814244FB31C}"/>
              </a:ext>
            </a:extLst>
          </p:cNvPr>
          <p:cNvSpPr txBox="1">
            <a:spLocks noChangeArrowheads="1"/>
          </p:cNvSpPr>
          <p:nvPr/>
        </p:nvSpPr>
        <p:spPr bwMode="auto">
          <a:xfrm>
            <a:off x="7010400" y="5562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9" name="Line 19">
            <a:extLst>
              <a:ext uri="{FF2B5EF4-FFF2-40B4-BE49-F238E27FC236}">
                <a16:creationId xmlns:a16="http://schemas.microsoft.com/office/drawing/2014/main" id="{0FFAD120-3D38-6E42-9EDA-EED8C2B42037}"/>
              </a:ext>
            </a:extLst>
          </p:cNvPr>
          <p:cNvSpPr>
            <a:spLocks noChangeShapeType="1"/>
          </p:cNvSpPr>
          <p:nvPr/>
        </p:nvSpPr>
        <p:spPr bwMode="auto">
          <a:xfrm flipH="1">
            <a:off x="5410200" y="1828800"/>
            <a:ext cx="1219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0" name="Line 20">
            <a:extLst>
              <a:ext uri="{FF2B5EF4-FFF2-40B4-BE49-F238E27FC236}">
                <a16:creationId xmlns:a16="http://schemas.microsoft.com/office/drawing/2014/main" id="{DED569FE-059C-DF49-910A-7807F012D750}"/>
              </a:ext>
            </a:extLst>
          </p:cNvPr>
          <p:cNvSpPr>
            <a:spLocks noChangeShapeType="1"/>
          </p:cNvSpPr>
          <p:nvPr/>
        </p:nvSpPr>
        <p:spPr bwMode="auto">
          <a:xfrm>
            <a:off x="6629400" y="1828800"/>
            <a:ext cx="2209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1" name="Line 21">
            <a:extLst>
              <a:ext uri="{FF2B5EF4-FFF2-40B4-BE49-F238E27FC236}">
                <a16:creationId xmlns:a16="http://schemas.microsoft.com/office/drawing/2014/main" id="{8C75EBE8-6EA5-E948-AE77-068298EDE2D5}"/>
              </a:ext>
            </a:extLst>
          </p:cNvPr>
          <p:cNvSpPr>
            <a:spLocks noChangeShapeType="1"/>
          </p:cNvSpPr>
          <p:nvPr/>
        </p:nvSpPr>
        <p:spPr bwMode="auto">
          <a:xfrm flipH="1">
            <a:off x="43434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2" name="Line 22">
            <a:extLst>
              <a:ext uri="{FF2B5EF4-FFF2-40B4-BE49-F238E27FC236}">
                <a16:creationId xmlns:a16="http://schemas.microsoft.com/office/drawing/2014/main" id="{72D9F352-3B2B-4C49-8D67-179D604EBB99}"/>
              </a:ext>
            </a:extLst>
          </p:cNvPr>
          <p:cNvSpPr>
            <a:spLocks noChangeShapeType="1"/>
          </p:cNvSpPr>
          <p:nvPr/>
        </p:nvSpPr>
        <p:spPr bwMode="auto">
          <a:xfrm>
            <a:off x="5334000" y="2819400"/>
            <a:ext cx="838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3" name="Line 23">
            <a:extLst>
              <a:ext uri="{FF2B5EF4-FFF2-40B4-BE49-F238E27FC236}">
                <a16:creationId xmlns:a16="http://schemas.microsoft.com/office/drawing/2014/main" id="{316BDBDF-7E4C-5D4A-852B-82AAE5CD783B}"/>
              </a:ext>
            </a:extLst>
          </p:cNvPr>
          <p:cNvSpPr>
            <a:spLocks noChangeShapeType="1"/>
          </p:cNvSpPr>
          <p:nvPr/>
        </p:nvSpPr>
        <p:spPr bwMode="auto">
          <a:xfrm flipH="1">
            <a:off x="80010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4" name="Line 24">
            <a:extLst>
              <a:ext uri="{FF2B5EF4-FFF2-40B4-BE49-F238E27FC236}">
                <a16:creationId xmlns:a16="http://schemas.microsoft.com/office/drawing/2014/main" id="{DC50D689-BB10-994D-8CC4-F3DAEEB4140F}"/>
              </a:ext>
            </a:extLst>
          </p:cNvPr>
          <p:cNvSpPr>
            <a:spLocks noChangeShapeType="1"/>
          </p:cNvSpPr>
          <p:nvPr/>
        </p:nvSpPr>
        <p:spPr bwMode="auto">
          <a:xfrm>
            <a:off x="8991600" y="2819400"/>
            <a:ext cx="1143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5" name="Line 25">
            <a:extLst>
              <a:ext uri="{FF2B5EF4-FFF2-40B4-BE49-F238E27FC236}">
                <a16:creationId xmlns:a16="http://schemas.microsoft.com/office/drawing/2014/main" id="{B947085E-521C-1847-B7ED-E94CC8053B9C}"/>
              </a:ext>
            </a:extLst>
          </p:cNvPr>
          <p:cNvSpPr>
            <a:spLocks noChangeShapeType="1"/>
          </p:cNvSpPr>
          <p:nvPr/>
        </p:nvSpPr>
        <p:spPr bwMode="auto">
          <a:xfrm flipH="1">
            <a:off x="3886200"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6" name="Line 26">
            <a:extLst>
              <a:ext uri="{FF2B5EF4-FFF2-40B4-BE49-F238E27FC236}">
                <a16:creationId xmlns:a16="http://schemas.microsoft.com/office/drawing/2014/main" id="{7C63A0BD-4E8C-1145-8242-6C255B9D1E16}"/>
              </a:ext>
            </a:extLst>
          </p:cNvPr>
          <p:cNvSpPr>
            <a:spLocks noChangeShapeType="1"/>
          </p:cNvSpPr>
          <p:nvPr/>
        </p:nvSpPr>
        <p:spPr bwMode="auto">
          <a:xfrm>
            <a:off x="4419600" y="3886200"/>
            <a:ext cx="609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7" name="Line 27">
            <a:extLst>
              <a:ext uri="{FF2B5EF4-FFF2-40B4-BE49-F238E27FC236}">
                <a16:creationId xmlns:a16="http://schemas.microsoft.com/office/drawing/2014/main" id="{600FF1C2-8C38-CC4A-9D6C-BE0B3C853EA2}"/>
              </a:ext>
            </a:extLst>
          </p:cNvPr>
          <p:cNvSpPr>
            <a:spLocks noChangeShapeType="1"/>
          </p:cNvSpPr>
          <p:nvPr/>
        </p:nvSpPr>
        <p:spPr bwMode="auto">
          <a:xfrm flipH="1">
            <a:off x="5715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8" name="Line 28">
            <a:extLst>
              <a:ext uri="{FF2B5EF4-FFF2-40B4-BE49-F238E27FC236}">
                <a16:creationId xmlns:a16="http://schemas.microsoft.com/office/drawing/2014/main" id="{B91369FF-4089-E040-A418-0BED4F30327E}"/>
              </a:ext>
            </a:extLst>
          </p:cNvPr>
          <p:cNvSpPr>
            <a:spLocks noChangeShapeType="1"/>
          </p:cNvSpPr>
          <p:nvPr/>
        </p:nvSpPr>
        <p:spPr bwMode="auto">
          <a:xfrm>
            <a:off x="6096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9" name="Line 29">
            <a:extLst>
              <a:ext uri="{FF2B5EF4-FFF2-40B4-BE49-F238E27FC236}">
                <a16:creationId xmlns:a16="http://schemas.microsoft.com/office/drawing/2014/main" id="{FF9D2701-FA54-9D43-9E29-1779F7A0DB86}"/>
              </a:ext>
            </a:extLst>
          </p:cNvPr>
          <p:cNvSpPr>
            <a:spLocks noChangeShapeType="1"/>
          </p:cNvSpPr>
          <p:nvPr/>
        </p:nvSpPr>
        <p:spPr bwMode="auto">
          <a:xfrm flipH="1">
            <a:off x="9753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0" name="Line 30">
            <a:extLst>
              <a:ext uri="{FF2B5EF4-FFF2-40B4-BE49-F238E27FC236}">
                <a16:creationId xmlns:a16="http://schemas.microsoft.com/office/drawing/2014/main" id="{3139F241-EF5D-7C4C-AE97-156C0CBB70FB}"/>
              </a:ext>
            </a:extLst>
          </p:cNvPr>
          <p:cNvSpPr>
            <a:spLocks noChangeShapeType="1"/>
          </p:cNvSpPr>
          <p:nvPr/>
        </p:nvSpPr>
        <p:spPr bwMode="auto">
          <a:xfrm>
            <a:off x="10134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1" name="Line 31">
            <a:extLst>
              <a:ext uri="{FF2B5EF4-FFF2-40B4-BE49-F238E27FC236}">
                <a16:creationId xmlns:a16="http://schemas.microsoft.com/office/drawing/2014/main" id="{C653B5B6-61E3-3444-8B93-A0C714132B0F}"/>
              </a:ext>
            </a:extLst>
          </p:cNvPr>
          <p:cNvSpPr>
            <a:spLocks noChangeShapeType="1"/>
          </p:cNvSpPr>
          <p:nvPr/>
        </p:nvSpPr>
        <p:spPr bwMode="auto">
          <a:xfrm flipH="1">
            <a:off x="3581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2" name="Line 32">
            <a:extLst>
              <a:ext uri="{FF2B5EF4-FFF2-40B4-BE49-F238E27FC236}">
                <a16:creationId xmlns:a16="http://schemas.microsoft.com/office/drawing/2014/main" id="{E5410D11-5265-C440-A844-E3A64131B9F4}"/>
              </a:ext>
            </a:extLst>
          </p:cNvPr>
          <p:cNvSpPr>
            <a:spLocks noChangeShapeType="1"/>
          </p:cNvSpPr>
          <p:nvPr/>
        </p:nvSpPr>
        <p:spPr bwMode="auto">
          <a:xfrm>
            <a:off x="3962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3" name="Line 33">
            <a:extLst>
              <a:ext uri="{FF2B5EF4-FFF2-40B4-BE49-F238E27FC236}">
                <a16:creationId xmlns:a16="http://schemas.microsoft.com/office/drawing/2014/main" id="{A269CB95-CDB6-364B-BD40-E7CC74B101BB}"/>
              </a:ext>
            </a:extLst>
          </p:cNvPr>
          <p:cNvSpPr>
            <a:spLocks noChangeShapeType="1"/>
          </p:cNvSpPr>
          <p:nvPr/>
        </p:nvSpPr>
        <p:spPr bwMode="auto">
          <a:xfrm flipH="1">
            <a:off x="6400800" y="4953000"/>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4" name="Line 34">
            <a:extLst>
              <a:ext uri="{FF2B5EF4-FFF2-40B4-BE49-F238E27FC236}">
                <a16:creationId xmlns:a16="http://schemas.microsoft.com/office/drawing/2014/main" id="{D3E79C59-A78E-2046-9029-0F53C8ABD0E9}"/>
              </a:ext>
            </a:extLst>
          </p:cNvPr>
          <p:cNvSpPr>
            <a:spLocks noChangeShapeType="1"/>
          </p:cNvSpPr>
          <p:nvPr/>
        </p:nvSpPr>
        <p:spPr bwMode="auto">
          <a:xfrm>
            <a:off x="7086600" y="4953000"/>
            <a:ext cx="990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5" name="Text Box 35">
            <a:extLst>
              <a:ext uri="{FF2B5EF4-FFF2-40B4-BE49-F238E27FC236}">
                <a16:creationId xmlns:a16="http://schemas.microsoft.com/office/drawing/2014/main" id="{7FB35836-A991-B846-88FE-837C01547DE7}"/>
              </a:ext>
            </a:extLst>
          </p:cNvPr>
          <p:cNvSpPr txBox="1">
            <a:spLocks noChangeArrowheads="1"/>
          </p:cNvSpPr>
          <p:nvPr/>
        </p:nvSpPr>
        <p:spPr bwMode="auto">
          <a:xfrm>
            <a:off x="1828801" y="15240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96" name="Text Box 36">
            <a:extLst>
              <a:ext uri="{FF2B5EF4-FFF2-40B4-BE49-F238E27FC236}">
                <a16:creationId xmlns:a16="http://schemas.microsoft.com/office/drawing/2014/main" id="{D22EA0EF-C9A4-6542-98DC-A3659AE174FE}"/>
              </a:ext>
            </a:extLst>
          </p:cNvPr>
          <p:cNvSpPr txBox="1">
            <a:spLocks noChangeArrowheads="1"/>
          </p:cNvSpPr>
          <p:nvPr/>
        </p:nvSpPr>
        <p:spPr bwMode="auto">
          <a:xfrm>
            <a:off x="1752601" y="2514600"/>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region</a:t>
            </a:r>
          </a:p>
        </p:txBody>
      </p:sp>
      <p:sp>
        <p:nvSpPr>
          <p:cNvPr id="66597" name="Text Box 37">
            <a:extLst>
              <a:ext uri="{FF2B5EF4-FFF2-40B4-BE49-F238E27FC236}">
                <a16:creationId xmlns:a16="http://schemas.microsoft.com/office/drawing/2014/main" id="{F96A5C37-9657-F44B-9FE1-06F00E163A4C}"/>
              </a:ext>
            </a:extLst>
          </p:cNvPr>
          <p:cNvSpPr txBox="1">
            <a:spLocks noChangeArrowheads="1"/>
          </p:cNvSpPr>
          <p:nvPr/>
        </p:nvSpPr>
        <p:spPr bwMode="auto">
          <a:xfrm>
            <a:off x="1828801" y="5638800"/>
            <a:ext cx="89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office</a:t>
            </a:r>
          </a:p>
        </p:txBody>
      </p:sp>
      <p:sp>
        <p:nvSpPr>
          <p:cNvPr id="66598" name="Line 38">
            <a:extLst>
              <a:ext uri="{FF2B5EF4-FFF2-40B4-BE49-F238E27FC236}">
                <a16:creationId xmlns:a16="http://schemas.microsoft.com/office/drawing/2014/main" id="{3C3163FD-C3D5-1F43-A1E9-917DC0860396}"/>
              </a:ext>
            </a:extLst>
          </p:cNvPr>
          <p:cNvSpPr>
            <a:spLocks noChangeShapeType="1"/>
          </p:cNvSpPr>
          <p:nvPr/>
        </p:nvSpPr>
        <p:spPr bwMode="auto">
          <a:xfrm flipH="1">
            <a:off x="8839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9" name="Line 39">
            <a:extLst>
              <a:ext uri="{FF2B5EF4-FFF2-40B4-BE49-F238E27FC236}">
                <a16:creationId xmlns:a16="http://schemas.microsoft.com/office/drawing/2014/main" id="{4C2AD698-8FB1-6849-BB1E-46267561E484}"/>
              </a:ext>
            </a:extLst>
          </p:cNvPr>
          <p:cNvSpPr>
            <a:spLocks noChangeShapeType="1"/>
          </p:cNvSpPr>
          <p:nvPr/>
        </p:nvSpPr>
        <p:spPr bwMode="auto">
          <a:xfrm>
            <a:off x="9220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0" name="Line 40">
            <a:extLst>
              <a:ext uri="{FF2B5EF4-FFF2-40B4-BE49-F238E27FC236}">
                <a16:creationId xmlns:a16="http://schemas.microsoft.com/office/drawing/2014/main" id="{00414BF5-86CD-964A-B927-81F99A52B30D}"/>
              </a:ext>
            </a:extLst>
          </p:cNvPr>
          <p:cNvSpPr>
            <a:spLocks noChangeShapeType="1"/>
          </p:cNvSpPr>
          <p:nvPr/>
        </p:nvSpPr>
        <p:spPr bwMode="auto">
          <a:xfrm flipH="1">
            <a:off x="7162800" y="38862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1" name="Line 41">
            <a:extLst>
              <a:ext uri="{FF2B5EF4-FFF2-40B4-BE49-F238E27FC236}">
                <a16:creationId xmlns:a16="http://schemas.microsoft.com/office/drawing/2014/main" id="{959BE1E9-D178-D24E-9439-6EC04E9204A9}"/>
              </a:ext>
            </a:extLst>
          </p:cNvPr>
          <p:cNvSpPr>
            <a:spLocks noChangeShapeType="1"/>
          </p:cNvSpPr>
          <p:nvPr/>
        </p:nvSpPr>
        <p:spPr bwMode="auto">
          <a:xfrm>
            <a:off x="7924800" y="3886200"/>
            <a:ext cx="1066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2" name="Text Box 42">
            <a:extLst>
              <a:ext uri="{FF2B5EF4-FFF2-40B4-BE49-F238E27FC236}">
                <a16:creationId xmlns:a16="http://schemas.microsoft.com/office/drawing/2014/main" id="{DA5C0637-7A7D-1E40-BD0B-43AA6405462E}"/>
              </a:ext>
            </a:extLst>
          </p:cNvPr>
          <p:cNvSpPr txBox="1">
            <a:spLocks noChangeArrowheads="1"/>
          </p:cNvSpPr>
          <p:nvPr/>
        </p:nvSpPr>
        <p:spPr bwMode="auto">
          <a:xfrm>
            <a:off x="1752601" y="35814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country</a:t>
            </a:r>
          </a:p>
        </p:txBody>
      </p:sp>
      <p:sp>
        <p:nvSpPr>
          <p:cNvPr id="66603" name="Line 43">
            <a:extLst>
              <a:ext uri="{FF2B5EF4-FFF2-40B4-BE49-F238E27FC236}">
                <a16:creationId xmlns:a16="http://schemas.microsoft.com/office/drawing/2014/main" id="{32E393D7-D6EC-8D42-90B4-DED2D6466CF4}"/>
              </a:ext>
            </a:extLst>
          </p:cNvPr>
          <p:cNvSpPr>
            <a:spLocks noChangeShapeType="1"/>
          </p:cNvSpPr>
          <p:nvPr/>
        </p:nvSpPr>
        <p:spPr bwMode="auto">
          <a:xfrm>
            <a:off x="2133600" y="19050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4" name="Line 44">
            <a:extLst>
              <a:ext uri="{FF2B5EF4-FFF2-40B4-BE49-F238E27FC236}">
                <a16:creationId xmlns:a16="http://schemas.microsoft.com/office/drawing/2014/main" id="{283B2CD1-D90F-9B44-BC36-F8E35B12EECF}"/>
              </a:ext>
            </a:extLst>
          </p:cNvPr>
          <p:cNvSpPr>
            <a:spLocks noChangeShapeType="1"/>
          </p:cNvSpPr>
          <p:nvPr/>
        </p:nvSpPr>
        <p:spPr bwMode="auto">
          <a:xfrm>
            <a:off x="2133600" y="29718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5" name="Line 45">
            <a:extLst>
              <a:ext uri="{FF2B5EF4-FFF2-40B4-BE49-F238E27FC236}">
                <a16:creationId xmlns:a16="http://schemas.microsoft.com/office/drawing/2014/main" id="{2E0FA55E-4B78-EC42-B20D-0FDEE6340BD6}"/>
              </a:ext>
            </a:extLst>
          </p:cNvPr>
          <p:cNvSpPr>
            <a:spLocks noChangeShapeType="1"/>
          </p:cNvSpPr>
          <p:nvPr/>
        </p:nvSpPr>
        <p:spPr bwMode="auto">
          <a:xfrm>
            <a:off x="2133600" y="39624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6" name="Line 46">
            <a:extLst>
              <a:ext uri="{FF2B5EF4-FFF2-40B4-BE49-F238E27FC236}">
                <a16:creationId xmlns:a16="http://schemas.microsoft.com/office/drawing/2014/main" id="{02844544-F124-2140-A6D2-1A053E1F8CFE}"/>
              </a:ext>
            </a:extLst>
          </p:cNvPr>
          <p:cNvSpPr>
            <a:spLocks noChangeShapeType="1"/>
          </p:cNvSpPr>
          <p:nvPr/>
        </p:nvSpPr>
        <p:spPr bwMode="auto">
          <a:xfrm>
            <a:off x="2133600" y="5029200"/>
            <a:ext cx="0" cy="6858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7" name="Text Box 47">
            <a:extLst>
              <a:ext uri="{FF2B5EF4-FFF2-40B4-BE49-F238E27FC236}">
                <a16:creationId xmlns:a16="http://schemas.microsoft.com/office/drawing/2014/main" id="{6A836C9D-FF45-5B46-8AA0-777CAB88F652}"/>
              </a:ext>
            </a:extLst>
          </p:cNvPr>
          <p:cNvSpPr txBox="1">
            <a:spLocks noChangeArrowheads="1"/>
          </p:cNvSpPr>
          <p:nvPr/>
        </p:nvSpPr>
        <p:spPr bwMode="auto">
          <a:xfrm>
            <a:off x="8610601" y="46482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Toronto</a:t>
            </a:r>
          </a:p>
        </p:txBody>
      </p:sp>
      <p:sp>
        <p:nvSpPr>
          <p:cNvPr id="66608" name="Text Box 48">
            <a:extLst>
              <a:ext uri="{FF2B5EF4-FFF2-40B4-BE49-F238E27FC236}">
                <a16:creationId xmlns:a16="http://schemas.microsoft.com/office/drawing/2014/main" id="{F6223A77-D7F6-F646-96E0-717A10F1DAEA}"/>
              </a:ext>
            </a:extLst>
          </p:cNvPr>
          <p:cNvSpPr txBox="1">
            <a:spLocks noChangeArrowheads="1"/>
          </p:cNvSpPr>
          <p:nvPr/>
        </p:nvSpPr>
        <p:spPr bwMode="auto">
          <a:xfrm>
            <a:off x="3352800" y="46482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Frankfurt</a:t>
            </a:r>
          </a:p>
        </p:txBody>
      </p:sp>
      <p:sp>
        <p:nvSpPr>
          <p:cNvPr id="66609" name="Text Box 49">
            <a:extLst>
              <a:ext uri="{FF2B5EF4-FFF2-40B4-BE49-F238E27FC236}">
                <a16:creationId xmlns:a16="http://schemas.microsoft.com/office/drawing/2014/main" id="{4C7BF623-4AE8-8541-AB97-8FB30734F530}"/>
              </a:ext>
            </a:extLst>
          </p:cNvPr>
          <p:cNvSpPr txBox="1">
            <a:spLocks noChangeArrowheads="1"/>
          </p:cNvSpPr>
          <p:nvPr/>
        </p:nvSpPr>
        <p:spPr bwMode="auto">
          <a:xfrm>
            <a:off x="1828801" y="4648200"/>
            <a:ext cx="639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city</a:t>
            </a:r>
          </a:p>
        </p:txBody>
      </p:sp>
      <p:sp>
        <p:nvSpPr>
          <p:cNvPr id="2" name="Footer Placeholder 1">
            <a:extLst>
              <a:ext uri="{FF2B5EF4-FFF2-40B4-BE49-F238E27FC236}">
                <a16:creationId xmlns:a16="http://schemas.microsoft.com/office/drawing/2014/main" id="{938DDA49-175F-6C42-9C96-83DFEDB5C647}"/>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A564349A-7D89-5542-9E89-609640A90541}"/>
              </a:ext>
            </a:extLst>
          </p:cNvPr>
          <p:cNvSpPr>
            <a:spLocks noGrp="1"/>
          </p:cNvSpPr>
          <p:nvPr>
            <p:ph type="sldNum" sz="quarter" idx="12"/>
          </p:nvPr>
        </p:nvSpPr>
        <p:spPr/>
        <p:txBody>
          <a:bodyPr/>
          <a:lstStyle/>
          <a:p>
            <a:r>
              <a:t>7</a:t>
            </a:r>
          </a:p>
        </p:txBody>
      </p:sp>
    </p:spTree>
    <p:extLst>
      <p:ext uri="{BB962C8B-B14F-4D97-AF65-F5344CB8AC3E}">
        <p14:creationId xmlns:p14="http://schemas.microsoft.com/office/powerpoint/2010/main" val="1591231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Declaring Fact Grain</a:t>
            </a:r>
          </a:p>
        </p:txBody>
      </p:sp>
      <p:sp>
        <p:nvSpPr>
          <p:cNvPr id="3" name="Content Placeholder 2"/>
          <p:cNvSpPr>
            <a:spLocks noGrp="1"/>
          </p:cNvSpPr>
          <p:nvPr>
            <p:ph idx="1" hasCustomPrompt="1"/>
          </p:nvPr>
        </p:nvSpPr>
        <p:spPr/>
        <p:txBody>
          <a:bodyPr/>
          <a:lstStyle/>
          <a:p>
            <a:r>
              <a:rPr dirty="0"/>
              <a:t>Grain defines exactly what one row in the fact table represents</a:t>
            </a:r>
          </a:p>
          <a:p>
            <a:r>
              <a:rPr b="1" dirty="0">
                <a:highlight>
                  <a:srgbClr val="FFFF00"/>
                </a:highlight>
              </a:rPr>
              <a:t>If the grain is ambiguous, double counting is likely</a:t>
            </a:r>
          </a:p>
          <a:p>
            <a:r>
              <a:rPr dirty="0"/>
              <a:t>Document grain and natural uniqueness before writing ETL</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8</a:t>
            </a:r>
          </a:p>
        </p:txBody>
      </p:sp>
      <p:pic>
        <p:nvPicPr>
          <p:cNvPr id="7" name="תמונה 6">
            <a:extLst>
              <a:ext uri="{FF2B5EF4-FFF2-40B4-BE49-F238E27FC236}">
                <a16:creationId xmlns:a16="http://schemas.microsoft.com/office/drawing/2014/main" id="{5734B0AD-57C9-5C9D-CADD-DE74211C697C}"/>
              </a:ext>
            </a:extLst>
          </p:cNvPr>
          <p:cNvPicPr>
            <a:picLocks noChangeAspect="1"/>
          </p:cNvPicPr>
          <p:nvPr/>
        </p:nvPicPr>
        <p:blipFill>
          <a:blip r:embed="rId2"/>
          <a:srcRect t="18031"/>
          <a:stretch>
            <a:fillRect/>
          </a:stretch>
        </p:blipFill>
        <p:spPr>
          <a:xfrm>
            <a:off x="2813137" y="3352542"/>
            <a:ext cx="6565726" cy="30038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 What It Is</a:t>
            </a:r>
          </a:p>
        </p:txBody>
      </p:sp>
      <p:sp>
        <p:nvSpPr>
          <p:cNvPr id="3" name="Content Placeholder 2"/>
          <p:cNvSpPr>
            <a:spLocks noGrp="1"/>
          </p:cNvSpPr>
          <p:nvPr>
            <p:ph idx="1"/>
          </p:nvPr>
        </p:nvSpPr>
        <p:spPr>
          <a:xfrm>
            <a:off x="946768" y="1600201"/>
            <a:ext cx="9437309" cy="4525963"/>
          </a:xfrm>
        </p:spPr>
        <p:txBody>
          <a:bodyPr/>
          <a:lstStyle/>
          <a:p>
            <a:r>
              <a:rPr dirty="0"/>
              <a:t>The grain is the business event level captured </a:t>
            </a:r>
            <a:br>
              <a:rPr lang="en-US" dirty="0"/>
            </a:br>
            <a:r>
              <a:rPr dirty="0"/>
              <a:t>by the fact table</a:t>
            </a:r>
          </a:p>
          <a:p>
            <a:r>
              <a:rPr dirty="0"/>
              <a:t>It answers the question: what does one row mean?</a:t>
            </a:r>
          </a:p>
          <a:p>
            <a:r>
              <a:rPr dirty="0"/>
              <a:t>Changing grain later usually breaks joins, aggregates, and history</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Grain Options</a:t>
            </a:r>
          </a:p>
        </p:txBody>
      </p:sp>
      <p:sp>
        <p:nvSpPr>
          <p:cNvPr id="3" name="Content Placeholder 2"/>
          <p:cNvSpPr>
            <a:spLocks noGrp="1"/>
          </p:cNvSpPr>
          <p:nvPr>
            <p:ph idx="1"/>
          </p:nvPr>
        </p:nvSpPr>
        <p:spPr/>
        <p:txBody>
          <a:bodyPr/>
          <a:lstStyle/>
          <a:p>
            <a:r>
              <a:rPr dirty="0"/>
              <a:t>Transaction grain: one row per event</a:t>
            </a:r>
          </a:p>
          <a:p>
            <a:r>
              <a:rPr dirty="0"/>
              <a:t>Periodic snapshot grain: one row per entity per period</a:t>
            </a:r>
          </a:p>
          <a:p>
            <a:r>
              <a:rPr dirty="0"/>
              <a:t>Accumulating snapshot grain: one row per process lifecycle</a:t>
            </a:r>
          </a:p>
          <a:p>
            <a:r>
              <a:rPr dirty="0"/>
              <a:t>Aggregate grain: pre-summarized rows</a:t>
            </a:r>
          </a:p>
          <a:p>
            <a:r>
              <a:rPr dirty="0" err="1"/>
              <a:t>Factless</a:t>
            </a:r>
            <a:r>
              <a:rPr dirty="0"/>
              <a:t> grain: event existence only</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the Right Grain</a:t>
            </a:r>
          </a:p>
        </p:txBody>
      </p:sp>
      <p:sp>
        <p:nvSpPr>
          <p:cNvPr id="3" name="Content Placeholder 2"/>
          <p:cNvSpPr>
            <a:spLocks noGrp="1"/>
          </p:cNvSpPr>
          <p:nvPr>
            <p:ph idx="1"/>
          </p:nvPr>
        </p:nvSpPr>
        <p:spPr/>
        <p:txBody>
          <a:bodyPr/>
          <a:lstStyle/>
          <a:p>
            <a:r>
              <a:rPr dirty="0"/>
              <a:t>Start with the lowest atomic grain needed for analysis</a:t>
            </a:r>
          </a:p>
          <a:p>
            <a:r>
              <a:rPr dirty="0"/>
              <a:t>Use aggregate grains only for performance </a:t>
            </a:r>
            <a:r>
              <a:rPr lang="en-US" dirty="0"/>
              <a:t>measures</a:t>
            </a:r>
            <a:endParaRPr dirty="0"/>
          </a:p>
          <a:p>
            <a:r>
              <a:rPr dirty="0"/>
              <a:t>Avoid mixing grains in one fact table</a:t>
            </a:r>
          </a:p>
          <a:p>
            <a:r>
              <a:rPr dirty="0"/>
              <a:t>Check that the proposed grain has a stable unique key</a:t>
            </a:r>
          </a:p>
          <a:p>
            <a:r>
              <a:rPr dirty="0"/>
              <a:t>Write the grain statement before designing dimensions</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Behavior Types</a:t>
            </a:r>
          </a:p>
        </p:txBody>
      </p:sp>
      <p:sp>
        <p:nvSpPr>
          <p:cNvPr id="3" name="Content Placeholder 2"/>
          <p:cNvSpPr>
            <a:spLocks noGrp="1"/>
          </p:cNvSpPr>
          <p:nvPr>
            <p:ph idx="1"/>
          </p:nvPr>
        </p:nvSpPr>
        <p:spPr>
          <a:xfrm>
            <a:off x="946768" y="1623377"/>
            <a:ext cx="10000980" cy="4525963"/>
          </a:xfrm>
        </p:spPr>
        <p:txBody>
          <a:bodyPr/>
          <a:lstStyle/>
          <a:p>
            <a:r>
              <a:rPr dirty="0"/>
              <a:t>Append-only</a:t>
            </a:r>
            <a:endParaRPr lang="en-US" dirty="0"/>
          </a:p>
          <a:p>
            <a:pPr marL="0" indent="0">
              <a:buNone/>
            </a:pPr>
            <a:r>
              <a:rPr lang="en-US" dirty="0"/>
              <a:t>		</a:t>
            </a:r>
            <a:r>
              <a:rPr dirty="0"/>
              <a:t>tables only insert new rows and preserve full event history</a:t>
            </a:r>
          </a:p>
          <a:p>
            <a:r>
              <a:rPr dirty="0"/>
              <a:t>Mutable tables</a:t>
            </a:r>
            <a:endParaRPr lang="en-US" dirty="0"/>
          </a:p>
          <a:p>
            <a:pPr marL="0" indent="0">
              <a:buNone/>
            </a:pPr>
            <a:r>
              <a:rPr lang="en-US" dirty="0"/>
              <a:t>		</a:t>
            </a:r>
            <a:r>
              <a:rPr dirty="0"/>
              <a:t>allow updates and deletes when the latest state matters</a:t>
            </a:r>
          </a:p>
          <a:p>
            <a:r>
              <a:rPr dirty="0"/>
              <a:t>Late-arriving</a:t>
            </a:r>
            <a:endParaRPr lang="en-US" dirty="0"/>
          </a:p>
          <a:p>
            <a:pPr marL="0" indent="0">
              <a:buNone/>
            </a:pPr>
            <a:r>
              <a:rPr lang="en-US" dirty="0"/>
              <a:t>		</a:t>
            </a:r>
            <a:r>
              <a:rPr dirty="0"/>
              <a:t>data reaches after the business event happened</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Append-Only vs. Mutable Tables</a:t>
            </a:r>
          </a:p>
        </p:txBody>
      </p:sp>
      <p:sp>
        <p:nvSpPr>
          <p:cNvPr id="3" name="Content Placeholder 2"/>
          <p:cNvSpPr>
            <a:spLocks noGrp="1"/>
          </p:cNvSpPr>
          <p:nvPr>
            <p:ph idx="1"/>
          </p:nvPr>
        </p:nvSpPr>
        <p:spPr/>
        <p:txBody>
          <a:bodyPr>
            <a:normAutofit/>
          </a:bodyPr>
          <a:lstStyle/>
          <a:p>
            <a:r>
              <a:rPr dirty="0"/>
              <a:t>Append-only</a:t>
            </a:r>
            <a:endParaRPr lang="en-US" dirty="0"/>
          </a:p>
          <a:p>
            <a:pPr marL="0" indent="0">
              <a:buNone/>
            </a:pPr>
            <a:r>
              <a:rPr lang="en-US" dirty="0"/>
              <a:t>		b</a:t>
            </a:r>
            <a:r>
              <a:rPr dirty="0"/>
              <a:t>est for logs, transactions, CDC history, and </a:t>
            </a:r>
            <a:r>
              <a:rPr dirty="0" err="1"/>
              <a:t>replayability</a:t>
            </a:r>
            <a:endParaRPr dirty="0"/>
          </a:p>
          <a:p>
            <a:r>
              <a:rPr dirty="0"/>
              <a:t>Mutable</a:t>
            </a:r>
            <a:endParaRPr lang="en-US" dirty="0"/>
          </a:p>
          <a:p>
            <a:pPr marL="0" indent="0">
              <a:buNone/>
            </a:pPr>
            <a:r>
              <a:rPr lang="en-US" dirty="0"/>
              <a:t>		</a:t>
            </a:r>
            <a:r>
              <a:rPr dirty="0"/>
              <a:t>best for current-state dimensions, operational mirrors</a:t>
            </a:r>
            <a:endParaRPr lang="en-US" dirty="0"/>
          </a:p>
          <a:p>
            <a:pPr marL="0" indent="0">
              <a:buNone/>
            </a:pPr>
            <a:endParaRPr lang="en-US" dirty="0"/>
          </a:p>
          <a:p>
            <a:pPr marL="0" indent="0">
              <a:buNone/>
            </a:pPr>
            <a:r>
              <a:rPr dirty="0"/>
              <a:t>A common pattern is append-only raw layer </a:t>
            </a:r>
            <a:br>
              <a:rPr lang="en-US" dirty="0"/>
            </a:br>
            <a:r>
              <a:rPr dirty="0"/>
              <a:t>plus curated mutable serving tables</a:t>
            </a:r>
          </a:p>
        </p:txBody>
      </p:sp>
      <p:sp>
        <p:nvSpPr>
          <p:cNvPr id="4" name="TextBox 3"/>
          <p:cNvSpPr txBox="1"/>
          <p:nvPr/>
        </p:nvSpPr>
        <p:spPr>
          <a:xfrm>
            <a:off x="4169663" y="6355080"/>
            <a:ext cx="3858768" cy="365760"/>
          </a:xfrm>
          <a:prstGeom prst="rect">
            <a:avLst/>
          </a:prstGeom>
          <a:noFill/>
        </p:spPr>
        <p:txBody>
          <a:bodyPr wrap="none" lIns="0" tIns="0" rIns="0" bIns="0">
            <a:spAutoFit/>
          </a:bodyPr>
          <a:lstStyle/>
          <a:p>
            <a:pPr algn="ctr"/>
            <a:r>
              <a:rPr sz="700">
                <a:solidFill>
                  <a:srgbClr val="808080"/>
                </a:solidFill>
                <a:latin typeface="Calibri"/>
              </a:rPr>
              <a:t>Or Peretz</a:t>
            </a:r>
          </a:p>
        </p:txBody>
      </p:sp>
      <p:sp>
        <p:nvSpPr>
          <p:cNvPr id="5" name="TextBox 4"/>
          <p:cNvSpPr txBox="1"/>
          <p:nvPr/>
        </p:nvSpPr>
        <p:spPr>
          <a:xfrm>
            <a:off x="8741664" y="6355080"/>
            <a:ext cx="2843784" cy="365760"/>
          </a:xfrm>
          <a:prstGeom prst="rect">
            <a:avLst/>
          </a:prstGeom>
          <a:noFill/>
        </p:spPr>
        <p:txBody>
          <a:bodyPr wrap="none" lIns="0" tIns="0" rIns="0" bIns="0">
            <a:spAutoFit/>
          </a:bodyPr>
          <a:lstStyle/>
          <a:p>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Measure Types and Aggregation Rules</a:t>
            </a:r>
          </a:p>
        </p:txBody>
      </p:sp>
      <p:sp>
        <p:nvSpPr>
          <p:cNvPr id="3" name="Content Placeholder 2"/>
          <p:cNvSpPr>
            <a:spLocks noGrp="1"/>
          </p:cNvSpPr>
          <p:nvPr>
            <p:ph idx="1" hasCustomPrompt="1"/>
          </p:nvPr>
        </p:nvSpPr>
        <p:spPr/>
        <p:txBody>
          <a:bodyPr/>
          <a:lstStyle/>
          <a:p>
            <a:r>
              <a:rPr dirty="0"/>
              <a:t>Additive: safe to sum across all dimensions</a:t>
            </a:r>
          </a:p>
          <a:p>
            <a:r>
              <a:rPr dirty="0"/>
              <a:t>Semi-additive: sum across product, not across time</a:t>
            </a:r>
          </a:p>
          <a:p>
            <a:r>
              <a:rPr dirty="0"/>
              <a:t>Non-additive: calculate from numerator and denominator</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46A8-A3BF-37BF-970A-0ACE7B0D30F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E85AB37-FC94-2FB0-3492-F4238C5FCCC9}"/>
              </a:ext>
            </a:extLst>
          </p:cNvPr>
          <p:cNvSpPr>
            <a:spLocks noGrp="1"/>
          </p:cNvSpPr>
          <p:nvPr>
            <p:ph type="ctrTitle" hasCustomPrompt="1"/>
          </p:nvPr>
        </p:nvSpPr>
        <p:spPr>
          <a:xfrm>
            <a:off x="914400" y="2130426"/>
            <a:ext cx="10363200" cy="1470025"/>
          </a:xfrm>
        </p:spPr>
        <p:txBody>
          <a:bodyPr/>
          <a:lstStyle/>
          <a:p>
            <a:r>
              <a:rPr lang="en-US" dirty="0"/>
              <a:t>Common Schemas</a:t>
            </a:r>
            <a:endParaRPr dirty="0"/>
          </a:p>
        </p:txBody>
      </p:sp>
      <p:sp>
        <p:nvSpPr>
          <p:cNvPr id="5" name="Footer Placeholder 4">
            <a:extLst>
              <a:ext uri="{FF2B5EF4-FFF2-40B4-BE49-F238E27FC236}">
                <a16:creationId xmlns:a16="http://schemas.microsoft.com/office/drawing/2014/main" id="{A3AC4845-3BD1-ABAE-96B9-A26B68BBCCA5}"/>
              </a:ext>
            </a:extLst>
          </p:cNvPr>
          <p:cNvSpPr>
            <a:spLocks noGrp="1"/>
          </p:cNvSpPr>
          <p:nvPr>
            <p:ph type="ftr" sz="quarter" idx="11"/>
          </p:nvPr>
        </p:nvSpPr>
        <p:spPr/>
        <p:txBody>
          <a:bodyPr/>
          <a:lstStyle/>
          <a:p>
            <a:r>
              <a:rPr lang="en-US"/>
              <a:t>Or Peretz</a:t>
            </a:r>
          </a:p>
        </p:txBody>
      </p:sp>
      <p:sp>
        <p:nvSpPr>
          <p:cNvPr id="6" name="Slide Number Placeholder 5">
            <a:extLst>
              <a:ext uri="{FF2B5EF4-FFF2-40B4-BE49-F238E27FC236}">
                <a16:creationId xmlns:a16="http://schemas.microsoft.com/office/drawing/2014/main" id="{A6BBBF64-3BDE-7C95-A63A-9EA7BC99C4E8}"/>
              </a:ext>
            </a:extLst>
          </p:cNvPr>
          <p:cNvSpPr>
            <a:spLocks noGrp="1"/>
          </p:cNvSpPr>
          <p:nvPr>
            <p:ph type="sldNum" sz="quarter" idx="12"/>
          </p:nvPr>
        </p:nvSpPr>
        <p:spPr/>
        <p:txBody>
          <a:bodyPr/>
          <a:lstStyle/>
          <a:p>
            <a:r>
              <a:t>1</a:t>
            </a:r>
          </a:p>
        </p:txBody>
      </p:sp>
    </p:spTree>
    <p:extLst>
      <p:ext uri="{BB962C8B-B14F-4D97-AF65-F5344CB8AC3E}">
        <p14:creationId xmlns:p14="http://schemas.microsoft.com/office/powerpoint/2010/main" val="132097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t>Star Schema: Default BI Design</a:t>
            </a:r>
          </a:p>
        </p:txBody>
      </p:sp>
      <p:pic>
        <p:nvPicPr>
          <p:cNvPr id="2" name="Picture 1" descr="../../diagrams/week05/week5_star_schema.png"/>
          <p:cNvPicPr>
            <a:picLocks noGrp="1" noChangeAspect="1"/>
          </p:cNvPicPr>
          <p:nvPr/>
        </p:nvPicPr>
        <p:blipFill>
          <a:blip r:embed="rId2"/>
          <a:stretch>
            <a:fillRect/>
          </a:stretch>
        </p:blipFill>
        <p:spPr bwMode="auto">
          <a:xfrm>
            <a:off x="2286000" y="2141747"/>
            <a:ext cx="7620000" cy="3276600"/>
          </a:xfrm>
          <a:prstGeom prst="rect">
            <a:avLst/>
          </a:prstGeom>
          <a:noFill/>
          <a:ln w="9525">
            <a:noFill/>
            <a:headEnd/>
            <a:tailEnd/>
          </a:ln>
        </p:spPr>
      </p:pic>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r>
              <a:t>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50800"/>
            <a:ext cx="10160000" cy="914400"/>
          </a:xfrm>
          <a:noFill/>
        </p:spPr>
        <p:txBody>
          <a:bodyPr vert="horz" lIns="0" tIns="0" rIns="0" bIns="0" rtlCol="0" anchor="b">
            <a:normAutofit/>
          </a:bodyPr>
          <a:lstStyle/>
          <a:p>
            <a: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1728592" y="1193800"/>
            <a:ext cx="7114783" cy="5054600"/>
          </a:xfrm>
          <a:noFill/>
        </p:spPr>
        <p:txBody>
          <a:bodyPr vert="horz" lIns="92075" tIns="46037" rIns="92075" bIns="46037" rtlCol="0">
            <a:normAutofit/>
          </a:bodyPr>
          <a:lstStyle/>
          <a:p>
            <a:r>
              <a:rPr dirty="0"/>
              <a:t>A fact table sits at the center and connects to denormalized dimensions.</a:t>
            </a:r>
          </a:p>
          <a:p>
            <a:r>
              <a:rPr dirty="0"/>
              <a:t>Each dimension key appears once in the fact table primary/unique key.</a:t>
            </a:r>
          </a:p>
        </p:txBody>
      </p:sp>
      <p:sp>
        <p:nvSpPr>
          <p:cNvPr id="2" name="Footer Placeholder 1">
            <a:extLst>
              <a:ext uri="{FF2B5EF4-FFF2-40B4-BE49-F238E27FC236}">
                <a16:creationId xmlns:a16="http://schemas.microsoft.com/office/drawing/2014/main" id="{38BA2684-3C4D-3E4C-8392-716A83D63D2A}"/>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D8FB5893-6449-AC4A-A835-E6DE429CF24C}"/>
              </a:ext>
            </a:extLst>
          </p:cNvPr>
          <p:cNvSpPr>
            <a:spLocks noGrp="1"/>
          </p:cNvSpPr>
          <p:nvPr>
            <p:ph type="sldNum" sz="quarter" idx="11"/>
          </p:nvPr>
        </p:nvSpPr>
        <p:spPr/>
        <p:txBody>
          <a:bodyPr/>
          <a:lstStyle/>
          <a:p>
            <a:endParaRPr lang="en-US" altLang="en-US"/>
          </a:p>
        </p:txBody>
      </p:sp>
      <p:pic>
        <p:nvPicPr>
          <p:cNvPr id="1026" name="Picture 2" descr="Star Schema | Logi Analytics BI Encyclopedia">
            <a:extLst>
              <a:ext uri="{FF2B5EF4-FFF2-40B4-BE49-F238E27FC236}">
                <a16:creationId xmlns:a16="http://schemas.microsoft.com/office/drawing/2014/main" id="{4C8DFDC8-153E-3C41-A879-9AC35D304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5007" y="3346450"/>
            <a:ext cx="3674993" cy="313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16033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Snowflake Schema</a:t>
            </a:r>
          </a:p>
        </p:txBody>
      </p:sp>
      <p:sp>
        <p:nvSpPr>
          <p:cNvPr id="3" name="Content Placeholder 2"/>
          <p:cNvSpPr>
            <a:spLocks noGrp="1"/>
          </p:cNvSpPr>
          <p:nvPr>
            <p:ph idx="1" hasCustomPrompt="1"/>
          </p:nvPr>
        </p:nvSpPr>
        <p:spPr/>
        <p:txBody>
          <a:bodyPr/>
          <a:lstStyle/>
          <a:p>
            <a:r>
              <a:rPr dirty="0"/>
              <a:t>Snowflaking normalizes selected dimension </a:t>
            </a:r>
            <a:br>
              <a:rPr lang="en-US" dirty="0"/>
            </a:br>
            <a:r>
              <a:rPr dirty="0"/>
              <a:t>attributes into sub-dimensions</a:t>
            </a:r>
          </a:p>
          <a:p>
            <a:r>
              <a:rPr dirty="0"/>
              <a:t>It can reduce redundancy in large</a:t>
            </a:r>
            <a:r>
              <a:rPr lang="en-US" dirty="0"/>
              <a:t> </a:t>
            </a:r>
            <a:r>
              <a:rPr dirty="0"/>
              <a:t>dimensions</a:t>
            </a:r>
          </a:p>
          <a:p>
            <a:r>
              <a:rPr dirty="0"/>
              <a:t>It adds joins, ETL complexity, and harder self-service BI</a:t>
            </a:r>
          </a:p>
          <a:p>
            <a:r>
              <a:rPr dirty="0"/>
              <a:t>Common compromise: normalized core plus star marts</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7DC5E96D-7295-7A46-8A13-A4970C04CEC8}"/>
              </a:ext>
            </a:extLst>
          </p:cNvPr>
          <p:cNvSpPr>
            <a:spLocks noGrp="1" noChangeArrowheads="1"/>
          </p:cNvSpPr>
          <p:nvPr>
            <p:ph type="title"/>
          </p:nvPr>
        </p:nvSpPr>
        <p:spPr/>
        <p:txBody>
          <a:bodyPr>
            <a:normAutofit/>
          </a:bodyPr>
          <a:lstStyle/>
          <a:p>
            <a:r>
              <a:t>Snowflake Schema: Normalized Dimensions</a:t>
            </a:r>
          </a:p>
        </p:txBody>
      </p:sp>
      <p:sp>
        <p:nvSpPr>
          <p:cNvPr id="2" name="Footer Placeholder 1">
            <a:extLst>
              <a:ext uri="{FF2B5EF4-FFF2-40B4-BE49-F238E27FC236}">
                <a16:creationId xmlns:a16="http://schemas.microsoft.com/office/drawing/2014/main" id="{CC0593CF-1E3D-7046-A85B-0092D6E173CF}"/>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6C500C8D-D815-7145-87F5-706899578181}"/>
              </a:ext>
            </a:extLst>
          </p:cNvPr>
          <p:cNvSpPr>
            <a:spLocks noGrp="1"/>
          </p:cNvSpPr>
          <p:nvPr>
            <p:ph type="sldNum" sz="quarter" idx="11"/>
          </p:nvPr>
        </p:nvSpPr>
        <p:spPr/>
        <p:txBody>
          <a:bodyPr/>
          <a:lstStyle/>
          <a:p>
            <a:endParaRPr lang="en-US" altLang="en-US"/>
          </a:p>
        </p:txBody>
      </p:sp>
      <p:pic>
        <p:nvPicPr>
          <p:cNvPr id="1026" name="Picture 2" descr="Snowflake schema - Wikipedia">
            <a:extLst>
              <a:ext uri="{FF2B5EF4-FFF2-40B4-BE49-F238E27FC236}">
                <a16:creationId xmlns:a16="http://schemas.microsoft.com/office/drawing/2014/main" id="{21444CBD-8314-8F5E-3D55-02B80B45B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79" y="1589651"/>
            <a:ext cx="7608887" cy="4594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301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2903A978-8055-EB41-8C19-BBAB90074685}"/>
              </a:ext>
            </a:extLst>
          </p:cNvPr>
          <p:cNvSpPr>
            <a:spLocks noGrp="1" noChangeArrowheads="1"/>
          </p:cNvSpPr>
          <p:nvPr>
            <p:ph type="title"/>
          </p:nvPr>
        </p:nvSpPr>
        <p:spPr/>
        <p:txBody>
          <a:bodyPr>
            <a:normAutofit/>
          </a:bodyPr>
          <a:lstStyle/>
          <a:p>
            <a:r>
              <a:t>Snowflaking a Product Dimension</a:t>
            </a:r>
          </a:p>
        </p:txBody>
      </p:sp>
      <p:sp>
        <p:nvSpPr>
          <p:cNvPr id="20485" name="Rectangle 3">
            <a:extLst>
              <a:ext uri="{FF2B5EF4-FFF2-40B4-BE49-F238E27FC236}">
                <a16:creationId xmlns:a16="http://schemas.microsoft.com/office/drawing/2014/main" id="{25C51041-4419-504B-90C3-74979E4F4B1D}"/>
              </a:ext>
            </a:extLst>
          </p:cNvPr>
          <p:cNvSpPr>
            <a:spLocks noGrp="1" noChangeArrowheads="1"/>
          </p:cNvSpPr>
          <p:nvPr>
            <p:ph type="body" idx="1"/>
          </p:nvPr>
        </p:nvSpPr>
        <p:spPr>
          <a:xfrm>
            <a:off x="1131634" y="1371602"/>
            <a:ext cx="10735733" cy="4805363"/>
          </a:xfrm>
        </p:spPr>
        <p:txBody>
          <a:bodyPr/>
          <a:lstStyle/>
          <a:p>
            <a:r>
              <a:rPr dirty="0"/>
              <a:t>Split shared hierarchy attributes into reference tables</a:t>
            </a:r>
          </a:p>
          <a:p>
            <a:r>
              <a:rPr dirty="0"/>
              <a:t>Product stores </a:t>
            </a:r>
            <a:r>
              <a:rPr dirty="0" err="1"/>
              <a:t>brand_key</a:t>
            </a:r>
            <a:r>
              <a:rPr dirty="0"/>
              <a:t> and </a:t>
            </a:r>
            <a:r>
              <a:rPr dirty="0" err="1"/>
              <a:t>category_key</a:t>
            </a:r>
            <a:endParaRPr dirty="0"/>
          </a:p>
          <a:p>
            <a:r>
              <a:rPr dirty="0"/>
              <a:t>Benefit: less repetition and stronger governance</a:t>
            </a:r>
          </a:p>
          <a:p>
            <a:r>
              <a:rPr dirty="0"/>
              <a:t>Cost: extra joins unless a mart </a:t>
            </a:r>
            <a:r>
              <a:rPr dirty="0" err="1"/>
              <a:t>denormalizes</a:t>
            </a:r>
            <a:r>
              <a:rPr dirty="0"/>
              <a:t> back</a:t>
            </a:r>
          </a:p>
        </p:txBody>
      </p:sp>
      <p:sp>
        <p:nvSpPr>
          <p:cNvPr id="20486" name="Rectangle 4">
            <a:extLst>
              <a:ext uri="{FF2B5EF4-FFF2-40B4-BE49-F238E27FC236}">
                <a16:creationId xmlns:a16="http://schemas.microsoft.com/office/drawing/2014/main" id="{A6FF800D-EC12-2E4B-AA50-211150467EF7}"/>
              </a:ext>
            </a:extLst>
          </p:cNvPr>
          <p:cNvSpPr>
            <a:spLocks noChangeArrowheads="1"/>
          </p:cNvSpPr>
          <p:nvPr/>
        </p:nvSpPr>
        <p:spPr bwMode="auto">
          <a:xfrm>
            <a:off x="2904064" y="3733798"/>
            <a:ext cx="16002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Product key</a:t>
            </a:r>
          </a:p>
          <a:p>
            <a:r>
              <a:rPr sz="1400"/>
              <a:t>Product name</a:t>
            </a:r>
          </a:p>
          <a:p>
            <a:r>
              <a:rPr sz="1400"/>
              <a:t>Product code</a:t>
            </a:r>
          </a:p>
          <a:p>
            <a:r>
              <a:rPr sz="1400"/>
              <a:t>Brand key</a:t>
            </a:r>
          </a:p>
        </p:txBody>
      </p:sp>
      <p:sp>
        <p:nvSpPr>
          <p:cNvPr id="20487" name="Rectangle 5">
            <a:extLst>
              <a:ext uri="{FF2B5EF4-FFF2-40B4-BE49-F238E27FC236}">
                <a16:creationId xmlns:a16="http://schemas.microsoft.com/office/drawing/2014/main" id="{1AC37613-FF5C-434D-BE31-D1DEFEF20DED}"/>
              </a:ext>
            </a:extLst>
          </p:cNvPr>
          <p:cNvSpPr>
            <a:spLocks noChangeArrowheads="1"/>
          </p:cNvSpPr>
          <p:nvPr/>
        </p:nvSpPr>
        <p:spPr bwMode="auto">
          <a:xfrm>
            <a:off x="5190064" y="3809998"/>
            <a:ext cx="15240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Brand key</a:t>
            </a:r>
          </a:p>
          <a:p>
            <a:r>
              <a:rPr sz="1400"/>
              <a:t>Brand name</a:t>
            </a:r>
          </a:p>
          <a:p>
            <a:r>
              <a:rPr sz="1400"/>
              <a:t>Category key</a:t>
            </a:r>
          </a:p>
        </p:txBody>
      </p:sp>
      <p:sp>
        <p:nvSpPr>
          <p:cNvPr id="20488" name="Rectangle 6">
            <a:extLst>
              <a:ext uri="{FF2B5EF4-FFF2-40B4-BE49-F238E27FC236}">
                <a16:creationId xmlns:a16="http://schemas.microsoft.com/office/drawing/2014/main" id="{ED90A8EE-DAD5-9F45-85A9-9C05D56E2A65}"/>
              </a:ext>
            </a:extLst>
          </p:cNvPr>
          <p:cNvSpPr>
            <a:spLocks noChangeArrowheads="1"/>
          </p:cNvSpPr>
          <p:nvPr/>
        </p:nvSpPr>
        <p:spPr bwMode="auto">
          <a:xfrm>
            <a:off x="7323664" y="3962398"/>
            <a:ext cx="17526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sz="1400"/>
              <a:t>Category key</a:t>
            </a:r>
          </a:p>
          <a:p>
            <a:r>
              <a:rPr sz="1400"/>
              <a:t>Product category</a:t>
            </a:r>
          </a:p>
        </p:txBody>
      </p:sp>
      <p:sp>
        <p:nvSpPr>
          <p:cNvPr id="20489" name="Line 7">
            <a:extLst>
              <a:ext uri="{FF2B5EF4-FFF2-40B4-BE49-F238E27FC236}">
                <a16:creationId xmlns:a16="http://schemas.microsoft.com/office/drawing/2014/main" id="{BA045F16-3DE7-1A4A-94FA-2C4080E8993C}"/>
              </a:ext>
            </a:extLst>
          </p:cNvPr>
          <p:cNvSpPr>
            <a:spLocks noChangeShapeType="1"/>
          </p:cNvSpPr>
          <p:nvPr/>
        </p:nvSpPr>
        <p:spPr bwMode="auto">
          <a:xfrm flipV="1">
            <a:off x="4504264" y="4343398"/>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0490" name="Line 8">
            <a:extLst>
              <a:ext uri="{FF2B5EF4-FFF2-40B4-BE49-F238E27FC236}">
                <a16:creationId xmlns:a16="http://schemas.microsoft.com/office/drawing/2014/main" id="{21DD5AA0-DE5D-C749-AF02-3B73B082C4CA}"/>
              </a:ext>
            </a:extLst>
          </p:cNvPr>
          <p:cNvSpPr>
            <a:spLocks noChangeShapeType="1"/>
          </p:cNvSpPr>
          <p:nvPr/>
        </p:nvSpPr>
        <p:spPr bwMode="auto">
          <a:xfrm flipV="1">
            <a:off x="6714064" y="441959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 name="Footer Placeholder 1">
            <a:extLst>
              <a:ext uri="{FF2B5EF4-FFF2-40B4-BE49-F238E27FC236}">
                <a16:creationId xmlns:a16="http://schemas.microsoft.com/office/drawing/2014/main" id="{F267C3B9-215B-1140-A49F-9AE70E7BCB5E}"/>
              </a:ext>
            </a:extLst>
          </p:cNvPr>
          <p:cNvSpPr>
            <a:spLocks noGrp="1"/>
          </p:cNvSpPr>
          <p:nvPr>
            <p:ph type="ftr" sz="quarter" idx="10"/>
          </p:nvPr>
        </p:nvSpPr>
        <p:spPr/>
        <p:txBody>
          <a:bodyPr/>
          <a:lstStyle/>
          <a:p>
            <a:r>
              <a:rPr lang="en-US" altLang="en-US"/>
              <a:t>Or Peretz</a:t>
            </a:r>
          </a:p>
        </p:txBody>
      </p:sp>
      <p:sp>
        <p:nvSpPr>
          <p:cNvPr id="3" name="Slide Number Placeholder 2">
            <a:extLst>
              <a:ext uri="{FF2B5EF4-FFF2-40B4-BE49-F238E27FC236}">
                <a16:creationId xmlns:a16="http://schemas.microsoft.com/office/drawing/2014/main" id="{3ECDFFCB-B726-FF42-A18D-6836CDE9C5C7}"/>
              </a:ext>
            </a:extLst>
          </p:cNvPr>
          <p:cNvSpPr>
            <a:spLocks noGrp="1"/>
          </p:cNvSpPr>
          <p:nvPr>
            <p:ph type="sldNum" sz="quarter" idx="11"/>
          </p:nvPr>
        </p:nvSpPr>
        <p:spPr/>
        <p:txBody>
          <a:bodyPr/>
          <a:lstStyle/>
          <a:p>
            <a:endParaRPr lang="en-US" altLang="en-US"/>
          </a:p>
        </p:txBody>
      </p:sp>
    </p:spTree>
    <p:extLst>
      <p:ext uri="{BB962C8B-B14F-4D97-AF65-F5344CB8AC3E}">
        <p14:creationId xmlns:p14="http://schemas.microsoft.com/office/powerpoint/2010/main" val="2971035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Partitioning and Clustering Strategy</a:t>
            </a:r>
          </a:p>
        </p:txBody>
      </p:sp>
      <p:sp>
        <p:nvSpPr>
          <p:cNvPr id="3" name="Content Placeholder 2"/>
          <p:cNvSpPr>
            <a:spLocks noGrp="1"/>
          </p:cNvSpPr>
          <p:nvPr>
            <p:ph idx="1" hasCustomPrompt="1"/>
          </p:nvPr>
        </p:nvSpPr>
        <p:spPr/>
        <p:txBody>
          <a:bodyPr/>
          <a:lstStyle/>
          <a:p>
            <a:r>
              <a:t>Partition large facts by the dominant time filter, usually date_key</a:t>
            </a:r>
          </a:p>
          <a:p>
            <a:r>
              <a:t>Align partition granularity with query patterns and retention policy</a:t>
            </a:r>
          </a:p>
          <a:p>
            <a:r>
              <a:t>Cluster or sort on common filters such as customer_key or product_key</a:t>
            </a:r>
          </a:p>
          <a:p>
            <a:r>
              <a:t>Avoid tiny partitions and small files; they add metadata overhead</a:t>
            </a:r>
          </a:p>
          <a:p>
            <a:r>
              <a:t>Validate design with bytes scanned, partitions read, and p95 latency</a:t>
            </a:r>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24627C-5938-5D06-969C-341161F72C9C}"/>
              </a:ext>
            </a:extLst>
          </p:cNvPr>
          <p:cNvSpPr>
            <a:spLocks noGrp="1"/>
          </p:cNvSpPr>
          <p:nvPr>
            <p:ph type="title"/>
          </p:nvPr>
        </p:nvSpPr>
        <p:spPr>
          <a:xfrm>
            <a:off x="609600" y="274638"/>
            <a:ext cx="10972800" cy="1143000"/>
          </a:xfrm>
        </p:spPr>
        <p:txBody>
          <a:bodyPr/>
          <a:lstStyle/>
          <a:p>
            <a:r>
              <a:t>Partition Pruning Cost Model</a:t>
            </a:r>
          </a:p>
        </p:txBody>
      </p:sp>
      <mc:AlternateContent xmlns:mc="http://schemas.openxmlformats.org/markup-compatibility/2006" xmlns:a14="http://schemas.microsoft.com/office/drawing/2010/main">
        <mc:Choice Requires="a14">
          <p:sp>
            <p:nvSpPr>
              <p:cNvPr id="3" name="Text Placeholder 3">
                <a:extLst>
                  <a:ext uri="{FF2B5EF4-FFF2-40B4-BE49-F238E27FC236}">
                    <a16:creationId xmlns:a16="http://schemas.microsoft.com/office/drawing/2014/main" id="{838FFFFD-68E9-C4E4-7764-523BAE32B83B}"/>
                  </a:ext>
                </a:extLst>
              </p:cNvPr>
              <p:cNvSpPr>
                <a:spLocks noGrp="1"/>
              </p:cNvSpPr>
              <p:nvPr>
                <p:ph type="body" sz="half" idx="2" hasCustomPrompt="1"/>
              </p:nvPr>
            </p:nvSpPr>
            <p:spPr>
              <a:xfrm>
                <a:off x="1368725" y="1417638"/>
                <a:ext cx="8791275" cy="4357028"/>
              </a:xfrm>
            </p:spPr>
            <p:txBody>
              <a:bodyPr>
                <a:normAutofit/>
              </a:bodyPr>
              <a:lstStyle/>
              <a:p>
                <a:pPr marL="0" lvl="0" indent="0">
                  <a:buNone/>
                </a:pPr>
                <a14:m>
                  <m:oMathPara xmlns:m="http://schemas.openxmlformats.org/officeDocument/2006/math">
                    <m:oMathParaPr>
                      <m:jc m:val="center"/>
                    </m:oMathParaPr>
                    <m:oMath xmlns:m="http://schemas.openxmlformats.org/officeDocument/2006/math">
                      <m:r>
                        <m:rPr>
                          <m:nor/>
                        </m:rPr>
                        <a:rPr sz="2800"/>
                        <m:t>ScanCost</m:t>
                      </m:r>
                      <m:r>
                        <a:rPr sz="2800">
                          <a:latin typeface="Cambria Math" panose="02040503050406030204" pitchFamily="18" charset="0"/>
                        </a:rPr>
                        <m:t>=</m:t>
                      </m:r>
                      <m:r>
                        <a:rPr sz="2800">
                          <a:latin typeface="Cambria Math" panose="02040503050406030204" pitchFamily="18" charset="0"/>
                        </a:rPr>
                        <m:t>𝑠</m:t>
                      </m:r>
                      <m:r>
                        <a:rPr sz="2800">
                          <a:latin typeface="Cambria Math" panose="02040503050406030204" pitchFamily="18" charset="0"/>
                        </a:rPr>
                        <m:t>⋅|</m:t>
                      </m:r>
                      <m:r>
                        <a:rPr sz="2800">
                          <a:latin typeface="Cambria Math" panose="02040503050406030204" pitchFamily="18" charset="0"/>
                        </a:rPr>
                        <m:t>𝐹</m:t>
                      </m:r>
                      <m:r>
                        <a:rPr sz="2800">
                          <a:latin typeface="Cambria Math" panose="02040503050406030204" pitchFamily="18" charset="0"/>
                        </a:rPr>
                        <m:t>|</m:t>
                      </m:r>
                    </m:oMath>
                  </m:oMathPara>
                </a14:m>
                <a:endParaRPr sz="2800" dirty="0"/>
              </a:p>
              <a:p>
                <a:pPr marL="0" lvl="0" indent="0">
                  <a:buNone/>
                </a:pPr>
                <a:r>
                  <a:rPr sz="2800" dirty="0">
                    <a:latin typeface="Courier"/>
                  </a:rPr>
                  <a:t>F|</a:t>
                </a:r>
                <a:r>
                  <a:rPr sz="2800" dirty="0"/>
                  <a:t>: total fact size</a:t>
                </a:r>
                <a:endParaRPr lang="en-US" sz="2800" dirty="0"/>
              </a:p>
              <a:p>
                <a:pPr marL="0" lvl="0" indent="0">
                  <a:buNone/>
                </a:pPr>
                <a:r>
                  <a:rPr sz="2800" dirty="0">
                    <a:latin typeface="Courier"/>
                  </a:rPr>
                  <a:t>s</a:t>
                </a:r>
                <a:r>
                  <a:rPr sz="2800" dirty="0"/>
                  <a:t>: selected partition fraction</a:t>
                </a:r>
                <a:endParaRPr lang="en-US" sz="2800" dirty="0"/>
              </a:p>
              <a:p>
                <a:pPr marL="0" lvl="0" indent="0">
                  <a:buNone/>
                </a:pPr>
                <a:endParaRPr lang="en-US" sz="2800" dirty="0"/>
              </a:p>
              <a:p>
                <a:pPr marL="0" lvl="0" indent="0">
                  <a:buNone/>
                </a:pPr>
                <a:r>
                  <a:rPr sz="2800" dirty="0"/>
                  <a:t>Example: </a:t>
                </a:r>
                <a:r>
                  <a:rPr sz="2800" dirty="0">
                    <a:latin typeface="Courier"/>
                  </a:rPr>
                  <a:t>|F|=1 TB</a:t>
                </a:r>
                <a:r>
                  <a:rPr sz="2800" dirty="0"/>
                  <a:t>, one-day filter over 365 days -&gt; </a:t>
                </a:r>
                <a:r>
                  <a:rPr sz="2800" dirty="0">
                    <a:latin typeface="Courier"/>
                  </a:rPr>
                  <a:t>s=1/365</a:t>
                </a:r>
                <a:r>
                  <a:rPr sz="2800" dirty="0"/>
                  <a:t> - Scan drops from </a:t>
                </a:r>
                <a:r>
                  <a:rPr sz="2800" dirty="0">
                    <a:latin typeface="Courier"/>
                  </a:rPr>
                  <a:t>1 TB</a:t>
                </a:r>
                <a:r>
                  <a:rPr sz="2800" dirty="0"/>
                  <a:t> to about </a:t>
                </a:r>
                <a:r>
                  <a:rPr sz="2800" dirty="0">
                    <a:latin typeface="Courier"/>
                  </a:rPr>
                  <a:t>2.74 GB</a:t>
                </a:r>
                <a:r>
                  <a:rPr lang="en-US" sz="2800" dirty="0">
                    <a:latin typeface="Courier"/>
                  </a:rPr>
                  <a:t>,</a:t>
                </a:r>
                <a:r>
                  <a:rPr sz="2800" dirty="0"/>
                  <a:t> Cost and runtime often drop proportionally</a:t>
                </a:r>
              </a:p>
            </p:txBody>
          </p:sp>
        </mc:Choice>
        <mc:Fallback xmlns="">
          <p:sp>
            <p:nvSpPr>
              <p:cNvPr id="3" name="Text Placeholder 3">
                <a:extLst>
                  <a:ext uri="{FF2B5EF4-FFF2-40B4-BE49-F238E27FC236}">
                    <a16:creationId xmlns:a16="http://schemas.microsoft.com/office/drawing/2014/main" id="{838FFFFD-68E9-C4E4-7764-523BAE32B83B}"/>
                  </a:ext>
                </a:extLst>
              </p:cNvPr>
              <p:cNvSpPr>
                <a:spLocks noGrp="1" noRot="1" noChangeAspect="1" noMove="1" noResize="1" noEditPoints="1" noAdjustHandles="1" noChangeArrowheads="1" noChangeShapeType="1" noTextEdit="1"/>
              </p:cNvSpPr>
              <p:nvPr>
                <p:ph type="body" sz="half" idx="2" hasCustomPrompt="1"/>
              </p:nvPr>
            </p:nvSpPr>
            <p:spPr>
              <a:xfrm>
                <a:off x="1368725" y="1417638"/>
                <a:ext cx="8791275" cy="4357028"/>
              </a:xfrm>
              <a:blipFill>
                <a:blip r:embed="rId2"/>
                <a:stretch>
                  <a:fillRect l="-1587"/>
                </a:stretch>
              </a:blipFill>
            </p:spPr>
            <p:txBody>
              <a:bodyPr/>
              <a:lstStyle/>
              <a:p>
                <a:r>
                  <a:rPr lang="he-IL">
                    <a:noFill/>
                  </a:rPr>
                  <a:t> </a:t>
                </a:r>
              </a:p>
            </p:txBody>
          </p:sp>
        </mc:Fallback>
      </mc:AlternateContent>
      <p:sp>
        <p:nvSpPr>
          <p:cNvPr id="6" name="Footer Placeholder 5"/>
          <p:cNvSpPr>
            <a:spLocks noGrp="1"/>
          </p:cNvSpPr>
          <p:nvPr>
            <p:ph type="ftr" sz="quarter" idx="11"/>
          </p:nvPr>
        </p:nvSpPr>
        <p:spPr/>
        <p:txBody>
          <a:bodyPr/>
          <a:lstStyle/>
          <a:p>
            <a:r>
              <a:rPr lang="en-US"/>
              <a:t>Or Peretz</a:t>
            </a:r>
          </a:p>
        </p:txBody>
      </p:sp>
      <p:sp>
        <p:nvSpPr>
          <p:cNvPr id="7" name="Slide Number Placeholder 6"/>
          <p:cNvSpPr>
            <a:spLocks noGrp="1"/>
          </p:cNvSpPr>
          <p:nvPr>
            <p:ph type="sldNum" sz="quarter" idx="12"/>
          </p:nvPr>
        </p:nvSpPr>
        <p:spPr/>
        <p:txBody>
          <a:bodyPr/>
          <a:lstStyle/>
          <a:p>
            <a:r>
              <a:t>27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t>Join Cost Intuition</a:t>
            </a:r>
          </a:p>
        </p:txBody>
      </p:sp>
      <mc:AlternateContent xmlns:mc="http://schemas.openxmlformats.org/markup-compatibility/2006" xmlns:a14="http://schemas.microsoft.com/office/drawing/2010/main">
        <mc:Choice Requires="a14">
          <p:sp>
            <p:nvSpPr>
              <p:cNvPr id="3" name="Content Placeholder 2"/>
              <p:cNvSpPr>
                <a:spLocks noGrp="1"/>
              </p:cNvSpPr>
              <p:nvPr>
                <p:ph idx="1" hasCustomPrompt="1"/>
              </p:nvPr>
            </p:nvSpPr>
            <p:spPr/>
            <p:txBody>
              <a:bodyPr/>
              <a:lstStyle/>
              <a:p>
                <a:pPr marL="0" lvl="0" indent="0">
                  <a:buNone/>
                </a:pPr>
                <a14:m>
                  <m:oMathPara xmlns:m="http://schemas.openxmlformats.org/officeDocument/2006/math">
                    <m:oMathParaPr>
                      <m:jc m:val="center"/>
                    </m:oMathParaPr>
                    <m:oMath xmlns:m="http://schemas.openxmlformats.org/officeDocument/2006/math">
                      <m:r>
                        <m:rPr>
                          <m:nor/>
                        </m:rPr>
                        <a:rPr/>
                        <m:t>JoinWork</m:t>
                      </m:r>
                      <m:r>
                        <a:rPr>
                          <a:latin typeface="Cambria Math" panose="02040503050406030204" pitchFamily="18" charset="0"/>
                        </a:rPr>
                        <m:t>≈</m:t>
                      </m:r>
                      <m:r>
                        <a:rPr>
                          <a:latin typeface="Cambria Math" panose="02040503050406030204" pitchFamily="18" charset="0"/>
                        </a:rPr>
                        <m:t>𝑂</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𝑝𝑟𝑢𝑛𝑒𝑑</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𝐷</m:t>
                          </m:r>
                        </m:e>
                        <m:sub>
                          <m:r>
                            <a:rPr>
                              <a:latin typeface="Cambria Math" panose="02040503050406030204" pitchFamily="18" charset="0"/>
                            </a:rPr>
                            <m:t>𝑖</m:t>
                          </m:r>
                        </m:sub>
                      </m:sSub>
                      <m:r>
                        <a:rPr>
                          <a:latin typeface="Cambria Math" panose="02040503050406030204" pitchFamily="18" charset="0"/>
                        </a:rPr>
                        <m:t>|)</m:t>
                      </m:r>
                    </m:oMath>
                  </m:oMathPara>
                </a14:m>
                <a:endParaRPr dirty="0"/>
              </a:p>
              <a:p>
                <a:pPr marL="0" lvl="0" indent="0">
                  <a:buNone/>
                </a:pPr>
                <a:endParaRPr lang="en-US" dirty="0"/>
              </a:p>
              <a:p>
                <a:pPr marL="0" lvl="0" indent="0">
                  <a:buNone/>
                </a:pPr>
                <a:r>
                  <a:rPr dirty="0"/>
                  <a:t>Pruned fact size is usually dominant term</a:t>
                </a:r>
                <a:endParaRPr lang="en-US" dirty="0"/>
              </a:p>
              <a:p>
                <a:pPr marL="0" lvl="0" indent="0">
                  <a:buNone/>
                </a:pPr>
                <a:r>
                  <a:rPr dirty="0"/>
                  <a:t>Broadcast joins help when dimensions fit memory</a:t>
                </a:r>
                <a:endParaRPr lang="en-US" dirty="0"/>
              </a:p>
              <a:p>
                <a:pPr marL="0" lvl="0" indent="0">
                  <a:buNone/>
                </a:pPr>
                <a:r>
                  <a:rPr dirty="0"/>
                  <a:t>Large dimensions force shuffle and spill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hasCustomPrompt="1"/>
              </p:nvPr>
            </p:nvSpPr>
            <p:spPr>
              <a:blipFill>
                <a:blip r:embed="rId2"/>
                <a:stretch>
                  <a:fillRect l="-1192"/>
                </a:stretch>
              </a:blipFill>
            </p:spPr>
            <p:txBody>
              <a:bodyPr/>
              <a:lstStyle/>
              <a:p>
                <a:r>
                  <a:rPr lang="he-IL">
                    <a:noFill/>
                  </a:rPr>
                  <a:t> </a:t>
                </a:r>
              </a:p>
            </p:txBody>
          </p:sp>
        </mc:Fallback>
      </mc:AlternateContent>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1008</Words>
  <Application>Microsoft Macintosh PowerPoint</Application>
  <PresentationFormat>מסך רחב</PresentationFormat>
  <Paragraphs>192</Paragraphs>
  <Slides>23</Slides>
  <Notes>6</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23</vt:i4>
      </vt:variant>
    </vt:vector>
  </HeadingPairs>
  <TitlesOfParts>
    <vt:vector size="30" baseType="lpstr">
      <vt:lpstr>Aptos</vt:lpstr>
      <vt:lpstr>Arial</vt:lpstr>
      <vt:lpstr>Calibri</vt:lpstr>
      <vt:lpstr>Cambria Math</vt:lpstr>
      <vt:lpstr>Courier</vt:lpstr>
      <vt:lpstr>Times New Roman</vt:lpstr>
      <vt:lpstr>Office Theme</vt:lpstr>
      <vt:lpstr>DWH Schema Design (Part 2)</vt:lpstr>
      <vt:lpstr>Learning Objectives</vt:lpstr>
      <vt:lpstr>Why Schema Design Matters</vt:lpstr>
      <vt:lpstr>Fact and Dimension Contracts</vt:lpstr>
      <vt:lpstr>The Multi-Dimensional Model</vt:lpstr>
      <vt:lpstr>Dimensional Modeling</vt:lpstr>
      <vt:lpstr>Concept Hierarchy: Location Dimension</vt:lpstr>
      <vt:lpstr>Declaring Fact Grain</vt:lpstr>
      <vt:lpstr>Grain: What It Is</vt:lpstr>
      <vt:lpstr>Common Grain Options</vt:lpstr>
      <vt:lpstr>Choosing the Right Grain</vt:lpstr>
      <vt:lpstr>Table Behavior Types</vt:lpstr>
      <vt:lpstr>Append-Only vs. Mutable Tables</vt:lpstr>
      <vt:lpstr>Measure Types and Aggregation Rules</vt:lpstr>
      <vt:lpstr>Common Schemas</vt:lpstr>
      <vt:lpstr>Star Schema: Default BI Design</vt:lpstr>
      <vt:lpstr>The Classic Star Schema</vt:lpstr>
      <vt:lpstr>Snowflake Schema</vt:lpstr>
      <vt:lpstr>Snowflake Schema: Normalized Dimensions</vt:lpstr>
      <vt:lpstr>Snowflaking a Product Dimension</vt:lpstr>
      <vt:lpstr>Partitioning and Clustering Strategy</vt:lpstr>
      <vt:lpstr>Partition Pruning Cost Model</vt:lpstr>
      <vt:lpstr>Join Cost Intuition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Facet</Template>
  <TotalTime>12</TotalTime>
  <Words>18</Words>
  <Application>Microsoft Macintosh PowerPoint</Application>
  <PresentationFormat>מסך רחב</PresentationFormat>
  <Paragraphs>12</Paragraphs>
  <Slides>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Aptos</vt: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Or Perets</cp:lastModifiedBy>
  <cp:revision>5</cp:revision>
  <dcterms:created xsi:type="dcterms:W3CDTF">2026-02-10T08:35:50Z</dcterms:created>
  <dcterms:modified xsi:type="dcterms:W3CDTF">2026-04-23T08:26:07Z</dcterms:modified>
</cp:coreProperties>
</file>