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סגנון ביניים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9408"/>
    <p:restoredTop sz="94860"/>
  </p:normalViewPr>
  <p:slideViewPr>
    <p:cSldViewPr snapToGrid="0" snapToObjects="1">
      <p:cViewPr varScale="1">
        <p:scale>
          <a:sx d="100" n="112"/>
          <a:sy d="100" n="112"/>
        </p:scale>
        <p:origin x="1928" y="184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 snapToGrid="0" snapToObjects="1">
      <p:cViewPr varScale="1">
        <p:scale>
          <a:sx d="100" n="118"/>
          <a:sy d="100" n="118"/>
        </p:scale>
        <p:origin x="5160" y="21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4" Type="http://schemas.openxmlformats.org/officeDocument/2006/relationships/presProps" Target="presProps.xml" /><Relationship Id="rId63" Type="http://schemas.openxmlformats.org/officeDocument/2006/relationships/handoutMaster" Target="handoutMasters/handoutMaster1.xml" /><Relationship Id="rId6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6" Type="http://schemas.openxmlformats.org/officeDocument/2006/relationships/theme" Target="theme/theme1.xml" /><Relationship Id="rId6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1062556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41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6D49-397F-B715-D50A-B77591A1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58" y="1600201"/>
            <a:ext cx="843794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1812306-B812-4C50-F7A0-862C984F42D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33391168"/>
              </p:ext>
            </p:extLst>
          </p:nvPr>
        </p:nvGraphicFramePr>
        <p:xfrm>
          <a:off x="2058972" y="2126696"/>
          <a:ext cx="7775550" cy="2107502"/>
        </p:xfrm>
        <a:graphic>
          <a:graphicData uri="http://schemas.openxmlformats.org/drawingml/2006/table">
            <a:tbl>
              <a:tblPr rtl="1" firstRow="1" bandRow="1">
                <a:tableStyleId>{793D81CF-94F2-401A-BA57-92F5A7B2D0C5}</a:tableStyleId>
              </a:tblPr>
              <a:tblGrid>
                <a:gridCol w="1295925">
                  <a:extLst>
                    <a:ext uri="{9D8B030D-6E8A-4147-A177-3AD203B41FA5}">
                      <a16:colId xmlns:a16="http://schemas.microsoft.com/office/drawing/2014/main" val="3224435564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1520824301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2907090588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2141296278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1831022972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626801781"/>
                    </a:ext>
                  </a:extLst>
                </a:gridCol>
              </a:tblGrid>
              <a:tr h="494140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63574"/>
                  </a:ext>
                </a:extLst>
              </a:tr>
              <a:tr h="806681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25601"/>
                  </a:ext>
                </a:extLst>
              </a:tr>
              <a:tr h="806681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57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4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291BFA-5674-76B5-89A7-703C9722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fmla="*/ 0 w 10972800" name="csX0"/>
                      <a:gd fmla="*/ 0 h 1143000" name="csY0"/>
                      <a:gd fmla="*/ 10972800 w 10972800" name="csX1"/>
                      <a:gd fmla="*/ 0 h 1143000" name="csY1"/>
                      <a:gd fmla="*/ 10972800 w 10972800" name="csX2"/>
                      <a:gd fmla="*/ 1143000 h 1143000" name="csY2"/>
                      <a:gd fmla="*/ 0 w 10972800" name="csX3"/>
                      <a:gd fmla="*/ 1143000 h 1143000" name="csY3"/>
                      <a:gd fmla="*/ 0 w 10972800" name="csX4"/>
                      <a:gd fmla="*/ 0 h 1143000" name="csY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b="b" l="l" r="r" t="t"/>
                    <a:pathLst>
                      <a:path extrusionOk="0" fill="none" h="1143000" w="1097280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extrusionOk="0" h="1143000" stroke="0" w="1097280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7150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14350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61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hdr="0"/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lnSpc>
          <a:spcPct val="130000"/>
        </a:lnSpc>
        <a:spcBef>
          <a:spcPts val="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lnSpc>
          <a:spcPct val="130000"/>
        </a:lnSpc>
        <a:spcBef>
          <a:spcPts val="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lnSpc>
          <a:spcPct val="130000"/>
        </a:lnSpc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lnSpc>
          <a:spcPct val="130000"/>
        </a:lnSpc>
        <a:spcBef>
          <a:spcPts val="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lnSpc>
          <a:spcPct val="130000"/>
        </a:lnSpc>
        <a:spcBef>
          <a:spcPts val="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 Analytics: Regex to TF-IDF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visual, step-by-step path from messy operational text to ranked terms.</a:t>
            </a:r>
          </a:p>
          <a:p>
            <a:pPr lvl="0" indent="0">
              <a:buNone/>
            </a:pPr>
            <a:r>
              <a:rPr>
                <a:latin typeface="Courier"/>
              </a:rPr>
              <a:t>"Printer JAM!!! Ticket=TKT-1042"
-&gt; clean tokens: printer, jam, ticket, tkt, 1042
-&gt; score(jam) = 0.46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Path</a:t>
            </a:r>
          </a:p>
          <a:p>
            <a:pPr lvl="0" indent="0" marL="0">
              <a:buNone/>
            </a:pPr>
            <a:r>
              <a:rPr/>
              <a:t>Each block builds the input needed by the next one.</a:t>
            </a:r>
          </a:p>
          <a:p>
            <a:pPr lvl="0" indent="-457200" marL="457200">
              <a:buAutoNum type="arabicPeriod"/>
            </a:pPr>
            <a:r>
              <a:rPr b="1"/>
              <a:t>Messy text</a:t>
            </a:r>
            <a:r>
              <a:rPr/>
              <a:t>: tickets, complaints, logs.</a:t>
            </a:r>
          </a:p>
          <a:p>
            <a:pPr lvl="0" indent="-457200" marL="457200">
              <a:buAutoNum type="arabicPeriod"/>
            </a:pPr>
            <a:r>
              <a:rPr b="1"/>
              <a:t>Regex</a:t>
            </a:r>
            <a:r>
              <a:rPr/>
              <a:t>: extract and normalize fields.</a:t>
            </a:r>
          </a:p>
          <a:p>
            <a:pPr lvl="0" indent="-457200" marL="457200">
              <a:buAutoNum type="arabicPeriod"/>
            </a:pPr>
            <a:r>
              <a:rPr b="1"/>
              <a:t>Tokens</a:t>
            </a:r>
            <a:r>
              <a:rPr/>
              <a:t>: create stable units for counting.</a:t>
            </a:r>
          </a:p>
          <a:p>
            <a:pPr lvl="0" indent="-457200" marL="457200">
              <a:buAutoNum type="arabicPeriod"/>
            </a:pPr>
            <a:r>
              <a:rPr b="1"/>
              <a:t>TF-IDF</a:t>
            </a:r>
            <a:r>
              <a:rPr/>
              <a:t>: combine local focus with global rarity.</a:t>
            </a:r>
          </a:p>
          <a:p>
            <a:pPr lvl="0" indent="-457200" marL="457200">
              <a:buAutoNum type="arabicPeriod"/>
            </a:pPr>
            <a:r>
              <a:rPr b="1"/>
              <a:t>Pipeline</a:t>
            </a:r>
            <a:r>
              <a:rPr/>
              <a:t>: implement the stages and control operational risks.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Text Analytics Matters</a:t>
            </a:r>
          </a:p>
          <a:p>
            <a:pPr lvl="0" indent="0" marL="0">
              <a:buNone/>
            </a:pPr>
            <a:r>
              <a:rPr/>
              <a:t>Most operational signals arrive as text before they become structured data.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Typical signal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delays, faults, queues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errors, timeouts, retries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Complaints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refunds, churn, severity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Surveys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free-text satisfaction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supplier and field context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goal is not to read everything manually. The goal is to turn language into auditable features.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Raw Text to Structured Features</a:t>
            </a:r>
          </a:p>
          <a:p>
            <a:pPr lvl="0" indent="0" marL="0">
              <a:buNone/>
            </a:pPr>
            <a:r>
              <a:rPr/>
              <a:t>Regex is usually the first stabilizing step in the pipeline.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   JAM!!! Ticket=TKT-1042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ticket_id = TKT-1042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 jam ticket tkt 1042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jam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ticket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tkt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1042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rule: every transformation should be explainable, repeatable, and testable on examples.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Regex Basics as Building Blocks</a:t>
            </a:r>
          </a:p>
          <a:p>
            <a:pPr lvl="0" indent="0" marL="0">
              <a:buNone/>
            </a:pPr>
            <a:r>
              <a:rPr/>
              <a:t>A regex is a small grammar for matching text.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Building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Literal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TKT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match these characters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 class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\d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match one digit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Quantifier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{4,6}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 4 to 6 times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\b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not leak into neighboring text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Combined pattern:</a:t>
            </a:r>
          </a:p>
          <a:p>
            <a:pPr lvl="0" indent="0">
              <a:buNone/>
            </a:pPr>
            <a:r>
              <a:rPr>
                <a:latin typeface="Courier"/>
              </a:rPr>
              <a:t>\bTKT-\d{4,6}\b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Character Classes: What Counts as a Match?</a:t>
            </a:r>
          </a:p>
          <a:p>
            <a:pPr lvl="0" indent="0" marL="0">
              <a:buNone/>
            </a:pPr>
            <a:r>
              <a:rPr/>
              <a:t>Classes define the alphabet that a pattern can consume.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 match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\d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digit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7</a:t>
                      </a:r>
                      <a:r>
                        <a:rPr/>
                        <a:t> in </a:t>
                      </a:r>
                      <a:r>
                        <a:rPr>
                          <a:latin typeface="Courier"/>
                        </a:rPr>
                        <a:t>delay 7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\d+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or more digits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1200</a:t>
                      </a:r>
                      <a:r>
                        <a:rPr/>
                        <a:t> in </a:t>
                      </a:r>
                      <a:r>
                        <a:rPr>
                          <a:latin typeface="Courier"/>
                        </a:rPr>
                        <a:t>USD 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[A-Z]+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uppercase letters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ERR</a:t>
                      </a:r>
                      <a:r>
                        <a:rPr/>
                        <a:t> in </a:t>
                      </a:r>
                      <a:r>
                        <a:rPr>
                          <a:latin typeface="Courier"/>
                        </a:rPr>
                        <a:t>ERR-404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\w+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word characters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Scanner view:</a:t>
            </a:r>
          </a:p>
          <a:p>
            <a:pPr lvl="0" indent="0">
              <a:buNone/>
            </a:pPr>
            <a:r>
              <a:rPr>
                <a:latin typeface="Courier"/>
              </a:rPr>
              <a:t>delay 7 days
      ^
      \d</a:t>
            </a:r>
          </a:p>
          <a:p>
            <a:pPr lvl="0" indent="0" marL="0">
              <a:buNone/>
            </a:pPr>
            <a:r>
              <a:rPr/>
              <a:t>Changing the class changes the evidence collected downstream.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Quantifiers Encode Business Rules</a:t>
            </a:r>
          </a:p>
          <a:p>
            <a:pPr lvl="0" indent="0" marL="0">
              <a:buNone/>
            </a:pPr>
            <a:r>
              <a:rPr/>
              <a:t>Quantifiers specify how many times the previous unit may repeat.</a:t>
            </a:r>
          </a:p>
          <a:p>
            <a:pPr lvl="0" indent="0">
              <a:buNone/>
            </a:pPr>
            <a:r>
              <a:rPr>
                <a:latin typeface="Courier"/>
              </a:rPr>
              <a:t>TKT-\d{4,6}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TKT-1042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TKT-998877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TKT-12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reject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TKT-1042A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reject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{4,6}</a:t>
            </a:r>
            <a:r>
              <a:rPr/>
              <a:t> is the rule: valid ticket IDs contain 4 to 6 digits.</a:t>
            </a:r>
          </a:p>
          <a:p>
            <a:pPr lvl="0" indent="0" marL="0">
              <a:buNone/>
            </a:pPr>
            <a:r>
              <a:rPr/>
              <a:t>When this rule changes, historical data quality changes too. Document it.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Capture Groups Turn Matches into Fields</a:t>
            </a:r>
          </a:p>
          <a:p>
            <a:pPr lvl="0" indent="0" marL="0">
              <a:buNone/>
            </a:pPr>
            <a:r>
              <a:rPr/>
              <a:t>Parentheses mark the pieces we want to keep.</a:t>
            </a:r>
          </a:p>
          <a:p>
            <a:pPr lvl="0" indent="0">
              <a:buNone/>
            </a:pPr>
            <a:r>
              <a:rPr>
                <a:latin typeface="Courier"/>
              </a:rPr>
              <a:t>Pattern: delay\s+(\d+)\s+days?
Text:    delay 3 days due to customs
Group 1: 3</a:t>
            </a:r>
          </a:p>
          <a:p>
            <a:pPr lvl="0" indent="0" marL="0">
              <a:buNone/>
            </a:pPr>
            <a:r>
              <a:rPr/>
              <a:t>Structured output: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delay_days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reason_text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due to customs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text remains messy, but the extracted feature is now queryable.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Cleaning Example: One Record, Four Decisions</a:t>
            </a:r>
          </a:p>
          <a:p>
            <a:pPr lvl="0" indent="0" marL="0">
              <a:buNone/>
            </a:pPr>
            <a:r>
              <a:rPr/>
              <a:t>Small choices in preprocessing change the vocabulary.</a:t>
            </a:r>
          </a:p>
          <a:p>
            <a:pPr lvl="0" indent="0">
              <a:buNone/>
            </a:pPr>
            <a:r>
              <a:rPr>
                <a:latin typeface="Courier"/>
              </a:rPr>
              <a:t>Raw: "Printer   JAM!!! Ticket=TKT-1042"</a:t>
            </a:r>
          </a:p>
          <a:p>
            <a:pPr lvl="0" indent="-457200" marL="457200">
              <a:buAutoNum type="arabicPeriod"/>
            </a:pPr>
            <a:r>
              <a:rPr b="1"/>
              <a:t>Extract ID</a:t>
            </a:r>
            <a:r>
              <a:rPr/>
              <a:t>: </a:t>
            </a:r>
            <a:r>
              <a:rPr>
                <a:latin typeface="Courier"/>
              </a:rPr>
              <a:t>TKT-1042</a:t>
            </a:r>
            <a:r>
              <a:rPr/>
              <a:t> becomes a field.</a:t>
            </a:r>
          </a:p>
          <a:p>
            <a:pPr lvl="0" indent="-457200" marL="457200">
              <a:buAutoNum type="arabicPeriod"/>
            </a:pPr>
            <a:r>
              <a:rPr b="1"/>
              <a:t>Lowercase</a:t>
            </a:r>
            <a:r>
              <a:rPr/>
              <a:t>: </a:t>
            </a:r>
            <a:r>
              <a:rPr>
                <a:latin typeface="Courier"/>
              </a:rPr>
              <a:t>Printer JAM</a:t>
            </a:r>
            <a:r>
              <a:rPr/>
              <a:t> becomes </a:t>
            </a:r>
            <a:r>
              <a:rPr>
                <a:latin typeface="Courier"/>
              </a:rPr>
              <a:t>printer jam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 b="1"/>
              <a:t>Punctuation</a:t>
            </a:r>
            <a:r>
              <a:rPr/>
              <a:t>: replace punctuation with spaces.</a:t>
            </a:r>
          </a:p>
          <a:p>
            <a:pPr lvl="0" indent="-457200" marL="457200">
              <a:buAutoNum type="arabicPeriod"/>
            </a:pPr>
            <a:r>
              <a:rPr b="1"/>
              <a:t>Tokenize</a:t>
            </a:r>
            <a:r>
              <a:rPr/>
              <a:t>: split into stable terms.</a:t>
            </a:r>
          </a:p>
          <a:p>
            <a:pPr lvl="0" indent="0" marL="0">
              <a:buNone/>
            </a:pPr>
            <a:r>
              <a:rPr/>
              <a:t>Tokens:</a:t>
            </a:r>
          </a:p>
          <a:p>
            <a:pPr lvl="0" indent="0">
              <a:buNone/>
            </a:pPr>
            <a:r>
              <a:rPr>
                <a:latin typeface="Courier"/>
              </a:rPr>
              <a:t>printer | jam | ticket | tkt | 1042</a:t>
            </a:r>
          </a:p>
          <a:p>
            <a:pPr lvl="0" indent="0" marL="0">
              <a:buNone/>
            </a:pPr>
            <a:r>
              <a:rPr/>
              <a:t>Question for students: should </a:t>
            </a:r>
            <a:r>
              <a:rPr>
                <a:latin typeface="Courier"/>
              </a:rPr>
              <a:t>TKT-1042</a:t>
            </a:r>
            <a:r>
              <a:rPr/>
              <a:t> stay as one masked token?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Regex Case: Amount Extraction</a:t>
            </a:r>
          </a:p>
          <a:p>
            <a:pPr lvl="0" indent="0" marL="0">
              <a:buNone/>
            </a:pPr>
            <a:r>
              <a:rPr/>
              <a:t>Groups separate the currency from the numeric value.</a:t>
            </a:r>
          </a:p>
          <a:p>
            <a:pPr lvl="0" indent="0">
              <a:buNone/>
            </a:pPr>
            <a:r>
              <a:rPr>
                <a:latin typeface="Courier"/>
              </a:rPr>
              <a:t>(USD|ILS|EUR)\s?(\d+(?:\.\d{1,2})?)</a:t>
            </a:r>
          </a:p>
          <a:p>
            <a:pPr lvl="0" indent="0">
              <a:buNone/>
            </a:pPr>
            <a:r>
              <a:rPr>
                <a:latin typeface="Courier"/>
              </a:rPr>
              <a:t>Text:     refund USD 120.50 requested
Group 1:  currency = USD
Group 2:  amount = 120.50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(?:\.\d{1,2})?</a:t>
            </a:r>
            <a:r>
              <a:rPr/>
              <a:t> is a non-capturing group. It structures the pattern without creating another output field.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Tokenization Rules Must Be Explicit</a:t>
            </a:r>
          </a:p>
          <a:p>
            <a:pPr lvl="0" indent="0" marL="0">
              <a:buNone/>
            </a:pPr>
            <a:r>
              <a:rPr/>
              <a:t>Different tokenization rules create different feature spaces.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ticket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tkt-1042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 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ticket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tkt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1042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Mask 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ticket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&lt;ticket_id&gt;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rule is not cosmetic. It changes counts, vocabulary size, and model behavior.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Operational Vocabulary</a:t>
            </a:r>
          </a:p>
          <a:p>
            <a:pPr lvl="0" indent="0" marL="0">
              <a:buNone/>
            </a:pPr>
            <a:r>
              <a:rPr/>
              <a:t>TF-IDF uses three levels: term, document, corpus.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cleaned word or phrase that we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vpn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offline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ticket, complaint, log line, or survey answer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T1 = printer jam jam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Corpus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versioned set of documents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T1</a:t>
                      </a:r>
                      <a:r>
                        <a:rPr/>
                        <a:t> to </a:t>
                      </a:r>
                      <a:r>
                        <a:rPr>
                          <a:latin typeface="Courier"/>
                        </a:rPr>
                        <a:t>T5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Changing the corpus changes global statistics and rankings.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TF-IDF Intuition</a:t>
            </a:r>
          </a:p>
          <a:p>
            <a:pPr lvl="0" indent="0" marL="0">
              <a:buNone/>
            </a:pPr>
            <a:r>
              <a:rPr/>
              <a:t>A high score needs both local focus and global rarity.</a:t>
            </a:r>
          </a:p>
          <a:p>
            <a:pPr lvl="0" indent="0" marL="0">
              <a:buNone/>
            </a:pPr>
            <a:r>
              <a:rPr b="1"/>
              <a:t>Term Frequency</a:t>
            </a:r>
          </a:p>
          <a:p>
            <a:pPr lvl="0" indent="0" marL="0">
              <a:buNone/>
            </a:pPr>
            <a:r>
              <a:rPr/>
              <a:t>How much does this document talk about the term?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Inverse Document Frequency</a:t>
            </a:r>
          </a:p>
          <a:p>
            <a:pPr lvl="0" indent="0" marL="0">
              <a:buNone/>
            </a:pPr>
            <a:r>
              <a:rPr/>
              <a:t>How rare is this term across the corpus?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IDF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TF-IDF = local focus × global rarity.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Notation Cheat Sheet</a:t>
            </a:r>
          </a:p>
          <a:p>
            <a:pPr lvl="0" indent="0" marL="0">
              <a:buNone/>
            </a:pPr>
            <a:r>
              <a:rPr/>
              <a:t>Keep the symbols close to the worked example.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 after preprocessing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document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documents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count(t,d)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 of term </a:t>
                      </a:r>
                      <a:r>
                        <a:rPr>
                          <a:latin typeface="Courier"/>
                        </a:rPr>
                        <a:t>t</a:t>
                      </a:r>
                      <a:r>
                        <a:rPr/>
                        <a:t> in document </a:t>
                      </a:r>
                      <a:r>
                        <a:rPr>
                          <a:latin typeface="Courier"/>
                        </a:rPr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|d|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tokens in document </a:t>
                      </a:r>
                      <a:r>
                        <a:rPr>
                          <a:latin typeface="Courier"/>
                        </a:rPr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df(t)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documents containing </a:t>
                      </a:r>
                      <a:r>
                        <a:rPr>
                          <a:latin typeface="Courier"/>
                        </a:rPr>
                        <a:t>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Anchor 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T1 = printer jam jam
For t = jam and d = T1:
count(t,d) = 2
|d| =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Worked Example: Ticket Corpus</a:t>
            </a:r>
          </a:p>
          <a:p>
            <a:pPr lvl="0" indent="0" marL="0">
              <a:buNone/>
            </a:pPr>
            <a:r>
              <a:rPr/>
              <a:t>Five tiny tickets are enough to see the mechanics.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 jam jam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 offline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vpn outage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vpn slow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 jam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Corpus size:</a:t>
            </a:r>
          </a:p>
          <a:p>
            <a:pPr lvl="0" indent="0">
              <a:buNone/>
            </a:pPr>
            <a:r>
              <a:rPr>
                <a:latin typeface="Courier"/>
              </a:rPr>
              <a:t>N = 5</a:t>
            </a:r>
          </a:p>
          <a:p>
            <a:pPr lvl="0" indent="0" marL="0">
              <a:buNone/>
            </a:pPr>
            <a:r>
              <a:rPr/>
              <a:t>Every calculation below uses this exact corpus definition.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Count Tokens in Each Document</a:t>
            </a:r>
          </a:p>
          <a:p>
            <a:pPr lvl="0" indent="0" marL="0">
              <a:buNone/>
            </a:pPr>
            <a:r>
              <a:rPr/>
              <a:t>Counting only starts after cleaning and tokenization.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Length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jam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vpn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vpn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Term Frequency Is Local</a:t>
            </a:r>
          </a:p>
          <a:p>
            <a:pPr lvl="0" indent="0" marL="0">
              <a:buNone/>
            </a:pPr>
            <a:r>
              <a:rPr/>
              <a:t>TF measures a term inside one document.</a:t>
            </a:r>
          </a:p>
          <a:p>
            <a:pPr lvl="0" indent="0">
              <a:buNone/>
            </a:pPr>
            <a:r>
              <a:rPr>
                <a:latin typeface="Courier"/>
              </a:rPr>
              <a:t>T1 = printer jam jam
tf(jam,T1) = count(jam,T1) / |T1|
tf(jam,T1) = 2 / 3 = 0.67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Term/document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  <a:r>
                        <a:rPr/>
                        <a:t> in 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2/3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offline</a:t>
                      </a:r>
                      <a:r>
                        <a:rPr/>
                        <a:t> in 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1/2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  <a:r>
                        <a:rPr/>
                        <a:t> in 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1/2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TF alone does not know whether a term is common or rare across tickets.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Document Frequency Counts Documents</a:t>
            </a:r>
          </a:p>
          <a:p>
            <a:pPr lvl="0" indent="0" marL="0">
              <a:buNone/>
            </a:pPr>
            <a:r>
              <a:rPr/>
              <a:t>Repeated mentions inside the same document still count once.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  <a:gridCol w="1079500"/>
                <a:gridCol w="1079500"/>
                <a:gridCol w="1079500"/>
                <a:gridCol w="1079500"/>
                <a:gridCol w="1079500"/>
                <a:gridCol w="1079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vpn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DF is global. It requires aggregation across the corpus.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838FFFFD-68E9-C4E4-7764-523BAE32B83B}"/>
                  </a:ext>
                </a:extLst>
              </p:cNvPr>
              <p:cNvSpPr>
                <a:spLocks noGrp="1"/>
              </p:cNvSpPr>
              <p:nvPr>
                <p:ph hasCustomPrompt="1"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Step 4: IDF Converts Commonness into Rarity Weight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>
                    <a:latin typeface="Courier"/>
                  </a:rPr>
                  <a:t>+1</a:t>
                </a:r>
                <a:r>
                  <a:rPr/>
                  <a:t> terms smooth the formula and avoid division by zero.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d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1</m:t>
                              </m:r>
                            </m:num>
                            <m:den>
                              <m:r>
                                <m:t>d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IDF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log(6/3)=0.69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log(6/2)=1.10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log(6/2)=1.10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Rare terms receive higher IDF under the same corpus definition.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838FFFFD-68E9-C4E4-7764-523BAE32B83B}"/>
                  </a:ext>
                </a:extLst>
              </p:cNvPr>
              <p:cNvSpPr>
                <a:spLocks noGrp="1"/>
              </p:cNvSpPr>
              <p:nvPr>
                <p:ph hasCustomPrompt="1"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Step 5: Multiply TF by IDF</a:t>
                </a:r>
              </a:p>
              <a:p>
                <a:pPr lvl="0" indent="0" marL="0">
                  <a:buNone/>
                </a:pPr>
                <a:r>
                  <a:rPr/>
                  <a:t>Now local focus and global rarity meet.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t>f</m:t>
                      </m:r>
                      <m:r>
                        <m:t>i</m:t>
                      </m:r>
                      <m:r>
                        <m:t>d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t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t>i</m:t>
                      </m:r>
                      <m:r>
                        <m:t>d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Term/document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TF-IDF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  <a:r>
                        <a:rPr/>
                        <a:t> in 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offline</a:t>
                      </a:r>
                      <a:r>
                        <a:rPr/>
                        <a:t> in 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  <a:r>
                        <a:rPr/>
                        <a:t> in 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TF, higher IDF: </a:t>
            </a:r>
            <a:r>
              <a:rPr>
                <a:latin typeface="Courier"/>
              </a:rPr>
              <a:t>offline</a:t>
            </a:r>
            <a:r>
              <a:rPr/>
              <a:t> and </a:t>
            </a:r>
            <a:r>
              <a:rPr>
                <a:latin typeface="Courier"/>
              </a:rPr>
              <a:t>outage</a:t>
            </a:r>
            <a:r>
              <a:rPr/>
              <a:t> rank higher even with fewer raw mentions.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Rare Operational Terms Can Win</a:t>
            </a:r>
          </a:p>
          <a:p>
            <a:pPr lvl="0" indent="0" marL="0">
              <a:buNone/>
            </a:pPr>
            <a:r>
              <a:rPr/>
              <a:t>Raw counts and TF-IDF answer different questions.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Raw frequency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8600"/>
                <a:gridCol w="530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TF-IDF signal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lower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Interpretation: rare operational states may deserve attention even when volume is small.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Sanity Check: Common Terms Fade</a:t>
            </a:r>
          </a:p>
          <a:p>
            <a:pPr lvl="0" indent="0" marL="0">
              <a:buNone/>
            </a:pPr>
            <a:r>
              <a:rPr/>
              <a:t>If a term appears everywhere, its IDF approaches zero.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Appears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Effect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please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almost every ticket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IDF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many printer 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moderate 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few 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higher signal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caution: a high score is a signal for review, not an automatic business decision.</a:t>
            </a:r>
          </a:p>
          <a:p>
            <a:pPr lvl="0" indent="0" marL="0">
              <a:buNone/>
            </a:pPr>
            <a:r>
              <a:rPr/>
              <a:t>Use business severity, recency, ownership, and quality flags alongside TF-IDF.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Second Example: Customer Complaints</a:t>
            </a:r>
          </a:p>
          <a:p>
            <a:pPr lvl="0" indent="0" marL="0">
              <a:buNone/>
            </a:pPr>
            <a:r>
              <a:rPr/>
              <a:t>The same principle works outside IT tickets.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 signal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billing error refund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refund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billing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common issue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refund delayed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delayed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app crash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crash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billing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common issue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Contrast: </a:t>
            </a:r>
            <a:r>
              <a:rPr>
                <a:latin typeface="Courier"/>
              </a:rPr>
              <a:t>billing</a:t>
            </a:r>
            <a:r>
              <a:rPr/>
              <a:t> is frequent; </a:t>
            </a:r>
            <a:r>
              <a:rPr>
                <a:latin typeface="Courier"/>
              </a:rPr>
              <a:t>crash</a:t>
            </a:r>
            <a:r>
              <a:rPr/>
              <a:t> is rare and potentially severe.</a:t>
            </a:r>
          </a:p>
          <a:p>
            <a:pPr lvl="0" indent="0" marL="0">
              <a:buNone/>
            </a:pPr>
            <a:r>
              <a:rPr/>
              <a:t>TF-IDF helps surface terms worth inspecting, then domain rules decide action.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SQL Lens: TF-IDF as a Pipeline</a:t>
            </a:r>
          </a:p>
          <a:p>
            <a:pPr lvl="0" indent="0" marL="0">
              <a:buNone/>
            </a:pPr>
            <a:r>
              <a:rPr/>
              <a:t>The math becomes a set of materialized stages.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tokens</a:t>
            </a:r>
            <a:r>
              <a:rPr/>
              <a:t>: one row per token.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term_counts</a:t>
            </a:r>
            <a:r>
              <a:rPr/>
              <a:t>: </a:t>
            </a:r>
            <a:r>
              <a:rPr>
                <a:latin typeface="Courier"/>
              </a:rPr>
              <a:t>GROUP BY doc_id, term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doc_lengths</a:t>
            </a:r>
            <a:r>
              <a:rPr/>
              <a:t>: </a:t>
            </a:r>
            <a:r>
              <a:rPr>
                <a:latin typeface="Courier"/>
              </a:rPr>
              <a:t>GROUP BY doc_id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document_frequency</a:t>
            </a:r>
            <a:r>
              <a:rPr/>
              <a:t>: </a:t>
            </a:r>
            <a:r>
              <a:rPr>
                <a:latin typeface="Courier"/>
              </a:rPr>
              <a:t>GROUP BY term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scores</a:t>
            </a:r>
            <a:r>
              <a:rPr/>
              <a:t>: join and multiply.</a:t>
            </a:r>
          </a:p>
          <a:p>
            <a:pPr lvl="0" indent="0" marL="0">
              <a:buNone/>
            </a:pPr>
            <a:r>
              <a:rPr/>
              <a:t>Production pipelines usually materialize stages for debugging, replay, and cost control.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SQL Stage 1: Token Counts</a:t>
            </a:r>
          </a:p>
          <a:p>
            <a:pPr lvl="0" indent="0" marL="0">
              <a:buNone/>
            </a:pPr>
            <a:r>
              <a:rPr/>
              <a:t>This produces sparse feature rows.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br/>
            <a:r>
              <a:rPr>
                <a:latin typeface="Courier"/>
              </a:rPr>
              <a:t>  doc_id,</a:t>
            </a:r>
            <a:br/>
            <a:r>
              <a:rPr>
                <a:latin typeface="Courier"/>
              </a:rPr>
              <a:t>  term,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term_count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tokens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doc_id, term;</a:t>
            </a:r>
          </a:p>
          <a:p>
            <a:pPr lvl="0" indent="0" marL="0">
              <a:buNone/>
            </a:pPr>
            <a:r>
              <a:rPr/>
              <a:t>Output shape: one row per non-zero </a:t>
            </a:r>
            <a:r>
              <a:rPr>
                <a:latin typeface="Courier"/>
              </a:rPr>
              <a:t>(doc_id, term)</a:t>
            </a:r>
            <a:r>
              <a:rPr/>
              <a:t> pair.</a:t>
            </a:r>
          </a:p>
          <a:p>
            <a:pPr lvl="0" indent="0" marL="0">
              <a:buNone/>
            </a:pPr>
            <a:r>
              <a:rPr/>
              <a:t>Bottleneck: token explosion and high-cardinality grouping.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SQL Stage 2: Document Lengths</a:t>
            </a:r>
          </a:p>
          <a:p>
            <a:pPr lvl="0" indent="0" marL="0">
              <a:buNone/>
            </a:pPr>
            <a:r>
              <a:rPr/>
              <a:t>TF needs a denominator for every document.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br/>
            <a:r>
              <a:rPr>
                <a:latin typeface="Courier"/>
              </a:rPr>
              <a:t>  doc_id,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doc_len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tokens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doc_id;</a:t>
            </a:r>
          </a:p>
          <a:p>
            <a:pPr lvl="0" indent="0" marL="0">
              <a:buNone/>
            </a:pPr>
            <a:r>
              <a:rPr/>
              <a:t>Implementation checks:</a:t>
            </a:r>
          </a:p>
          <a:p>
            <a:pPr lvl="0" indent="-457200" marL="457200">
              <a:buAutoNum type="arabicPeriod"/>
            </a:pPr>
            <a:r>
              <a:rPr/>
              <a:t>Count tokens explicitly; document length is not magically available.</a:t>
            </a:r>
          </a:p>
          <a:p>
            <a:pPr lvl="0" indent="-457200" marL="457200">
              <a:buAutoNum type="arabicPeriod"/>
            </a:pPr>
            <a:r>
              <a:rPr/>
              <a:t>Cast numerics later to avoid integer division.</a:t>
            </a:r>
          </a:p>
          <a:p>
            <a:pPr lvl="0" indent="-457200" marL="457200">
              <a:buAutoNum type="arabicPeriod"/>
            </a:pPr>
            <a:r>
              <a:rPr/>
              <a:t>Filter or flag empty documents before TF calculation.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SQL Stage 3: Document Frequency</a:t>
            </a:r>
          </a:p>
          <a:p>
            <a:pPr lvl="0" indent="0" marL="0">
              <a:buNone/>
            </a:pPr>
            <a:r>
              <a:rPr/>
              <a:t>DF is the expensive global aggregation.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br/>
            <a:r>
              <a:rPr>
                <a:latin typeface="Courier"/>
              </a:rPr>
              <a:t>  term,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DISTINCT</a:t>
            </a:r>
            <a:r>
              <a:rPr>
                <a:latin typeface="Courier"/>
              </a:rPr>
              <a:t> doc_id)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df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tokens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term;</a:t>
            </a:r>
          </a:p>
          <a:p>
            <a:pPr lvl="0" indent="0" marL="0">
              <a:buNone/>
            </a:pPr>
            <a:r>
              <a:rPr/>
              <a:t>Skew risk: common boilerplate terms create hot groups and uneven shuffle partitions.</a:t>
            </a:r>
          </a:p>
          <a:p>
            <a:pPr lvl="0" indent="0" marL="0">
              <a:buNone/>
            </a:pPr>
            <a:r>
              <a:rPr/>
              <a:t>Watch max/median partition load, not only total runtime.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SQL Stage 4: Final TF-IDF Join</a:t>
            </a:r>
          </a:p>
          <a:p>
            <a:pPr lvl="0" indent="0" marL="0">
              <a:buNone/>
            </a:pPr>
            <a:r>
              <a:rPr/>
              <a:t>Bring local and global statistics together.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br/>
            <a:r>
              <a:rPr>
                <a:latin typeface="Courier"/>
              </a:rPr>
              <a:t>  tc.doc_id,</a:t>
            </a:r>
            <a:br/>
            <a:r>
              <a:rPr>
                <a:latin typeface="Courier"/>
              </a:rPr>
              <a:t>  tc.term,</a:t>
            </a:r>
            <a:br/>
            <a:r>
              <a:rPr>
                <a:latin typeface="Courier"/>
              </a:rPr>
              <a:t>  (tc.term_count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dl.doc_len)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((c.n_docs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(df.df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))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tfidf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term_counts tc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doc_lengths dl </a:t>
            </a:r>
            <a:r>
              <a:rPr b="1">
                <a:solidFill>
                  <a:srgbClr val="00702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(doc_id)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document_frequency df </a:t>
            </a:r>
            <a:r>
              <a:rPr b="1">
                <a:solidFill>
                  <a:srgbClr val="00702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(term)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CROSS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corpus_size c;</a:t>
            </a:r>
          </a:p>
          <a:p>
            <a:pPr lvl="0" indent="0" marL="0">
              <a:buNone/>
            </a:pPr>
            <a:r>
              <a:rPr/>
              <a:t>Inputs to the score: </a:t>
            </a:r>
            <a:r>
              <a:rPr>
                <a:latin typeface="Courier"/>
              </a:rPr>
              <a:t>term_counts</a:t>
            </a:r>
            <a:r>
              <a:rPr/>
              <a:t>, </a:t>
            </a:r>
            <a:r>
              <a:rPr>
                <a:latin typeface="Courier"/>
              </a:rPr>
              <a:t>doc_lengths</a:t>
            </a:r>
            <a:r>
              <a:rPr/>
              <a:t>, </a:t>
            </a:r>
            <a:r>
              <a:rPr>
                <a:latin typeface="Courier"/>
              </a:rPr>
              <a:t>document_frequency</a:t>
            </a:r>
            <a:r>
              <a:rPr/>
              <a:t>, and </a:t>
            </a:r>
            <a:r>
              <a:rPr>
                <a:latin typeface="Courier"/>
              </a:rPr>
              <a:t>corpus_size</a:t>
            </a:r>
            <a:r>
              <a:rPr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SQL Cost Consequences</a:t>
            </a:r>
          </a:p>
          <a:p>
            <a:pPr lvl="0" indent="0" marL="0">
              <a:buNone/>
            </a:pPr>
            <a:r>
              <a:rPr/>
              <a:t>Each stage has a different driver and bottleneck.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Cardinality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Bottleneck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token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parsing and row explosion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 counts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 </a:t>
                      </a:r>
                      <a:r>
                        <a:rPr>
                          <a:latin typeface="Courier"/>
                        </a:rPr>
                        <a:t>(doc, term)</a:t>
                      </a:r>
                      <a:r>
                        <a:rPr/>
                        <a:t> pairs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</a:t>
                      </a:r>
                      <a:r>
                        <a:rPr>
                          <a:latin typeface="Courier"/>
                        </a:rPr>
                        <a:t>GROUP BY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 terms and common terms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hot-key aggregation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join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sparse feature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join memory and shuffle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lesson: SQL can express TF-IDF. The engineering issue is predictable cost and stability at scale.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Operational Risk: Stop-Word Skew</a:t>
            </a:r>
          </a:p>
          <a:p>
            <a:pPr lvl="0" indent="0" marL="0">
              <a:buNone/>
            </a:pPr>
            <a:r>
              <a:rPr/>
              <a:t>Common terms have low value but high processing cost.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Relative frequency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please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Mitigation:</a:t>
            </a:r>
          </a:p>
          <a:p>
            <a:pPr lvl="0"/>
            <a:r>
              <a:rPr/>
              <a:t>stop-word filtering,</a:t>
            </a:r>
          </a:p>
          <a:p>
            <a:pPr lvl="0"/>
            <a:r>
              <a:rPr/>
              <a:t>maximum DF threshold,</a:t>
            </a:r>
          </a:p>
          <a:p>
            <a:pPr lvl="0"/>
            <a:r>
              <a:rPr/>
              <a:t>partition load monitoring.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Operational Risk: Vocabulary Explosion</a:t>
            </a:r>
          </a:p>
          <a:p>
            <a:pPr lvl="0" indent="0" marL="0">
              <a:buNone/>
            </a:pPr>
            <a:r>
              <a:rPr/>
              <a:t>IDs, URLs, serials, and typos can become unique terms.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 indent="0">
              <a:buNone/>
            </a:pPr>
            <a:r>
              <a:rPr>
                <a:latin typeface="Courier"/>
              </a:rPr>
              <a:t>AB12X9   url_884   printer   tkt_1042   hash_9f3a
vpn      SN-778A   pritner   refund     http_x</a:t>
            </a:r>
          </a:p>
          <a:p>
            <a:pPr lvl="0" indent="0" marL="0">
              <a:buNone/>
            </a:pPr>
            <a:r>
              <a:rPr/>
              <a:t>Mitigation:</a:t>
            </a:r>
          </a:p>
          <a:p>
            <a:pPr lvl="0"/>
            <a:r>
              <a:rPr/>
              <a:t>mask identifiers,</a:t>
            </a:r>
          </a:p>
          <a:p>
            <a:pPr lvl="0"/>
            <a:r>
              <a:rPr/>
              <a:t>canonicalize typos,</a:t>
            </a:r>
          </a:p>
          <a:p>
            <a:pPr lvl="0"/>
            <a:r>
              <a:rPr/>
              <a:t>apply minimum DF thresholds,</a:t>
            </a:r>
          </a:p>
          <a:p>
            <a:pPr lvl="0"/>
            <a:r>
              <a:rPr/>
              <a:t>monitor vocabulary-size alerts.</a:t>
            </a:r>
          </a:p>
          <a:p>
            <a:pPr lvl="0" indent="0" marL="0">
              <a:buNone/>
            </a:pPr>
            <a:r>
              <a:rPr/>
              <a:t>Do not let random identifiers become analytical vocabulary.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Operational Risk: Edge Cases</a:t>
            </a:r>
          </a:p>
          <a:p>
            <a:pPr lvl="0" indent="0" marL="0">
              <a:buNone/>
            </a:pPr>
            <a:r>
              <a:rPr/>
              <a:t>Quality handling is part of the feature pipeline.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Edge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Empty 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division by zero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 or mark invalid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stop words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useful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quality flag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Very short 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unstable ranking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combine with business rules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Numeric-heavy 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vocabulary explosion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extract or mask patterns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Rule: never hide quality problems inside a score.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Make Quality Flags Visible</a:t>
            </a:r>
          </a:p>
          <a:p>
            <a:pPr lvl="0" indent="0" marL="0">
              <a:buNone/>
            </a:pPr>
            <a:r>
              <a:rPr/>
              <a:t>Analysts and managers need to know when scores are based on weak text.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jam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EMPTY_TEXT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sn_778a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NUMERIC_HEAVY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score without a data-quality state is hard to govern.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Classroom Exercise</a:t>
            </a:r>
          </a:p>
          <a:p>
            <a:pPr lvl="0" indent="0" marL="0">
              <a:buNone/>
            </a:pPr>
            <a:r>
              <a:rPr/>
              <a:t>Students can compute the ranking by hand before seeing SQL.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api timeout timeout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api retry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payment timeout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payment failed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Steps:</a:t>
            </a:r>
          </a:p>
          <a:p>
            <a:pPr lvl="0" indent="-457200" marL="457200">
              <a:buAutoNum type="arabicPeriod"/>
            </a:pPr>
            <a:r>
              <a:rPr/>
              <a:t>Count tokens.</a:t>
            </a:r>
          </a:p>
          <a:p>
            <a:pPr lvl="0" indent="-457200" marL="457200">
              <a:buAutoNum type="arabicPeriod"/>
            </a:pPr>
            <a:r>
              <a:rPr/>
              <a:t>Compute TF.</a:t>
            </a:r>
          </a:p>
          <a:p>
            <a:pPr lvl="0" indent="-457200" marL="457200">
              <a:buAutoNum type="arabicPeriod"/>
            </a:pPr>
            <a:r>
              <a:rPr/>
              <a:t>Compute DF and IDF.</a:t>
            </a:r>
          </a:p>
          <a:p>
            <a:pPr lvl="0" indent="0" marL="0">
              <a:buNone/>
            </a:pPr>
            <a:r>
              <a:rPr/>
              <a:t>Prompt: which term should surface for D4, and why?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Takeaways</a:t>
            </a:r>
          </a:p>
          <a:p>
            <a:pPr lvl="0" indent="0" marL="0">
              <a:buNone/>
            </a:pPr>
            <a:r>
              <a:rPr/>
              <a:t>Regex creates stable terms; TF-IDF ranks local focus against global rarity.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49700" y="1409700"/>
          <a:ext cx="7620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Takeaway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extract fields and clean 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define the feature vocabulary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TF-IDF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rank rare focused signals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make cost and quality explicit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rule: every text score needs preprocessing rules, example tests, and quality flags.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27</Words>
  <Application>Microsoft Macintosh PowerPoint</Application>
  <PresentationFormat>מסך רחב</PresentationFormat>
  <Paragraphs>18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2026-05-06T13:45:22Z</dcterms:created>
  <dcterms:modified xsi:type="dcterms:W3CDTF">2026-05-06T13:45:22Z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