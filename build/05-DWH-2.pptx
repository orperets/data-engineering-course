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8" r:id="rId3"/>
    <p:sldId id="260" r:id="rId4"/>
    <p:sldId id="262" r:id="rId5"/>
    <p:sldId id="358" r:id="rId6"/>
    <p:sldId id="353" r:id="rId7"/>
    <p:sldId id="331" r:id="rId8"/>
    <p:sldId id="264" r:id="rId9"/>
    <p:sldId id="266" r:id="rId10"/>
    <p:sldId id="273" r:id="rId11"/>
    <p:sldId id="271" r:id="rId12"/>
    <p:sldId id="272" r:id="rId13"/>
    <p:sldId id="267" r:id="rId14"/>
    <p:sldId id="487" r:id="rId15"/>
    <p:sldId id="268" r:id="rId16"/>
    <p:sldId id="372" r:id="rId17"/>
    <p:sldId id="324" r:id="rId18"/>
    <p:sldId id="373" r:id="rId19"/>
    <p:sldId id="261" r:id="rId20"/>
    <p:sldId id="274" r:id="rId21"/>
    <p:sldId id="275" r:id="rId22"/>
    <p:sldId id="276" r:id="rId23"/>
    <p:sldId id="284" r:id="rId24"/>
    <p:sldId id="289" r:id="rId25"/>
    <p:sldId id="29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11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19"/>
    <p:restoredTop sz="94795"/>
  </p:normalViewPr>
  <p:slideViewPr>
    <p:cSldViewPr snapToGrid="0" snapToObjects="1">
      <p:cViewPr varScale="1">
        <p:scale>
          <a:sx n="103" d="100"/>
          <a:sy n="103" d="100"/>
        </p:scale>
        <p:origin x="1144" y="192"/>
      </p:cViewPr>
      <p:guideLst>
        <p:guide orient="horz" pos="2160"/>
        <p:guide pos="3840"/>
      </p:guideLst>
    </p:cSldViewPr>
  </p:slideViewPr>
  <p:notesTextViewPr>
    <p:cViewPr>
      <p:scale>
        <a:sx n="100" d="100"/>
        <a:sy n="100" d="100"/>
      </p:scale>
      <p:origin x="0" y="0"/>
    </p:cViewPr>
  </p:notesTextViewPr>
  <p:notesViewPr>
    <p:cSldViewPr snapToGrid="0" snapToObjects="1">
      <p:cViewPr varScale="1">
        <p:scale>
          <a:sx n="118" d="100"/>
          <a:sy n="118" d="100"/>
        </p:scale>
        <p:origin x="5160" y="21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67144145-9308-8A4B-8FA3-2645374C6399}" type="datetimeFigureOut">
              <a:rPr lang="he-IL" smtClean="0"/>
              <a:t>ו'.אייר.תשפ"ו</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DE555C55-3E82-AD4D-8F16-F9B28D7295B4}" type="slidenum">
              <a:rPr lang="he-IL" smtClean="0"/>
              <a:t>‹#›</a:t>
            </a:fld>
            <a:endParaRPr lang="he-IL"/>
          </a:p>
        </p:txBody>
      </p:sp>
    </p:spTree>
    <p:extLst>
      <p:ext uri="{BB962C8B-B14F-4D97-AF65-F5344CB8AC3E}">
        <p14:creationId xmlns:p14="http://schemas.microsoft.com/office/powerpoint/2010/main" val="1523682789"/>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a:extLst>
              <a:ext uri="{FF2B5EF4-FFF2-40B4-BE49-F238E27FC236}">
                <a16:creationId xmlns:a16="http://schemas.microsoft.com/office/drawing/2014/main" id="{0763450D-99CE-C24A-8D8D-B8CA56C5CC4E}"/>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E1D7C4A-BC49-1A48-BD91-C46D6C619243}" type="slidenum">
              <a:rPr lang="en-US" altLang="en-GB" sz="1200"/>
              <a:pPr/>
              <a:t>5</a:t>
            </a:fld>
            <a:endParaRPr lang="en-US" altLang="en-GB" sz="1200"/>
          </a:p>
        </p:txBody>
      </p:sp>
      <p:sp>
        <p:nvSpPr>
          <p:cNvPr id="41987" name="Rectangle 2">
            <a:extLst>
              <a:ext uri="{FF2B5EF4-FFF2-40B4-BE49-F238E27FC236}">
                <a16:creationId xmlns:a16="http://schemas.microsoft.com/office/drawing/2014/main" id="{03FBB1CD-983F-A146-BC0C-9A9AC7F59C98}"/>
              </a:ext>
            </a:extLst>
          </p:cNvPr>
          <p:cNvSpPr>
            <a:spLocks noGrp="1" noRot="1" noChangeAspect="1" noChangeArrowheads="1" noTextEdit="1"/>
          </p:cNvSpPr>
          <p:nvPr>
            <p:ph type="sldImg"/>
          </p:nvPr>
        </p:nvSpPr>
        <p:spPr>
          <a:ln/>
        </p:spPr>
      </p:sp>
      <p:sp>
        <p:nvSpPr>
          <p:cNvPr id="41988" name="Rectangle 3">
            <a:extLst>
              <a:ext uri="{FF2B5EF4-FFF2-40B4-BE49-F238E27FC236}">
                <a16:creationId xmlns:a16="http://schemas.microsoft.com/office/drawing/2014/main" id="{EB98BAC9-F51A-D245-8B1F-7F8D533450FA}"/>
              </a:ext>
            </a:extLst>
          </p:cNvPr>
          <p:cNvSpPr>
            <a:spLocks noGrp="1" noChangeArrowheads="1"/>
          </p:cNvSpPr>
          <p:nvPr>
            <p:ph type="body" idx="1"/>
          </p:nvPr>
        </p:nvSpPr>
        <p:spPr>
          <a:noFill/>
        </p:spPr>
        <p:txBody>
          <a:bodyPr/>
          <a:lstStyle/>
          <a:p>
            <a:endParaRPr lang="en-IL" altLang="en-IL"/>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a:extLst>
              <a:ext uri="{FF2B5EF4-FFF2-40B4-BE49-F238E27FC236}">
                <a16:creationId xmlns:a16="http://schemas.microsoft.com/office/drawing/2014/main" id="{94298DF5-F7A9-D548-A1AD-F7F07AFC4A50}"/>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0EBF4B6-2F2D-F74A-A95D-51E194C16FF9}" type="slidenum">
              <a:rPr lang="en-US" altLang="en-GB" sz="1200"/>
              <a:pPr/>
              <a:t>6</a:t>
            </a:fld>
            <a:endParaRPr lang="en-US" altLang="en-GB" sz="1200"/>
          </a:p>
        </p:txBody>
      </p:sp>
      <p:sp>
        <p:nvSpPr>
          <p:cNvPr id="44035" name="Rectangle 2">
            <a:extLst>
              <a:ext uri="{FF2B5EF4-FFF2-40B4-BE49-F238E27FC236}">
                <a16:creationId xmlns:a16="http://schemas.microsoft.com/office/drawing/2014/main" id="{561F36E8-F8FA-4045-800D-B491CE196EAC}"/>
              </a:ext>
            </a:extLst>
          </p:cNvPr>
          <p:cNvSpPr>
            <a:spLocks noGrp="1" noRot="1" noChangeAspect="1" noChangeArrowheads="1" noTextEdit="1"/>
          </p:cNvSpPr>
          <p:nvPr>
            <p:ph type="sldImg"/>
          </p:nvPr>
        </p:nvSpPr>
        <p:spPr>
          <a:ln/>
        </p:spPr>
      </p:sp>
      <p:sp>
        <p:nvSpPr>
          <p:cNvPr id="44036" name="Rectangle 3">
            <a:extLst>
              <a:ext uri="{FF2B5EF4-FFF2-40B4-BE49-F238E27FC236}">
                <a16:creationId xmlns:a16="http://schemas.microsoft.com/office/drawing/2014/main" id="{38266394-61EA-2442-9EFD-EF422C450F19}"/>
              </a:ext>
            </a:extLst>
          </p:cNvPr>
          <p:cNvSpPr>
            <a:spLocks noGrp="1" noChangeArrowheads="1"/>
          </p:cNvSpPr>
          <p:nvPr>
            <p:ph type="body" idx="1"/>
          </p:nvPr>
        </p:nvSpPr>
        <p:spPr>
          <a:noFill/>
        </p:spPr>
        <p:txBody>
          <a:bodyPr/>
          <a:lstStyle/>
          <a:p>
            <a:endParaRPr lang="en-IL" altLang="en-IL"/>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a:extLst>
              <a:ext uri="{FF2B5EF4-FFF2-40B4-BE49-F238E27FC236}">
                <a16:creationId xmlns:a16="http://schemas.microsoft.com/office/drawing/2014/main" id="{C1CDFDA5-DCFC-4A4A-8BCA-ABB491A4B42F}"/>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A3AB671E-96EA-4049-B2E5-E68D970123E5}" type="slidenum">
              <a:rPr lang="en-US" altLang="en-GB" sz="1200"/>
              <a:pPr/>
              <a:t>14</a:t>
            </a:fld>
            <a:endParaRPr lang="en-US" altLang="en-GB" sz="1200"/>
          </a:p>
        </p:txBody>
      </p:sp>
      <p:sp>
        <p:nvSpPr>
          <p:cNvPr id="50179" name="Rectangle 2">
            <a:extLst>
              <a:ext uri="{FF2B5EF4-FFF2-40B4-BE49-F238E27FC236}">
                <a16:creationId xmlns:a16="http://schemas.microsoft.com/office/drawing/2014/main" id="{6EBC1370-E741-ED4E-A2ED-E7CE70C705F9}"/>
              </a:ext>
            </a:extLst>
          </p:cNvPr>
          <p:cNvSpPr>
            <a:spLocks noChangeArrowheads="1"/>
          </p:cNvSpPr>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50180" name="Rectangle 3">
            <a:extLst>
              <a:ext uri="{FF2B5EF4-FFF2-40B4-BE49-F238E27FC236}">
                <a16:creationId xmlns:a16="http://schemas.microsoft.com/office/drawing/2014/main" id="{D4769A82-938F-774E-B9E5-B29BB970C6CA}"/>
              </a:ext>
            </a:extLst>
          </p:cNvPr>
          <p:cNvSpPr>
            <a:spLocks noChangeArrowheads="1"/>
          </p:cNvSpPr>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0" rIns="19050" bIns="0" anchor="b"/>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r"/>
            <a:r>
              <a:rPr lang="en-GB" altLang="en-GB" sz="1000" i="1"/>
              <a:t>7</a:t>
            </a:r>
          </a:p>
        </p:txBody>
      </p:sp>
      <p:sp>
        <p:nvSpPr>
          <p:cNvPr id="50181" name="Rectangle 4">
            <a:extLst>
              <a:ext uri="{FF2B5EF4-FFF2-40B4-BE49-F238E27FC236}">
                <a16:creationId xmlns:a16="http://schemas.microsoft.com/office/drawing/2014/main" id="{6947D6EA-40E8-0142-B9D4-7038C98C4ED1}"/>
              </a:ext>
            </a:extLst>
          </p:cNvPr>
          <p:cNvSpPr>
            <a:spLocks noChangeArrowheads="1"/>
          </p:cNvSpPr>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50182" name="Rectangle 5">
            <a:extLst>
              <a:ext uri="{FF2B5EF4-FFF2-40B4-BE49-F238E27FC236}">
                <a16:creationId xmlns:a16="http://schemas.microsoft.com/office/drawing/2014/main" id="{759CD8AB-77B5-E949-83BF-6E2171C6CB04}"/>
              </a:ext>
            </a:extLst>
          </p:cNvPr>
          <p:cNvSpPr>
            <a:spLocks noChangeArrowheads="1"/>
          </p:cNvSpP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50183" name="Rectangle 6">
            <a:extLst>
              <a:ext uri="{FF2B5EF4-FFF2-40B4-BE49-F238E27FC236}">
                <a16:creationId xmlns:a16="http://schemas.microsoft.com/office/drawing/2014/main" id="{E691DAB9-D0DC-9D48-BE83-7A083766C85E}"/>
              </a:ext>
            </a:extLst>
          </p:cNvPr>
          <p:cNvSpPr>
            <a:spLocks noGrp="1" noChangeArrowheads="1"/>
          </p:cNvSpPr>
          <p:nvPr>
            <p:ph type="body" idx="1"/>
          </p:nvPr>
        </p:nvSpPr>
        <p:spPr>
          <a:noFill/>
        </p:spPr>
        <p:txBody>
          <a:bodyPr lIns="92075" tIns="46037" rIns="92075" bIns="46037"/>
          <a:lstStyle/>
          <a:p>
            <a:r>
              <a:rPr lang="en-GB" altLang="en-GB"/>
              <a:t>The Star is built for simplicity and speed. Forget everything you learned about designing relational databases. The Star Schema makes no excuses for the rules it breaks. The assumption behind it is that the database is static or ìquiet,î meaning that no updates are performed on-line. </a:t>
            </a:r>
          </a:p>
          <a:p>
            <a:r>
              <a:rPr lang="en-GB" altLang="en-GB"/>
              <a:t>Remember that most of the rules of relational database design are derived from the need to maintain atomicity, consistency and integrity (the ìACIDî test) in an On-Line Transaction Processing (OLTP) environment. Since the data warehouse is quiet, these constraints can be relaxed.</a:t>
            </a:r>
          </a:p>
          <a:p>
            <a:endParaRPr lang="en-GB" altLang="en-GB"/>
          </a:p>
          <a:p>
            <a:r>
              <a:rPr lang="en-GB" altLang="en-GB"/>
              <a:t> </a:t>
            </a:r>
          </a:p>
        </p:txBody>
      </p:sp>
      <p:sp>
        <p:nvSpPr>
          <p:cNvPr id="50184" name="Rectangle 7">
            <a:extLst>
              <a:ext uri="{FF2B5EF4-FFF2-40B4-BE49-F238E27FC236}">
                <a16:creationId xmlns:a16="http://schemas.microsoft.com/office/drawing/2014/main" id="{28AADC1E-C967-8346-8A95-4564CE9DFF2E}"/>
              </a:ext>
            </a:extLst>
          </p:cNvPr>
          <p:cNvSpPr>
            <a:spLocks noGrp="1" noRot="1" noChangeAspect="1" noChangeArrowheads="1" noTextEdit="1"/>
          </p:cNvSpPr>
          <p:nvPr>
            <p:ph type="sldImg"/>
          </p:nvPr>
        </p:nvSpPr>
        <p:spPr>
          <a:ln w="12700" cap="flat">
            <a:solidFill>
              <a:schemeClr val="tx1"/>
            </a:solidFill>
          </a:ln>
        </p:spPr>
      </p:sp>
    </p:spTree>
    <p:extLst>
      <p:ext uri="{BB962C8B-B14F-4D97-AF65-F5344CB8AC3E}">
        <p14:creationId xmlns:p14="http://schemas.microsoft.com/office/powerpoint/2010/main" val="39859605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a:extLst>
              <a:ext uri="{FF2B5EF4-FFF2-40B4-BE49-F238E27FC236}">
                <a16:creationId xmlns:a16="http://schemas.microsoft.com/office/drawing/2014/main" id="{0264EBC8-64C4-524C-8295-6DF8A9DA0EF9}"/>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1CCC9D1-262D-6944-A51C-27747F684BC7}" type="slidenum">
              <a:rPr lang="en-US" altLang="en-GB" sz="1200"/>
              <a:pPr/>
              <a:t>16</a:t>
            </a:fld>
            <a:endParaRPr lang="en-US" altLang="en-GB" sz="1200"/>
          </a:p>
        </p:txBody>
      </p:sp>
      <p:sp>
        <p:nvSpPr>
          <p:cNvPr id="57347" name="Rectangle 2">
            <a:extLst>
              <a:ext uri="{FF2B5EF4-FFF2-40B4-BE49-F238E27FC236}">
                <a16:creationId xmlns:a16="http://schemas.microsoft.com/office/drawing/2014/main" id="{F9096E6D-03EF-3F49-8E29-2ED62C5D6CFE}"/>
              </a:ext>
            </a:extLst>
          </p:cNvPr>
          <p:cNvSpPr>
            <a:spLocks noGrp="1" noRot="1" noChangeAspect="1" noChangeArrowheads="1" noTextEdit="1"/>
          </p:cNvSpPr>
          <p:nvPr>
            <p:ph type="sldImg"/>
          </p:nvPr>
        </p:nvSpPr>
        <p:spPr>
          <a:ln/>
        </p:spPr>
      </p:sp>
      <p:sp>
        <p:nvSpPr>
          <p:cNvPr id="57348" name="Rectangle 3">
            <a:extLst>
              <a:ext uri="{FF2B5EF4-FFF2-40B4-BE49-F238E27FC236}">
                <a16:creationId xmlns:a16="http://schemas.microsoft.com/office/drawing/2014/main" id="{D8FED176-4817-5446-B6A4-438A37FB2A1F}"/>
              </a:ext>
            </a:extLst>
          </p:cNvPr>
          <p:cNvSpPr>
            <a:spLocks noGrp="1" noChangeArrowheads="1"/>
          </p:cNvSpPr>
          <p:nvPr>
            <p:ph type="body" idx="1"/>
          </p:nvPr>
        </p:nvSpPr>
        <p:spPr>
          <a:noFill/>
        </p:spPr>
        <p:txBody>
          <a:bodyPr/>
          <a:lstStyle/>
          <a:p>
            <a:endParaRPr lang="en-IL" altLang="en-IL"/>
          </a:p>
        </p:txBody>
      </p:sp>
    </p:spTree>
    <p:extLst>
      <p:ext uri="{BB962C8B-B14F-4D97-AF65-F5344CB8AC3E}">
        <p14:creationId xmlns:p14="http://schemas.microsoft.com/office/powerpoint/2010/main" val="3370420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a:extLst>
              <a:ext uri="{FF2B5EF4-FFF2-40B4-BE49-F238E27FC236}">
                <a16:creationId xmlns:a16="http://schemas.microsoft.com/office/drawing/2014/main" id="{6FAEADCC-AC9C-7748-B87A-F70A2B3AED25}"/>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5E2680B-58F3-2747-9061-778F0121826A}" type="slidenum">
              <a:rPr lang="en-US" altLang="en-GB" sz="1200"/>
              <a:pPr/>
              <a:t>18</a:t>
            </a:fld>
            <a:endParaRPr lang="en-US" altLang="en-GB" sz="1200"/>
          </a:p>
        </p:txBody>
      </p:sp>
      <p:sp>
        <p:nvSpPr>
          <p:cNvPr id="58371" name="Rectangle 2">
            <a:extLst>
              <a:ext uri="{FF2B5EF4-FFF2-40B4-BE49-F238E27FC236}">
                <a16:creationId xmlns:a16="http://schemas.microsoft.com/office/drawing/2014/main" id="{E6B1D164-0948-CC4C-908B-3A909A5E25AD}"/>
              </a:ext>
            </a:extLst>
          </p:cNvPr>
          <p:cNvSpPr>
            <a:spLocks noGrp="1" noRot="1" noChangeAspect="1" noChangeArrowheads="1" noTextEdit="1"/>
          </p:cNvSpPr>
          <p:nvPr>
            <p:ph type="sldImg"/>
          </p:nvPr>
        </p:nvSpPr>
        <p:spPr>
          <a:ln/>
        </p:spPr>
      </p:sp>
      <p:sp>
        <p:nvSpPr>
          <p:cNvPr id="58372" name="Rectangle 3">
            <a:extLst>
              <a:ext uri="{FF2B5EF4-FFF2-40B4-BE49-F238E27FC236}">
                <a16:creationId xmlns:a16="http://schemas.microsoft.com/office/drawing/2014/main" id="{3B198510-6FA9-D641-B385-1075C01C0BFD}"/>
              </a:ext>
            </a:extLst>
          </p:cNvPr>
          <p:cNvSpPr>
            <a:spLocks noGrp="1" noChangeArrowheads="1"/>
          </p:cNvSpPr>
          <p:nvPr>
            <p:ph type="body" idx="1"/>
          </p:nvPr>
        </p:nvSpPr>
        <p:spPr>
          <a:noFill/>
        </p:spPr>
        <p:txBody>
          <a:bodyPr/>
          <a:lstStyle/>
          <a:p>
            <a:endParaRPr lang="en-IL" altLang="en-IL"/>
          </a:p>
        </p:txBody>
      </p:sp>
    </p:spTree>
    <p:extLst>
      <p:ext uri="{BB962C8B-B14F-4D97-AF65-F5344CB8AC3E}">
        <p14:creationId xmlns:p14="http://schemas.microsoft.com/office/powerpoint/2010/main" val="38881046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14400" y="2130426"/>
            <a:ext cx="10363200" cy="1470025"/>
          </a:xfrm>
        </p:spPr>
        <p:txBody>
          <a:bodyPr/>
          <a:lstStyle>
            <a:lvl1pPr>
              <a:defRPr sz="4200"/>
            </a:lvl1p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A3964B5F-BAD9-9946-9D71-AB5C763DA70C}" type="datetime9">
              <a:rPr lang="he-IL" smtClean="0"/>
              <a:t>23 אפריל,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3400" b="1"/>
            </a:lvl1pPr>
          </a:lstStyle>
          <a:p>
            <a:r>
              <a:rPr lang="en-US" dirty="0"/>
              <a:t>Click to edit Master title style</a:t>
            </a:r>
          </a:p>
        </p:txBody>
      </p:sp>
      <p:sp>
        <p:nvSpPr>
          <p:cNvPr id="3" name="Content Placeholder 2"/>
          <p:cNvSpPr>
            <a:spLocks noGrp="1"/>
          </p:cNvSpPr>
          <p:nvPr>
            <p:ph idx="1" hasCustomPrompt="1"/>
          </p:nvPr>
        </p:nvSpPr>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9E1EEA0-9609-584F-90F2-46E4F93E52CD}" type="datetime9">
              <a:rPr lang="he-IL" smtClean="0"/>
              <a:t>23 אפריל,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DCA6A5E-CA21-6B4F-9DE7-1A275F321E49}" type="datetime9">
              <a:rPr lang="he-IL" smtClean="0"/>
              <a:t>23 אפריל,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3" name="Title 1">
            <a:extLst>
              <a:ext uri="{FF2B5EF4-FFF2-40B4-BE49-F238E27FC236}">
                <a16:creationId xmlns:a16="http://schemas.microsoft.com/office/drawing/2014/main" id="{129F15AE-737D-866E-3CF2-D0120AD833A4}"/>
              </a:ext>
            </a:extLst>
          </p:cNvPr>
          <p:cNvSpPr>
            <a:spLocks noGrp="1"/>
          </p:cNvSpPr>
          <p:nvPr>
            <p:ph type="ctrTitle" hasCustomPrompt="1"/>
          </p:nvPr>
        </p:nvSpPr>
        <p:spPr>
          <a:xfrm>
            <a:off x="914400" y="2130426"/>
            <a:ext cx="10363200" cy="1470025"/>
          </a:xfrm>
        </p:spPr>
        <p:txBody>
          <a:bodyPr/>
          <a:lstStyle>
            <a:lvl1pPr>
              <a:defRPr sz="4200"/>
            </a:lvl1pPr>
          </a:lstStyle>
          <a:p>
            <a:r>
              <a:rPr lang="en-US" dirty="0"/>
              <a:t>Click to edit Master title style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56840" y="1600201"/>
            <a:ext cx="660142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717894" y="2569580"/>
            <a:ext cx="5864506" cy="355658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AE3C6960-90E0-EA41-937B-E68D4C6A0841}" type="datetime9">
              <a:rPr lang="he-IL" smtClean="0"/>
              <a:t>23 אפריל, 2026</a:t>
            </a:fld>
            <a:endParaRPr lang="en-US"/>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8CAE1C8-A9FA-924F-80DA-3B96C0343AF4}" type="datetime9">
              <a:rPr lang="he-IL" smtClean="0"/>
              <a:t>23 אפריל, 2026</a:t>
            </a:fld>
            <a:endParaRPr lang="en-US"/>
          </a:p>
        </p:txBody>
      </p:sp>
      <p:sp>
        <p:nvSpPr>
          <p:cNvPr id="8" name="Footer Placeholder 7"/>
          <p:cNvSpPr>
            <a:spLocks noGrp="1"/>
          </p:cNvSpPr>
          <p:nvPr>
            <p:ph type="ftr" sz="quarter" idx="11"/>
          </p:nvPr>
        </p:nvSpPr>
        <p:spPr/>
        <p:txBody>
          <a:bodyPr/>
          <a:lstStyle/>
          <a:p>
            <a:r>
              <a:rPr lang="en-US"/>
              <a:t>Or Peretz</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DC92AE4-510D-3C40-B9B0-AA6693EED883}" type="datetime9">
              <a:rPr lang="he-IL" smtClean="0"/>
              <a:t>23 אפריל, 2026</a:t>
            </a:fld>
            <a:endParaRPr lang="en-US"/>
          </a:p>
        </p:txBody>
      </p:sp>
      <p:sp>
        <p:nvSpPr>
          <p:cNvPr id="4" name="Footer Placeholder 3"/>
          <p:cNvSpPr>
            <a:spLocks noGrp="1"/>
          </p:cNvSpPr>
          <p:nvPr>
            <p:ph type="ftr" sz="quarter" idx="11"/>
          </p:nvPr>
        </p:nvSpPr>
        <p:spPr/>
        <p:txBody>
          <a:bodyPr/>
          <a:lstStyle/>
          <a:p>
            <a:r>
              <a:rPr lang="en-US"/>
              <a:t>Or Peretz</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
        <p:nvSpPr>
          <p:cNvPr id="6" name="Content Placeholder 2">
            <a:extLst>
              <a:ext uri="{FF2B5EF4-FFF2-40B4-BE49-F238E27FC236}">
                <a16:creationId xmlns:a16="http://schemas.microsoft.com/office/drawing/2014/main" id="{E1D8F28D-D1D2-34A5-D88A-549DD7AD701A}"/>
              </a:ext>
            </a:extLst>
          </p:cNvPr>
          <p:cNvSpPr>
            <a:spLocks noGrp="1"/>
          </p:cNvSpPr>
          <p:nvPr>
            <p:ph idx="1" hasCustomPrompt="1"/>
          </p:nvPr>
        </p:nvSpPr>
        <p:spPr>
          <a:xfrm>
            <a:off x="946768" y="1600201"/>
            <a:ext cx="10635632" cy="4525963"/>
          </a:xfrm>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2C5D179-4B48-7641-AFA1-4656153FFCB8}" type="datetime9">
              <a:rPr lang="he-IL" smtClean="0"/>
              <a:t>23 אפריל, 2026</a:t>
            </a:fld>
            <a:endParaRPr lang="en-US"/>
          </a:p>
        </p:txBody>
      </p:sp>
      <p:sp>
        <p:nvSpPr>
          <p:cNvPr id="3" name="Footer Placeholder 2"/>
          <p:cNvSpPr>
            <a:spLocks noGrp="1"/>
          </p:cNvSpPr>
          <p:nvPr>
            <p:ph type="ftr" sz="quarter" idx="11"/>
          </p:nvPr>
        </p:nvSpPr>
        <p:spPr/>
        <p:txBody>
          <a:bodyPr/>
          <a:lstStyle/>
          <a:p>
            <a:r>
              <a:rPr lang="en-US"/>
              <a:t>Or Peretz</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5" name="Content Placeholder 2">
            <a:extLst>
              <a:ext uri="{FF2B5EF4-FFF2-40B4-BE49-F238E27FC236}">
                <a16:creationId xmlns:a16="http://schemas.microsoft.com/office/drawing/2014/main" id="{3F1439EE-8346-69C4-2D2A-C45C952E131C}"/>
              </a:ext>
            </a:extLst>
          </p:cNvPr>
          <p:cNvSpPr>
            <a:spLocks noGrp="1"/>
          </p:cNvSpPr>
          <p:nvPr>
            <p:ph idx="1" hasCustomPrompt="1"/>
          </p:nvPr>
        </p:nvSpPr>
        <p:spPr>
          <a:xfrm>
            <a:off x="946768" y="1600201"/>
            <a:ext cx="10635632" cy="4525963"/>
          </a:xfrm>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B2D96A8D-C7E4-194A-BF0A-D552B24EBF94}" type="datetime9">
              <a:rPr lang="he-IL" smtClean="0"/>
              <a:t>23 אפריל, 2026</a:t>
            </a:fld>
            <a:endParaRPr lang="en-US"/>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
        <p:nvSpPr>
          <p:cNvPr id="9" name="Title 1">
            <a:extLst>
              <a:ext uri="{FF2B5EF4-FFF2-40B4-BE49-F238E27FC236}">
                <a16:creationId xmlns:a16="http://schemas.microsoft.com/office/drawing/2014/main" id="{7F24627C-5938-5D06-969C-341161F72C9C}"/>
              </a:ext>
            </a:extLst>
          </p:cNvPr>
          <p:cNvSpPr>
            <a:spLocks noGrp="1"/>
          </p:cNvSpPr>
          <p:nvPr>
            <p:ph type="title"/>
          </p:nvPr>
        </p:nvSpPr>
        <p:spPr>
          <a:xfrm>
            <a:off x="609600" y="274638"/>
            <a:ext cx="10972800" cy="1143000"/>
          </a:xfrm>
        </p:spPr>
        <p:txBody>
          <a:bodyPr/>
          <a:lstStyle/>
          <a:p>
            <a:r>
              <a:rPr lang="en-US"/>
              <a:t>Click to edit Master title style</a:t>
            </a:r>
          </a:p>
        </p:txBody>
      </p:sp>
      <p:sp>
        <p:nvSpPr>
          <p:cNvPr id="2" name="Content Placeholder 2">
            <a:extLst>
              <a:ext uri="{FF2B5EF4-FFF2-40B4-BE49-F238E27FC236}">
                <a16:creationId xmlns:a16="http://schemas.microsoft.com/office/drawing/2014/main" id="{63E56AFE-36F7-8DA5-652B-89A25DA319A7}"/>
              </a:ext>
            </a:extLst>
          </p:cNvPr>
          <p:cNvSpPr>
            <a:spLocks noGrp="1"/>
          </p:cNvSpPr>
          <p:nvPr>
            <p:ph idx="1" hasCustomPrompt="1"/>
          </p:nvPr>
        </p:nvSpPr>
        <p:spPr>
          <a:xfrm>
            <a:off x="3957403" y="1417638"/>
            <a:ext cx="7624997" cy="4357028"/>
          </a:xfrm>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 Placeholder 3">
            <a:extLst>
              <a:ext uri="{FF2B5EF4-FFF2-40B4-BE49-F238E27FC236}">
                <a16:creationId xmlns:a16="http://schemas.microsoft.com/office/drawing/2014/main" id="{838FFFFD-68E9-C4E4-7764-523BAE32B83B}"/>
              </a:ext>
            </a:extLst>
          </p:cNvPr>
          <p:cNvSpPr>
            <a:spLocks noGrp="1"/>
          </p:cNvSpPr>
          <p:nvPr>
            <p:ph type="body" sz="half" idx="2" hasCustomPrompt="1"/>
          </p:nvPr>
        </p:nvSpPr>
        <p:spPr>
          <a:xfrm>
            <a:off x="965200" y="1417638"/>
            <a:ext cx="2844801" cy="4357028"/>
          </a:xfrm>
        </p:spPr>
        <p:txBody>
          <a:bodyPr/>
          <a:lstStyle>
            <a:lvl1pPr marL="0" indent="0">
              <a:buNone/>
              <a:defRPr sz="2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12B2D52-0D9F-F345-8384-0DCA30BF1F04}" type="datetime9">
              <a:rPr lang="he-IL" smtClean="0"/>
              <a:t>23 אפריל, 2026</a:t>
            </a:fld>
            <a:endParaRPr lang="en-US"/>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44ED6-1944-D14D-91B5-FC6036DE393D}" type="datetime9">
              <a:rPr lang="he-IL" smtClean="0"/>
              <a:t>23 אפריל,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7268E4D-FFEC-474C-BD1C-299FD021CBA4}" type="datetime9">
              <a:rPr lang="he-IL" smtClean="0"/>
              <a:t>23 אפריל,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CF8A9-2FB1-463C-A055-7D8DEF623488}"/>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D4834B02-6F21-4BD3-9253-024380CFAB64}"/>
              </a:ext>
            </a:extLst>
          </p:cNvPr>
          <p:cNvSpPr>
            <a:spLocks noGrp="1"/>
          </p:cNvSpPr>
          <p:nvPr>
            <p:ph type="dt" sz="half" idx="10"/>
          </p:nvPr>
        </p:nvSpPr>
        <p:spPr/>
        <p:txBody>
          <a:bodyPr/>
          <a:lstStyle/>
          <a:p>
            <a:endParaRPr lang="en-IL"/>
          </a:p>
        </p:txBody>
      </p:sp>
      <p:sp>
        <p:nvSpPr>
          <p:cNvPr id="4" name="Footer Placeholder 3">
            <a:extLst>
              <a:ext uri="{FF2B5EF4-FFF2-40B4-BE49-F238E27FC236}">
                <a16:creationId xmlns:a16="http://schemas.microsoft.com/office/drawing/2014/main" id="{6E6109D8-60DE-4EAE-9FA4-4743AF1B53C8}"/>
              </a:ext>
            </a:extLst>
          </p:cNvPr>
          <p:cNvSpPr>
            <a:spLocks noGrp="1"/>
          </p:cNvSpPr>
          <p:nvPr>
            <p:ph type="ftr" sz="quarter" idx="11"/>
          </p:nvPr>
        </p:nvSpPr>
        <p:spPr/>
        <p:txBody>
          <a:bodyPr/>
          <a:lstStyle/>
          <a:p>
            <a:r>
              <a:rPr lang="en-US"/>
              <a:t>Or Peretz</a:t>
            </a:r>
            <a:endParaRPr lang="en-IL"/>
          </a:p>
        </p:txBody>
      </p:sp>
      <p:sp>
        <p:nvSpPr>
          <p:cNvPr id="5" name="Slide Number Placeholder 4">
            <a:extLst>
              <a:ext uri="{FF2B5EF4-FFF2-40B4-BE49-F238E27FC236}">
                <a16:creationId xmlns:a16="http://schemas.microsoft.com/office/drawing/2014/main" id="{5C2833B9-F0EF-4F2D-B1F5-59A0518ACC67}"/>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11297404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x">
  <p:cSld name="Title, Content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14DB5-C319-EF41-9B8F-A436AF5D3376}"/>
              </a:ext>
            </a:extLst>
          </p:cNvPr>
          <p:cNvSpPr>
            <a:spLocks noGrp="1"/>
          </p:cNvSpPr>
          <p:nvPr>
            <p:ph type="title"/>
          </p:nvPr>
        </p:nvSpPr>
        <p:spPr>
          <a:xfrm>
            <a:off x="1727200" y="0"/>
            <a:ext cx="10160000" cy="914400"/>
          </a:xfrm>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E3B9A124-8850-9E4F-BD09-A71A95B8D74E}"/>
              </a:ext>
            </a:extLst>
          </p:cNvPr>
          <p:cNvSpPr>
            <a:spLocks noGrp="1"/>
          </p:cNvSpPr>
          <p:nvPr>
            <p:ph sz="half" idx="1"/>
          </p:nvPr>
        </p:nvSpPr>
        <p:spPr>
          <a:xfrm>
            <a:off x="1727200" y="1295400"/>
            <a:ext cx="4978400" cy="4800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72C0A9C8-041F-5F48-A71C-C6E540591858}"/>
              </a:ext>
            </a:extLst>
          </p:cNvPr>
          <p:cNvSpPr>
            <a:spLocks noGrp="1"/>
          </p:cNvSpPr>
          <p:nvPr>
            <p:ph type="body" sz="half" idx="2"/>
          </p:nvPr>
        </p:nvSpPr>
        <p:spPr>
          <a:xfrm>
            <a:off x="6908800" y="1295400"/>
            <a:ext cx="4978400" cy="4800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Footer Placeholder 4">
            <a:extLst>
              <a:ext uri="{FF2B5EF4-FFF2-40B4-BE49-F238E27FC236}">
                <a16:creationId xmlns:a16="http://schemas.microsoft.com/office/drawing/2014/main" id="{E23439D7-70D0-9548-869A-6A40060A1A75}"/>
              </a:ext>
            </a:extLst>
          </p:cNvPr>
          <p:cNvSpPr>
            <a:spLocks noGrp="1"/>
          </p:cNvSpPr>
          <p:nvPr>
            <p:ph type="ftr" sz="quarter" idx="10"/>
          </p:nvPr>
        </p:nvSpPr>
        <p:spPr>
          <a:xfrm>
            <a:off x="1016000" y="6477000"/>
            <a:ext cx="3860800" cy="381000"/>
          </a:xfrm>
        </p:spPr>
        <p:txBody>
          <a:bodyPr/>
          <a:lstStyle>
            <a:lvl1pPr>
              <a:defRPr/>
            </a:lvl1pPr>
          </a:lstStyle>
          <a:p>
            <a:r>
              <a:rPr lang="en-US" altLang="en-US"/>
              <a:t>Or Peretz</a:t>
            </a:r>
          </a:p>
        </p:txBody>
      </p:sp>
      <p:sp>
        <p:nvSpPr>
          <p:cNvPr id="6" name="Slide Number Placeholder 5">
            <a:extLst>
              <a:ext uri="{FF2B5EF4-FFF2-40B4-BE49-F238E27FC236}">
                <a16:creationId xmlns:a16="http://schemas.microsoft.com/office/drawing/2014/main" id="{1FD563C8-AF6F-0E44-82C4-BCAC1D43B12F}"/>
              </a:ext>
            </a:extLst>
          </p:cNvPr>
          <p:cNvSpPr>
            <a:spLocks noGrp="1"/>
          </p:cNvSpPr>
          <p:nvPr>
            <p:ph type="sldNum" sz="quarter" idx="11"/>
          </p:nvPr>
        </p:nvSpPr>
        <p:spPr>
          <a:xfrm>
            <a:off x="10160000" y="6477000"/>
            <a:ext cx="2032000" cy="381000"/>
          </a:xfrm>
        </p:spPr>
        <p:txBody>
          <a:bodyPr/>
          <a:lstStyle>
            <a:lvl1pPr>
              <a:defRPr/>
            </a:lvl1pPr>
          </a:lstStyle>
          <a:p>
            <a:endParaRPr lang="en-US" altLang="en-US"/>
          </a:p>
        </p:txBody>
      </p:sp>
    </p:spTree>
    <p:extLst>
      <p:ext uri="{BB962C8B-B14F-4D97-AF65-F5344CB8AC3E}">
        <p14:creationId xmlns:p14="http://schemas.microsoft.com/office/powerpoint/2010/main" val="3827205159"/>
      </p:ext>
    </p:extLst>
  </p:cSld>
  <p:clrMapOvr>
    <a:masterClrMapping/>
  </p:clrMapOvr>
  <p:transition>
    <p:wipe dir="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oundRect">
            <a:avLst/>
          </a:prstGeom>
          <a:ln w="12700">
            <a:solidFill>
              <a:schemeClr val="accent2"/>
            </a:solidFill>
            <a:extLst>
              <a:ext uri="{C807C97D-BFC1-408E-A445-0C87EB9F89A2}">
                <ask:lineSketchStyleProps xmlns:ask="http://schemas.microsoft.com/office/drawing/2018/sketchyshapes" sd="1219033472">
                  <a:custGeom>
                    <a:avLst/>
                    <a:gdLst>
                      <a:gd name="csX0" fmla="*/ 0 w 10972800"/>
                      <a:gd name="csY0" fmla="*/ 0 h 1143000"/>
                      <a:gd name="csX1" fmla="*/ 10972800 w 10972800"/>
                      <a:gd name="csY1" fmla="*/ 0 h 1143000"/>
                      <a:gd name="csX2" fmla="*/ 10972800 w 10972800"/>
                      <a:gd name="csY2" fmla="*/ 1143000 h 1143000"/>
                      <a:gd name="csX3" fmla="*/ 0 w 10972800"/>
                      <a:gd name="csY3" fmla="*/ 1143000 h 1143000"/>
                      <a:gd name="csX4" fmla="*/ 0 w 10972800"/>
                      <a:gd name="csY4" fmla="*/ 0 h 1143000"/>
                    </a:gdLst>
                    <a:ahLst/>
                    <a:cxnLst>
                      <a:cxn ang="0">
                        <a:pos x="csX0" y="csY0"/>
                      </a:cxn>
                      <a:cxn ang="0">
                        <a:pos x="csX1" y="csY1"/>
                      </a:cxn>
                      <a:cxn ang="0">
                        <a:pos x="csX2" y="csY2"/>
                      </a:cxn>
                      <a:cxn ang="0">
                        <a:pos x="csX3" y="csY3"/>
                      </a:cxn>
                      <a:cxn ang="0">
                        <a:pos x="csX4" y="csY4"/>
                      </a:cxn>
                    </a:cxnLst>
                    <a:rect l="l" t="t" r="r" b="b"/>
                    <a:pathLst>
                      <a:path w="10972800" h="1143000" fill="none" extrusionOk="0">
                        <a:moveTo>
                          <a:pt x="0" y="0"/>
                        </a:moveTo>
                        <a:cubicBezTo>
                          <a:pt x="4674310" y="-49533"/>
                          <a:pt x="6929254" y="-14809"/>
                          <a:pt x="10972800" y="0"/>
                        </a:cubicBezTo>
                        <a:cubicBezTo>
                          <a:pt x="10969069" y="570730"/>
                          <a:pt x="11062171" y="914526"/>
                          <a:pt x="10972800" y="1143000"/>
                        </a:cubicBezTo>
                        <a:cubicBezTo>
                          <a:pt x="6482996" y="1094769"/>
                          <a:pt x="3552735" y="1227455"/>
                          <a:pt x="0" y="1143000"/>
                        </a:cubicBezTo>
                        <a:cubicBezTo>
                          <a:pt x="69309" y="672287"/>
                          <a:pt x="-28229" y="279082"/>
                          <a:pt x="0" y="0"/>
                        </a:cubicBezTo>
                        <a:close/>
                      </a:path>
                      <a:path w="10972800" h="1143000" stroke="0" extrusionOk="0">
                        <a:moveTo>
                          <a:pt x="0" y="0"/>
                        </a:moveTo>
                        <a:cubicBezTo>
                          <a:pt x="3528079" y="118645"/>
                          <a:pt x="9610931" y="116012"/>
                          <a:pt x="10972800" y="0"/>
                        </a:cubicBezTo>
                        <a:cubicBezTo>
                          <a:pt x="11055528" y="134374"/>
                          <a:pt x="10882381" y="1028043"/>
                          <a:pt x="10972800" y="1143000"/>
                        </a:cubicBezTo>
                        <a:cubicBezTo>
                          <a:pt x="8799093" y="1277600"/>
                          <a:pt x="3316512" y="985804"/>
                          <a:pt x="0" y="1143000"/>
                        </a:cubicBezTo>
                        <a:cubicBezTo>
                          <a:pt x="94203" y="956839"/>
                          <a:pt x="-18710" y="289479"/>
                          <a:pt x="0" y="0"/>
                        </a:cubicBezTo>
                        <a:close/>
                      </a:path>
                    </a:pathLst>
                  </a:custGeom>
                  <ask:type>
                    <ask:lineSketchNone/>
                  </ask:type>
                </ask:lineSketchStyleProps>
              </a:ext>
            </a:extLst>
          </a:ln>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946768" y="1600201"/>
            <a:ext cx="10635632"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AA9E24A-D52C-CB4E-85D6-C52415601A2A}" type="datetime9">
              <a:rPr lang="he-IL" smtClean="0"/>
              <a:t>23 אפריל, 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Or Peretz</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8" name="Freeform 6">
            <a:extLst>
              <a:ext uri="{FF2B5EF4-FFF2-40B4-BE49-F238E27FC236}">
                <a16:creationId xmlns:a16="http://schemas.microsoft.com/office/drawing/2014/main" id="{9E54F053-C5B3-FA53-FB24-F76EBC23E5F7}"/>
              </a:ext>
            </a:extLst>
          </p:cNvPr>
          <p:cNvSpPr/>
          <p:nvPr/>
        </p:nvSpPr>
        <p:spPr>
          <a:xfrm>
            <a:off x="10492509" y="-832013"/>
            <a:ext cx="5901557" cy="769001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57150" cap="sq">
            <a:solidFill>
              <a:srgbClr val="941100">
                <a:alpha val="44000"/>
              </a:srgbClr>
            </a:solidFill>
            <a:prstDash val="solid"/>
            <a:miter/>
          </a:ln>
        </p:spPr>
        <p:txBody>
          <a:bodyPr/>
          <a:lstStyle/>
          <a:p>
            <a:endParaRPr lang="en-IL"/>
          </a:p>
        </p:txBody>
      </p:sp>
      <p:sp>
        <p:nvSpPr>
          <p:cNvPr id="12" name="Freeform 20">
            <a:extLst>
              <a:ext uri="{FF2B5EF4-FFF2-40B4-BE49-F238E27FC236}">
                <a16:creationId xmlns:a16="http://schemas.microsoft.com/office/drawing/2014/main" id="{C6ADFD82-3296-8C7F-2ACC-D8399785AC79}"/>
              </a:ext>
            </a:extLst>
          </p:cNvPr>
          <p:cNvSpPr/>
          <p:nvPr/>
        </p:nvSpPr>
        <p:spPr>
          <a:xfrm>
            <a:off x="-6720016" y="-1088358"/>
            <a:ext cx="7329616" cy="732961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514350" cap="sq">
            <a:solidFill>
              <a:srgbClr val="941100">
                <a:alpha val="17929"/>
              </a:srgbClr>
            </a:solidFill>
            <a:prstDash val="solid"/>
            <a:miter/>
          </a:ln>
        </p:spPr>
        <p:txBody>
          <a:bodyPr/>
          <a:lstStyle/>
          <a:p>
            <a:endParaRPr lang="en-IL" sz="933"/>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dt="0"/>
  <p:txStyles>
    <p:titleStyle>
      <a:lvl1pPr algn="ctr" defTabSz="457200" rtl="0" eaLnBrk="1" latinLnBrk="0" hangingPunct="1">
        <a:spcBef>
          <a:spcPct val="0"/>
        </a:spcBef>
        <a:buNone/>
        <a:defRPr sz="3400" b="1" kern="1200">
          <a:solidFill>
            <a:schemeClr val="tx1"/>
          </a:solidFill>
          <a:latin typeface="+mj-lt"/>
          <a:ea typeface="+mj-ea"/>
          <a:cs typeface="+mj-cs"/>
        </a:defRPr>
      </a:lvl1pPr>
    </p:titleStyle>
    <p:bodyStyle>
      <a:lvl1pPr marL="342900" indent="-342900" algn="l" defTabSz="457200" rtl="0" eaLnBrk="1" latinLnBrk="0" hangingPunct="1">
        <a:lnSpc>
          <a:spcPct val="130000"/>
        </a:lnSpc>
        <a:spcBef>
          <a:spcPts val="0"/>
        </a:spcBef>
        <a:buFont typeface="Arial"/>
        <a:buChar char="•"/>
        <a:defRPr sz="2800" kern="1200">
          <a:solidFill>
            <a:schemeClr val="tx1"/>
          </a:solidFill>
          <a:latin typeface="+mn-lt"/>
          <a:ea typeface="+mn-ea"/>
          <a:cs typeface="+mn-cs"/>
        </a:defRPr>
      </a:lvl1pPr>
      <a:lvl2pPr marL="742950" indent="-285750" algn="l" defTabSz="457200" rtl="0" eaLnBrk="1" latinLnBrk="0" hangingPunct="1">
        <a:lnSpc>
          <a:spcPct val="130000"/>
        </a:lnSpc>
        <a:spcBef>
          <a:spcPts val="0"/>
        </a:spcBef>
        <a:buFont typeface="Arial"/>
        <a:buChar char="–"/>
        <a:defRPr sz="2400" kern="1200">
          <a:solidFill>
            <a:schemeClr val="tx1"/>
          </a:solidFill>
          <a:latin typeface="+mn-lt"/>
          <a:ea typeface="+mn-ea"/>
          <a:cs typeface="+mn-cs"/>
        </a:defRPr>
      </a:lvl2pPr>
      <a:lvl3pPr marL="1143000" indent="-228600" algn="l" defTabSz="457200" rtl="0" eaLnBrk="1" latinLnBrk="0" hangingPunct="1">
        <a:lnSpc>
          <a:spcPct val="130000"/>
        </a:lnSpc>
        <a:spcBef>
          <a:spcPts val="0"/>
        </a:spcBef>
        <a:buFont typeface="Arial"/>
        <a:buChar char="•"/>
        <a:defRPr sz="2000" kern="1200">
          <a:solidFill>
            <a:schemeClr val="tx1"/>
          </a:solidFill>
          <a:latin typeface="+mn-lt"/>
          <a:ea typeface="+mn-ea"/>
          <a:cs typeface="+mn-cs"/>
        </a:defRPr>
      </a:lvl3pPr>
      <a:lvl4pPr marL="1600200" indent="-228600" algn="l" defTabSz="457200" rtl="0" eaLnBrk="1" latinLnBrk="0" hangingPunct="1">
        <a:lnSpc>
          <a:spcPct val="130000"/>
        </a:lnSpc>
        <a:spcBef>
          <a:spcPts val="0"/>
        </a:spcBef>
        <a:buFont typeface="Arial"/>
        <a:buChar char="–"/>
        <a:defRPr sz="1800" kern="1200">
          <a:solidFill>
            <a:schemeClr val="tx1"/>
          </a:solidFill>
          <a:latin typeface="+mn-lt"/>
          <a:ea typeface="+mn-ea"/>
          <a:cs typeface="+mn-cs"/>
        </a:defRPr>
      </a:lvl4pPr>
      <a:lvl5pPr marL="2057400" indent="-228600" algn="l" defTabSz="457200" rtl="0" eaLnBrk="1" latinLnBrk="0" hangingPunct="1">
        <a:lnSpc>
          <a:spcPct val="130000"/>
        </a:lnSpc>
        <a:spcBef>
          <a:spcPts val="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29F15AE-737D-866E-3CF2-D0120AD833A4}"/>
              </a:ext>
            </a:extLst>
          </p:cNvPr>
          <p:cNvSpPr>
            <a:spLocks noGrp="1"/>
          </p:cNvSpPr>
          <p:nvPr>
            <p:ph type="ctrTitle" hasCustomPrompt="1"/>
          </p:nvPr>
        </p:nvSpPr>
        <p:spPr>
          <a:xfrm>
            <a:off x="914400" y="2130426"/>
            <a:ext cx="10363200" cy="1470025"/>
          </a:xfrm>
        </p:spPr>
        <p:txBody>
          <a:bodyPr/>
          <a:lstStyle/>
          <a:p>
            <a:pPr marL="0" lvl="0" indent="0">
              <a:buNone/>
            </a:pPr>
            <a:r>
              <a:rPr dirty="0"/>
              <a:t>DWH + ETL (Part 2)</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Learning Objectives</a:t>
            </a:r>
          </a:p>
        </p:txBody>
      </p:sp>
      <p:sp>
        <p:nvSpPr>
          <p:cNvPr id="3" name="Content Placeholder 2"/>
          <p:cNvSpPr>
            <a:spLocks noGrp="1"/>
          </p:cNvSpPr>
          <p:nvPr>
            <p:ph idx="1" hasCustomPrompt="1"/>
          </p:nvPr>
        </p:nvSpPr>
        <p:spPr/>
        <p:txBody>
          <a:bodyPr/>
          <a:lstStyle/>
          <a:p>
            <a:pPr lvl="0"/>
            <a:r>
              <a:rPr dirty="0"/>
              <a:t>Define fact grain and dimension strategy for accurate metrics</a:t>
            </a:r>
          </a:p>
          <a:p>
            <a:pPr lvl="0"/>
            <a:r>
              <a:rPr dirty="0"/>
              <a:t>Compare star, snowflake, and galaxy schemas</a:t>
            </a:r>
          </a:p>
          <a:p>
            <a:pPr lvl="0"/>
            <a:r>
              <a:rPr dirty="0"/>
              <a:t>Quantify partition pruning and join-cost effects on performance</a:t>
            </a:r>
          </a:p>
          <a:p>
            <a:pPr lvl="0"/>
            <a:r>
              <a:rPr dirty="0"/>
              <a:t>Apply governance controls that prevent full scans and metric drift</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Why This Topic Is Core to the Course</a:t>
            </a:r>
          </a:p>
        </p:txBody>
      </p:sp>
      <p:sp>
        <p:nvSpPr>
          <p:cNvPr id="3" name="Content Placeholder 2"/>
          <p:cNvSpPr>
            <a:spLocks noGrp="1"/>
          </p:cNvSpPr>
          <p:nvPr>
            <p:ph idx="1" hasCustomPrompt="1"/>
          </p:nvPr>
        </p:nvSpPr>
        <p:spPr/>
        <p:txBody>
          <a:bodyPr/>
          <a:lstStyle/>
          <a:p>
            <a:pPr lvl="0"/>
            <a:r>
              <a:t>Most analytics cost/latency issues are modeling issues</a:t>
            </a:r>
          </a:p>
          <a:p>
            <a:pPr lvl="0"/>
            <a:r>
              <a:t>Wrong grain or keys creates incorrect KPIs</a:t>
            </a:r>
          </a:p>
          <a:p>
            <a:pPr lvl="0"/>
            <a:r>
              <a:t>Partition mistakes can multiply compute cost by 100x+</a:t>
            </a:r>
          </a:p>
          <a:p>
            <a:pPr lvl="0"/>
            <a:r>
              <a:t>Governance must be encoded in data model and tooling</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Fact and Dimension Fundamentals</a:t>
            </a:r>
          </a:p>
        </p:txBody>
      </p:sp>
      <p:sp>
        <p:nvSpPr>
          <p:cNvPr id="3" name="Content Placeholder 2"/>
          <p:cNvSpPr>
            <a:spLocks noGrp="1"/>
          </p:cNvSpPr>
          <p:nvPr>
            <p:ph idx="1" hasCustomPrompt="1"/>
          </p:nvPr>
        </p:nvSpPr>
        <p:spPr/>
        <p:txBody>
          <a:bodyPr/>
          <a:lstStyle/>
          <a:p>
            <a:pPr lvl="0"/>
            <a:r>
              <a:rPr b="1" dirty="0"/>
              <a:t>Fact table</a:t>
            </a:r>
            <a:r>
              <a:rPr dirty="0"/>
              <a:t>: measurable events at declared grain</a:t>
            </a:r>
          </a:p>
          <a:p>
            <a:pPr lvl="0"/>
            <a:r>
              <a:rPr b="1" dirty="0"/>
              <a:t>Dimension table</a:t>
            </a:r>
            <a:r>
              <a:rPr dirty="0"/>
              <a:t>: descriptive context for slicing metrics</a:t>
            </a:r>
          </a:p>
          <a:p>
            <a:pPr lvl="0"/>
            <a:r>
              <a:rPr b="1" dirty="0"/>
              <a:t>Measures</a:t>
            </a:r>
            <a:r>
              <a:rPr dirty="0"/>
              <a:t>: additive or semi-additive numeric fields</a:t>
            </a:r>
          </a:p>
          <a:p>
            <a:pPr lvl="0"/>
            <a:r>
              <a:rPr b="1" dirty="0"/>
              <a:t>Hierarchy</a:t>
            </a:r>
            <a:r>
              <a:rPr dirty="0"/>
              <a:t>: drill path (day -&gt; month -&gt; quarter -&gt; year)</a:t>
            </a:r>
            <a:endParaRPr lang="en-US" dirty="0"/>
          </a:p>
          <a:p>
            <a:pPr lvl="0"/>
            <a:endParaRPr lang="en-US" dirty="0"/>
          </a:p>
          <a:p>
            <a:pPr marL="0" lvl="0" indent="0">
              <a:buNone/>
            </a:pPr>
            <a:endParaRPr dirty="0"/>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0" name="Rectangle 2">
            <a:extLst>
              <a:ext uri="{FF2B5EF4-FFF2-40B4-BE49-F238E27FC236}">
                <a16:creationId xmlns:a16="http://schemas.microsoft.com/office/drawing/2014/main" id="{B38943B0-975E-5F47-A0B8-A0569D48BFBB}"/>
              </a:ext>
            </a:extLst>
          </p:cNvPr>
          <p:cNvSpPr>
            <a:spLocks noGrp="1" noChangeArrowheads="1"/>
          </p:cNvSpPr>
          <p:nvPr>
            <p:ph type="title"/>
          </p:nvPr>
        </p:nvSpPr>
        <p:spPr/>
        <p:txBody>
          <a:bodyPr>
            <a:normAutofit/>
          </a:bodyPr>
          <a:lstStyle/>
          <a:p>
            <a:pPr algn="ctr"/>
            <a:r>
              <a:rPr lang="en-US" altLang="en-GB" sz="3200" b="1" dirty="0">
                <a:latin typeface="+mn-lt"/>
              </a:rPr>
              <a:t>The Multi-Dimensional Model</a:t>
            </a:r>
          </a:p>
        </p:txBody>
      </p:sp>
      <p:sp>
        <p:nvSpPr>
          <p:cNvPr id="4102" name="Rectangle 4">
            <a:extLst>
              <a:ext uri="{FF2B5EF4-FFF2-40B4-BE49-F238E27FC236}">
                <a16:creationId xmlns:a16="http://schemas.microsoft.com/office/drawing/2014/main" id="{38FE7E56-CAC9-D14A-B945-6783C0FD84CF}"/>
              </a:ext>
            </a:extLst>
          </p:cNvPr>
          <p:cNvSpPr>
            <a:spLocks noChangeArrowheads="1"/>
          </p:cNvSpPr>
          <p:nvPr/>
        </p:nvSpPr>
        <p:spPr bwMode="auto">
          <a:xfrm>
            <a:off x="4572000" y="2785532"/>
            <a:ext cx="4191000" cy="1447800"/>
          </a:xfrm>
          <a:prstGeom prst="rect">
            <a:avLst/>
          </a:prstGeom>
          <a:noFill/>
          <a:ln w="28575">
            <a:solidFill>
              <a:schemeClr val="tx1"/>
            </a:solidFill>
            <a:miter lim="800000"/>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4103" name="Text Box 5">
            <a:extLst>
              <a:ext uri="{FF2B5EF4-FFF2-40B4-BE49-F238E27FC236}">
                <a16:creationId xmlns:a16="http://schemas.microsoft.com/office/drawing/2014/main" id="{74FD915F-47AF-A641-8580-A745443BFD87}"/>
              </a:ext>
            </a:extLst>
          </p:cNvPr>
          <p:cNvSpPr txBox="1">
            <a:spLocks noChangeArrowheads="1"/>
          </p:cNvSpPr>
          <p:nvPr/>
        </p:nvSpPr>
        <p:spPr bwMode="auto">
          <a:xfrm>
            <a:off x="4572000" y="2785532"/>
            <a:ext cx="47561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GB" sz="1400"/>
              <a:t>Prod Code	Time Code 	Store Code	 Sales	Qty	</a:t>
            </a:r>
            <a:endParaRPr lang="en-US" altLang="en-GB"/>
          </a:p>
        </p:txBody>
      </p:sp>
      <p:sp>
        <p:nvSpPr>
          <p:cNvPr id="4104" name="Line 6">
            <a:extLst>
              <a:ext uri="{FF2B5EF4-FFF2-40B4-BE49-F238E27FC236}">
                <a16:creationId xmlns:a16="http://schemas.microsoft.com/office/drawing/2014/main" id="{D552DB62-3A4C-F143-870E-697AB749AE7B}"/>
              </a:ext>
            </a:extLst>
          </p:cNvPr>
          <p:cNvSpPr>
            <a:spLocks noChangeShapeType="1"/>
          </p:cNvSpPr>
          <p:nvPr/>
        </p:nvSpPr>
        <p:spPr bwMode="auto">
          <a:xfrm>
            <a:off x="4572000" y="3166532"/>
            <a:ext cx="4191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05" name="Line 7">
            <a:extLst>
              <a:ext uri="{FF2B5EF4-FFF2-40B4-BE49-F238E27FC236}">
                <a16:creationId xmlns:a16="http://schemas.microsoft.com/office/drawing/2014/main" id="{1D7858C2-AE37-454F-B3CD-572572ADC1B6}"/>
              </a:ext>
            </a:extLst>
          </p:cNvPr>
          <p:cNvSpPr>
            <a:spLocks noChangeShapeType="1"/>
          </p:cNvSpPr>
          <p:nvPr/>
        </p:nvSpPr>
        <p:spPr bwMode="auto">
          <a:xfrm>
            <a:off x="5486400" y="2785532"/>
            <a:ext cx="0" cy="1447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06" name="Line 8">
            <a:extLst>
              <a:ext uri="{FF2B5EF4-FFF2-40B4-BE49-F238E27FC236}">
                <a16:creationId xmlns:a16="http://schemas.microsoft.com/office/drawing/2014/main" id="{F95C00CB-F790-4C42-B22C-BEB7A1EB7A65}"/>
              </a:ext>
            </a:extLst>
          </p:cNvPr>
          <p:cNvSpPr>
            <a:spLocks noChangeShapeType="1"/>
          </p:cNvSpPr>
          <p:nvPr/>
        </p:nvSpPr>
        <p:spPr bwMode="auto">
          <a:xfrm>
            <a:off x="6400800" y="2785532"/>
            <a:ext cx="0" cy="1447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07" name="Line 9">
            <a:extLst>
              <a:ext uri="{FF2B5EF4-FFF2-40B4-BE49-F238E27FC236}">
                <a16:creationId xmlns:a16="http://schemas.microsoft.com/office/drawing/2014/main" id="{66BBFC74-9048-1643-A879-5B490814AE91}"/>
              </a:ext>
            </a:extLst>
          </p:cNvPr>
          <p:cNvSpPr>
            <a:spLocks noChangeShapeType="1"/>
          </p:cNvSpPr>
          <p:nvPr/>
        </p:nvSpPr>
        <p:spPr bwMode="auto">
          <a:xfrm>
            <a:off x="7315200" y="2785532"/>
            <a:ext cx="0" cy="1447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08" name="Line 10">
            <a:extLst>
              <a:ext uri="{FF2B5EF4-FFF2-40B4-BE49-F238E27FC236}">
                <a16:creationId xmlns:a16="http://schemas.microsoft.com/office/drawing/2014/main" id="{CE606625-BC34-1D48-9CBF-252B62C7F67A}"/>
              </a:ext>
            </a:extLst>
          </p:cNvPr>
          <p:cNvSpPr>
            <a:spLocks noChangeShapeType="1"/>
          </p:cNvSpPr>
          <p:nvPr/>
        </p:nvSpPr>
        <p:spPr bwMode="auto">
          <a:xfrm>
            <a:off x="8077200" y="2785532"/>
            <a:ext cx="0" cy="1447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09" name="Rectangle 11">
            <a:extLst>
              <a:ext uri="{FF2B5EF4-FFF2-40B4-BE49-F238E27FC236}">
                <a16:creationId xmlns:a16="http://schemas.microsoft.com/office/drawing/2014/main" id="{7E4162FA-1850-DF47-A1C0-FE9183F65978}"/>
              </a:ext>
            </a:extLst>
          </p:cNvPr>
          <p:cNvSpPr>
            <a:spLocks noChangeArrowheads="1"/>
          </p:cNvSpPr>
          <p:nvPr/>
        </p:nvSpPr>
        <p:spPr bwMode="auto">
          <a:xfrm>
            <a:off x="2438400" y="1871132"/>
            <a:ext cx="1295400" cy="1066800"/>
          </a:xfrm>
          <a:prstGeom prst="rect">
            <a:avLst/>
          </a:prstGeom>
          <a:noFill/>
          <a:ln w="19050">
            <a:solidFill>
              <a:schemeClr val="tx1"/>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endParaRPr lang="en-GB" altLang="en-GB"/>
          </a:p>
        </p:txBody>
      </p:sp>
      <p:sp>
        <p:nvSpPr>
          <p:cNvPr id="4110" name="Text Box 12">
            <a:extLst>
              <a:ext uri="{FF2B5EF4-FFF2-40B4-BE49-F238E27FC236}">
                <a16:creationId xmlns:a16="http://schemas.microsoft.com/office/drawing/2014/main" id="{28FE381C-DBA7-2242-A6CF-628A9BBEE66F}"/>
              </a:ext>
            </a:extLst>
          </p:cNvPr>
          <p:cNvSpPr txBox="1">
            <a:spLocks noChangeArrowheads="1"/>
          </p:cNvSpPr>
          <p:nvPr/>
        </p:nvSpPr>
        <p:spPr bwMode="auto">
          <a:xfrm>
            <a:off x="2514601" y="1871132"/>
            <a:ext cx="8985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GB" sz="1400"/>
              <a:t>Store Info</a:t>
            </a:r>
            <a:endParaRPr lang="en-US" altLang="en-GB"/>
          </a:p>
        </p:txBody>
      </p:sp>
      <p:sp>
        <p:nvSpPr>
          <p:cNvPr id="4111" name="Rectangle 13">
            <a:extLst>
              <a:ext uri="{FF2B5EF4-FFF2-40B4-BE49-F238E27FC236}">
                <a16:creationId xmlns:a16="http://schemas.microsoft.com/office/drawing/2014/main" id="{922BBA25-DC16-3945-91B9-1C8BAB69994C}"/>
              </a:ext>
            </a:extLst>
          </p:cNvPr>
          <p:cNvSpPr>
            <a:spLocks noChangeArrowheads="1"/>
          </p:cNvSpPr>
          <p:nvPr/>
        </p:nvSpPr>
        <p:spPr bwMode="auto">
          <a:xfrm>
            <a:off x="1828800" y="3318932"/>
            <a:ext cx="1295400" cy="1066800"/>
          </a:xfrm>
          <a:prstGeom prst="rect">
            <a:avLst/>
          </a:prstGeom>
          <a:noFill/>
          <a:ln w="19050">
            <a:solidFill>
              <a:schemeClr val="tx1"/>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4112" name="Text Box 14">
            <a:extLst>
              <a:ext uri="{FF2B5EF4-FFF2-40B4-BE49-F238E27FC236}">
                <a16:creationId xmlns:a16="http://schemas.microsoft.com/office/drawing/2014/main" id="{C6B135E8-6C34-D34C-85F3-A0CAFE4ED8C4}"/>
              </a:ext>
            </a:extLst>
          </p:cNvPr>
          <p:cNvSpPr txBox="1">
            <a:spLocks noChangeArrowheads="1"/>
          </p:cNvSpPr>
          <p:nvPr/>
        </p:nvSpPr>
        <p:spPr bwMode="auto">
          <a:xfrm>
            <a:off x="1905001" y="3318932"/>
            <a:ext cx="10763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GB" sz="1400"/>
              <a:t>Product Info</a:t>
            </a:r>
            <a:endParaRPr lang="en-US" altLang="en-GB"/>
          </a:p>
        </p:txBody>
      </p:sp>
      <p:sp>
        <p:nvSpPr>
          <p:cNvPr id="4113" name="Rectangle 15">
            <a:extLst>
              <a:ext uri="{FF2B5EF4-FFF2-40B4-BE49-F238E27FC236}">
                <a16:creationId xmlns:a16="http://schemas.microsoft.com/office/drawing/2014/main" id="{EF75846C-1D80-F944-91E9-84D3A25D4063}"/>
              </a:ext>
            </a:extLst>
          </p:cNvPr>
          <p:cNvSpPr>
            <a:spLocks noChangeArrowheads="1"/>
          </p:cNvSpPr>
          <p:nvPr/>
        </p:nvSpPr>
        <p:spPr bwMode="auto">
          <a:xfrm>
            <a:off x="3581400" y="4766732"/>
            <a:ext cx="1295400" cy="1066800"/>
          </a:xfrm>
          <a:prstGeom prst="rect">
            <a:avLst/>
          </a:prstGeom>
          <a:noFill/>
          <a:ln w="19050">
            <a:solidFill>
              <a:schemeClr val="tx1"/>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4114" name="Text Box 16">
            <a:extLst>
              <a:ext uri="{FF2B5EF4-FFF2-40B4-BE49-F238E27FC236}">
                <a16:creationId xmlns:a16="http://schemas.microsoft.com/office/drawing/2014/main" id="{F31E0279-904F-6340-AB7C-032DB7D50429}"/>
              </a:ext>
            </a:extLst>
          </p:cNvPr>
          <p:cNvSpPr txBox="1">
            <a:spLocks noChangeArrowheads="1"/>
          </p:cNvSpPr>
          <p:nvPr/>
        </p:nvSpPr>
        <p:spPr bwMode="auto">
          <a:xfrm>
            <a:off x="3810001" y="4766732"/>
            <a:ext cx="8985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GB" sz="1400"/>
              <a:t>Time Info</a:t>
            </a:r>
            <a:endParaRPr lang="en-US" altLang="en-GB"/>
          </a:p>
        </p:txBody>
      </p:sp>
      <p:sp>
        <p:nvSpPr>
          <p:cNvPr id="4116" name="Text Box 18">
            <a:extLst>
              <a:ext uri="{FF2B5EF4-FFF2-40B4-BE49-F238E27FC236}">
                <a16:creationId xmlns:a16="http://schemas.microsoft.com/office/drawing/2014/main" id="{E08C5709-7029-BA45-92FB-574C679C1E17}"/>
              </a:ext>
            </a:extLst>
          </p:cNvPr>
          <p:cNvSpPr txBox="1">
            <a:spLocks noChangeArrowheads="1"/>
          </p:cNvSpPr>
          <p:nvPr/>
        </p:nvSpPr>
        <p:spPr bwMode="auto">
          <a:xfrm>
            <a:off x="7315201" y="2023532"/>
            <a:ext cx="18764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GB" sz="1600"/>
              <a:t>Numerical Measures</a:t>
            </a:r>
            <a:endParaRPr lang="en-US" altLang="en-GB"/>
          </a:p>
        </p:txBody>
      </p:sp>
      <p:sp>
        <p:nvSpPr>
          <p:cNvPr id="4117" name="Line 19">
            <a:extLst>
              <a:ext uri="{FF2B5EF4-FFF2-40B4-BE49-F238E27FC236}">
                <a16:creationId xmlns:a16="http://schemas.microsoft.com/office/drawing/2014/main" id="{BC96A399-DB7B-2D41-B21D-69046B7B9C09}"/>
              </a:ext>
            </a:extLst>
          </p:cNvPr>
          <p:cNvSpPr>
            <a:spLocks noChangeShapeType="1"/>
          </p:cNvSpPr>
          <p:nvPr/>
        </p:nvSpPr>
        <p:spPr bwMode="auto">
          <a:xfrm flipH="1">
            <a:off x="7696200" y="2328332"/>
            <a:ext cx="38100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18" name="Line 20">
            <a:extLst>
              <a:ext uri="{FF2B5EF4-FFF2-40B4-BE49-F238E27FC236}">
                <a16:creationId xmlns:a16="http://schemas.microsoft.com/office/drawing/2014/main" id="{01BE0F24-75C2-F74D-8B1D-AD3397C42836}"/>
              </a:ext>
            </a:extLst>
          </p:cNvPr>
          <p:cNvSpPr>
            <a:spLocks noChangeShapeType="1"/>
          </p:cNvSpPr>
          <p:nvPr/>
        </p:nvSpPr>
        <p:spPr bwMode="auto">
          <a:xfrm>
            <a:off x="8153400" y="2328332"/>
            <a:ext cx="304800" cy="3810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19" name="Text Box 21">
            <a:extLst>
              <a:ext uri="{FF2B5EF4-FFF2-40B4-BE49-F238E27FC236}">
                <a16:creationId xmlns:a16="http://schemas.microsoft.com/office/drawing/2014/main" id="{9F7C093C-102A-C14E-A5AB-119868358C8F}"/>
              </a:ext>
            </a:extLst>
          </p:cNvPr>
          <p:cNvSpPr txBox="1">
            <a:spLocks noChangeArrowheads="1"/>
          </p:cNvSpPr>
          <p:nvPr/>
        </p:nvSpPr>
        <p:spPr bwMode="auto">
          <a:xfrm>
            <a:off x="4721226" y="1871133"/>
            <a:ext cx="2697163"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GB" sz="1600"/>
              <a:t>Key columns joining fact table</a:t>
            </a:r>
          </a:p>
          <a:p>
            <a:pPr algn="ctr"/>
            <a:r>
              <a:rPr lang="en-US" altLang="en-GB" sz="1600"/>
              <a:t>to dimension tables</a:t>
            </a:r>
            <a:endParaRPr lang="en-US" altLang="en-GB"/>
          </a:p>
        </p:txBody>
      </p:sp>
      <p:sp>
        <p:nvSpPr>
          <p:cNvPr id="4120" name="Line 22">
            <a:extLst>
              <a:ext uri="{FF2B5EF4-FFF2-40B4-BE49-F238E27FC236}">
                <a16:creationId xmlns:a16="http://schemas.microsoft.com/office/drawing/2014/main" id="{B3D2F552-69DC-C448-8988-66CD648370C9}"/>
              </a:ext>
            </a:extLst>
          </p:cNvPr>
          <p:cNvSpPr>
            <a:spLocks noChangeShapeType="1"/>
          </p:cNvSpPr>
          <p:nvPr/>
        </p:nvSpPr>
        <p:spPr bwMode="auto">
          <a:xfrm flipH="1">
            <a:off x="5029200" y="2404532"/>
            <a:ext cx="76200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1" name="Line 23">
            <a:extLst>
              <a:ext uri="{FF2B5EF4-FFF2-40B4-BE49-F238E27FC236}">
                <a16:creationId xmlns:a16="http://schemas.microsoft.com/office/drawing/2014/main" id="{0FDF37E6-9256-C94D-84A6-AD230E35DD1C}"/>
              </a:ext>
            </a:extLst>
          </p:cNvPr>
          <p:cNvSpPr>
            <a:spLocks noChangeShapeType="1"/>
          </p:cNvSpPr>
          <p:nvPr/>
        </p:nvSpPr>
        <p:spPr bwMode="auto">
          <a:xfrm>
            <a:off x="6019800" y="2404532"/>
            <a:ext cx="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2" name="Line 24">
            <a:extLst>
              <a:ext uri="{FF2B5EF4-FFF2-40B4-BE49-F238E27FC236}">
                <a16:creationId xmlns:a16="http://schemas.microsoft.com/office/drawing/2014/main" id="{A3C890C5-B49E-C34D-A63E-633BBD302F74}"/>
              </a:ext>
            </a:extLst>
          </p:cNvPr>
          <p:cNvSpPr>
            <a:spLocks noChangeShapeType="1"/>
          </p:cNvSpPr>
          <p:nvPr/>
        </p:nvSpPr>
        <p:spPr bwMode="auto">
          <a:xfrm>
            <a:off x="6324600" y="2404532"/>
            <a:ext cx="53340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3" name="Text Box 25">
            <a:extLst>
              <a:ext uri="{FF2B5EF4-FFF2-40B4-BE49-F238E27FC236}">
                <a16:creationId xmlns:a16="http://schemas.microsoft.com/office/drawing/2014/main" id="{5C512341-F5A8-F74F-842D-C32D87883F82}"/>
              </a:ext>
            </a:extLst>
          </p:cNvPr>
          <p:cNvSpPr txBox="1">
            <a:spLocks noChangeArrowheads="1"/>
          </p:cNvSpPr>
          <p:nvPr/>
        </p:nvSpPr>
        <p:spPr bwMode="auto">
          <a:xfrm>
            <a:off x="8763000" y="3115732"/>
            <a:ext cx="1581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GB" sz="1800">
                <a:latin typeface="Arial" panose="020B0604020202020204" pitchFamily="34" charset="0"/>
              </a:rPr>
              <a:t>Fact table for </a:t>
            </a:r>
          </a:p>
          <a:p>
            <a:r>
              <a:rPr lang="en-US" altLang="en-GB" sz="1800">
                <a:latin typeface="Arial" panose="020B0604020202020204" pitchFamily="34" charset="0"/>
              </a:rPr>
              <a:t>measures</a:t>
            </a:r>
            <a:endParaRPr lang="en-US" altLang="en-GB"/>
          </a:p>
        </p:txBody>
      </p:sp>
      <p:sp>
        <p:nvSpPr>
          <p:cNvPr id="4124" name="Line 26">
            <a:extLst>
              <a:ext uri="{FF2B5EF4-FFF2-40B4-BE49-F238E27FC236}">
                <a16:creationId xmlns:a16="http://schemas.microsoft.com/office/drawing/2014/main" id="{59E4C600-71F9-EC45-9E31-018C5368FF91}"/>
              </a:ext>
            </a:extLst>
          </p:cNvPr>
          <p:cNvSpPr>
            <a:spLocks noChangeShapeType="1"/>
          </p:cNvSpPr>
          <p:nvPr/>
        </p:nvSpPr>
        <p:spPr bwMode="auto">
          <a:xfrm>
            <a:off x="2438400" y="2175932"/>
            <a:ext cx="12954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5" name="Line 27">
            <a:extLst>
              <a:ext uri="{FF2B5EF4-FFF2-40B4-BE49-F238E27FC236}">
                <a16:creationId xmlns:a16="http://schemas.microsoft.com/office/drawing/2014/main" id="{27E0D534-D6BE-D14C-AE3F-E9C8468DDE15}"/>
              </a:ext>
            </a:extLst>
          </p:cNvPr>
          <p:cNvSpPr>
            <a:spLocks noChangeShapeType="1"/>
          </p:cNvSpPr>
          <p:nvPr/>
        </p:nvSpPr>
        <p:spPr bwMode="auto">
          <a:xfrm>
            <a:off x="1828800" y="3623732"/>
            <a:ext cx="12954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6" name="Line 28">
            <a:extLst>
              <a:ext uri="{FF2B5EF4-FFF2-40B4-BE49-F238E27FC236}">
                <a16:creationId xmlns:a16="http://schemas.microsoft.com/office/drawing/2014/main" id="{35DD8D22-502C-DD4E-915F-43D29361BEF8}"/>
              </a:ext>
            </a:extLst>
          </p:cNvPr>
          <p:cNvSpPr>
            <a:spLocks noChangeShapeType="1"/>
          </p:cNvSpPr>
          <p:nvPr/>
        </p:nvSpPr>
        <p:spPr bwMode="auto">
          <a:xfrm>
            <a:off x="3581400" y="5071532"/>
            <a:ext cx="12954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7" name="Line 29">
            <a:extLst>
              <a:ext uri="{FF2B5EF4-FFF2-40B4-BE49-F238E27FC236}">
                <a16:creationId xmlns:a16="http://schemas.microsoft.com/office/drawing/2014/main" id="{5D3CB2E5-4FCE-7C48-A6F8-ACD745B9E1DB}"/>
              </a:ext>
            </a:extLst>
          </p:cNvPr>
          <p:cNvSpPr>
            <a:spLocks noChangeShapeType="1"/>
          </p:cNvSpPr>
          <p:nvPr/>
        </p:nvSpPr>
        <p:spPr bwMode="auto">
          <a:xfrm>
            <a:off x="3810000" y="2480732"/>
            <a:ext cx="609600" cy="68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8" name="Line 30">
            <a:extLst>
              <a:ext uri="{FF2B5EF4-FFF2-40B4-BE49-F238E27FC236}">
                <a16:creationId xmlns:a16="http://schemas.microsoft.com/office/drawing/2014/main" id="{080588E7-C281-304C-9A61-4FD1BD410AB3}"/>
              </a:ext>
            </a:extLst>
          </p:cNvPr>
          <p:cNvSpPr>
            <a:spLocks noChangeShapeType="1"/>
          </p:cNvSpPr>
          <p:nvPr/>
        </p:nvSpPr>
        <p:spPr bwMode="auto">
          <a:xfrm flipV="1">
            <a:off x="3352800" y="3471332"/>
            <a:ext cx="914400" cy="381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29" name="Line 31">
            <a:extLst>
              <a:ext uri="{FF2B5EF4-FFF2-40B4-BE49-F238E27FC236}">
                <a16:creationId xmlns:a16="http://schemas.microsoft.com/office/drawing/2014/main" id="{E55C15C7-8B2F-4E48-B9DD-D4CD0BEAB263}"/>
              </a:ext>
            </a:extLst>
          </p:cNvPr>
          <p:cNvSpPr>
            <a:spLocks noChangeShapeType="1"/>
          </p:cNvSpPr>
          <p:nvPr/>
        </p:nvSpPr>
        <p:spPr bwMode="auto">
          <a:xfrm flipV="1">
            <a:off x="4038600" y="4004732"/>
            <a:ext cx="381000" cy="68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4130" name="Text Box 32">
            <a:extLst>
              <a:ext uri="{FF2B5EF4-FFF2-40B4-BE49-F238E27FC236}">
                <a16:creationId xmlns:a16="http://schemas.microsoft.com/office/drawing/2014/main" id="{BE7BC731-F382-544E-B574-FEDF980504E1}"/>
              </a:ext>
            </a:extLst>
          </p:cNvPr>
          <p:cNvSpPr txBox="1">
            <a:spLocks noChangeArrowheads="1"/>
          </p:cNvSpPr>
          <p:nvPr/>
        </p:nvSpPr>
        <p:spPr bwMode="auto">
          <a:xfrm>
            <a:off x="1524000" y="4614333"/>
            <a:ext cx="1936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GB" sz="1800">
                <a:latin typeface="Arial" panose="020B0604020202020204" pitchFamily="34" charset="0"/>
              </a:rPr>
              <a:t>Dimension tables</a:t>
            </a:r>
            <a:endParaRPr lang="en-US" altLang="en-GB"/>
          </a:p>
        </p:txBody>
      </p:sp>
      <p:sp>
        <p:nvSpPr>
          <p:cNvPr id="2" name="Footer Placeholder 1">
            <a:extLst>
              <a:ext uri="{FF2B5EF4-FFF2-40B4-BE49-F238E27FC236}">
                <a16:creationId xmlns:a16="http://schemas.microsoft.com/office/drawing/2014/main" id="{7C2A4356-E613-A34A-B118-169155E8210C}"/>
              </a:ext>
            </a:extLst>
          </p:cNvPr>
          <p:cNvSpPr>
            <a:spLocks noGrp="1"/>
          </p:cNvSpPr>
          <p:nvPr>
            <p:ph type="ftr" sz="quarter" idx="11"/>
          </p:nvPr>
        </p:nvSpPr>
        <p:spPr/>
        <p:txBody>
          <a:bodyPr/>
          <a:lstStyle/>
          <a:p>
            <a:r>
              <a:rPr lang="en-US"/>
              <a:t>Or Peretz</a:t>
            </a:r>
            <a:endParaRPr lang="en-IL"/>
          </a:p>
        </p:txBody>
      </p:sp>
      <p:sp>
        <p:nvSpPr>
          <p:cNvPr id="3" name="Slide Number Placeholder 2">
            <a:extLst>
              <a:ext uri="{FF2B5EF4-FFF2-40B4-BE49-F238E27FC236}">
                <a16:creationId xmlns:a16="http://schemas.microsoft.com/office/drawing/2014/main" id="{05F9BB05-9A23-1C43-A0F0-3ECB4E5CDAEF}"/>
              </a:ext>
            </a:extLst>
          </p:cNvPr>
          <p:cNvSpPr>
            <a:spLocks noGrp="1"/>
          </p:cNvSpPr>
          <p:nvPr>
            <p:ph type="sldNum" sz="quarter" idx="12"/>
          </p:nvPr>
        </p:nvSpPr>
        <p:spPr/>
        <p:txBody>
          <a:bodyPr/>
          <a:lstStyle/>
          <a:p>
            <a:fld id="{B62643F8-DFCD-4B5F-9519-933435FA18FB}" type="slidenum">
              <a:rPr lang="en-IL" smtClean="0"/>
              <a:t>5</a:t>
            </a:fld>
            <a:endParaRPr lang="en-IL"/>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2">
            <a:extLst>
              <a:ext uri="{FF2B5EF4-FFF2-40B4-BE49-F238E27FC236}">
                <a16:creationId xmlns:a16="http://schemas.microsoft.com/office/drawing/2014/main" id="{21D90797-729A-0045-8871-C1183921C696}"/>
              </a:ext>
            </a:extLst>
          </p:cNvPr>
          <p:cNvSpPr>
            <a:spLocks noGrp="1" noChangeArrowheads="1"/>
          </p:cNvSpPr>
          <p:nvPr>
            <p:ph type="title"/>
          </p:nvPr>
        </p:nvSpPr>
        <p:spPr>
          <a:xfrm>
            <a:off x="1981200" y="152400"/>
            <a:ext cx="8001000" cy="914400"/>
          </a:xfrm>
        </p:spPr>
        <p:txBody>
          <a:bodyPr>
            <a:normAutofit/>
          </a:bodyPr>
          <a:lstStyle/>
          <a:p>
            <a:pPr algn="ctr"/>
            <a:r>
              <a:rPr lang="en-US" altLang="en-GB" sz="3200" b="1" dirty="0">
                <a:latin typeface="+mn-lt"/>
              </a:rPr>
              <a:t>Dimensional Modeling</a:t>
            </a:r>
          </a:p>
        </p:txBody>
      </p:sp>
      <p:sp>
        <p:nvSpPr>
          <p:cNvPr id="6149" name="Rectangle 3">
            <a:extLst>
              <a:ext uri="{FF2B5EF4-FFF2-40B4-BE49-F238E27FC236}">
                <a16:creationId xmlns:a16="http://schemas.microsoft.com/office/drawing/2014/main" id="{A216099D-772B-5A4F-B931-3F2F6C666776}"/>
              </a:ext>
            </a:extLst>
          </p:cNvPr>
          <p:cNvSpPr>
            <a:spLocks noGrp="1" noChangeArrowheads="1"/>
          </p:cNvSpPr>
          <p:nvPr>
            <p:ph type="body" idx="4294967295"/>
          </p:nvPr>
        </p:nvSpPr>
        <p:spPr>
          <a:xfrm>
            <a:off x="609600" y="1066800"/>
            <a:ext cx="9448800" cy="5257800"/>
          </a:xfrm>
        </p:spPr>
        <p:txBody>
          <a:bodyPr/>
          <a:lstStyle/>
          <a:p>
            <a:r>
              <a:rPr lang="en-US" altLang="en-GB" dirty="0"/>
              <a:t>Dimensions are organized into hierarchies</a:t>
            </a:r>
          </a:p>
          <a:p>
            <a:pPr lvl="1"/>
            <a:r>
              <a:rPr lang="en-US" altLang="en-GB" dirty="0"/>
              <a:t>E.g., Time dimension: days </a:t>
            </a:r>
            <a:r>
              <a:rPr lang="en-US" altLang="en-GB" dirty="0">
                <a:sym typeface="Symbol" pitchFamily="2" charset="2"/>
              </a:rPr>
              <a:t></a:t>
            </a:r>
            <a:r>
              <a:rPr lang="en-US" altLang="en-GB" dirty="0"/>
              <a:t> weeks </a:t>
            </a:r>
            <a:r>
              <a:rPr lang="en-US" altLang="en-GB" dirty="0">
                <a:sym typeface="Symbol" pitchFamily="2" charset="2"/>
              </a:rPr>
              <a:t></a:t>
            </a:r>
            <a:r>
              <a:rPr lang="en-US" altLang="en-GB" dirty="0"/>
              <a:t> quarters</a:t>
            </a:r>
          </a:p>
          <a:p>
            <a:pPr lvl="1"/>
            <a:r>
              <a:rPr lang="en-US" altLang="en-GB" dirty="0"/>
              <a:t>E.g., Product dimension: product </a:t>
            </a:r>
            <a:r>
              <a:rPr lang="en-US" altLang="en-GB" dirty="0">
                <a:sym typeface="Symbol" pitchFamily="2" charset="2"/>
              </a:rPr>
              <a:t> product line  brand</a:t>
            </a:r>
          </a:p>
          <a:p>
            <a:r>
              <a:rPr lang="en-US" altLang="en-GB" dirty="0"/>
              <a:t>Dimensions have attributes</a:t>
            </a:r>
          </a:p>
          <a:p>
            <a:pPr lvl="1"/>
            <a:r>
              <a:rPr lang="en-US" altLang="en-GB" dirty="0"/>
              <a:t>E.g., Time dimension: date, month, year</a:t>
            </a:r>
          </a:p>
          <a:p>
            <a:pPr lvl="1"/>
            <a:r>
              <a:rPr lang="en-US" altLang="en-GB" dirty="0"/>
              <a:t>E.g., Store dimension: id, city, state, country</a:t>
            </a:r>
          </a:p>
          <a:p>
            <a:pPr>
              <a:buFont typeface="Symbol" pitchFamily="2" charset="2"/>
              <a:buNone/>
            </a:pPr>
            <a:r>
              <a:rPr lang="en-US" altLang="en-GB" i="1" dirty="0"/>
              <a:t>         </a:t>
            </a:r>
          </a:p>
        </p:txBody>
      </p:sp>
      <p:sp>
        <p:nvSpPr>
          <p:cNvPr id="6152" name="Rectangle 9">
            <a:extLst>
              <a:ext uri="{FF2B5EF4-FFF2-40B4-BE49-F238E27FC236}">
                <a16:creationId xmlns:a16="http://schemas.microsoft.com/office/drawing/2014/main" id="{046B59CD-CC0F-FE4E-B5CC-BEF27603B288}"/>
              </a:ext>
            </a:extLst>
          </p:cNvPr>
          <p:cNvSpPr>
            <a:spLocks noChangeArrowheads="1"/>
          </p:cNvSpPr>
          <p:nvPr/>
        </p:nvSpPr>
        <p:spPr bwMode="auto">
          <a:xfrm>
            <a:off x="7373938" y="6022975"/>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2" name="Footer Placeholder 1">
            <a:extLst>
              <a:ext uri="{FF2B5EF4-FFF2-40B4-BE49-F238E27FC236}">
                <a16:creationId xmlns:a16="http://schemas.microsoft.com/office/drawing/2014/main" id="{E4232098-CE90-3E4E-B701-CC9863B74290}"/>
              </a:ext>
            </a:extLst>
          </p:cNvPr>
          <p:cNvSpPr>
            <a:spLocks noGrp="1"/>
          </p:cNvSpPr>
          <p:nvPr>
            <p:ph type="ftr" sz="quarter" idx="11"/>
          </p:nvPr>
        </p:nvSpPr>
        <p:spPr/>
        <p:txBody>
          <a:bodyPr/>
          <a:lstStyle/>
          <a:p>
            <a:r>
              <a:rPr lang="en-US"/>
              <a:t>Or Peretz</a:t>
            </a:r>
            <a:endParaRPr lang="en-IL"/>
          </a:p>
        </p:txBody>
      </p:sp>
      <p:sp>
        <p:nvSpPr>
          <p:cNvPr id="3" name="Slide Number Placeholder 2">
            <a:extLst>
              <a:ext uri="{FF2B5EF4-FFF2-40B4-BE49-F238E27FC236}">
                <a16:creationId xmlns:a16="http://schemas.microsoft.com/office/drawing/2014/main" id="{CBAF315A-EA2D-4D4A-AFC1-5625C954D217}"/>
              </a:ext>
            </a:extLst>
          </p:cNvPr>
          <p:cNvSpPr>
            <a:spLocks noGrp="1"/>
          </p:cNvSpPr>
          <p:nvPr>
            <p:ph type="sldNum" sz="quarter" idx="12"/>
          </p:nvPr>
        </p:nvSpPr>
        <p:spPr/>
        <p:txBody>
          <a:bodyPr/>
          <a:lstStyle/>
          <a:p>
            <a:fld id="{B62643F8-DFCD-4B5F-9519-933435FA18FB}" type="slidenum">
              <a:rPr lang="en-IL" smtClean="0"/>
              <a:t>6</a:t>
            </a:fld>
            <a:endParaRPr lang="en-IL"/>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a:extLst>
              <a:ext uri="{FF2B5EF4-FFF2-40B4-BE49-F238E27FC236}">
                <a16:creationId xmlns:a16="http://schemas.microsoft.com/office/drawing/2014/main" id="{852F53E2-4D3B-BC42-AE45-483F6CD6E3CD}"/>
              </a:ext>
            </a:extLst>
          </p:cNvPr>
          <p:cNvSpPr>
            <a:spLocks noGrp="1" noChangeArrowheads="1"/>
          </p:cNvSpPr>
          <p:nvPr>
            <p:ph type="title"/>
          </p:nvPr>
        </p:nvSpPr>
        <p:spPr>
          <a:xfrm>
            <a:off x="2070100" y="457200"/>
            <a:ext cx="8001000" cy="609600"/>
          </a:xfrm>
        </p:spPr>
        <p:txBody>
          <a:bodyPr>
            <a:normAutofit fontScale="90000"/>
          </a:bodyPr>
          <a:lstStyle/>
          <a:p>
            <a:pPr eaLnBrk="1" hangingPunct="1"/>
            <a:r>
              <a:rPr lang="en-US" altLang="en-IL" sz="3200" dirty="0"/>
              <a:t>A</a:t>
            </a:r>
            <a:r>
              <a:rPr lang="en-US" altLang="en-IL" sz="3200" dirty="0">
                <a:solidFill>
                  <a:srgbClr val="FF0000"/>
                </a:solidFill>
              </a:rPr>
              <a:t> </a:t>
            </a:r>
            <a:r>
              <a:rPr lang="en-US" altLang="en-IL" sz="3200" dirty="0">
                <a:solidFill>
                  <a:schemeClr val="accent1"/>
                </a:solidFill>
              </a:rPr>
              <a:t>Concept Hierarchy</a:t>
            </a:r>
            <a:r>
              <a:rPr lang="en-US" altLang="en-IL" sz="3200" dirty="0"/>
              <a:t>: Dimension (location)</a:t>
            </a:r>
          </a:p>
        </p:txBody>
      </p:sp>
      <p:sp>
        <p:nvSpPr>
          <p:cNvPr id="66563" name="Text Box 3">
            <a:extLst>
              <a:ext uri="{FF2B5EF4-FFF2-40B4-BE49-F238E27FC236}">
                <a16:creationId xmlns:a16="http://schemas.microsoft.com/office/drawing/2014/main" id="{D661D559-C2C8-4642-8AA3-8DC35B8DEF1D}"/>
              </a:ext>
            </a:extLst>
          </p:cNvPr>
          <p:cNvSpPr txBox="1">
            <a:spLocks noChangeArrowheads="1"/>
          </p:cNvSpPr>
          <p:nvPr/>
        </p:nvSpPr>
        <p:spPr bwMode="auto">
          <a:xfrm>
            <a:off x="6400801" y="1447800"/>
            <a:ext cx="4873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all</a:t>
            </a:r>
          </a:p>
        </p:txBody>
      </p:sp>
      <p:sp>
        <p:nvSpPr>
          <p:cNvPr id="66564" name="Text Box 4">
            <a:extLst>
              <a:ext uri="{FF2B5EF4-FFF2-40B4-BE49-F238E27FC236}">
                <a16:creationId xmlns:a16="http://schemas.microsoft.com/office/drawing/2014/main" id="{D880A331-F813-404C-9EEC-8A805F556F4B}"/>
              </a:ext>
            </a:extLst>
          </p:cNvPr>
          <p:cNvSpPr txBox="1">
            <a:spLocks noChangeArrowheads="1"/>
          </p:cNvSpPr>
          <p:nvPr/>
        </p:nvSpPr>
        <p:spPr bwMode="auto">
          <a:xfrm>
            <a:off x="4876801" y="2438400"/>
            <a:ext cx="10636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Europe</a:t>
            </a:r>
          </a:p>
        </p:txBody>
      </p:sp>
      <p:sp>
        <p:nvSpPr>
          <p:cNvPr id="66565" name="Text Box 5">
            <a:extLst>
              <a:ext uri="{FF2B5EF4-FFF2-40B4-BE49-F238E27FC236}">
                <a16:creationId xmlns:a16="http://schemas.microsoft.com/office/drawing/2014/main" id="{3C582C8A-1E77-3744-AEBB-897F22684AA6}"/>
              </a:ext>
            </a:extLst>
          </p:cNvPr>
          <p:cNvSpPr txBox="1">
            <a:spLocks noChangeArrowheads="1"/>
          </p:cNvSpPr>
          <p:nvPr/>
        </p:nvSpPr>
        <p:spPr bwMode="auto">
          <a:xfrm>
            <a:off x="7924800" y="2438400"/>
            <a:ext cx="2095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North_America</a:t>
            </a:r>
          </a:p>
        </p:txBody>
      </p:sp>
      <p:sp>
        <p:nvSpPr>
          <p:cNvPr id="66566" name="Text Box 6">
            <a:extLst>
              <a:ext uri="{FF2B5EF4-FFF2-40B4-BE49-F238E27FC236}">
                <a16:creationId xmlns:a16="http://schemas.microsoft.com/office/drawing/2014/main" id="{E90FEC38-CEB2-944A-A968-338191EA5554}"/>
              </a:ext>
            </a:extLst>
          </p:cNvPr>
          <p:cNvSpPr txBox="1">
            <a:spLocks noChangeArrowheads="1"/>
          </p:cNvSpPr>
          <p:nvPr/>
        </p:nvSpPr>
        <p:spPr bwMode="auto">
          <a:xfrm>
            <a:off x="9553576" y="3505200"/>
            <a:ext cx="11144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Mexico</a:t>
            </a:r>
          </a:p>
        </p:txBody>
      </p:sp>
      <p:sp>
        <p:nvSpPr>
          <p:cNvPr id="66567" name="Text Box 7">
            <a:extLst>
              <a:ext uri="{FF2B5EF4-FFF2-40B4-BE49-F238E27FC236}">
                <a16:creationId xmlns:a16="http://schemas.microsoft.com/office/drawing/2014/main" id="{DC480BB9-7E0A-7D4D-BDD6-1351AB24FD47}"/>
              </a:ext>
            </a:extLst>
          </p:cNvPr>
          <p:cNvSpPr txBox="1">
            <a:spLocks noChangeArrowheads="1"/>
          </p:cNvSpPr>
          <p:nvPr/>
        </p:nvSpPr>
        <p:spPr bwMode="auto">
          <a:xfrm>
            <a:off x="7467601" y="3505200"/>
            <a:ext cx="10969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Canada</a:t>
            </a:r>
          </a:p>
        </p:txBody>
      </p:sp>
      <p:sp>
        <p:nvSpPr>
          <p:cNvPr id="66568" name="Text Box 8">
            <a:extLst>
              <a:ext uri="{FF2B5EF4-FFF2-40B4-BE49-F238E27FC236}">
                <a16:creationId xmlns:a16="http://schemas.microsoft.com/office/drawing/2014/main" id="{652103C1-C236-7246-AE4E-16D7C7890E44}"/>
              </a:ext>
            </a:extLst>
          </p:cNvPr>
          <p:cNvSpPr txBox="1">
            <a:spLocks noChangeArrowheads="1"/>
          </p:cNvSpPr>
          <p:nvPr/>
        </p:nvSpPr>
        <p:spPr bwMode="auto">
          <a:xfrm>
            <a:off x="5751514" y="3505200"/>
            <a:ext cx="87788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Spain</a:t>
            </a:r>
          </a:p>
        </p:txBody>
      </p:sp>
      <p:sp>
        <p:nvSpPr>
          <p:cNvPr id="66569" name="Text Box 9">
            <a:extLst>
              <a:ext uri="{FF2B5EF4-FFF2-40B4-BE49-F238E27FC236}">
                <a16:creationId xmlns:a16="http://schemas.microsoft.com/office/drawing/2014/main" id="{DE679913-466A-5647-AFCB-4E41D766C82D}"/>
              </a:ext>
            </a:extLst>
          </p:cNvPr>
          <p:cNvSpPr txBox="1">
            <a:spLocks noChangeArrowheads="1"/>
          </p:cNvSpPr>
          <p:nvPr/>
        </p:nvSpPr>
        <p:spPr bwMode="auto">
          <a:xfrm>
            <a:off x="3733801" y="3505200"/>
            <a:ext cx="13176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Germany</a:t>
            </a:r>
          </a:p>
        </p:txBody>
      </p:sp>
      <p:sp>
        <p:nvSpPr>
          <p:cNvPr id="66570" name="Text Box 10">
            <a:extLst>
              <a:ext uri="{FF2B5EF4-FFF2-40B4-BE49-F238E27FC236}">
                <a16:creationId xmlns:a16="http://schemas.microsoft.com/office/drawing/2014/main" id="{D3FD3549-31C8-6949-8EE5-D0E5C51616A6}"/>
              </a:ext>
            </a:extLst>
          </p:cNvPr>
          <p:cNvSpPr txBox="1">
            <a:spLocks noChangeArrowheads="1"/>
          </p:cNvSpPr>
          <p:nvPr/>
        </p:nvSpPr>
        <p:spPr bwMode="auto">
          <a:xfrm>
            <a:off x="6400801" y="4572000"/>
            <a:ext cx="15208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Vancouver</a:t>
            </a:r>
          </a:p>
        </p:txBody>
      </p:sp>
      <p:sp>
        <p:nvSpPr>
          <p:cNvPr id="66571" name="Text Box 11">
            <a:extLst>
              <a:ext uri="{FF2B5EF4-FFF2-40B4-BE49-F238E27FC236}">
                <a16:creationId xmlns:a16="http://schemas.microsoft.com/office/drawing/2014/main" id="{1F70F901-7990-0540-9DC1-A56AAFCC7B35}"/>
              </a:ext>
            </a:extLst>
          </p:cNvPr>
          <p:cNvSpPr txBox="1">
            <a:spLocks noChangeArrowheads="1"/>
          </p:cNvSpPr>
          <p:nvPr/>
        </p:nvSpPr>
        <p:spPr bwMode="auto">
          <a:xfrm>
            <a:off x="7543800" y="5562600"/>
            <a:ext cx="12842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M. Wind</a:t>
            </a:r>
          </a:p>
        </p:txBody>
      </p:sp>
      <p:sp>
        <p:nvSpPr>
          <p:cNvPr id="66572" name="Text Box 12">
            <a:extLst>
              <a:ext uri="{FF2B5EF4-FFF2-40B4-BE49-F238E27FC236}">
                <a16:creationId xmlns:a16="http://schemas.microsoft.com/office/drawing/2014/main" id="{0DF70A75-6FD1-214B-9D58-2EE2F5DF7740}"/>
              </a:ext>
            </a:extLst>
          </p:cNvPr>
          <p:cNvSpPr txBox="1">
            <a:spLocks noChangeArrowheads="1"/>
          </p:cNvSpPr>
          <p:nvPr/>
        </p:nvSpPr>
        <p:spPr bwMode="auto">
          <a:xfrm>
            <a:off x="5715001" y="5562600"/>
            <a:ext cx="11652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L. Chan</a:t>
            </a:r>
          </a:p>
        </p:txBody>
      </p:sp>
      <p:sp>
        <p:nvSpPr>
          <p:cNvPr id="66573" name="Text Box 13">
            <a:extLst>
              <a:ext uri="{FF2B5EF4-FFF2-40B4-BE49-F238E27FC236}">
                <a16:creationId xmlns:a16="http://schemas.microsoft.com/office/drawing/2014/main" id="{53B6CB5A-334C-824D-A63F-7853D1289969}"/>
              </a:ext>
            </a:extLst>
          </p:cNvPr>
          <p:cNvSpPr txBox="1">
            <a:spLocks noChangeArrowheads="1"/>
          </p:cNvSpPr>
          <p:nvPr/>
        </p:nvSpPr>
        <p:spPr bwMode="auto">
          <a:xfrm>
            <a:off x="6858000" y="2438400"/>
            <a:ext cx="4127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t>
            </a:r>
          </a:p>
        </p:txBody>
      </p:sp>
      <p:sp>
        <p:nvSpPr>
          <p:cNvPr id="66574" name="Text Box 14">
            <a:extLst>
              <a:ext uri="{FF2B5EF4-FFF2-40B4-BE49-F238E27FC236}">
                <a16:creationId xmlns:a16="http://schemas.microsoft.com/office/drawing/2014/main" id="{824B3FE5-AFB7-774D-9EB9-4ACAE95B5606}"/>
              </a:ext>
            </a:extLst>
          </p:cNvPr>
          <p:cNvSpPr txBox="1">
            <a:spLocks noChangeArrowheads="1"/>
          </p:cNvSpPr>
          <p:nvPr/>
        </p:nvSpPr>
        <p:spPr bwMode="auto">
          <a:xfrm>
            <a:off x="8915400" y="3505200"/>
            <a:ext cx="4127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t>
            </a:r>
          </a:p>
        </p:txBody>
      </p:sp>
      <p:sp>
        <p:nvSpPr>
          <p:cNvPr id="66575" name="Text Box 15">
            <a:extLst>
              <a:ext uri="{FF2B5EF4-FFF2-40B4-BE49-F238E27FC236}">
                <a16:creationId xmlns:a16="http://schemas.microsoft.com/office/drawing/2014/main" id="{E173470D-7E3C-EB41-A53B-E0510C59E64C}"/>
              </a:ext>
            </a:extLst>
          </p:cNvPr>
          <p:cNvSpPr txBox="1">
            <a:spLocks noChangeArrowheads="1"/>
          </p:cNvSpPr>
          <p:nvPr/>
        </p:nvSpPr>
        <p:spPr bwMode="auto">
          <a:xfrm>
            <a:off x="5181600" y="3505200"/>
            <a:ext cx="4127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t>
            </a:r>
          </a:p>
        </p:txBody>
      </p:sp>
      <p:sp>
        <p:nvSpPr>
          <p:cNvPr id="66576" name="Text Box 16">
            <a:extLst>
              <a:ext uri="{FF2B5EF4-FFF2-40B4-BE49-F238E27FC236}">
                <a16:creationId xmlns:a16="http://schemas.microsoft.com/office/drawing/2014/main" id="{19E109BF-1DFE-6C4A-B1DB-C104401EAD70}"/>
              </a:ext>
            </a:extLst>
          </p:cNvPr>
          <p:cNvSpPr txBox="1">
            <a:spLocks noChangeArrowheads="1"/>
          </p:cNvSpPr>
          <p:nvPr/>
        </p:nvSpPr>
        <p:spPr bwMode="auto">
          <a:xfrm>
            <a:off x="4953000" y="4648200"/>
            <a:ext cx="4127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t>
            </a:r>
          </a:p>
        </p:txBody>
      </p:sp>
      <p:sp>
        <p:nvSpPr>
          <p:cNvPr id="66577" name="Text Box 17">
            <a:extLst>
              <a:ext uri="{FF2B5EF4-FFF2-40B4-BE49-F238E27FC236}">
                <a16:creationId xmlns:a16="http://schemas.microsoft.com/office/drawing/2014/main" id="{37BD98FE-539E-544C-BC48-27322E9599B7}"/>
              </a:ext>
            </a:extLst>
          </p:cNvPr>
          <p:cNvSpPr txBox="1">
            <a:spLocks noChangeArrowheads="1"/>
          </p:cNvSpPr>
          <p:nvPr/>
        </p:nvSpPr>
        <p:spPr bwMode="auto">
          <a:xfrm>
            <a:off x="8001000" y="4572000"/>
            <a:ext cx="4127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t>
            </a:r>
          </a:p>
        </p:txBody>
      </p:sp>
      <p:sp>
        <p:nvSpPr>
          <p:cNvPr id="66578" name="Text Box 18">
            <a:extLst>
              <a:ext uri="{FF2B5EF4-FFF2-40B4-BE49-F238E27FC236}">
                <a16:creationId xmlns:a16="http://schemas.microsoft.com/office/drawing/2014/main" id="{CDB23A13-C6BE-A74D-A3BA-1814244FB31C}"/>
              </a:ext>
            </a:extLst>
          </p:cNvPr>
          <p:cNvSpPr txBox="1">
            <a:spLocks noChangeArrowheads="1"/>
          </p:cNvSpPr>
          <p:nvPr/>
        </p:nvSpPr>
        <p:spPr bwMode="auto">
          <a:xfrm>
            <a:off x="7010400" y="5562600"/>
            <a:ext cx="4127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t>
            </a:r>
          </a:p>
        </p:txBody>
      </p:sp>
      <p:sp>
        <p:nvSpPr>
          <p:cNvPr id="66579" name="Line 19">
            <a:extLst>
              <a:ext uri="{FF2B5EF4-FFF2-40B4-BE49-F238E27FC236}">
                <a16:creationId xmlns:a16="http://schemas.microsoft.com/office/drawing/2014/main" id="{0FFAD120-3D38-6E42-9EDA-EED8C2B42037}"/>
              </a:ext>
            </a:extLst>
          </p:cNvPr>
          <p:cNvSpPr>
            <a:spLocks noChangeShapeType="1"/>
          </p:cNvSpPr>
          <p:nvPr/>
        </p:nvSpPr>
        <p:spPr bwMode="auto">
          <a:xfrm flipH="1">
            <a:off x="5410200" y="1828800"/>
            <a:ext cx="121920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0" name="Line 20">
            <a:extLst>
              <a:ext uri="{FF2B5EF4-FFF2-40B4-BE49-F238E27FC236}">
                <a16:creationId xmlns:a16="http://schemas.microsoft.com/office/drawing/2014/main" id="{DED569FE-059C-DF49-910A-7807F012D750}"/>
              </a:ext>
            </a:extLst>
          </p:cNvPr>
          <p:cNvSpPr>
            <a:spLocks noChangeShapeType="1"/>
          </p:cNvSpPr>
          <p:nvPr/>
        </p:nvSpPr>
        <p:spPr bwMode="auto">
          <a:xfrm>
            <a:off x="6629400" y="1828800"/>
            <a:ext cx="220980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1" name="Line 21">
            <a:extLst>
              <a:ext uri="{FF2B5EF4-FFF2-40B4-BE49-F238E27FC236}">
                <a16:creationId xmlns:a16="http://schemas.microsoft.com/office/drawing/2014/main" id="{8C75EBE8-6EA5-E948-AE77-068298EDE2D5}"/>
              </a:ext>
            </a:extLst>
          </p:cNvPr>
          <p:cNvSpPr>
            <a:spLocks noChangeShapeType="1"/>
          </p:cNvSpPr>
          <p:nvPr/>
        </p:nvSpPr>
        <p:spPr bwMode="auto">
          <a:xfrm flipH="1">
            <a:off x="4343400" y="2819400"/>
            <a:ext cx="990600" cy="838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2" name="Line 22">
            <a:extLst>
              <a:ext uri="{FF2B5EF4-FFF2-40B4-BE49-F238E27FC236}">
                <a16:creationId xmlns:a16="http://schemas.microsoft.com/office/drawing/2014/main" id="{72D9F352-3B2B-4C49-8D67-179D604EBB99}"/>
              </a:ext>
            </a:extLst>
          </p:cNvPr>
          <p:cNvSpPr>
            <a:spLocks noChangeShapeType="1"/>
          </p:cNvSpPr>
          <p:nvPr/>
        </p:nvSpPr>
        <p:spPr bwMode="auto">
          <a:xfrm>
            <a:off x="5334000" y="2819400"/>
            <a:ext cx="838200" cy="838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3" name="Line 23">
            <a:extLst>
              <a:ext uri="{FF2B5EF4-FFF2-40B4-BE49-F238E27FC236}">
                <a16:creationId xmlns:a16="http://schemas.microsoft.com/office/drawing/2014/main" id="{316BDBDF-7E4C-5D4A-852B-82AAE5CD783B}"/>
              </a:ext>
            </a:extLst>
          </p:cNvPr>
          <p:cNvSpPr>
            <a:spLocks noChangeShapeType="1"/>
          </p:cNvSpPr>
          <p:nvPr/>
        </p:nvSpPr>
        <p:spPr bwMode="auto">
          <a:xfrm flipH="1">
            <a:off x="8001000" y="2819400"/>
            <a:ext cx="990600" cy="838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4" name="Line 24">
            <a:extLst>
              <a:ext uri="{FF2B5EF4-FFF2-40B4-BE49-F238E27FC236}">
                <a16:creationId xmlns:a16="http://schemas.microsoft.com/office/drawing/2014/main" id="{DC50D689-BB10-994D-8CC4-F3DAEEB4140F}"/>
              </a:ext>
            </a:extLst>
          </p:cNvPr>
          <p:cNvSpPr>
            <a:spLocks noChangeShapeType="1"/>
          </p:cNvSpPr>
          <p:nvPr/>
        </p:nvSpPr>
        <p:spPr bwMode="auto">
          <a:xfrm>
            <a:off x="8991600" y="2819400"/>
            <a:ext cx="1143000" cy="838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5" name="Line 25">
            <a:extLst>
              <a:ext uri="{FF2B5EF4-FFF2-40B4-BE49-F238E27FC236}">
                <a16:creationId xmlns:a16="http://schemas.microsoft.com/office/drawing/2014/main" id="{B947085E-521C-1847-B7ED-E94CC8053B9C}"/>
              </a:ext>
            </a:extLst>
          </p:cNvPr>
          <p:cNvSpPr>
            <a:spLocks noChangeShapeType="1"/>
          </p:cNvSpPr>
          <p:nvPr/>
        </p:nvSpPr>
        <p:spPr bwMode="auto">
          <a:xfrm flipH="1">
            <a:off x="3886200" y="3886200"/>
            <a:ext cx="53340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6" name="Line 26">
            <a:extLst>
              <a:ext uri="{FF2B5EF4-FFF2-40B4-BE49-F238E27FC236}">
                <a16:creationId xmlns:a16="http://schemas.microsoft.com/office/drawing/2014/main" id="{7C63A0BD-4E8C-1145-8242-6C255B9D1E16}"/>
              </a:ext>
            </a:extLst>
          </p:cNvPr>
          <p:cNvSpPr>
            <a:spLocks noChangeShapeType="1"/>
          </p:cNvSpPr>
          <p:nvPr/>
        </p:nvSpPr>
        <p:spPr bwMode="auto">
          <a:xfrm>
            <a:off x="4419600" y="3886200"/>
            <a:ext cx="609600" cy="838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7" name="Line 27">
            <a:extLst>
              <a:ext uri="{FF2B5EF4-FFF2-40B4-BE49-F238E27FC236}">
                <a16:creationId xmlns:a16="http://schemas.microsoft.com/office/drawing/2014/main" id="{600FF1C2-8C38-CC4A-9D6C-BE0B3C853EA2}"/>
              </a:ext>
            </a:extLst>
          </p:cNvPr>
          <p:cNvSpPr>
            <a:spLocks noChangeShapeType="1"/>
          </p:cNvSpPr>
          <p:nvPr/>
        </p:nvSpPr>
        <p:spPr bwMode="auto">
          <a:xfrm flipH="1">
            <a:off x="5715000" y="38862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8" name="Line 28">
            <a:extLst>
              <a:ext uri="{FF2B5EF4-FFF2-40B4-BE49-F238E27FC236}">
                <a16:creationId xmlns:a16="http://schemas.microsoft.com/office/drawing/2014/main" id="{B91369FF-4089-E040-A418-0BED4F30327E}"/>
              </a:ext>
            </a:extLst>
          </p:cNvPr>
          <p:cNvSpPr>
            <a:spLocks noChangeShapeType="1"/>
          </p:cNvSpPr>
          <p:nvPr/>
        </p:nvSpPr>
        <p:spPr bwMode="auto">
          <a:xfrm>
            <a:off x="6096000" y="38862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89" name="Line 29">
            <a:extLst>
              <a:ext uri="{FF2B5EF4-FFF2-40B4-BE49-F238E27FC236}">
                <a16:creationId xmlns:a16="http://schemas.microsoft.com/office/drawing/2014/main" id="{FF9D2701-FA54-9D43-9E29-1779F7A0DB86}"/>
              </a:ext>
            </a:extLst>
          </p:cNvPr>
          <p:cNvSpPr>
            <a:spLocks noChangeShapeType="1"/>
          </p:cNvSpPr>
          <p:nvPr/>
        </p:nvSpPr>
        <p:spPr bwMode="auto">
          <a:xfrm flipH="1">
            <a:off x="9753600" y="38862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90" name="Line 30">
            <a:extLst>
              <a:ext uri="{FF2B5EF4-FFF2-40B4-BE49-F238E27FC236}">
                <a16:creationId xmlns:a16="http://schemas.microsoft.com/office/drawing/2014/main" id="{3139F241-EF5D-7C4C-AE97-156C0CBB70FB}"/>
              </a:ext>
            </a:extLst>
          </p:cNvPr>
          <p:cNvSpPr>
            <a:spLocks noChangeShapeType="1"/>
          </p:cNvSpPr>
          <p:nvPr/>
        </p:nvSpPr>
        <p:spPr bwMode="auto">
          <a:xfrm>
            <a:off x="10134600" y="38862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91" name="Line 31">
            <a:extLst>
              <a:ext uri="{FF2B5EF4-FFF2-40B4-BE49-F238E27FC236}">
                <a16:creationId xmlns:a16="http://schemas.microsoft.com/office/drawing/2014/main" id="{C653B5B6-61E3-3444-8B93-A0C714132B0F}"/>
              </a:ext>
            </a:extLst>
          </p:cNvPr>
          <p:cNvSpPr>
            <a:spLocks noChangeShapeType="1"/>
          </p:cNvSpPr>
          <p:nvPr/>
        </p:nvSpPr>
        <p:spPr bwMode="auto">
          <a:xfrm flipH="1">
            <a:off x="3581400" y="51054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92" name="Line 32">
            <a:extLst>
              <a:ext uri="{FF2B5EF4-FFF2-40B4-BE49-F238E27FC236}">
                <a16:creationId xmlns:a16="http://schemas.microsoft.com/office/drawing/2014/main" id="{E5410D11-5265-C440-A844-E3A64131B9F4}"/>
              </a:ext>
            </a:extLst>
          </p:cNvPr>
          <p:cNvSpPr>
            <a:spLocks noChangeShapeType="1"/>
          </p:cNvSpPr>
          <p:nvPr/>
        </p:nvSpPr>
        <p:spPr bwMode="auto">
          <a:xfrm>
            <a:off x="3962400" y="51054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93" name="Line 33">
            <a:extLst>
              <a:ext uri="{FF2B5EF4-FFF2-40B4-BE49-F238E27FC236}">
                <a16:creationId xmlns:a16="http://schemas.microsoft.com/office/drawing/2014/main" id="{A269CB95-CDB6-364B-BD40-E7CC74B101BB}"/>
              </a:ext>
            </a:extLst>
          </p:cNvPr>
          <p:cNvSpPr>
            <a:spLocks noChangeShapeType="1"/>
          </p:cNvSpPr>
          <p:nvPr/>
        </p:nvSpPr>
        <p:spPr bwMode="auto">
          <a:xfrm flipH="1">
            <a:off x="6400800" y="4953000"/>
            <a:ext cx="68580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94" name="Line 34">
            <a:extLst>
              <a:ext uri="{FF2B5EF4-FFF2-40B4-BE49-F238E27FC236}">
                <a16:creationId xmlns:a16="http://schemas.microsoft.com/office/drawing/2014/main" id="{D3E79C59-A78E-2046-9029-0F53C8ABD0E9}"/>
              </a:ext>
            </a:extLst>
          </p:cNvPr>
          <p:cNvSpPr>
            <a:spLocks noChangeShapeType="1"/>
          </p:cNvSpPr>
          <p:nvPr/>
        </p:nvSpPr>
        <p:spPr bwMode="auto">
          <a:xfrm>
            <a:off x="7086600" y="4953000"/>
            <a:ext cx="990600" cy="68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95" name="Text Box 35">
            <a:extLst>
              <a:ext uri="{FF2B5EF4-FFF2-40B4-BE49-F238E27FC236}">
                <a16:creationId xmlns:a16="http://schemas.microsoft.com/office/drawing/2014/main" id="{7FB35836-A991-B846-88FE-837C01547DE7}"/>
              </a:ext>
            </a:extLst>
          </p:cNvPr>
          <p:cNvSpPr txBox="1">
            <a:spLocks noChangeArrowheads="1"/>
          </p:cNvSpPr>
          <p:nvPr/>
        </p:nvSpPr>
        <p:spPr bwMode="auto">
          <a:xfrm>
            <a:off x="1828801" y="1524000"/>
            <a:ext cx="4873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all</a:t>
            </a:r>
          </a:p>
        </p:txBody>
      </p:sp>
      <p:sp>
        <p:nvSpPr>
          <p:cNvPr id="66596" name="Text Box 36">
            <a:extLst>
              <a:ext uri="{FF2B5EF4-FFF2-40B4-BE49-F238E27FC236}">
                <a16:creationId xmlns:a16="http://schemas.microsoft.com/office/drawing/2014/main" id="{D22EA0EF-C9A4-6542-98DC-A3659AE174FE}"/>
              </a:ext>
            </a:extLst>
          </p:cNvPr>
          <p:cNvSpPr txBox="1">
            <a:spLocks noChangeArrowheads="1"/>
          </p:cNvSpPr>
          <p:nvPr/>
        </p:nvSpPr>
        <p:spPr bwMode="auto">
          <a:xfrm>
            <a:off x="1752601" y="2514600"/>
            <a:ext cx="9620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region</a:t>
            </a:r>
          </a:p>
        </p:txBody>
      </p:sp>
      <p:sp>
        <p:nvSpPr>
          <p:cNvPr id="66597" name="Text Box 37">
            <a:extLst>
              <a:ext uri="{FF2B5EF4-FFF2-40B4-BE49-F238E27FC236}">
                <a16:creationId xmlns:a16="http://schemas.microsoft.com/office/drawing/2014/main" id="{F96A5C37-9657-F44B-9FE1-06F00E163A4C}"/>
              </a:ext>
            </a:extLst>
          </p:cNvPr>
          <p:cNvSpPr txBox="1">
            <a:spLocks noChangeArrowheads="1"/>
          </p:cNvSpPr>
          <p:nvPr/>
        </p:nvSpPr>
        <p:spPr bwMode="auto">
          <a:xfrm>
            <a:off x="1828801" y="5638800"/>
            <a:ext cx="8937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office</a:t>
            </a:r>
          </a:p>
        </p:txBody>
      </p:sp>
      <p:sp>
        <p:nvSpPr>
          <p:cNvPr id="66598" name="Line 38">
            <a:extLst>
              <a:ext uri="{FF2B5EF4-FFF2-40B4-BE49-F238E27FC236}">
                <a16:creationId xmlns:a16="http://schemas.microsoft.com/office/drawing/2014/main" id="{3C3163FD-C3D5-1F43-A1E9-917DC0860396}"/>
              </a:ext>
            </a:extLst>
          </p:cNvPr>
          <p:cNvSpPr>
            <a:spLocks noChangeShapeType="1"/>
          </p:cNvSpPr>
          <p:nvPr/>
        </p:nvSpPr>
        <p:spPr bwMode="auto">
          <a:xfrm flipH="1">
            <a:off x="8839200" y="50292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599" name="Line 39">
            <a:extLst>
              <a:ext uri="{FF2B5EF4-FFF2-40B4-BE49-F238E27FC236}">
                <a16:creationId xmlns:a16="http://schemas.microsoft.com/office/drawing/2014/main" id="{4C2AD698-8FB1-6849-BB1E-46267561E484}"/>
              </a:ext>
            </a:extLst>
          </p:cNvPr>
          <p:cNvSpPr>
            <a:spLocks noChangeShapeType="1"/>
          </p:cNvSpPr>
          <p:nvPr/>
        </p:nvSpPr>
        <p:spPr bwMode="auto">
          <a:xfrm>
            <a:off x="9220200" y="5029200"/>
            <a:ext cx="3810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600" name="Line 40">
            <a:extLst>
              <a:ext uri="{FF2B5EF4-FFF2-40B4-BE49-F238E27FC236}">
                <a16:creationId xmlns:a16="http://schemas.microsoft.com/office/drawing/2014/main" id="{00414BF5-86CD-964A-B927-81F99A52B30D}"/>
              </a:ext>
            </a:extLst>
          </p:cNvPr>
          <p:cNvSpPr>
            <a:spLocks noChangeShapeType="1"/>
          </p:cNvSpPr>
          <p:nvPr/>
        </p:nvSpPr>
        <p:spPr bwMode="auto">
          <a:xfrm flipH="1">
            <a:off x="7162800" y="3886200"/>
            <a:ext cx="762000" cy="838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601" name="Line 41">
            <a:extLst>
              <a:ext uri="{FF2B5EF4-FFF2-40B4-BE49-F238E27FC236}">
                <a16:creationId xmlns:a16="http://schemas.microsoft.com/office/drawing/2014/main" id="{959BE1E9-D178-D24E-9439-6EC04E9204A9}"/>
              </a:ext>
            </a:extLst>
          </p:cNvPr>
          <p:cNvSpPr>
            <a:spLocks noChangeShapeType="1"/>
          </p:cNvSpPr>
          <p:nvPr/>
        </p:nvSpPr>
        <p:spPr bwMode="auto">
          <a:xfrm>
            <a:off x="7924800" y="3886200"/>
            <a:ext cx="1066800" cy="838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602" name="Text Box 42">
            <a:extLst>
              <a:ext uri="{FF2B5EF4-FFF2-40B4-BE49-F238E27FC236}">
                <a16:creationId xmlns:a16="http://schemas.microsoft.com/office/drawing/2014/main" id="{DA5C0637-7A7D-1E40-BD0B-43AA6405462E}"/>
              </a:ext>
            </a:extLst>
          </p:cNvPr>
          <p:cNvSpPr txBox="1">
            <a:spLocks noChangeArrowheads="1"/>
          </p:cNvSpPr>
          <p:nvPr/>
        </p:nvSpPr>
        <p:spPr bwMode="auto">
          <a:xfrm>
            <a:off x="1752601" y="3581400"/>
            <a:ext cx="11144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country</a:t>
            </a:r>
          </a:p>
        </p:txBody>
      </p:sp>
      <p:sp>
        <p:nvSpPr>
          <p:cNvPr id="66603" name="Line 43">
            <a:extLst>
              <a:ext uri="{FF2B5EF4-FFF2-40B4-BE49-F238E27FC236}">
                <a16:creationId xmlns:a16="http://schemas.microsoft.com/office/drawing/2014/main" id="{32E393D7-D6EC-8D42-90B4-DED2D6466CF4}"/>
              </a:ext>
            </a:extLst>
          </p:cNvPr>
          <p:cNvSpPr>
            <a:spLocks noChangeShapeType="1"/>
          </p:cNvSpPr>
          <p:nvPr/>
        </p:nvSpPr>
        <p:spPr bwMode="auto">
          <a:xfrm>
            <a:off x="2133600" y="1905000"/>
            <a:ext cx="0" cy="762000"/>
          </a:xfrm>
          <a:prstGeom prst="line">
            <a:avLst/>
          </a:prstGeom>
          <a:noFill/>
          <a:ln w="952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604" name="Line 44">
            <a:extLst>
              <a:ext uri="{FF2B5EF4-FFF2-40B4-BE49-F238E27FC236}">
                <a16:creationId xmlns:a16="http://schemas.microsoft.com/office/drawing/2014/main" id="{283B2CD1-D90F-9B44-BC36-F8E35B12EECF}"/>
              </a:ext>
            </a:extLst>
          </p:cNvPr>
          <p:cNvSpPr>
            <a:spLocks noChangeShapeType="1"/>
          </p:cNvSpPr>
          <p:nvPr/>
        </p:nvSpPr>
        <p:spPr bwMode="auto">
          <a:xfrm>
            <a:off x="2133600" y="2971800"/>
            <a:ext cx="0" cy="762000"/>
          </a:xfrm>
          <a:prstGeom prst="line">
            <a:avLst/>
          </a:prstGeom>
          <a:noFill/>
          <a:ln w="952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605" name="Line 45">
            <a:extLst>
              <a:ext uri="{FF2B5EF4-FFF2-40B4-BE49-F238E27FC236}">
                <a16:creationId xmlns:a16="http://schemas.microsoft.com/office/drawing/2014/main" id="{2E0FA55E-4B78-EC42-B20D-0FDEE6340BD6}"/>
              </a:ext>
            </a:extLst>
          </p:cNvPr>
          <p:cNvSpPr>
            <a:spLocks noChangeShapeType="1"/>
          </p:cNvSpPr>
          <p:nvPr/>
        </p:nvSpPr>
        <p:spPr bwMode="auto">
          <a:xfrm>
            <a:off x="2133600" y="3962400"/>
            <a:ext cx="0" cy="762000"/>
          </a:xfrm>
          <a:prstGeom prst="line">
            <a:avLst/>
          </a:prstGeom>
          <a:noFill/>
          <a:ln w="952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606" name="Line 46">
            <a:extLst>
              <a:ext uri="{FF2B5EF4-FFF2-40B4-BE49-F238E27FC236}">
                <a16:creationId xmlns:a16="http://schemas.microsoft.com/office/drawing/2014/main" id="{02844544-F124-2140-A6D2-1A053E1F8CFE}"/>
              </a:ext>
            </a:extLst>
          </p:cNvPr>
          <p:cNvSpPr>
            <a:spLocks noChangeShapeType="1"/>
          </p:cNvSpPr>
          <p:nvPr/>
        </p:nvSpPr>
        <p:spPr bwMode="auto">
          <a:xfrm>
            <a:off x="2133600" y="5029200"/>
            <a:ext cx="0" cy="685800"/>
          </a:xfrm>
          <a:prstGeom prst="line">
            <a:avLst/>
          </a:prstGeom>
          <a:noFill/>
          <a:ln w="952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L"/>
          </a:p>
        </p:txBody>
      </p:sp>
      <p:sp>
        <p:nvSpPr>
          <p:cNvPr id="66607" name="Text Box 47">
            <a:extLst>
              <a:ext uri="{FF2B5EF4-FFF2-40B4-BE49-F238E27FC236}">
                <a16:creationId xmlns:a16="http://schemas.microsoft.com/office/drawing/2014/main" id="{6A836C9D-FF45-5B46-8AA0-777CAB88F652}"/>
              </a:ext>
            </a:extLst>
          </p:cNvPr>
          <p:cNvSpPr txBox="1">
            <a:spLocks noChangeArrowheads="1"/>
          </p:cNvSpPr>
          <p:nvPr/>
        </p:nvSpPr>
        <p:spPr bwMode="auto">
          <a:xfrm>
            <a:off x="8610601" y="4648200"/>
            <a:ext cx="11652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Toronto</a:t>
            </a:r>
          </a:p>
        </p:txBody>
      </p:sp>
      <p:sp>
        <p:nvSpPr>
          <p:cNvPr id="66608" name="Text Box 48">
            <a:extLst>
              <a:ext uri="{FF2B5EF4-FFF2-40B4-BE49-F238E27FC236}">
                <a16:creationId xmlns:a16="http://schemas.microsoft.com/office/drawing/2014/main" id="{F6223A77-D7F6-F646-96E0-717A10F1DAEA}"/>
              </a:ext>
            </a:extLst>
          </p:cNvPr>
          <p:cNvSpPr txBox="1">
            <a:spLocks noChangeArrowheads="1"/>
          </p:cNvSpPr>
          <p:nvPr/>
        </p:nvSpPr>
        <p:spPr bwMode="auto">
          <a:xfrm>
            <a:off x="3352800" y="4648200"/>
            <a:ext cx="1335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Frankfurt</a:t>
            </a:r>
          </a:p>
        </p:txBody>
      </p:sp>
      <p:sp>
        <p:nvSpPr>
          <p:cNvPr id="66609" name="Text Box 49">
            <a:extLst>
              <a:ext uri="{FF2B5EF4-FFF2-40B4-BE49-F238E27FC236}">
                <a16:creationId xmlns:a16="http://schemas.microsoft.com/office/drawing/2014/main" id="{4C7BF623-4AE8-8541-AB97-8FB30734F530}"/>
              </a:ext>
            </a:extLst>
          </p:cNvPr>
          <p:cNvSpPr txBox="1">
            <a:spLocks noChangeArrowheads="1"/>
          </p:cNvSpPr>
          <p:nvPr/>
        </p:nvSpPr>
        <p:spPr bwMode="auto">
          <a:xfrm>
            <a:off x="1828801" y="4648200"/>
            <a:ext cx="6397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IL" sz="2400">
                <a:latin typeface="Times New Roman" panose="02020603050405020304" pitchFamily="18" charset="0"/>
              </a:rPr>
              <a:t>city</a:t>
            </a:r>
          </a:p>
        </p:txBody>
      </p:sp>
      <p:sp>
        <p:nvSpPr>
          <p:cNvPr id="2" name="Footer Placeholder 1">
            <a:extLst>
              <a:ext uri="{FF2B5EF4-FFF2-40B4-BE49-F238E27FC236}">
                <a16:creationId xmlns:a16="http://schemas.microsoft.com/office/drawing/2014/main" id="{938DDA49-175F-6C42-9C96-83DFEDB5C647}"/>
              </a:ext>
            </a:extLst>
          </p:cNvPr>
          <p:cNvSpPr>
            <a:spLocks noGrp="1"/>
          </p:cNvSpPr>
          <p:nvPr>
            <p:ph type="ftr" sz="quarter" idx="11"/>
          </p:nvPr>
        </p:nvSpPr>
        <p:spPr/>
        <p:txBody>
          <a:bodyPr/>
          <a:lstStyle/>
          <a:p>
            <a:r>
              <a:rPr lang="en-US"/>
              <a:t>Or Peretz</a:t>
            </a:r>
            <a:endParaRPr lang="en-IL"/>
          </a:p>
        </p:txBody>
      </p:sp>
      <p:sp>
        <p:nvSpPr>
          <p:cNvPr id="3" name="Slide Number Placeholder 2">
            <a:extLst>
              <a:ext uri="{FF2B5EF4-FFF2-40B4-BE49-F238E27FC236}">
                <a16:creationId xmlns:a16="http://schemas.microsoft.com/office/drawing/2014/main" id="{A564349A-7D89-5542-9E89-609640A90541}"/>
              </a:ext>
            </a:extLst>
          </p:cNvPr>
          <p:cNvSpPr>
            <a:spLocks noGrp="1"/>
          </p:cNvSpPr>
          <p:nvPr>
            <p:ph type="sldNum" sz="quarter" idx="12"/>
          </p:nvPr>
        </p:nvSpPr>
        <p:spPr/>
        <p:txBody>
          <a:bodyPr/>
          <a:lstStyle/>
          <a:p>
            <a:fld id="{B62643F8-DFCD-4B5F-9519-933435FA18FB}" type="slidenum">
              <a:rPr lang="en-IL" smtClean="0"/>
              <a:t>7</a:t>
            </a:fld>
            <a:endParaRPr lang="en-IL"/>
          </a:p>
        </p:txBody>
      </p:sp>
    </p:spTree>
    <p:extLst>
      <p:ext uri="{BB962C8B-B14F-4D97-AF65-F5344CB8AC3E}">
        <p14:creationId xmlns:p14="http://schemas.microsoft.com/office/powerpoint/2010/main" val="15912312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Declaring Fact Grain (Non-Negotiable)</a:t>
            </a:r>
          </a:p>
        </p:txBody>
      </p:sp>
      <p:sp>
        <p:nvSpPr>
          <p:cNvPr id="3" name="Content Placeholder 2"/>
          <p:cNvSpPr>
            <a:spLocks noGrp="1"/>
          </p:cNvSpPr>
          <p:nvPr>
            <p:ph idx="1" hasCustomPrompt="1"/>
          </p:nvPr>
        </p:nvSpPr>
        <p:spPr/>
        <p:txBody>
          <a:bodyPr/>
          <a:lstStyle/>
          <a:p>
            <a:pPr lvl="0"/>
            <a:r>
              <a:t>Example grain: one row per sold order line</a:t>
            </a:r>
          </a:p>
          <a:p>
            <a:pPr lvl="0"/>
            <a:r>
              <a:t>Grain determines valid aggregations and uniqueness</a:t>
            </a:r>
          </a:p>
          <a:p>
            <a:pPr lvl="0"/>
            <a:r>
              <a:t>If grain is ambiguous, double counting is likely</a:t>
            </a:r>
          </a:p>
          <a:p>
            <a:pPr lvl="0"/>
            <a:r>
              <a:t>Document grain and keys before writing ETL</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Measure Types and Aggregation Rules</a:t>
            </a:r>
          </a:p>
        </p:txBody>
      </p:sp>
      <p:sp>
        <p:nvSpPr>
          <p:cNvPr id="3" name="Content Placeholder 2"/>
          <p:cNvSpPr>
            <a:spLocks noGrp="1"/>
          </p:cNvSpPr>
          <p:nvPr>
            <p:ph idx="1" hasCustomPrompt="1"/>
          </p:nvPr>
        </p:nvSpPr>
        <p:spPr/>
        <p:txBody>
          <a:bodyPr/>
          <a:lstStyle/>
          <a:p>
            <a:pPr lvl="0"/>
            <a:r>
              <a:t>Additive: </a:t>
            </a:r>
            <a:r>
              <a:rPr>
                <a:latin typeface="Courier"/>
              </a:rPr>
              <a:t>revenue</a:t>
            </a:r>
            <a:r>
              <a:t>, </a:t>
            </a:r>
            <a:r>
              <a:rPr>
                <a:latin typeface="Courier"/>
              </a:rPr>
              <a:t>qty</a:t>
            </a:r>
            <a:r>
              <a:t> (sum across all dimensions)</a:t>
            </a:r>
          </a:p>
          <a:p>
            <a:pPr lvl="0"/>
            <a:r>
              <a:t>Semi-additive: </a:t>
            </a:r>
            <a:r>
              <a:rPr>
                <a:latin typeface="Courier"/>
              </a:rPr>
              <a:t>inventory_balance</a:t>
            </a:r>
            <a:r>
              <a:t> (sum across product, not across time)</a:t>
            </a:r>
          </a:p>
          <a:p>
            <a:pPr lvl="0"/>
            <a:r>
              <a:t>Non-additive: ratios like </a:t>
            </a:r>
            <a:r>
              <a:rPr>
                <a:latin typeface="Courier"/>
              </a:rPr>
              <a:t>conversion_rate</a:t>
            </a:r>
          </a:p>
          <a:p>
            <a:pPr lvl="0"/>
            <a:r>
              <a:t>Define aggregation semantics in semantic layer</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Surrogate Keys and Natural Keys</a:t>
            </a:r>
          </a:p>
        </p:txBody>
      </p:sp>
      <p:sp>
        <p:nvSpPr>
          <p:cNvPr id="3" name="Content Placeholder 2"/>
          <p:cNvSpPr>
            <a:spLocks noGrp="1"/>
          </p:cNvSpPr>
          <p:nvPr>
            <p:ph idx="1" hasCustomPrompt="1"/>
          </p:nvPr>
        </p:nvSpPr>
        <p:spPr/>
        <p:txBody>
          <a:bodyPr/>
          <a:lstStyle/>
          <a:p>
            <a:pPr lvl="0"/>
            <a:r>
              <a:t>Natural key: source identifier (</a:t>
            </a:r>
            <a:r>
              <a:rPr>
                <a:latin typeface="Courier"/>
              </a:rPr>
              <a:t>customer_id</a:t>
            </a:r>
            <a:r>
              <a:t>)</a:t>
            </a:r>
          </a:p>
          <a:p>
            <a:pPr lvl="0"/>
            <a:r>
              <a:t>Surrogate key: warehouse-managed key (</a:t>
            </a:r>
            <a:r>
              <a:rPr>
                <a:latin typeface="Courier"/>
              </a:rPr>
              <a:t>customer_key</a:t>
            </a:r>
            <a:r>
              <a:t>)</a:t>
            </a:r>
          </a:p>
          <a:p>
            <a:pPr lvl="0"/>
            <a:r>
              <a:t>Surrogates isolate BI model from source key changes</a:t>
            </a:r>
          </a:p>
          <a:p>
            <a:pPr lvl="0"/>
            <a:r>
              <a:t>Facts should join dimensions by surrogate key</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Slowly Changing Dimensions (SCD)</a:t>
            </a:r>
          </a:p>
        </p:txBody>
      </p:sp>
      <p:sp>
        <p:nvSpPr>
          <p:cNvPr id="3" name="Content Placeholder 2"/>
          <p:cNvSpPr>
            <a:spLocks noGrp="1"/>
          </p:cNvSpPr>
          <p:nvPr>
            <p:ph idx="1" hasCustomPrompt="1"/>
          </p:nvPr>
        </p:nvSpPr>
        <p:spPr/>
        <p:txBody>
          <a:bodyPr/>
          <a:lstStyle/>
          <a:p>
            <a:pPr lvl="0"/>
            <a:r>
              <a:t>Type 1: overwrite old value (no history)</a:t>
            </a:r>
          </a:p>
          <a:p>
            <a:pPr lvl="0"/>
            <a:r>
              <a:t>Type 2: keep history with validity window</a:t>
            </a:r>
          </a:p>
          <a:p>
            <a:pPr lvl="0"/>
            <a:r>
              <a:t>Type 3: limited history in extra columns</a:t>
            </a:r>
          </a:p>
          <a:p>
            <a:pPr lvl="0"/>
            <a:r>
              <a:t>Choose by business need for historical truth</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F24627C-5938-5D06-969C-341161F72C9C}"/>
              </a:ext>
            </a:extLst>
          </p:cNvPr>
          <p:cNvSpPr>
            <a:spLocks noGrp="1"/>
          </p:cNvSpPr>
          <p:nvPr>
            <p:ph type="title"/>
          </p:nvPr>
        </p:nvSpPr>
        <p:spPr>
          <a:xfrm>
            <a:off x="609600" y="274638"/>
            <a:ext cx="10972800" cy="1143000"/>
          </a:xfrm>
        </p:spPr>
        <p:txBody>
          <a:bodyPr/>
          <a:lstStyle/>
          <a:p>
            <a:pPr marL="0" lvl="0" indent="0">
              <a:buNone/>
            </a:pPr>
            <a:r>
              <a:t>SCD Example: Customer Region Change</a:t>
            </a:r>
          </a:p>
        </p:txBody>
      </p:sp>
      <p:sp>
        <p:nvSpPr>
          <p:cNvPr id="3" name="Text Placeholder 3">
            <a:extLst>
              <a:ext uri="{FF2B5EF4-FFF2-40B4-BE49-F238E27FC236}">
                <a16:creationId xmlns:a16="http://schemas.microsoft.com/office/drawing/2014/main" id="{838FFFFD-68E9-C4E4-7764-523BAE32B83B}"/>
              </a:ext>
            </a:extLst>
          </p:cNvPr>
          <p:cNvSpPr>
            <a:spLocks noGrp="1"/>
          </p:cNvSpPr>
          <p:nvPr>
            <p:ph type="body" sz="half" idx="2" hasCustomPrompt="1"/>
          </p:nvPr>
        </p:nvSpPr>
        <p:spPr/>
        <p:txBody>
          <a:bodyPr>
            <a:normAutofit lnSpcReduction="10000"/>
          </a:bodyPr>
          <a:lstStyle/>
          <a:p>
            <a:pPr lvl="0"/>
            <a:r>
              <a:t>Customer moves from </a:t>
            </a:r>
            <a:r>
              <a:rPr>
                <a:latin typeface="Courier"/>
              </a:rPr>
              <a:t>North</a:t>
            </a:r>
            <a:r>
              <a:t> to </a:t>
            </a:r>
            <a:r>
              <a:rPr>
                <a:latin typeface="Courier"/>
              </a:rPr>
              <a:t>Center</a:t>
            </a:r>
          </a:p>
          <a:p>
            <a:pPr lvl="0"/>
            <a:r>
              <a:t>Type 1: all past sales appear as </a:t>
            </a:r>
            <a:r>
              <a:rPr>
                <a:latin typeface="Courier"/>
              </a:rPr>
              <a:t>Center</a:t>
            </a:r>
          </a:p>
          <a:p>
            <a:pPr lvl="0"/>
            <a:r>
              <a:t>Type 2: past sales remain </a:t>
            </a:r>
            <a:r>
              <a:rPr>
                <a:latin typeface="Courier"/>
              </a:rPr>
              <a:t>North</a:t>
            </a:r>
            <a:r>
              <a:t>, new sales </a:t>
            </a:r>
            <a:r>
              <a:rPr>
                <a:latin typeface="Courier"/>
              </a:rPr>
              <a:t>Center</a:t>
            </a:r>
          </a:p>
          <a:p>
            <a:pPr lvl="0"/>
            <a:r>
              <a:t>BI finance usually requires Type 2 for auditability</a:t>
            </a:r>
          </a:p>
        </p:txBody>
      </p:sp>
      <p:pic>
        <p:nvPicPr>
          <p:cNvPr id="2" name="Picture 1" descr="../../diagrams/week05/week5_scd_type2_sequence.png"/>
          <p:cNvPicPr>
            <a:picLocks noGrp="1" noChangeAspect="1"/>
          </p:cNvPicPr>
          <p:nvPr/>
        </p:nvPicPr>
        <p:blipFill>
          <a:blip r:embed="rId2"/>
          <a:stretch>
            <a:fillRect/>
          </a:stretch>
        </p:blipFill>
        <p:spPr bwMode="auto">
          <a:xfrm>
            <a:off x="5575300" y="1409700"/>
            <a:ext cx="4381500" cy="3848100"/>
          </a:xfrm>
          <a:prstGeom prst="rect">
            <a:avLst/>
          </a:prstGeom>
          <a:noFill/>
          <a:ln w="9525">
            <a:noFill/>
            <a:headEnd/>
            <a:tailEnd/>
          </a:ln>
        </p:spPr>
      </p:pic>
      <p:sp>
        <p:nvSpPr>
          <p:cNvPr id="4" name="TextBox 3"/>
          <p:cNvSpPr txBox="1">
            <a:spLocks noGrp="1"/>
          </p:cNvSpPr>
          <p:nvPr>
            <p:ph idx="1"/>
          </p:nvPr>
        </p:nvSpPr>
        <p:spPr>
          <a:xfrm>
            <a:off x="3949700" y="5257800"/>
            <a:ext cx="7620000" cy="508000"/>
          </a:xfrm>
          <a:prstGeom prst="rect">
            <a:avLst/>
          </a:prstGeom>
          <a:noFill/>
        </p:spPr>
        <p:txBody>
          <a:bodyPr>
            <a:normAutofit fontScale="92500" lnSpcReduction="20000"/>
          </a:bodyPr>
          <a:lstStyle/>
          <a:p>
            <a:pPr marL="0" lvl="0" indent="0" algn="ctr">
              <a:buNone/>
            </a:pPr>
            <a:r>
              <a:t>SCD Type 2 sequence</a:t>
            </a:r>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F24627C-5938-5D06-969C-341161F72C9C}"/>
              </a:ext>
            </a:extLst>
          </p:cNvPr>
          <p:cNvSpPr>
            <a:spLocks noGrp="1"/>
          </p:cNvSpPr>
          <p:nvPr>
            <p:ph type="title"/>
          </p:nvPr>
        </p:nvSpPr>
        <p:spPr>
          <a:xfrm>
            <a:off x="609600" y="274638"/>
            <a:ext cx="10972800" cy="1143000"/>
          </a:xfrm>
        </p:spPr>
        <p:txBody>
          <a:bodyPr/>
          <a:lstStyle/>
          <a:p>
            <a:pPr marL="0" lvl="0" indent="0">
              <a:buNone/>
            </a:pPr>
            <a:r>
              <a:t>Star Schema (Default)</a:t>
            </a:r>
          </a:p>
        </p:txBody>
      </p:sp>
      <p:pic>
        <p:nvPicPr>
          <p:cNvPr id="2" name="Picture 1" descr="../../diagrams/week05/week5_star_schema.png"/>
          <p:cNvPicPr>
            <a:picLocks noGrp="1" noChangeAspect="1"/>
          </p:cNvPicPr>
          <p:nvPr/>
        </p:nvPicPr>
        <p:blipFill>
          <a:blip r:embed="rId2"/>
          <a:stretch>
            <a:fillRect/>
          </a:stretch>
        </p:blipFill>
        <p:spPr bwMode="auto">
          <a:xfrm>
            <a:off x="2286000" y="2141747"/>
            <a:ext cx="7620000" cy="3276600"/>
          </a:xfrm>
          <a:prstGeom prst="rect">
            <a:avLst/>
          </a:prstGeom>
          <a:noFill/>
          <a:ln w="9525">
            <a:noFill/>
            <a:headEnd/>
            <a:tailEnd/>
          </a:ln>
        </p:spPr>
      </p:pic>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2" name="Rectangle 2">
            <a:extLst>
              <a:ext uri="{FF2B5EF4-FFF2-40B4-BE49-F238E27FC236}">
                <a16:creationId xmlns:a16="http://schemas.microsoft.com/office/drawing/2014/main" id="{247F2195-345C-304A-8C3F-63A95D23B2B0}"/>
              </a:ext>
            </a:extLst>
          </p:cNvPr>
          <p:cNvSpPr>
            <a:spLocks noChangeArrowheads="1"/>
          </p:cNvSpPr>
          <p:nvPr/>
        </p:nvSpPr>
        <p:spPr bwMode="auto">
          <a:xfrm>
            <a:off x="2209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12293" name="Rectangle 3">
            <a:extLst>
              <a:ext uri="{FF2B5EF4-FFF2-40B4-BE49-F238E27FC236}">
                <a16:creationId xmlns:a16="http://schemas.microsoft.com/office/drawing/2014/main" id="{A0FC9566-4825-6C4F-90A7-6D1920106940}"/>
              </a:ext>
            </a:extLst>
          </p:cNvPr>
          <p:cNvSpPr>
            <a:spLocks noChangeArrowheads="1"/>
          </p:cNvSpPr>
          <p:nvPr/>
        </p:nvSpPr>
        <p:spPr bwMode="auto">
          <a:xfrm>
            <a:off x="4648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IL" altLang="en-IL"/>
          </a:p>
        </p:txBody>
      </p:sp>
      <p:sp>
        <p:nvSpPr>
          <p:cNvPr id="12294" name="Rectangle 4">
            <a:extLst>
              <a:ext uri="{FF2B5EF4-FFF2-40B4-BE49-F238E27FC236}">
                <a16:creationId xmlns:a16="http://schemas.microsoft.com/office/drawing/2014/main" id="{F9D8CE74-95B2-F848-B860-86A4812E8AAF}"/>
              </a:ext>
            </a:extLst>
          </p:cNvPr>
          <p:cNvSpPr>
            <a:spLocks noGrp="1" noChangeArrowheads="1"/>
          </p:cNvSpPr>
          <p:nvPr>
            <p:ph type="title"/>
          </p:nvPr>
        </p:nvSpPr>
        <p:spPr>
          <a:xfrm>
            <a:off x="1016000" y="50800"/>
            <a:ext cx="10160000" cy="914400"/>
          </a:xfrm>
          <a:noFill/>
        </p:spPr>
        <p:txBody>
          <a:bodyPr vert="horz" lIns="0" tIns="0" rIns="0" bIns="0" rtlCol="0" anchor="b">
            <a:normAutofit/>
          </a:bodyPr>
          <a:lstStyle/>
          <a:p>
            <a:pPr algn="ctr"/>
            <a:r>
              <a:rPr lang="en-GB" altLang="en-IL" sz="3200" b="1" dirty="0">
                <a:latin typeface="+mn-lt"/>
              </a:rPr>
              <a:t>The “Classic” Star Schema</a:t>
            </a:r>
          </a:p>
        </p:txBody>
      </p:sp>
      <p:sp>
        <p:nvSpPr>
          <p:cNvPr id="12295" name="Rectangle 5">
            <a:extLst>
              <a:ext uri="{FF2B5EF4-FFF2-40B4-BE49-F238E27FC236}">
                <a16:creationId xmlns:a16="http://schemas.microsoft.com/office/drawing/2014/main" id="{5091B59B-BE13-964B-BBF6-6AE34839713A}"/>
              </a:ext>
            </a:extLst>
          </p:cNvPr>
          <p:cNvSpPr>
            <a:spLocks noGrp="1" noChangeArrowheads="1"/>
          </p:cNvSpPr>
          <p:nvPr>
            <p:ph type="body" sz="half" idx="2"/>
          </p:nvPr>
        </p:nvSpPr>
        <p:spPr>
          <a:xfrm>
            <a:off x="355599" y="1193800"/>
            <a:ext cx="11108267" cy="5054600"/>
          </a:xfrm>
          <a:noFill/>
        </p:spPr>
        <p:txBody>
          <a:bodyPr vert="horz" lIns="92075" tIns="46037" rIns="92075" bIns="46037" rtlCol="0">
            <a:normAutofit/>
          </a:bodyPr>
          <a:lstStyle/>
          <a:p>
            <a:pPr marL="0" indent="0">
              <a:buClr>
                <a:schemeClr val="hlink"/>
              </a:buClr>
              <a:buSzPct val="75000"/>
              <a:buNone/>
            </a:pPr>
            <a:r>
              <a:rPr lang="en-GB" altLang="en-IL" dirty="0"/>
              <a:t>A relational model with a </a:t>
            </a:r>
            <a:r>
              <a:rPr lang="en-GB" altLang="en-IL" b="1" dirty="0"/>
              <a:t>one-to-many</a:t>
            </a:r>
            <a:r>
              <a:rPr lang="en-GB" altLang="en-IL" dirty="0"/>
              <a:t> relationship between </a:t>
            </a:r>
            <a:r>
              <a:rPr lang="en-GB" altLang="en-IL" b="1" dirty="0"/>
              <a:t>dimension table </a:t>
            </a:r>
            <a:r>
              <a:rPr lang="en-GB" altLang="en-IL" dirty="0"/>
              <a:t>and </a:t>
            </a:r>
            <a:r>
              <a:rPr lang="en-GB" altLang="en-IL" b="1" dirty="0"/>
              <a:t>fact table</a:t>
            </a:r>
            <a:r>
              <a:rPr lang="en-GB" altLang="en-IL" dirty="0"/>
              <a:t>.</a:t>
            </a:r>
          </a:p>
          <a:p>
            <a:pPr>
              <a:buClr>
                <a:schemeClr val="hlink"/>
              </a:buClr>
              <a:buSzPct val="75000"/>
            </a:pPr>
            <a:r>
              <a:rPr lang="en-GB" altLang="en-IL" dirty="0"/>
              <a:t>A single </a:t>
            </a:r>
            <a:r>
              <a:rPr lang="en-GB" altLang="en-IL" b="1" dirty="0"/>
              <a:t>fact table</a:t>
            </a:r>
            <a:r>
              <a:rPr lang="en-GB" altLang="en-IL" dirty="0"/>
              <a:t>, with detail and summary data</a:t>
            </a:r>
          </a:p>
          <a:p>
            <a:pPr>
              <a:buClr>
                <a:schemeClr val="hlink"/>
              </a:buClr>
              <a:buSzPct val="75000"/>
            </a:pPr>
            <a:r>
              <a:rPr lang="en-GB" altLang="en-IL" b="1" dirty="0">
                <a:solidFill>
                  <a:srgbClr val="FF0000"/>
                </a:solidFill>
              </a:rPr>
              <a:t>Fact table primary key has only one key column per dimension</a:t>
            </a:r>
          </a:p>
          <a:p>
            <a:pPr>
              <a:buClr>
                <a:schemeClr val="hlink"/>
              </a:buClr>
              <a:buSzPct val="75000"/>
            </a:pPr>
            <a:r>
              <a:rPr lang="en-GB" altLang="en-IL" dirty="0"/>
              <a:t>Each dimension is a single table, highly denormalized</a:t>
            </a:r>
          </a:p>
        </p:txBody>
      </p:sp>
      <p:sp>
        <p:nvSpPr>
          <p:cNvPr id="2" name="Footer Placeholder 1">
            <a:extLst>
              <a:ext uri="{FF2B5EF4-FFF2-40B4-BE49-F238E27FC236}">
                <a16:creationId xmlns:a16="http://schemas.microsoft.com/office/drawing/2014/main" id="{38BA2684-3C4D-3E4C-8392-716A83D63D2A}"/>
              </a:ext>
            </a:extLst>
          </p:cNvPr>
          <p:cNvSpPr>
            <a:spLocks noGrp="1"/>
          </p:cNvSpPr>
          <p:nvPr>
            <p:ph type="ftr" sz="quarter" idx="10"/>
          </p:nvPr>
        </p:nvSpPr>
        <p:spPr/>
        <p:txBody>
          <a:bodyPr/>
          <a:lstStyle/>
          <a:p>
            <a:r>
              <a:rPr lang="en-US" altLang="en-US"/>
              <a:t>Or Peretz</a:t>
            </a:r>
          </a:p>
        </p:txBody>
      </p:sp>
      <p:sp>
        <p:nvSpPr>
          <p:cNvPr id="3" name="Slide Number Placeholder 2">
            <a:extLst>
              <a:ext uri="{FF2B5EF4-FFF2-40B4-BE49-F238E27FC236}">
                <a16:creationId xmlns:a16="http://schemas.microsoft.com/office/drawing/2014/main" id="{D8FB5893-6449-AC4A-A835-E6DE429CF24C}"/>
              </a:ext>
            </a:extLst>
          </p:cNvPr>
          <p:cNvSpPr>
            <a:spLocks noGrp="1"/>
          </p:cNvSpPr>
          <p:nvPr>
            <p:ph type="sldNum" sz="quarter" idx="11"/>
          </p:nvPr>
        </p:nvSpPr>
        <p:spPr/>
        <p:txBody>
          <a:bodyPr/>
          <a:lstStyle/>
          <a:p>
            <a:endParaRPr lang="en-US" altLang="en-US"/>
          </a:p>
        </p:txBody>
      </p:sp>
      <p:pic>
        <p:nvPicPr>
          <p:cNvPr id="1026" name="Picture 2" descr="Star Schema | Logi Analytics BI Encyclopedia">
            <a:extLst>
              <a:ext uri="{FF2B5EF4-FFF2-40B4-BE49-F238E27FC236}">
                <a16:creationId xmlns:a16="http://schemas.microsoft.com/office/drawing/2014/main" id="{4C8DFDC8-153E-3C41-A879-9AC35D304D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91917" y="2889250"/>
            <a:ext cx="3674993" cy="3130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8160337"/>
      </p:ext>
    </p:extLst>
  </p:cSld>
  <p:clrMapOvr>
    <a:masterClrMapping/>
  </p:clrMapOvr>
  <p:transition>
    <p:wipe dir="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Snowflake Schema</a:t>
            </a:r>
          </a:p>
        </p:txBody>
      </p:sp>
      <p:sp>
        <p:nvSpPr>
          <p:cNvPr id="3" name="Content Placeholder 2"/>
          <p:cNvSpPr>
            <a:spLocks noGrp="1"/>
          </p:cNvSpPr>
          <p:nvPr>
            <p:ph idx="1" hasCustomPrompt="1"/>
          </p:nvPr>
        </p:nvSpPr>
        <p:spPr/>
        <p:txBody>
          <a:bodyPr/>
          <a:lstStyle/>
          <a:p>
            <a:pPr lvl="0"/>
            <a:r>
              <a:t>Dimensions normalized into sub-dimensions</a:t>
            </a:r>
          </a:p>
          <a:p>
            <a:pPr lvl="0"/>
            <a:r>
              <a:t>“Snowflaking” = normalizing dimension tables in a star schema</a:t>
            </a:r>
          </a:p>
          <a:p>
            <a:pPr lvl="0"/>
            <a:r>
              <a:t>Reduces redundancy in large hierarchical dimensions</a:t>
            </a:r>
          </a:p>
          <a:p>
            <a:pPr lvl="0"/>
            <a:r>
              <a:t>More joins and potentially higher latency</a:t>
            </a:r>
          </a:p>
          <a:p>
            <a:pPr lvl="0"/>
            <a:r>
              <a:t>Useful when large hierarchical dimensions dominate maintenance and storage cost</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a:extLst>
              <a:ext uri="{FF2B5EF4-FFF2-40B4-BE49-F238E27FC236}">
                <a16:creationId xmlns:a16="http://schemas.microsoft.com/office/drawing/2014/main" id="{7DC5E96D-7295-7A46-8A13-A4970C04CEC8}"/>
              </a:ext>
            </a:extLst>
          </p:cNvPr>
          <p:cNvSpPr>
            <a:spLocks noGrp="1" noChangeArrowheads="1"/>
          </p:cNvSpPr>
          <p:nvPr>
            <p:ph type="title"/>
          </p:nvPr>
        </p:nvSpPr>
        <p:spPr/>
        <p:txBody>
          <a:bodyPr>
            <a:normAutofit/>
          </a:bodyPr>
          <a:lstStyle/>
          <a:p>
            <a:pPr algn="ctr"/>
            <a:r>
              <a:rPr lang="en-US" altLang="en-IL" sz="3200" b="1" dirty="0">
                <a:latin typeface="+mn-lt"/>
              </a:rPr>
              <a:t>Snowflake Schema</a:t>
            </a:r>
          </a:p>
        </p:txBody>
      </p:sp>
      <p:sp>
        <p:nvSpPr>
          <p:cNvPr id="2" name="Footer Placeholder 1">
            <a:extLst>
              <a:ext uri="{FF2B5EF4-FFF2-40B4-BE49-F238E27FC236}">
                <a16:creationId xmlns:a16="http://schemas.microsoft.com/office/drawing/2014/main" id="{CC0593CF-1E3D-7046-A85B-0092D6E173CF}"/>
              </a:ext>
            </a:extLst>
          </p:cNvPr>
          <p:cNvSpPr>
            <a:spLocks noGrp="1"/>
          </p:cNvSpPr>
          <p:nvPr>
            <p:ph type="ftr" sz="quarter" idx="10"/>
          </p:nvPr>
        </p:nvSpPr>
        <p:spPr/>
        <p:txBody>
          <a:bodyPr/>
          <a:lstStyle/>
          <a:p>
            <a:r>
              <a:rPr lang="en-US" altLang="en-US"/>
              <a:t>Or Peretz</a:t>
            </a:r>
          </a:p>
        </p:txBody>
      </p:sp>
      <p:sp>
        <p:nvSpPr>
          <p:cNvPr id="3" name="Slide Number Placeholder 2">
            <a:extLst>
              <a:ext uri="{FF2B5EF4-FFF2-40B4-BE49-F238E27FC236}">
                <a16:creationId xmlns:a16="http://schemas.microsoft.com/office/drawing/2014/main" id="{6C500C8D-D815-7145-87F5-706899578181}"/>
              </a:ext>
            </a:extLst>
          </p:cNvPr>
          <p:cNvSpPr>
            <a:spLocks noGrp="1"/>
          </p:cNvSpPr>
          <p:nvPr>
            <p:ph type="sldNum" sz="quarter" idx="11"/>
          </p:nvPr>
        </p:nvSpPr>
        <p:spPr/>
        <p:txBody>
          <a:bodyPr/>
          <a:lstStyle/>
          <a:p>
            <a:endParaRPr lang="en-US" altLang="en-US"/>
          </a:p>
        </p:txBody>
      </p:sp>
      <p:pic>
        <p:nvPicPr>
          <p:cNvPr id="2050" name="Picture 2" descr="What is Snowflake Schema">
            <a:extLst>
              <a:ext uri="{FF2B5EF4-FFF2-40B4-BE49-F238E27FC236}">
                <a16:creationId xmlns:a16="http://schemas.microsoft.com/office/drawing/2014/main" id="{791FB21B-2232-374E-80AB-1431BAB8FD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1061"/>
          <a:stretch/>
        </p:blipFill>
        <p:spPr bwMode="auto">
          <a:xfrm>
            <a:off x="2857500" y="1826684"/>
            <a:ext cx="6324600" cy="36935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03011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a:extLst>
              <a:ext uri="{FF2B5EF4-FFF2-40B4-BE49-F238E27FC236}">
                <a16:creationId xmlns:a16="http://schemas.microsoft.com/office/drawing/2014/main" id="{B19BE60E-079D-D741-8E9D-11FBAF9AB21E}"/>
              </a:ext>
            </a:extLst>
          </p:cNvPr>
          <p:cNvSpPr>
            <a:spLocks noGrp="1" noChangeArrowheads="1"/>
          </p:cNvSpPr>
          <p:nvPr>
            <p:ph type="title"/>
          </p:nvPr>
        </p:nvSpPr>
        <p:spPr>
          <a:xfrm>
            <a:off x="2093913" y="455613"/>
            <a:ext cx="7631112" cy="831850"/>
          </a:xfrm>
        </p:spPr>
        <p:txBody>
          <a:bodyPr/>
          <a:lstStyle/>
          <a:p>
            <a:pPr eaLnBrk="1" hangingPunct="1"/>
            <a:r>
              <a:rPr lang="en-US" altLang="en-IL" dirty="0"/>
              <a:t>Example of </a:t>
            </a:r>
            <a:r>
              <a:rPr lang="en-US" altLang="en-IL" dirty="0">
                <a:solidFill>
                  <a:schemeClr val="accent1"/>
                </a:solidFill>
              </a:rPr>
              <a:t>Snowflake Schema</a:t>
            </a:r>
          </a:p>
        </p:txBody>
      </p:sp>
      <p:sp>
        <p:nvSpPr>
          <p:cNvPr id="2" name="Footer Placeholder 1">
            <a:extLst>
              <a:ext uri="{FF2B5EF4-FFF2-40B4-BE49-F238E27FC236}">
                <a16:creationId xmlns:a16="http://schemas.microsoft.com/office/drawing/2014/main" id="{1A36CD51-F93E-E947-8198-878119AD1DD3}"/>
              </a:ext>
            </a:extLst>
          </p:cNvPr>
          <p:cNvSpPr>
            <a:spLocks noGrp="1"/>
          </p:cNvSpPr>
          <p:nvPr>
            <p:ph type="ftr" sz="quarter" idx="10"/>
          </p:nvPr>
        </p:nvSpPr>
        <p:spPr/>
        <p:txBody>
          <a:bodyPr/>
          <a:lstStyle/>
          <a:p>
            <a:r>
              <a:rPr lang="en-US" altLang="en-US"/>
              <a:t>Or Peretz</a:t>
            </a:r>
          </a:p>
        </p:txBody>
      </p:sp>
      <p:sp>
        <p:nvSpPr>
          <p:cNvPr id="3" name="Slide Number Placeholder 2">
            <a:extLst>
              <a:ext uri="{FF2B5EF4-FFF2-40B4-BE49-F238E27FC236}">
                <a16:creationId xmlns:a16="http://schemas.microsoft.com/office/drawing/2014/main" id="{F60C2BEE-947C-4D43-AA81-CF60618144E3}"/>
              </a:ext>
            </a:extLst>
          </p:cNvPr>
          <p:cNvSpPr>
            <a:spLocks noGrp="1"/>
          </p:cNvSpPr>
          <p:nvPr>
            <p:ph type="sldNum" sz="quarter" idx="11"/>
          </p:nvPr>
        </p:nvSpPr>
        <p:spPr/>
        <p:txBody>
          <a:bodyPr/>
          <a:lstStyle/>
          <a:p>
            <a:endParaRPr lang="en-US" altLang="en-US"/>
          </a:p>
        </p:txBody>
      </p:sp>
      <p:pic>
        <p:nvPicPr>
          <p:cNvPr id="3074" name="Picture 2" descr="What is Snowflake Schema">
            <a:extLst>
              <a:ext uri="{FF2B5EF4-FFF2-40B4-BE49-F238E27FC236}">
                <a16:creationId xmlns:a16="http://schemas.microsoft.com/office/drawing/2014/main" id="{F024524F-6546-7149-8D65-B4D8DA28CBA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8849"/>
          <a:stretch/>
        </p:blipFill>
        <p:spPr bwMode="auto">
          <a:xfrm>
            <a:off x="3071283" y="1499128"/>
            <a:ext cx="5804574" cy="45037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124691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Rectangle 2">
            <a:extLst>
              <a:ext uri="{FF2B5EF4-FFF2-40B4-BE49-F238E27FC236}">
                <a16:creationId xmlns:a16="http://schemas.microsoft.com/office/drawing/2014/main" id="{2903A978-8055-EB41-8C19-BBAB90074685}"/>
              </a:ext>
            </a:extLst>
          </p:cNvPr>
          <p:cNvSpPr>
            <a:spLocks noGrp="1" noChangeArrowheads="1"/>
          </p:cNvSpPr>
          <p:nvPr>
            <p:ph type="title"/>
          </p:nvPr>
        </p:nvSpPr>
        <p:spPr/>
        <p:txBody>
          <a:bodyPr>
            <a:normAutofit/>
          </a:bodyPr>
          <a:lstStyle/>
          <a:p>
            <a:pPr algn="ctr"/>
            <a:r>
              <a:rPr lang="en-US" altLang="en-IL" sz="3200" b="1" dirty="0">
                <a:latin typeface="+mn-lt"/>
              </a:rPr>
              <a:t>Snowflaking</a:t>
            </a:r>
          </a:p>
        </p:txBody>
      </p:sp>
      <p:sp>
        <p:nvSpPr>
          <p:cNvPr id="20485" name="Rectangle 3">
            <a:extLst>
              <a:ext uri="{FF2B5EF4-FFF2-40B4-BE49-F238E27FC236}">
                <a16:creationId xmlns:a16="http://schemas.microsoft.com/office/drawing/2014/main" id="{25C51041-4419-504B-90C3-74979E4F4B1D}"/>
              </a:ext>
            </a:extLst>
          </p:cNvPr>
          <p:cNvSpPr>
            <a:spLocks noGrp="1" noChangeArrowheads="1"/>
          </p:cNvSpPr>
          <p:nvPr>
            <p:ph type="body" idx="1"/>
          </p:nvPr>
        </p:nvSpPr>
        <p:spPr>
          <a:xfrm>
            <a:off x="618067" y="1371600"/>
            <a:ext cx="10735733" cy="4805363"/>
          </a:xfrm>
        </p:spPr>
        <p:txBody>
          <a:bodyPr/>
          <a:lstStyle/>
          <a:p>
            <a:pPr marL="0" indent="0">
              <a:buNone/>
            </a:pPr>
            <a:r>
              <a:rPr lang="en-US" altLang="en-IL" dirty="0"/>
              <a:t>The attributes with low cardinality in each original dimension table are removed to form separate tables. These new tables are linked back to the original dimension table through artificial keys. </a:t>
            </a:r>
          </a:p>
        </p:txBody>
      </p:sp>
      <p:sp>
        <p:nvSpPr>
          <p:cNvPr id="20486" name="Rectangle 4">
            <a:extLst>
              <a:ext uri="{FF2B5EF4-FFF2-40B4-BE49-F238E27FC236}">
                <a16:creationId xmlns:a16="http://schemas.microsoft.com/office/drawing/2014/main" id="{A6FF800D-EC12-2E4B-AA50-211150467EF7}"/>
              </a:ext>
            </a:extLst>
          </p:cNvPr>
          <p:cNvSpPr>
            <a:spLocks noChangeArrowheads="1"/>
          </p:cNvSpPr>
          <p:nvPr/>
        </p:nvSpPr>
        <p:spPr bwMode="auto">
          <a:xfrm>
            <a:off x="2904064" y="3733798"/>
            <a:ext cx="1600200" cy="17526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IL" sz="2000" dirty="0">
                <a:solidFill>
                  <a:schemeClr val="bg1"/>
                </a:solidFill>
              </a:rPr>
              <a:t>Product key</a:t>
            </a:r>
          </a:p>
          <a:p>
            <a:pPr algn="ctr"/>
            <a:r>
              <a:rPr lang="en-US" altLang="en-IL" sz="2000" dirty="0">
                <a:solidFill>
                  <a:schemeClr val="bg1"/>
                </a:solidFill>
              </a:rPr>
              <a:t>Product name</a:t>
            </a:r>
          </a:p>
          <a:p>
            <a:pPr algn="ctr"/>
            <a:r>
              <a:rPr lang="en-US" altLang="en-IL" sz="2000" dirty="0">
                <a:solidFill>
                  <a:schemeClr val="bg1"/>
                </a:solidFill>
              </a:rPr>
              <a:t>Product code</a:t>
            </a:r>
          </a:p>
          <a:p>
            <a:pPr algn="ctr"/>
            <a:r>
              <a:rPr lang="en-US" altLang="en-IL" sz="2000" dirty="0">
                <a:solidFill>
                  <a:schemeClr val="bg1"/>
                </a:solidFill>
              </a:rPr>
              <a:t>Brand key</a:t>
            </a:r>
          </a:p>
        </p:txBody>
      </p:sp>
      <p:sp>
        <p:nvSpPr>
          <p:cNvPr id="20487" name="Rectangle 5">
            <a:extLst>
              <a:ext uri="{FF2B5EF4-FFF2-40B4-BE49-F238E27FC236}">
                <a16:creationId xmlns:a16="http://schemas.microsoft.com/office/drawing/2014/main" id="{1AC37613-FF5C-434D-BE31-D1DEFEF20DED}"/>
              </a:ext>
            </a:extLst>
          </p:cNvPr>
          <p:cNvSpPr>
            <a:spLocks noChangeArrowheads="1"/>
          </p:cNvSpPr>
          <p:nvPr/>
        </p:nvSpPr>
        <p:spPr bwMode="auto">
          <a:xfrm>
            <a:off x="5190064" y="3809998"/>
            <a:ext cx="1524000" cy="1447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IL" sz="2000" dirty="0">
                <a:solidFill>
                  <a:schemeClr val="bg1"/>
                </a:solidFill>
              </a:rPr>
              <a:t>Brand key</a:t>
            </a:r>
          </a:p>
          <a:p>
            <a:pPr algn="ctr"/>
            <a:r>
              <a:rPr lang="en-US" altLang="en-IL" sz="2000" dirty="0">
                <a:solidFill>
                  <a:schemeClr val="bg1"/>
                </a:solidFill>
              </a:rPr>
              <a:t>Brand name</a:t>
            </a:r>
          </a:p>
          <a:p>
            <a:pPr algn="ctr"/>
            <a:r>
              <a:rPr lang="en-US" altLang="en-IL" sz="2000" dirty="0">
                <a:solidFill>
                  <a:schemeClr val="bg1"/>
                </a:solidFill>
              </a:rPr>
              <a:t>Category key</a:t>
            </a:r>
          </a:p>
        </p:txBody>
      </p:sp>
      <p:sp>
        <p:nvSpPr>
          <p:cNvPr id="20488" name="Rectangle 6">
            <a:extLst>
              <a:ext uri="{FF2B5EF4-FFF2-40B4-BE49-F238E27FC236}">
                <a16:creationId xmlns:a16="http://schemas.microsoft.com/office/drawing/2014/main" id="{ED90A8EE-DAD5-9F45-85A9-9C05D56E2A65}"/>
              </a:ext>
            </a:extLst>
          </p:cNvPr>
          <p:cNvSpPr>
            <a:spLocks noChangeArrowheads="1"/>
          </p:cNvSpPr>
          <p:nvPr/>
        </p:nvSpPr>
        <p:spPr bwMode="auto">
          <a:xfrm>
            <a:off x="7323664" y="3962398"/>
            <a:ext cx="1752600" cy="1066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IL" sz="2000" dirty="0">
                <a:solidFill>
                  <a:schemeClr val="bg1"/>
                </a:solidFill>
              </a:rPr>
              <a:t>Category key</a:t>
            </a:r>
          </a:p>
          <a:p>
            <a:pPr algn="ctr"/>
            <a:r>
              <a:rPr lang="en-US" altLang="en-IL" sz="2000" dirty="0">
                <a:solidFill>
                  <a:schemeClr val="bg1"/>
                </a:solidFill>
              </a:rPr>
              <a:t>Product category</a:t>
            </a:r>
          </a:p>
        </p:txBody>
      </p:sp>
      <p:sp>
        <p:nvSpPr>
          <p:cNvPr id="20489" name="Line 7">
            <a:extLst>
              <a:ext uri="{FF2B5EF4-FFF2-40B4-BE49-F238E27FC236}">
                <a16:creationId xmlns:a16="http://schemas.microsoft.com/office/drawing/2014/main" id="{BA045F16-3DE7-1A4A-94FA-2C4080E8993C}"/>
              </a:ext>
            </a:extLst>
          </p:cNvPr>
          <p:cNvSpPr>
            <a:spLocks noChangeShapeType="1"/>
          </p:cNvSpPr>
          <p:nvPr/>
        </p:nvSpPr>
        <p:spPr bwMode="auto">
          <a:xfrm flipV="1">
            <a:off x="4504264" y="4343398"/>
            <a:ext cx="68580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L"/>
          </a:p>
        </p:txBody>
      </p:sp>
      <p:sp>
        <p:nvSpPr>
          <p:cNvPr id="20490" name="Line 8">
            <a:extLst>
              <a:ext uri="{FF2B5EF4-FFF2-40B4-BE49-F238E27FC236}">
                <a16:creationId xmlns:a16="http://schemas.microsoft.com/office/drawing/2014/main" id="{21DD5AA0-DE5D-C749-AF02-3B73B082C4CA}"/>
              </a:ext>
            </a:extLst>
          </p:cNvPr>
          <p:cNvSpPr>
            <a:spLocks noChangeShapeType="1"/>
          </p:cNvSpPr>
          <p:nvPr/>
        </p:nvSpPr>
        <p:spPr bwMode="auto">
          <a:xfrm flipV="1">
            <a:off x="6714064" y="4419598"/>
            <a:ext cx="60960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L"/>
          </a:p>
        </p:txBody>
      </p:sp>
      <p:sp>
        <p:nvSpPr>
          <p:cNvPr id="2" name="Footer Placeholder 1">
            <a:extLst>
              <a:ext uri="{FF2B5EF4-FFF2-40B4-BE49-F238E27FC236}">
                <a16:creationId xmlns:a16="http://schemas.microsoft.com/office/drawing/2014/main" id="{F267C3B9-215B-1140-A49F-9AE70E7BCB5E}"/>
              </a:ext>
            </a:extLst>
          </p:cNvPr>
          <p:cNvSpPr>
            <a:spLocks noGrp="1"/>
          </p:cNvSpPr>
          <p:nvPr>
            <p:ph type="ftr" sz="quarter" idx="10"/>
          </p:nvPr>
        </p:nvSpPr>
        <p:spPr/>
        <p:txBody>
          <a:bodyPr/>
          <a:lstStyle/>
          <a:p>
            <a:r>
              <a:rPr lang="en-US" altLang="en-US"/>
              <a:t>Or Peretz</a:t>
            </a:r>
          </a:p>
        </p:txBody>
      </p:sp>
      <p:sp>
        <p:nvSpPr>
          <p:cNvPr id="3" name="Slide Number Placeholder 2">
            <a:extLst>
              <a:ext uri="{FF2B5EF4-FFF2-40B4-BE49-F238E27FC236}">
                <a16:creationId xmlns:a16="http://schemas.microsoft.com/office/drawing/2014/main" id="{3ECDFFCB-B726-FF42-A18D-6836CDE9C5C7}"/>
              </a:ext>
            </a:extLst>
          </p:cNvPr>
          <p:cNvSpPr>
            <a:spLocks noGrp="1"/>
          </p:cNvSpPr>
          <p:nvPr>
            <p:ph type="sldNum" sz="quarter" idx="11"/>
          </p:nvPr>
        </p:nvSpPr>
        <p:spPr/>
        <p:txBody>
          <a:bodyPr/>
          <a:lstStyle/>
          <a:p>
            <a:endParaRPr lang="en-US" altLang="en-US"/>
          </a:p>
        </p:txBody>
      </p:sp>
    </p:spTree>
    <p:extLst>
      <p:ext uri="{BB962C8B-B14F-4D97-AF65-F5344CB8AC3E}">
        <p14:creationId xmlns:p14="http://schemas.microsoft.com/office/powerpoint/2010/main" val="29710353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Incident: Full-Scan Dashboard Outage</a:t>
            </a:r>
          </a:p>
        </p:txBody>
      </p:sp>
      <p:sp>
        <p:nvSpPr>
          <p:cNvPr id="3" name="Content Placeholder 2"/>
          <p:cNvSpPr>
            <a:spLocks noGrp="1"/>
          </p:cNvSpPr>
          <p:nvPr>
            <p:ph idx="1" hasCustomPrompt="1"/>
          </p:nvPr>
        </p:nvSpPr>
        <p:spPr/>
        <p:txBody>
          <a:bodyPr/>
          <a:lstStyle/>
          <a:p>
            <a:pPr lvl="0"/>
            <a:r>
              <a:t>Dashboard ran every 5 minutes on a 1 TB fact table</a:t>
            </a:r>
          </a:p>
          <a:p>
            <a:pPr lvl="0"/>
            <a:r>
              <a:t>Missing date predicate caused full scans each refresh</a:t>
            </a:r>
          </a:p>
          <a:p>
            <a:pPr lvl="0"/>
            <a:r>
              <a:t>Concurrent scans saturated cluster slots</a:t>
            </a:r>
          </a:p>
          <a:p>
            <a:pPr lvl="0"/>
            <a:r>
              <a:t>Root cause: no guardrail for partition-filter enforcement</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Partitioning Strategy</a:t>
            </a:r>
          </a:p>
        </p:txBody>
      </p:sp>
      <p:sp>
        <p:nvSpPr>
          <p:cNvPr id="3" name="Content Placeholder 2"/>
          <p:cNvSpPr>
            <a:spLocks noGrp="1"/>
          </p:cNvSpPr>
          <p:nvPr>
            <p:ph idx="1" hasCustomPrompt="1"/>
          </p:nvPr>
        </p:nvSpPr>
        <p:spPr/>
        <p:txBody>
          <a:bodyPr/>
          <a:lstStyle/>
          <a:p>
            <a:pPr lvl="0"/>
            <a:r>
              <a:t>Partition large facts by dominant time filter (</a:t>
            </a:r>
            <a:r>
              <a:rPr>
                <a:latin typeface="Courier"/>
              </a:rPr>
              <a:t>date_key</a:t>
            </a:r>
            <a:r>
              <a:t>)</a:t>
            </a:r>
          </a:p>
          <a:p>
            <a:pPr lvl="0"/>
            <a:r>
              <a:t>Keep partition granularity aligned to query patterns</a:t>
            </a:r>
          </a:p>
          <a:p>
            <a:pPr lvl="0"/>
            <a:r>
              <a:t>Use clustering/sorting on secondary filters (</a:t>
            </a:r>
            <a:r>
              <a:rPr>
                <a:latin typeface="Courier"/>
              </a:rPr>
              <a:t>customer_key</a:t>
            </a:r>
            <a:r>
              <a:t>, </a:t>
            </a:r>
            <a:r>
              <a:rPr>
                <a:latin typeface="Courier"/>
              </a:rPr>
              <a:t>product_key</a:t>
            </a:r>
            <a:r>
              <a:t>)</a:t>
            </a:r>
          </a:p>
          <a:p>
            <a:pPr lvl="0"/>
            <a:r>
              <a:t>Avoid over-partitioning into tiny files</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F24627C-5938-5D06-969C-341161F72C9C}"/>
              </a:ext>
            </a:extLst>
          </p:cNvPr>
          <p:cNvSpPr>
            <a:spLocks noGrp="1"/>
          </p:cNvSpPr>
          <p:nvPr>
            <p:ph type="title"/>
          </p:nvPr>
        </p:nvSpPr>
        <p:spPr>
          <a:xfrm>
            <a:off x="609600" y="274638"/>
            <a:ext cx="10972800" cy="1143000"/>
          </a:xfrm>
        </p:spPr>
        <p:txBody>
          <a:bodyPr/>
          <a:lstStyle/>
          <a:p>
            <a:pPr marL="0" lvl="0" indent="0">
              <a:buNone/>
            </a:pPr>
            <a:r>
              <a:t>Partition Pruning Cost Model</a:t>
            </a:r>
          </a:p>
        </p:txBody>
      </p:sp>
      <mc:AlternateContent xmlns:mc="http://schemas.openxmlformats.org/markup-compatibility/2006">
        <mc:Choice xmlns:a14="http://schemas.microsoft.com/office/drawing/2010/main" Requires="a14">
          <p:sp>
            <p:nvSpPr>
              <p:cNvPr id="3" name="Text Placeholder 3">
                <a:extLst>
                  <a:ext uri="{FF2B5EF4-FFF2-40B4-BE49-F238E27FC236}">
                    <a16:creationId xmlns:a16="http://schemas.microsoft.com/office/drawing/2014/main" id="{838FFFFD-68E9-C4E4-7764-523BAE32B83B}"/>
                  </a:ext>
                </a:extLst>
              </p:cNvPr>
              <p:cNvSpPr>
                <a:spLocks noGrp="1"/>
              </p:cNvSpPr>
              <p:nvPr>
                <p:ph type="body" sz="half" idx="2" hasCustomPrompt="1"/>
              </p:nvPr>
            </p:nvSpPr>
            <p:spPr>
              <a:xfrm>
                <a:off x="1368725" y="1417638"/>
                <a:ext cx="8791275" cy="4357028"/>
              </a:xfrm>
            </p:spPr>
            <p:txBody>
              <a:bodyPr>
                <a:normAutofit/>
              </a:bodyPr>
              <a:lstStyle/>
              <a:p>
                <a:pPr marL="0" lvl="0" indent="0">
                  <a:buNone/>
                </a:pPr>
                <a14:m>
                  <m:oMathPara xmlns:m="http://schemas.openxmlformats.org/officeDocument/2006/math">
                    <m:oMathParaPr>
                      <m:jc m:val="center"/>
                    </m:oMathParaPr>
                    <m:oMath xmlns:m="http://schemas.openxmlformats.org/officeDocument/2006/math">
                      <m:r>
                        <m:rPr>
                          <m:nor/>
                        </m:rPr>
                        <a:rPr sz="2800"/>
                        <m:t>ScanCost</m:t>
                      </m:r>
                      <m:r>
                        <a:rPr sz="2800">
                          <a:latin typeface="Cambria Math" panose="02040503050406030204" pitchFamily="18" charset="0"/>
                        </a:rPr>
                        <m:t>=</m:t>
                      </m:r>
                      <m:r>
                        <a:rPr sz="2800">
                          <a:latin typeface="Cambria Math" panose="02040503050406030204" pitchFamily="18" charset="0"/>
                        </a:rPr>
                        <m:t>𝑠</m:t>
                      </m:r>
                      <m:r>
                        <a:rPr sz="2800">
                          <a:latin typeface="Cambria Math" panose="02040503050406030204" pitchFamily="18" charset="0"/>
                        </a:rPr>
                        <m:t>⋅|</m:t>
                      </m:r>
                      <m:r>
                        <a:rPr sz="2800">
                          <a:latin typeface="Cambria Math" panose="02040503050406030204" pitchFamily="18" charset="0"/>
                        </a:rPr>
                        <m:t>𝐹</m:t>
                      </m:r>
                      <m:r>
                        <a:rPr sz="2800">
                          <a:latin typeface="Cambria Math" panose="02040503050406030204" pitchFamily="18" charset="0"/>
                        </a:rPr>
                        <m:t>|</m:t>
                      </m:r>
                    </m:oMath>
                  </m:oMathPara>
                </a14:m>
                <a:endParaRPr sz="2800" dirty="0"/>
              </a:p>
              <a:p>
                <a:pPr marL="0" lvl="0" indent="0">
                  <a:buNone/>
                </a:pPr>
                <a:r>
                  <a:rPr sz="2800" dirty="0">
                    <a:latin typeface="Courier"/>
                  </a:rPr>
                  <a:t>F|</a:t>
                </a:r>
                <a:r>
                  <a:rPr sz="2800" dirty="0"/>
                  <a:t>: total fact size</a:t>
                </a:r>
                <a:endParaRPr lang="en-US" sz="2800" dirty="0"/>
              </a:p>
              <a:p>
                <a:pPr marL="0" lvl="0" indent="0">
                  <a:buNone/>
                </a:pPr>
                <a:r>
                  <a:rPr sz="2800" dirty="0">
                    <a:latin typeface="Courier"/>
                  </a:rPr>
                  <a:t>s</a:t>
                </a:r>
                <a:r>
                  <a:rPr sz="2800" dirty="0"/>
                  <a:t>: selected partition fraction</a:t>
                </a:r>
                <a:endParaRPr lang="en-US" sz="2800" dirty="0"/>
              </a:p>
              <a:p>
                <a:pPr marL="0" lvl="0" indent="0">
                  <a:buNone/>
                </a:pPr>
                <a:endParaRPr lang="en-US" sz="2800" dirty="0"/>
              </a:p>
              <a:p>
                <a:pPr marL="0" lvl="0" indent="0">
                  <a:buNone/>
                </a:pPr>
                <a:r>
                  <a:rPr sz="2800" dirty="0"/>
                  <a:t>Example: </a:t>
                </a:r>
                <a:r>
                  <a:rPr sz="2800" dirty="0">
                    <a:latin typeface="Courier"/>
                  </a:rPr>
                  <a:t>|F|=1 TB</a:t>
                </a:r>
                <a:r>
                  <a:rPr sz="2800" dirty="0"/>
                  <a:t>, one-day filter over 365 days -&gt; </a:t>
                </a:r>
                <a:r>
                  <a:rPr sz="2800" dirty="0">
                    <a:latin typeface="Courier"/>
                  </a:rPr>
                  <a:t>s=1/365</a:t>
                </a:r>
                <a:r>
                  <a:rPr sz="2800" dirty="0"/>
                  <a:t> - Scan drops from </a:t>
                </a:r>
                <a:r>
                  <a:rPr sz="2800" dirty="0">
                    <a:latin typeface="Courier"/>
                  </a:rPr>
                  <a:t>1 TB</a:t>
                </a:r>
                <a:r>
                  <a:rPr sz="2800" dirty="0"/>
                  <a:t> to about </a:t>
                </a:r>
                <a:r>
                  <a:rPr sz="2800" dirty="0">
                    <a:latin typeface="Courier"/>
                  </a:rPr>
                  <a:t>2.74 GB</a:t>
                </a:r>
                <a:r>
                  <a:rPr lang="en-US" sz="2800" dirty="0">
                    <a:latin typeface="Courier"/>
                  </a:rPr>
                  <a:t>,</a:t>
                </a:r>
                <a:r>
                  <a:rPr sz="2800" dirty="0"/>
                  <a:t> Cost and runtime often drop proportionally</a:t>
                </a:r>
              </a:p>
            </p:txBody>
          </p:sp>
        </mc:Choice>
        <mc:Fallback>
          <p:sp>
            <p:nvSpPr>
              <p:cNvPr id="3" name="Text Placeholder 3">
                <a:extLst>
                  <a:ext uri="{FF2B5EF4-FFF2-40B4-BE49-F238E27FC236}">
                    <a16:creationId xmlns:a16="http://schemas.microsoft.com/office/drawing/2014/main" id="{838FFFFD-68E9-C4E4-7764-523BAE32B83B}"/>
                  </a:ext>
                </a:extLst>
              </p:cNvPr>
              <p:cNvSpPr>
                <a:spLocks noGrp="1" noRot="1" noChangeAspect="1" noMove="1" noResize="1" noEditPoints="1" noAdjustHandles="1" noChangeArrowheads="1" noChangeShapeType="1" noTextEdit="1"/>
              </p:cNvSpPr>
              <p:nvPr>
                <p:ph type="body" sz="half" idx="2" hasCustomPrompt="1"/>
              </p:nvPr>
            </p:nvSpPr>
            <p:spPr>
              <a:xfrm>
                <a:off x="1368725" y="1417638"/>
                <a:ext cx="8791275" cy="4357028"/>
              </a:xfrm>
              <a:blipFill>
                <a:blip r:embed="rId2"/>
                <a:stretch>
                  <a:fillRect l="-1587"/>
                </a:stretch>
              </a:blipFill>
            </p:spPr>
            <p:txBody>
              <a:bodyPr/>
              <a:lstStyle/>
              <a:p>
                <a:r>
                  <a:rPr lang="he-IL">
                    <a:noFill/>
                  </a:rPr>
                  <a:t> </a:t>
                </a:r>
              </a:p>
            </p:txBody>
          </p:sp>
        </mc:Fallback>
      </mc:AlternateContent>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Join Cost Intuition</a:t>
            </a:r>
          </a:p>
        </p:txBody>
      </p:sp>
      <mc:AlternateContent xmlns:mc="http://schemas.openxmlformats.org/markup-compatibility/2006">
        <mc:Choice xmlns:a14="http://schemas.microsoft.com/office/drawing/2010/main" Requires="a14">
          <p:sp>
            <p:nvSpPr>
              <p:cNvPr id="3" name="Content Placeholder 2"/>
              <p:cNvSpPr>
                <a:spLocks noGrp="1"/>
              </p:cNvSpPr>
              <p:nvPr>
                <p:ph idx="1" hasCustomPrompt="1"/>
              </p:nvPr>
            </p:nvSpPr>
            <p:spPr/>
            <p:txBody>
              <a:bodyPr/>
              <a:lstStyle/>
              <a:p>
                <a:pPr marL="0" lvl="0" indent="0">
                  <a:buNone/>
                </a:pPr>
                <a14:m>
                  <m:oMathPara xmlns:m="http://schemas.openxmlformats.org/officeDocument/2006/math">
                    <m:oMathParaPr>
                      <m:jc m:val="center"/>
                    </m:oMathParaPr>
                    <m:oMath xmlns:m="http://schemas.openxmlformats.org/officeDocument/2006/math">
                      <m:r>
                        <m:rPr>
                          <m:nor/>
                        </m:rPr>
                        <a:rPr/>
                        <m:t>JoinWork</m:t>
                      </m:r>
                      <m:r>
                        <a:rPr>
                          <a:latin typeface="Cambria Math" panose="02040503050406030204" pitchFamily="18" charset="0"/>
                        </a:rPr>
                        <m:t>≈</m:t>
                      </m:r>
                      <m:r>
                        <a:rPr>
                          <a:latin typeface="Cambria Math" panose="02040503050406030204" pitchFamily="18" charset="0"/>
                        </a:rPr>
                        <m:t>𝑂</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𝐹</m:t>
                          </m:r>
                        </m:e>
                        <m:sub>
                          <m:r>
                            <a:rPr>
                              <a:latin typeface="Cambria Math" panose="02040503050406030204" pitchFamily="18" charset="0"/>
                            </a:rPr>
                            <m:t>𝑝𝑟𝑢𝑛𝑒𝑑</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𝐷</m:t>
                          </m:r>
                        </m:e>
                        <m:sub>
                          <m:r>
                            <a:rPr>
                              <a:latin typeface="Cambria Math" panose="02040503050406030204" pitchFamily="18" charset="0"/>
                            </a:rPr>
                            <m:t>𝑖</m:t>
                          </m:r>
                        </m:sub>
                      </m:sSub>
                      <m:r>
                        <a:rPr>
                          <a:latin typeface="Cambria Math" panose="02040503050406030204" pitchFamily="18" charset="0"/>
                        </a:rPr>
                        <m:t>|)</m:t>
                      </m:r>
                    </m:oMath>
                  </m:oMathPara>
                </a14:m>
                <a:endParaRPr dirty="0"/>
              </a:p>
              <a:p>
                <a:pPr marL="0" lvl="0" indent="0">
                  <a:buNone/>
                </a:pPr>
                <a:endParaRPr lang="en-US" dirty="0"/>
              </a:p>
              <a:p>
                <a:pPr marL="0" lvl="0" indent="0">
                  <a:buNone/>
                </a:pPr>
                <a:r>
                  <a:rPr dirty="0"/>
                  <a:t>Pruned fact size is usually dominant term</a:t>
                </a:r>
                <a:endParaRPr lang="en-US" dirty="0"/>
              </a:p>
              <a:p>
                <a:pPr marL="0" lvl="0" indent="0">
                  <a:buNone/>
                </a:pPr>
                <a:r>
                  <a:rPr dirty="0"/>
                  <a:t>Broadcast joins help when dimensions fit memory</a:t>
                </a:r>
                <a:endParaRPr lang="en-US" dirty="0"/>
              </a:p>
              <a:p>
                <a:pPr marL="0" lvl="0" indent="0">
                  <a:buNone/>
                </a:pPr>
                <a:r>
                  <a:rPr dirty="0"/>
                  <a:t>Large dimensions force shuffle and spill </a:t>
                </a:r>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hasCustomPrompt="1"/>
              </p:nvPr>
            </p:nvSpPr>
            <p:spPr>
              <a:blipFill>
                <a:blip r:embed="rId2"/>
                <a:stretch>
                  <a:fillRect l="-1192"/>
                </a:stretch>
              </a:blipFill>
            </p:spPr>
            <p:txBody>
              <a:bodyPr/>
              <a:lstStyle/>
              <a:p>
                <a:r>
                  <a:rPr lang="he-IL">
                    <a:noFill/>
                  </a:rPr>
                  <a:t> </a:t>
                </a:r>
              </a:p>
            </p:txBody>
          </p:sp>
        </mc:Fallback>
      </mc:AlternateContent>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F24627C-5938-5D06-969C-341161F72C9C}"/>
              </a:ext>
            </a:extLst>
          </p:cNvPr>
          <p:cNvSpPr>
            <a:spLocks noGrp="1"/>
          </p:cNvSpPr>
          <p:nvPr>
            <p:ph type="title"/>
          </p:nvPr>
        </p:nvSpPr>
        <p:spPr>
          <a:xfrm>
            <a:off x="609600" y="274638"/>
            <a:ext cx="10972800" cy="1143000"/>
          </a:xfrm>
        </p:spPr>
        <p:txBody>
          <a:bodyPr/>
          <a:lstStyle/>
          <a:p>
            <a:pPr marL="0" lvl="0" indent="0">
              <a:buNone/>
            </a:pPr>
            <a:r>
              <a:t>Architecture Evolution (v1 -&gt; v2)</a:t>
            </a:r>
          </a:p>
        </p:txBody>
      </p:sp>
      <p:sp>
        <p:nvSpPr>
          <p:cNvPr id="3" name="Text Placeholder 3">
            <a:extLst>
              <a:ext uri="{FF2B5EF4-FFF2-40B4-BE49-F238E27FC236}">
                <a16:creationId xmlns:a16="http://schemas.microsoft.com/office/drawing/2014/main" id="{838FFFFD-68E9-C4E4-7764-523BAE32B83B}"/>
              </a:ext>
            </a:extLst>
          </p:cNvPr>
          <p:cNvSpPr>
            <a:spLocks noGrp="1"/>
          </p:cNvSpPr>
          <p:nvPr>
            <p:ph type="body" sz="half" idx="2" hasCustomPrompt="1"/>
          </p:nvPr>
        </p:nvSpPr>
        <p:spPr>
          <a:xfrm>
            <a:off x="965200" y="1417638"/>
            <a:ext cx="4422346" cy="4357028"/>
          </a:xfrm>
        </p:spPr>
        <p:txBody>
          <a:bodyPr>
            <a:normAutofit/>
          </a:bodyPr>
          <a:lstStyle/>
          <a:p>
            <a:pPr lvl="0"/>
            <a:r>
              <a:rPr dirty="0"/>
              <a:t>v1: one fact, few dimensions, manual definitions</a:t>
            </a:r>
          </a:p>
          <a:p>
            <a:pPr lvl="0"/>
            <a:r>
              <a:rPr dirty="0"/>
              <a:t>v2: conformed dimensions, semantic contracts, cost guardrails</a:t>
            </a:r>
          </a:p>
          <a:p>
            <a:pPr lvl="0"/>
            <a:r>
              <a:rPr dirty="0"/>
              <a:t>Add complexity only where workload proves need</a:t>
            </a:r>
          </a:p>
          <a:p>
            <a:pPr lvl="0"/>
            <a:r>
              <a:rPr dirty="0"/>
              <a:t>Plan migration path to avoid breaking dashboards</a:t>
            </a:r>
          </a:p>
        </p:txBody>
      </p:sp>
      <p:pic>
        <p:nvPicPr>
          <p:cNvPr id="2" name="Picture 1" descr="../../diagrams/week05/week5_lecture_evolution_v1_v2.png"/>
          <p:cNvPicPr>
            <a:picLocks noGrp="1" noChangeAspect="1"/>
          </p:cNvPicPr>
          <p:nvPr/>
        </p:nvPicPr>
        <p:blipFill>
          <a:blip r:embed="rId2"/>
          <a:stretch>
            <a:fillRect/>
          </a:stretch>
        </p:blipFill>
        <p:spPr bwMode="auto">
          <a:xfrm>
            <a:off x="5727700" y="1409700"/>
            <a:ext cx="4064000" cy="3848100"/>
          </a:xfrm>
          <a:prstGeom prst="rect">
            <a:avLst/>
          </a:prstGeom>
          <a:noFill/>
          <a:ln w="9525">
            <a:noFill/>
            <a:headEnd/>
            <a:tailEnd/>
          </a:ln>
        </p:spPr>
      </p:pic>
      <p:sp>
        <p:nvSpPr>
          <p:cNvPr id="4" name="TextBox 3"/>
          <p:cNvSpPr txBox="1">
            <a:spLocks noGrp="1"/>
          </p:cNvSpPr>
          <p:nvPr>
            <p:ph idx="1"/>
          </p:nvPr>
        </p:nvSpPr>
        <p:spPr>
          <a:xfrm>
            <a:off x="3949700" y="5257800"/>
            <a:ext cx="7620000" cy="508000"/>
          </a:xfrm>
          <a:prstGeom prst="rect">
            <a:avLst/>
          </a:prstGeom>
          <a:noFill/>
        </p:spPr>
        <p:txBody>
          <a:bodyPr>
            <a:normAutofit fontScale="92500" lnSpcReduction="20000"/>
          </a:bodyPr>
          <a:lstStyle/>
          <a:p>
            <a:pPr marL="0" lvl="0" indent="0" algn="ctr">
              <a:buNone/>
            </a:pPr>
            <a:r>
              <a:t>Architecture evolution</a:t>
            </a:r>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F24627C-5938-5D06-969C-341161F72C9C}"/>
              </a:ext>
            </a:extLst>
          </p:cNvPr>
          <p:cNvSpPr>
            <a:spLocks noGrp="1"/>
          </p:cNvSpPr>
          <p:nvPr>
            <p:ph type="title"/>
          </p:nvPr>
        </p:nvSpPr>
        <p:spPr>
          <a:xfrm>
            <a:off x="609600" y="274638"/>
            <a:ext cx="10972800" cy="1143000"/>
          </a:xfrm>
        </p:spPr>
        <p:txBody>
          <a:bodyPr/>
          <a:lstStyle/>
          <a:p>
            <a:pPr marL="0" lvl="0" indent="0">
              <a:buNone/>
            </a:pPr>
            <a:r>
              <a:t>Governance Controls</a:t>
            </a:r>
          </a:p>
        </p:txBody>
      </p:sp>
      <p:sp>
        <p:nvSpPr>
          <p:cNvPr id="3" name="Text Placeholder 3">
            <a:extLst>
              <a:ext uri="{FF2B5EF4-FFF2-40B4-BE49-F238E27FC236}">
                <a16:creationId xmlns:a16="http://schemas.microsoft.com/office/drawing/2014/main" id="{838FFFFD-68E9-C4E4-7764-523BAE32B83B}"/>
              </a:ext>
            </a:extLst>
          </p:cNvPr>
          <p:cNvSpPr>
            <a:spLocks noGrp="1"/>
          </p:cNvSpPr>
          <p:nvPr>
            <p:ph type="body" sz="half" idx="2" hasCustomPrompt="1"/>
          </p:nvPr>
        </p:nvSpPr>
        <p:spPr/>
        <p:txBody>
          <a:bodyPr>
            <a:normAutofit fontScale="92500" lnSpcReduction="10000"/>
          </a:bodyPr>
          <a:lstStyle/>
          <a:p>
            <a:pPr lvl="0"/>
            <a:r>
              <a:t>SQL guardrail: block large-fact queries without time filter</a:t>
            </a:r>
          </a:p>
          <a:p>
            <a:pPr lvl="0"/>
            <a:r>
              <a:t>Semantic layer: certified metric definitions</a:t>
            </a:r>
          </a:p>
          <a:p>
            <a:pPr lvl="0"/>
            <a:r>
              <a:t>Data contracts: required fields and grain constraints</a:t>
            </a:r>
          </a:p>
          <a:p>
            <a:pPr lvl="0"/>
            <a:r>
              <a:t>Cost monitoring: bytes scanned, slots consumed, partitions read</a:t>
            </a:r>
          </a:p>
        </p:txBody>
      </p:sp>
      <p:pic>
        <p:nvPicPr>
          <p:cNvPr id="2" name="Picture 1" descr="../../diagrams/week05/week5_governance_controls_hierarchy.png"/>
          <p:cNvPicPr>
            <a:picLocks noGrp="1" noChangeAspect="1"/>
          </p:cNvPicPr>
          <p:nvPr/>
        </p:nvPicPr>
        <p:blipFill>
          <a:blip r:embed="rId2"/>
          <a:stretch>
            <a:fillRect/>
          </a:stretch>
        </p:blipFill>
        <p:spPr bwMode="auto">
          <a:xfrm>
            <a:off x="3949700" y="2374900"/>
            <a:ext cx="7620000" cy="1917700"/>
          </a:xfrm>
          <a:prstGeom prst="rect">
            <a:avLst/>
          </a:prstGeom>
          <a:noFill/>
          <a:ln w="9525">
            <a:noFill/>
            <a:headEnd/>
            <a:tailEnd/>
          </a:ln>
        </p:spPr>
      </p:pic>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Operational Metrics</a:t>
            </a:r>
          </a:p>
        </p:txBody>
      </p:sp>
      <p:sp>
        <p:nvSpPr>
          <p:cNvPr id="3" name="Content Placeholder 2"/>
          <p:cNvSpPr>
            <a:spLocks noGrp="1"/>
          </p:cNvSpPr>
          <p:nvPr>
            <p:ph idx="1" hasCustomPrompt="1"/>
          </p:nvPr>
        </p:nvSpPr>
        <p:spPr/>
        <p:txBody>
          <a:bodyPr/>
          <a:lstStyle/>
          <a:p>
            <a:pPr lvl="0"/>
            <a:r>
              <a:t>Bytes scanned per dashboard refresh</a:t>
            </a:r>
          </a:p>
          <a:p>
            <a:pPr lvl="0"/>
            <a:r>
              <a:t>Partitions scanned per query</a:t>
            </a:r>
          </a:p>
          <a:p>
            <a:pPr lvl="0"/>
            <a:r>
              <a:t>Query latency p50/p95 and queue time</a:t>
            </a:r>
          </a:p>
          <a:p>
            <a:pPr lvl="0"/>
            <a:r>
              <a:t>Compaction backlog and small-file count</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1068</Words>
  <Application>Microsoft Macintosh PowerPoint</Application>
  <PresentationFormat>מסך רחב</PresentationFormat>
  <Paragraphs>204</Paragraphs>
  <Slides>25</Slides>
  <Notes>5</Notes>
  <HiddenSlides>0</HiddenSlides>
  <MMClips>0</MMClips>
  <ScaleCrop>false</ScaleCrop>
  <HeadingPairs>
    <vt:vector size="6" baseType="variant">
      <vt:variant>
        <vt:lpstr>גופנים בשימוש</vt:lpstr>
      </vt:variant>
      <vt:variant>
        <vt:i4>7</vt:i4>
      </vt:variant>
      <vt:variant>
        <vt:lpstr>ערכת נושא</vt:lpstr>
      </vt:variant>
      <vt:variant>
        <vt:i4>1</vt:i4>
      </vt:variant>
      <vt:variant>
        <vt:lpstr>כותרות שקופיות</vt:lpstr>
      </vt:variant>
      <vt:variant>
        <vt:i4>25</vt:i4>
      </vt:variant>
    </vt:vector>
  </HeadingPairs>
  <TitlesOfParts>
    <vt:vector size="33" baseType="lpstr">
      <vt:lpstr>Aptos</vt:lpstr>
      <vt:lpstr>Arial</vt:lpstr>
      <vt:lpstr>Calibri</vt:lpstr>
      <vt:lpstr>Cambria Math</vt:lpstr>
      <vt:lpstr>Courier</vt:lpstr>
      <vt:lpstr>Symbol</vt:lpstr>
      <vt:lpstr>Times New Roman</vt:lpstr>
      <vt:lpstr>Office Theme</vt:lpstr>
      <vt:lpstr>DWH + ETL (Part 2)</vt:lpstr>
      <vt:lpstr>Learning Objectives</vt:lpstr>
      <vt:lpstr>Why This Topic Is Core to the Course</vt:lpstr>
      <vt:lpstr>Fact and Dimension Fundamentals</vt:lpstr>
      <vt:lpstr>The Multi-Dimensional Model</vt:lpstr>
      <vt:lpstr>Dimensional Modeling</vt:lpstr>
      <vt:lpstr>A Concept Hierarchy: Dimension (location)</vt:lpstr>
      <vt:lpstr>Declaring Fact Grain (Non-Negotiable)</vt:lpstr>
      <vt:lpstr>Measure Types and Aggregation Rules</vt:lpstr>
      <vt:lpstr>Surrogate Keys and Natural Keys</vt:lpstr>
      <vt:lpstr>Slowly Changing Dimensions (SCD)</vt:lpstr>
      <vt:lpstr>SCD Example: Customer Region Change</vt:lpstr>
      <vt:lpstr>Star Schema (Default)</vt:lpstr>
      <vt:lpstr>The “Classic” Star Schema</vt:lpstr>
      <vt:lpstr>Snowflake Schema</vt:lpstr>
      <vt:lpstr>Snowflake Schema</vt:lpstr>
      <vt:lpstr>Example of Snowflake Schema</vt:lpstr>
      <vt:lpstr>Snowflaking</vt:lpstr>
      <vt:lpstr>Incident: Full-Scan Dashboard Outage</vt:lpstr>
      <vt:lpstr>Partitioning Strategy</vt:lpstr>
      <vt:lpstr>Partition Pruning Cost Model</vt:lpstr>
      <vt:lpstr>Join Cost Intuition</vt:lpstr>
      <vt:lpstr>Architecture Evolution (v1 -&gt; v2)</vt:lpstr>
      <vt:lpstr>Governance Controls</vt:lpstr>
      <vt:lpstr>Operational Metrics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emplate>Facet</Template>
  <TotalTime>12</TotalTime>
  <Words>18</Words>
  <Application>Microsoft Macintosh PowerPoint</Application>
  <PresentationFormat>מסך רחב</PresentationFormat>
  <Paragraphs>12</Paragraphs>
  <Slides>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6</vt:i4>
      </vt:variant>
    </vt:vector>
  </HeadingPairs>
  <TitlesOfParts>
    <vt:vector size="10" baseType="lpstr">
      <vt:lpstr>Aptos</vt:lpstr>
      <vt:lpstr>Arial</vt:lpstr>
      <vt:lpstr>Calibri</vt:lpstr>
      <vt:lpstr>Office Theme</vt:lpstr>
      <vt:lpstr>מצגת של PowerPoint‏</vt:lpstr>
      <vt:lpstr>מצגת של PowerPoint‏</vt:lpstr>
      <vt:lpstr>מצגת של PowerPoint‏</vt:lpstr>
      <vt:lpstr>מצגת של PowerPoint‏</vt:lpstr>
      <vt:lpstr>מצגת של PowerPoint‏</vt:lpstr>
      <vt:lpstr>מצגת של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Or Perets</cp:lastModifiedBy>
  <cp:revision>4</cp:revision>
  <dcterms:created xsi:type="dcterms:W3CDTF">2026-02-10T08:35:50Z</dcterms:created>
  <dcterms:modified xsi:type="dcterms:W3CDTF">2026-04-23T04:46:16Z</dcterms:modified>
</cp:coreProperties>
</file>