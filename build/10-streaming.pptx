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סגנון ביניים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9408"/>
    <p:restoredTop sz="94860"/>
  </p:normalViewPr>
  <p:slideViewPr>
    <p:cSldViewPr snapToGrid="0" snapToObjects="1">
      <p:cViewPr varScale="1">
        <p:scale>
          <a:sx d="100" n="112"/>
          <a:sy d="100" n="112"/>
        </p:scale>
        <p:origin x="1928" y="184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 snapToGrid="0" snapToObjects="1">
      <p:cViewPr varScale="1">
        <p:scale>
          <a:sx d="100" n="118"/>
          <a:sy d="100" n="118"/>
        </p:scale>
        <p:origin x="5160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6" Type="http://schemas.openxmlformats.org/officeDocument/2006/relationships/presProps" Target="presProps.xml" /><Relationship Id="rId65" Type="http://schemas.openxmlformats.org/officeDocument/2006/relationships/handoutMaster" Target="handoutMasters/handoutMaster1.xml" /><Relationship Id="rId6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8" Type="http://schemas.openxmlformats.org/officeDocument/2006/relationships/theme" Target="theme/theme1.xml" /><Relationship Id="rId6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64B5F-BAD9-9946-9D71-AB5C763DA70C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1EEA0-9609-584F-90F2-46E4F93E52CD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6A5E-CA21-6B4F-9DE7-1A275F321E49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6840" y="1600201"/>
            <a:ext cx="1062556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C6960-90E0-EA41-937B-E68D4C6A0841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341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26D49-397F-B715-D50A-B77591A1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558" y="1600201"/>
            <a:ext cx="8437945" cy="45259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E1C8-A9FA-924F-80DA-3B96C0343AF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71812306-B812-4C50-F7A0-862C984F42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33391168"/>
              </p:ext>
            </p:extLst>
          </p:nvPr>
        </p:nvGraphicFramePr>
        <p:xfrm>
          <a:off x="2058972" y="2126696"/>
          <a:ext cx="7775550" cy="2107502"/>
        </p:xfrm>
        <a:graphic>
          <a:graphicData uri="http://schemas.openxmlformats.org/drawingml/2006/table">
            <a:tbl>
              <a:tblPr rtl="1" firstRow="1" bandRow="1">
                <a:tableStyleId>{793D81CF-94F2-401A-BA57-92F5A7B2D0C5}</a:tableStyleId>
              </a:tblPr>
              <a:tblGrid>
                <a:gridCol w="1295925">
                  <a:extLst>
                    <a:ext uri="{9D8B030D-6E8A-4147-A177-3AD203B41FA5}">
                      <a16:colId xmlns:a16="http://schemas.microsoft.com/office/drawing/2014/main" val="3224435564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520824301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90709058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2141296278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1831022972"/>
                    </a:ext>
                  </a:extLst>
                </a:gridCol>
                <a:gridCol w="1295925">
                  <a:extLst>
                    <a:ext uri="{9D8B030D-6E8A-4147-A177-3AD203B41FA5}">
                      <a16:colId xmlns:a16="http://schemas.microsoft.com/office/drawing/2014/main" val="626801781"/>
                    </a:ext>
                  </a:extLst>
                </a:gridCol>
              </a:tblGrid>
              <a:tr h="494140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863574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625601"/>
                  </a:ext>
                </a:extLst>
              </a:tr>
              <a:tr h="806681"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endParaRPr lang="he-IL" sz="2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57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46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92AE4-510D-3C40-B9B0-AA6693EED883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D8F28D-D1D2-34A5-D88A-549DD7AD70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5D179-4B48-7641-AFA1-4656153FFCB8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1439EE-8346-69C4-2D2A-C45C952E13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768" y="1600201"/>
            <a:ext cx="10635632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5291BFA-5674-76B5-89A7-703C97229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6A8D-C7E4-194A-BF0A-D552B24EBF9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E56AFE-36F7-8DA5-652B-89A25DA319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57403" y="1417638"/>
            <a:ext cx="7624997" cy="435702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5200" y="1417638"/>
            <a:ext cx="2844801" cy="435702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B2D52-0D9F-F345-8384-0DCA30BF1F0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4ED6-1944-D14D-91B5-FC6036DE393D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8E4D-FFEC-474C-BD1C-299FD021CBA4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ln w="127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fmla="*/ 0 w 10972800" name="csX0"/>
                      <a:gd fmla="*/ 0 h 1143000" name="csY0"/>
                      <a:gd fmla="*/ 10972800 w 10972800" name="csX1"/>
                      <a:gd fmla="*/ 0 h 1143000" name="csY1"/>
                      <a:gd fmla="*/ 10972800 w 10972800" name="csX2"/>
                      <a:gd fmla="*/ 1143000 h 1143000" name="csY2"/>
                      <a:gd fmla="*/ 0 w 10972800" name="csX3"/>
                      <a:gd fmla="*/ 1143000 h 1143000" name="csY3"/>
                      <a:gd fmla="*/ 0 w 10972800" name="csX4"/>
                      <a:gd fmla="*/ 0 h 1143000" name="csY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b="b" l="l" r="r" t="t"/>
                    <a:pathLst>
                      <a:path extrusionOk="0" fill="none" h="1143000" w="10972800">
                        <a:moveTo>
                          <a:pt x="0" y="0"/>
                        </a:moveTo>
                        <a:cubicBezTo>
                          <a:pt x="4674310" y="-49533"/>
                          <a:pt x="6929254" y="-14809"/>
                          <a:pt x="10972800" y="0"/>
                        </a:cubicBezTo>
                        <a:cubicBezTo>
                          <a:pt x="10969069" y="570730"/>
                          <a:pt x="11062171" y="914526"/>
                          <a:pt x="10972800" y="1143000"/>
                        </a:cubicBezTo>
                        <a:cubicBezTo>
                          <a:pt x="6482996" y="1094769"/>
                          <a:pt x="3552735" y="1227455"/>
                          <a:pt x="0" y="1143000"/>
                        </a:cubicBezTo>
                        <a:cubicBezTo>
                          <a:pt x="69309" y="672287"/>
                          <a:pt x="-28229" y="279082"/>
                          <a:pt x="0" y="0"/>
                        </a:cubicBezTo>
                        <a:close/>
                      </a:path>
                      <a:path extrusionOk="0" h="1143000" stroke="0" w="10972800">
                        <a:moveTo>
                          <a:pt x="0" y="0"/>
                        </a:moveTo>
                        <a:cubicBezTo>
                          <a:pt x="3528079" y="118645"/>
                          <a:pt x="9610931" y="116012"/>
                          <a:pt x="10972800" y="0"/>
                        </a:cubicBezTo>
                        <a:cubicBezTo>
                          <a:pt x="11055528" y="134374"/>
                          <a:pt x="10882381" y="1028043"/>
                          <a:pt x="10972800" y="1143000"/>
                        </a:cubicBezTo>
                        <a:cubicBezTo>
                          <a:pt x="8799093" y="1277600"/>
                          <a:pt x="3316512" y="985804"/>
                          <a:pt x="0" y="1143000"/>
                        </a:cubicBezTo>
                        <a:cubicBezTo>
                          <a:pt x="94203" y="956839"/>
                          <a:pt x="-18710" y="28947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946768" y="1600201"/>
            <a:ext cx="10635632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E24A-D52C-CB4E-85D6-C52415601A2A}" type="datetime9">
              <a:rPr lang="he-IL" smtClean="0"/>
              <a:t>12 פברואר,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E54F053-C5B3-FA53-FB24-F76EBC23E5F7}"/>
              </a:ext>
            </a:extLst>
          </p:cNvPr>
          <p:cNvSpPr/>
          <p:nvPr/>
        </p:nvSpPr>
        <p:spPr>
          <a:xfrm>
            <a:off x="10492509" y="-832013"/>
            <a:ext cx="5901557" cy="7690013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7150">
            <a:solidFill>
              <a:srgbClr val="941100">
                <a:alpha val="44000"/>
              </a:srgbClr>
            </a:solidFill>
            <a:prstDash val="solid"/>
            <a:miter/>
          </a:ln>
        </p:spPr>
        <p:txBody>
          <a:bodyPr/>
          <a:lstStyle/>
          <a:p>
            <a:endParaRPr lang="en-IL"/>
          </a:p>
        </p:txBody>
      </p:sp>
      <p:sp>
        <p:nvSpPr>
          <p:cNvPr id="12" name="Freeform 20">
            <a:extLst>
              <a:ext uri="{FF2B5EF4-FFF2-40B4-BE49-F238E27FC236}">
                <a16:creationId xmlns:a16="http://schemas.microsoft.com/office/drawing/2014/main" id="{C6ADFD82-3296-8C7F-2ACC-D8399785AC79}"/>
              </a:ext>
            </a:extLst>
          </p:cNvPr>
          <p:cNvSpPr/>
          <p:nvPr/>
        </p:nvSpPr>
        <p:spPr>
          <a:xfrm>
            <a:off x="-6720016" y="-1088358"/>
            <a:ext cx="7329616" cy="7329616"/>
          </a:xfrm>
          <a:custGeom>
            <a:avLst/>
            <a:gdLst/>
            <a:ahLst/>
            <a:cxnLst/>
            <a:rect b="b" l="l" r="r" t="t"/>
            <a:pathLst>
              <a:path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w="514350">
            <a:solidFill>
              <a:srgbClr val="941100">
                <a:alpha val="17929"/>
              </a:srgbClr>
            </a:solidFill>
            <a:prstDash val="solid"/>
            <a:miter/>
          </a:ln>
        </p:spPr>
        <p:txBody>
          <a:bodyPr/>
          <a:lstStyle/>
          <a:p>
            <a:endParaRPr lang="en-IL" sz="933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61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hdr="0"/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lnSpc>
          <a:spcPct val="130000"/>
        </a:lnSpc>
        <a:spcBef>
          <a:spcPts val="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lnSpc>
          <a:spcPct val="130000"/>
        </a:lnSpc>
        <a:spcBef>
          <a:spcPts val="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lnSpc>
          <a:spcPct val="130000"/>
        </a:lnSpc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lnSpc>
          <a:spcPct val="130000"/>
        </a:lnSpc>
        <a:spcBef>
          <a:spcPts val="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lnSpc>
          <a:spcPct val="130000"/>
        </a:lnSpc>
        <a:spcBef>
          <a:spcPts val="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2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4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5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6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7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8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9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10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11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image" Target="../media/image12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9F15AE-737D-866E-3CF2-D0120AD833A4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10: Streaming Data and Approximation Algorithms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for Approximation (Prerequisites)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section reviews probability concepts used in approximation and randomization algorithms for streaming.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Probability: Expectation &amp; Variance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be a discrete random variable with values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⋅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 b="1"/>
                  <a:t>Interpretation:</a:t>
                </a:r>
                <a:r>
                  <a:rPr/>
                  <a:t> weighted average of outcomes by their probability.</a:t>
                </a:r>
              </a:p>
              <a:p>
                <a:pPr lvl="0"/>
                <a:r>
                  <a:rPr b="1"/>
                  <a:t>Linearity (always):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Y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+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Y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rPr>
                        <m:sty m:val="p"/>
                      </m:rPr>
                      <m:t>⋅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be a discrete random variable.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V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]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 b="1"/>
                  <a:t>Scaling: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V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Interpretation:</a:t>
                </a:r>
                <a:r>
                  <a:rPr/>
                  <a:t> spread around the mean; used in tail bounds.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are </a:t>
                </a:r>
                <a:r>
                  <a:rPr b="1"/>
                  <a:t>independent</a:t>
                </a:r>
                <a:r>
                  <a:rPr/>
                  <a:t> iff: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 b="1"/>
                  <a:t>Consequence: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t>Y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Y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; variances of sums add when independent.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Probability: Tools &amp; Bounds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Union Bound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events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E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∪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∪</m:t>
                      </m:r>
                      <m:r>
                        <m:rPr>
                          <m:sty m:val="p"/>
                        </m:rPr>
                        <m:t>⋯</m:t>
                      </m:r>
                      <m:r>
                        <m:rPr>
                          <m:sty m:val="p"/>
                        </m:rPr>
                        <m:t>∪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⋯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 b="1"/>
                  <a:t>Interpretation:</a:t>
                </a:r>
                <a:r>
                  <a:rPr/>
                  <a:t> upper bound on “at least one event happens”; no independence required.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Bernoulli and Series (Useful Bounds)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Bernoulli’s inequality: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≤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  <a:r>
                  <a:rPr/>
                  <a:t> for real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— used to bound collision probabilities.</a:t>
                </a:r>
              </a:p>
              <a:p>
                <a:pPr lvl="0"/>
                <a:r>
                  <a:rPr b="1"/>
                  <a:t>Sum of arithmetic series: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n</m:t>
                        </m:r>
                      </m:num>
                      <m:den>
                        <m: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— used in collision bound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⋯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m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m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t>m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Tail Inequalities: Markov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</m:oMath>
                </a14:m>
                <a:r>
                  <a:rPr/>
                  <a:t>. For any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&gt;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ϵ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≤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ϵ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Interpretation:</a:t>
                </a:r>
                <a:r>
                  <a:rPr/>
                  <a:t> bounds probability of exceeding mean by a factor; no variance needed.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Tail Inequalities: Chebyshev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have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V</m:t>
                    </m:r>
                    <m:r>
                      <m:rPr>
                        <m:sty m:val="p"/>
                      </m:rPr>
                      <m:t>a</m:t>
                    </m:r>
                    <m:r>
                      <m:rPr>
                        <m:sty m:val="p"/>
                      </m:rP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 For any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≥</m:t>
                      </m:r>
                      <m:r>
                        <m:t>ϵ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≤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t>σ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r>
                                <m:t>μ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sSup>
                            <m:e>
                              <m:r>
                                <m:t>ϵ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Interpretation:</a:t>
                </a:r>
                <a:r>
                  <a:rPr/>
                  <a:t> uses variance to bound deviation from mean; used to analyze approximation error.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 Probability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 Probability: 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Using hash functions in streaming algorithms requires </a:t>
                </a:r>
                <a:r>
                  <a:rPr b="1"/>
                  <a:t>collision analysis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Model: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balls,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bins; each step one ball is thrown into a bin.</a:t>
                </a:r>
              </a:p>
              <a:p>
                <a:pPr lvl="0"/>
                <a:r>
                  <a:rPr b="1"/>
                  <a:t>Goal:</a:t>
                </a:r>
                <a:r>
                  <a:rPr/>
                  <a:t> bound probability that no bin gets more than one ball (no collision).</a:t>
                </a:r>
              </a:p>
              <a:p>
                <a:pPr lvl="0"/>
                <a:r>
                  <a:rPr/>
                  <a:t>Bernoulli’s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≤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  <a:r>
                  <a:rPr/>
                  <a:t> is used for the bound.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 Probability: Events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balls,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bins; each step one ball goes to a bin.</a:t>
                </a:r>
              </a:p>
              <a:p>
                <a:pPr lvl="0"/>
                <a:r>
                  <a:rPr b="1"/>
                  <a:t>Events: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no collision when the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-th ball is thrown.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n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Goal:</a:t>
                </a:r>
                <a:r>
                  <a:rPr/>
                  <a:t> probability of no collision = 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∩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∩</m:t>
                    </m:r>
                    <m:r>
                      <m:rPr>
                        <m:sty m:val="p"/>
                      </m:rPr>
                      <m:t>⋯</m:t>
                    </m:r>
                    <m:r>
                      <m:rPr>
                        <m:sty m:val="p"/>
                      </m:rPr>
                      <m:t>∩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m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 Probability: General Formula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Chain rule: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∩</m:t>
                      </m:r>
                      <m:r>
                        <m:rPr>
                          <m:sty m:val="p"/>
                        </m:rPr>
                        <m:t>⋯</m:t>
                      </m:r>
                      <m:r>
                        <m:rPr>
                          <m:sty m:val="p"/>
                        </m:rPr>
                        <m:t>∩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i</m:t>
                                  </m:r>
                                </m:num>
                                <m:den>
                                  <m:r>
                                    <m:t>n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</a:p>
              <a:p>
                <a:pPr lvl="0"/>
                <a:r>
                  <a:rPr b="1"/>
                  <a:t>Interpretation:</a:t>
                </a:r>
                <a:r>
                  <a:rPr/>
                  <a:t> each new ball must avoid all previously occupied bins.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 Probability: Bernoulli Bound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≤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  <a:r>
                  <a:rPr/>
                  <a:t>:</a:t>
                </a:r>
              </a:p>
              <a:p>
                <a:pPr lvl="0"/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r>
                      <m:rPr>
                        <m:sty m:val="p"/>
                      </m:rPr>
                      <m:t>≤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2</m:t>
                        </m:r>
                      </m:num>
                      <m:den>
                        <m:r>
                          <m:t>n</m:t>
                        </m:r>
                      </m:den>
                    </m:f>
                    <m:r>
                      <m:rPr>
                        <m:sty m:val="p"/>
                      </m:rPr>
                      <m:t>≤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…</m:t>
                    </m:r>
                  </m:oMath>
                </a14:m>
              </a:p>
              <a:p>
                <a:pPr lvl="0"/>
                <a:r>
                  <a:rPr/>
                  <a:t>So the product is at most: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2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⋯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Collision Probability: Final Bound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Arithmetic series: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⋯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r>
                      <m:t>m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r>
                          <m:t>m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t>m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nor/>
                          <m:sty m:val="p"/>
                        </m:rPr>
                        <m:t>no collision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≤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num>
                            <m:den>
                              <m:r>
                                <m:t>2</m:t>
                              </m:r>
                              <m:r>
                                <m:t>n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</a:p>
              <a:p>
                <a:pPr lvl="0"/>
                <a:r>
                  <a:rPr b="1"/>
                  <a:t>Interpretation:</a:t>
                </a:r>
                <a:r>
                  <a:rPr/>
                  <a:t> enables choosing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(e.g., number of bins/hash buckets) to minimize collisions in hash-based designs.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Approximation and Randomization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Approximation and Randomization?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Many quantities are hard to compute </a:t>
            </a:r>
            <a:r>
              <a:rPr b="1"/>
              <a:t>exactly</a:t>
            </a:r>
            <a:r>
              <a:rPr/>
              <a:t> over a stream (e.g., “same count in two streams?”).</a:t>
            </a:r>
          </a:p>
          <a:p>
            <a:pPr lvl="0"/>
            <a:r>
              <a:rPr b="1"/>
              <a:t>Approximation:</a:t>
            </a:r>
            <a:r>
              <a:rPr/>
              <a:t> answer correct within some factor (e.g., within 10%).</a:t>
            </a:r>
          </a:p>
          <a:p>
            <a:pPr lvl="0"/>
            <a:r>
              <a:rPr b="1"/>
              <a:t>Randomization:</a:t>
            </a:r>
            <a:r>
              <a:rPr/>
              <a:t> allow a small probability of failure (e.g., correct except with probability 1/10,000).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hasCustomPrompt="1"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ϵ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-Approximations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Approximation:</a:t>
                </a:r>
                <a:r>
                  <a:rPr/>
                  <a:t> answer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±</m:t>
                    </m:r>
                    <m:r>
                      <m:t>ϵ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factor of the true value.</a:t>
                </a:r>
              </a:p>
              <a:p>
                <a:pPr lvl="0"/>
                <a:r>
                  <a:rPr b="1"/>
                  <a:t>Randomization:</a:t>
                </a:r>
                <a:r>
                  <a:rPr/>
                  <a:t> success with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Goal:</a:t>
                </a:r>
                <a:r>
                  <a:rPr/>
                  <a:t> develop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ϵ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b="1"/>
                  <a:t>-approximation</a:t>
                </a:r>
                <a:r>
                  <a:rPr/>
                  <a:t> algorithms.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Approximation Formalism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True answer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rPr>
                          <m:nor/>
                          <m:sty m:val="p"/>
                        </m:rPr>
                        <m:t>output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nor/>
                          <m:sty m:val="p"/>
                        </m:rPr>
                        <m:t>True answer</m:t>
                      </m:r>
                    </m:oMath>
                  </m:oMathPara>
                </a14:m>
              </a:p>
              <a:p>
                <a:pPr lvl="0"/>
                <a:r>
                  <a:rPr b="1"/>
                  <a:t>Goal:</a:t>
                </a:r>
                <a:r>
                  <a:rPr/>
                  <a:t> minimize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(best is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ϵ</m:t>
                    </m:r>
                  </m:oMath>
                </a14:m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/>
                  <a:t>Holds with probability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δ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Example: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3</m:t>
                        </m:r>
                      </m:den>
                    </m:f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→ error &gt; 33% only 1% of the time.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Streaming Model (Main Content)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Design real-time pipelines for unbounded event streams.</a:t>
            </a:r>
          </a:p>
          <a:p>
            <a:pPr lvl="0"/>
            <a:r>
              <a:rPr/>
              <a:t>Use sketch/approximation methods when exact state is too expensive.</a:t>
            </a:r>
          </a:p>
          <a:p>
            <a:pPr lvl="0"/>
            <a:r>
              <a:rPr/>
              <a:t>Balance accuracy, latency, and resource usage in production.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Explain stream-processing constraints and window semantics.</a:t>
            </a:r>
          </a:p>
          <a:p>
            <a:pPr lvl="0"/>
            <a:r>
              <a:rPr/>
              <a:t>Choose approximation algorithms for count/distinct/frequency queries.</a:t>
            </a:r>
          </a:p>
          <a:p>
            <a:pPr lvl="0"/>
            <a:r>
              <a:rPr/>
              <a:t>Size sketch parameters from error requirements.</a:t>
            </a:r>
          </a:p>
          <a:p>
            <a:pPr lvl="0"/>
            <a:r>
              <a:rPr/>
              <a:t>Build reliable event-time pipelines with watermarks and idempotent sinks.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Lecture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Stream systems cannot rely on full-history scans.</a:t>
            </a:r>
          </a:p>
          <a:p>
            <a:pPr lvl="0"/>
            <a:r>
              <a:rPr/>
              <a:t>Exact answers are often too costly in memory/time.</a:t>
            </a:r>
          </a:p>
          <a:p>
            <a:pPr lvl="0"/>
            <a:r>
              <a:rPr/>
              <a:t>Approximation gives controlled error with strong efficiency gains.</a:t>
            </a:r>
          </a:p>
          <a:p>
            <a:pPr lvl="0"/>
            <a:r>
              <a:rPr/>
              <a:t>Correctness depends on time semantics and replay safety.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Stream Data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 </a:t>
                </a:r>
                <a:r>
                  <a:rPr b="1"/>
                  <a:t>stream</a:t>
                </a:r>
                <a:r>
                  <a:rPr/>
                  <a:t> is a sequence arriving one by one: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⟨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⟩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Constraints:</a:t>
                </a:r>
                <a:r>
                  <a:rPr/>
                  <a:t> data read sequentially in one pass; bounded storage; fast per-element processing.</a:t>
                </a:r>
              </a:p>
              <a:p>
                <a:pPr lvl="0"/>
                <a:r>
                  <a:rPr b="1"/>
                  <a:t>Goal:</a:t>
                </a:r>
                <a:r>
                  <a:rPr/>
                  <a:t> maintain a </a:t>
                </a:r>
                <a:r>
                  <a:rPr b="1"/>
                  <a:t>sketch</a:t>
                </a:r>
                <a:r>
                  <a:rPr/>
                  <a:t> that captures properties we care about.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 small summary of a large data set that (approximately) captures statistics we care about.</a:t>
            </a:r>
          </a:p>
          <a:p>
            <a:pPr lvl="0"/>
            <a:r>
              <a:rPr b="1"/>
              <a:t>Desirable:</a:t>
            </a:r>
            <a:r>
              <a:rPr/>
              <a:t> easy to add an element; </a:t>
            </a:r>
            <a:r>
              <a:rPr b="1"/>
              <a:t>mergeable</a:t>
            </a:r>
            <a:r>
              <a:rPr/>
              <a:t> (combine sketches from disjoint sets); optional deletions; flexible query types.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Streaming Model (Diagram)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Data arrives continuously and may be out of order.</a:t>
            </a:r>
          </a:p>
          <a:p>
            <a:pPr lvl="0"/>
            <a:r>
              <a:rPr/>
              <a:t>Processing must be online (single pass).</a:t>
            </a:r>
          </a:p>
          <a:p>
            <a:pPr lvl="0"/>
            <a:r>
              <a:rPr/>
              <a:t>Memory is bounded relative to stream size.</a:t>
            </a:r>
          </a:p>
          <a:p>
            <a:pPr lvl="0"/>
            <a:r>
              <a:rPr/>
              <a:t>Per-event update cost must stay low.</a:t>
            </a:r>
          </a:p>
        </p:txBody>
      </p:sp>
      <p:pic>
        <p:nvPicPr>
          <p:cNvPr descr="../../diagrams/week10/week10_streaming_constrai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0" y="1409700"/>
            <a:ext cx="15367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Batch vs Stream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Batch:</a:t>
            </a:r>
            <a:r>
              <a:rPr/>
              <a:t> finite input, full recomputation possible.</a:t>
            </a:r>
          </a:p>
          <a:p>
            <a:pPr lvl="0"/>
            <a:r>
              <a:rPr b="1"/>
              <a:t>Stream:</a:t>
            </a:r>
            <a:r>
              <a:rPr/>
              <a:t> unbounded input, incremental state updates.</a:t>
            </a:r>
          </a:p>
          <a:p>
            <a:pPr lvl="0"/>
            <a:r>
              <a:rPr/>
              <a:t>Batch optimizes throughput; stream optimizes freshness.</a:t>
            </a:r>
          </a:p>
          <a:p>
            <a:pPr lvl="0"/>
            <a:r>
              <a:rPr/>
              <a:t>Many systems combine both modes.</a:t>
            </a:r>
          </a:p>
        </p:txBody>
      </p:sp>
      <p:pic>
        <p:nvPicPr>
          <p:cNvPr descr="../../diagrams/week10/week10_batch_vs_stre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2032000"/>
            <a:ext cx="76200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Approximation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Exact distinct counting requires large state at scale.</a:t>
            </a:r>
          </a:p>
          <a:p>
            <a:pPr lvl="0"/>
            <a:r>
              <a:rPr/>
              <a:t>Exact per-key frequency for huge domains is expensive.</a:t>
            </a:r>
          </a:p>
          <a:p>
            <a:pPr lvl="0"/>
            <a:r>
              <a:rPr/>
              <a:t>Latency targets conflict with heavy exact structures.</a:t>
            </a:r>
          </a:p>
          <a:p>
            <a:pPr lvl="0"/>
            <a:r>
              <a:rPr/>
              <a:t>Approximate sketches trade tiny error for major savings.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Framework &amp; Counting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Naïve: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counter += 1</a:t>
                </a:r>
                <a:r>
                  <a:rPr/>
                  <a:t> for each element → space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bits for count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For very large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even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may not fit.</a:t>
                </a:r>
              </a:p>
              <a:p>
                <a:pPr lvl="0"/>
                <a:r>
                  <a:rPr/>
                  <a:t>Need </a:t>
                </a:r>
                <a:r>
                  <a:rPr b="1"/>
                  <a:t>approximate counting</a:t>
                </a:r>
                <a:r>
                  <a:rPr/>
                  <a:t> with smaller state.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Error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38FFFFD-68E9-C4E4-7764-523BAE32B83B}"/>
                  </a:ext>
                </a:extLst>
              </p:cNvPr>
              <p:cNvSpPr>
                <a:spLocks noGrp="1"/>
              </p:cNvSpPr>
              <p:nvPr>
                <p:ph hasCustomPrompt="1"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|</m:t>
                      </m:r>
                      <m:acc>
                        <m:accPr>
                          <m:chr m:val="̂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−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ϵ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≥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δ</m:t>
                      </m:r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t>ϵ</m:t>
                    </m:r>
                  </m:oMath>
                </a14:m>
                <a:r>
                  <a:rPr b="1"/>
                  <a:t>:</a:t>
                </a:r>
                <a:r>
                  <a:rPr/>
                  <a:t> error tolerance.</a:t>
                </a:r>
              </a:p>
              <a:p>
                <a:pPr lvl="0"/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 b="1"/>
                  <a:t>:</a:t>
                </a:r>
                <a:r>
                  <a:rPr/>
                  <a:t> failure probability.</a:t>
                </a:r>
              </a:p>
              <a:p>
                <a:pPr lvl="0"/>
                <a:r>
                  <a:rPr/>
                  <a:t>Smaller error / tighter confidence → more memory.</a:t>
                </a:r>
              </a:p>
              <a:p>
                <a:pPr lvl="0"/>
                <a:r>
                  <a:rPr/>
                  <a:t>Core tuning contract for sketches.</a:t>
                </a:r>
              </a:p>
            </p:txBody>
          </p:sp>
        </mc:Choice>
      </mc:AlternateContent>
      <p:pic>
        <p:nvPicPr>
          <p:cNvPr descr="../../diagrams/week10/week10_epsilon_del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64200" y="1409700"/>
            <a:ext cx="42037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Morris Counter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Algorithm 1: Morris Counter — Goal &amp;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Goal:</a:t>
                </a:r>
                <a:r>
                  <a:rPr/>
                  <a:t> Given stream 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, estimate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with sub-linear space.</a:t>
                </a:r>
              </a:p>
              <a:p>
                <a:pPr lvl="0"/>
                <a:r>
                  <a:rPr b="1"/>
                  <a:t>Idea:</a:t>
                </a:r>
                <a:r>
                  <a:rPr/>
                  <a:t> Track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</m:oMath>
                </a14:m>
                <a:r>
                  <a:rPr/>
                  <a:t> instead of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→ use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bits instead of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Morris Counter: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Initialize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When item arrives: increment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by 1 with </a:t>
                </a:r>
                <a:r>
                  <a:rPr b="1"/>
                  <a:t>probability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X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Output:</a:t>
                </a:r>
                <a:r>
                  <a:rPr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n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Key: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  <a:r>
                  <a:rPr/>
                  <a:t> (unbiased in log space).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Morris Counter: Properties &amp; Trace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Variance: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[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(high — single estimator is noisy).</a:t>
                </a:r>
              </a:p>
              <a:p>
                <a:pPr lvl="0"/>
                <a:r>
                  <a:rPr b="1"/>
                  <a:t>Memory: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≈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</m:oMath>
                </a14:m>
                <a:r>
                  <a:rPr/>
                  <a:t> →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bits.</a:t>
                </a:r>
              </a:p>
              <a:p>
                <a:pPr lvl="0"/>
                <a:r>
                  <a:rPr b="1"/>
                  <a:t>Trace example:</a:t>
                </a:r>
                <a:r>
                  <a:rPr/>
                  <a:t> Stream of eight 1’s →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evolves 0→1→1→2→2→2→2→3, estimate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7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Morris Counter: Why Naïve Version Fails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Chebyshev: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|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ϵ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≤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σ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μ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ϵ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-approximation we need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m:t>&lt;</m:t>
                    </m:r>
                    <m:r>
                      <m:t>δ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Example: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/>
                  <a:t> ⇒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100</m:t>
                    </m:r>
                  </m:oMath>
                </a14:m>
                <a:r>
                  <a:rPr/>
                  <a:t> (impossible).</a:t>
                </a:r>
              </a:p>
              <a:p>
                <a:pPr lvl="0"/>
                <a:r>
                  <a:rPr b="1"/>
                  <a:t>Single estimator has too high variance</a:t>
                </a:r>
                <a:r>
                  <a:rPr/>
                  <a:t> → need multiple estimators.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Morris Counter: Beta Version — Idea &amp;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Idea:</a:t>
                </a:r>
                <a:r>
                  <a:rPr/>
                  <a:t> Maintain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independent counters; average results to reduce variance.</a:t>
                </a:r>
              </a:p>
              <a:p>
                <a:pPr lvl="0"/>
                <a:r>
                  <a:rPr/>
                  <a:t>Initialize each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On arrival: increment each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by 1 independently with probability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Output:</a:t>
                </a:r>
                <a:r>
                  <a:rPr/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s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p>
                      <m:e>
                        <m:r>
                          <m:t>2</m:t>
                        </m:r>
                      </m:e>
                      <m:sup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Morris Counter: Beta Version — Variance &amp; Sizing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3">
                <a:extLst>
                  <a:ext uri="{FF2B5EF4-FFF2-40B4-BE49-F238E27FC236}">
                    <a16:creationId xmlns:a16="http://schemas.microsoft.com/office/drawing/2014/main" id="{838FFFFD-68E9-C4E4-7764-523BAE32B83B}"/>
                  </a:ext>
                </a:extLst>
              </p:cNvPr>
              <p:cNvSpPr>
                <a:spLocks noGrp="1"/>
              </p:cNvSpPr>
              <p:nvPr>
                <p:ph hasCustomPrompt="1" idx="2" sz="half" type="body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Variance reduction: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[</m:t>
                    </m:r>
                    <m:r>
                      <m:rPr>
                        <m:nor/>
                        <m:sty m:val="p"/>
                      </m:rPr>
                      <m:t>avg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m:t>n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s</m:t>
                        </m:r>
                      </m:den>
                    </m:f>
                  </m:oMath>
                </a14:m>
                <a:r>
                  <a:rPr/>
                  <a:t> (by independence).</a:t>
                </a:r>
              </a:p>
              <a:p>
                <a:pPr lvl="0"/>
                <a:r>
                  <a:rPr/>
                  <a:t>Chebyshev: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|</m:t>
                    </m:r>
                    <m:acc>
                      <m:accPr>
                        <m:chr m:val="̂"/>
                      </m:accPr>
                      <m:e>
                        <m:r>
                          <m:t>n</m:t>
                        </m:r>
                      </m:e>
                    </m:acc>
                    <m:r>
                      <m:rPr>
                        <m:sty m:val="p"/>
                      </m:rPr>
                      <m:t>−</m:t>
                    </m:r>
                    <m:r>
                      <m:t>n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ϵ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≤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s</m:t>
                        </m:r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For probability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δ</m:t>
                    </m:r>
                  </m:oMath>
                </a14:m>
                <a:r>
                  <a:rPr/>
                  <a:t>: need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δ</m:t>
                        </m:r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Example: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 ⇒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1600</m:t>
                    </m:r>
                  </m:oMath>
                </a14:m>
                <a:r>
                  <a:rPr/>
                  <a:t> counters.</a:t>
                </a:r>
              </a:p>
            </p:txBody>
          </p:sp>
        </mc:Choice>
      </mc:AlternateContent>
      <p:pic>
        <p:nvPicPr>
          <p:cNvPr descr="../../diagrams/week10/week10_morris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0" y="1409700"/>
            <a:ext cx="15367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hasCustomPrompt="1"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Distinct Count (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Streams and Frequency Moments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Stream of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elements from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{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⟨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m</m:t>
                        </m:r>
                      </m:sub>
                    </m:sSub>
                    <m:r>
                      <m:rPr>
                        <m:sty m:val="p"/>
                      </m:rPr>
                      <m:t>⟩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Frequency: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 = number of times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appears.</a:t>
                </a:r>
              </a:p>
              <a:p>
                <a:pPr lvl="0"/>
                <a:r>
                  <a:rPr b="1"/>
                  <a:t>Moments: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= distinct count;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f</m:t>
                            </m:r>
                          </m:e>
                          <m:sub>
                            <m:r>
                              <m:t>a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 = total count; 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a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Sup>
                          <m:e>
                            <m:r>
                              <m:t>f</m:t>
                            </m:r>
                          </m:e>
                          <m:sub>
                            <m:r>
                              <m:t>a</m:t>
                            </m:r>
                          </m:sub>
                          <m:sup>
                            <m: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/>
                  <a:t> (not covered here).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hasCustomPrompt="1"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Counting Distinct Elements (</a:t>
                </a:r>
                <a14:m>
                  <m:oMath xmlns:m="http://schemas.openxmlformats.org/officeDocument/2006/math">
                    <m:sSub>
                      <m:e>
                        <m:r>
                          <m:t>F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Use case:</a:t>
                </a:r>
                <a:r>
                  <a:rPr/>
                  <a:t> How many unique rows? (DISTINCT in SQL.)</a:t>
                </a:r>
              </a:p>
              <a:p>
                <a:pPr lvl="0"/>
                <a:r>
                  <a:rPr b="1"/>
                  <a:t>Exact:</a:t>
                </a:r>
                <a:r>
                  <a:rPr/>
                  <a:t> Hash table →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Ω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for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distinct elements.</a:t>
                </a:r>
              </a:p>
              <a:p>
                <a:pPr lvl="0"/>
                <a:r>
                  <a:rPr b="1"/>
                  <a:t>Goal:</a:t>
                </a:r>
                <a:r>
                  <a:rPr/>
                  <a:t> Small sketch with approximate distinct count.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Algorithm 2: Flajolet-Martin — Idea &amp;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Idea:</a:t>
                </a:r>
                <a:r>
                  <a:rPr/>
                  <a:t> Hash elements; count </a:t>
                </a:r>
                <a:r>
                  <a:rPr b="1"/>
                  <a:t>trailing zeros</a:t>
                </a:r>
                <a:r>
                  <a:rPr/>
                  <a:t> in binary hash; max relates to distinct count.</a:t>
                </a:r>
              </a:p>
              <a:p>
                <a:pPr lvl="0"/>
                <a:r>
                  <a:rPr/>
                  <a:t>For each element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: compute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count trailing zeros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Output: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m:t>max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Example:</a:t>
                </a:r>
                <a:r>
                  <a:rPr/>
                  <a:t> Stream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⟨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3</m:t>
                    </m:r>
                    <m:r>
                      <m:rPr>
                        <m:sty m:val="p"/>
                      </m:rPr>
                      <m:t>,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7</m:t>
                    </m:r>
                    <m:r>
                      <m:rPr>
                        <m:sty m:val="p"/>
                      </m:rPr>
                      <m:t>,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2</m:t>
                    </m:r>
                    <m:r>
                      <m:rPr>
                        <m:sty m:val="p"/>
                      </m:rPr>
                      <m:t>,</m:t>
                    </m:r>
                    <m:r>
                      <m:t>7</m:t>
                    </m:r>
                    <m:r>
                      <m:rPr>
                        <m:sty m:val="p"/>
                      </m:rPr>
                      <m:t>⟩</m:t>
                    </m:r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t> </m:t>
                    </m:r>
                    <m:r>
                      <m:rPr>
                        <m:sty m:val="p"/>
                      </m:rPr>
                      <m:t>mod</m:t>
                    </m:r>
                    <m:r>
                      <m:t> </m:t>
                    </m:r>
                    <m:r>
                      <m:t>5</m:t>
                    </m:r>
                  </m:oMath>
                </a14:m>
                <a:r>
                  <a:rPr/>
                  <a:t> → hashes 4,0,1,2,1,2,2 → max trailing zeros = 2 → estimate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4</m:t>
                    </m:r>
                  </m:oMath>
                </a14:m>
                <a:r>
                  <a:rPr/>
                  <a:t> (true distinct = 5).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Flajolet-Martin: Single Estimator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Single estimator: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</m:den>
                    </m:f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  <a:r>
                  <a:rPr/>
                  <a:t> — too noisy.</a:t>
                </a:r>
              </a:p>
              <a:p>
                <a:pPr lvl="0"/>
                <a:r>
                  <a:rPr/>
                  <a:t>Need multiple hashes and averaging (like Morris Beta).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Flajolet-Martin: Final Version (Multiple Hashes)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Run FM with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independent random hash functions →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q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q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; output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Z</m:t>
                        </m:r>
                      </m:den>
                    </m:f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Variance: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[</m:t>
                    </m:r>
                    <m:r>
                      <m:t>Z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q</m:t>
                        </m:r>
                      </m:den>
                    </m:f>
                    <m:r>
                      <m:rPr>
                        <m:sty m:val="p"/>
                      </m:rPr>
                      <m:t>⋅</m:t>
                    </m:r>
                    <m:f>
                      <m:fPr>
                        <m:type m:val="bar"/>
                      </m:fPr>
                      <m:num>
                        <m: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m:t>(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2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ϵ</m:t>
                    </m:r>
                    <m:r>
                      <m:rPr>
                        <m:sty m:val="p"/>
                      </m:rPr>
                      <m:t>,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need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≥</m:t>
                    </m:r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δ</m:t>
                        </m:r>
                        <m:sSup>
                          <m:e>
                            <m:r>
                              <m:t>ϵ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0"/>
                <a:r>
                  <a:rPr b="1"/>
                  <a:t>Example: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ϵ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0.01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</m:t>
                    </m:r>
                  </m:oMath>
                </a14:m>
                <a:r>
                  <a:rPr/>
                  <a:t> ⇒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100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Algorithm 3: HyperLogLog (Practical Distinct)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Uses many registers + harmonic mean estimator.</a:t>
                </a:r>
              </a:p>
              <a:p>
                <a:pPr lvl="0"/>
                <a:r>
                  <a:rPr b="1"/>
                  <a:t>Mergeable</a:t>
                </a:r>
                <a:r>
                  <a:rPr/>
                  <a:t> across partitions.</a:t>
                </a:r>
              </a:p>
              <a:p>
                <a:pPr lvl="0"/>
                <a:r>
                  <a:rPr/>
                  <a:t>Memory-efficient and production-proven.</a:t>
                </a:r>
              </a:p>
              <a:p>
                <a:pPr lvl="0"/>
                <a:r>
                  <a:rPr/>
                  <a:t>Relative error roughly </a:t>
                </a:r>
                <a14:m>
                  <m:oMath xmlns:m="http://schemas.openxmlformats.org/officeDocument/2006/math">
                    <m:r>
                      <m:t>1.04</m:t>
                    </m:r>
                    <m:r>
                      <m:rPr>
                        <m:sty m:val="p"/>
                      </m:rPr>
                      <m:t>/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m</m:t>
                        </m:r>
                      </m:e>
                    </m:rad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Algorithm 4: Count-Min Sketch (Frequency)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Estimates </a:t>
            </a:r>
            <a:r>
              <a:rPr b="1"/>
              <a:t>per-key counts</a:t>
            </a:r>
            <a:r>
              <a:rPr/>
              <a:t> with bounded additive error.</a:t>
            </a:r>
          </a:p>
          <a:p>
            <a:pPr lvl="0"/>
            <a:r>
              <a:rPr/>
              <a:t>Fast updates and queries.</a:t>
            </a:r>
          </a:p>
          <a:p>
            <a:pPr lvl="0"/>
            <a:r>
              <a:rPr/>
              <a:t>Overestimates due to hash collisions.</a:t>
            </a:r>
          </a:p>
          <a:p>
            <a:pPr lvl="0"/>
            <a:r>
              <a:rPr/>
              <a:t>Great for heavy-hitter and traffic monitoring.</a:t>
            </a:r>
          </a:p>
        </p:txBody>
      </p:sp>
      <p:pic>
        <p:nvPicPr>
          <p:cNvPr descr="../../diagrams/week10/week10_hll_vs_cms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2171700"/>
            <a:ext cx="76200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Sketch Selection Guide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Need </a:t>
            </a:r>
            <a:r>
              <a:rPr b="1"/>
              <a:t>distinct count</a:t>
            </a:r>
            <a:r>
              <a:rPr/>
              <a:t> → HyperLogLog.</a:t>
            </a:r>
          </a:p>
          <a:p>
            <a:pPr lvl="0"/>
            <a:r>
              <a:rPr/>
              <a:t>Need </a:t>
            </a:r>
            <a:r>
              <a:rPr b="1"/>
              <a:t>per-key frequency</a:t>
            </a:r>
            <a:r>
              <a:rPr/>
              <a:t> → Count-Min Sketch.</a:t>
            </a:r>
          </a:p>
          <a:p>
            <a:pPr lvl="0"/>
            <a:r>
              <a:rPr/>
              <a:t>Need </a:t>
            </a:r>
            <a:r>
              <a:rPr b="1"/>
              <a:t>tiny-memory rough count</a:t>
            </a:r>
            <a:r>
              <a:rPr/>
              <a:t> → Morris-style.</a:t>
            </a:r>
          </a:p>
          <a:p>
            <a:pPr lvl="0"/>
            <a:r>
              <a:rPr/>
              <a:t>Need </a:t>
            </a:r>
            <a:r>
              <a:rPr b="1"/>
              <a:t>mergeability</a:t>
            </a:r>
            <a:r>
              <a:rPr/>
              <a:t> across shards → HLL or CMS.</a:t>
            </a:r>
          </a:p>
        </p:txBody>
      </p:sp>
      <p:pic>
        <p:nvPicPr>
          <p:cNvPr descr="../../diagrams/week10/week10_sketch_selection_ac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30700" y="1409700"/>
            <a:ext cx="6858000" cy="435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Windows &amp; Time Semantics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Window Semantics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Tumbling:</a:t>
            </a:r>
            <a:r>
              <a:rPr/>
              <a:t> fixed non-overlapping windows.</a:t>
            </a:r>
          </a:p>
          <a:p>
            <a:pPr lvl="0"/>
            <a:r>
              <a:rPr b="1"/>
              <a:t>Sliding:</a:t>
            </a:r>
            <a:r>
              <a:rPr/>
              <a:t> overlapping windows with finer cadence.</a:t>
            </a:r>
          </a:p>
          <a:p>
            <a:pPr lvl="0"/>
            <a:r>
              <a:rPr b="1"/>
              <a:t>Session:</a:t>
            </a:r>
            <a:r>
              <a:rPr/>
              <a:t> user/activity gap-based windows.</a:t>
            </a:r>
          </a:p>
          <a:p>
            <a:pPr lvl="0"/>
            <a:r>
              <a:rPr/>
              <a:t>Window choice defines state size and business meaning.</a:t>
            </a:r>
          </a:p>
        </p:txBody>
      </p:sp>
      <p:pic>
        <p:nvPicPr>
          <p:cNvPr descr="../../diagrams/week10/week10_window_typ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2578100"/>
            <a:ext cx="7620000" cy="203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Event Time vs Processing Time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Event time:</a:t>
            </a:r>
            <a:r>
              <a:rPr/>
              <a:t> when the event actually happened.</a:t>
            </a:r>
          </a:p>
          <a:p>
            <a:pPr lvl="0"/>
            <a:r>
              <a:rPr b="1"/>
              <a:t>Processing time:</a:t>
            </a:r>
            <a:r>
              <a:rPr/>
              <a:t> when the system saw it.</a:t>
            </a:r>
          </a:p>
          <a:p>
            <a:pPr lvl="0"/>
            <a:r>
              <a:rPr/>
              <a:t>Event time yields </a:t>
            </a:r>
            <a:r>
              <a:rPr b="1"/>
              <a:t>replay-stable</a:t>
            </a:r>
            <a:r>
              <a:rPr/>
              <a:t> results.</a:t>
            </a:r>
          </a:p>
          <a:p>
            <a:pPr lvl="0"/>
            <a:r>
              <a:rPr/>
              <a:t>Processing time is simpler but less deterministic.</a:t>
            </a:r>
          </a:p>
        </p:txBody>
      </p:sp>
      <p:pic>
        <p:nvPicPr>
          <p:cNvPr descr="../../diagrams/week10/week10_event_vs_processing_seque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727200"/>
            <a:ext cx="76200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Watermarks and Late Data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Watermark:</a:t>
            </a:r>
            <a:r>
              <a:rPr/>
              <a:t> approximates “no more data before this time.”</a:t>
            </a:r>
          </a:p>
          <a:p>
            <a:pPr lvl="0"/>
            <a:r>
              <a:rPr b="1"/>
              <a:t>Aggressive</a:t>
            </a:r>
            <a:r>
              <a:rPr/>
              <a:t> watermark → lower latency, more late data dropped.</a:t>
            </a:r>
          </a:p>
          <a:p>
            <a:pPr lvl="0"/>
            <a:r>
              <a:rPr b="1"/>
              <a:t>Conservative</a:t>
            </a:r>
            <a:r>
              <a:rPr/>
              <a:t> watermark → better completeness, more delay.</a:t>
            </a:r>
          </a:p>
          <a:p>
            <a:pPr lvl="0"/>
            <a:r>
              <a:rPr/>
              <a:t>Tune from SLA and lateness distribution.</a:t>
            </a:r>
          </a:p>
        </p:txBody>
      </p:sp>
      <p:pic>
        <p:nvPicPr>
          <p:cNvPr descr="../../diagrams/week10/week10_watermark_tradeof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2032000"/>
            <a:ext cx="7620000" cy="312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Reliability &amp; Production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Delivery Guarantees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 b="1"/>
              <a:t>At-most-once:</a:t>
            </a:r>
            <a:r>
              <a:rPr/>
              <a:t> may lose; no duplicates.</a:t>
            </a:r>
          </a:p>
          <a:p>
            <a:pPr lvl="0"/>
            <a:r>
              <a:rPr b="1"/>
              <a:t>At-least-once:</a:t>
            </a:r>
            <a:r>
              <a:rPr/>
              <a:t> no loss; duplicates possible.</a:t>
            </a:r>
          </a:p>
          <a:p>
            <a:pPr lvl="0"/>
            <a:r>
              <a:rPr b="1"/>
              <a:t>Exactly-once:</a:t>
            </a:r>
            <a:r>
              <a:rPr/>
              <a:t> strongest semantics; more complexity.</a:t>
            </a:r>
          </a:p>
          <a:p>
            <a:pPr lvl="0"/>
            <a:r>
              <a:rPr/>
              <a:t>Most systems use at-least-once + </a:t>
            </a:r>
            <a:r>
              <a:rPr b="1"/>
              <a:t>idempotent sink</a:t>
            </a:r>
            <a:r>
              <a:rPr/>
              <a:t> logic.</a:t>
            </a:r>
          </a:p>
        </p:txBody>
      </p:sp>
      <p:pic>
        <p:nvPicPr>
          <p:cNvPr descr="../../diagrams/week10/week10_delivery_guarante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2755900"/>
            <a:ext cx="7620000" cy="166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Idempotent Sink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Sink key includes </a:t>
            </a:r>
            <a:r>
              <a:rPr b="1"/>
              <a:t>window + business key</a:t>
            </a:r>
            <a:r>
              <a:rPr/>
              <a:t>.</a:t>
            </a:r>
          </a:p>
          <a:p>
            <a:pPr lvl="0"/>
            <a:r>
              <a:rPr/>
              <a:t>Writes are upserts/merge-safe.</a:t>
            </a:r>
          </a:p>
          <a:p>
            <a:pPr lvl="0"/>
            <a:r>
              <a:rPr/>
              <a:t>Retries replay safely without double counting.</a:t>
            </a:r>
          </a:p>
          <a:p>
            <a:pPr lvl="0"/>
            <a:r>
              <a:rPr/>
              <a:t>Essential for reliable production reprocessing.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State Sizing Intuition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State grows with </a:t>
            </a:r>
            <a:r>
              <a:rPr b="1"/>
              <a:t>keys × active windows × value size</a:t>
            </a:r>
            <a:r>
              <a:rPr/>
              <a:t>.</a:t>
            </a:r>
          </a:p>
          <a:p>
            <a:pPr lvl="0"/>
            <a:r>
              <a:rPr/>
              <a:t>Sliding/session windows can grow state quickly.</a:t>
            </a:r>
          </a:p>
          <a:p>
            <a:pPr lvl="0"/>
            <a:r>
              <a:rPr/>
              <a:t>Watermark and TTL policies bound state.</a:t>
            </a:r>
          </a:p>
          <a:p>
            <a:pPr lvl="0"/>
            <a:r>
              <a:rPr/>
              <a:t>Monitor checkpoint duration and state growth trends.</a:t>
            </a:r>
          </a:p>
        </p:txBody>
      </p:sp>
      <p:pic>
        <p:nvPicPr>
          <p:cNvPr descr="../../diagrams/week10/week10_state_sizing_rel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917700"/>
            <a:ext cx="7620000" cy="335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24627C-5938-5D06-969C-341161F7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Failure Modes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8FFFFD-68E9-C4E4-7764-523BAE32B83B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Unbounded late data inflates state.</a:t>
            </a:r>
          </a:p>
          <a:p>
            <a:pPr lvl="0"/>
            <a:r>
              <a:rPr/>
              <a:t>Incorrect watermark drops valid events.</a:t>
            </a:r>
          </a:p>
          <a:p>
            <a:pPr lvl="0"/>
            <a:r>
              <a:rPr/>
              <a:t>Consumer lag causes stale outputs.</a:t>
            </a:r>
          </a:p>
          <a:p>
            <a:pPr lvl="0"/>
            <a:r>
              <a:rPr/>
              <a:t>Sketch parameter mis-sizing causes poor accuracy.</a:t>
            </a:r>
          </a:p>
        </p:txBody>
      </p:sp>
      <p:pic>
        <p:nvPicPr>
          <p:cNvPr descr="../../diagrams/week10/week10_lecture_slide38_failure_late_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49700" y="1689100"/>
            <a:ext cx="76200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Monitoring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Consumer lag and throughput.</a:t>
            </a:r>
          </a:p>
          <a:p>
            <a:pPr lvl="0"/>
            <a:r>
              <a:rPr/>
              <a:t>Late event percentage.</a:t>
            </a:r>
          </a:p>
          <a:p>
            <a:pPr lvl="0"/>
            <a:r>
              <a:rPr/>
              <a:t>State size and checkpoint time.</a:t>
            </a:r>
          </a:p>
          <a:p>
            <a:pPr lvl="0"/>
            <a:r>
              <a:rPr/>
              <a:t>Accuracy drift from sampled exact comparisons.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Checklist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Are event-time and watermark policies explicit?</a:t>
                </a:r>
              </a:p>
              <a:p>
                <a:pPr lvl="0"/>
                <a:r>
                  <a:rPr/>
                  <a:t>Is sink idempotent under retries?</a:t>
                </a:r>
              </a:p>
              <a:p>
                <a:pPr lvl="0"/>
                <a:r>
                  <a:rPr/>
                  <a:t>Are sketch params derived from </a:t>
                </a:r>
                <a14:m>
                  <m:oMath xmlns:m="http://schemas.openxmlformats.org/officeDocument/2006/math">
                    <m:r>
                      <m:t>ϵ</m:t>
                    </m:r>
                  </m:oMath>
                </a14:m>
                <a:r>
                  <a:rPr/>
                  <a:t>/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goals?</a:t>
                </a:r>
              </a:p>
              <a:p>
                <a:pPr lvl="0"/>
                <a:r>
                  <a:rPr/>
                  <a:t>Are state growth and lag alerts configured?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Streaming systems optimize freshness under bounded resources.</a:t>
            </a:r>
          </a:p>
          <a:p>
            <a:pPr lvl="0"/>
            <a:r>
              <a:rPr/>
              <a:t>Approximation algorithms make large-scale queries feasible.</a:t>
            </a:r>
          </a:p>
          <a:p>
            <a:pPr lvl="0"/>
            <a:r>
              <a:rPr/>
              <a:t>Correctness depends on windowing, time semantics, and idempotency.</a:t>
            </a:r>
          </a:p>
          <a:p>
            <a:pPr lvl="0"/>
            <a:r>
              <a:rPr/>
              <a:t>Next: feature engineering pipelines for ML and analytics.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Instructor Notes: Flow &amp; 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Flow:</a:t>
            </a:r>
            <a:r>
              <a:rPr/>
              <a:t> Probability prerequisites (expectation, variance, tail bounds, collision) → approximation formalism → stream model → Morris → Flajolet-Martin → HLL/CMS → windows &amp; time → delivery &amp; idempotency → failure modes &amp; checklist.</a:t>
            </a:r>
          </a:p>
          <a:p>
            <a:pPr lvl="0"/>
            <a:r>
              <a:rPr b="1"/>
              <a:t>Common mistakes:</a:t>
            </a:r>
            <a:r>
              <a:rPr/>
              <a:t> Confusing event time vs processing time; ignoring variance when sizing Morris/FM; treating sketches as exact; forgetting idempotent sink for exactly-once semantics.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Instructor Notes: Blackboard Flow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hasCustomPrompt="1" idx="1"/>
              </p:nvPr>
            </p:nvSpPr>
            <p:spPr/>
            <p:txBody>
              <a:bodyPr/>
              <a:lstStyle/>
              <a:p>
                <a:pPr lvl="0" indent="-457200" marL="457200">
                  <a:buAutoNum type="arabicPeriod"/>
                </a:pPr>
                <a:r>
                  <a:rPr/>
                  <a:t>Derive collision bound from balls-and-bins + Bernoulli.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Walk Morris: single counter (high variance) → average of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counters (sizing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δ</m:t>
                    </m:r>
                    <m:sSup>
                      <m:e>
                        <m:r>
                          <m:t>ϵ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).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Sketch FM idea (trailing zeros → distinct estimate); then HLL/CMS selection.</a:t>
                </a:r>
              </a:p>
              <a:p>
                <a:pPr lvl="0" indent="-457200" marL="457200">
                  <a:buAutoNum type="arabicPeriod"/>
                </a:pPr>
                <a:r>
                  <a:rPr/>
                  <a:t>Draw event time vs processing time; watermark tradeoff; idempotent sink key (window + business key).</a:t>
                </a:r>
              </a:p>
            </p:txBody>
          </p:sp>
        </mc:Choice>
      </mc:AlternateContent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Or Peretz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27</Words>
  <Application>Microsoft Macintosh PowerPoint</Application>
  <PresentationFormat>מסך רחב</PresentationFormat>
  <Paragraphs>18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2026-02-14T12:49:06Z</dcterms:created>
  <dcterms:modified xsi:type="dcterms:W3CDTF">2026-02-14T12:49:06Z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