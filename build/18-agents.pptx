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סגנון ביניים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9154"/>
    <p:restoredTop sz="94882"/>
  </p:normalViewPr>
  <p:slideViewPr>
    <p:cSldViewPr snapToGrid="0" snapToObjects="1">
      <p:cViewPr varScale="1">
        <p:scale>
          <a:sx d="100" n="134"/>
          <a:sy d="100" n="134"/>
        </p:scale>
        <p:origin x="3560" y="800"/>
      </p:cViewPr>
      <p:guideLst>
        <p:guide orient="horz" pos="2160"/>
        <p:guide pos="3840"/>
      </p:guideLst>
    </p:cSldViewPr>
  </p:slideViewPr>
  <p:notesTextViewPr>
    <p:cViewPr>
      <p:scale>
        <a:sx d="100" n="100"/>
        <a:sy d="100" n="100"/>
      </p:scale>
      <p:origin x="0" y="0"/>
    </p:cViewPr>
  </p:notesTextViewPr>
  <p:notesViewPr>
    <p:cSldViewPr snapToGrid="0" snapToObjects="1">
      <p:cViewPr varScale="1">
        <p:scale>
          <a:sx d="100" n="118"/>
          <a:sy d="100" n="118"/>
        </p:scale>
        <p:origin x="5160" y="216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1" Type="http://schemas.openxmlformats.org/officeDocument/2006/relationships/presProps" Target="presProps.xml" /><Relationship Id="rId70" Type="http://schemas.openxmlformats.org/officeDocument/2006/relationships/handoutMaster" Target="handoutMasters/handoutMaster1.xml" /><Relationship Id="rId74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73" Type="http://schemas.openxmlformats.org/officeDocument/2006/relationships/theme" Target="theme/theme1.xml" /><Relationship Id="rId72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64B5F-BAD9-9946-9D71-AB5C763DA70C}" type="datetime9">
              <a:rPr lang="he-IL" smtClean="0"/>
              <a:t>8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EEA0-9609-584F-90F2-46E4F93E52CD}" type="datetime9">
              <a:rPr lang="he-IL" smtClean="0"/>
              <a:t>8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A6A5E-CA21-6B4F-9DE7-1A275F321E49}" type="datetime9">
              <a:rPr lang="he-IL" smtClean="0"/>
              <a:t>8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6840" y="1600201"/>
            <a:ext cx="1062556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960-90E0-EA41-937B-E68D4C6A0841}" type="datetime9">
              <a:rPr lang="he-IL" smtClean="0"/>
              <a:t>8 מאי,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8 מאי,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E56AFE-36F7-8DA5-652B-89A25DA319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62076" y="3438525"/>
            <a:ext cx="8934450" cy="234566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65225" y="1579563"/>
            <a:ext cx="9064625" cy="435702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341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8 מאי,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26D49-397F-B715-D50A-B77591A11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558" y="1600201"/>
            <a:ext cx="8437945" cy="45259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8 מאי,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71812306-B812-4C50-F7A0-862C984F42D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78729032"/>
              </p:ext>
            </p:extLst>
          </p:nvPr>
        </p:nvGraphicFramePr>
        <p:xfrm>
          <a:off x="4672422" y="2231471"/>
          <a:ext cx="3600000" cy="2635803"/>
        </p:xfrm>
        <a:graphic>
          <a:graphicData uri="http://schemas.openxmlformats.org/drawingml/2006/table">
            <a:tbl>
              <a:tblPr rtl="1" firstRow="1" bandRow="1">
                <a:tableStyleId>{793D81CF-94F2-401A-BA57-92F5A7B2D0C5}</a:tableStyleId>
              </a:tblPr>
              <a:tblGrid>
                <a:gridCol w="600000">
                  <a:extLst>
                    <a:ext uri="{9D8B030D-6E8A-4147-A177-3AD203B41FA5}">
                      <a16:colId xmlns:a16="http://schemas.microsoft.com/office/drawing/2014/main" val="3224435564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1520824301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907090588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141296278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1831022972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626801781"/>
                    </a:ext>
                  </a:extLst>
                </a:gridCol>
              </a:tblGrid>
              <a:tr h="618009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he-IL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he-IL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4863574"/>
                  </a:ext>
                </a:extLst>
              </a:tr>
              <a:tr h="1008897">
                <a:tc>
                  <a:txBody>
                    <a:bodyPr/>
                    <a:lstStyle/>
                    <a:p>
                      <a:pPr algn="ctr" rtl="1" fontAlgn="ctr"/>
                      <a:endParaRPr lang="he-IL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he-IL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he-IL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625601"/>
                  </a:ext>
                </a:extLst>
              </a:tr>
              <a:tr h="1008897">
                <a:tc>
                  <a:txBody>
                    <a:bodyPr/>
                    <a:lstStyle/>
                    <a:p>
                      <a:pPr algn="ctr" rtl="1" fontAlgn="ctr"/>
                      <a:endParaRPr lang="he-IL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he-IL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572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46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AE4-510D-3C40-B9B0-AA6693EED883}" type="datetime9">
              <a:rPr lang="he-IL" smtClean="0"/>
              <a:t>8 מאי,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D8F28D-D1D2-34A5-D88A-549DD7AD70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5D179-4B48-7641-AFA1-4656153FFCB8}" type="datetime9">
              <a:rPr lang="he-IL" smtClean="0"/>
              <a:t>8 מאי,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1439EE-8346-69C4-2D2A-C45C952E13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291BFA-5674-76B5-89A7-703C97229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8 מאי,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E080CD-5224-9141-7E29-FC08A3B3FD7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62076" y="3438525"/>
            <a:ext cx="8934450" cy="234566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A904EEE-C9D3-E47E-C69D-A4A1BC1D9F2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65225" y="1579563"/>
            <a:ext cx="9064625" cy="435702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2D52-0D9F-F345-8384-0DCA30BF1F04}" type="datetime9">
              <a:rPr lang="he-IL" smtClean="0"/>
              <a:t>8 מאי,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4ED6-1944-D14D-91B5-FC6036DE393D}" type="datetime9">
              <a:rPr lang="he-IL" smtClean="0"/>
              <a:t>8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68E4D-FFEC-474C-BD1C-299FD021CBA4}" type="datetime9">
              <a:rPr lang="he-IL" smtClean="0"/>
              <a:t>8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fmla="*/ 0 w 10972800" name="csX0"/>
                      <a:gd fmla="*/ 0 h 1143000" name="csY0"/>
                      <a:gd fmla="*/ 10972800 w 10972800" name="csX1"/>
                      <a:gd fmla="*/ 0 h 1143000" name="csY1"/>
                      <a:gd fmla="*/ 10972800 w 10972800" name="csX2"/>
                      <a:gd fmla="*/ 1143000 h 1143000" name="csY2"/>
                      <a:gd fmla="*/ 0 w 10972800" name="csX3"/>
                      <a:gd fmla="*/ 1143000 h 1143000" name="csY3"/>
                      <a:gd fmla="*/ 0 w 10972800" name="csX4"/>
                      <a:gd fmla="*/ 0 h 1143000" name="csY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b="b" l="l" r="r" t="t"/>
                    <a:pathLst>
                      <a:path extrusionOk="0" fill="none" h="1143000" w="1097280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extrusionOk="0" h="1143000" stroke="0" w="1097280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946768" y="1600201"/>
            <a:ext cx="10635632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E24A-D52C-CB4E-85D6-C52415601A2A}" type="datetime9">
              <a:rPr lang="he-IL" smtClean="0"/>
              <a:t>8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9E54F053-C5B3-FA53-FB24-F76EBC23E5F7}"/>
              </a:ext>
            </a:extLst>
          </p:cNvPr>
          <p:cNvSpPr/>
          <p:nvPr/>
        </p:nvSpPr>
        <p:spPr>
          <a:xfrm>
            <a:off x="10492509" y="-832013"/>
            <a:ext cx="5901557" cy="7690013"/>
          </a:xfrm>
          <a:custGeom>
            <a:avLst/>
            <a:gdLst/>
            <a:ahLst/>
            <a:cxnLst/>
            <a:rect b="b" l="l" r="r" t="t"/>
            <a:pathLst>
              <a:path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sq" w="57150">
            <a:solidFill>
              <a:srgbClr val="941100">
                <a:alpha val="44000"/>
              </a:srgbClr>
            </a:solidFill>
            <a:prstDash val="solid"/>
            <a:miter/>
          </a:ln>
        </p:spPr>
        <p:txBody>
          <a:bodyPr/>
          <a:lstStyle/>
          <a:p>
            <a:endParaRPr lang="en-IL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C6ADFD82-3296-8C7F-2ACC-D8399785AC79}"/>
              </a:ext>
            </a:extLst>
          </p:cNvPr>
          <p:cNvSpPr/>
          <p:nvPr/>
        </p:nvSpPr>
        <p:spPr>
          <a:xfrm>
            <a:off x="-6720016" y="-1088358"/>
            <a:ext cx="7329616" cy="7329616"/>
          </a:xfrm>
          <a:custGeom>
            <a:avLst/>
            <a:gdLst/>
            <a:ahLst/>
            <a:cxnLst/>
            <a:rect b="b" l="l" r="r" t="t"/>
            <a:pathLst>
              <a:path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sq" w="514350">
            <a:solidFill>
              <a:srgbClr val="941100">
                <a:alpha val="17929"/>
              </a:srgbClr>
            </a:solidFill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61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hdr="0"/>
  <p:txStyles>
    <p:titleStyle>
      <a:lvl1pPr algn="ctr" defTabSz="457200" eaLnBrk="1" hangingPunct="1" latinLnBrk="0" rtl="0">
        <a:spcBef>
          <a:spcPct val="0"/>
        </a:spcBef>
        <a:buNone/>
        <a:defRPr b="1" kern="1200" sz="3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lnSpc>
          <a:spcPct val="130000"/>
        </a:lnSpc>
        <a:spcBef>
          <a:spcPts val="0"/>
        </a:spcBef>
        <a:buFont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lnSpc>
          <a:spcPct val="130000"/>
        </a:lnSpc>
        <a:spcBef>
          <a:spcPts val="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lnSpc>
          <a:spcPct val="130000"/>
        </a:lnSpc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lnSpc>
          <a:spcPct val="130000"/>
        </a:lnSpc>
        <a:spcBef>
          <a:spcPts val="0"/>
        </a:spcBef>
        <a:buFont typeface="Arial"/>
        <a:buChar char="–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lnSpc>
          <a:spcPct val="130000"/>
        </a:lnSpc>
        <a:spcBef>
          <a:spcPts val="0"/>
        </a:spcBef>
        <a:buFont typeface="Arial"/>
        <a:buChar char="»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image" Target="../media/image1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image" Target="../media/image2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image" Target="../media/image3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image" Target="../media/image4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hasCustomPrompt="1"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18: AI Agents and Governed Decision Systems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Define AI agents as bounded decision systems.</a:t>
            </a:r>
          </a:p>
          <a:p>
            <a:pPr lvl="0"/>
            <a:r>
              <a:rPr/>
              <a:t>Separate reasoning, retrieval, tools, skills, and execution.</a:t>
            </a:r>
          </a:p>
          <a:p>
            <a:pPr lvl="0"/>
            <a:r>
              <a:rPr/>
              <a:t>Design safe agent flows for production data systems.</a:t>
            </a:r>
          </a:p>
          <a:p>
            <a:pPr lvl="0"/>
            <a:r>
              <a:rPr/>
              <a:t>Apply governance, authority, guardrails, and audit controls.</a:t>
            </a:r>
          </a:p>
          <a:p>
            <a:pPr lvl="0"/>
            <a:r>
              <a:rPr/>
              <a:t>Evaluate agent readiness before autonomous rollout.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Define agent, tool, skill, MCP, guardrail, and semantic layer.</a:t>
            </a:r>
          </a:p>
          <a:p>
            <a:pPr lvl="0"/>
            <a:r>
              <a:rPr/>
              <a:t>Explain why the LLM is not the whole agent.</a:t>
            </a:r>
          </a:p>
          <a:p>
            <a:pPr lvl="0"/>
            <a:r>
              <a:rPr/>
              <a:t>Design a bounded decision scope for an agent workflow.</a:t>
            </a:r>
          </a:p>
          <a:p>
            <a:pPr lvl="0"/>
            <a:r>
              <a:rPr/>
              <a:t>Choose agent patterns and authority levels.</a:t>
            </a:r>
          </a:p>
          <a:p>
            <a:pPr lvl="0"/>
            <a:r>
              <a:rPr/>
              <a:t>Build an auditable runtime flow with deterministic tools.</a:t>
            </a:r>
          </a:p>
          <a:p>
            <a:pPr lvl="0"/>
            <a:r>
              <a:rPr/>
              <a:t>Evaluate production readiness with measurable controls.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Sources Used (Reference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/Users/orperetz/Downloads/DSM-Workshop.pdf</a:t>
            </a:r>
          </a:p>
          <a:p>
            <a:pPr lvl="0"/>
            <a:r>
              <a:rPr/>
              <a:t>/Users/orperetz/Downloads/From-Concept-to-Production (5).pdf</a:t>
            </a:r>
          </a:p>
          <a:p>
            <a:pPr lvl="0"/>
            <a:r>
              <a:rPr/>
              <a:t>lectures/17-language-models/lecture.md</a:t>
            </a:r>
          </a:p>
          <a:p>
            <a:pPr lvl="0"/>
            <a:r>
              <a:rPr/>
              <a:t>diagrams/week18/week18_lecture_slide08_rag_agent_stack.puml</a:t>
            </a:r>
          </a:p>
          <a:p>
            <a:pPr lvl="0"/>
            <a:r>
              <a:rPr/>
              <a:t>diagrams/week18/week18_lecture_slide18_retrieval_flow.puml</a:t>
            </a:r>
          </a:p>
          <a:p>
            <a:pPr lvl="0"/>
            <a:r>
              <a:rPr/>
              <a:t>diagrams/week18/week18_lecture_slide26_agent_runtime_flow.puml and week18_lecture_slide32_guardrail_failure_flow.puml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Diagram Manifest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week18_lecture_slide08_rag_agent_stack.puml -&gt; governed agent system stack.</a:t>
            </a:r>
          </a:p>
          <a:p>
            <a:pPr lvl="0"/>
            <a:r>
              <a:rPr/>
              <a:t>week18_lecture_slide18_retrieval_flow.puml -&gt; policy-filtered retrieval flow.</a:t>
            </a:r>
          </a:p>
          <a:p>
            <a:pPr lvl="0"/>
            <a:r>
              <a:rPr/>
              <a:t>week18_lecture_slide26_agent_runtime_flow.puml -&gt; production agent runtime flow.</a:t>
            </a:r>
          </a:p>
          <a:p>
            <a:pPr lvl="0"/>
            <a:r>
              <a:rPr/>
              <a:t>week18_lecture_slide32_guardrail_failure_flow.puml -&gt; blocked unsafe request flow.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Lecture Follows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RAG answers questions with retrieved evidence.</a:t>
            </a:r>
          </a:p>
          <a:p>
            <a:pPr lvl="0"/>
            <a:r>
              <a:rPr/>
              <a:t>Agents choose actions, not only answers.</a:t>
            </a:r>
          </a:p>
          <a:p>
            <a:pPr lvl="0"/>
            <a:r>
              <a:rPr/>
              <a:t>Actions require authority, tools, and audit.</a:t>
            </a:r>
          </a:p>
          <a:p>
            <a:pPr lvl="0"/>
            <a:r>
              <a:rPr/>
              <a:t>Production agents must be governed systems.</a:t>
            </a:r>
          </a:p>
          <a:p>
            <a:pPr lvl="0"/>
            <a:r>
              <a:rPr/>
              <a:t>Data engineering provides the trusted execution substrate.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Mental Model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08600"/>
                <a:gridCol w="530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 question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does the request mean?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Retrieval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evidence is trusted?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action can be executed?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workflow should be followed?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Guardrail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must never happen?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exactly happened?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Assistant to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 chatbot mostly produces text.</a:t>
            </a:r>
          </a:p>
          <a:p>
            <a:pPr lvl="0"/>
            <a:r>
              <a:rPr/>
              <a:t>A RAG assistant retrieves and cites evidence.</a:t>
            </a:r>
          </a:p>
          <a:p>
            <a:pPr lvl="0"/>
            <a:r>
              <a:rPr/>
              <a:t>An agent selects actions under a goal.</a:t>
            </a:r>
          </a:p>
          <a:p>
            <a:pPr lvl="0"/>
            <a:r>
              <a:rPr/>
              <a:t>A production agent executes only inside policy.</a:t>
            </a:r>
          </a:p>
          <a:p>
            <a:pPr lvl="0"/>
            <a:r>
              <a:rPr/>
              <a:t>The difference is controlled decision-making.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Definition: AI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An AI agent is a goal-driven decision system.</a:t>
            </a:r>
          </a:p>
          <a:p>
            <a:pPr lvl="0"/>
            <a:r>
              <a:rPr/>
              <a:t>It observes context and user intent.</a:t>
            </a:r>
          </a:p>
          <a:p>
            <a:pPr lvl="0"/>
            <a:r>
              <a:rPr/>
              <a:t>It plans a bounded sequence of steps.</a:t>
            </a:r>
          </a:p>
          <a:p>
            <a:pPr lvl="0"/>
            <a:r>
              <a:rPr/>
              <a:t>It invokes approved tools or workflows.</a:t>
            </a:r>
          </a:p>
          <a:p>
            <a:pPr lvl="0"/>
            <a:r>
              <a:rPr/>
              <a:t>It evaluates outputs before responding.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Catch context and intent.</a:t>
            </a:r>
          </a:p>
          <a:p>
            <a:pPr lvl="0" indent="-457200" marL="457200">
              <a:buAutoNum type="arabicPeriod"/>
            </a:pPr>
            <a:r>
              <a:rPr/>
              <a:t>Plan next steps.</a:t>
            </a:r>
          </a:p>
          <a:p>
            <a:pPr lvl="0" indent="-457200" marL="457200">
              <a:buAutoNum type="arabicPeriod"/>
            </a:pPr>
            <a:r>
              <a:rPr/>
              <a:t>Select approved tool or skill.</a:t>
            </a:r>
          </a:p>
          <a:p>
            <a:pPr lvl="0" indent="-457200" marL="457200">
              <a:buAutoNum type="arabicPeriod"/>
            </a:pPr>
            <a:r>
              <a:rPr/>
              <a:t>Act through deterministic execution.</a:t>
            </a:r>
          </a:p>
          <a:p>
            <a:pPr lvl="0" indent="-457200" marL="457200">
              <a:buAutoNum type="arabicPeriod"/>
            </a:pPr>
            <a:r>
              <a:rPr/>
              <a:t>Observe results and validate.</a:t>
            </a:r>
          </a:p>
          <a:p>
            <a:pPr lvl="0" indent="-457200" marL="457200">
              <a:buAutoNum type="arabicPeriod"/>
            </a:pPr>
            <a:r>
              <a:rPr/>
              <a:t>Respond with evidence and trace.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vs Classic Automation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43300"/>
                <a:gridCol w="3543300"/>
                <a:gridCol w="3543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Classic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agent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routing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 rules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context-aware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inputs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structured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often ambiguous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decisions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policy-bounded reasoning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updates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rule changes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prompt, skill, and policy changes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predictable failure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non-deterministic reasoning risk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LLM Is Not the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The LLM is the reasoning surface.</a:t>
            </a:r>
          </a:p>
          <a:p>
            <a:pPr lvl="0"/>
            <a:r>
              <a:rPr/>
              <a:t>The agent is the complete system.</a:t>
            </a:r>
          </a:p>
          <a:p>
            <a:pPr lvl="0"/>
            <a:r>
              <a:rPr/>
              <a:t>Tools execute deterministic actions.</a:t>
            </a:r>
          </a:p>
          <a:p>
            <a:pPr lvl="0"/>
            <a:r>
              <a:rPr/>
              <a:t>Policies define allowed behavior.</a:t>
            </a:r>
          </a:p>
          <a:p>
            <a:pPr lvl="0"/>
            <a:r>
              <a:rPr/>
              <a:t>Logs make runs inspectable.</a:t>
            </a:r>
          </a:p>
          <a:p>
            <a:pPr lvl="0"/>
            <a:r>
              <a:rPr/>
              <a:t>Owners remain accountable.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Reasoning vs Execution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08600"/>
                <a:gridCol w="530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Should handle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intent recognition, planning, explanation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calculation, query, API call, update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guardrail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policy enforcement and validation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semantic layer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certified business meaning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audit layer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trace and evidence record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Reasoning Cannot Execute Directly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Natural language output is not a control plane.</a:t>
            </a:r>
          </a:p>
          <a:p>
            <a:pPr lvl="0"/>
            <a:r>
              <a:rPr/>
              <a:t>Model responses vary across runs.</a:t>
            </a:r>
          </a:p>
          <a:p>
            <a:pPr lvl="0"/>
            <a:r>
              <a:rPr/>
              <a:t>Business rules need consistency.</a:t>
            </a:r>
          </a:p>
          <a:p>
            <a:pPr lvl="0"/>
            <a:r>
              <a:rPr/>
              <a:t>Sensitive actions require permissions.</a:t>
            </a:r>
          </a:p>
          <a:p>
            <a:pPr lvl="0"/>
            <a:r>
              <a:rPr/>
              <a:t>Production systems need replayable traces.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Tools: Atomic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 tool performs one explicit action.</a:t>
            </a:r>
          </a:p>
          <a:p>
            <a:pPr lvl="0"/>
            <a:r>
              <a:rPr/>
              <a:t>It receives structured input.</a:t>
            </a:r>
          </a:p>
          <a:p>
            <a:pPr lvl="0"/>
            <a:r>
              <a:rPr/>
              <a:t>It executes once.</a:t>
            </a:r>
          </a:p>
          <a:p>
            <a:pPr lvl="0"/>
            <a:r>
              <a:rPr/>
              <a:t>It returns structured output.</a:t>
            </a:r>
          </a:p>
          <a:p>
            <a:pPr lvl="0"/>
            <a:r>
              <a:rPr/>
              <a:t>It does not decide business policy.</a:t>
            </a:r>
          </a:p>
          <a:p>
            <a:pPr lvl="0"/>
            <a:r>
              <a:rPr/>
              <a:t>The agent decides whether it may be used.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Tool Categories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08600"/>
                <a:gridCol w="530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access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read SQL, retrieve tickets, fetch metric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metadata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inspect schema, lineage, freshness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calculation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 score, SLA timer, validation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create ticket, route case, send email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RBAC, write audit event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Tool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Name: clear operation name.</a:t>
            </a:r>
          </a:p>
          <a:p>
            <a:pPr lvl="0"/>
            <a:r>
              <a:rPr/>
              <a:t>Input schema: required fields and types.</a:t>
            </a:r>
          </a:p>
          <a:p>
            <a:pPr lvl="0"/>
            <a:r>
              <a:rPr/>
              <a:t>Output schema: result, evidence, error state.</a:t>
            </a:r>
          </a:p>
          <a:p>
            <a:pPr lvl="0"/>
            <a:r>
              <a:rPr/>
              <a:t>Permissions: who may invoke it.</a:t>
            </a:r>
          </a:p>
          <a:p>
            <a:pPr lvl="0"/>
            <a:r>
              <a:rPr/>
              <a:t>Side effects: read-only or write.</a:t>
            </a:r>
          </a:p>
          <a:p>
            <a:pPr lvl="0"/>
            <a:r>
              <a:rPr/>
              <a:t>Timeout and retry policy.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Tool Schema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"tool"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"score_ticket_priority"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"input"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solidFill>
                  <a:srgbClr val="902000"/>
                </a:solidFill>
                <a:latin typeface="Courier"/>
              </a:rPr>
              <a:t>"ticket_id"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"T-1042"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"customer_tier"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"gold"</a:t>
            </a:r>
            <a:r>
              <a:rPr>
                <a:solidFill>
                  <a:srgbClr val="06287E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"output"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solidFill>
                  <a:srgbClr val="902000"/>
                </a:solidFill>
                <a:latin typeface="Courier"/>
              </a:rPr>
              <a:t>"score"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0.87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"priority"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"High"</a:t>
            </a:r>
            <a:r>
              <a:rPr>
                <a:solidFill>
                  <a:srgbClr val="06287E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"permissions"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"support_analyst"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"side_effect"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"none"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Skills: Specialized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 skill teaches an agent how to perform a task.</a:t>
            </a:r>
          </a:p>
          <a:p>
            <a:pPr lvl="0"/>
            <a:r>
              <a:rPr/>
              <a:t>It packages instructions, examples, and resources.</a:t>
            </a:r>
          </a:p>
          <a:p>
            <a:pPr lvl="0"/>
            <a:r>
              <a:rPr/>
              <a:t>It can contain scripts, templates, and checklists.</a:t>
            </a:r>
          </a:p>
          <a:p>
            <a:pPr lvl="0"/>
            <a:r>
              <a:rPr/>
              <a:t>It should be versioned and testable.</a:t>
            </a:r>
          </a:p>
          <a:p>
            <a:pPr lvl="0"/>
            <a:r>
              <a:rPr/>
              <a:t>It is larger than a tool.</a:t>
            </a:r>
          </a:p>
          <a:p>
            <a:pPr lvl="0"/>
            <a:r>
              <a:rPr/>
              <a:t>It is more operational than a prompt.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Skill Folder Contract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08600"/>
                <a:gridCol w="530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 or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SKILL.md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task workflow and rules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scripts/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reusable deterministic helpers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templates/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 structure and examples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references/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 policy and background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tests/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expected behavior and edge cases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Skill vs Tool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43300"/>
                <a:gridCol w="3543300"/>
                <a:gridCol w="3543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whole workflow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execution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 function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guided task process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read-only SQL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investigate data quality incident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structured result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completed deliverable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owner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platform team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 or workflow owner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Define the agent purpose.</a:t>
            </a:r>
          </a:p>
          <a:p>
            <a:pPr lvl="0"/>
            <a:r>
              <a:rPr/>
              <a:t>List available skills and tools.</a:t>
            </a:r>
          </a:p>
          <a:p>
            <a:pPr lvl="0"/>
            <a:r>
              <a:rPr/>
              <a:t>Specify routing logic.</a:t>
            </a:r>
          </a:p>
          <a:p>
            <a:pPr lvl="0"/>
            <a:r>
              <a:rPr/>
              <a:t>Declare authority boundaries.</a:t>
            </a:r>
          </a:p>
          <a:p>
            <a:pPr lvl="0"/>
            <a:r>
              <a:rPr/>
              <a:t>State forbidden actions.</a:t>
            </a:r>
          </a:p>
          <a:p>
            <a:pPr lvl="0"/>
            <a:r>
              <a:rPr/>
              <a:t>Define escalation behavior.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Agent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IF request asks to change billing status
AND user lacks operator role
THEN do not call write tools
AND route to human approval
AND return approval request ID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MCP: Model Context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MCP standardizes model-to-tool connections.</a:t>
            </a:r>
          </a:p>
          <a:p>
            <a:pPr lvl="0"/>
            <a:r>
              <a:rPr/>
              <a:t>Tools expose typed callable interfaces.</a:t>
            </a:r>
          </a:p>
          <a:p>
            <a:pPr lvl="0"/>
            <a:r>
              <a:rPr/>
              <a:t>Policy can be enforced at the boundary.</a:t>
            </a:r>
          </a:p>
          <a:p>
            <a:pPr lvl="0"/>
            <a:r>
              <a:rPr/>
              <a:t>Execution becomes traceable.</a:t>
            </a:r>
          </a:p>
          <a:p>
            <a:pPr lvl="0"/>
            <a:r>
              <a:rPr/>
              <a:t>The model asks; the governed system executes.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MCP Matters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08600"/>
                <a:gridCol w="530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Without enforced tool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With enforced tool calls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free-text speculation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typed result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weak permission boundary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explicit policy checks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hard to replay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trace ID and evidence IDs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hidden data access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governed tool surface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fragile integration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reusable interface contract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Semantic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The semantic layer defines trusted business meaning.</a:t>
            </a:r>
          </a:p>
          <a:p>
            <a:pPr lvl="0"/>
            <a:r>
              <a:rPr/>
              <a:t>It maps raw data to certified metrics.</a:t>
            </a:r>
          </a:p>
          <a:p>
            <a:pPr lvl="0"/>
            <a:r>
              <a:rPr/>
              <a:t>It keeps KPI logic consistent.</a:t>
            </a:r>
          </a:p>
          <a:p>
            <a:pPr lvl="0"/>
            <a:r>
              <a:rPr/>
              <a:t>Agents should read it, not rewrite it.</a:t>
            </a:r>
          </a:p>
          <a:p>
            <a:pPr lvl="0"/>
            <a:r>
              <a:rPr/>
              <a:t>It is the contract between data and AI.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Semantic Layer 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08600"/>
                <a:gridCol w="530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Certified definition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active incident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incident status is open or investigating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SLA breach risk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deadline minus current time below threshold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gold customer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customer tier from CRM master table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priority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 score above threshold or confirmed outage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Governed Retrieval Flow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A904EEE-C9D3-E47E-C69D-A4A1BC1D9F2D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Query is embedded or searched.</a:t>
            </a:r>
          </a:p>
          <a:p>
            <a:pPr lvl="0"/>
            <a:r>
              <a:rPr/>
              <a:t>Candidate evidence is retrieved.</a:t>
            </a:r>
          </a:p>
          <a:p>
            <a:pPr lvl="0"/>
            <a:r>
              <a:rPr/>
              <a:t>RBAC and freshness filters apply.</a:t>
            </a:r>
          </a:p>
          <a:p>
            <a:pPr lvl="0"/>
            <a:r>
              <a:rPr/>
              <a:t>Prompt is built from approved context.</a:t>
            </a:r>
          </a:p>
          <a:p>
            <a:pPr lvl="0"/>
            <a:r>
              <a:rPr/>
              <a:t>Answer includes evidence identifiers.</a:t>
            </a:r>
          </a:p>
          <a:p>
            <a:pPr lvl="0"/>
            <a:r>
              <a:rPr/>
              <a:t>Diagram: week18_lecture_slide18_retrieval_flow.puml</a:t>
            </a:r>
          </a:p>
        </p:txBody>
      </p:sp>
      <p:pic>
        <p:nvPicPr>
          <p:cNvPr descr="../../diagrams/week18/week18_lecture_slide18_retrieval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4318000"/>
            <a:ext cx="8928100" cy="55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Guardrails enforce what the agent can do.</a:t>
            </a:r>
          </a:p>
          <a:p>
            <a:pPr lvl="0"/>
            <a:r>
              <a:rPr/>
              <a:t>They run before and after model reasoning.</a:t>
            </a:r>
          </a:p>
          <a:p>
            <a:pPr lvl="0"/>
            <a:r>
              <a:rPr/>
              <a:t>They restrict prompts, data, tools, and outputs.</a:t>
            </a:r>
          </a:p>
          <a:p>
            <a:pPr lvl="0"/>
            <a:r>
              <a:rPr/>
              <a:t>They block unsafe requests.</a:t>
            </a:r>
          </a:p>
          <a:p>
            <a:pPr lvl="0"/>
            <a:r>
              <a:rPr/>
              <a:t>They log policy decisions.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Guardrail Scope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08600"/>
                <a:gridCol w="530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prompt boundary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block instruction override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 access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allow read-only SQL 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access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filter by user permissions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 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 JSON schema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 policy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 HITL for refunds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Blocked Request Flow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A904EEE-C9D3-E47E-C69D-A4A1BC1D9F2D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User asks for forbidden information.</a:t>
            </a:r>
          </a:p>
          <a:p>
            <a:pPr lvl="0"/>
            <a:r>
              <a:rPr/>
              <a:t>Input guardrail classifies the threat.</a:t>
            </a:r>
          </a:p>
          <a:p>
            <a:pPr lvl="0"/>
            <a:r>
              <a:rPr/>
              <a:t>Tool allowlist blocks secret access.</a:t>
            </a:r>
          </a:p>
          <a:p>
            <a:pPr lvl="0"/>
            <a:r>
              <a:rPr/>
              <a:t>System returns a safe refusal.</a:t>
            </a:r>
          </a:p>
          <a:p>
            <a:pPr lvl="0"/>
            <a:r>
              <a:rPr/>
              <a:t>Audit log records the policy event.</a:t>
            </a:r>
          </a:p>
          <a:p>
            <a:pPr lvl="0"/>
            <a:r>
              <a:rPr/>
              <a:t>Diagram: week18_lecture_slide32_guardrail_failure_flow.puml</a:t>
            </a:r>
          </a:p>
        </p:txBody>
      </p:sp>
      <p:pic>
        <p:nvPicPr>
          <p:cNvPr descr="../../diagrams/week18/week18_lecture_slide32_guardrail_failure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4140200"/>
            <a:ext cx="89281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Authority Levels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43300"/>
                <a:gridCol w="3543300"/>
                <a:gridCol w="3543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read-only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observes and analyzes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summarize open incidents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recommend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proposes 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suggest ticket priority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approve-write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writes after approval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submit refund request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autonomous within policy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auto-route low-risk ticket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Human Approval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Use HITL for high-impact actions.</a:t>
            </a:r>
          </a:p>
          <a:p>
            <a:pPr lvl="0"/>
            <a:r>
              <a:rPr/>
              <a:t>Use HITL when confidence is low.</a:t>
            </a:r>
          </a:p>
          <a:p>
            <a:pPr lvl="0"/>
            <a:r>
              <a:rPr/>
              <a:t>Use HITL for regulated workflows.</a:t>
            </a:r>
          </a:p>
          <a:p>
            <a:pPr lvl="0"/>
            <a:r>
              <a:rPr/>
              <a:t>Use HITL when context is incomplete.</a:t>
            </a:r>
          </a:p>
          <a:p>
            <a:pPr lvl="0"/>
            <a:r>
              <a:rPr/>
              <a:t>Use HITL when authority is unclear.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Decision-First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Start with the decision, not the model.</a:t>
            </a:r>
          </a:p>
          <a:p>
            <a:pPr lvl="0"/>
            <a:r>
              <a:rPr/>
              <a:t>Define required inputs and outputs.</a:t>
            </a:r>
          </a:p>
          <a:p>
            <a:pPr lvl="0"/>
            <a:r>
              <a:rPr/>
              <a:t>Define acceptable error rates.</a:t>
            </a:r>
          </a:p>
          <a:p>
            <a:pPr lvl="0"/>
            <a:r>
              <a:rPr/>
              <a:t>Define owner and accountability.</a:t>
            </a:r>
          </a:p>
          <a:p>
            <a:pPr lvl="0"/>
            <a:r>
              <a:rPr/>
              <a:t>Define low-confidence behavior.</a:t>
            </a:r>
          </a:p>
          <a:p>
            <a:pPr lvl="0"/>
            <a:r>
              <a:rPr/>
              <a:t>Define rollback or reversal path.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Decision Scope Canvas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08600"/>
                <a:gridCol w="530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classify ticket department and priority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ticket text, customer tier, incident state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department, priority, reason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owner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support operations manager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recommend; auto-route low-risk 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escalation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HITL for high priority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Production Agent Stack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A904EEE-C9D3-E47E-C69D-A4A1BC1D9F2D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Application handles user workflow.</a:t>
            </a:r>
          </a:p>
          <a:p>
            <a:pPr lvl="0"/>
            <a:r>
              <a:rPr/>
              <a:t>Orchestration routes decisions.</a:t>
            </a:r>
          </a:p>
          <a:p>
            <a:pPr lvl="0"/>
            <a:r>
              <a:rPr/>
              <a:t>LLM interprets intent.</a:t>
            </a:r>
          </a:p>
          <a:p>
            <a:pPr lvl="0"/>
            <a:r>
              <a:rPr/>
              <a:t>Retrieval and tools provide evidence and action.</a:t>
            </a:r>
          </a:p>
          <a:p>
            <a:pPr lvl="0"/>
            <a:r>
              <a:rPr/>
              <a:t>Semantic and data layers define truth.</a:t>
            </a:r>
          </a:p>
          <a:p>
            <a:pPr lvl="0"/>
            <a:r>
              <a:rPr/>
              <a:t>Audit stores the run record.</a:t>
            </a:r>
          </a:p>
          <a:p>
            <a:pPr lvl="0" indent="0" marL="0">
              <a:buNone/>
            </a:pPr>
            <a:r>
              <a:rPr/>
              <a:t>Diagram: week18_lecture_slide08_rag_agent_stack.puml</a:t>
            </a:r>
          </a:p>
        </p:txBody>
      </p:sp>
      <p:pic>
        <p:nvPicPr>
          <p:cNvPr descr="../../diagrams/week18/week18_lecture_slide08_rag_agent_sta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56100" y="3429000"/>
            <a:ext cx="2946400" cy="233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Runtime Flow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A904EEE-C9D3-E47E-C69D-A4A1BC1D9F2D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Request received.</a:t>
            </a:r>
          </a:p>
          <a:p>
            <a:pPr lvl="0"/>
            <a:r>
              <a:rPr/>
              <a:t>Input guardrails validate.</a:t>
            </a:r>
          </a:p>
          <a:p>
            <a:pPr lvl="0"/>
            <a:r>
              <a:rPr/>
              <a:t>Authority check runs.</a:t>
            </a:r>
          </a:p>
          <a:p>
            <a:pPr lvl="0"/>
            <a:r>
              <a:rPr/>
              <a:t>Retrieval or tools execute.</a:t>
            </a:r>
          </a:p>
          <a:p>
            <a:pPr lvl="0"/>
            <a:r>
              <a:rPr/>
              <a:t>HITL gate applies if required.</a:t>
            </a:r>
          </a:p>
          <a:p>
            <a:pPr lvl="0"/>
            <a:r>
              <a:rPr/>
              <a:t>Response and audit trail are stored.</a:t>
            </a:r>
          </a:p>
          <a:p>
            <a:pPr lvl="0" indent="0" marL="0">
              <a:buNone/>
            </a:pPr>
            <a:r>
              <a:rPr/>
              <a:t>Diagram: week18_lecture_slide26_agent_runtime_flow.puml</a:t>
            </a:r>
          </a:p>
        </p:txBody>
      </p:sp>
      <p:pic>
        <p:nvPicPr>
          <p:cNvPr descr="../../diagrams/week18/week18_lecture_slide26_agent_runtime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11800" y="3429000"/>
            <a:ext cx="622300" cy="233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Policy-Based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Map intent to approved toolchain.</a:t>
            </a:r>
          </a:p>
          <a:p>
            <a:pPr lvl="0" indent="-457200" marL="457200">
              <a:buAutoNum type="arabicPeriod"/>
            </a:pPr>
            <a:r>
              <a:rPr/>
              <a:t>Verify role and action permissions.</a:t>
            </a:r>
          </a:p>
          <a:p>
            <a:pPr lvl="0" indent="-457200" marL="457200">
              <a:buAutoNum type="arabicPeriod"/>
            </a:pPr>
            <a:r>
              <a:rPr/>
              <a:t>Select deterministic tool path.</a:t>
            </a:r>
          </a:p>
          <a:p>
            <a:pPr lvl="0" indent="-457200" marL="457200">
              <a:buAutoNum type="arabicPeriod"/>
            </a:pPr>
            <a:r>
              <a:rPr/>
              <a:t>Apply confidence thresholds.</a:t>
            </a:r>
          </a:p>
          <a:p>
            <a:pPr lvl="0" indent="-457200" marL="457200">
              <a:buAutoNum type="arabicPeriod"/>
            </a:pPr>
            <a:r>
              <a:rPr/>
              <a:t>Escalate when policy requires.</a:t>
            </a:r>
          </a:p>
          <a:p>
            <a:pPr lvl="0" indent="-457200" marL="457200">
              <a:buAutoNum type="arabicPeriod"/>
            </a:pPr>
            <a:r>
              <a:rPr/>
              <a:t>Return traceable response.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Never fabricate missing evidence.</a:t>
            </a:r>
          </a:p>
          <a:p>
            <a:pPr lvl="0"/>
            <a:r>
              <a:rPr/>
              <a:t>Return explicit uncertainty.</a:t>
            </a:r>
          </a:p>
          <a:p>
            <a:pPr lvl="0"/>
            <a:r>
              <a:rPr/>
              <a:t>Provide error context.</a:t>
            </a:r>
          </a:p>
          <a:p>
            <a:pPr lvl="0"/>
            <a:r>
              <a:rPr/>
              <a:t>Validate before user response.</a:t>
            </a:r>
          </a:p>
          <a:p>
            <a:pPr lvl="0"/>
            <a:r>
              <a:rPr/>
              <a:t>Log failed tool calls.</a:t>
            </a:r>
          </a:p>
          <a:p>
            <a:pPr lvl="0"/>
            <a:r>
              <a:rPr/>
              <a:t>Escalate blocked decisions.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Single-Agent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One agent owns one bounded decision.</a:t>
            </a:r>
          </a:p>
          <a:p>
            <a:pPr lvl="0"/>
            <a:r>
              <a:rPr/>
              <a:t>It has a small tool surface.</a:t>
            </a:r>
          </a:p>
          <a:p>
            <a:pPr lvl="0"/>
            <a:r>
              <a:rPr/>
              <a:t>Its policy is easy to audit.</a:t>
            </a:r>
          </a:p>
          <a:p>
            <a:pPr lvl="0"/>
            <a:r>
              <a:rPr/>
              <a:t>It fits narrow workflows.</a:t>
            </a:r>
          </a:p>
          <a:p>
            <a:pPr lvl="0"/>
            <a:r>
              <a:rPr/>
              <a:t>Example: support ticket triage.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Multi-Agent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Multiple agents handle different roles.</a:t>
            </a:r>
          </a:p>
          <a:p>
            <a:pPr lvl="0"/>
            <a:r>
              <a:rPr/>
              <a:t>Each agent has separate authority.</a:t>
            </a:r>
          </a:p>
          <a:p>
            <a:pPr lvl="0"/>
            <a:r>
              <a:rPr/>
              <a:t>Handoffs must be typed.</a:t>
            </a:r>
          </a:p>
          <a:p>
            <a:pPr lvl="0"/>
            <a:r>
              <a:rPr/>
              <a:t>Transfers must be auditable.</a:t>
            </a:r>
          </a:p>
          <a:p>
            <a:pPr lvl="0"/>
            <a:r>
              <a:rPr/>
              <a:t>Use when workflows cross domains.</a:t>
            </a:r>
          </a:p>
          <a:p>
            <a:pPr lvl="0"/>
            <a:r>
              <a:rPr/>
              <a:t>Avoid when one agent is sufficient.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Multi-Agent Design Rules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08600"/>
                <a:gridCol w="530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Reason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separate ownership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prevents unclear accountability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typed handoffs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avoids vague natural-language state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policy per 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constrains authority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shared audit trace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supports replay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escalation path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handles conflicts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ReAct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ReAct interleaves reasoning and acting.</a:t>
            </a:r>
          </a:p>
          <a:p>
            <a:pPr lvl="0"/>
            <a:r>
              <a:rPr/>
              <a:t>The agent reasons about the next step.</a:t>
            </a:r>
          </a:p>
          <a:p>
            <a:pPr lvl="0"/>
            <a:r>
              <a:rPr/>
              <a:t>It calls a tool and observes output.</a:t>
            </a:r>
          </a:p>
          <a:p>
            <a:pPr lvl="0"/>
            <a:r>
              <a:rPr/>
              <a:t>It repeats until task completion.</a:t>
            </a:r>
          </a:p>
          <a:p>
            <a:pPr lvl="0"/>
            <a:r>
              <a:rPr/>
              <a:t>Good for exploratory workflows.</a:t>
            </a:r>
          </a:p>
          <a:p>
            <a:pPr lvl="0"/>
            <a:r>
              <a:rPr/>
              <a:t>Risk: too much tool-loop freedom.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ReWOO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ReWOO means Reason Without Observation.</a:t>
            </a:r>
          </a:p>
          <a:p>
            <a:pPr lvl="0"/>
            <a:r>
              <a:rPr/>
              <a:t>The agent plans steps before execution.</a:t>
            </a:r>
          </a:p>
          <a:p>
            <a:pPr lvl="0"/>
            <a:r>
              <a:rPr/>
              <a:t>Execution can be deterministic and batched.</a:t>
            </a:r>
          </a:p>
          <a:p>
            <a:pPr lvl="0"/>
            <a:r>
              <a:rPr/>
              <a:t>It reduces dynamic improvisation.</a:t>
            </a:r>
          </a:p>
          <a:p>
            <a:pPr lvl="0"/>
            <a:r>
              <a:rPr/>
              <a:t>Good for predictable enterprise workflows.</a:t>
            </a:r>
          </a:p>
          <a:p>
            <a:pPr lvl="0"/>
            <a:r>
              <a:rPr/>
              <a:t>Risk: bad initial plan can propagate.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Planner-Executor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Planner creates the step sequence.</a:t>
            </a:r>
          </a:p>
          <a:p>
            <a:pPr lvl="0"/>
            <a:r>
              <a:rPr/>
              <a:t>Executor runs approved tools.</a:t>
            </a:r>
          </a:p>
          <a:p>
            <a:pPr lvl="0"/>
            <a:r>
              <a:rPr/>
              <a:t>Evaluator validates outputs.</a:t>
            </a:r>
          </a:p>
          <a:p>
            <a:pPr lvl="0"/>
            <a:r>
              <a:rPr/>
              <a:t>Policy decides whether to continue.</a:t>
            </a:r>
          </a:p>
          <a:p>
            <a:pPr lvl="0"/>
            <a:r>
              <a:rPr/>
              <a:t>Audit records plan, calls, and evidence.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Router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 router classifies user intent.</a:t>
            </a:r>
          </a:p>
          <a:p>
            <a:pPr lvl="0"/>
            <a:r>
              <a:rPr/>
              <a:t>It chooses a bounded workflow.</a:t>
            </a:r>
          </a:p>
          <a:p>
            <a:pPr lvl="0"/>
            <a:r>
              <a:rPr/>
              <a:t>It does not solve every task itself.</a:t>
            </a:r>
          </a:p>
          <a:p>
            <a:pPr lvl="0"/>
            <a:r>
              <a:rPr/>
              <a:t>It reduces prompt complexity.</a:t>
            </a:r>
          </a:p>
          <a:p>
            <a:pPr lvl="0"/>
            <a:r>
              <a:rPr/>
              <a:t>It makes authority checks easier.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Evaluator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An evaluator checks output quality.</a:t>
            </a:r>
          </a:p>
          <a:p>
            <a:pPr lvl="0"/>
            <a:r>
              <a:rPr/>
              <a:t>It can validate schema and citations.</a:t>
            </a:r>
          </a:p>
          <a:p>
            <a:pPr lvl="0"/>
            <a:r>
              <a:rPr/>
              <a:t>It can detect missing evidence.</a:t>
            </a:r>
          </a:p>
          <a:p>
            <a:pPr lvl="0"/>
            <a:r>
              <a:rPr/>
              <a:t>It can require human approval.</a:t>
            </a:r>
          </a:p>
          <a:p>
            <a:pPr lvl="0"/>
            <a:r>
              <a:rPr/>
              <a:t>It should not be the only safety layer.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Deterministic Design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Let the LLM interpret and explain.</a:t>
            </a:r>
          </a:p>
          <a:p>
            <a:pPr lvl="0"/>
            <a:r>
              <a:rPr/>
              <a:t>Let tools calculate and update.</a:t>
            </a:r>
          </a:p>
          <a:p>
            <a:pPr lvl="0"/>
            <a:r>
              <a:rPr/>
              <a:t>Let policy approve or block.</a:t>
            </a:r>
          </a:p>
          <a:p>
            <a:pPr lvl="0"/>
            <a:r>
              <a:rPr/>
              <a:t>Let semantic models define truth.</a:t>
            </a:r>
          </a:p>
          <a:p>
            <a:pPr lvl="0"/>
            <a:r>
              <a:rPr/>
              <a:t>Let logs prove what happened.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Case: Support Ticket Triage Agent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08600"/>
                <a:gridCol w="530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Design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ticket text plus customer context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department, priority, reason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recommend; auto-route low-risk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hard limit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refunds or direct DB writes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HITL trigger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priority or policy-sensitive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1: Bounded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Classify department.</a:t>
            </a:r>
          </a:p>
          <a:p>
            <a:pPr lvl="0"/>
            <a:r>
              <a:rPr/>
              <a:t>Set priority.</a:t>
            </a:r>
          </a:p>
          <a:p>
            <a:pPr lvl="0"/>
            <a:r>
              <a:rPr/>
              <a:t>Return reason.</a:t>
            </a:r>
          </a:p>
          <a:p>
            <a:pPr lvl="0"/>
            <a:r>
              <a:rPr/>
              <a:t>Use allowed departments only.</a:t>
            </a:r>
          </a:p>
          <a:p>
            <a:pPr lvl="0"/>
            <a:r>
              <a:rPr/>
              <a:t>Do not invent actions.</a:t>
            </a:r>
          </a:p>
          <a:p>
            <a:pPr lvl="0"/>
            <a:r>
              <a:rPr/>
              <a:t>Escalate unsupported cases.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2: Semantic Truth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Priority uses certified evidence.</a:t>
            </a:r>
          </a:p>
          <a:p>
            <a:pPr lvl="0"/>
            <a:r>
              <a:rPr/>
              <a:t>Ticket wording is not enough.</a:t>
            </a:r>
          </a:p>
          <a:p>
            <a:pPr lvl="0"/>
            <a:r>
              <a:rPr/>
              <a:t>Incident status comes from governed source.</a:t>
            </a:r>
          </a:p>
          <a:p>
            <a:pPr lvl="0"/>
            <a:r>
              <a:rPr/>
              <a:t>SLA risk comes from certified calculation.</a:t>
            </a:r>
          </a:p>
          <a:p>
            <a:pPr lvl="0"/>
            <a:r>
              <a:rPr/>
              <a:t>Customer tier comes from CRM master data.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3: Deterministic Risk Score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LLM extracts signals from text.</a:t>
                </a:r>
              </a:p>
              <a:p>
                <a:pPr lvl="0"/>
                <a:r>
                  <a:rPr/>
                  <a:t>Tool computes risk score.</a:t>
                </a:r>
              </a:p>
              <a:p>
                <a:pPr lvl="0"/>
                <a:r>
                  <a:rPr/>
                  <a:t>Policy maps score to priority.</a:t>
                </a:r>
              </a:p>
              <a:p>
                <a:pPr lvl="0"/>
                <a:r>
                  <a:rPr/>
                  <a:t>Tool returns evidence IDs.</a:t>
                </a:r>
              </a:p>
              <a:p>
                <a:pPr lvl="0"/>
                <a:r>
                  <a:rPr/>
                  <a:t>Agent explains the decision.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t>c</m:t>
                      </m:r>
                      <m:r>
                        <m:t>o</m:t>
                      </m:r>
                      <m:r>
                        <m:t>r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0.45</m:t>
                      </m:r>
                      <m:r>
                        <m:t>I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0.30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0.15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0.10</m:t>
                      </m:r>
                      <m:r>
                        <m:t>U</m:t>
                      </m:r>
                    </m:oMath>
                  </m:oMathPara>
                </a14:m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3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hasCustomPrompt="1" type="title" /></p:nvPr></p:nvSpPr><p:spPr /><p:txBody><a:bodyPr /><a:lstStyle /><a:p><a:pPr lvl="0" indent="0" marL="0"><a:buNone /></a:pPr><a:r><a:rPr /><a:t>Risk Score Symbols</a:t></a:r></a:p></p:txBody></p:sp><p:graphicFrame><p:nvGraphicFramePr><p:cNvPr id="6" name="Content Placeholder 5" /><p:cNvGraphicFramePr><a:graphicFrameLocks noGrp="1" /></p:cNvGraphicFramePr><p:nvPr><p:ph idx="1" /></p:nvPr></p:nvGraphicFramePr><p:xfrm><a:off x="939800" y="1600200" /><a:ext cx="10629900" cy="4521200" /></p:xfrm><a:graphic><a:graphicData uri="http://schemas.openxmlformats.org/drawingml/2006/table"><a:tbl><a:tblPr firstRow="1" bandRow="1"><a:tableStyleId>{793D81CF-94F2-401A-BA57-92F5A7B2D0C5}</a:tableStyleId></a:tblPr><a:tblGrid><a:gridCol w="3543300" /><a:gridCol w="3543300" /><a:gridCol w="3543300" /></a:tblGrid><a:tr h="0"><a:tc><a:txBody><a:bodyPr /><a:lstStyle /><a:p><a:pPr lvl="0" indent="0" marL="0"><a:buNone /></a:pPr><a:r><a:rPr /><a:t>Symbol</a:t></a:r></a:p></a:txBody><a:tcPr /></a:tc><a:tc><a:txBody><a:bodyPr /><a:lstStyle /><a:p><a:pPr lvl="0" indent="0" marL="0"><a:buNone /></a:pPr><a:r><a:rPr /><a:t>Meaning</a:t></a:r></a:p></a:txBody><a:tcPr /></a:tc><a:tc><a:txBody><a:bodyPr /><a:lstStyle /><a:p><a:pPr lvl="0" indent="0" marL="0" algn="r"><a:buNone /></a:pPr><a:r><a:rPr /><a:t>Range</a:t></a:r></a:p></a:txBody><a:tcPr /></a:tc></a:tr><a:tr h="0"><a:tc><a:txBody><a:bodyPr /><a:lstStyle /><a:p><a:pPr lvl="0" indent="0" marL="0"><a:buNone /></a:pPr><a14:m><m:oMath xmlns:m="http://schemas.openxmlformats.org/officeDocument/2006/math"><m:r><m:t>I</m:t></m:r></m:oMath></a14:m></a:p></a:txBody></a:tc><a:tc><a:txBody><a:bodyPr /><a:lstStyle /><a:p><a:pPr lvl="0" indent="0" marL="0"><a:buNone /></a:pPr><a:r><a:rPr /><a:t>confirmed incident signal</a:t></a:r></a:p></a:txBody></a:tc><a:tc><a:txBody><a:bodyPr /><a:lstStyle /><a:p><a:pPr lvl="0" indent="0" marL="0" algn="r"><a:buNone /></a:pPr><a:r><a:rPr /><a:t>0 or 1</a:t></a:r></a:p></a:txBody></a:tc></a:tr><a:tr h="0"><a:tc><a:txBody><a:bodyPr /><a:lstStyle /><a:p><a:pPr lvl="0" indent="0" marL="0"><a:buNone /></a:pPr><a14:m><m:oMath xmlns:m="http://schemas.openxmlformats.org/officeDocument/2006/math"><m:r><m:t>S</m:t></m:r></m:oMath></a14:m></a:p></a:txBody></a:tc><a:tc><a:txBody><a:bodyPr /><a:lstStyle /><a:p><a:pPr lvl="0" indent="0" marL="0"><a:buNone /></a:pPr><a:r><a:rPr /><a:t>SLA breach risk</a:t></a:r></a:p></a:txBody></a:tc><a:tc><a:txBody><a:bodyPr /><a:lstStyle /><a:p><a:pPr lvl="0" indent="0" marL="0" algn="r"><a:buNone /></a:pPr><a:r><a:rPr /><a:t>0 to 1</a:t></a:r></a:p></a:txBody></a:tc></a:tr><a:tr h="0"><a:tc><a:txBody><a:bodyPr /><a:lstStyle /><a:p><a:pPr lvl="0" indent="0" marL="0"><a:buNone /></a:pPr><a14:m><m:oMath xmlns:m="http://schemas.openxmlformats.org/officeDocument/2006/math"><m:r><m:t>C</m:t></m:r></m:oMath></a14:m></a:p></a:txBody></a:tc><a:tc><a:txBody><a:bodyPr /><a:lstStyle /><a:p><a:pPr lvl="0" indent="0" marL="0"><a:buNone /></a:pPr><a:r><a:rPr /><a:t>customer criticality</a:t></a:r></a:p></a:txBody></a:tc><a:tc><a:txBody><a:bodyPr /><a:lstStyle /><a:p><a:pPr lvl="0" indent="0" marL="0" algn="r"><a:buNone /></a:pPr><a:r><a:rPr /><a:t>0 to 1</a:t></a:r></a:p></a:txBody></a:tc></a:tr><a:tr h="0"><a:tc><a:txBody><a:bodyPr /><a:lstStyle /><a:p><a:pPr lvl="0" indent="0" marL="0"><a:buNone /></a:pPr><a14:m><m:oMath xmlns:m="http://schemas.openxmlformats.org/officeDocument/2006/math"><m:r><m:t>U</m:t></m:r></m:oMath></a14:m></a:p></a:txBody></a:tc><a:tc><a:txBody><a:bodyPr /><a:lstStyle /><a:p><a:pPr lvl="0" indent="0" marL="0"><a:buNone /></a:pPr><a:r><a:rPr /><a:t>urgency extracted from text</a:t></a:r></a:p></a:txBody></a:tc><a:tc><a:txBody><a:bodyPr /><a:lstStyle /><a:p><a:pPr lvl="0" indent="0" marL="0" algn="r"><a:buNone /></a:pPr><a:r><a:rPr /><a:t>0 to 1</a:t></a:r></a:p></a:txBody></a:tc></a:tr></a:tbl></a:graphicData></a:graphic></p:graphicFrame><p:sp><p:nvSpPr><p:cNvPr id="5" name="Footer Placeholder 4" /><p:cNvSpPr><a:spLocks noGrp="1" /></p:cNvSpPr><p:nvPr><p:ph idx="11" sz="quarter" type="ftr" /></p:nvPr></p:nvSpPr><p:spPr /><p:txBody><a:bodyPr /><a:lstStyle /><a:p><a:r><a:rPr lang="en-US" /><a:t>Or Peretz</a:t></a:r></a:p></p:txBody></p:sp><p:sp><p:nvSpPr><p:cNvPr id="6" name="Slide Number Placeholder 5" /><p:cNvSpPr><a:spLocks noGrp="1" /></p:cNvSpPr><p:nvPr><p:ph idx="12" sz="quarter" type="sldNum" /></p:nvPr></p:nvSpPr><p:spPr /><p:txBody><a:bodyPr /><a:lstStyle /><a:p><a:fld id="{C1FF6DA9-008F-8B48-92A6-B652298478BF}" type="slidenum"><a:rPr lang="en-US" smtClean="0" /><a:t>‹#›</a:t></a:fld><a:endParaRPr lang="en-US" /></a:p></p:txBody></p:sp></p:spTree></p:cSld></p:sld>
</file>

<file path=ppt/slides/slide5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9" name="Title 1"><a:extLst><a:ext uri="{FF2B5EF4-FFF2-40B4-BE49-F238E27FC236}"><a16:creationId id="{7F24627C-5938-5D06-969C-341161F72C9C}" xmlns:a16="http://schemas.microsoft.com/office/drawing/2014/main" /></a:ext></a:extLst></p:cNvPr><p:cNvSpPr><a:spLocks noGrp="1" /></p:cNvSpPr><p:nvPr><p:ph type="title" /></p:nvPr></p:nvSpPr><p:spPr><a:xfrm><a:off x="609600" y="274638" /><a:ext cx="10972800" cy="1143000" /></a:xfrm></p:spPr><p:txBody><a:bodyPr /><a:lstStyle /><a:p><a:pPr lvl="0" indent="0" marL="0"><a:buNone /></a:pPr><a:r><a:rPr /><a:t>Risk Score Example Inputs</a:t></a:r></a:p></p:txBody></p:sp><p:sp><p:nvSpPr><p:cNvPr id="8" name="Text Placeholder 3"><a:extLst><a:ext uri="{FF2B5EF4-FFF2-40B4-BE49-F238E27FC236}"><a16:creationId id="{0A904EEE-C9D3-E47E-C69D-A4A1BC1D9F2D}" xmlns:a16="http://schemas.microsoft.com/office/drawing/2014/main" /></a:ext></a:extLst></p:cNvPr><p:cNvSpPr><a:spLocks noGrp="1" /></p:cNvSpPr><p:nvPr><p:ph hasCustomPrompt="1" idx="2" sz="half" type="body" /></p:nvPr></p:nvSpPr><p:spPr /><p:txBody><a:bodyPr /><a:lstStyle /><a:p><a:pPr lvl="0" indent="0" marL="0"><a:buNone /></a:pPr><a:r><a:rPr /><a:t>Assume:</a:t></a:r></a:p></p:txBody></p:sp><p:graphicFrame><p:nvGraphicFramePr><p:cNvPr id="6" name="Content Placeholder 5" /><p:cNvGraphicFramePr><a:graphicFrameLocks noGrp="1" /></p:cNvGraphicFramePr><p:nvPr><p:ph idx="1" /></p:nvPr></p:nvGraphicFramePr><p:xfrm><a:off x="1358900" y="3429000" /><a:ext cx="8928100" cy="2336800" /></p:xfrm><a:graphic><a:graphicData uri="http://schemas.openxmlformats.org/drawingml/2006/table"><a:tbl><a:tblPr firstRow="1" bandRow="1"><a:tableStyleId>{793D81CF-94F2-401A-BA57-92F5A7B2D0C5}</a:tableStyleId></a:tblPr><a:tblGrid><a:gridCol w="4457700" /><a:gridCol w="4457700" /></a:tblGrid><a:tr h="0"><a:tc><a:txBody><a:bodyPr /><a:lstStyle /><a:p><a:pPr lvl="0" indent="0" marL="0"><a:buNone /></a:pPr><a:r><a:rPr /><a:t>signal</a:t></a:r></a:p></a:txBody><a:tcPr /></a:tc><a:tc><a:txBody><a:bodyPr /><a:lstStyle /><a:p><a:pPr lvl="0" indent="0" marL="0" algn="r"><a:buNone /></a:pPr><a:r><a:rPr /><a:t>value</a:t></a:r></a:p></a:txBody><a:tcPr /></a:tc></a:tr><a:tr h="0"><a:tc><a:txBody><a:bodyPr /><a:lstStyle /><a:p><a:pPr lvl="0" indent="0" marL="0"><a:buNone /></a:pPr><a14:m><m:oMath xmlns:m="http://schemas.openxmlformats.org/officeDocument/2006/math"><m:r><m:t>I</m:t></m:r></m:oMath></a14:m></a:p></a:txBody></a:tc><a:tc><a:txBody><a:bodyPr /><a:lstStyle /><a:p><a:pPr lvl="0" indent="0" marL="0" algn="r"><a:buNone /></a:pPr><a:r><a:rPr /><a:t>1.00</a:t></a:r></a:p></a:txBody></a:tc></a:tr><a:tr h="0"><a:tc><a:txBody><a:bodyPr /><a:lstStyle /><a:p><a:pPr lvl="0" indent="0" marL="0"><a:buNone /></a:pPr><a14:m><m:oMath xmlns:m="http://schemas.openxmlformats.org/officeDocument/2006/math"><m:r><m:t>S</m:t></m:r></m:oMath></a14:m></a:p></a:txBody></a:tc><a:tc><a:txBody><a:bodyPr /><a:lstStyle /><a:p><a:pPr lvl="0" indent="0" marL="0" algn="r"><a:buNone /></a:pPr><a:r><a:rPr /><a:t>0.80</a:t></a:r></a:p></a:txBody></a:tc></a:tr><a:tr h="0"><a:tc><a:txBody><a:bodyPr /><a:lstStyle /><a:p><a:pPr lvl="0" indent="0" marL="0"><a:buNone /></a:pPr><a14:m><m:oMath xmlns:m="http://schemas.openxmlformats.org/officeDocument/2006/math"><m:r><m:t>C</m:t></m:r></m:oMath></a14:m></a:p></a:txBody></a:tc><a:tc><a:txBody><a:bodyPr /><a:lstStyle /><a:p><a:pPr lvl="0" indent="0" marL="0" algn="r"><a:buNone /></a:pPr><a:r><a:rPr /><a:t>0.60</a:t></a:r></a:p></a:txBody></a:tc></a:tr><a:tr h="0"><a:tc><a:txBody><a:bodyPr /><a:lstStyle /><a:p><a:pPr lvl="0" indent="0" marL="0"><a:buNone /></a:pPr><a14:m><m:oMath xmlns:m="http://schemas.openxmlformats.org/officeDocument/2006/math"><m:r><m:t>U</m:t></m:r></m:oMath></a14:m></a:p></a:txBody></a:tc><a:tc><a:txBody><a:bodyPr /><a:lstStyle /><a:p><a:pPr lvl="0" indent="0" marL="0" algn="r"><a:buNone /></a:pPr><a:r><a:rPr /><a:t>0.90</a:t></a:r></a:p></a:txBody></a:tc></a:tr></a:tbl></a:graphicData></a:graphic></p:graphicFrame><p:sp><p:nvSpPr><p:cNvPr id="6" name="Footer Placeholder 5" /><p:cNvSpPr><a:spLocks noGrp="1" /></p:cNvSpPr><p:nvPr><p:ph idx="11" sz="quarter" type="ftr" /></p:nvPr></p:nvSpPr><p:spPr /><p:txBody><a:bodyPr /><a:lstStyle /><a:p><a:r><a:rPr lang="en-US" /><a:t>Or Peretz</a:t></a:r></a:p></p:txBody></p:sp><p:sp><p:nvSpPr><p:cNvPr id="7" name="Slide Number Placeholder 6" /><p:cNvSpPr><a:spLocks noGrp="1" /></p:cNvSpPr><p:nvPr><p:ph idx="12" sz="quarter" type="sldNum" /></p:nvPr></p:nvSpPr><p:spPr /><p:txBody><a:bodyPr /><a:lstStyle /><a:p><a:fld id="{C1FF6DA9-008F-8B48-92A6-B652298478BF}" type="slidenum"><a:rPr lang="en-US" smtClean="0" /><a:t>‹#›</a:t></a:fld><a:endParaRPr lang="en-US" /></a:p></p:txBody></p:sp></p:spTree></p:cSld>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 Score Example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Confirmed incident has the largest weight.</a:t>
                </a:r>
              </a:p>
              <a:p>
                <a:pPr lvl="0"/>
                <a:r>
                  <a:rPr/>
                  <a:t>SLA risk strongly increases priority.</a:t>
                </a:r>
              </a:p>
              <a:p>
                <a:pPr lvl="0"/>
                <a:r>
                  <a:rPr/>
                  <a:t>Customer criticality adds business impact.</a:t>
                </a:r>
              </a:p>
              <a:p>
                <a:pPr lvl="0"/>
                <a:r>
                  <a:rPr/>
                  <a:t>Urgency contributes but does not decide alone.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t>c</m:t>
                      </m:r>
                      <m:r>
                        <m:t>o</m:t>
                      </m:r>
                      <m:r>
                        <m:t>r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0.45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0.30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0.8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0.15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0.6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0.10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0.9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0.87</m:t>
                      </m:r>
                    </m:oMath>
                  </m:oMathPara>
                </a14:m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hasCustomPrompt="1" type="title" /></p:nvPr></p:nvSpPr><p:spPr /><p:txBody><a:bodyPr /><a:lstStyle /><a:p><a:pPr lvl="0" indent="0" marL="0"><a:buNone /></a:pPr><a:r><a:rPr /><a:t>Priority Rule</a:t></a:r></a:p></p:txBody></p:sp><p:graphicFrame><p:nvGraphicFramePr><p:cNvPr id="6" name="Content Placeholder 5" /><p:cNvGraphicFramePr><a:graphicFrameLocks noGrp="1" /></p:cNvGraphicFramePr><p:nvPr><p:ph idx="1" /></p:nvPr></p:nvGraphicFramePr><p:xfrm><a:off x="939800" y="1600200" /><a:ext cx="10629900" cy="4521200" /></p:xfrm><a:graphic><a:graphicData uri="http://schemas.openxmlformats.org/drawingml/2006/table"><a:tbl><a:tblPr firstRow="1" bandRow="1"><a:tableStyleId>{793D81CF-94F2-401A-BA57-92F5A7B2D0C5}</a:tableStyleId></a:tblPr><a:tblGrid><a:gridCol w="3543300" /><a:gridCol w="3543300" /><a:gridCol w="3543300" /></a:tblGrid><a:tr h="0"><a:tc><a:txBody><a:bodyPr /><a:lstStyle /><a:p><a:pPr lvl="0" indent="0" marL="0"><a:buNone /></a:pPr><a:r><a:rPr /><a:t>Score condition</a:t></a:r></a:p></a:txBody><a:tcPr /></a:tc><a:tc><a:txBody><a:bodyPr /><a:lstStyle /><a:p><a:pPr lvl="0" indent="0" marL="0"><a:buNone /></a:pPr><a:r><a:rPr /><a:t>Priority</a:t></a:r></a:p></a:txBody><a:tcPr /></a:tc><a:tc><a:txBody><a:bodyPr /><a:lstStyle /><a:p><a:pPr lvl="0" indent="0" marL="0"><a:buNone /></a:pPr><a:r><a:rPr /><a:t>Authority</a:t></a:r></a:p></a:txBody><a:tcPr /></a:tc></a:tr><a:tr h="0"><a:tc><a:txBody><a:bodyPr /><a:lstStyle /><a:p><a:pPr lvl="0" indent="0" marL="0"><a:buNone /></a:pPr><a14:m><m:oMath xmlns:m="http://schemas.openxmlformats.org/officeDocument/2006/math"><m:r><m:t>s</m:t></m:r><m:r><m:t>c</m:t></m:r><m:r><m:t>o</m:t></m:r><m:r><m:t>r</m:t></m:r><m:r><m:t>e</m:t></m:r><m:r><m:rPr><m:sty m:val="p" /></m:rPr><m:t>≥</m:t></m:r><m:r><m:t>0.80</m:t></m:r></m:oMath></a14:m></a:p></a:txBody></a:tc><a:tc><a:txBody><a:bodyPr /><a:lstStyle /><a:p><a:pPr lvl="0" indent="0" marL="0"><a:buNone /></a:pPr><a:r><a:rPr /><a:t>High</a:t></a:r></a:p></a:txBody></a:tc><a:tc><a:txBody><a:bodyPr /><a:lstStyle /><a:p><a:pPr lvl="0" indent="0" marL="0"><a:buNone /></a:pPr><a:r><a:rPr /><a:t>HITL required</a:t></a:r></a:p></a:txBody></a:tc></a:tr><a:tr h="0"><a:tc><a:txBody><a:bodyPr /><a:lstStyle /><a:p><a:pPr lvl="0" indent="0" marL="0"><a:buNone /></a:pPr><a14:m><m:oMath xmlns:m="http://schemas.openxmlformats.org/officeDocument/2006/math"><m:r><m:t>0.50</m:t></m:r><m:r><m:rPr><m:sty m:val="p" /></m:rPr><m:t>≤</m:t></m:r><m:r><m:t>s</m:t></m:r><m:r><m:t>c</m:t></m:r><m:r><m:t>o</m:t></m:r><m:r><m:t>r</m:t></m:r><m:r><m:t>e</m:t></m:r><m:r><m:rPr><m:sty m:val="p" /></m:rPr><m:t>&lt;</m:t></m:r><m:r><m:t>0.80</m:t></m:r></m:oMath></a14:m></a:p></a:txBody></a:tc><a:tc><a:txBody><a:bodyPr /><a:lstStyle /><a:p><a:pPr lvl="0" indent="0" marL="0"><a:buNone /></a:pPr><a:r><a:rPr /><a:t>Medium</a:t></a:r></a:p></a:txBody></a:tc><a:tc><a:txBody><a:bodyPr /><a:lstStyle /><a:p><a:pPr lvl="0" indent="0" marL="0"><a:buNone /></a:pPr><a:r><a:rPr /><a:t>auto-route allowed</a:t></a:r></a:p></a:txBody></a:tc></a:tr><a:tr h="0"><a:tc><a:txBody><a:bodyPr /><a:lstStyle /><a:p><a:pPr lvl="0" indent="0" marL="0"><a:buNone /></a:pPr><a14:m><m:oMath xmlns:m="http://schemas.openxmlformats.org/officeDocument/2006/math"><m:r><m:t>s</m:t></m:r><m:r><m:t>c</m:t></m:r><m:r><m:t>o</m:t></m:r><m:r><m:t>r</m:t></m:r><m:r><m:t>e</m:t></m:r><m:r><m:rPr><m:sty m:val="p" /></m:rPr><m:t>&lt;</m:t></m:r><m:r><m:t>0.50</m:t></m:r></m:oMath></a14:m></a:p></a:txBody></a:tc><a:tc><a:txBody><a:bodyPr /><a:lstStyle /><a:p><a:pPr lvl="0" indent="0" marL="0"><a:buNone /></a:pPr><a:r><a:rPr /><a:t>Low</a:t></a:r></a:p></a:txBody></a:tc><a:tc><a:txBody><a:bodyPr /><a:lstStyle /><a:p><a:pPr lvl="0" indent="0" marL="0"><a:buNone /></a:pPr><a:r><a:rPr /><a:t>auto-route allowed</a:t></a:r></a:p></a:txBody></a:tc></a:tr><a:tr h="0"><a:tc><a:txBody><a:bodyPr /><a:lstStyle /><a:p><a:pPr lvl="0" indent="0" marL="0"><a:buNone /></a:pPr><a:r><a:rPr /><a:t>missing evidence</a:t></a:r></a:p></a:txBody></a:tc><a:tc><a:txBody><a:bodyPr /><a:lstStyle /><a:p><a:pPr lvl="0" indent="0" marL="0"><a:buNone /></a:pPr><a:r><a:rPr /><a:t>Other</a:t></a:r></a:p></a:txBody></a:tc><a:tc><a:txBody><a:bodyPr /><a:lstStyle /><a:p><a:pPr lvl="0" indent="0" marL="0"><a:buNone /></a:pPr><a:r><a:rPr /><a:t>human review</a:t></a:r></a:p></a:txBody></a:tc></a:tr></a:tbl></a:graphicData></a:graphic></p:graphicFrame><p:sp><p:nvSpPr><p:cNvPr id="5" name="Footer Placeholder 4" /><p:cNvSpPr><a:spLocks noGrp="1" /></p:cNvSpPr><p:nvPr><p:ph idx="11" sz="quarter" type="ftr" /></p:nvPr></p:nvSpPr><p:spPr /><p:txBody><a:bodyPr /><a:lstStyle /><a:p><a:r><a:rPr lang="en-US" /><a:t>Or Peretz</a:t></a:r></a:p></p:txBody></p:sp><p:sp><p:nvSpPr><p:cNvPr id="6" name="Slide Number Placeholder 5" /><p:cNvSpPr><a:spLocks noGrp="1" /></p:cNvSpPr><p:nvPr><p:ph idx="12" sz="quarter" type="sldNum" /></p:nvPr></p:nvSpPr><p:spPr /><p:txBody><a:bodyPr /><a:lstStyle /><a:p><a:fld id="{C1FF6DA9-008F-8B48-92A6-B652298478BF}" type="slidenum"><a:rPr lang="en-US" smtClean="0" /><a:t>‹#›</a:t></a:fld><a:endParaRPr lang="en-US" /></a:p></p:txBody></p:sp></p:spTree></p:cSld>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4: Governed Retrieval and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Retrieve only approved policy sources.</a:t>
            </a:r>
          </a:p>
          <a:p>
            <a:pPr lvl="0"/>
            <a:r>
              <a:rPr/>
              <a:t>Cite evidence IDs.</a:t>
            </a:r>
          </a:p>
          <a:p>
            <a:pPr lvl="0"/>
            <a:r>
              <a:rPr/>
              <a:t>Store tool inputs and outputs.</a:t>
            </a:r>
          </a:p>
          <a:p>
            <a:pPr lvl="0"/>
            <a:r>
              <a:rPr/>
              <a:t>Store authorization check result.</a:t>
            </a:r>
          </a:p>
          <a:p>
            <a:pPr lvl="0"/>
            <a:r>
              <a:rPr/>
              <a:t>Store final decision and owner.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Receipt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08600"/>
                <a:gridCol w="530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analyst_17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classify support ticket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retrieve_policy, score_priority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policy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high-priority requires approval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evidence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incident_442, policy_sla_03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result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manager approval requested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9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hasCustomPrompt="1" type="title" /></p:nvPr></p:nvSpPr><p:spPr /><p:txBody><a:bodyPr /><a:lstStyle /><a:p><a:pPr lvl="0" indent="0" marL="0"><a:buNone /></a:pPr><a:r><a:rPr /><a:t>Evaluation Metrics</a:t></a:r></a:p></p:txBody></p:sp><p:graphicFrame><p:nvGraphicFramePr><p:cNvPr id="6" name="Content Placeholder 5" /><p:cNvGraphicFramePr><a:graphicFrameLocks noGrp="1" /></p:cNvGraphicFramePr><p:nvPr><p:ph idx="1" /></p:nvPr></p:nvGraphicFramePr><p:xfrm><a:off x="939800" y="1600200" /><a:ext cx="10629900" cy="4521200" /></p:xfrm><a:graphic><a:graphicData uri="http://schemas.openxmlformats.org/drawingml/2006/table"><a:tbl><a:tblPr firstRow="1" bandRow="1"><a:tableStyleId>{793D81CF-94F2-401A-BA57-92F5A7B2D0C5}</a:tableStyleId></a:tblPr><a:tblGrid><a:gridCol w="5308600" /><a:gridCol w="5308600" /></a:tblGrid><a:tr h="0"><a:tc><a:txBody><a:bodyPr /><a:lstStyle /><a:p><a:pPr lvl="0" indent="0" marL="0"><a:buNone /></a:pPr><a:r><a:rPr /><a:t>Metric</a:t></a:r></a:p></a:txBody><a:tcPr /></a:tc><a:tc><a:txBody><a:bodyPr /><a:lstStyle /><a:p><a:pPr lvl="0" indent="0" marL="0"><a:buNone /></a:pPr><a:r><a:rPr /><a:t>Formula</a:t></a:r></a:p></a:txBody><a:tcPr /></a:tc></a:tr><a:tr h="0"><a:tc><a:txBody><a:bodyPr /><a:lstStyle /><a:p><a:pPr lvl="0" indent="0" marL="0"><a:buNone /></a:pPr><a:r><a:rPr /><a:t>policy violation rate</a:t></a:r></a:p></a:txBody></a:tc><a:tc><a:txBody><a:bodyPr /><a:lstStyle /><a:p><a:pPr lvl="0" indent="0" marL="0"><a:buNone /></a:pPr><a14:m><m:oMath xmlns:m="http://schemas.openxmlformats.org/officeDocument/2006/math"><m:r><m:t>v</m:t></m:r><m:r><m:t>i</m:t></m:r><m:r><m:t>o</m:t></m:r><m:r><m:t>l</m:t></m:r><m:r><m:t>a</m:t></m:r><m:r><m:t>t</m:t></m:r><m:r><m:t>i</m:t></m:r><m:r><m:t>o</m:t></m:r><m:r><m:t>n</m:t></m:r><m:r><m:t>s</m:t></m:r><m:r><m:rPr><m:sty m:val="p" /></m:rPr><m:t>/</m:t></m:r><m:r><m:t>r</m:t></m:r><m:r><m:t>u</m:t></m:r><m:r><m:t>n</m:t></m:r><m:r><m:t>s</m:t></m:r></m:oMath></a14:m></a:p></a:txBody></a:tc></a:tr><a:tr h="0"><a:tc><a:txBody><a:bodyPr /><a:lstStyle /><a:p><a:pPr lvl="0" indent="0" marL="0"><a:buNone /></a:pPr><a:r><a:rPr /><a:t>HITL rate</a:t></a:r></a:p></a:txBody></a:tc><a:tc><a:txBody><a:bodyPr /><a:lstStyle /><a:p><a:pPr lvl="0" indent="0" marL="0"><a:buNone /></a:pPr><a14:m><m:oMath xmlns:m="http://schemas.openxmlformats.org/officeDocument/2006/math"><m:r><m:t>h</m:t></m:r><m:r><m:t>u</m:t></m:r><m:r><m:t>m</m:t></m:r><m:r><m:t>a</m:t></m:r><m:r><m:t>n</m:t></m:r><m:r><m:rPr><m:sty m:val="p" /></m:rPr><m:t>_</m:t></m:r><m:r><m:t>g</m:t></m:r><m:r><m:t>a</m:t></m:r><m:r><m:t>t</m:t></m:r><m:r><m:t>e</m:t></m:r><m:r><m:t>s</m:t></m:r><m:r><m:rPr><m:sty m:val="p" /></m:rPr><m:t>/</m:t></m:r><m:r><m:t>r</m:t></m:r><m:r><m:t>u</m:t></m:r><m:r><m:t>n</m:t></m:r><m:r><m:t>s</m:t></m:r></m:oMath></a14:m></a:p></a:txBody></a:tc></a:tr><a:tr h="0"><a:tc><a:txBody><a:bodyPr /><a:lstStyle /><a:p><a:pPr lvl="0" indent="0" marL="0"><a:buNone /></a:pPr><a:r><a:rPr /><a:t>tool success rate</a:t></a:r></a:p></a:txBody></a:tc><a:tc><a:txBody><a:bodyPr /><a:lstStyle /><a:p><a:pPr lvl="0" indent="0" marL="0"><a:buNone /></a:pPr><a14:m><m:oMath xmlns:m="http://schemas.openxmlformats.org/officeDocument/2006/math"><m:r><m:t>s</m:t></m:r><m:r><m:t>u</m:t></m:r><m:r><m:t>c</m:t></m:r><m:r><m:t>c</m:t></m:r><m:r><m:t>e</m:t></m:r><m:r><m:t>s</m:t></m:r><m:r><m:t>s</m:t></m:r><m:r><m:t>f</m:t></m:r><m:r><m:t>u</m:t></m:r><m:r><m:t>l</m:t></m:r><m:r><m:rPr><m:sty m:val="p" /></m:rPr><m:t>_</m:t></m:r><m:r><m:t>c</m:t></m:r><m:r><m:t>a</m:t></m:r><m:r><m:t>l</m:t></m:r><m:r><m:t>l</m:t></m:r><m:r><m:t>s</m:t></m:r><m:r><m:rPr><m:sty m:val="p" /></m:rPr><m:t>/</m:t></m:r><m:r><m:t>c</m:t></m:r><m:r><m:t>a</m:t></m:r><m:r><m:t>l</m:t></m:r><m:r><m:t>l</m:t></m:r><m:r><m:t>s</m:t></m:r></m:oMath></a14:m></a:p></a:txBody></a:tc></a:tr><a:tr h="0"><a:tc><a:txBody><a:bodyPr /><a:lstStyle /><a:p><a:pPr lvl="0" indent="0" marL="0"><a:buNone /></a:pPr><a:r><a:rPr /><a:t>audit completeness</a:t></a:r></a:p></a:txBody></a:tc><a:tc><a:txBody><a:bodyPr /><a:lstStyle /><a:p><a:pPr lvl="0" indent="0" marL="0"><a:buNone /></a:pPr><a14:m><m:oMath xmlns:m="http://schemas.openxmlformats.org/officeDocument/2006/math"><m:r><m:t>c</m:t></m:r><m:r><m:t>o</m:t></m:r><m:r><m:t>m</m:t></m:r><m:r><m:t>p</m:t></m:r><m:r><m:t>l</m:t></m:r><m:r><m:t>e</m:t></m:r><m:r><m:t>t</m:t></m:r><m:r><m:t>e</m:t></m:r><m:r><m:rPr><m:sty m:val="p" /></m:rPr><m:t>_</m:t></m:r><m:r><m:t>t</m:t></m:r><m:r><m:t>r</m:t></m:r><m:r><m:t>a</m:t></m:r><m:r><m:t>c</m:t></m:r><m:r><m:t>e</m:t></m:r><m:r><m:t>s</m:t></m:r><m:r><m:rPr><m:sty m:val="p" /></m:rPr><m:t>/</m:t></m:r><m:r><m:t>r</m:t></m:r><m:r><m:t>u</m:t></m:r><m:r><m:t>n</m:t></m:r><m:r><m:t>s</m:t></m:r></m:oMath></a14:m></a:p></a:txBody></a:tc></a:tr><a:tr h="0"><a:tc><a:txBody><a:bodyPr /><a:lstStyle /><a:p><a:pPr lvl="0" indent="0" marL="0"><a:buNone /></a:pPr><a:r><a:rPr /><a:t>autonomous precision</a:t></a:r></a:p></a:txBody></a:tc><a:tc><a:txBody><a:bodyPr /><a:lstStyle /><a:p><a:pPr lvl="0" indent="0" marL="0"><a:buNone /></a:pPr><a14:m><m:oMath xmlns:m="http://schemas.openxmlformats.org/officeDocument/2006/math"><m:r><m:t>c</m:t></m:r><m:r><m:t>o</m:t></m:r><m:r><m:t>r</m:t></m:r><m:r><m:t>r</m:t></m:r><m:r><m:t>e</m:t></m:r><m:r><m:t>c</m:t></m:r><m:r><m:t>t</m:t></m:r><m:r><m:rPr><m:sty m:val="p" /></m:rPr><m:t>_</m:t></m:r><m:r><m:t>a</m:t></m:r><m:r><m:t>u</m:t></m:r><m:r><m:t>t</m:t></m:r><m:r><m:t>o</m:t></m:r><m:r><m:rPr><m:sty m:val="p" /></m:rPr><m:t>/</m:t></m:r><m:r><m:t>a</m:t></m:r><m:r><m:t>u</m:t></m:r><m:r><m:t>t</m:t></m:r><m:r><m:t>o</m:t></m:r><m:r><m:rPr><m:sty m:val="p" /></m:rPr><m:t>_</m:t></m:r><m:r><m:t>a</m:t></m:r><m:r><m:t>c</m:t></m:r><m:r><m:t>t</m:t></m:r><m:r><m:t>i</m:t></m:r><m:r><m:t>o</m:t></m:r><m:r><m:t>n</m:t></m:r><m:r><m:t>s</m:t></m:r></m:oMath></a14:m></a:p></a:txBody></a:tc></a:tr></a:tbl></a:graphicData></a:graphic></p:graphicFrame><p:sp><p:nvSpPr><p:cNvPr id="5" name="Footer Placeholder 4" /><p:cNvSpPr><a:spLocks noGrp="1" /></p:cNvSpPr><p:nvPr><p:ph idx="11" sz="quarter" type="ftr" /></p:nvPr></p:nvSpPr><p:spPr /><p:txBody><a:bodyPr /><a:lstStyle /><a:p><a:r><a:rPr lang="en-US" /><a:t>Or Peretz</a:t></a:r></a:p></p:txBody></p:sp><p:sp><p:nvSpPr><p:cNvPr id="6" name="Slide Number Placeholder 5" /><p:cNvSpPr><a:spLocks noGrp="1" /></p:cNvSpPr><p:nvPr><p:ph idx="12" sz="quarter" type="sldNum" /></p:nvPr></p:nvSpPr><p:spPr /><p:txBody><a:bodyPr /><a:lstStyle /><a:p><a:fld id="{C1FF6DA9-008F-8B48-92A6-B652298478BF}" type="slidenum"><a:rPr lang="en-US" smtClean="0" /><a:t>‹#›</a:t></a:fld><a:endParaRPr lang="en-US" /></a:p></p:txBody></p:sp></p:spTree></p:cSld>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Confidence Thresholding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Autonomous action needs high confidence.</a:t>
                </a:r>
              </a:p>
              <a:p>
                <a:pPr lvl="0"/>
                <a:r>
                  <a:rPr/>
                  <a:t>Recommendation can tolerate lower confidence.</a:t>
                </a:r>
              </a:p>
              <a:p>
                <a:pPr lvl="0"/>
                <a:r>
                  <a:rPr/>
                  <a:t>Missing evidence lowers confidence.</a:t>
                </a:r>
              </a:p>
              <a:p>
                <a:pPr lvl="0"/>
                <a:r>
                  <a:rPr/>
                  <a:t>Policy-sensitive cases override confidence.</a:t>
                </a:r>
              </a:p>
              <a:p>
                <a:pPr lvl="0"/>
                <a:r>
                  <a:rPr/>
                  <a:t>Thresholds should be measured, not guessed.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a</m:t>
                      </m:r>
                      <m:r>
                        <m:t>c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_</m:t>
                      </m:r>
                      <m:r>
                        <m:t>a</m:t>
                      </m:r>
                      <m:r>
                        <m:t>l</m:t>
                      </m:r>
                      <m:r>
                        <m:t>l</m:t>
                      </m:r>
                      <m:r>
                        <m:t>o</m:t>
                      </m:r>
                      <m:r>
                        <m:t>w</m:t>
                      </m:r>
                      <m:r>
                        <m:t>e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c</m:t>
                      </m:r>
                      <m:r>
                        <m:t>o</m:t>
                      </m:r>
                      <m:r>
                        <m:t>n</m:t>
                      </m:r>
                      <m:r>
                        <m:t>f</m:t>
                      </m:r>
                      <m:r>
                        <m:t>i</m:t>
                      </m:r>
                      <m:r>
                        <m:t>d</m:t>
                      </m:r>
                      <m:r>
                        <m:t>e</m:t>
                      </m:r>
                      <m:r>
                        <m:t>n</m:t>
                      </m:r>
                      <m:r>
                        <m:t>c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≥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∧</m:t>
                      </m:r>
                      <m:r>
                        <m:t>p</m:t>
                      </m:r>
                      <m:r>
                        <m:t>o</m:t>
                      </m:r>
                      <m:r>
                        <m:t>l</m:t>
                      </m:r>
                      <m:r>
                        <m:t>i</m:t>
                      </m:r>
                      <m:r>
                        <m:t>c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_</m:t>
                      </m:r>
                      <m:r>
                        <m:t>p</m:t>
                      </m:r>
                      <m:r>
                        <m:t>a</m:t>
                      </m:r>
                      <m:r>
                        <m:t>s</m:t>
                      </m:r>
                      <m:r>
                        <m:t>s</m:t>
                      </m:r>
                    </m:oMath>
                  </m:oMathPara>
                </a14:m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Production Readiness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Accuracy meets target on labeled cases.</a:t>
            </a:r>
          </a:p>
          <a:p>
            <a:pPr lvl="0"/>
            <a:r>
              <a:rPr/>
              <a:t>Critical policy violations are zero.</a:t>
            </a:r>
          </a:p>
          <a:p>
            <a:pPr lvl="0"/>
            <a:r>
              <a:rPr/>
              <a:t>Latency stays within SLO.</a:t>
            </a:r>
          </a:p>
          <a:p>
            <a:pPr lvl="0"/>
            <a:r>
              <a:rPr/>
              <a:t>Audit traces are complete.</a:t>
            </a:r>
          </a:p>
          <a:p>
            <a:pPr lvl="0"/>
            <a:r>
              <a:rPr/>
              <a:t>Tool failures are handled safely.</a:t>
            </a:r>
          </a:p>
          <a:p>
            <a:pPr lvl="0"/>
            <a:r>
              <a:rPr/>
              <a:t>Owners approve authority level.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Release Hardening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08600"/>
                <a:gridCol w="530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authority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shadow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logs decisions 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HITL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proposes actions for approval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limited autonomy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acts on low-risk cases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production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acts within authority tiers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Operational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Define SLOs.</a:t>
            </a:r>
          </a:p>
          <a:p>
            <a:pPr lvl="0"/>
            <a:r>
              <a:rPr/>
              <a:t>Monitor latency and failures.</a:t>
            </a:r>
          </a:p>
          <a:p>
            <a:pPr lvl="0"/>
            <a:r>
              <a:rPr/>
              <a:t>Track policy violations.</a:t>
            </a:r>
          </a:p>
          <a:p>
            <a:pPr lvl="0"/>
            <a:r>
              <a:rPr/>
              <a:t>Maintain incident runbook.</a:t>
            </a:r>
          </a:p>
          <a:p>
            <a:pPr lvl="0"/>
            <a:r>
              <a:rPr/>
              <a:t>Define abort thresholds.</a:t>
            </a:r>
          </a:p>
          <a:p>
            <a:pPr lvl="0"/>
            <a:r>
              <a:rPr/>
              <a:t>Assign on-call ownership.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Fix Lever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Do not only edit the prompt.</a:t>
            </a:r>
          </a:p>
          <a:p>
            <a:pPr lvl="0"/>
            <a:r>
              <a:rPr/>
              <a:t>Fix instructions for routing errors.</a:t>
            </a:r>
          </a:p>
          <a:p>
            <a:pPr lvl="0"/>
            <a:r>
              <a:rPr/>
              <a:t>Fix semantic definitions for KPI errors.</a:t>
            </a:r>
          </a:p>
          <a:p>
            <a:pPr lvl="0"/>
            <a:r>
              <a:rPr/>
              <a:t>Fix retrieval for evidence errors.</a:t>
            </a:r>
          </a:p>
          <a:p>
            <a:pPr lvl="0"/>
            <a:r>
              <a:rPr/>
              <a:t>Fix tools for calculation errors.</a:t>
            </a:r>
          </a:p>
          <a:p>
            <a:pPr lvl="0"/>
            <a:r>
              <a:rPr/>
              <a:t>Fix policy for authority errors.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Failure Modes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08600"/>
                <a:gridCol w="530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Root cause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unsafe 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missing authority gate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hallucinated answer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missing evidence rule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wrong priority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uncertified metric definition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leakage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weak RBAC filter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untraceable run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missing audit schema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Engineering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Is the decision bounded?</a:t>
            </a:r>
          </a:p>
          <a:p>
            <a:pPr lvl="0"/>
            <a:r>
              <a:rPr/>
              <a:t>Is every tool typed and permissioned?</a:t>
            </a:r>
          </a:p>
          <a:p>
            <a:pPr lvl="0"/>
            <a:r>
              <a:rPr/>
              <a:t>Is the semantic layer certified?</a:t>
            </a:r>
          </a:p>
          <a:p>
            <a:pPr lvl="0"/>
            <a:r>
              <a:rPr/>
              <a:t>Is HITL defined for high-risk cases?</a:t>
            </a:r>
          </a:p>
          <a:p>
            <a:pPr lvl="0"/>
            <a:r>
              <a:rPr/>
              <a:t>Is every run replayable?</a:t>
            </a:r>
          </a:p>
          <a:p>
            <a:pPr lvl="0"/>
            <a:r>
              <a:rPr/>
              <a:t>Are failure responses non-fabricated?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Exercise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an agent for one workflow:</a:t>
            </a:r>
          </a:p>
          <a:p>
            <a:pPr lvl="0"/>
            <a:r>
              <a:rPr/>
              <a:t>Choose one bounded decision.</a:t>
            </a:r>
          </a:p>
          <a:p>
            <a:pPr lvl="0"/>
            <a:r>
              <a:rPr/>
              <a:t>Define inputs and outputs.</a:t>
            </a:r>
          </a:p>
          <a:p>
            <a:pPr lvl="0"/>
            <a:r>
              <a:rPr/>
              <a:t>List approved tools and skills.</a:t>
            </a:r>
          </a:p>
          <a:p>
            <a:pPr lvl="0"/>
            <a:r>
              <a:rPr/>
              <a:t>Set authority level.</a:t>
            </a:r>
          </a:p>
          <a:p>
            <a:pPr lvl="0"/>
            <a:r>
              <a:rPr/>
              <a:t>Define HITL triggers.</a:t>
            </a:r>
          </a:p>
          <a:p>
            <a:pPr lvl="0"/>
            <a:r>
              <a:rPr/>
              <a:t>Define audit fields and metrics.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Agents are governed decision systems.</a:t>
            </a:r>
          </a:p>
          <a:p>
            <a:pPr lvl="0"/>
            <a:r>
              <a:rPr/>
              <a:t>LLMs reason; tools execute.</a:t>
            </a:r>
          </a:p>
          <a:p>
            <a:pPr lvl="0"/>
            <a:r>
              <a:rPr/>
              <a:t>Skills package repeatable workflows.</a:t>
            </a:r>
          </a:p>
          <a:p>
            <a:pPr lvl="0"/>
            <a:r>
              <a:rPr/>
              <a:t>Semantic layers define trusted meaning.</a:t>
            </a:r>
          </a:p>
          <a:p>
            <a:pPr lvl="0"/>
            <a:r>
              <a:rPr/>
              <a:t>Guardrails enforce boundaries.</a:t>
            </a:r>
          </a:p>
          <a:p>
            <a:pPr lvl="0"/>
            <a:r>
              <a:rPr/>
              <a:t>Production requires authority, audit, and rollout gates.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</TotalTime>
  <Words>27</Words>
  <Application>Microsoft Macintosh PowerPoint</Application>
  <PresentationFormat>מסך רחב</PresentationFormat>
  <Paragraphs>18</Paragraphs>
  <Slides>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2026-05-09T16:50:06Z</dcterms:created>
  <dcterms:modified xsi:type="dcterms:W3CDTF">2026-05-09T16:50:06Z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