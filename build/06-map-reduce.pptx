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package/2006/relationships/metadata/extended-properties" Target="docProps/app0.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9" r:id="rId3"/>
    <p:sldId id="488" r:id="rId4"/>
    <p:sldId id="422" r:id="rId5"/>
    <p:sldId id="490" r:id="rId6"/>
    <p:sldId id="420" r:id="rId7"/>
    <p:sldId id="491" r:id="rId8"/>
    <p:sldId id="260" r:id="rId9"/>
    <p:sldId id="262" r:id="rId10"/>
    <p:sldId id="263" r:id="rId11"/>
    <p:sldId id="403" r:id="rId12"/>
    <p:sldId id="439" r:id="rId13"/>
    <p:sldId id="405" r:id="rId14"/>
    <p:sldId id="406" r:id="rId15"/>
    <p:sldId id="407" r:id="rId16"/>
    <p:sldId id="408" r:id="rId17"/>
    <p:sldId id="409" r:id="rId18"/>
    <p:sldId id="264" r:id="rId19"/>
    <p:sldId id="265" r:id="rId20"/>
    <p:sldId id="410" r:id="rId21"/>
    <p:sldId id="411" r:id="rId22"/>
    <p:sldId id="412" r:id="rId23"/>
    <p:sldId id="413" r:id="rId24"/>
    <p:sldId id="414" r:id="rId25"/>
    <p:sldId id="278" r:id="rId26"/>
    <p:sldId id="279" r:id="rId27"/>
    <p:sldId id="280" r:id="rId28"/>
    <p:sldId id="281" r:id="rId29"/>
    <p:sldId id="282" r:id="rId30"/>
    <p:sldId id="283"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411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144"/>
    <p:restoredTop sz="94831"/>
  </p:normalViewPr>
  <p:slideViewPr>
    <p:cSldViewPr snapToGrid="0" snapToObjects="1">
      <p:cViewPr varScale="1">
        <p:scale>
          <a:sx n="148" d="100"/>
          <a:sy n="148" d="100"/>
        </p:scale>
        <p:origin x="1320" y="200"/>
      </p:cViewPr>
      <p:guideLst>
        <p:guide orient="horz" pos="2160"/>
        <p:guide pos="3840"/>
      </p:guideLst>
    </p:cSldViewPr>
  </p:slideViewPr>
  <p:notesTextViewPr>
    <p:cViewPr>
      <p:scale>
        <a:sx n="100" d="100"/>
        <a:sy n="100" d="100"/>
      </p:scale>
      <p:origin x="0" y="0"/>
    </p:cViewPr>
  </p:notesTextViewPr>
  <p:notesViewPr>
    <p:cSldViewPr snapToGrid="0" snapToObjects="1">
      <p:cViewPr varScale="1">
        <p:scale>
          <a:sx n="118" d="100"/>
          <a:sy n="118" d="100"/>
        </p:scale>
        <p:origin x="5160" y="21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783F44B0-594F-8349-A74B-C1F4F86F20B1}" type="datetimeFigureOut">
              <a:rPr lang="he-IL" smtClean="0"/>
              <a:t>כ"ג.שבט.תשפ"ו</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5E768386-1BD3-A54E-8731-B2DA2E62BADA}" type="slidenum">
              <a:rPr lang="he-IL" smtClean="0"/>
              <a:t>‹#›</a:t>
            </a:fld>
            <a:endParaRPr lang="he-IL"/>
          </a:p>
        </p:txBody>
      </p:sp>
    </p:spTree>
    <p:extLst>
      <p:ext uri="{BB962C8B-B14F-4D97-AF65-F5344CB8AC3E}">
        <p14:creationId xmlns:p14="http://schemas.microsoft.com/office/powerpoint/2010/main" val="26486159"/>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3</a:t>
            </a:fld>
            <a:endParaRPr lang="en-IL"/>
          </a:p>
        </p:txBody>
      </p:sp>
    </p:spTree>
    <p:extLst>
      <p:ext uri="{BB962C8B-B14F-4D97-AF65-F5344CB8AC3E}">
        <p14:creationId xmlns:p14="http://schemas.microsoft.com/office/powerpoint/2010/main" val="19015197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3072DB-288D-41CF-9840-06B017A0D6A2}" type="slidenum">
              <a:rPr lang="en-US" smtClean="0"/>
              <a:t>4</a:t>
            </a:fld>
            <a:endParaRPr lang="en-US"/>
          </a:p>
        </p:txBody>
      </p:sp>
    </p:spTree>
    <p:extLst>
      <p:ext uri="{BB962C8B-B14F-4D97-AF65-F5344CB8AC3E}">
        <p14:creationId xmlns:p14="http://schemas.microsoft.com/office/powerpoint/2010/main" val="26529687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5</a:t>
            </a:fld>
            <a:endParaRPr lang="en-IL"/>
          </a:p>
        </p:txBody>
      </p:sp>
    </p:spTree>
    <p:extLst>
      <p:ext uri="{BB962C8B-B14F-4D97-AF65-F5344CB8AC3E}">
        <p14:creationId xmlns:p14="http://schemas.microsoft.com/office/powerpoint/2010/main" val="20048306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6</a:t>
            </a:fld>
            <a:endParaRPr lang="en-IL"/>
          </a:p>
        </p:txBody>
      </p:sp>
    </p:spTree>
    <p:extLst>
      <p:ext uri="{BB962C8B-B14F-4D97-AF65-F5344CB8AC3E}">
        <p14:creationId xmlns:p14="http://schemas.microsoft.com/office/powerpoint/2010/main" val="19004908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7</a:t>
            </a:fld>
            <a:endParaRPr lang="en-IL"/>
          </a:p>
        </p:txBody>
      </p:sp>
    </p:spTree>
    <p:extLst>
      <p:ext uri="{BB962C8B-B14F-4D97-AF65-F5344CB8AC3E}">
        <p14:creationId xmlns:p14="http://schemas.microsoft.com/office/powerpoint/2010/main" val="14764655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11</a:t>
            </a:fld>
            <a:endParaRPr lang="en-IL"/>
          </a:p>
        </p:txBody>
      </p:sp>
    </p:spTree>
    <p:extLst>
      <p:ext uri="{BB962C8B-B14F-4D97-AF65-F5344CB8AC3E}">
        <p14:creationId xmlns:p14="http://schemas.microsoft.com/office/powerpoint/2010/main" val="34969744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13</a:t>
            </a:fld>
            <a:endParaRPr lang="en-IL"/>
          </a:p>
        </p:txBody>
      </p:sp>
    </p:spTree>
    <p:extLst>
      <p:ext uri="{BB962C8B-B14F-4D97-AF65-F5344CB8AC3E}">
        <p14:creationId xmlns:p14="http://schemas.microsoft.com/office/powerpoint/2010/main" val="34267051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14</a:t>
            </a:fld>
            <a:endParaRPr lang="en-IL"/>
          </a:p>
        </p:txBody>
      </p:sp>
    </p:spTree>
    <p:extLst>
      <p:ext uri="{BB962C8B-B14F-4D97-AF65-F5344CB8AC3E}">
        <p14:creationId xmlns:p14="http://schemas.microsoft.com/office/powerpoint/2010/main" val="11373199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15</a:t>
            </a:fld>
            <a:endParaRPr lang="en-IL"/>
          </a:p>
        </p:txBody>
      </p:sp>
    </p:spTree>
    <p:extLst>
      <p:ext uri="{BB962C8B-B14F-4D97-AF65-F5344CB8AC3E}">
        <p14:creationId xmlns:p14="http://schemas.microsoft.com/office/powerpoint/2010/main" val="1680720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16</a:t>
            </a:fld>
            <a:endParaRPr lang="en-IL"/>
          </a:p>
        </p:txBody>
      </p:sp>
    </p:spTree>
    <p:extLst>
      <p:ext uri="{BB962C8B-B14F-4D97-AF65-F5344CB8AC3E}">
        <p14:creationId xmlns:p14="http://schemas.microsoft.com/office/powerpoint/2010/main" val="3367591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17</a:t>
            </a:fld>
            <a:endParaRPr lang="en-IL"/>
          </a:p>
        </p:txBody>
      </p:sp>
    </p:spTree>
    <p:extLst>
      <p:ext uri="{BB962C8B-B14F-4D97-AF65-F5344CB8AC3E}">
        <p14:creationId xmlns:p14="http://schemas.microsoft.com/office/powerpoint/2010/main" val="17565091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20</a:t>
            </a:fld>
            <a:endParaRPr lang="en-IL"/>
          </a:p>
        </p:txBody>
      </p:sp>
    </p:spTree>
    <p:extLst>
      <p:ext uri="{BB962C8B-B14F-4D97-AF65-F5344CB8AC3E}">
        <p14:creationId xmlns:p14="http://schemas.microsoft.com/office/powerpoint/2010/main" val="21016678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21</a:t>
            </a:fld>
            <a:endParaRPr lang="en-IL"/>
          </a:p>
        </p:txBody>
      </p:sp>
    </p:spTree>
    <p:extLst>
      <p:ext uri="{BB962C8B-B14F-4D97-AF65-F5344CB8AC3E}">
        <p14:creationId xmlns:p14="http://schemas.microsoft.com/office/powerpoint/2010/main" val="21803069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22</a:t>
            </a:fld>
            <a:endParaRPr lang="en-IL"/>
          </a:p>
        </p:txBody>
      </p:sp>
    </p:spTree>
    <p:extLst>
      <p:ext uri="{BB962C8B-B14F-4D97-AF65-F5344CB8AC3E}">
        <p14:creationId xmlns:p14="http://schemas.microsoft.com/office/powerpoint/2010/main" val="41358084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23</a:t>
            </a:fld>
            <a:endParaRPr lang="en-IL"/>
          </a:p>
        </p:txBody>
      </p:sp>
    </p:spTree>
    <p:extLst>
      <p:ext uri="{BB962C8B-B14F-4D97-AF65-F5344CB8AC3E}">
        <p14:creationId xmlns:p14="http://schemas.microsoft.com/office/powerpoint/2010/main" val="12732100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24</a:t>
            </a:fld>
            <a:endParaRPr lang="en-IL"/>
          </a:p>
        </p:txBody>
      </p:sp>
    </p:spTree>
    <p:extLst>
      <p:ext uri="{BB962C8B-B14F-4D97-AF65-F5344CB8AC3E}">
        <p14:creationId xmlns:p14="http://schemas.microsoft.com/office/powerpoint/2010/main" val="13641363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2130426"/>
            <a:ext cx="10363200" cy="1470025"/>
          </a:xfrm>
        </p:spPr>
        <p:txBody>
          <a:bodyPr/>
          <a:lstStyle>
            <a:lvl1pPr>
              <a:defRPr sz="4200"/>
            </a:lvl1pPr>
          </a:lstStyle>
          <a:p>
            <a:r>
              <a:rPr lang="en-US" dirty="0"/>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A3964B5F-BAD9-9946-9D71-AB5C763DA70C}" type="datetime9">
              <a:rPr lang="he-IL" smtClean="0"/>
              <a:t>10 פברואר, 2026</a:t>
            </a:fld>
            <a:endParaRPr lang="en-US"/>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sz="3400" b="1"/>
            </a:lvl1pPr>
          </a:lstStyle>
          <a:p>
            <a:r>
              <a:rPr lang="en-US" dirty="0"/>
              <a:t>Click to edit Master title style</a:t>
            </a:r>
          </a:p>
        </p:txBody>
      </p:sp>
      <p:sp>
        <p:nvSpPr>
          <p:cNvPr id="3" name="Content Placeholder 2"/>
          <p:cNvSpPr>
            <a:spLocks noGrp="1"/>
          </p:cNvSpPr>
          <p:nvPr>
            <p:ph idx="1" hasCustomPrompt="1"/>
          </p:nvPr>
        </p:nvSpPr>
        <p:spPr/>
        <p:txBody>
          <a:bodyPr>
            <a:normAutofit/>
          </a:bodyPr>
          <a:lstStyle>
            <a:lvl1pPr>
              <a:defRPr sz="2800"/>
            </a:lvl1pPr>
            <a:lvl2pPr>
              <a:defRPr sz="2400"/>
            </a:lvl2pPr>
            <a:lvl3pPr>
              <a:defRPr sz="20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9E1EEA0-9609-584F-90F2-46E4F93E52CD}" type="datetime9">
              <a:rPr lang="he-IL" smtClean="0"/>
              <a:t>10 פברואר, 2026</a:t>
            </a:fld>
            <a:endParaRPr lang="en-US"/>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DCA6A5E-CA21-6B4F-9DE7-1A275F321E49}" type="datetime9">
              <a:rPr lang="he-IL" smtClean="0"/>
              <a:t>10 פברואר, 2026</a:t>
            </a:fld>
            <a:endParaRPr lang="en-US"/>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3" name="Title 1">
            <a:extLst>
              <a:ext uri="{FF2B5EF4-FFF2-40B4-BE49-F238E27FC236}">
                <a16:creationId xmlns:a16="http://schemas.microsoft.com/office/drawing/2014/main" id="{129F15AE-737D-866E-3CF2-D0120AD833A4}"/>
              </a:ext>
            </a:extLst>
          </p:cNvPr>
          <p:cNvSpPr>
            <a:spLocks noGrp="1"/>
          </p:cNvSpPr>
          <p:nvPr>
            <p:ph type="ctrTitle" hasCustomPrompt="1"/>
          </p:nvPr>
        </p:nvSpPr>
        <p:spPr>
          <a:xfrm>
            <a:off x="914400" y="2130426"/>
            <a:ext cx="10363200" cy="1470025"/>
          </a:xfrm>
        </p:spPr>
        <p:txBody>
          <a:bodyPr/>
          <a:lstStyle>
            <a:lvl1pPr>
              <a:defRPr sz="4200"/>
            </a:lvl1pPr>
          </a:lstStyle>
          <a:p>
            <a:r>
              <a:rPr lang="en-US" dirty="0"/>
              <a:t>Click to edit Master title style</a:t>
            </a:r>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56840" y="1600201"/>
            <a:ext cx="660142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717894" y="2569580"/>
            <a:ext cx="5864506" cy="355658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AE3C6960-90E0-EA41-937B-E68D4C6A0841}" type="datetime9">
              <a:rPr lang="he-IL" smtClean="0"/>
              <a:t>10 פברואר, 2026</a:t>
            </a:fld>
            <a:endParaRPr lang="en-US"/>
          </a:p>
        </p:txBody>
      </p:sp>
      <p:sp>
        <p:nvSpPr>
          <p:cNvPr id="6" name="Footer Placeholder 5"/>
          <p:cNvSpPr>
            <a:spLocks noGrp="1"/>
          </p:cNvSpPr>
          <p:nvPr>
            <p:ph type="ftr" sz="quarter" idx="11"/>
          </p:nvPr>
        </p:nvSpPr>
        <p:spPr/>
        <p:txBody>
          <a:bodyPr/>
          <a:lstStyle/>
          <a:p>
            <a:r>
              <a:rPr lang="en-US"/>
              <a:t>Or Peretz</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8CAE1C8-A9FA-924F-80DA-3B96C0343AF4}" type="datetime9">
              <a:rPr lang="he-IL" smtClean="0"/>
              <a:t>10 פברואר, 2026</a:t>
            </a:fld>
            <a:endParaRPr lang="en-US"/>
          </a:p>
        </p:txBody>
      </p:sp>
      <p:sp>
        <p:nvSpPr>
          <p:cNvPr id="8" name="Footer Placeholder 7"/>
          <p:cNvSpPr>
            <a:spLocks noGrp="1"/>
          </p:cNvSpPr>
          <p:nvPr>
            <p:ph type="ftr" sz="quarter" idx="11"/>
          </p:nvPr>
        </p:nvSpPr>
        <p:spPr/>
        <p:txBody>
          <a:bodyPr/>
          <a:lstStyle/>
          <a:p>
            <a:r>
              <a:rPr lang="en-US"/>
              <a:t>Or Peretz</a:t>
            </a:r>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DC92AE4-510D-3C40-B9B0-AA6693EED883}" type="datetime9">
              <a:rPr lang="he-IL" smtClean="0"/>
              <a:t>10 פברואר, 2026</a:t>
            </a:fld>
            <a:endParaRPr lang="en-US"/>
          </a:p>
        </p:txBody>
      </p:sp>
      <p:sp>
        <p:nvSpPr>
          <p:cNvPr id="4" name="Footer Placeholder 3"/>
          <p:cNvSpPr>
            <a:spLocks noGrp="1"/>
          </p:cNvSpPr>
          <p:nvPr>
            <p:ph type="ftr" sz="quarter" idx="11"/>
          </p:nvPr>
        </p:nvSpPr>
        <p:spPr/>
        <p:txBody>
          <a:bodyPr/>
          <a:lstStyle/>
          <a:p>
            <a:r>
              <a:rPr lang="en-US"/>
              <a:t>Or Peretz</a:t>
            </a:r>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
        <p:nvSpPr>
          <p:cNvPr id="6" name="Content Placeholder 2">
            <a:extLst>
              <a:ext uri="{FF2B5EF4-FFF2-40B4-BE49-F238E27FC236}">
                <a16:creationId xmlns:a16="http://schemas.microsoft.com/office/drawing/2014/main" id="{E1D8F28D-D1D2-34A5-D88A-549DD7AD701A}"/>
              </a:ext>
            </a:extLst>
          </p:cNvPr>
          <p:cNvSpPr>
            <a:spLocks noGrp="1"/>
          </p:cNvSpPr>
          <p:nvPr>
            <p:ph idx="1" hasCustomPrompt="1"/>
          </p:nvPr>
        </p:nvSpPr>
        <p:spPr>
          <a:xfrm>
            <a:off x="946768" y="1600201"/>
            <a:ext cx="10635632" cy="4525963"/>
          </a:xfrm>
        </p:spPr>
        <p:txBody>
          <a:bodyPr>
            <a:normAutofit/>
          </a:bodyPr>
          <a:lstStyle>
            <a:lvl1pPr>
              <a:defRPr sz="2800"/>
            </a:lvl1pPr>
            <a:lvl2pPr>
              <a:defRPr sz="2400"/>
            </a:lvl2pPr>
            <a:lvl3pPr>
              <a:defRPr sz="20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C5D179-4B48-7641-AFA1-4656153FFCB8}" type="datetime9">
              <a:rPr lang="he-IL" smtClean="0"/>
              <a:t>10 פברואר, 2026</a:t>
            </a:fld>
            <a:endParaRPr lang="en-US"/>
          </a:p>
        </p:txBody>
      </p:sp>
      <p:sp>
        <p:nvSpPr>
          <p:cNvPr id="3" name="Footer Placeholder 2"/>
          <p:cNvSpPr>
            <a:spLocks noGrp="1"/>
          </p:cNvSpPr>
          <p:nvPr>
            <p:ph type="ftr" sz="quarter" idx="11"/>
          </p:nvPr>
        </p:nvSpPr>
        <p:spPr/>
        <p:txBody>
          <a:bodyPr/>
          <a:lstStyle/>
          <a:p>
            <a:r>
              <a:rPr lang="en-US"/>
              <a:t>Or Peretz</a:t>
            </a:r>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
        <p:nvSpPr>
          <p:cNvPr id="5" name="Content Placeholder 2">
            <a:extLst>
              <a:ext uri="{FF2B5EF4-FFF2-40B4-BE49-F238E27FC236}">
                <a16:creationId xmlns:a16="http://schemas.microsoft.com/office/drawing/2014/main" id="{3F1439EE-8346-69C4-2D2A-C45C952E131C}"/>
              </a:ext>
            </a:extLst>
          </p:cNvPr>
          <p:cNvSpPr>
            <a:spLocks noGrp="1"/>
          </p:cNvSpPr>
          <p:nvPr>
            <p:ph idx="1" hasCustomPrompt="1"/>
          </p:nvPr>
        </p:nvSpPr>
        <p:spPr>
          <a:xfrm>
            <a:off x="946768" y="1600201"/>
            <a:ext cx="10635632" cy="4525963"/>
          </a:xfrm>
        </p:spPr>
        <p:txBody>
          <a:bodyPr>
            <a:normAutofit/>
          </a:bodyPr>
          <a:lstStyle>
            <a:lvl1pPr>
              <a:defRPr sz="2800"/>
            </a:lvl1pPr>
            <a:lvl2pPr>
              <a:defRPr sz="2400"/>
            </a:lvl2pPr>
            <a:lvl3pPr>
              <a:defRPr sz="20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B2D96A8D-C7E4-194A-BF0A-D552B24EBF94}" type="datetime9">
              <a:rPr lang="he-IL" smtClean="0"/>
              <a:t>10 פברואר, 2026</a:t>
            </a:fld>
            <a:endParaRPr lang="en-US"/>
          </a:p>
        </p:txBody>
      </p:sp>
      <p:sp>
        <p:nvSpPr>
          <p:cNvPr id="6" name="Footer Placeholder 5"/>
          <p:cNvSpPr>
            <a:spLocks noGrp="1"/>
          </p:cNvSpPr>
          <p:nvPr>
            <p:ph type="ftr" sz="quarter" idx="11"/>
          </p:nvPr>
        </p:nvSpPr>
        <p:spPr/>
        <p:txBody>
          <a:bodyPr/>
          <a:lstStyle/>
          <a:p>
            <a:r>
              <a:rPr lang="en-US"/>
              <a:t>Or Peretz</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
        <p:nvSpPr>
          <p:cNvPr id="9" name="Title 1">
            <a:extLst>
              <a:ext uri="{FF2B5EF4-FFF2-40B4-BE49-F238E27FC236}">
                <a16:creationId xmlns:a16="http://schemas.microsoft.com/office/drawing/2014/main" id="{7F24627C-5938-5D06-969C-341161F72C9C}"/>
              </a:ext>
            </a:extLst>
          </p:cNvPr>
          <p:cNvSpPr>
            <a:spLocks noGrp="1"/>
          </p:cNvSpPr>
          <p:nvPr>
            <p:ph type="title"/>
          </p:nvPr>
        </p:nvSpPr>
        <p:spPr>
          <a:xfrm>
            <a:off x="609600" y="274638"/>
            <a:ext cx="10972800" cy="1143000"/>
          </a:xfrm>
        </p:spPr>
        <p:txBody>
          <a:bodyPr/>
          <a:lstStyle/>
          <a:p>
            <a:r>
              <a:rPr lang="en-US"/>
              <a:t>Click to edit Master title style</a:t>
            </a:r>
          </a:p>
        </p:txBody>
      </p:sp>
      <p:sp>
        <p:nvSpPr>
          <p:cNvPr id="2" name="Content Placeholder 2">
            <a:extLst>
              <a:ext uri="{FF2B5EF4-FFF2-40B4-BE49-F238E27FC236}">
                <a16:creationId xmlns:a16="http://schemas.microsoft.com/office/drawing/2014/main" id="{63E56AFE-36F7-8DA5-652B-89A25DA319A7}"/>
              </a:ext>
            </a:extLst>
          </p:cNvPr>
          <p:cNvSpPr>
            <a:spLocks noGrp="1"/>
          </p:cNvSpPr>
          <p:nvPr>
            <p:ph idx="1" hasCustomPrompt="1"/>
          </p:nvPr>
        </p:nvSpPr>
        <p:spPr>
          <a:xfrm>
            <a:off x="3957403" y="1417638"/>
            <a:ext cx="7624997" cy="4357028"/>
          </a:xfrm>
        </p:spPr>
        <p:txBody>
          <a:bodyPr>
            <a:normAutofit/>
          </a:bodyPr>
          <a:lstStyle>
            <a:lvl1pPr>
              <a:defRPr sz="2800"/>
            </a:lvl1pPr>
            <a:lvl2pPr>
              <a:defRPr sz="2400"/>
            </a:lvl2pPr>
            <a:lvl3pPr>
              <a:defRPr sz="20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 Placeholder 3">
            <a:extLst>
              <a:ext uri="{FF2B5EF4-FFF2-40B4-BE49-F238E27FC236}">
                <a16:creationId xmlns:a16="http://schemas.microsoft.com/office/drawing/2014/main" id="{838FFFFD-68E9-C4E4-7764-523BAE32B83B}"/>
              </a:ext>
            </a:extLst>
          </p:cNvPr>
          <p:cNvSpPr>
            <a:spLocks noGrp="1"/>
          </p:cNvSpPr>
          <p:nvPr>
            <p:ph type="body" sz="half" idx="2" hasCustomPrompt="1"/>
          </p:nvPr>
        </p:nvSpPr>
        <p:spPr>
          <a:xfrm>
            <a:off x="965200" y="1417638"/>
            <a:ext cx="2844801" cy="4357028"/>
          </a:xfrm>
        </p:spPr>
        <p:txBody>
          <a:bodyPr/>
          <a:lstStyle>
            <a:lvl1pPr marL="0" indent="0">
              <a:buNone/>
              <a:defRPr sz="2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12B2D52-0D9F-F345-8384-0DCA30BF1F04}" type="datetime9">
              <a:rPr lang="he-IL" smtClean="0"/>
              <a:t>10 פברואר, 2026</a:t>
            </a:fld>
            <a:endParaRPr lang="en-US"/>
          </a:p>
        </p:txBody>
      </p:sp>
      <p:sp>
        <p:nvSpPr>
          <p:cNvPr id="6" name="Footer Placeholder 5"/>
          <p:cNvSpPr>
            <a:spLocks noGrp="1"/>
          </p:cNvSpPr>
          <p:nvPr>
            <p:ph type="ftr" sz="quarter" idx="11"/>
          </p:nvPr>
        </p:nvSpPr>
        <p:spPr/>
        <p:txBody>
          <a:bodyPr/>
          <a:lstStyle/>
          <a:p>
            <a:r>
              <a:rPr lang="en-US"/>
              <a:t>Or Peretz</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A744ED6-1944-D14D-91B5-FC6036DE393D}" type="datetime9">
              <a:rPr lang="he-IL" smtClean="0"/>
              <a:t>10 פברואר, 2026</a:t>
            </a:fld>
            <a:endParaRPr lang="en-US"/>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7268E4D-FFEC-474C-BD1C-299FD021CBA4}" type="datetime9">
              <a:rPr lang="he-IL" smtClean="0"/>
              <a:t>10 פברואר, 2026</a:t>
            </a:fld>
            <a:endParaRPr lang="en-US"/>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8257D3F8-87F0-4DF5-8F98-66DFD99EE7B2}"/>
              </a:ext>
            </a:extLst>
          </p:cNvPr>
          <p:cNvSpPr>
            <a:spLocks noGrp="1"/>
          </p:cNvSpPr>
          <p:nvPr>
            <p:ph idx="1"/>
          </p:nvPr>
        </p:nvSpPr>
        <p:spPr>
          <a:xfrm>
            <a:off x="838200" y="583474"/>
            <a:ext cx="10515600" cy="5593489"/>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L" dirty="0"/>
          </a:p>
        </p:txBody>
      </p:sp>
      <p:sp>
        <p:nvSpPr>
          <p:cNvPr id="13" name="Date Placeholder 3">
            <a:extLst>
              <a:ext uri="{FF2B5EF4-FFF2-40B4-BE49-F238E27FC236}">
                <a16:creationId xmlns:a16="http://schemas.microsoft.com/office/drawing/2014/main" id="{BCDE1D59-793A-43B8-B383-259A90AD5274}"/>
              </a:ext>
            </a:extLst>
          </p:cNvPr>
          <p:cNvSpPr>
            <a:spLocks noGrp="1"/>
          </p:cNvSpPr>
          <p:nvPr>
            <p:ph type="dt" sz="half" idx="10"/>
          </p:nvPr>
        </p:nvSpPr>
        <p:spPr>
          <a:xfrm>
            <a:off x="838200" y="6356350"/>
            <a:ext cx="2743200" cy="365125"/>
          </a:xfrm>
        </p:spPr>
        <p:txBody>
          <a:bodyPr/>
          <a:lstStyle/>
          <a:p>
            <a:fld id="{896E8B87-F9FD-464E-B534-DBC261D83ADB}" type="datetime8">
              <a:rPr lang="en-US" smtClean="0"/>
              <a:t>2/10/26 11:24 AM</a:t>
            </a:fld>
            <a:endParaRPr lang="en-IL"/>
          </a:p>
        </p:txBody>
      </p:sp>
      <p:sp>
        <p:nvSpPr>
          <p:cNvPr id="14" name="Footer Placeholder 4">
            <a:extLst>
              <a:ext uri="{FF2B5EF4-FFF2-40B4-BE49-F238E27FC236}">
                <a16:creationId xmlns:a16="http://schemas.microsoft.com/office/drawing/2014/main" id="{AA69F713-2159-4167-B614-5042E8DE4D6E}"/>
              </a:ext>
            </a:extLst>
          </p:cNvPr>
          <p:cNvSpPr>
            <a:spLocks noGrp="1"/>
          </p:cNvSpPr>
          <p:nvPr>
            <p:ph type="ftr" sz="quarter" idx="11"/>
          </p:nvPr>
        </p:nvSpPr>
        <p:spPr>
          <a:xfrm>
            <a:off x="4038600" y="6356350"/>
            <a:ext cx="4114800" cy="365125"/>
          </a:xfrm>
        </p:spPr>
        <p:txBody>
          <a:bodyPr/>
          <a:lstStyle/>
          <a:p>
            <a:r>
              <a:rPr lang="en-US"/>
              <a:t>Or Peretz</a:t>
            </a:r>
            <a:endParaRPr lang="en-IL"/>
          </a:p>
        </p:txBody>
      </p:sp>
      <p:sp>
        <p:nvSpPr>
          <p:cNvPr id="15" name="Slide Number Placeholder 5">
            <a:extLst>
              <a:ext uri="{FF2B5EF4-FFF2-40B4-BE49-F238E27FC236}">
                <a16:creationId xmlns:a16="http://schemas.microsoft.com/office/drawing/2014/main" id="{5F40A595-FC21-4942-AC1C-EC8D0EE8F289}"/>
              </a:ext>
            </a:extLst>
          </p:cNvPr>
          <p:cNvSpPr>
            <a:spLocks noGrp="1"/>
          </p:cNvSpPr>
          <p:nvPr>
            <p:ph type="sldNum" sz="quarter" idx="12"/>
          </p:nvPr>
        </p:nvSpPr>
        <p:spPr>
          <a:xfrm>
            <a:off x="8610600" y="6356350"/>
            <a:ext cx="2743200" cy="365125"/>
          </a:xfrm>
        </p:spPr>
        <p:txBody>
          <a:bodyPr/>
          <a:lstStyle>
            <a:lvl1pPr>
              <a:defRPr sz="1800"/>
            </a:lvl1pPr>
          </a:lstStyle>
          <a:p>
            <a:fld id="{C9D69B18-316A-457F-86C2-CFE4F951EE27}" type="slidenum">
              <a:rPr lang="en-IL" smtClean="0"/>
              <a:pPr/>
              <a:t>‹#›</a:t>
            </a:fld>
            <a:endParaRPr lang="en-IL" dirty="0"/>
          </a:p>
        </p:txBody>
      </p:sp>
    </p:spTree>
    <p:extLst>
      <p:ext uri="{BB962C8B-B14F-4D97-AF65-F5344CB8AC3E}">
        <p14:creationId xmlns:p14="http://schemas.microsoft.com/office/powerpoint/2010/main" val="2537485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p:tmplLst>
          <p:tmpl lvl="1">
            <p:tnLst>
              <p:par>
                <p:cTn presetID="1" presetClass="entr" presetSubtype="0" fill="hold" nodeType="with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oundRect">
            <a:avLst/>
          </a:prstGeom>
          <a:ln w="12700">
            <a:solidFill>
              <a:schemeClr val="accent2"/>
            </a:solidFill>
            <a:extLst>
              <a:ext uri="{C807C97D-BFC1-408E-A445-0C87EB9F89A2}">
                <ask:lineSketchStyleProps xmlns:ask="http://schemas.microsoft.com/office/drawing/2018/sketchyshapes" sd="1219033472">
                  <a:custGeom>
                    <a:avLst/>
                    <a:gdLst>
                      <a:gd name="csX0" fmla="*/ 0 w 10972800"/>
                      <a:gd name="csY0" fmla="*/ 0 h 1143000"/>
                      <a:gd name="csX1" fmla="*/ 10972800 w 10972800"/>
                      <a:gd name="csY1" fmla="*/ 0 h 1143000"/>
                      <a:gd name="csX2" fmla="*/ 10972800 w 10972800"/>
                      <a:gd name="csY2" fmla="*/ 1143000 h 1143000"/>
                      <a:gd name="csX3" fmla="*/ 0 w 10972800"/>
                      <a:gd name="csY3" fmla="*/ 1143000 h 1143000"/>
                      <a:gd name="csX4" fmla="*/ 0 w 10972800"/>
                      <a:gd name="csY4" fmla="*/ 0 h 1143000"/>
                    </a:gdLst>
                    <a:ahLst/>
                    <a:cxnLst>
                      <a:cxn ang="0">
                        <a:pos x="csX0" y="csY0"/>
                      </a:cxn>
                      <a:cxn ang="0">
                        <a:pos x="csX1" y="csY1"/>
                      </a:cxn>
                      <a:cxn ang="0">
                        <a:pos x="csX2" y="csY2"/>
                      </a:cxn>
                      <a:cxn ang="0">
                        <a:pos x="csX3" y="csY3"/>
                      </a:cxn>
                      <a:cxn ang="0">
                        <a:pos x="csX4" y="csY4"/>
                      </a:cxn>
                    </a:cxnLst>
                    <a:rect l="l" t="t" r="r" b="b"/>
                    <a:pathLst>
                      <a:path w="10972800" h="1143000" fill="none" extrusionOk="0">
                        <a:moveTo>
                          <a:pt x="0" y="0"/>
                        </a:moveTo>
                        <a:cubicBezTo>
                          <a:pt x="4674310" y="-49533"/>
                          <a:pt x="6929254" y="-14809"/>
                          <a:pt x="10972800" y="0"/>
                        </a:cubicBezTo>
                        <a:cubicBezTo>
                          <a:pt x="10969069" y="570730"/>
                          <a:pt x="11062171" y="914526"/>
                          <a:pt x="10972800" y="1143000"/>
                        </a:cubicBezTo>
                        <a:cubicBezTo>
                          <a:pt x="6482996" y="1094769"/>
                          <a:pt x="3552735" y="1227455"/>
                          <a:pt x="0" y="1143000"/>
                        </a:cubicBezTo>
                        <a:cubicBezTo>
                          <a:pt x="69309" y="672287"/>
                          <a:pt x="-28229" y="279082"/>
                          <a:pt x="0" y="0"/>
                        </a:cubicBezTo>
                        <a:close/>
                      </a:path>
                      <a:path w="10972800" h="1143000" stroke="0" extrusionOk="0">
                        <a:moveTo>
                          <a:pt x="0" y="0"/>
                        </a:moveTo>
                        <a:cubicBezTo>
                          <a:pt x="3528079" y="118645"/>
                          <a:pt x="9610931" y="116012"/>
                          <a:pt x="10972800" y="0"/>
                        </a:cubicBezTo>
                        <a:cubicBezTo>
                          <a:pt x="11055528" y="134374"/>
                          <a:pt x="10882381" y="1028043"/>
                          <a:pt x="10972800" y="1143000"/>
                        </a:cubicBezTo>
                        <a:cubicBezTo>
                          <a:pt x="8799093" y="1277600"/>
                          <a:pt x="3316512" y="985804"/>
                          <a:pt x="0" y="1143000"/>
                        </a:cubicBezTo>
                        <a:cubicBezTo>
                          <a:pt x="94203" y="956839"/>
                          <a:pt x="-18710" y="289479"/>
                          <a:pt x="0" y="0"/>
                        </a:cubicBezTo>
                        <a:close/>
                      </a:path>
                    </a:pathLst>
                  </a:custGeom>
                  <ask:type>
                    <ask:lineSketchNone/>
                  </ask:type>
                </ask:lineSketchStyleProps>
              </a:ext>
            </a:extLst>
          </a:ln>
        </p:spPr>
        <p:style>
          <a:lnRef idx="2">
            <a:schemeClr val="accent2"/>
          </a:lnRef>
          <a:fillRef idx="1">
            <a:schemeClr val="lt1"/>
          </a:fillRef>
          <a:effectRef idx="0">
            <a:schemeClr val="accent2"/>
          </a:effectRef>
          <a:fontRef idx="minor">
            <a:schemeClr val="dk1"/>
          </a:fontRef>
        </p:style>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946768" y="1600201"/>
            <a:ext cx="10635632"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A9E24A-D52C-CB4E-85D6-C52415601A2A}" type="datetime9">
              <a:rPr lang="he-IL" smtClean="0"/>
              <a:t>10 פברואר, 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Or Peretz</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8" name="Freeform 6">
            <a:extLst>
              <a:ext uri="{FF2B5EF4-FFF2-40B4-BE49-F238E27FC236}">
                <a16:creationId xmlns:a16="http://schemas.microsoft.com/office/drawing/2014/main" id="{9E54F053-C5B3-FA53-FB24-F76EBC23E5F7}"/>
              </a:ext>
            </a:extLst>
          </p:cNvPr>
          <p:cNvSpPr/>
          <p:nvPr/>
        </p:nvSpPr>
        <p:spPr>
          <a:xfrm>
            <a:off x="10492509" y="-832013"/>
            <a:ext cx="5901557" cy="769001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 cap="sq">
            <a:solidFill>
              <a:srgbClr val="941100">
                <a:alpha val="44000"/>
              </a:srgbClr>
            </a:solidFill>
            <a:prstDash val="solid"/>
            <a:miter/>
          </a:ln>
        </p:spPr>
        <p:txBody>
          <a:bodyPr/>
          <a:lstStyle/>
          <a:p>
            <a:endParaRPr lang="en-IL"/>
          </a:p>
        </p:txBody>
      </p:sp>
      <p:sp>
        <p:nvSpPr>
          <p:cNvPr id="12" name="Freeform 20">
            <a:extLst>
              <a:ext uri="{FF2B5EF4-FFF2-40B4-BE49-F238E27FC236}">
                <a16:creationId xmlns:a16="http://schemas.microsoft.com/office/drawing/2014/main" id="{C6ADFD82-3296-8C7F-2ACC-D8399785AC79}"/>
              </a:ext>
            </a:extLst>
          </p:cNvPr>
          <p:cNvSpPr/>
          <p:nvPr/>
        </p:nvSpPr>
        <p:spPr>
          <a:xfrm>
            <a:off x="-6720016" y="-1088358"/>
            <a:ext cx="7329616" cy="732961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14350" cap="sq">
            <a:solidFill>
              <a:srgbClr val="941100">
                <a:alpha val="17929"/>
              </a:srgbClr>
            </a:solidFill>
            <a:prstDash val="solid"/>
            <a:miter/>
          </a:ln>
        </p:spPr>
        <p:txBody>
          <a:bodyPr/>
          <a:lstStyle/>
          <a:p>
            <a:endParaRPr lang="en-IL" sz="933"/>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dt="0"/>
  <p:txStyles>
    <p:titleStyle>
      <a:lvl1pPr algn="ctr" defTabSz="457200" rtl="0" eaLnBrk="1" latinLnBrk="0" hangingPunct="1">
        <a:spcBef>
          <a:spcPct val="0"/>
        </a:spcBef>
        <a:buNone/>
        <a:defRPr sz="3400" b="1" kern="1200">
          <a:solidFill>
            <a:schemeClr val="tx1"/>
          </a:solidFill>
          <a:latin typeface="+mj-lt"/>
          <a:ea typeface="+mj-ea"/>
          <a:cs typeface="+mj-cs"/>
        </a:defRPr>
      </a:lvl1pPr>
    </p:titleStyle>
    <p:bodyStyle>
      <a:lvl1pPr marL="342900" indent="-342900" algn="l" defTabSz="457200" rtl="0" eaLnBrk="1" latinLnBrk="0" hangingPunct="1">
        <a:lnSpc>
          <a:spcPct val="130000"/>
        </a:lnSpc>
        <a:spcBef>
          <a:spcPts val="0"/>
        </a:spcBef>
        <a:buFont typeface="Arial"/>
        <a:buChar char="•"/>
        <a:defRPr sz="2800" kern="1200">
          <a:solidFill>
            <a:schemeClr val="tx1"/>
          </a:solidFill>
          <a:latin typeface="+mn-lt"/>
          <a:ea typeface="+mn-ea"/>
          <a:cs typeface="+mn-cs"/>
        </a:defRPr>
      </a:lvl1pPr>
      <a:lvl2pPr marL="742950" indent="-285750" algn="l" defTabSz="457200" rtl="0" eaLnBrk="1" latinLnBrk="0" hangingPunct="1">
        <a:lnSpc>
          <a:spcPct val="130000"/>
        </a:lnSpc>
        <a:spcBef>
          <a:spcPts val="0"/>
        </a:spcBef>
        <a:buFont typeface="Arial"/>
        <a:buChar char="–"/>
        <a:defRPr sz="2400" kern="1200">
          <a:solidFill>
            <a:schemeClr val="tx1"/>
          </a:solidFill>
          <a:latin typeface="+mn-lt"/>
          <a:ea typeface="+mn-ea"/>
          <a:cs typeface="+mn-cs"/>
        </a:defRPr>
      </a:lvl2pPr>
      <a:lvl3pPr marL="1143000" indent="-228600" algn="l" defTabSz="457200" rtl="0" eaLnBrk="1" latinLnBrk="0" hangingPunct="1">
        <a:lnSpc>
          <a:spcPct val="130000"/>
        </a:lnSpc>
        <a:spcBef>
          <a:spcPts val="0"/>
        </a:spcBef>
        <a:buFont typeface="Arial"/>
        <a:buChar char="•"/>
        <a:defRPr sz="2000" kern="1200">
          <a:solidFill>
            <a:schemeClr val="tx1"/>
          </a:solidFill>
          <a:latin typeface="+mn-lt"/>
          <a:ea typeface="+mn-ea"/>
          <a:cs typeface="+mn-cs"/>
        </a:defRPr>
      </a:lvl3pPr>
      <a:lvl4pPr marL="1600200" indent="-228600" algn="l" defTabSz="457200" rtl="0" eaLnBrk="1" latinLnBrk="0" hangingPunct="1">
        <a:lnSpc>
          <a:spcPct val="130000"/>
        </a:lnSpc>
        <a:spcBef>
          <a:spcPts val="0"/>
        </a:spcBef>
        <a:buFont typeface="Arial"/>
        <a:buChar char="–"/>
        <a:defRPr sz="1800" kern="1200">
          <a:solidFill>
            <a:schemeClr val="tx1"/>
          </a:solidFill>
          <a:latin typeface="+mn-lt"/>
          <a:ea typeface="+mn-ea"/>
          <a:cs typeface="+mn-cs"/>
        </a:defRPr>
      </a:lvl4pPr>
      <a:lvl5pPr marL="2057400" indent="-228600" algn="l" defTabSz="457200" rtl="0" eaLnBrk="1" latinLnBrk="0" hangingPunct="1">
        <a:lnSpc>
          <a:spcPct val="130000"/>
        </a:lnSpc>
        <a:spcBef>
          <a:spcPts val="0"/>
        </a:spcBef>
        <a:buFont typeface="Arial"/>
        <a:buChar char="»"/>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29F15AE-737D-866E-3CF2-D0120AD833A4}"/>
              </a:ext>
            </a:extLst>
          </p:cNvPr>
          <p:cNvSpPr>
            <a:spLocks noGrp="1"/>
          </p:cNvSpPr>
          <p:nvPr>
            <p:ph type="ctrTitle" hasCustomPrompt="1"/>
          </p:nvPr>
        </p:nvSpPr>
        <p:spPr>
          <a:xfrm>
            <a:off x="914400" y="2130426"/>
            <a:ext cx="10363200" cy="1470025"/>
          </a:xfrm>
        </p:spPr>
        <p:txBody>
          <a:bodyPr/>
          <a:lstStyle/>
          <a:p>
            <a:pPr lvl="0"/>
            <a:r>
              <a:rPr lang="en-US" dirty="0"/>
              <a:t>Week 6: MapReduce </a:t>
            </a:r>
            <a:r>
              <a:rPr lang="en" dirty="0"/>
              <a:t>Fundamentals</a:t>
            </a:r>
            <a:endParaRPr dirty="0"/>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pPr marL="0" lvl="0" indent="0">
              <a:buNone/>
            </a:pPr>
            <a:r>
              <a:t>Purpose &amp; Learning Objectives</a:t>
            </a:r>
          </a:p>
        </p:txBody>
      </p:sp>
      <p:sp>
        <p:nvSpPr>
          <p:cNvPr id="3" name="Content Placeholder 2"/>
          <p:cNvSpPr>
            <a:spLocks noGrp="1"/>
          </p:cNvSpPr>
          <p:nvPr>
            <p:ph idx="1" hasCustomPrompt="1"/>
          </p:nvPr>
        </p:nvSpPr>
        <p:spPr/>
        <p:txBody>
          <a:bodyPr/>
          <a:lstStyle/>
          <a:p>
            <a:pPr lvl="0"/>
            <a:r>
              <a:rPr b="1"/>
              <a:t>Purpose:</a:t>
            </a:r>
            <a:r>
              <a:t> Learn the core model behind distributed batch processing; understand why shuffle dominates cost at scale; design jobs that are correct under retries and skew.</a:t>
            </a:r>
          </a:p>
          <a:p>
            <a:pPr lvl="0"/>
            <a:r>
              <a:rPr b="1"/>
              <a:t>Learning Objectives:</a:t>
            </a:r>
          </a:p>
          <a:p>
            <a:pPr lvl="1"/>
            <a:r>
              <a:t>Explain map, shuffle, and reduce as formal operators</a:t>
            </a:r>
          </a:p>
          <a:p>
            <a:pPr lvl="1"/>
            <a:r>
              <a:t>Estimate runtime and communication bottlenecks</a:t>
            </a:r>
          </a:p>
          <a:p>
            <a:pPr lvl="1"/>
            <a:r>
              <a:t>Detect and mitigate skew/hot-key failures</a:t>
            </a:r>
          </a:p>
          <a:p>
            <a:pPr lvl="1"/>
            <a:r>
              <a:t>Use combiners and partitioning strategies safely</a:t>
            </a:r>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000" b="1" dirty="0"/>
              <a:t>Introduction to Big Data Solutions – Traditional Approach</a:t>
            </a:r>
          </a:p>
          <a:p>
            <a:pPr>
              <a:lnSpc>
                <a:spcPct val="150000"/>
              </a:lnSpc>
            </a:pPr>
            <a:r>
              <a:rPr lang="en-US" sz="2400" dirty="0"/>
              <a:t>An enterprise will have a computer to store and process big data. For storage purpose, the programmers will take the help of their choice of database vendors such as Oracle, IBM, etc. In this approach, the user interacts with the application, which in turn handles the part of data storage and analysis.</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3</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6" name="Oval 5">
            <a:extLst>
              <a:ext uri="{FF2B5EF4-FFF2-40B4-BE49-F238E27FC236}">
                <a16:creationId xmlns:a16="http://schemas.microsoft.com/office/drawing/2014/main" id="{AF969FD4-2455-C542-9C1C-613E09F72066}"/>
              </a:ext>
            </a:extLst>
          </p:cNvPr>
          <p:cNvSpPr/>
          <p:nvPr/>
        </p:nvSpPr>
        <p:spPr>
          <a:xfrm>
            <a:off x="2235201" y="3987800"/>
            <a:ext cx="1312334" cy="1117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User</a:t>
            </a:r>
          </a:p>
        </p:txBody>
      </p:sp>
      <p:sp>
        <p:nvSpPr>
          <p:cNvPr id="7" name="Left-Right Arrow 6">
            <a:extLst>
              <a:ext uri="{FF2B5EF4-FFF2-40B4-BE49-F238E27FC236}">
                <a16:creationId xmlns:a16="http://schemas.microsoft.com/office/drawing/2014/main" id="{9D7C1A07-76B3-2D4B-81BA-F266A449EB5B}"/>
              </a:ext>
            </a:extLst>
          </p:cNvPr>
          <p:cNvSpPr/>
          <p:nvPr/>
        </p:nvSpPr>
        <p:spPr>
          <a:xfrm>
            <a:off x="3886201" y="4445000"/>
            <a:ext cx="787400" cy="211667"/>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8" name="Cube 7">
            <a:extLst>
              <a:ext uri="{FF2B5EF4-FFF2-40B4-BE49-F238E27FC236}">
                <a16:creationId xmlns:a16="http://schemas.microsoft.com/office/drawing/2014/main" id="{2C7CADE0-CDD3-1B41-B7EC-06ECAA513F16}"/>
              </a:ext>
            </a:extLst>
          </p:cNvPr>
          <p:cNvSpPr/>
          <p:nvPr/>
        </p:nvSpPr>
        <p:spPr>
          <a:xfrm>
            <a:off x="4919135" y="3721100"/>
            <a:ext cx="1964266" cy="1651000"/>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Centralized</a:t>
            </a:r>
          </a:p>
          <a:p>
            <a:pPr algn="ctr"/>
            <a:r>
              <a:rPr lang="en-IL" dirty="0"/>
              <a:t>System</a:t>
            </a:r>
          </a:p>
        </p:txBody>
      </p:sp>
      <p:sp>
        <p:nvSpPr>
          <p:cNvPr id="10" name="Left-Right Arrow 9">
            <a:extLst>
              <a:ext uri="{FF2B5EF4-FFF2-40B4-BE49-F238E27FC236}">
                <a16:creationId xmlns:a16="http://schemas.microsoft.com/office/drawing/2014/main" id="{A308F697-4718-1544-B9E9-531DBCD6B8FE}"/>
              </a:ext>
            </a:extLst>
          </p:cNvPr>
          <p:cNvSpPr/>
          <p:nvPr/>
        </p:nvSpPr>
        <p:spPr>
          <a:xfrm>
            <a:off x="7213601" y="4419600"/>
            <a:ext cx="787400" cy="211667"/>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Can 8">
            <a:extLst>
              <a:ext uri="{FF2B5EF4-FFF2-40B4-BE49-F238E27FC236}">
                <a16:creationId xmlns:a16="http://schemas.microsoft.com/office/drawing/2014/main" id="{A95A9998-CE3D-B246-8557-812FB2BCBDE5}"/>
              </a:ext>
            </a:extLst>
          </p:cNvPr>
          <p:cNvSpPr/>
          <p:nvPr/>
        </p:nvSpPr>
        <p:spPr>
          <a:xfrm>
            <a:off x="8407400" y="3721100"/>
            <a:ext cx="1574800" cy="17018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Relational</a:t>
            </a:r>
          </a:p>
          <a:p>
            <a:pPr algn="ctr"/>
            <a:r>
              <a:rPr lang="en-IL" dirty="0"/>
              <a:t>DB</a:t>
            </a:r>
          </a:p>
        </p:txBody>
      </p:sp>
      <p:sp>
        <p:nvSpPr>
          <p:cNvPr id="3" name="Rectangle 2">
            <a:extLst>
              <a:ext uri="{FF2B5EF4-FFF2-40B4-BE49-F238E27FC236}">
                <a16:creationId xmlns:a16="http://schemas.microsoft.com/office/drawing/2014/main" id="{B7969FD3-4769-E141-A620-7D245B97A314}"/>
              </a:ext>
            </a:extLst>
          </p:cNvPr>
          <p:cNvSpPr/>
          <p:nvPr/>
        </p:nvSpPr>
        <p:spPr>
          <a:xfrm>
            <a:off x="694266" y="5600504"/>
            <a:ext cx="10803467" cy="523220"/>
          </a:xfrm>
          <a:prstGeom prst="rect">
            <a:avLst/>
          </a:prstGeom>
        </p:spPr>
        <p:txBody>
          <a:bodyPr wrap="square">
            <a:spAutoFit/>
          </a:bodyPr>
          <a:lstStyle/>
          <a:p>
            <a:r>
              <a:rPr lang="en-US" sz="1400" dirty="0">
                <a:solidFill>
                  <a:srgbClr val="222222"/>
                </a:solidFill>
                <a:latin typeface="Arial" panose="020B0604020202020204" pitchFamily="34" charset="0"/>
              </a:rPr>
              <a:t>Ghemawat, S., </a:t>
            </a:r>
            <a:r>
              <a:rPr lang="en-US" sz="1400" dirty="0" err="1">
                <a:solidFill>
                  <a:srgbClr val="222222"/>
                </a:solidFill>
                <a:latin typeface="Arial" panose="020B0604020202020204" pitchFamily="34" charset="0"/>
              </a:rPr>
              <a:t>Gobioff</a:t>
            </a:r>
            <a:r>
              <a:rPr lang="en-US" sz="1400" dirty="0">
                <a:solidFill>
                  <a:srgbClr val="222222"/>
                </a:solidFill>
                <a:latin typeface="Arial" panose="020B0604020202020204" pitchFamily="34" charset="0"/>
              </a:rPr>
              <a:t>, H., &amp; Leung, S. T. (2003, October). The Google file system. In </a:t>
            </a:r>
            <a:r>
              <a:rPr lang="en-US" sz="1400" i="1" dirty="0">
                <a:solidFill>
                  <a:srgbClr val="222222"/>
                </a:solidFill>
                <a:latin typeface="Arial" panose="020B0604020202020204" pitchFamily="34" charset="0"/>
              </a:rPr>
              <a:t>Proceedings of the nineteenth ACM symposium on Operating systems principles</a:t>
            </a:r>
            <a:r>
              <a:rPr lang="en-US" sz="1400" dirty="0">
                <a:solidFill>
                  <a:srgbClr val="222222"/>
                </a:solidFill>
                <a:latin typeface="Arial" panose="020B0604020202020204" pitchFamily="34" charset="0"/>
              </a:rPr>
              <a:t> (pp. 29-43).</a:t>
            </a:r>
            <a:endParaRPr lang="en-IL" sz="1400" dirty="0"/>
          </a:p>
        </p:txBody>
      </p:sp>
    </p:spTree>
    <p:extLst>
      <p:ext uri="{BB962C8B-B14F-4D97-AF65-F5344CB8AC3E}">
        <p14:creationId xmlns:p14="http://schemas.microsoft.com/office/powerpoint/2010/main" val="1992535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 calcmode="lin" valueType="num">
                                      <p:cBhvr additive="base">
                                        <p:cTn id="13"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lnSpc>
                <a:spcPct val="150000"/>
              </a:lnSpc>
              <a:spcBef>
                <a:spcPts val="1000"/>
              </a:spcBef>
            </a:pPr>
            <a:r>
              <a:rPr lang="en-US" sz="3000" dirty="0">
                <a:latin typeface="+mn-lt"/>
                <a:ea typeface="+mn-ea"/>
                <a:cs typeface="+mn-cs"/>
              </a:rPr>
              <a:t>Motivation</a:t>
            </a:r>
          </a:p>
        </p:txBody>
      </p:sp>
      <p:sp>
        <p:nvSpPr>
          <p:cNvPr id="3" name="Content Placeholder 2"/>
          <p:cNvSpPr>
            <a:spLocks noGrp="1"/>
          </p:cNvSpPr>
          <p:nvPr>
            <p:ph idx="1"/>
          </p:nvPr>
        </p:nvSpPr>
        <p:spPr>
          <a:xfrm>
            <a:off x="704335" y="1421027"/>
            <a:ext cx="10515600" cy="4935323"/>
          </a:xfrm>
        </p:spPr>
        <p:txBody>
          <a:bodyPr>
            <a:normAutofit/>
          </a:bodyPr>
          <a:lstStyle/>
          <a:p>
            <a:r>
              <a:rPr lang="en-US" sz="2400" dirty="0"/>
              <a:t>Process lots of data</a:t>
            </a:r>
          </a:p>
          <a:p>
            <a:pPr lvl="2">
              <a:spcBef>
                <a:spcPts val="0"/>
              </a:spcBef>
              <a:spcAft>
                <a:spcPts val="0"/>
              </a:spcAft>
            </a:pPr>
            <a:r>
              <a:rPr lang="en-US" sz="2400" dirty="0"/>
              <a:t>Google processed about </a:t>
            </a:r>
            <a:r>
              <a:rPr lang="en-US" sz="2400" dirty="0">
                <a:solidFill>
                  <a:srgbClr val="FF0000"/>
                </a:solidFill>
              </a:rPr>
              <a:t>24 petabytes </a:t>
            </a:r>
            <a:r>
              <a:rPr lang="en-US" sz="2400" dirty="0"/>
              <a:t>of data per day in 2009.</a:t>
            </a:r>
            <a:endParaRPr lang="en-US" sz="2400" b="1" dirty="0"/>
          </a:p>
          <a:p>
            <a:r>
              <a:rPr lang="en-US" sz="2400" b="1" dirty="0">
                <a:solidFill>
                  <a:schemeClr val="tx2">
                    <a:lumMod val="50000"/>
                  </a:schemeClr>
                </a:solidFill>
                <a:effectLst>
                  <a:outerShdw blurRad="38100" dist="38100" dir="2700000" algn="tl">
                    <a:srgbClr val="000000">
                      <a:alpha val="43137"/>
                    </a:srgbClr>
                  </a:outerShdw>
                </a:effectLst>
              </a:rPr>
              <a:t>A single machine </a:t>
            </a:r>
            <a:r>
              <a:rPr lang="en-US" sz="2400" dirty="0"/>
              <a:t>cannot serve all the data</a:t>
            </a:r>
          </a:p>
          <a:p>
            <a:pPr lvl="2"/>
            <a:r>
              <a:rPr lang="en-US" sz="2400" dirty="0"/>
              <a:t>You need a distributed system to store and process </a:t>
            </a:r>
            <a:r>
              <a:rPr lang="en-US" sz="2400" b="1" dirty="0">
                <a:solidFill>
                  <a:srgbClr val="CC00CC"/>
                </a:solidFill>
                <a:effectLst>
                  <a:outerShdw blurRad="38100" dist="38100" dir="2700000" algn="tl">
                    <a:srgbClr val="000000">
                      <a:alpha val="43137"/>
                    </a:srgbClr>
                  </a:outerShdw>
                </a:effectLst>
              </a:rPr>
              <a:t>in parallel</a:t>
            </a:r>
          </a:p>
          <a:p>
            <a:pPr>
              <a:spcBef>
                <a:spcPts val="0"/>
              </a:spcBef>
              <a:spcAft>
                <a:spcPts val="0"/>
              </a:spcAft>
            </a:pPr>
            <a:r>
              <a:rPr lang="en-US" sz="2400" dirty="0"/>
              <a:t>Parallel programming?</a:t>
            </a:r>
          </a:p>
          <a:p>
            <a:pPr lvl="2"/>
            <a:r>
              <a:rPr lang="en-US" sz="2400" b="1" dirty="0">
                <a:solidFill>
                  <a:srgbClr val="663300"/>
                </a:solidFill>
              </a:rPr>
              <a:t>Threading</a:t>
            </a:r>
            <a:r>
              <a:rPr lang="en-US" sz="2400" dirty="0"/>
              <a:t> is hard!</a:t>
            </a:r>
          </a:p>
          <a:p>
            <a:pPr lvl="2"/>
            <a:r>
              <a:rPr lang="en-US" sz="2400" dirty="0"/>
              <a:t>How do you facilitate </a:t>
            </a:r>
            <a:r>
              <a:rPr lang="en-US" sz="2400" dirty="0">
                <a:solidFill>
                  <a:srgbClr val="7030A0"/>
                </a:solidFill>
                <a:effectLst>
                  <a:outerShdw blurRad="38100" dist="38100" dir="2700000" algn="tl">
                    <a:srgbClr val="000000">
                      <a:alpha val="43137"/>
                    </a:srgbClr>
                  </a:outerShdw>
                </a:effectLst>
              </a:rPr>
              <a:t>communication</a:t>
            </a:r>
            <a:r>
              <a:rPr lang="en-US" sz="2400" dirty="0">
                <a:effectLst>
                  <a:outerShdw blurRad="38100" dist="38100" dir="2700000" algn="tl">
                    <a:srgbClr val="000000">
                      <a:alpha val="43137"/>
                    </a:srgbClr>
                  </a:outerShdw>
                </a:effectLst>
              </a:rPr>
              <a:t> </a:t>
            </a:r>
            <a:r>
              <a:rPr lang="en-US" sz="2400" dirty="0"/>
              <a:t>between nodes?</a:t>
            </a:r>
          </a:p>
          <a:p>
            <a:pPr lvl="2"/>
            <a:r>
              <a:rPr lang="en-US" sz="2400" dirty="0"/>
              <a:t>How do you </a:t>
            </a:r>
            <a:r>
              <a:rPr lang="en-US" sz="2400" b="1" dirty="0"/>
              <a:t>scale to </a:t>
            </a:r>
            <a:r>
              <a:rPr lang="en-US" sz="2400" b="1" dirty="0">
                <a:solidFill>
                  <a:srgbClr val="006600"/>
                </a:solidFill>
              </a:rPr>
              <a:t>more machines</a:t>
            </a:r>
            <a:r>
              <a:rPr lang="en-US" sz="2400" dirty="0"/>
              <a:t>?</a:t>
            </a:r>
          </a:p>
          <a:p>
            <a:pPr lvl="2">
              <a:spcBef>
                <a:spcPts val="0"/>
              </a:spcBef>
            </a:pPr>
            <a:r>
              <a:rPr lang="en-US" sz="2400" dirty="0"/>
              <a:t>How do you handle machine </a:t>
            </a:r>
            <a:r>
              <a:rPr lang="en-US" sz="2400" dirty="0">
                <a:solidFill>
                  <a:srgbClr val="FF0000"/>
                </a:solidFill>
                <a:effectLst>
                  <a:outerShdw blurRad="38100" dist="38100" dir="2700000" algn="tl">
                    <a:srgbClr val="000000">
                      <a:alpha val="43137"/>
                    </a:srgbClr>
                  </a:outerShdw>
                </a:effectLst>
              </a:rPr>
              <a:t>failures</a:t>
            </a:r>
            <a:r>
              <a:rPr lang="en-US" sz="2400" dirty="0"/>
              <a:t>?</a:t>
            </a:r>
          </a:p>
        </p:txBody>
      </p:sp>
      <p:sp>
        <p:nvSpPr>
          <p:cNvPr id="4" name="Slide Number Placeholder 3"/>
          <p:cNvSpPr>
            <a:spLocks noGrp="1"/>
          </p:cNvSpPr>
          <p:nvPr>
            <p:ph type="sldNum" sz="quarter" idx="12"/>
          </p:nvPr>
        </p:nvSpPr>
        <p:spPr/>
        <p:txBody>
          <a:bodyPr/>
          <a:lstStyle/>
          <a:p>
            <a:fld id="{FB070496-1CF9-408E-B326-6CCA99B85165}" type="slidenum">
              <a:rPr lang="en-US" smtClean="0"/>
              <a:t>4</a:t>
            </a:fld>
            <a:endParaRPr lang="en-US"/>
          </a:p>
        </p:txBody>
      </p:sp>
    </p:spTree>
    <p:extLst>
      <p:ext uri="{BB962C8B-B14F-4D97-AF65-F5344CB8AC3E}">
        <p14:creationId xmlns:p14="http://schemas.microsoft.com/office/powerpoint/2010/main" val="12637953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000" b="1" dirty="0"/>
              <a:t>Google’s Solution</a:t>
            </a:r>
          </a:p>
          <a:p>
            <a:pPr>
              <a:lnSpc>
                <a:spcPct val="150000"/>
              </a:lnSpc>
            </a:pPr>
            <a:r>
              <a:rPr lang="en-US" sz="2400" dirty="0"/>
              <a:t>Google solved this problem using an algorithm called </a:t>
            </a:r>
            <a:r>
              <a:rPr lang="en-US" sz="2400" b="1" u="sng" dirty="0"/>
              <a:t>MapReduce</a:t>
            </a:r>
            <a:r>
              <a:rPr lang="en-US" sz="2400" dirty="0"/>
              <a:t>. This algorithm divides the task into small parts and assigns them to many computers, and collects the results from them which when integrated, form the result dataset.</a:t>
            </a:r>
          </a:p>
          <a:p>
            <a:pPr>
              <a:lnSpc>
                <a:spcPct val="150000"/>
              </a:lnSpc>
            </a:pP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5</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3" name="Can 2">
            <a:extLst>
              <a:ext uri="{FF2B5EF4-FFF2-40B4-BE49-F238E27FC236}">
                <a16:creationId xmlns:a16="http://schemas.microsoft.com/office/drawing/2014/main" id="{8940CFD2-D691-1949-95BA-CCCB0F0F41F2}"/>
              </a:ext>
            </a:extLst>
          </p:cNvPr>
          <p:cNvSpPr/>
          <p:nvPr/>
        </p:nvSpPr>
        <p:spPr>
          <a:xfrm>
            <a:off x="2853267" y="3047999"/>
            <a:ext cx="499533" cy="643467"/>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Can 11">
            <a:extLst>
              <a:ext uri="{FF2B5EF4-FFF2-40B4-BE49-F238E27FC236}">
                <a16:creationId xmlns:a16="http://schemas.microsoft.com/office/drawing/2014/main" id="{95B4A001-1136-DD4A-9B73-EFC74D66CC2E}"/>
              </a:ext>
            </a:extLst>
          </p:cNvPr>
          <p:cNvSpPr/>
          <p:nvPr/>
        </p:nvSpPr>
        <p:spPr>
          <a:xfrm>
            <a:off x="2853267" y="4013199"/>
            <a:ext cx="499533" cy="643467"/>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Can 12">
            <a:extLst>
              <a:ext uri="{FF2B5EF4-FFF2-40B4-BE49-F238E27FC236}">
                <a16:creationId xmlns:a16="http://schemas.microsoft.com/office/drawing/2014/main" id="{AD7E5B11-5FD0-B349-A1EF-7E8A55A4A440}"/>
              </a:ext>
            </a:extLst>
          </p:cNvPr>
          <p:cNvSpPr/>
          <p:nvPr/>
        </p:nvSpPr>
        <p:spPr>
          <a:xfrm>
            <a:off x="2853268" y="4978399"/>
            <a:ext cx="499533" cy="643467"/>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Cube 8">
            <a:extLst>
              <a:ext uri="{FF2B5EF4-FFF2-40B4-BE49-F238E27FC236}">
                <a16:creationId xmlns:a16="http://schemas.microsoft.com/office/drawing/2014/main" id="{AFAA0F24-92D1-2044-AB97-C74CE86F1038}"/>
              </a:ext>
            </a:extLst>
          </p:cNvPr>
          <p:cNvSpPr/>
          <p:nvPr/>
        </p:nvSpPr>
        <p:spPr>
          <a:xfrm>
            <a:off x="5041899" y="3335864"/>
            <a:ext cx="2328333" cy="1811867"/>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Centralized</a:t>
            </a:r>
          </a:p>
          <a:p>
            <a:pPr algn="ctr"/>
            <a:r>
              <a:rPr lang="en-IL" dirty="0"/>
              <a:t>System</a:t>
            </a:r>
          </a:p>
        </p:txBody>
      </p:sp>
      <p:cxnSp>
        <p:nvCxnSpPr>
          <p:cNvPr id="11" name="Straight Arrow Connector 10">
            <a:extLst>
              <a:ext uri="{FF2B5EF4-FFF2-40B4-BE49-F238E27FC236}">
                <a16:creationId xmlns:a16="http://schemas.microsoft.com/office/drawing/2014/main" id="{915D7C46-0077-5642-8F87-5D94008FC861}"/>
              </a:ext>
            </a:extLst>
          </p:cNvPr>
          <p:cNvCxnSpPr>
            <a:stCxn id="3" idx="4"/>
            <a:endCxn id="9" idx="2"/>
          </p:cNvCxnSpPr>
          <p:nvPr/>
        </p:nvCxnSpPr>
        <p:spPr>
          <a:xfrm>
            <a:off x="3352800" y="3369733"/>
            <a:ext cx="1689099" cy="10985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CEF67CE9-AB66-664E-8EBD-2AD7926EC3B7}"/>
              </a:ext>
            </a:extLst>
          </p:cNvPr>
          <p:cNvCxnSpPr>
            <a:stCxn id="12" idx="4"/>
            <a:endCxn id="9" idx="2"/>
          </p:cNvCxnSpPr>
          <p:nvPr/>
        </p:nvCxnSpPr>
        <p:spPr>
          <a:xfrm>
            <a:off x="3352800" y="4334933"/>
            <a:ext cx="1689099" cy="1333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715666F7-3EEC-4548-932B-198921B4645F}"/>
              </a:ext>
            </a:extLst>
          </p:cNvPr>
          <p:cNvCxnSpPr>
            <a:stCxn id="13" idx="4"/>
            <a:endCxn id="9" idx="2"/>
          </p:cNvCxnSpPr>
          <p:nvPr/>
        </p:nvCxnSpPr>
        <p:spPr>
          <a:xfrm flipV="1">
            <a:off x="3352801" y="4468281"/>
            <a:ext cx="1689098" cy="8318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AFF3CCAB-C353-894F-AE80-CB27D96CB760}"/>
              </a:ext>
            </a:extLst>
          </p:cNvPr>
          <p:cNvSpPr/>
          <p:nvPr/>
        </p:nvSpPr>
        <p:spPr>
          <a:xfrm>
            <a:off x="8610600" y="3709454"/>
            <a:ext cx="1312334" cy="1117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User</a:t>
            </a:r>
          </a:p>
        </p:txBody>
      </p:sp>
      <p:sp>
        <p:nvSpPr>
          <p:cNvPr id="22" name="Left-Right Arrow 21">
            <a:extLst>
              <a:ext uri="{FF2B5EF4-FFF2-40B4-BE49-F238E27FC236}">
                <a16:creationId xmlns:a16="http://schemas.microsoft.com/office/drawing/2014/main" id="{BB0DE406-BE25-6E42-83D1-D439A62D817C}"/>
              </a:ext>
            </a:extLst>
          </p:cNvPr>
          <p:cNvSpPr/>
          <p:nvPr/>
        </p:nvSpPr>
        <p:spPr>
          <a:xfrm>
            <a:off x="7603066" y="4162421"/>
            <a:ext cx="787400" cy="211667"/>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Tree>
    <p:extLst>
      <p:ext uri="{BB962C8B-B14F-4D97-AF65-F5344CB8AC3E}">
        <p14:creationId xmlns:p14="http://schemas.microsoft.com/office/powerpoint/2010/main" val="2901677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000" b="1" dirty="0"/>
              <a:t>Google’s Solution</a:t>
            </a:r>
          </a:p>
          <a:p>
            <a:pPr fontAlgn="base"/>
            <a:r>
              <a:rPr lang="en-US" sz="2400" b="1" dirty="0"/>
              <a:t>Problem</a:t>
            </a:r>
            <a:r>
              <a:rPr lang="en-US" sz="2400" dirty="0"/>
              <a:t>: Can’t use a single computer to process the data (take too long to process data).</a:t>
            </a:r>
          </a:p>
          <a:p>
            <a:pPr fontAlgn="base"/>
            <a:r>
              <a:rPr lang="en-US" sz="2400" b="1" dirty="0"/>
              <a:t>Solution</a:t>
            </a:r>
            <a:r>
              <a:rPr lang="en-US" sz="2400" dirty="0"/>
              <a:t>: Use a group of interconnected computers (processor, and memory independent).</a:t>
            </a:r>
          </a:p>
          <a:p>
            <a:pPr fontAlgn="base"/>
            <a:endParaRPr lang="en-US" sz="2400" dirty="0"/>
          </a:p>
          <a:p>
            <a:pPr fontAlgn="base"/>
            <a:r>
              <a:rPr lang="en-US" sz="2400" b="1" dirty="0"/>
              <a:t>Problem</a:t>
            </a:r>
            <a:r>
              <a:rPr lang="en-US" sz="2400" dirty="0"/>
              <a:t>: Conventional algorithms are not designed around memory independence.</a:t>
            </a:r>
          </a:p>
          <a:p>
            <a:pPr fontAlgn="base"/>
            <a:r>
              <a:rPr lang="en-US" sz="2400" b="1" dirty="0"/>
              <a:t>Solution</a:t>
            </a:r>
            <a:r>
              <a:rPr lang="en-US" sz="2400" dirty="0"/>
              <a:t>: MapReduce</a:t>
            </a:r>
          </a:p>
          <a:p>
            <a:pPr fontAlgn="base"/>
            <a:endParaRPr lang="en-US" sz="2400" dirty="0"/>
          </a:p>
          <a:p>
            <a:pPr fontAlgn="base">
              <a:lnSpc>
                <a:spcPct val="150000"/>
              </a:lnSpc>
            </a:pPr>
            <a:r>
              <a:rPr lang="en-US" sz="2400" b="1" dirty="0"/>
              <a:t>Definition.</a:t>
            </a:r>
            <a:r>
              <a:rPr lang="en-US" sz="2400" dirty="0"/>
              <a:t> </a:t>
            </a:r>
            <a:r>
              <a:rPr lang="en-US" sz="2400" i="1" dirty="0"/>
              <a:t>MapReduce</a:t>
            </a:r>
            <a:r>
              <a:rPr lang="en-US" sz="2400" dirty="0"/>
              <a:t> is a programming paradigm model of using parallel, distributed algorithms to process or generate data sets. </a:t>
            </a:r>
            <a:endParaRPr lang="en-US" sz="2400" b="1" dirty="0"/>
          </a:p>
          <a:p>
            <a:pPr>
              <a:lnSpc>
                <a:spcPct val="150000"/>
              </a:lnSpc>
            </a:pP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6</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3575867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4" end="4"/>
                                            </p:txEl>
                                          </p:spTgt>
                                        </p:tgtEl>
                                        <p:attrNameLst>
                                          <p:attrName>style.visibility</p:attrName>
                                        </p:attrNameLst>
                                      </p:cBhvr>
                                      <p:to>
                                        <p:strVal val="visible"/>
                                      </p:to>
                                    </p:set>
                                    <p:anim calcmode="lin" valueType="num">
                                      <p:cBhvr additive="base">
                                        <p:cTn id="25"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anim calcmode="lin" valueType="num">
                                      <p:cBhvr additive="base">
                                        <p:cTn id="31"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anim calcmode="lin" valueType="num">
                                      <p:cBhvr additive="base">
                                        <p:cTn id="37"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000" b="1" dirty="0"/>
              <a:t>How Is It Work? </a:t>
            </a:r>
          </a:p>
          <a:p>
            <a:pPr>
              <a:lnSpc>
                <a:spcPct val="150000"/>
              </a:lnSpc>
            </a:pPr>
            <a:r>
              <a:rPr lang="en-US" sz="2400" dirty="0"/>
              <a:t>The MapReduce algorithm contains two important tasks:</a:t>
            </a:r>
          </a:p>
          <a:p>
            <a:pPr marL="514350" indent="-514350">
              <a:lnSpc>
                <a:spcPct val="150000"/>
              </a:lnSpc>
              <a:buAutoNum type="arabicPeriod"/>
            </a:pPr>
            <a:r>
              <a:rPr lang="en-US" sz="2400" dirty="0"/>
              <a:t>The </a:t>
            </a:r>
            <a:r>
              <a:rPr lang="en-US" sz="2400" b="1" u="sng" dirty="0"/>
              <a:t>Map</a:t>
            </a:r>
            <a:r>
              <a:rPr lang="en-US" sz="2400" dirty="0"/>
              <a:t> task takes a set of data and converts it into another set of data, where individual elements are broken down into tuples (key-value pairs).</a:t>
            </a:r>
          </a:p>
          <a:p>
            <a:pPr marL="514350" indent="-514350">
              <a:lnSpc>
                <a:spcPct val="150000"/>
              </a:lnSpc>
              <a:buAutoNum type="arabicPeriod"/>
            </a:pPr>
            <a:r>
              <a:rPr lang="en-US" sz="2400" dirty="0"/>
              <a:t>The </a:t>
            </a:r>
            <a:r>
              <a:rPr lang="en-US" sz="2400" b="1" u="sng" dirty="0"/>
              <a:t>Reduce</a:t>
            </a:r>
            <a:r>
              <a:rPr lang="en-US" sz="2400" dirty="0"/>
              <a:t> task takes the output from the Map as an input and combines those data tuples (key-value pairs) into a smaller set of tuples.</a:t>
            </a:r>
          </a:p>
          <a:p>
            <a:pPr>
              <a:lnSpc>
                <a:spcPct val="150000"/>
              </a:lnSpc>
            </a:pPr>
            <a:endParaRPr lang="en-US" sz="2400" dirty="0"/>
          </a:p>
          <a:p>
            <a:r>
              <a:rPr lang="en-US" sz="2400" dirty="0"/>
              <a:t>The reduce task is always performed after the map job.</a:t>
            </a:r>
          </a:p>
          <a:p>
            <a:br>
              <a:rPr lang="en-US" sz="2400" dirty="0"/>
            </a:b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7</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1540988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 calcmode="lin" valueType="num">
                                      <p:cBhvr additive="base">
                                        <p:cTn id="19"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anim calcmode="lin" valueType="num">
                                      <p:cBhvr additive="base">
                                        <p:cTn id="25"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anim calcmode="lin" valueType="num">
                                      <p:cBhvr additive="base">
                                        <p:cTn id="31"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
                                            <p:txEl>
                                              <p:pRg st="0" end="0"/>
                                            </p:txEl>
                                          </p:spTgt>
                                        </p:tgtEl>
                                        <p:attrNameLst>
                                          <p:attrName>style.visibility</p:attrName>
                                        </p:attrNameLst>
                                      </p:cBhvr>
                                      <p:to>
                                        <p:strVal val="visible"/>
                                      </p:to>
                                    </p:set>
                                    <p:anim calcmode="lin" valueType="num">
                                      <p:cBhvr additive="base">
                                        <p:cTn id="3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pPr marL="0" lvl="0" indent="0">
              <a:buNone/>
            </a:pPr>
            <a:r>
              <a:rPr dirty="0"/>
              <a:t>Why MapReduce Matters </a:t>
            </a:r>
          </a:p>
        </p:txBody>
      </p:sp>
      <p:sp>
        <p:nvSpPr>
          <p:cNvPr id="3" name="Content Placeholder 2"/>
          <p:cNvSpPr>
            <a:spLocks noGrp="1"/>
          </p:cNvSpPr>
          <p:nvPr>
            <p:ph idx="1" hasCustomPrompt="1"/>
          </p:nvPr>
        </p:nvSpPr>
        <p:spPr/>
        <p:txBody>
          <a:bodyPr>
            <a:normAutofit fontScale="92500" lnSpcReduction="20000"/>
          </a:bodyPr>
          <a:lstStyle/>
          <a:p>
            <a:pPr lvl="0"/>
            <a:r>
              <a:t>Single-node processing is like a single workstation: it cannot handle enterprise-scale WIP.</a:t>
            </a:r>
          </a:p>
          <a:p>
            <a:pPr lvl="0"/>
            <a:r>
              <a:t>MapReduce turns a huge batch into parallel micro-batches with controlled aggregation.</a:t>
            </a:r>
          </a:p>
          <a:p>
            <a:pPr lvl="0"/>
            <a:r>
              <a:t>The real “cost center” is moving and consolidating data (shuffle), not local computation.</a:t>
            </a:r>
          </a:p>
          <a:p>
            <a:pPr lvl="0"/>
            <a:r>
              <a:rPr b="1"/>
              <a:t>SQL lens:</a:t>
            </a:r>
            <a:r>
              <a:t> MapReduce is a physical execution model for </a:t>
            </a:r>
            <a:r>
              <a:rPr>
                <a:latin typeface="Courier"/>
              </a:rPr>
              <a:t>GROUP BY</a:t>
            </a:r>
            <a:r>
              <a:t> and </a:t>
            </a:r>
            <a:r>
              <a:rPr>
                <a:latin typeface="Courier"/>
              </a:rPr>
              <a:t>JOIN</a:t>
            </a:r>
            <a:r>
              <a:t> at scale.</a:t>
            </a:r>
          </a:p>
          <a:p>
            <a:pPr marL="1270000" lvl="0" indent="0">
              <a:buNone/>
            </a:pPr>
            <a:r>
              <a:rPr sz="2000" b="1"/>
              <a:t>Managerial takeaway:</a:t>
            </a:r>
            <a:r>
              <a:rPr sz="2000"/>
              <a:t> Treat shuffle as the main bottleneck. Most optimization effort should reduce intermediate data volume.</a:t>
            </a:r>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pPr marL="0" lvl="0" indent="0">
              <a:buNone/>
            </a:pPr>
            <a:r>
              <a:t>The Core Problem</a:t>
            </a:r>
          </a:p>
        </p:txBody>
      </p:sp>
      <p:sp>
        <p:nvSpPr>
          <p:cNvPr id="3" name="Content Placeholder 2"/>
          <p:cNvSpPr>
            <a:spLocks noGrp="1"/>
          </p:cNvSpPr>
          <p:nvPr>
            <p:ph idx="1" hasCustomPrompt="1"/>
          </p:nvPr>
        </p:nvSpPr>
        <p:spPr/>
        <p:txBody>
          <a:bodyPr/>
          <a:lstStyle/>
          <a:p>
            <a:pPr lvl="0"/>
            <a:r>
              <a:rPr b="1"/>
              <a:t>Input:</a:t>
            </a:r>
            <a:r>
              <a:t> massive dataset distributed across many machines</a:t>
            </a:r>
          </a:p>
          <a:p>
            <a:pPr lvl="0"/>
            <a:r>
              <a:rPr b="1"/>
              <a:t>Goal:</a:t>
            </a:r>
            <a:r>
              <a:t> compute aggregate results over all records</a:t>
            </a:r>
          </a:p>
          <a:p>
            <a:pPr lvl="0"/>
            <a:r>
              <a:rPr b="1"/>
              <a:t>Constraint:</a:t>
            </a:r>
            <a:r>
              <a:t> no single machine can store/process full input</a:t>
            </a:r>
          </a:p>
          <a:p>
            <a:pPr lvl="0"/>
            <a:r>
              <a:rPr b="1"/>
              <a:t>Need:</a:t>
            </a:r>
            <a:r>
              <a:t> parallel processing plus coordinated aggregation</a:t>
            </a:r>
          </a:p>
          <a:p>
            <a:pPr lvl="0"/>
            <a:r>
              <a:rPr b="1"/>
              <a:t>SQL lens:</a:t>
            </a:r>
            <a:r>
              <a:t> This is </a:t>
            </a:r>
            <a:r>
              <a:rPr>
                <a:latin typeface="Courier"/>
              </a:rPr>
              <a:t>SELECT ... GROUP BY ...</a:t>
            </a:r>
            <a:r>
              <a:t> on a table too large for one database server.</a:t>
            </a:r>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7F24627C-5938-5D06-969C-341161F72C9C}"/>
              </a:ext>
            </a:extLst>
          </p:cNvPr>
          <p:cNvSpPr>
            <a:spLocks noGrp="1"/>
          </p:cNvSpPr>
          <p:nvPr>
            <p:ph type="title"/>
          </p:nvPr>
        </p:nvSpPr>
        <p:spPr>
          <a:xfrm>
            <a:off x="609600" y="274638"/>
            <a:ext cx="10972800" cy="1143000"/>
          </a:xfrm>
        </p:spPr>
        <p:txBody>
          <a:bodyPr/>
          <a:lstStyle/>
          <a:p>
            <a:pPr marL="0" lvl="0" indent="0">
              <a:buNone/>
            </a:pPr>
            <a:r>
              <a:t>MapReduce Model (Operational View)</a:t>
            </a:r>
          </a:p>
        </p:txBody>
      </p:sp>
      <p:sp>
        <p:nvSpPr>
          <p:cNvPr id="3" name="Text Placeholder 3">
            <a:extLst>
              <a:ext uri="{FF2B5EF4-FFF2-40B4-BE49-F238E27FC236}">
                <a16:creationId xmlns:a16="http://schemas.microsoft.com/office/drawing/2014/main" id="{838FFFFD-68E9-C4E4-7764-523BAE32B83B}"/>
              </a:ext>
            </a:extLst>
          </p:cNvPr>
          <p:cNvSpPr>
            <a:spLocks noGrp="1"/>
          </p:cNvSpPr>
          <p:nvPr>
            <p:ph type="body" sz="half" idx="2" hasCustomPrompt="1"/>
          </p:nvPr>
        </p:nvSpPr>
        <p:spPr/>
        <p:txBody>
          <a:bodyPr>
            <a:normAutofit fontScale="70000" lnSpcReduction="20000"/>
          </a:bodyPr>
          <a:lstStyle/>
          <a:p>
            <a:pPr lvl="0"/>
            <a:r>
              <a:rPr b="1"/>
              <a:t>Map:</a:t>
            </a:r>
            <a:r>
              <a:t> </a:t>
            </a:r>
            <a:r>
              <a:rPr>
                <a:latin typeface="Courier"/>
              </a:rPr>
              <a:t>(k1, v1) -&gt; [(k2, v2)]</a:t>
            </a:r>
            <a:r>
              <a:t> transforms each record into key-value pairs.</a:t>
            </a:r>
          </a:p>
          <a:p>
            <a:pPr lvl="0"/>
            <a:r>
              <a:rPr b="1"/>
              <a:t>Shuffle:</a:t>
            </a:r>
            <a:r>
              <a:t> groups all values by key </a:t>
            </a:r>
            <a:r>
              <a:rPr>
                <a:latin typeface="Courier"/>
              </a:rPr>
              <a:t>k2</a:t>
            </a:r>
            <a:r>
              <a:t> across the cluster.</a:t>
            </a:r>
          </a:p>
          <a:p>
            <a:pPr lvl="0"/>
            <a:r>
              <a:rPr b="1"/>
              <a:t>Reduce:</a:t>
            </a:r>
            <a:r>
              <a:t> </a:t>
            </a:r>
            <a:r>
              <a:rPr>
                <a:latin typeface="Courier"/>
              </a:rPr>
              <a:t>(k2, [v2]) -&gt; [(k3, v3)]</a:t>
            </a:r>
            <a:r>
              <a:t> aggregates each group into final output.</a:t>
            </a:r>
          </a:p>
          <a:p>
            <a:pPr lvl="0"/>
            <a:r>
              <a:rPr b="1"/>
              <a:t>Invariant:</a:t>
            </a:r>
            <a:r>
              <a:t> Same key must always reach the same reducer (ensures correct aggregation).</a:t>
            </a:r>
          </a:p>
          <a:p>
            <a:pPr lvl="0"/>
            <a:r>
              <a:rPr b="1"/>
              <a:t>SQL lens:</a:t>
            </a:r>
            <a:r>
              <a:t> </a:t>
            </a:r>
            <a:r>
              <a:rPr>
                <a:latin typeface="Courier"/>
              </a:rPr>
              <a:t>Map = SELECT key, value FROM table</a:t>
            </a:r>
            <a:r>
              <a:t>, </a:t>
            </a:r>
            <a:r>
              <a:rPr>
                <a:latin typeface="Courier"/>
              </a:rPr>
              <a:t>Shuffle = GROUP BY key</a:t>
            </a:r>
            <a:r>
              <a:t>, </a:t>
            </a:r>
            <a:r>
              <a:rPr>
                <a:latin typeface="Courier"/>
              </a:rPr>
              <a:t>Reduce = aggregate per group</a:t>
            </a:r>
            <a:r>
              <a:t>.</a:t>
            </a:r>
          </a:p>
        </p:txBody>
      </p:sp>
      <p:pic>
        <p:nvPicPr>
          <p:cNvPr id="2" name="Picture 1" descr="../../diagrams/week06/week6_lecture_slide17_system_overview.png"/>
          <p:cNvPicPr>
            <a:picLocks noGrp="1" noChangeAspect="1"/>
          </p:cNvPicPr>
          <p:nvPr/>
        </p:nvPicPr>
        <p:blipFill>
          <a:blip r:embed="rId2"/>
          <a:stretch>
            <a:fillRect/>
          </a:stretch>
        </p:blipFill>
        <p:spPr bwMode="auto">
          <a:xfrm>
            <a:off x="6896100" y="1409700"/>
            <a:ext cx="1727200" cy="4356100"/>
          </a:xfrm>
          <a:prstGeom prst="rect">
            <a:avLst/>
          </a:prstGeom>
          <a:noFill/>
          <a:ln w="9525">
            <a:noFill/>
            <a:headEnd/>
            <a:tailEnd/>
          </a:ln>
        </p:spPr>
      </p:pic>
      <p:sp>
        <p:nvSpPr>
          <p:cNvPr id="6" name="Footer Placeholder 5"/>
          <p:cNvSpPr>
            <a:spLocks noGrp="1"/>
          </p:cNvSpPr>
          <p:nvPr>
            <p:ph type="ftr" sz="quarter" idx="11"/>
          </p:nvPr>
        </p:nvSpPr>
        <p:spPr/>
        <p:txBody>
          <a:bodyPr/>
          <a:lstStyle/>
          <a:p>
            <a:r>
              <a:rPr lang="en-US"/>
              <a:t>Or Peretz</a:t>
            </a:r>
          </a:p>
        </p:txBody>
      </p:sp>
      <p:sp>
        <p:nvSpPr>
          <p:cNvPr id="7" name="Slide Number Placeholder 6"/>
          <p:cNvSpPr>
            <a:spLocks noGrp="1"/>
          </p:cNvSpPr>
          <p:nvPr>
            <p:ph type="sldNum" sz="quarter" idx="12"/>
          </p:nvPr>
        </p:nvSpPr>
        <p:spPr/>
        <p:txBody>
          <a:bodyPr/>
          <a:lstStyle/>
          <a:p>
            <a:fld id="{C1FF6DA9-008F-8B48-92A6-B652298478BF}"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000" b="1" dirty="0"/>
              <a:t>How Is It Work? </a:t>
            </a:r>
          </a:p>
          <a:p>
            <a:pPr>
              <a:lnSpc>
                <a:spcPct val="150000"/>
              </a:lnSpc>
            </a:pPr>
            <a:endParaRPr lang="en-US" sz="2400" dirty="0"/>
          </a:p>
          <a:p>
            <a:pPr>
              <a:lnSpc>
                <a:spcPct val="150000"/>
              </a:lnSpc>
            </a:pPr>
            <a:endParaRPr lang="en-US" sz="2400" dirty="0"/>
          </a:p>
          <a:p>
            <a:pPr>
              <a:lnSpc>
                <a:spcPct val="150000"/>
              </a:lnSpc>
            </a:pPr>
            <a:endParaRPr lang="en-US" sz="2400" dirty="0"/>
          </a:p>
          <a:p>
            <a:pPr>
              <a:lnSpc>
                <a:spcPct val="150000"/>
              </a:lnSpc>
            </a:pPr>
            <a:endParaRPr lang="en-US" sz="2400" dirty="0"/>
          </a:p>
          <a:p>
            <a:pPr>
              <a:lnSpc>
                <a:spcPct val="150000"/>
              </a:lnSpc>
            </a:pPr>
            <a:endParaRPr lang="en-US" sz="2400" dirty="0"/>
          </a:p>
          <a:p>
            <a:pPr>
              <a:lnSpc>
                <a:spcPct val="150000"/>
              </a:lnSpc>
            </a:pPr>
            <a:endParaRPr lang="en-US" sz="2400" dirty="0"/>
          </a:p>
          <a:p>
            <a:pPr>
              <a:lnSpc>
                <a:spcPct val="150000"/>
              </a:lnSpc>
            </a:pPr>
            <a:endParaRPr lang="en-US" sz="2400" dirty="0"/>
          </a:p>
          <a:p>
            <a:r>
              <a:rPr lang="en-US" sz="2400" dirty="0"/>
              <a:t>The reduce task is always performed after the map job.</a:t>
            </a:r>
            <a:br>
              <a:rPr lang="en-US" sz="2400" dirty="0"/>
            </a:b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11</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pic>
        <p:nvPicPr>
          <p:cNvPr id="2052" name="Picture 4" descr="The MapReduce architecture.  MapReduce Algorithm There are four steps... |  Download Scientific Diagram">
            <a:extLst>
              <a:ext uri="{FF2B5EF4-FFF2-40B4-BE49-F238E27FC236}">
                <a16:creationId xmlns:a16="http://schemas.microsoft.com/office/drawing/2014/main" id="{4B082B5C-DECF-6448-9A1D-B50CBF2F6F2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6268"/>
          <a:stretch/>
        </p:blipFill>
        <p:spPr bwMode="auto">
          <a:xfrm>
            <a:off x="2387599" y="1362463"/>
            <a:ext cx="7814735" cy="36057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1943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8" end="8"/>
                                            </p:txEl>
                                          </p:spTgt>
                                        </p:tgtEl>
                                        <p:attrNameLst>
                                          <p:attrName>style.visibility</p:attrName>
                                        </p:attrNameLst>
                                      </p:cBhvr>
                                      <p:to>
                                        <p:strVal val="visible"/>
                                      </p:to>
                                    </p:set>
                                    <p:anim calcmode="lin" valueType="num">
                                      <p:cBhvr additive="base">
                                        <p:cTn id="7"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 calcmode="lin" valueType="num">
                                      <p:cBhvr additive="base">
                                        <p:cTn id="13"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MapReduce workflow</a:t>
            </a:r>
          </a:p>
        </p:txBody>
      </p:sp>
      <p:sp>
        <p:nvSpPr>
          <p:cNvPr id="4" name="Slide Number Placeholder 3"/>
          <p:cNvSpPr>
            <a:spLocks noGrp="1"/>
          </p:cNvSpPr>
          <p:nvPr>
            <p:ph type="sldNum" sz="quarter" idx="12"/>
          </p:nvPr>
        </p:nvSpPr>
        <p:spPr/>
        <p:txBody>
          <a:bodyPr/>
          <a:lstStyle/>
          <a:p>
            <a:fld id="{FB070496-1CF9-408E-B326-6CCA99B85165}" type="slidenum">
              <a:rPr lang="en-US" smtClean="0"/>
              <a:t>12</a:t>
            </a:fld>
            <a:endParaRPr lang="en-US"/>
          </a:p>
        </p:txBody>
      </p:sp>
      <p:grpSp>
        <p:nvGrpSpPr>
          <p:cNvPr id="135" name="Group 134"/>
          <p:cNvGrpSpPr/>
          <p:nvPr/>
        </p:nvGrpSpPr>
        <p:grpSpPr>
          <a:xfrm>
            <a:off x="7162800" y="2886348"/>
            <a:ext cx="990600" cy="1447800"/>
            <a:chOff x="5638800" y="2886348"/>
            <a:chExt cx="990600" cy="1447800"/>
          </a:xfrm>
        </p:grpSpPr>
        <p:sp>
          <p:nvSpPr>
            <p:cNvPr id="70" name="Oval 23"/>
            <p:cNvSpPr>
              <a:spLocks noChangeArrowheads="1"/>
            </p:cNvSpPr>
            <p:nvPr/>
          </p:nvSpPr>
          <p:spPr bwMode="auto">
            <a:xfrm>
              <a:off x="5638800" y="3876948"/>
              <a:ext cx="990600" cy="457200"/>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pPr algn="ctr"/>
              <a:r>
                <a:rPr lang="en-US" altLang="en-US" dirty="0"/>
                <a:t>Worker</a:t>
              </a:r>
            </a:p>
          </p:txBody>
        </p:sp>
        <p:sp>
          <p:nvSpPr>
            <p:cNvPr id="71" name="Oval 24"/>
            <p:cNvSpPr>
              <a:spLocks noChangeArrowheads="1"/>
            </p:cNvSpPr>
            <p:nvPr/>
          </p:nvSpPr>
          <p:spPr bwMode="auto">
            <a:xfrm>
              <a:off x="5638800" y="2886348"/>
              <a:ext cx="990600" cy="457200"/>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pPr algn="ctr"/>
              <a:r>
                <a:rPr lang="en-US" altLang="en-US" dirty="0"/>
                <a:t>Worker</a:t>
              </a:r>
            </a:p>
          </p:txBody>
        </p:sp>
      </p:grpSp>
      <p:grpSp>
        <p:nvGrpSpPr>
          <p:cNvPr id="75" name="Group 65"/>
          <p:cNvGrpSpPr>
            <a:grpSpLocks/>
          </p:cNvGrpSpPr>
          <p:nvPr/>
        </p:nvGrpSpPr>
        <p:grpSpPr bwMode="auto">
          <a:xfrm>
            <a:off x="3505200" y="2581548"/>
            <a:ext cx="990600" cy="2133600"/>
            <a:chOff x="1248" y="2352"/>
            <a:chExt cx="624" cy="1344"/>
          </a:xfrm>
        </p:grpSpPr>
        <p:sp>
          <p:nvSpPr>
            <p:cNvPr id="83" name="Oval 6"/>
            <p:cNvSpPr>
              <a:spLocks noChangeArrowheads="1"/>
            </p:cNvSpPr>
            <p:nvPr/>
          </p:nvSpPr>
          <p:spPr bwMode="auto">
            <a:xfrm>
              <a:off x="1248" y="2352"/>
              <a:ext cx="624" cy="288"/>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pPr algn="ctr"/>
              <a:r>
                <a:rPr lang="en-US" altLang="en-US" dirty="0"/>
                <a:t>Worker</a:t>
              </a:r>
            </a:p>
          </p:txBody>
        </p:sp>
        <p:sp>
          <p:nvSpPr>
            <p:cNvPr id="84" name="Oval 7"/>
            <p:cNvSpPr>
              <a:spLocks noChangeArrowheads="1"/>
            </p:cNvSpPr>
            <p:nvPr/>
          </p:nvSpPr>
          <p:spPr bwMode="auto">
            <a:xfrm>
              <a:off x="1248" y="2880"/>
              <a:ext cx="624" cy="288"/>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pPr algn="ctr"/>
              <a:r>
                <a:rPr lang="en-US" altLang="en-US"/>
                <a:t>Worker</a:t>
              </a:r>
            </a:p>
          </p:txBody>
        </p:sp>
        <p:sp>
          <p:nvSpPr>
            <p:cNvPr id="85" name="Oval 8"/>
            <p:cNvSpPr>
              <a:spLocks noChangeArrowheads="1"/>
            </p:cNvSpPr>
            <p:nvPr/>
          </p:nvSpPr>
          <p:spPr bwMode="auto">
            <a:xfrm>
              <a:off x="1248" y="3408"/>
              <a:ext cx="624" cy="288"/>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pPr algn="ctr"/>
              <a:r>
                <a:rPr lang="en-US" altLang="en-US"/>
                <a:t>Worker</a:t>
              </a:r>
            </a:p>
          </p:txBody>
        </p:sp>
      </p:grpSp>
      <p:grpSp>
        <p:nvGrpSpPr>
          <p:cNvPr id="91" name="Group 46"/>
          <p:cNvGrpSpPr>
            <a:grpSpLocks/>
          </p:cNvGrpSpPr>
          <p:nvPr/>
        </p:nvGrpSpPr>
        <p:grpSpPr bwMode="auto">
          <a:xfrm>
            <a:off x="2590800" y="2810148"/>
            <a:ext cx="914400" cy="1676400"/>
            <a:chOff x="672" y="2496"/>
            <a:chExt cx="576" cy="1056"/>
          </a:xfrm>
        </p:grpSpPr>
        <p:sp>
          <p:nvSpPr>
            <p:cNvPr id="92" name="Line 42"/>
            <p:cNvSpPr>
              <a:spLocks noChangeShapeType="1"/>
            </p:cNvSpPr>
            <p:nvPr/>
          </p:nvSpPr>
          <p:spPr bwMode="auto">
            <a:xfrm flipV="1">
              <a:off x="672" y="2496"/>
              <a:ext cx="576" cy="3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3" name="Line 43"/>
            <p:cNvSpPr>
              <a:spLocks noChangeShapeType="1"/>
            </p:cNvSpPr>
            <p:nvPr/>
          </p:nvSpPr>
          <p:spPr bwMode="auto">
            <a:xfrm>
              <a:off x="672" y="3024"/>
              <a:ext cx="57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4" name="Line 44"/>
            <p:cNvSpPr>
              <a:spLocks noChangeShapeType="1"/>
            </p:cNvSpPr>
            <p:nvPr/>
          </p:nvSpPr>
          <p:spPr bwMode="auto">
            <a:xfrm>
              <a:off x="672" y="3216"/>
              <a:ext cx="576" cy="3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5" name="Text Box 45"/>
            <p:cNvSpPr txBox="1">
              <a:spLocks noChangeArrowheads="1"/>
            </p:cNvSpPr>
            <p:nvPr/>
          </p:nvSpPr>
          <p:spPr bwMode="auto">
            <a:xfrm>
              <a:off x="672" y="2784"/>
              <a:ext cx="43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r>
                <a:rPr lang="en-US" altLang="en-US"/>
                <a:t>read</a:t>
              </a:r>
            </a:p>
          </p:txBody>
        </p:sp>
      </p:grpSp>
      <p:grpSp>
        <p:nvGrpSpPr>
          <p:cNvPr id="96" name="Group 51"/>
          <p:cNvGrpSpPr>
            <a:grpSpLocks/>
          </p:cNvGrpSpPr>
          <p:nvPr/>
        </p:nvGrpSpPr>
        <p:grpSpPr bwMode="auto">
          <a:xfrm>
            <a:off x="4495800" y="2581548"/>
            <a:ext cx="1600200" cy="2133600"/>
            <a:chOff x="1872" y="2352"/>
            <a:chExt cx="1008" cy="1344"/>
          </a:xfrm>
        </p:grpSpPr>
        <p:grpSp>
          <p:nvGrpSpPr>
            <p:cNvPr id="97" name="Group 16"/>
            <p:cNvGrpSpPr>
              <a:grpSpLocks/>
            </p:cNvGrpSpPr>
            <p:nvPr/>
          </p:nvGrpSpPr>
          <p:grpSpPr bwMode="auto">
            <a:xfrm>
              <a:off x="2592" y="2352"/>
              <a:ext cx="288" cy="288"/>
              <a:chOff x="2640" y="2160"/>
              <a:chExt cx="288" cy="288"/>
            </a:xfrm>
          </p:grpSpPr>
          <p:sp>
            <p:nvSpPr>
              <p:cNvPr id="108" name="Rectangle 14"/>
              <p:cNvSpPr>
                <a:spLocks noChangeArrowheads="1"/>
              </p:cNvSpPr>
              <p:nvPr/>
            </p:nvSpPr>
            <p:spPr bwMode="auto">
              <a:xfrm>
                <a:off x="2640" y="2160"/>
                <a:ext cx="144" cy="288"/>
              </a:xfrm>
              <a:prstGeom prst="rect">
                <a:avLst/>
              </a:prstGeom>
              <a:solidFill>
                <a:srgbClr val="FF5050"/>
              </a:solidFill>
              <a:ln w="9525">
                <a:solidFill>
                  <a:schemeClr val="tx1"/>
                </a:solidFill>
                <a:miter lim="800000"/>
                <a:headEnd/>
                <a:tailEnd/>
              </a:ln>
            </p:spPr>
            <p:txBody>
              <a:bodyPr wrap="none" anchor="ct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endParaRPr lang="en-US" altLang="en-US"/>
              </a:p>
            </p:txBody>
          </p:sp>
          <p:sp>
            <p:nvSpPr>
              <p:cNvPr id="109" name="Rectangle 15"/>
              <p:cNvSpPr>
                <a:spLocks noChangeArrowheads="1"/>
              </p:cNvSpPr>
              <p:nvPr/>
            </p:nvSpPr>
            <p:spPr bwMode="auto">
              <a:xfrm>
                <a:off x="2784" y="2160"/>
                <a:ext cx="144" cy="288"/>
              </a:xfrm>
              <a:prstGeom prst="rect">
                <a:avLst/>
              </a:prstGeom>
              <a:solidFill>
                <a:srgbClr val="FF5050"/>
              </a:solidFill>
              <a:ln w="9525">
                <a:solidFill>
                  <a:schemeClr val="tx1"/>
                </a:solidFill>
                <a:miter lim="800000"/>
                <a:headEnd/>
                <a:tailEnd/>
              </a:ln>
            </p:spPr>
            <p:txBody>
              <a:bodyPr wrap="none" anchor="ct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endParaRPr lang="en-US" altLang="en-US"/>
              </a:p>
            </p:txBody>
          </p:sp>
        </p:grpSp>
        <p:grpSp>
          <p:nvGrpSpPr>
            <p:cNvPr id="98" name="Group 17"/>
            <p:cNvGrpSpPr>
              <a:grpSpLocks/>
            </p:cNvGrpSpPr>
            <p:nvPr/>
          </p:nvGrpSpPr>
          <p:grpSpPr bwMode="auto">
            <a:xfrm>
              <a:off x="2592" y="2880"/>
              <a:ext cx="288" cy="288"/>
              <a:chOff x="2640" y="2160"/>
              <a:chExt cx="288" cy="288"/>
            </a:xfrm>
          </p:grpSpPr>
          <p:sp>
            <p:nvSpPr>
              <p:cNvPr id="106" name="Rectangle 18"/>
              <p:cNvSpPr>
                <a:spLocks noChangeArrowheads="1"/>
              </p:cNvSpPr>
              <p:nvPr/>
            </p:nvSpPr>
            <p:spPr bwMode="auto">
              <a:xfrm>
                <a:off x="2640" y="2160"/>
                <a:ext cx="144" cy="288"/>
              </a:xfrm>
              <a:prstGeom prst="rect">
                <a:avLst/>
              </a:prstGeom>
              <a:solidFill>
                <a:srgbClr val="FF5050"/>
              </a:solidFill>
              <a:ln w="9525">
                <a:solidFill>
                  <a:schemeClr val="tx1"/>
                </a:solidFill>
                <a:miter lim="800000"/>
                <a:headEnd/>
                <a:tailEnd/>
              </a:ln>
            </p:spPr>
            <p:txBody>
              <a:bodyPr wrap="none" anchor="ct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endParaRPr lang="en-US" altLang="en-US"/>
              </a:p>
            </p:txBody>
          </p:sp>
          <p:sp>
            <p:nvSpPr>
              <p:cNvPr id="107" name="Rectangle 19"/>
              <p:cNvSpPr>
                <a:spLocks noChangeArrowheads="1"/>
              </p:cNvSpPr>
              <p:nvPr/>
            </p:nvSpPr>
            <p:spPr bwMode="auto">
              <a:xfrm>
                <a:off x="2784" y="2160"/>
                <a:ext cx="144" cy="288"/>
              </a:xfrm>
              <a:prstGeom prst="rect">
                <a:avLst/>
              </a:prstGeom>
              <a:solidFill>
                <a:srgbClr val="FF5050"/>
              </a:solidFill>
              <a:ln w="9525">
                <a:solidFill>
                  <a:schemeClr val="tx1"/>
                </a:solidFill>
                <a:miter lim="800000"/>
                <a:headEnd/>
                <a:tailEnd/>
              </a:ln>
            </p:spPr>
            <p:txBody>
              <a:bodyPr wrap="none" anchor="ct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endParaRPr lang="en-US" altLang="en-US"/>
              </a:p>
            </p:txBody>
          </p:sp>
        </p:grpSp>
        <p:grpSp>
          <p:nvGrpSpPr>
            <p:cNvPr id="99" name="Group 20"/>
            <p:cNvGrpSpPr>
              <a:grpSpLocks/>
            </p:cNvGrpSpPr>
            <p:nvPr/>
          </p:nvGrpSpPr>
          <p:grpSpPr bwMode="auto">
            <a:xfrm>
              <a:off x="2592" y="3408"/>
              <a:ext cx="288" cy="288"/>
              <a:chOff x="2640" y="2160"/>
              <a:chExt cx="288" cy="288"/>
            </a:xfrm>
          </p:grpSpPr>
          <p:sp>
            <p:nvSpPr>
              <p:cNvPr id="104" name="Rectangle 21"/>
              <p:cNvSpPr>
                <a:spLocks noChangeArrowheads="1"/>
              </p:cNvSpPr>
              <p:nvPr/>
            </p:nvSpPr>
            <p:spPr bwMode="auto">
              <a:xfrm>
                <a:off x="2640" y="2160"/>
                <a:ext cx="144" cy="288"/>
              </a:xfrm>
              <a:prstGeom prst="rect">
                <a:avLst/>
              </a:prstGeom>
              <a:solidFill>
                <a:srgbClr val="FF5050"/>
              </a:solidFill>
              <a:ln w="9525">
                <a:solidFill>
                  <a:schemeClr val="tx1"/>
                </a:solidFill>
                <a:miter lim="800000"/>
                <a:headEnd/>
                <a:tailEnd/>
              </a:ln>
            </p:spPr>
            <p:txBody>
              <a:bodyPr wrap="none" anchor="ct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endParaRPr lang="en-US" altLang="en-US"/>
              </a:p>
            </p:txBody>
          </p:sp>
          <p:sp>
            <p:nvSpPr>
              <p:cNvPr id="105" name="Rectangle 22"/>
              <p:cNvSpPr>
                <a:spLocks noChangeArrowheads="1"/>
              </p:cNvSpPr>
              <p:nvPr/>
            </p:nvSpPr>
            <p:spPr bwMode="auto">
              <a:xfrm>
                <a:off x="2784" y="2160"/>
                <a:ext cx="144" cy="288"/>
              </a:xfrm>
              <a:prstGeom prst="rect">
                <a:avLst/>
              </a:prstGeom>
              <a:solidFill>
                <a:srgbClr val="FF5050"/>
              </a:solidFill>
              <a:ln w="9525">
                <a:solidFill>
                  <a:schemeClr val="tx1"/>
                </a:solidFill>
                <a:miter lim="800000"/>
                <a:headEnd/>
                <a:tailEnd/>
              </a:ln>
            </p:spPr>
            <p:txBody>
              <a:bodyPr wrap="none" anchor="ct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endParaRPr lang="en-US" altLang="en-US"/>
              </a:p>
            </p:txBody>
          </p:sp>
        </p:grpSp>
        <p:sp>
          <p:nvSpPr>
            <p:cNvPr id="100" name="Line 47"/>
            <p:cNvSpPr>
              <a:spLocks noChangeShapeType="1"/>
            </p:cNvSpPr>
            <p:nvPr/>
          </p:nvSpPr>
          <p:spPr bwMode="auto">
            <a:xfrm>
              <a:off x="1872" y="2496"/>
              <a:ext cx="72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1" name="Line 48"/>
            <p:cNvSpPr>
              <a:spLocks noChangeShapeType="1"/>
            </p:cNvSpPr>
            <p:nvPr/>
          </p:nvSpPr>
          <p:spPr bwMode="auto">
            <a:xfrm>
              <a:off x="1872" y="3024"/>
              <a:ext cx="72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2" name="Line 49"/>
            <p:cNvSpPr>
              <a:spLocks noChangeShapeType="1"/>
            </p:cNvSpPr>
            <p:nvPr/>
          </p:nvSpPr>
          <p:spPr bwMode="auto">
            <a:xfrm>
              <a:off x="1872" y="3552"/>
              <a:ext cx="72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3" name="Text Box 50"/>
            <p:cNvSpPr txBox="1">
              <a:spLocks noChangeArrowheads="1"/>
            </p:cNvSpPr>
            <p:nvPr/>
          </p:nvSpPr>
          <p:spPr bwMode="auto">
            <a:xfrm>
              <a:off x="1970" y="2620"/>
              <a:ext cx="482"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r>
                <a:rPr lang="en-US" altLang="en-US" sz="1600" dirty="0"/>
                <a:t>local</a:t>
              </a:r>
              <a:endParaRPr lang="en-US" altLang="en-US" dirty="0"/>
            </a:p>
            <a:p>
              <a:r>
                <a:rPr lang="en-US" altLang="en-US" dirty="0"/>
                <a:t>write</a:t>
              </a:r>
            </a:p>
          </p:txBody>
        </p:sp>
      </p:grpSp>
      <p:grpSp>
        <p:nvGrpSpPr>
          <p:cNvPr id="110" name="Group 59"/>
          <p:cNvGrpSpPr>
            <a:grpSpLocks/>
          </p:cNvGrpSpPr>
          <p:nvPr/>
        </p:nvGrpSpPr>
        <p:grpSpPr bwMode="auto">
          <a:xfrm>
            <a:off x="6096000" y="2810148"/>
            <a:ext cx="1074738" cy="2416175"/>
            <a:chOff x="2880" y="2496"/>
            <a:chExt cx="677" cy="1522"/>
          </a:xfrm>
        </p:grpSpPr>
        <p:sp>
          <p:nvSpPr>
            <p:cNvPr id="111" name="Line 52"/>
            <p:cNvSpPr>
              <a:spLocks noChangeShapeType="1"/>
            </p:cNvSpPr>
            <p:nvPr/>
          </p:nvSpPr>
          <p:spPr bwMode="auto">
            <a:xfrm>
              <a:off x="2880" y="2496"/>
              <a:ext cx="672"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2" name="Line 53"/>
            <p:cNvSpPr>
              <a:spLocks noChangeShapeType="1"/>
            </p:cNvSpPr>
            <p:nvPr/>
          </p:nvSpPr>
          <p:spPr bwMode="auto">
            <a:xfrm>
              <a:off x="2880" y="2496"/>
              <a:ext cx="672" cy="81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3" name="Line 54"/>
            <p:cNvSpPr>
              <a:spLocks noChangeShapeType="1"/>
            </p:cNvSpPr>
            <p:nvPr/>
          </p:nvSpPr>
          <p:spPr bwMode="auto">
            <a:xfrm flipV="1">
              <a:off x="2880" y="2688"/>
              <a:ext cx="672" cy="3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4" name="Line 55"/>
            <p:cNvSpPr>
              <a:spLocks noChangeShapeType="1"/>
            </p:cNvSpPr>
            <p:nvPr/>
          </p:nvSpPr>
          <p:spPr bwMode="auto">
            <a:xfrm>
              <a:off x="2880" y="3024"/>
              <a:ext cx="672"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5" name="Line 56"/>
            <p:cNvSpPr>
              <a:spLocks noChangeShapeType="1"/>
            </p:cNvSpPr>
            <p:nvPr/>
          </p:nvSpPr>
          <p:spPr bwMode="auto">
            <a:xfrm flipV="1">
              <a:off x="2880" y="2736"/>
              <a:ext cx="672" cy="81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6" name="Line 57"/>
            <p:cNvSpPr>
              <a:spLocks noChangeShapeType="1"/>
            </p:cNvSpPr>
            <p:nvPr/>
          </p:nvSpPr>
          <p:spPr bwMode="auto">
            <a:xfrm flipV="1">
              <a:off x="2880" y="3312"/>
              <a:ext cx="672"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7" name="Text Box 58"/>
            <p:cNvSpPr txBox="1">
              <a:spLocks noChangeArrowheads="1"/>
            </p:cNvSpPr>
            <p:nvPr/>
          </p:nvSpPr>
          <p:spPr bwMode="auto">
            <a:xfrm>
              <a:off x="2976" y="3456"/>
              <a:ext cx="581" cy="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r>
                <a:rPr lang="en-US" altLang="en-US" sz="1600" dirty="0"/>
                <a:t>remote</a:t>
              </a:r>
            </a:p>
            <a:p>
              <a:r>
                <a:rPr lang="en-US" altLang="en-US" sz="1600" dirty="0"/>
                <a:t>read</a:t>
              </a:r>
              <a:r>
                <a:rPr lang="en-US" altLang="en-US" dirty="0"/>
                <a:t>,</a:t>
              </a:r>
            </a:p>
            <a:p>
              <a:r>
                <a:rPr lang="en-US" altLang="en-US" dirty="0"/>
                <a:t>sort</a:t>
              </a:r>
            </a:p>
          </p:txBody>
        </p:sp>
      </p:grpSp>
      <p:grpSp>
        <p:nvGrpSpPr>
          <p:cNvPr id="118" name="Group 63"/>
          <p:cNvGrpSpPr>
            <a:grpSpLocks/>
          </p:cNvGrpSpPr>
          <p:nvPr/>
        </p:nvGrpSpPr>
        <p:grpSpPr bwMode="auto">
          <a:xfrm>
            <a:off x="8153400" y="2733948"/>
            <a:ext cx="1981200" cy="1600200"/>
            <a:chOff x="4176" y="2448"/>
            <a:chExt cx="1248" cy="1008"/>
          </a:xfrm>
        </p:grpSpPr>
        <p:sp>
          <p:nvSpPr>
            <p:cNvPr id="119" name="Rectangle 27"/>
            <p:cNvSpPr>
              <a:spLocks noChangeArrowheads="1"/>
            </p:cNvSpPr>
            <p:nvPr/>
          </p:nvSpPr>
          <p:spPr bwMode="auto">
            <a:xfrm>
              <a:off x="4848" y="2448"/>
              <a:ext cx="576" cy="384"/>
            </a:xfrm>
            <a:prstGeom prst="rect">
              <a:avLst/>
            </a:prstGeom>
            <a:solidFill>
              <a:srgbClr val="FF5050"/>
            </a:solidFill>
            <a:ln w="9525">
              <a:solidFill>
                <a:schemeClr val="tx1"/>
              </a:solidFill>
              <a:miter lim="800000"/>
              <a:headEnd/>
              <a:tailEnd/>
            </a:ln>
          </p:spPr>
          <p:txBody>
            <a:bodyPr wrap="none" anchor="ct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pPr algn="ctr"/>
              <a:r>
                <a:rPr lang="en-US" altLang="en-US"/>
                <a:t>Output</a:t>
              </a:r>
            </a:p>
            <a:p>
              <a:pPr algn="ctr"/>
              <a:r>
                <a:rPr lang="en-US" altLang="en-US"/>
                <a:t>File 0</a:t>
              </a:r>
            </a:p>
          </p:txBody>
        </p:sp>
        <p:sp>
          <p:nvSpPr>
            <p:cNvPr id="120" name="Rectangle 28"/>
            <p:cNvSpPr>
              <a:spLocks noChangeArrowheads="1"/>
            </p:cNvSpPr>
            <p:nvPr/>
          </p:nvSpPr>
          <p:spPr bwMode="auto">
            <a:xfrm>
              <a:off x="4848" y="3072"/>
              <a:ext cx="576" cy="384"/>
            </a:xfrm>
            <a:prstGeom prst="rect">
              <a:avLst/>
            </a:prstGeom>
            <a:solidFill>
              <a:srgbClr val="FF5050"/>
            </a:solidFill>
            <a:ln w="9525">
              <a:solidFill>
                <a:schemeClr val="tx1"/>
              </a:solidFill>
              <a:miter lim="800000"/>
              <a:headEnd/>
              <a:tailEnd/>
            </a:ln>
          </p:spPr>
          <p:txBody>
            <a:bodyPr wrap="none" anchor="ct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pPr algn="ctr"/>
              <a:r>
                <a:rPr lang="en-US" altLang="en-US"/>
                <a:t>Output</a:t>
              </a:r>
            </a:p>
            <a:p>
              <a:pPr algn="ctr"/>
              <a:r>
                <a:rPr lang="en-US" altLang="en-US"/>
                <a:t>File 1</a:t>
              </a:r>
            </a:p>
          </p:txBody>
        </p:sp>
        <p:sp>
          <p:nvSpPr>
            <p:cNvPr id="121" name="Line 60"/>
            <p:cNvSpPr>
              <a:spLocks noChangeShapeType="1"/>
            </p:cNvSpPr>
            <p:nvPr/>
          </p:nvSpPr>
          <p:spPr bwMode="auto">
            <a:xfrm>
              <a:off x="4176" y="2688"/>
              <a:ext cx="67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2" name="Line 61"/>
            <p:cNvSpPr>
              <a:spLocks noChangeShapeType="1"/>
            </p:cNvSpPr>
            <p:nvPr/>
          </p:nvSpPr>
          <p:spPr bwMode="auto">
            <a:xfrm>
              <a:off x="4176" y="3312"/>
              <a:ext cx="67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3" name="Text Box 62"/>
            <p:cNvSpPr txBox="1">
              <a:spLocks noChangeArrowheads="1"/>
            </p:cNvSpPr>
            <p:nvPr/>
          </p:nvSpPr>
          <p:spPr bwMode="auto">
            <a:xfrm>
              <a:off x="4214" y="2468"/>
              <a:ext cx="47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r>
                <a:rPr lang="en-US" altLang="en-US"/>
                <a:t>write</a:t>
              </a:r>
            </a:p>
          </p:txBody>
        </p:sp>
      </p:grpSp>
      <p:grpSp>
        <p:nvGrpSpPr>
          <p:cNvPr id="125" name="Group 64"/>
          <p:cNvGrpSpPr>
            <a:grpSpLocks/>
          </p:cNvGrpSpPr>
          <p:nvPr/>
        </p:nvGrpSpPr>
        <p:grpSpPr bwMode="auto">
          <a:xfrm>
            <a:off x="1752600" y="3191148"/>
            <a:ext cx="838200" cy="914400"/>
            <a:chOff x="144" y="2736"/>
            <a:chExt cx="528" cy="576"/>
          </a:xfrm>
        </p:grpSpPr>
        <p:sp>
          <p:nvSpPr>
            <p:cNvPr id="127" name="Rectangle 9"/>
            <p:cNvSpPr>
              <a:spLocks noChangeArrowheads="1"/>
            </p:cNvSpPr>
            <p:nvPr/>
          </p:nvSpPr>
          <p:spPr bwMode="auto">
            <a:xfrm>
              <a:off x="144" y="2736"/>
              <a:ext cx="528" cy="192"/>
            </a:xfrm>
            <a:prstGeom prst="rect">
              <a:avLst/>
            </a:prstGeom>
            <a:solidFill>
              <a:srgbClr val="FF5050"/>
            </a:solidFill>
            <a:ln w="9525">
              <a:solidFill>
                <a:schemeClr val="tx1"/>
              </a:solidFill>
              <a:miter lim="800000"/>
              <a:headEnd/>
              <a:tailEnd/>
            </a:ln>
          </p:spPr>
          <p:txBody>
            <a:bodyPr wrap="none" anchor="ct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pPr algn="ctr"/>
              <a:r>
                <a:rPr lang="en-US" altLang="en-US"/>
                <a:t>Split 0</a:t>
              </a:r>
            </a:p>
          </p:txBody>
        </p:sp>
        <p:sp>
          <p:nvSpPr>
            <p:cNvPr id="128" name="Rectangle 10"/>
            <p:cNvSpPr>
              <a:spLocks noChangeArrowheads="1"/>
            </p:cNvSpPr>
            <p:nvPr/>
          </p:nvSpPr>
          <p:spPr bwMode="auto">
            <a:xfrm>
              <a:off x="144" y="2928"/>
              <a:ext cx="528" cy="192"/>
            </a:xfrm>
            <a:prstGeom prst="rect">
              <a:avLst/>
            </a:prstGeom>
            <a:solidFill>
              <a:srgbClr val="FF5050"/>
            </a:solidFill>
            <a:ln w="9525">
              <a:solidFill>
                <a:schemeClr val="tx1"/>
              </a:solidFill>
              <a:miter lim="800000"/>
              <a:headEnd/>
              <a:tailEnd/>
            </a:ln>
          </p:spPr>
          <p:txBody>
            <a:bodyPr wrap="none" anchor="ct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pPr algn="ctr"/>
              <a:r>
                <a:rPr lang="en-US" altLang="en-US"/>
                <a:t>Split 1</a:t>
              </a:r>
            </a:p>
          </p:txBody>
        </p:sp>
        <p:sp>
          <p:nvSpPr>
            <p:cNvPr id="129" name="Rectangle 11"/>
            <p:cNvSpPr>
              <a:spLocks noChangeArrowheads="1"/>
            </p:cNvSpPr>
            <p:nvPr/>
          </p:nvSpPr>
          <p:spPr bwMode="auto">
            <a:xfrm>
              <a:off x="144" y="3120"/>
              <a:ext cx="528" cy="192"/>
            </a:xfrm>
            <a:prstGeom prst="rect">
              <a:avLst/>
            </a:prstGeom>
            <a:solidFill>
              <a:srgbClr val="FF5050"/>
            </a:solidFill>
            <a:ln w="9525">
              <a:solidFill>
                <a:schemeClr val="tx1"/>
              </a:solidFill>
              <a:miter lim="800000"/>
              <a:headEnd/>
              <a:tailEnd/>
            </a:ln>
          </p:spPr>
          <p:txBody>
            <a:bodyPr wrap="none" anchor="ct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pPr algn="ctr"/>
              <a:r>
                <a:rPr lang="en-US" altLang="en-US"/>
                <a:t>Split 2</a:t>
              </a:r>
            </a:p>
          </p:txBody>
        </p:sp>
      </p:grpSp>
      <p:sp>
        <p:nvSpPr>
          <p:cNvPr id="126" name="Text Box 69"/>
          <p:cNvSpPr txBox="1">
            <a:spLocks noChangeArrowheads="1"/>
          </p:cNvSpPr>
          <p:nvPr/>
        </p:nvSpPr>
        <p:spPr bwMode="auto">
          <a:xfrm>
            <a:off x="1458912" y="2060849"/>
            <a:ext cx="14239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r>
              <a:rPr lang="en-US" altLang="en-US" dirty="0"/>
              <a:t>Input Data</a:t>
            </a:r>
          </a:p>
        </p:txBody>
      </p:sp>
      <p:sp>
        <p:nvSpPr>
          <p:cNvPr id="131" name="Text Box 69"/>
          <p:cNvSpPr txBox="1">
            <a:spLocks noChangeArrowheads="1"/>
          </p:cNvSpPr>
          <p:nvPr/>
        </p:nvSpPr>
        <p:spPr bwMode="auto">
          <a:xfrm>
            <a:off x="8870954" y="2060848"/>
            <a:ext cx="16113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r>
              <a:rPr lang="en-US" altLang="en-US" dirty="0"/>
              <a:t>Output Data</a:t>
            </a:r>
          </a:p>
        </p:txBody>
      </p:sp>
      <p:sp>
        <p:nvSpPr>
          <p:cNvPr id="132" name="Rectangle 131"/>
          <p:cNvSpPr/>
          <p:nvPr/>
        </p:nvSpPr>
        <p:spPr>
          <a:xfrm>
            <a:off x="2778919" y="5226322"/>
            <a:ext cx="2443162" cy="1292662"/>
          </a:xfrm>
          <a:prstGeom prst="rect">
            <a:avLst/>
          </a:prstGeom>
        </p:spPr>
        <p:txBody>
          <a:bodyPr wrap="square">
            <a:spAutoFit/>
          </a:bodyPr>
          <a:lstStyle/>
          <a:p>
            <a:pPr algn="ctr"/>
            <a:r>
              <a:rPr lang="en-US" sz="2400" b="1" dirty="0">
                <a:solidFill>
                  <a:srgbClr val="FF0000"/>
                </a:solidFill>
              </a:rPr>
              <a:t>Map</a:t>
            </a:r>
            <a:endParaRPr lang="en-US" b="1" dirty="0"/>
          </a:p>
          <a:p>
            <a:pPr algn="ctr"/>
            <a:r>
              <a:rPr lang="en-US" dirty="0"/>
              <a:t>extract something you care about from each record</a:t>
            </a:r>
          </a:p>
        </p:txBody>
      </p:sp>
      <p:sp>
        <p:nvSpPr>
          <p:cNvPr id="134" name="Rectangle 133"/>
          <p:cNvSpPr/>
          <p:nvPr/>
        </p:nvSpPr>
        <p:spPr>
          <a:xfrm>
            <a:off x="6753852" y="5226322"/>
            <a:ext cx="1808496" cy="1292662"/>
          </a:xfrm>
          <a:prstGeom prst="rect">
            <a:avLst/>
          </a:prstGeom>
        </p:spPr>
        <p:txBody>
          <a:bodyPr wrap="square">
            <a:spAutoFit/>
          </a:bodyPr>
          <a:lstStyle/>
          <a:p>
            <a:pPr algn="ctr"/>
            <a:r>
              <a:rPr lang="en-US" sz="2400" b="1" dirty="0">
                <a:solidFill>
                  <a:srgbClr val="FF0000"/>
                </a:solidFill>
              </a:rPr>
              <a:t>Reduce</a:t>
            </a:r>
            <a:r>
              <a:rPr lang="en-US" sz="2400" dirty="0">
                <a:solidFill>
                  <a:srgbClr val="FF0000"/>
                </a:solidFill>
              </a:rPr>
              <a:t> </a:t>
            </a:r>
            <a:r>
              <a:rPr lang="en-US" dirty="0"/>
              <a:t>aggregate, summarize, filter, or transform</a:t>
            </a:r>
          </a:p>
        </p:txBody>
      </p:sp>
    </p:spTree>
    <p:extLst>
      <p:ext uri="{BB962C8B-B14F-4D97-AF65-F5344CB8AC3E}">
        <p14:creationId xmlns:p14="http://schemas.microsoft.com/office/powerpoint/2010/main" val="1550609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1"/>
                                        </p:tgtEl>
                                        <p:attrNameLst>
                                          <p:attrName>style.visibility</p:attrName>
                                        </p:attrNameLst>
                                      </p:cBhvr>
                                      <p:to>
                                        <p:strVal val="visible"/>
                                      </p:to>
                                    </p:set>
                                    <p:animEffect transition="in" filter="dissolve">
                                      <p:cBhvr>
                                        <p:cTn id="7" dur="500"/>
                                        <p:tgtEl>
                                          <p:spTgt spid="91"/>
                                        </p:tgtEl>
                                      </p:cBhvr>
                                    </p:animEffect>
                                  </p:childTnLst>
                                </p:cTn>
                              </p:par>
                              <p:par>
                                <p:cTn id="8" presetID="1" presetClass="entr" presetSubtype="0" fill="hold" nodeType="withEffect">
                                  <p:stCondLst>
                                    <p:cond delay="0"/>
                                  </p:stCondLst>
                                  <p:childTnLst>
                                    <p:set>
                                      <p:cBhvr>
                                        <p:cTn id="9" dur="1" fill="hold">
                                          <p:stCondLst>
                                            <p:cond delay="0"/>
                                          </p:stCondLst>
                                        </p:cTn>
                                        <p:tgtEl>
                                          <p:spTgt spid="75"/>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11" dur="1" fill="hold">
                                          <p:stCondLst>
                                            <p:cond delay="0"/>
                                          </p:stCondLst>
                                        </p:cTn>
                                        <p:tgtEl>
                                          <p:spTgt spid="13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9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110"/>
                                        </p:tgtEl>
                                        <p:attrNameLst>
                                          <p:attrName>style.visibility</p:attrName>
                                        </p:attrNameLst>
                                      </p:cBhvr>
                                      <p:to>
                                        <p:strVal val="visible"/>
                                      </p:to>
                                    </p:set>
                                    <p:animEffect transition="in" filter="dissolve">
                                      <p:cBhvr>
                                        <p:cTn id="20" dur="500"/>
                                        <p:tgtEl>
                                          <p:spTgt spid="110"/>
                                        </p:tgtEl>
                                      </p:cBhvr>
                                    </p:animEffect>
                                  </p:childTnLst>
                                </p:cTn>
                              </p:par>
                              <p:par>
                                <p:cTn id="21" presetID="1" presetClass="entr" presetSubtype="0" fill="hold" grpId="0" nodeType="withEffect">
                                  <p:stCondLst>
                                    <p:cond delay="0"/>
                                  </p:stCondLst>
                                  <p:childTnLst>
                                    <p:set>
                                      <p:cBhvr>
                                        <p:cTn id="22" dur="1" fill="hold">
                                          <p:stCondLst>
                                            <p:cond delay="0"/>
                                          </p:stCondLst>
                                        </p:cTn>
                                        <p:tgtEl>
                                          <p:spTgt spid="13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118"/>
                                        </p:tgtEl>
                                        <p:attrNameLst>
                                          <p:attrName>style.visibility</p:attrName>
                                        </p:attrNameLst>
                                      </p:cBhvr>
                                      <p:to>
                                        <p:strVal val="visible"/>
                                      </p:to>
                                    </p:set>
                                    <p:animEffect transition="in" filter="dissolve">
                                      <p:cBhvr>
                                        <p:cTn id="29" dur="500"/>
                                        <p:tgtEl>
                                          <p:spTgt spid="11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31"/>
                                        </p:tgtEl>
                                        <p:attrNameLst>
                                          <p:attrName>style.visibility</p:attrName>
                                        </p:attrNameLst>
                                      </p:cBhvr>
                                      <p:to>
                                        <p:strVal val="visible"/>
                                      </p:to>
                                    </p:set>
                                    <p:animEffect transition="in" filter="fade">
                                      <p:cBhvr>
                                        <p:cTn id="32" dur="500"/>
                                        <p:tgtEl>
                                          <p:spTgt spid="1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 grpId="0"/>
      <p:bldP spid="132" grpId="0"/>
      <p:bldP spid="134" grpId="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000" b="1" dirty="0"/>
              <a:t>MapReduce Architecture</a:t>
            </a:r>
          </a:p>
          <a:p>
            <a:pPr>
              <a:lnSpc>
                <a:spcPct val="150000"/>
              </a:lnSpc>
            </a:pPr>
            <a:r>
              <a:rPr lang="en-US" sz="2400" b="1" dirty="0"/>
              <a:t>Input Phase</a:t>
            </a:r>
            <a:r>
              <a:rPr lang="en-US" sz="2400" dirty="0"/>
              <a:t> − Here we have a Record Reader that translates each record in an input file and sends the parsed data to the mapper in the form of key-value pairs.</a:t>
            </a:r>
          </a:p>
          <a:p>
            <a:pPr>
              <a:lnSpc>
                <a:spcPct val="150000"/>
              </a:lnSpc>
            </a:pPr>
            <a:r>
              <a:rPr lang="en-US" sz="2400" b="1" dirty="0"/>
              <a:t>Map</a:t>
            </a:r>
            <a:r>
              <a:rPr lang="en-US" sz="2400" dirty="0"/>
              <a:t> − Map is a user-defined function, which takes a series of key-value pairs and processes each one of them to generate zero or more key-value pairs.</a:t>
            </a:r>
          </a:p>
          <a:p>
            <a:br>
              <a:rPr lang="en-US" sz="2400" dirty="0"/>
            </a:b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13</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6" name="Rounded Rectangle 5">
            <a:extLst>
              <a:ext uri="{FF2B5EF4-FFF2-40B4-BE49-F238E27FC236}">
                <a16:creationId xmlns:a16="http://schemas.microsoft.com/office/drawing/2014/main" id="{CDD13228-D798-A543-9CF3-83A10A6F83A8}"/>
              </a:ext>
            </a:extLst>
          </p:cNvPr>
          <p:cNvSpPr/>
          <p:nvPr/>
        </p:nvSpPr>
        <p:spPr>
          <a:xfrm>
            <a:off x="2777067" y="3623741"/>
            <a:ext cx="1134533" cy="4656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Input</a:t>
            </a:r>
          </a:p>
        </p:txBody>
      </p:sp>
      <p:sp>
        <p:nvSpPr>
          <p:cNvPr id="7" name="Rounded Rectangle 6">
            <a:extLst>
              <a:ext uri="{FF2B5EF4-FFF2-40B4-BE49-F238E27FC236}">
                <a16:creationId xmlns:a16="http://schemas.microsoft.com/office/drawing/2014/main" id="{264630C5-F7F6-644E-A3A3-6C5BE2751DA9}"/>
              </a:ext>
            </a:extLst>
          </p:cNvPr>
          <p:cNvSpPr/>
          <p:nvPr/>
        </p:nvSpPr>
        <p:spPr>
          <a:xfrm>
            <a:off x="4038600" y="3623740"/>
            <a:ext cx="1134533" cy="4656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Input</a:t>
            </a:r>
          </a:p>
        </p:txBody>
      </p:sp>
      <p:sp>
        <p:nvSpPr>
          <p:cNvPr id="8" name="Rounded Rectangle 7">
            <a:extLst>
              <a:ext uri="{FF2B5EF4-FFF2-40B4-BE49-F238E27FC236}">
                <a16:creationId xmlns:a16="http://schemas.microsoft.com/office/drawing/2014/main" id="{9ABFA56E-6EF8-8046-B5E4-CA1FB2E395A6}"/>
              </a:ext>
            </a:extLst>
          </p:cNvPr>
          <p:cNvSpPr/>
          <p:nvPr/>
        </p:nvSpPr>
        <p:spPr>
          <a:xfrm>
            <a:off x="5300133" y="3623739"/>
            <a:ext cx="1134533" cy="4656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Input</a:t>
            </a:r>
          </a:p>
        </p:txBody>
      </p:sp>
      <p:sp>
        <p:nvSpPr>
          <p:cNvPr id="9" name="Rounded Rectangle 8">
            <a:extLst>
              <a:ext uri="{FF2B5EF4-FFF2-40B4-BE49-F238E27FC236}">
                <a16:creationId xmlns:a16="http://schemas.microsoft.com/office/drawing/2014/main" id="{5A37C5B1-41B1-814D-9968-562351759BC4}"/>
              </a:ext>
            </a:extLst>
          </p:cNvPr>
          <p:cNvSpPr/>
          <p:nvPr/>
        </p:nvSpPr>
        <p:spPr>
          <a:xfrm>
            <a:off x="6595533" y="3623739"/>
            <a:ext cx="1134533" cy="4656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Input</a:t>
            </a:r>
          </a:p>
        </p:txBody>
      </p:sp>
      <p:sp>
        <p:nvSpPr>
          <p:cNvPr id="10" name="Rounded Rectangle 9">
            <a:extLst>
              <a:ext uri="{FF2B5EF4-FFF2-40B4-BE49-F238E27FC236}">
                <a16:creationId xmlns:a16="http://schemas.microsoft.com/office/drawing/2014/main" id="{F83D2799-5FAD-704B-ADB5-56D01C7DB85F}"/>
              </a:ext>
            </a:extLst>
          </p:cNvPr>
          <p:cNvSpPr/>
          <p:nvPr/>
        </p:nvSpPr>
        <p:spPr>
          <a:xfrm>
            <a:off x="7950199" y="3623739"/>
            <a:ext cx="1134533" cy="4656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Input</a:t>
            </a:r>
          </a:p>
        </p:txBody>
      </p:sp>
      <p:cxnSp>
        <p:nvCxnSpPr>
          <p:cNvPr id="11" name="Straight Arrow Connector 10">
            <a:extLst>
              <a:ext uri="{FF2B5EF4-FFF2-40B4-BE49-F238E27FC236}">
                <a16:creationId xmlns:a16="http://schemas.microsoft.com/office/drawing/2014/main" id="{EFD7DBEC-8DCC-B445-BA8A-08C4D9AE8B69}"/>
              </a:ext>
            </a:extLst>
          </p:cNvPr>
          <p:cNvCxnSpPr/>
          <p:nvPr/>
        </p:nvCxnSpPr>
        <p:spPr>
          <a:xfrm>
            <a:off x="3344333" y="4089406"/>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4C502997-222F-EC4F-8345-8BFABC85A89E}"/>
              </a:ext>
            </a:extLst>
          </p:cNvPr>
          <p:cNvSpPr/>
          <p:nvPr/>
        </p:nvSpPr>
        <p:spPr>
          <a:xfrm>
            <a:off x="2891368" y="4529675"/>
            <a:ext cx="905929" cy="770466"/>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Map</a:t>
            </a:r>
          </a:p>
        </p:txBody>
      </p:sp>
      <p:cxnSp>
        <p:nvCxnSpPr>
          <p:cNvPr id="13" name="Straight Arrow Connector 12">
            <a:extLst>
              <a:ext uri="{FF2B5EF4-FFF2-40B4-BE49-F238E27FC236}">
                <a16:creationId xmlns:a16="http://schemas.microsoft.com/office/drawing/2014/main" id="{E1398C68-0BE3-C541-B49C-AB26A5F1BA29}"/>
              </a:ext>
            </a:extLst>
          </p:cNvPr>
          <p:cNvCxnSpPr/>
          <p:nvPr/>
        </p:nvCxnSpPr>
        <p:spPr>
          <a:xfrm>
            <a:off x="4580466" y="4089406"/>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4A85AFA8-2BD4-2C43-B0A8-FF3D11B9AAB1}"/>
              </a:ext>
            </a:extLst>
          </p:cNvPr>
          <p:cNvSpPr/>
          <p:nvPr/>
        </p:nvSpPr>
        <p:spPr>
          <a:xfrm>
            <a:off x="4127501" y="4529675"/>
            <a:ext cx="905929" cy="770466"/>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Map</a:t>
            </a:r>
          </a:p>
        </p:txBody>
      </p:sp>
      <p:cxnSp>
        <p:nvCxnSpPr>
          <p:cNvPr id="15" name="Straight Arrow Connector 14">
            <a:extLst>
              <a:ext uri="{FF2B5EF4-FFF2-40B4-BE49-F238E27FC236}">
                <a16:creationId xmlns:a16="http://schemas.microsoft.com/office/drawing/2014/main" id="{AB82AAC2-459F-594D-8047-9B31C2DAA613}"/>
              </a:ext>
            </a:extLst>
          </p:cNvPr>
          <p:cNvCxnSpPr/>
          <p:nvPr/>
        </p:nvCxnSpPr>
        <p:spPr>
          <a:xfrm>
            <a:off x="5837768" y="4089406"/>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D4D8879A-972D-6240-BCB9-E4894468C637}"/>
              </a:ext>
            </a:extLst>
          </p:cNvPr>
          <p:cNvSpPr/>
          <p:nvPr/>
        </p:nvSpPr>
        <p:spPr>
          <a:xfrm>
            <a:off x="5384803" y="4529675"/>
            <a:ext cx="905929" cy="770466"/>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Map</a:t>
            </a:r>
          </a:p>
        </p:txBody>
      </p:sp>
      <p:cxnSp>
        <p:nvCxnSpPr>
          <p:cNvPr id="17" name="Straight Arrow Connector 16">
            <a:extLst>
              <a:ext uri="{FF2B5EF4-FFF2-40B4-BE49-F238E27FC236}">
                <a16:creationId xmlns:a16="http://schemas.microsoft.com/office/drawing/2014/main" id="{80401179-7AEC-8141-8D23-60F060DA6DC8}"/>
              </a:ext>
            </a:extLst>
          </p:cNvPr>
          <p:cNvCxnSpPr/>
          <p:nvPr/>
        </p:nvCxnSpPr>
        <p:spPr>
          <a:xfrm>
            <a:off x="7215716" y="4089406"/>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A5EA08D9-672F-9F47-B02D-DA93ECE026FD}"/>
              </a:ext>
            </a:extLst>
          </p:cNvPr>
          <p:cNvSpPr/>
          <p:nvPr/>
        </p:nvSpPr>
        <p:spPr>
          <a:xfrm>
            <a:off x="6762751" y="4529675"/>
            <a:ext cx="905929" cy="770466"/>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Map</a:t>
            </a:r>
          </a:p>
        </p:txBody>
      </p:sp>
      <p:cxnSp>
        <p:nvCxnSpPr>
          <p:cNvPr id="19" name="Straight Arrow Connector 18">
            <a:extLst>
              <a:ext uri="{FF2B5EF4-FFF2-40B4-BE49-F238E27FC236}">
                <a16:creationId xmlns:a16="http://schemas.microsoft.com/office/drawing/2014/main" id="{4830161A-BD35-2940-8069-582A45ACC441}"/>
              </a:ext>
            </a:extLst>
          </p:cNvPr>
          <p:cNvCxnSpPr/>
          <p:nvPr/>
        </p:nvCxnSpPr>
        <p:spPr>
          <a:xfrm>
            <a:off x="8572492" y="4089406"/>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636C9BC6-EEBF-484F-B51A-0E92639A43C1}"/>
              </a:ext>
            </a:extLst>
          </p:cNvPr>
          <p:cNvSpPr/>
          <p:nvPr/>
        </p:nvSpPr>
        <p:spPr>
          <a:xfrm>
            <a:off x="8119527" y="4529675"/>
            <a:ext cx="905929" cy="770466"/>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Map</a:t>
            </a:r>
          </a:p>
        </p:txBody>
      </p:sp>
    </p:spTree>
    <p:extLst>
      <p:ext uri="{BB962C8B-B14F-4D97-AF65-F5344CB8AC3E}">
        <p14:creationId xmlns:p14="http://schemas.microsoft.com/office/powerpoint/2010/main" val="2169052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anim calcmode="lin" valueType="num">
                                      <p:cBhvr additive="base">
                                        <p:cTn id="13"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anim calcmode="lin" valueType="num">
                                      <p:cBhvr additive="base">
                                        <p:cTn id="19"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2" end="2"/>
                                            </p:txEl>
                                          </p:spTgt>
                                        </p:tgtEl>
                                        <p:attrNameLst>
                                          <p:attrName>style.visibility</p:attrName>
                                        </p:attrNameLst>
                                      </p:cBhvr>
                                      <p:to>
                                        <p:strVal val="visible"/>
                                      </p:to>
                                    </p:set>
                                    <p:anim calcmode="lin" valueType="num">
                                      <p:cBhvr additive="base">
                                        <p:cTn id="25"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000" b="1" dirty="0"/>
              <a:t>MapReduce Architecture</a:t>
            </a:r>
          </a:p>
          <a:p>
            <a:r>
              <a:rPr lang="en-US" sz="2400" b="1" dirty="0"/>
              <a:t>Intermediate Keys</a:t>
            </a:r>
            <a:r>
              <a:rPr lang="en-US" sz="2400" dirty="0"/>
              <a:t> − They key-value pairs generated by the mapper are known as intermediate keys.</a:t>
            </a:r>
          </a:p>
          <a:p>
            <a:r>
              <a:rPr lang="en-US" sz="2400" b="1" dirty="0"/>
              <a:t>Combiner (Optional)</a:t>
            </a:r>
            <a:r>
              <a:rPr lang="en-US" sz="2400" dirty="0"/>
              <a:t> − A combiner is a type of local Reducer that groups similar data from the map phase into identifiable sets. </a:t>
            </a:r>
          </a:p>
          <a:p>
            <a:br>
              <a:rPr lang="en-US" sz="2400" dirty="0"/>
            </a:b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14</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6" name="Rounded Rectangle 5">
            <a:extLst>
              <a:ext uri="{FF2B5EF4-FFF2-40B4-BE49-F238E27FC236}">
                <a16:creationId xmlns:a16="http://schemas.microsoft.com/office/drawing/2014/main" id="{CDD13228-D798-A543-9CF3-83A10A6F83A8}"/>
              </a:ext>
            </a:extLst>
          </p:cNvPr>
          <p:cNvSpPr/>
          <p:nvPr/>
        </p:nvSpPr>
        <p:spPr>
          <a:xfrm>
            <a:off x="2777067" y="2768607"/>
            <a:ext cx="1134533" cy="4656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Input</a:t>
            </a:r>
          </a:p>
        </p:txBody>
      </p:sp>
      <p:sp>
        <p:nvSpPr>
          <p:cNvPr id="7" name="Rounded Rectangle 6">
            <a:extLst>
              <a:ext uri="{FF2B5EF4-FFF2-40B4-BE49-F238E27FC236}">
                <a16:creationId xmlns:a16="http://schemas.microsoft.com/office/drawing/2014/main" id="{264630C5-F7F6-644E-A3A3-6C5BE2751DA9}"/>
              </a:ext>
            </a:extLst>
          </p:cNvPr>
          <p:cNvSpPr/>
          <p:nvPr/>
        </p:nvSpPr>
        <p:spPr>
          <a:xfrm>
            <a:off x="4038600" y="2768606"/>
            <a:ext cx="1134533" cy="4656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Input</a:t>
            </a:r>
          </a:p>
        </p:txBody>
      </p:sp>
      <p:sp>
        <p:nvSpPr>
          <p:cNvPr id="8" name="Rounded Rectangle 7">
            <a:extLst>
              <a:ext uri="{FF2B5EF4-FFF2-40B4-BE49-F238E27FC236}">
                <a16:creationId xmlns:a16="http://schemas.microsoft.com/office/drawing/2014/main" id="{9ABFA56E-6EF8-8046-B5E4-CA1FB2E395A6}"/>
              </a:ext>
            </a:extLst>
          </p:cNvPr>
          <p:cNvSpPr/>
          <p:nvPr/>
        </p:nvSpPr>
        <p:spPr>
          <a:xfrm>
            <a:off x="5300133" y="2768605"/>
            <a:ext cx="1134533" cy="4656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Input</a:t>
            </a:r>
          </a:p>
        </p:txBody>
      </p:sp>
      <p:sp>
        <p:nvSpPr>
          <p:cNvPr id="9" name="Rounded Rectangle 8">
            <a:extLst>
              <a:ext uri="{FF2B5EF4-FFF2-40B4-BE49-F238E27FC236}">
                <a16:creationId xmlns:a16="http://schemas.microsoft.com/office/drawing/2014/main" id="{5A37C5B1-41B1-814D-9968-562351759BC4}"/>
              </a:ext>
            </a:extLst>
          </p:cNvPr>
          <p:cNvSpPr/>
          <p:nvPr/>
        </p:nvSpPr>
        <p:spPr>
          <a:xfrm>
            <a:off x="6595533" y="2768605"/>
            <a:ext cx="1134533" cy="4656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Input</a:t>
            </a:r>
          </a:p>
        </p:txBody>
      </p:sp>
      <p:sp>
        <p:nvSpPr>
          <p:cNvPr id="10" name="Rounded Rectangle 9">
            <a:extLst>
              <a:ext uri="{FF2B5EF4-FFF2-40B4-BE49-F238E27FC236}">
                <a16:creationId xmlns:a16="http://schemas.microsoft.com/office/drawing/2014/main" id="{F83D2799-5FAD-704B-ADB5-56D01C7DB85F}"/>
              </a:ext>
            </a:extLst>
          </p:cNvPr>
          <p:cNvSpPr/>
          <p:nvPr/>
        </p:nvSpPr>
        <p:spPr>
          <a:xfrm>
            <a:off x="7950199" y="2768605"/>
            <a:ext cx="1134533" cy="4656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Input</a:t>
            </a:r>
          </a:p>
        </p:txBody>
      </p:sp>
      <p:cxnSp>
        <p:nvCxnSpPr>
          <p:cNvPr id="11" name="Straight Arrow Connector 10">
            <a:extLst>
              <a:ext uri="{FF2B5EF4-FFF2-40B4-BE49-F238E27FC236}">
                <a16:creationId xmlns:a16="http://schemas.microsoft.com/office/drawing/2014/main" id="{EFD7DBEC-8DCC-B445-BA8A-08C4D9AE8B69}"/>
              </a:ext>
            </a:extLst>
          </p:cNvPr>
          <p:cNvCxnSpPr/>
          <p:nvPr/>
        </p:nvCxnSpPr>
        <p:spPr>
          <a:xfrm>
            <a:off x="3344333" y="3234272"/>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4C502997-222F-EC4F-8345-8BFABC85A89E}"/>
              </a:ext>
            </a:extLst>
          </p:cNvPr>
          <p:cNvSpPr/>
          <p:nvPr/>
        </p:nvSpPr>
        <p:spPr>
          <a:xfrm>
            <a:off x="2891368" y="3674541"/>
            <a:ext cx="905929" cy="770466"/>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Map</a:t>
            </a:r>
          </a:p>
        </p:txBody>
      </p:sp>
      <p:cxnSp>
        <p:nvCxnSpPr>
          <p:cNvPr id="13" name="Straight Arrow Connector 12">
            <a:extLst>
              <a:ext uri="{FF2B5EF4-FFF2-40B4-BE49-F238E27FC236}">
                <a16:creationId xmlns:a16="http://schemas.microsoft.com/office/drawing/2014/main" id="{E1398C68-0BE3-C541-B49C-AB26A5F1BA29}"/>
              </a:ext>
            </a:extLst>
          </p:cNvPr>
          <p:cNvCxnSpPr/>
          <p:nvPr/>
        </p:nvCxnSpPr>
        <p:spPr>
          <a:xfrm>
            <a:off x="4580466" y="3234272"/>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4A85AFA8-2BD4-2C43-B0A8-FF3D11B9AAB1}"/>
              </a:ext>
            </a:extLst>
          </p:cNvPr>
          <p:cNvSpPr/>
          <p:nvPr/>
        </p:nvSpPr>
        <p:spPr>
          <a:xfrm>
            <a:off x="4127501" y="3674541"/>
            <a:ext cx="905929" cy="770466"/>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Map</a:t>
            </a:r>
          </a:p>
        </p:txBody>
      </p:sp>
      <p:cxnSp>
        <p:nvCxnSpPr>
          <p:cNvPr id="15" name="Straight Arrow Connector 14">
            <a:extLst>
              <a:ext uri="{FF2B5EF4-FFF2-40B4-BE49-F238E27FC236}">
                <a16:creationId xmlns:a16="http://schemas.microsoft.com/office/drawing/2014/main" id="{AB82AAC2-459F-594D-8047-9B31C2DAA613}"/>
              </a:ext>
            </a:extLst>
          </p:cNvPr>
          <p:cNvCxnSpPr/>
          <p:nvPr/>
        </p:nvCxnSpPr>
        <p:spPr>
          <a:xfrm>
            <a:off x="5837768" y="3234272"/>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D4D8879A-972D-6240-BCB9-E4894468C637}"/>
              </a:ext>
            </a:extLst>
          </p:cNvPr>
          <p:cNvSpPr/>
          <p:nvPr/>
        </p:nvSpPr>
        <p:spPr>
          <a:xfrm>
            <a:off x="5384803" y="3674541"/>
            <a:ext cx="905929" cy="770466"/>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Map</a:t>
            </a:r>
          </a:p>
        </p:txBody>
      </p:sp>
      <p:cxnSp>
        <p:nvCxnSpPr>
          <p:cNvPr id="17" name="Straight Arrow Connector 16">
            <a:extLst>
              <a:ext uri="{FF2B5EF4-FFF2-40B4-BE49-F238E27FC236}">
                <a16:creationId xmlns:a16="http://schemas.microsoft.com/office/drawing/2014/main" id="{80401179-7AEC-8141-8D23-60F060DA6DC8}"/>
              </a:ext>
            </a:extLst>
          </p:cNvPr>
          <p:cNvCxnSpPr/>
          <p:nvPr/>
        </p:nvCxnSpPr>
        <p:spPr>
          <a:xfrm>
            <a:off x="7215716" y="3234272"/>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A5EA08D9-672F-9F47-B02D-DA93ECE026FD}"/>
              </a:ext>
            </a:extLst>
          </p:cNvPr>
          <p:cNvSpPr/>
          <p:nvPr/>
        </p:nvSpPr>
        <p:spPr>
          <a:xfrm>
            <a:off x="6762751" y="3674541"/>
            <a:ext cx="905929" cy="770466"/>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Map</a:t>
            </a:r>
          </a:p>
        </p:txBody>
      </p:sp>
      <p:cxnSp>
        <p:nvCxnSpPr>
          <p:cNvPr id="19" name="Straight Arrow Connector 18">
            <a:extLst>
              <a:ext uri="{FF2B5EF4-FFF2-40B4-BE49-F238E27FC236}">
                <a16:creationId xmlns:a16="http://schemas.microsoft.com/office/drawing/2014/main" id="{4830161A-BD35-2940-8069-582A45ACC441}"/>
              </a:ext>
            </a:extLst>
          </p:cNvPr>
          <p:cNvCxnSpPr/>
          <p:nvPr/>
        </p:nvCxnSpPr>
        <p:spPr>
          <a:xfrm>
            <a:off x="8572492" y="3234272"/>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636C9BC6-EEBF-484F-B51A-0E92639A43C1}"/>
              </a:ext>
            </a:extLst>
          </p:cNvPr>
          <p:cNvSpPr/>
          <p:nvPr/>
        </p:nvSpPr>
        <p:spPr>
          <a:xfrm>
            <a:off x="8119527" y="3674541"/>
            <a:ext cx="905929" cy="770466"/>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Map</a:t>
            </a:r>
          </a:p>
        </p:txBody>
      </p:sp>
      <p:cxnSp>
        <p:nvCxnSpPr>
          <p:cNvPr id="21" name="Straight Arrow Connector 20">
            <a:extLst>
              <a:ext uri="{FF2B5EF4-FFF2-40B4-BE49-F238E27FC236}">
                <a16:creationId xmlns:a16="http://schemas.microsoft.com/office/drawing/2014/main" id="{AC7F85E8-A6CE-C94D-BFCE-0D6F20AAA8D7}"/>
              </a:ext>
            </a:extLst>
          </p:cNvPr>
          <p:cNvCxnSpPr/>
          <p:nvPr/>
        </p:nvCxnSpPr>
        <p:spPr>
          <a:xfrm>
            <a:off x="3327399" y="4445005"/>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1CCD4676-410F-C649-96DD-0DF2A87D3742}"/>
              </a:ext>
            </a:extLst>
          </p:cNvPr>
          <p:cNvSpPr/>
          <p:nvPr/>
        </p:nvSpPr>
        <p:spPr>
          <a:xfrm>
            <a:off x="2874434" y="4902877"/>
            <a:ext cx="889000" cy="36406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Keys</a:t>
            </a:r>
          </a:p>
        </p:txBody>
      </p:sp>
      <p:cxnSp>
        <p:nvCxnSpPr>
          <p:cNvPr id="23" name="Straight Arrow Connector 22">
            <a:extLst>
              <a:ext uri="{FF2B5EF4-FFF2-40B4-BE49-F238E27FC236}">
                <a16:creationId xmlns:a16="http://schemas.microsoft.com/office/drawing/2014/main" id="{0F8D036E-875B-C84C-A4AE-E018165D85AF}"/>
              </a:ext>
            </a:extLst>
          </p:cNvPr>
          <p:cNvCxnSpPr/>
          <p:nvPr/>
        </p:nvCxnSpPr>
        <p:spPr>
          <a:xfrm>
            <a:off x="4563532" y="4445005"/>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E968847B-A061-8140-9D1D-0F49735F68A0}"/>
              </a:ext>
            </a:extLst>
          </p:cNvPr>
          <p:cNvSpPr/>
          <p:nvPr/>
        </p:nvSpPr>
        <p:spPr>
          <a:xfrm>
            <a:off x="4110567" y="4902877"/>
            <a:ext cx="889000" cy="36406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Keys</a:t>
            </a:r>
          </a:p>
        </p:txBody>
      </p:sp>
      <p:cxnSp>
        <p:nvCxnSpPr>
          <p:cNvPr id="25" name="Straight Arrow Connector 24">
            <a:extLst>
              <a:ext uri="{FF2B5EF4-FFF2-40B4-BE49-F238E27FC236}">
                <a16:creationId xmlns:a16="http://schemas.microsoft.com/office/drawing/2014/main" id="{12564B4F-CA91-2546-AB5B-81BD6F0B5DC9}"/>
              </a:ext>
            </a:extLst>
          </p:cNvPr>
          <p:cNvCxnSpPr/>
          <p:nvPr/>
        </p:nvCxnSpPr>
        <p:spPr>
          <a:xfrm>
            <a:off x="5799664" y="4445005"/>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41C800D7-F785-0E41-956D-8D3AFD0A562E}"/>
              </a:ext>
            </a:extLst>
          </p:cNvPr>
          <p:cNvSpPr/>
          <p:nvPr/>
        </p:nvSpPr>
        <p:spPr>
          <a:xfrm>
            <a:off x="5346699" y="4902877"/>
            <a:ext cx="889000" cy="36406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Keys</a:t>
            </a:r>
          </a:p>
        </p:txBody>
      </p:sp>
      <p:cxnSp>
        <p:nvCxnSpPr>
          <p:cNvPr id="27" name="Straight Arrow Connector 26">
            <a:extLst>
              <a:ext uri="{FF2B5EF4-FFF2-40B4-BE49-F238E27FC236}">
                <a16:creationId xmlns:a16="http://schemas.microsoft.com/office/drawing/2014/main" id="{96C6C4D4-CDDE-844C-B550-C9D3BF0B7210}"/>
              </a:ext>
            </a:extLst>
          </p:cNvPr>
          <p:cNvCxnSpPr/>
          <p:nvPr/>
        </p:nvCxnSpPr>
        <p:spPr>
          <a:xfrm>
            <a:off x="7207247" y="4445679"/>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73A82C8F-0A6B-4D41-8EFD-2B8573524BD7}"/>
              </a:ext>
            </a:extLst>
          </p:cNvPr>
          <p:cNvSpPr/>
          <p:nvPr/>
        </p:nvSpPr>
        <p:spPr>
          <a:xfrm>
            <a:off x="6754282" y="4903551"/>
            <a:ext cx="889000" cy="36406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Keys</a:t>
            </a:r>
          </a:p>
        </p:txBody>
      </p:sp>
      <p:cxnSp>
        <p:nvCxnSpPr>
          <p:cNvPr id="29" name="Straight Arrow Connector 28">
            <a:extLst>
              <a:ext uri="{FF2B5EF4-FFF2-40B4-BE49-F238E27FC236}">
                <a16:creationId xmlns:a16="http://schemas.microsoft.com/office/drawing/2014/main" id="{3C1EC9CF-CD06-5048-ABF6-ABC105A2B3D0}"/>
              </a:ext>
            </a:extLst>
          </p:cNvPr>
          <p:cNvCxnSpPr/>
          <p:nvPr/>
        </p:nvCxnSpPr>
        <p:spPr>
          <a:xfrm>
            <a:off x="8564023" y="4459535"/>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71383F9A-7B75-5A43-AA28-6FA3234F851B}"/>
              </a:ext>
            </a:extLst>
          </p:cNvPr>
          <p:cNvSpPr/>
          <p:nvPr/>
        </p:nvSpPr>
        <p:spPr>
          <a:xfrm>
            <a:off x="8111058" y="4917407"/>
            <a:ext cx="889000" cy="36406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Keys</a:t>
            </a:r>
          </a:p>
        </p:txBody>
      </p:sp>
      <p:sp>
        <p:nvSpPr>
          <p:cNvPr id="31" name="Alternate Process 30">
            <a:extLst>
              <a:ext uri="{FF2B5EF4-FFF2-40B4-BE49-F238E27FC236}">
                <a16:creationId xmlns:a16="http://schemas.microsoft.com/office/drawing/2014/main" id="{D370CA9E-5551-BC41-A8BA-82786E61C0A3}"/>
              </a:ext>
            </a:extLst>
          </p:cNvPr>
          <p:cNvSpPr/>
          <p:nvPr/>
        </p:nvSpPr>
        <p:spPr>
          <a:xfrm>
            <a:off x="4656664" y="5612013"/>
            <a:ext cx="2489201" cy="50800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Combiner</a:t>
            </a:r>
          </a:p>
        </p:txBody>
      </p:sp>
      <p:cxnSp>
        <p:nvCxnSpPr>
          <p:cNvPr id="32" name="Straight Arrow Connector 31">
            <a:extLst>
              <a:ext uri="{FF2B5EF4-FFF2-40B4-BE49-F238E27FC236}">
                <a16:creationId xmlns:a16="http://schemas.microsoft.com/office/drawing/2014/main" id="{6C510A89-800B-BE48-8C5D-DCD01A23781B}"/>
              </a:ext>
            </a:extLst>
          </p:cNvPr>
          <p:cNvCxnSpPr>
            <a:cxnSpLocks/>
          </p:cNvCxnSpPr>
          <p:nvPr/>
        </p:nvCxnSpPr>
        <p:spPr>
          <a:xfrm>
            <a:off x="3327398" y="5266944"/>
            <a:ext cx="1689098" cy="3450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0EFE7A30-DBB4-C549-9D0E-F790FD3E68CD}"/>
              </a:ext>
            </a:extLst>
          </p:cNvPr>
          <p:cNvCxnSpPr>
            <a:cxnSpLocks/>
            <a:stCxn id="24" idx="2"/>
          </p:cNvCxnSpPr>
          <p:nvPr/>
        </p:nvCxnSpPr>
        <p:spPr>
          <a:xfrm>
            <a:off x="4555067" y="5266944"/>
            <a:ext cx="808561" cy="3443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EF6F4986-B1E1-B645-B0C3-B8A26FF4BA13}"/>
              </a:ext>
            </a:extLst>
          </p:cNvPr>
          <p:cNvCxnSpPr>
            <a:cxnSpLocks/>
          </p:cNvCxnSpPr>
          <p:nvPr/>
        </p:nvCxnSpPr>
        <p:spPr>
          <a:xfrm flipH="1">
            <a:off x="5761570" y="5250809"/>
            <a:ext cx="4230" cy="4049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D8FF7819-8E2F-9540-ABFE-213969E9EF71}"/>
              </a:ext>
            </a:extLst>
          </p:cNvPr>
          <p:cNvCxnSpPr>
            <a:cxnSpLocks/>
            <a:stCxn id="28" idx="2"/>
            <a:endCxn id="31" idx="0"/>
          </p:cNvCxnSpPr>
          <p:nvPr/>
        </p:nvCxnSpPr>
        <p:spPr>
          <a:xfrm flipH="1">
            <a:off x="5901265" y="5267618"/>
            <a:ext cx="1297517" cy="3443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64439728-FBA7-1E46-83A5-9B39669E3F01}"/>
              </a:ext>
            </a:extLst>
          </p:cNvPr>
          <p:cNvCxnSpPr>
            <a:cxnSpLocks/>
            <a:stCxn id="30" idx="2"/>
          </p:cNvCxnSpPr>
          <p:nvPr/>
        </p:nvCxnSpPr>
        <p:spPr>
          <a:xfrm flipH="1">
            <a:off x="6468534" y="5281474"/>
            <a:ext cx="2087024" cy="3298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8923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 calcmode="lin" valueType="num">
                                      <p:cBhvr additive="base">
                                        <p:cTn id="7"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 calcmode="lin" valueType="num">
                                      <p:cBhvr additive="base">
                                        <p:cTn id="13"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anim calcmode="lin" valueType="num">
                                      <p:cBhvr additive="base">
                                        <p:cTn id="19"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2" end="2"/>
                                            </p:txEl>
                                          </p:spTgt>
                                        </p:tgtEl>
                                        <p:attrNameLst>
                                          <p:attrName>style.visibility</p:attrName>
                                        </p:attrNameLst>
                                      </p:cBhvr>
                                      <p:to>
                                        <p:strVal val="visible"/>
                                      </p:to>
                                    </p:set>
                                    <p:anim calcmode="lin" valueType="num">
                                      <p:cBhvr additive="base">
                                        <p:cTn id="25"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296333" y="136525"/>
            <a:ext cx="4402673" cy="5734344"/>
          </a:xfrm>
        </p:spPr>
        <p:txBody>
          <a:bodyPr>
            <a:normAutofit fontScale="92500" lnSpcReduction="20000"/>
          </a:bodyPr>
          <a:lstStyle/>
          <a:p>
            <a:pPr algn="ctr">
              <a:lnSpc>
                <a:spcPct val="170000"/>
              </a:lnSpc>
            </a:pPr>
            <a:r>
              <a:rPr lang="en-US" sz="3200" b="1" dirty="0"/>
              <a:t>MapReduce Architecture</a:t>
            </a:r>
          </a:p>
          <a:p>
            <a:pPr>
              <a:lnSpc>
                <a:spcPct val="150000"/>
              </a:lnSpc>
            </a:pPr>
            <a:r>
              <a:rPr lang="en-US" sz="2400" b="1" dirty="0"/>
              <a:t>Shuffle and Sort</a:t>
            </a:r>
            <a:r>
              <a:rPr lang="en-US" sz="2400" dirty="0"/>
              <a:t> − The Reducer task starts with the Shuffle and Sort step. It downloads the grouped key-value pairs onto the local machine, where the Reducer is running. </a:t>
            </a:r>
          </a:p>
          <a:p>
            <a:pPr>
              <a:lnSpc>
                <a:spcPct val="150000"/>
              </a:lnSpc>
            </a:pPr>
            <a:r>
              <a:rPr lang="en-US" sz="2400" dirty="0"/>
              <a:t>The individual key-value pairs are sorted by key into a larger data list. The data list groups the equivalent keys together so that their values can be iterated easily in the Reducer task.</a:t>
            </a:r>
          </a:p>
          <a:p>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15</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a:xfrm>
            <a:off x="4123267" y="6356350"/>
            <a:ext cx="4114800" cy="365125"/>
          </a:xfrm>
        </p:spPr>
        <p:txBody>
          <a:bodyPr/>
          <a:lstStyle/>
          <a:p>
            <a:r>
              <a:rPr lang="en-US"/>
              <a:t>Or Peretz</a:t>
            </a:r>
            <a:endParaRPr lang="en-IL"/>
          </a:p>
        </p:txBody>
      </p:sp>
      <p:sp>
        <p:nvSpPr>
          <p:cNvPr id="6" name="Rounded Rectangle 5">
            <a:extLst>
              <a:ext uri="{FF2B5EF4-FFF2-40B4-BE49-F238E27FC236}">
                <a16:creationId xmlns:a16="http://schemas.microsoft.com/office/drawing/2014/main" id="{CDD13228-D798-A543-9CF3-83A10A6F83A8}"/>
              </a:ext>
            </a:extLst>
          </p:cNvPr>
          <p:cNvSpPr/>
          <p:nvPr/>
        </p:nvSpPr>
        <p:spPr>
          <a:xfrm>
            <a:off x="5249338" y="1193807"/>
            <a:ext cx="1134533" cy="4656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Input</a:t>
            </a:r>
          </a:p>
        </p:txBody>
      </p:sp>
      <p:sp>
        <p:nvSpPr>
          <p:cNvPr id="7" name="Rounded Rectangle 6">
            <a:extLst>
              <a:ext uri="{FF2B5EF4-FFF2-40B4-BE49-F238E27FC236}">
                <a16:creationId xmlns:a16="http://schemas.microsoft.com/office/drawing/2014/main" id="{264630C5-F7F6-644E-A3A3-6C5BE2751DA9}"/>
              </a:ext>
            </a:extLst>
          </p:cNvPr>
          <p:cNvSpPr/>
          <p:nvPr/>
        </p:nvSpPr>
        <p:spPr>
          <a:xfrm>
            <a:off x="6510871" y="1193806"/>
            <a:ext cx="1134533" cy="4656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Input</a:t>
            </a:r>
          </a:p>
        </p:txBody>
      </p:sp>
      <p:sp>
        <p:nvSpPr>
          <p:cNvPr id="8" name="Rounded Rectangle 7">
            <a:extLst>
              <a:ext uri="{FF2B5EF4-FFF2-40B4-BE49-F238E27FC236}">
                <a16:creationId xmlns:a16="http://schemas.microsoft.com/office/drawing/2014/main" id="{9ABFA56E-6EF8-8046-B5E4-CA1FB2E395A6}"/>
              </a:ext>
            </a:extLst>
          </p:cNvPr>
          <p:cNvSpPr/>
          <p:nvPr/>
        </p:nvSpPr>
        <p:spPr>
          <a:xfrm>
            <a:off x="7772404" y="1193805"/>
            <a:ext cx="1134533" cy="4656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Input</a:t>
            </a:r>
          </a:p>
        </p:txBody>
      </p:sp>
      <p:sp>
        <p:nvSpPr>
          <p:cNvPr id="9" name="Rounded Rectangle 8">
            <a:extLst>
              <a:ext uri="{FF2B5EF4-FFF2-40B4-BE49-F238E27FC236}">
                <a16:creationId xmlns:a16="http://schemas.microsoft.com/office/drawing/2014/main" id="{5A37C5B1-41B1-814D-9968-562351759BC4}"/>
              </a:ext>
            </a:extLst>
          </p:cNvPr>
          <p:cNvSpPr/>
          <p:nvPr/>
        </p:nvSpPr>
        <p:spPr>
          <a:xfrm>
            <a:off x="9067804" y="1193805"/>
            <a:ext cx="1134533" cy="4656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Input</a:t>
            </a:r>
          </a:p>
        </p:txBody>
      </p:sp>
      <p:sp>
        <p:nvSpPr>
          <p:cNvPr id="10" name="Rounded Rectangle 9">
            <a:extLst>
              <a:ext uri="{FF2B5EF4-FFF2-40B4-BE49-F238E27FC236}">
                <a16:creationId xmlns:a16="http://schemas.microsoft.com/office/drawing/2014/main" id="{F83D2799-5FAD-704B-ADB5-56D01C7DB85F}"/>
              </a:ext>
            </a:extLst>
          </p:cNvPr>
          <p:cNvSpPr/>
          <p:nvPr/>
        </p:nvSpPr>
        <p:spPr>
          <a:xfrm>
            <a:off x="10422470" y="1193805"/>
            <a:ext cx="1134533" cy="4656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Input</a:t>
            </a:r>
          </a:p>
        </p:txBody>
      </p:sp>
      <p:cxnSp>
        <p:nvCxnSpPr>
          <p:cNvPr id="11" name="Straight Arrow Connector 10">
            <a:extLst>
              <a:ext uri="{FF2B5EF4-FFF2-40B4-BE49-F238E27FC236}">
                <a16:creationId xmlns:a16="http://schemas.microsoft.com/office/drawing/2014/main" id="{EFD7DBEC-8DCC-B445-BA8A-08C4D9AE8B69}"/>
              </a:ext>
            </a:extLst>
          </p:cNvPr>
          <p:cNvCxnSpPr/>
          <p:nvPr/>
        </p:nvCxnSpPr>
        <p:spPr>
          <a:xfrm>
            <a:off x="5816604" y="1659472"/>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4C502997-222F-EC4F-8345-8BFABC85A89E}"/>
              </a:ext>
            </a:extLst>
          </p:cNvPr>
          <p:cNvSpPr/>
          <p:nvPr/>
        </p:nvSpPr>
        <p:spPr>
          <a:xfrm>
            <a:off x="5363639" y="2099741"/>
            <a:ext cx="905929" cy="770466"/>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Map</a:t>
            </a:r>
          </a:p>
        </p:txBody>
      </p:sp>
      <p:cxnSp>
        <p:nvCxnSpPr>
          <p:cNvPr id="13" name="Straight Arrow Connector 12">
            <a:extLst>
              <a:ext uri="{FF2B5EF4-FFF2-40B4-BE49-F238E27FC236}">
                <a16:creationId xmlns:a16="http://schemas.microsoft.com/office/drawing/2014/main" id="{E1398C68-0BE3-C541-B49C-AB26A5F1BA29}"/>
              </a:ext>
            </a:extLst>
          </p:cNvPr>
          <p:cNvCxnSpPr/>
          <p:nvPr/>
        </p:nvCxnSpPr>
        <p:spPr>
          <a:xfrm>
            <a:off x="7052737" y="1659472"/>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4A85AFA8-2BD4-2C43-B0A8-FF3D11B9AAB1}"/>
              </a:ext>
            </a:extLst>
          </p:cNvPr>
          <p:cNvSpPr/>
          <p:nvPr/>
        </p:nvSpPr>
        <p:spPr>
          <a:xfrm>
            <a:off x="6599772" y="2099741"/>
            <a:ext cx="905929" cy="770466"/>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Map</a:t>
            </a:r>
          </a:p>
        </p:txBody>
      </p:sp>
      <p:cxnSp>
        <p:nvCxnSpPr>
          <p:cNvPr id="15" name="Straight Arrow Connector 14">
            <a:extLst>
              <a:ext uri="{FF2B5EF4-FFF2-40B4-BE49-F238E27FC236}">
                <a16:creationId xmlns:a16="http://schemas.microsoft.com/office/drawing/2014/main" id="{AB82AAC2-459F-594D-8047-9B31C2DAA613}"/>
              </a:ext>
            </a:extLst>
          </p:cNvPr>
          <p:cNvCxnSpPr/>
          <p:nvPr/>
        </p:nvCxnSpPr>
        <p:spPr>
          <a:xfrm>
            <a:off x="8310039" y="1659472"/>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D4D8879A-972D-6240-BCB9-E4894468C637}"/>
              </a:ext>
            </a:extLst>
          </p:cNvPr>
          <p:cNvSpPr/>
          <p:nvPr/>
        </p:nvSpPr>
        <p:spPr>
          <a:xfrm>
            <a:off x="7857074" y="2099741"/>
            <a:ext cx="905929" cy="770466"/>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Map</a:t>
            </a:r>
          </a:p>
        </p:txBody>
      </p:sp>
      <p:cxnSp>
        <p:nvCxnSpPr>
          <p:cNvPr id="17" name="Straight Arrow Connector 16">
            <a:extLst>
              <a:ext uri="{FF2B5EF4-FFF2-40B4-BE49-F238E27FC236}">
                <a16:creationId xmlns:a16="http://schemas.microsoft.com/office/drawing/2014/main" id="{80401179-7AEC-8141-8D23-60F060DA6DC8}"/>
              </a:ext>
            </a:extLst>
          </p:cNvPr>
          <p:cNvCxnSpPr/>
          <p:nvPr/>
        </p:nvCxnSpPr>
        <p:spPr>
          <a:xfrm>
            <a:off x="9687987" y="1659472"/>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A5EA08D9-672F-9F47-B02D-DA93ECE026FD}"/>
              </a:ext>
            </a:extLst>
          </p:cNvPr>
          <p:cNvSpPr/>
          <p:nvPr/>
        </p:nvSpPr>
        <p:spPr>
          <a:xfrm>
            <a:off x="9235022" y="2099741"/>
            <a:ext cx="905929" cy="770466"/>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Map</a:t>
            </a:r>
          </a:p>
        </p:txBody>
      </p:sp>
      <p:cxnSp>
        <p:nvCxnSpPr>
          <p:cNvPr id="19" name="Straight Arrow Connector 18">
            <a:extLst>
              <a:ext uri="{FF2B5EF4-FFF2-40B4-BE49-F238E27FC236}">
                <a16:creationId xmlns:a16="http://schemas.microsoft.com/office/drawing/2014/main" id="{4830161A-BD35-2940-8069-582A45ACC441}"/>
              </a:ext>
            </a:extLst>
          </p:cNvPr>
          <p:cNvCxnSpPr/>
          <p:nvPr/>
        </p:nvCxnSpPr>
        <p:spPr>
          <a:xfrm>
            <a:off x="11044763" y="1659472"/>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636C9BC6-EEBF-484F-B51A-0E92639A43C1}"/>
              </a:ext>
            </a:extLst>
          </p:cNvPr>
          <p:cNvSpPr/>
          <p:nvPr/>
        </p:nvSpPr>
        <p:spPr>
          <a:xfrm>
            <a:off x="10591798" y="2099741"/>
            <a:ext cx="905929" cy="770466"/>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Map</a:t>
            </a:r>
          </a:p>
        </p:txBody>
      </p:sp>
      <p:cxnSp>
        <p:nvCxnSpPr>
          <p:cNvPr id="21" name="Straight Arrow Connector 20">
            <a:extLst>
              <a:ext uri="{FF2B5EF4-FFF2-40B4-BE49-F238E27FC236}">
                <a16:creationId xmlns:a16="http://schemas.microsoft.com/office/drawing/2014/main" id="{AC7F85E8-A6CE-C94D-BFCE-0D6F20AAA8D7}"/>
              </a:ext>
            </a:extLst>
          </p:cNvPr>
          <p:cNvCxnSpPr/>
          <p:nvPr/>
        </p:nvCxnSpPr>
        <p:spPr>
          <a:xfrm>
            <a:off x="5799670" y="2870205"/>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1CCD4676-410F-C649-96DD-0DF2A87D3742}"/>
              </a:ext>
            </a:extLst>
          </p:cNvPr>
          <p:cNvSpPr/>
          <p:nvPr/>
        </p:nvSpPr>
        <p:spPr>
          <a:xfrm>
            <a:off x="5346705" y="3328077"/>
            <a:ext cx="889000" cy="36406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Keys</a:t>
            </a:r>
          </a:p>
        </p:txBody>
      </p:sp>
      <p:cxnSp>
        <p:nvCxnSpPr>
          <p:cNvPr id="23" name="Straight Arrow Connector 22">
            <a:extLst>
              <a:ext uri="{FF2B5EF4-FFF2-40B4-BE49-F238E27FC236}">
                <a16:creationId xmlns:a16="http://schemas.microsoft.com/office/drawing/2014/main" id="{0F8D036E-875B-C84C-A4AE-E018165D85AF}"/>
              </a:ext>
            </a:extLst>
          </p:cNvPr>
          <p:cNvCxnSpPr/>
          <p:nvPr/>
        </p:nvCxnSpPr>
        <p:spPr>
          <a:xfrm>
            <a:off x="7035803" y="2870205"/>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E968847B-A061-8140-9D1D-0F49735F68A0}"/>
              </a:ext>
            </a:extLst>
          </p:cNvPr>
          <p:cNvSpPr/>
          <p:nvPr/>
        </p:nvSpPr>
        <p:spPr>
          <a:xfrm>
            <a:off x="6582838" y="3328077"/>
            <a:ext cx="889000" cy="36406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Keys</a:t>
            </a:r>
          </a:p>
        </p:txBody>
      </p:sp>
      <p:cxnSp>
        <p:nvCxnSpPr>
          <p:cNvPr id="25" name="Straight Arrow Connector 24">
            <a:extLst>
              <a:ext uri="{FF2B5EF4-FFF2-40B4-BE49-F238E27FC236}">
                <a16:creationId xmlns:a16="http://schemas.microsoft.com/office/drawing/2014/main" id="{12564B4F-CA91-2546-AB5B-81BD6F0B5DC9}"/>
              </a:ext>
            </a:extLst>
          </p:cNvPr>
          <p:cNvCxnSpPr/>
          <p:nvPr/>
        </p:nvCxnSpPr>
        <p:spPr>
          <a:xfrm>
            <a:off x="8271935" y="2870205"/>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41C800D7-F785-0E41-956D-8D3AFD0A562E}"/>
              </a:ext>
            </a:extLst>
          </p:cNvPr>
          <p:cNvSpPr/>
          <p:nvPr/>
        </p:nvSpPr>
        <p:spPr>
          <a:xfrm>
            <a:off x="7818970" y="3328077"/>
            <a:ext cx="889000" cy="36406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Keys</a:t>
            </a:r>
          </a:p>
        </p:txBody>
      </p:sp>
      <p:cxnSp>
        <p:nvCxnSpPr>
          <p:cNvPr id="27" name="Straight Arrow Connector 26">
            <a:extLst>
              <a:ext uri="{FF2B5EF4-FFF2-40B4-BE49-F238E27FC236}">
                <a16:creationId xmlns:a16="http://schemas.microsoft.com/office/drawing/2014/main" id="{96C6C4D4-CDDE-844C-B550-C9D3BF0B7210}"/>
              </a:ext>
            </a:extLst>
          </p:cNvPr>
          <p:cNvCxnSpPr/>
          <p:nvPr/>
        </p:nvCxnSpPr>
        <p:spPr>
          <a:xfrm>
            <a:off x="9679518" y="2870879"/>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73A82C8F-0A6B-4D41-8EFD-2B8573524BD7}"/>
              </a:ext>
            </a:extLst>
          </p:cNvPr>
          <p:cNvSpPr/>
          <p:nvPr/>
        </p:nvSpPr>
        <p:spPr>
          <a:xfrm>
            <a:off x="9226553" y="3328751"/>
            <a:ext cx="889000" cy="36406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Keys</a:t>
            </a:r>
          </a:p>
        </p:txBody>
      </p:sp>
      <p:cxnSp>
        <p:nvCxnSpPr>
          <p:cNvPr id="29" name="Straight Arrow Connector 28">
            <a:extLst>
              <a:ext uri="{FF2B5EF4-FFF2-40B4-BE49-F238E27FC236}">
                <a16:creationId xmlns:a16="http://schemas.microsoft.com/office/drawing/2014/main" id="{3C1EC9CF-CD06-5048-ABF6-ABC105A2B3D0}"/>
              </a:ext>
            </a:extLst>
          </p:cNvPr>
          <p:cNvCxnSpPr/>
          <p:nvPr/>
        </p:nvCxnSpPr>
        <p:spPr>
          <a:xfrm>
            <a:off x="11036294" y="2884735"/>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71383F9A-7B75-5A43-AA28-6FA3234F851B}"/>
              </a:ext>
            </a:extLst>
          </p:cNvPr>
          <p:cNvSpPr/>
          <p:nvPr/>
        </p:nvSpPr>
        <p:spPr>
          <a:xfrm>
            <a:off x="10583329" y="3342607"/>
            <a:ext cx="889000" cy="36406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Keys</a:t>
            </a:r>
          </a:p>
        </p:txBody>
      </p:sp>
      <p:sp>
        <p:nvSpPr>
          <p:cNvPr id="31" name="Alternate Process 30">
            <a:extLst>
              <a:ext uri="{FF2B5EF4-FFF2-40B4-BE49-F238E27FC236}">
                <a16:creationId xmlns:a16="http://schemas.microsoft.com/office/drawing/2014/main" id="{D370CA9E-5551-BC41-A8BA-82786E61C0A3}"/>
              </a:ext>
            </a:extLst>
          </p:cNvPr>
          <p:cNvSpPr/>
          <p:nvPr/>
        </p:nvSpPr>
        <p:spPr>
          <a:xfrm>
            <a:off x="7128935" y="4037213"/>
            <a:ext cx="2489201" cy="50800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Combiner</a:t>
            </a:r>
          </a:p>
        </p:txBody>
      </p:sp>
      <p:cxnSp>
        <p:nvCxnSpPr>
          <p:cNvPr id="32" name="Straight Arrow Connector 31">
            <a:extLst>
              <a:ext uri="{FF2B5EF4-FFF2-40B4-BE49-F238E27FC236}">
                <a16:creationId xmlns:a16="http://schemas.microsoft.com/office/drawing/2014/main" id="{6C510A89-800B-BE48-8C5D-DCD01A23781B}"/>
              </a:ext>
            </a:extLst>
          </p:cNvPr>
          <p:cNvCxnSpPr>
            <a:cxnSpLocks/>
          </p:cNvCxnSpPr>
          <p:nvPr/>
        </p:nvCxnSpPr>
        <p:spPr>
          <a:xfrm>
            <a:off x="5799669" y="3692144"/>
            <a:ext cx="1689098" cy="3450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0EFE7A30-DBB4-C549-9D0E-F790FD3E68CD}"/>
              </a:ext>
            </a:extLst>
          </p:cNvPr>
          <p:cNvCxnSpPr>
            <a:cxnSpLocks/>
            <a:stCxn id="24" idx="2"/>
          </p:cNvCxnSpPr>
          <p:nvPr/>
        </p:nvCxnSpPr>
        <p:spPr>
          <a:xfrm>
            <a:off x="7027338" y="3692144"/>
            <a:ext cx="808561" cy="3443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EF6F4986-B1E1-B645-B0C3-B8A26FF4BA13}"/>
              </a:ext>
            </a:extLst>
          </p:cNvPr>
          <p:cNvCxnSpPr>
            <a:cxnSpLocks/>
          </p:cNvCxnSpPr>
          <p:nvPr/>
        </p:nvCxnSpPr>
        <p:spPr>
          <a:xfrm flipH="1">
            <a:off x="8233841" y="3676009"/>
            <a:ext cx="4230" cy="4049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D8FF7819-8E2F-9540-ABFE-213969E9EF71}"/>
              </a:ext>
            </a:extLst>
          </p:cNvPr>
          <p:cNvCxnSpPr>
            <a:cxnSpLocks/>
            <a:stCxn id="28" idx="2"/>
            <a:endCxn id="31" idx="0"/>
          </p:cNvCxnSpPr>
          <p:nvPr/>
        </p:nvCxnSpPr>
        <p:spPr>
          <a:xfrm flipH="1">
            <a:off x="8373536" y="3692818"/>
            <a:ext cx="1297517" cy="3443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64439728-FBA7-1E46-83A5-9B39669E3F01}"/>
              </a:ext>
            </a:extLst>
          </p:cNvPr>
          <p:cNvCxnSpPr>
            <a:cxnSpLocks/>
            <a:stCxn id="30" idx="2"/>
          </p:cNvCxnSpPr>
          <p:nvPr/>
        </p:nvCxnSpPr>
        <p:spPr>
          <a:xfrm flipH="1">
            <a:off x="8940805" y="3706674"/>
            <a:ext cx="2087024" cy="3298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F517BBBE-20C1-A34F-A223-D91847F58EA3}"/>
              </a:ext>
            </a:extLst>
          </p:cNvPr>
          <p:cNvSpPr/>
          <p:nvPr/>
        </p:nvSpPr>
        <p:spPr>
          <a:xfrm>
            <a:off x="6108708" y="4797043"/>
            <a:ext cx="889000" cy="364067"/>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S/S</a:t>
            </a:r>
          </a:p>
        </p:txBody>
      </p:sp>
      <p:sp>
        <p:nvSpPr>
          <p:cNvPr id="38" name="Rectangle 37">
            <a:extLst>
              <a:ext uri="{FF2B5EF4-FFF2-40B4-BE49-F238E27FC236}">
                <a16:creationId xmlns:a16="http://schemas.microsoft.com/office/drawing/2014/main" id="{7AA83EA7-20F7-BD4B-A915-BB4D7CE0FDB1}"/>
              </a:ext>
            </a:extLst>
          </p:cNvPr>
          <p:cNvSpPr/>
          <p:nvPr/>
        </p:nvSpPr>
        <p:spPr>
          <a:xfrm>
            <a:off x="7344841" y="4797043"/>
            <a:ext cx="889000" cy="364067"/>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S/S</a:t>
            </a:r>
          </a:p>
        </p:txBody>
      </p:sp>
      <p:sp>
        <p:nvSpPr>
          <p:cNvPr id="39" name="Rectangle 38">
            <a:extLst>
              <a:ext uri="{FF2B5EF4-FFF2-40B4-BE49-F238E27FC236}">
                <a16:creationId xmlns:a16="http://schemas.microsoft.com/office/drawing/2014/main" id="{92D336FC-F1D1-D94C-BE04-4C00044D349F}"/>
              </a:ext>
            </a:extLst>
          </p:cNvPr>
          <p:cNvSpPr/>
          <p:nvPr/>
        </p:nvSpPr>
        <p:spPr>
          <a:xfrm>
            <a:off x="8580973" y="4797043"/>
            <a:ext cx="889000" cy="364067"/>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S/S</a:t>
            </a:r>
          </a:p>
        </p:txBody>
      </p:sp>
      <p:sp>
        <p:nvSpPr>
          <p:cNvPr id="40" name="Rectangle 39">
            <a:extLst>
              <a:ext uri="{FF2B5EF4-FFF2-40B4-BE49-F238E27FC236}">
                <a16:creationId xmlns:a16="http://schemas.microsoft.com/office/drawing/2014/main" id="{C11AAD5D-9725-9D48-805F-795C839CCAF8}"/>
              </a:ext>
            </a:extLst>
          </p:cNvPr>
          <p:cNvSpPr/>
          <p:nvPr/>
        </p:nvSpPr>
        <p:spPr>
          <a:xfrm>
            <a:off x="9988556" y="4797717"/>
            <a:ext cx="889000" cy="364067"/>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S/S</a:t>
            </a:r>
          </a:p>
        </p:txBody>
      </p:sp>
    </p:spTree>
    <p:extLst>
      <p:ext uri="{BB962C8B-B14F-4D97-AF65-F5344CB8AC3E}">
        <p14:creationId xmlns:p14="http://schemas.microsoft.com/office/powerpoint/2010/main" val="3462987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160861" y="136525"/>
            <a:ext cx="4402673" cy="5734344"/>
          </a:xfrm>
        </p:spPr>
        <p:txBody>
          <a:bodyPr>
            <a:normAutofit fontScale="92500" lnSpcReduction="10000"/>
          </a:bodyPr>
          <a:lstStyle/>
          <a:p>
            <a:pPr algn="ctr">
              <a:lnSpc>
                <a:spcPct val="160000"/>
              </a:lnSpc>
            </a:pPr>
            <a:r>
              <a:rPr lang="en-US" sz="3200" b="1" dirty="0"/>
              <a:t>MapReduce Architecture</a:t>
            </a:r>
          </a:p>
          <a:p>
            <a:pPr>
              <a:lnSpc>
                <a:spcPct val="150000"/>
              </a:lnSpc>
            </a:pPr>
            <a:r>
              <a:rPr lang="en-US" sz="2400" b="1" dirty="0"/>
              <a:t>Reducer</a:t>
            </a:r>
            <a:r>
              <a:rPr lang="en-US" sz="2400" dirty="0"/>
              <a:t> − The Reducer takes the grouped key-value paired data as input and runs a Reducer function on each one of them. Here, the data can be aggregated, filtered, and combined in a number of ways, and it requires a wide range of processing. Once the execution is over, it gives zero or more key-value pairs to the final step.</a:t>
            </a:r>
          </a:p>
          <a:p>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16</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a:xfrm>
            <a:off x="4123267" y="6356350"/>
            <a:ext cx="4114800" cy="365125"/>
          </a:xfrm>
        </p:spPr>
        <p:txBody>
          <a:bodyPr/>
          <a:lstStyle/>
          <a:p>
            <a:r>
              <a:rPr lang="en-US"/>
              <a:t>Or Peretz</a:t>
            </a:r>
            <a:endParaRPr lang="en-IL"/>
          </a:p>
        </p:txBody>
      </p:sp>
      <p:sp>
        <p:nvSpPr>
          <p:cNvPr id="6" name="Rounded Rectangle 5">
            <a:extLst>
              <a:ext uri="{FF2B5EF4-FFF2-40B4-BE49-F238E27FC236}">
                <a16:creationId xmlns:a16="http://schemas.microsoft.com/office/drawing/2014/main" id="{CDD13228-D798-A543-9CF3-83A10A6F83A8}"/>
              </a:ext>
            </a:extLst>
          </p:cNvPr>
          <p:cNvSpPr/>
          <p:nvPr/>
        </p:nvSpPr>
        <p:spPr>
          <a:xfrm>
            <a:off x="5249338" y="533406"/>
            <a:ext cx="1134533" cy="4656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Input</a:t>
            </a:r>
          </a:p>
        </p:txBody>
      </p:sp>
      <p:sp>
        <p:nvSpPr>
          <p:cNvPr id="7" name="Rounded Rectangle 6">
            <a:extLst>
              <a:ext uri="{FF2B5EF4-FFF2-40B4-BE49-F238E27FC236}">
                <a16:creationId xmlns:a16="http://schemas.microsoft.com/office/drawing/2014/main" id="{264630C5-F7F6-644E-A3A3-6C5BE2751DA9}"/>
              </a:ext>
            </a:extLst>
          </p:cNvPr>
          <p:cNvSpPr/>
          <p:nvPr/>
        </p:nvSpPr>
        <p:spPr>
          <a:xfrm>
            <a:off x="6510871" y="533405"/>
            <a:ext cx="1134533" cy="4656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Input</a:t>
            </a:r>
          </a:p>
        </p:txBody>
      </p:sp>
      <p:sp>
        <p:nvSpPr>
          <p:cNvPr id="8" name="Rounded Rectangle 7">
            <a:extLst>
              <a:ext uri="{FF2B5EF4-FFF2-40B4-BE49-F238E27FC236}">
                <a16:creationId xmlns:a16="http://schemas.microsoft.com/office/drawing/2014/main" id="{9ABFA56E-6EF8-8046-B5E4-CA1FB2E395A6}"/>
              </a:ext>
            </a:extLst>
          </p:cNvPr>
          <p:cNvSpPr/>
          <p:nvPr/>
        </p:nvSpPr>
        <p:spPr>
          <a:xfrm>
            <a:off x="7772404" y="533404"/>
            <a:ext cx="1134533" cy="4656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Input</a:t>
            </a:r>
          </a:p>
        </p:txBody>
      </p:sp>
      <p:sp>
        <p:nvSpPr>
          <p:cNvPr id="9" name="Rounded Rectangle 8">
            <a:extLst>
              <a:ext uri="{FF2B5EF4-FFF2-40B4-BE49-F238E27FC236}">
                <a16:creationId xmlns:a16="http://schemas.microsoft.com/office/drawing/2014/main" id="{5A37C5B1-41B1-814D-9968-562351759BC4}"/>
              </a:ext>
            </a:extLst>
          </p:cNvPr>
          <p:cNvSpPr/>
          <p:nvPr/>
        </p:nvSpPr>
        <p:spPr>
          <a:xfrm>
            <a:off x="9067804" y="533404"/>
            <a:ext cx="1134533" cy="4656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Input</a:t>
            </a:r>
          </a:p>
        </p:txBody>
      </p:sp>
      <p:sp>
        <p:nvSpPr>
          <p:cNvPr id="10" name="Rounded Rectangle 9">
            <a:extLst>
              <a:ext uri="{FF2B5EF4-FFF2-40B4-BE49-F238E27FC236}">
                <a16:creationId xmlns:a16="http://schemas.microsoft.com/office/drawing/2014/main" id="{F83D2799-5FAD-704B-ADB5-56D01C7DB85F}"/>
              </a:ext>
            </a:extLst>
          </p:cNvPr>
          <p:cNvSpPr/>
          <p:nvPr/>
        </p:nvSpPr>
        <p:spPr>
          <a:xfrm>
            <a:off x="10422470" y="533404"/>
            <a:ext cx="1134533" cy="4656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Input</a:t>
            </a:r>
          </a:p>
        </p:txBody>
      </p:sp>
      <p:cxnSp>
        <p:nvCxnSpPr>
          <p:cNvPr id="11" name="Straight Arrow Connector 10">
            <a:extLst>
              <a:ext uri="{FF2B5EF4-FFF2-40B4-BE49-F238E27FC236}">
                <a16:creationId xmlns:a16="http://schemas.microsoft.com/office/drawing/2014/main" id="{EFD7DBEC-8DCC-B445-BA8A-08C4D9AE8B69}"/>
              </a:ext>
            </a:extLst>
          </p:cNvPr>
          <p:cNvCxnSpPr/>
          <p:nvPr/>
        </p:nvCxnSpPr>
        <p:spPr>
          <a:xfrm>
            <a:off x="5816604" y="999071"/>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4C502997-222F-EC4F-8345-8BFABC85A89E}"/>
              </a:ext>
            </a:extLst>
          </p:cNvPr>
          <p:cNvSpPr/>
          <p:nvPr/>
        </p:nvSpPr>
        <p:spPr>
          <a:xfrm>
            <a:off x="5363639" y="1439340"/>
            <a:ext cx="905929" cy="770466"/>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Map</a:t>
            </a:r>
          </a:p>
        </p:txBody>
      </p:sp>
      <p:cxnSp>
        <p:nvCxnSpPr>
          <p:cNvPr id="13" name="Straight Arrow Connector 12">
            <a:extLst>
              <a:ext uri="{FF2B5EF4-FFF2-40B4-BE49-F238E27FC236}">
                <a16:creationId xmlns:a16="http://schemas.microsoft.com/office/drawing/2014/main" id="{E1398C68-0BE3-C541-B49C-AB26A5F1BA29}"/>
              </a:ext>
            </a:extLst>
          </p:cNvPr>
          <p:cNvCxnSpPr/>
          <p:nvPr/>
        </p:nvCxnSpPr>
        <p:spPr>
          <a:xfrm>
            <a:off x="7052737" y="999071"/>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4A85AFA8-2BD4-2C43-B0A8-FF3D11B9AAB1}"/>
              </a:ext>
            </a:extLst>
          </p:cNvPr>
          <p:cNvSpPr/>
          <p:nvPr/>
        </p:nvSpPr>
        <p:spPr>
          <a:xfrm>
            <a:off x="6599772" y="1439340"/>
            <a:ext cx="905929" cy="770466"/>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Map</a:t>
            </a:r>
          </a:p>
        </p:txBody>
      </p:sp>
      <p:cxnSp>
        <p:nvCxnSpPr>
          <p:cNvPr id="15" name="Straight Arrow Connector 14">
            <a:extLst>
              <a:ext uri="{FF2B5EF4-FFF2-40B4-BE49-F238E27FC236}">
                <a16:creationId xmlns:a16="http://schemas.microsoft.com/office/drawing/2014/main" id="{AB82AAC2-459F-594D-8047-9B31C2DAA613}"/>
              </a:ext>
            </a:extLst>
          </p:cNvPr>
          <p:cNvCxnSpPr/>
          <p:nvPr/>
        </p:nvCxnSpPr>
        <p:spPr>
          <a:xfrm>
            <a:off x="8310039" y="999071"/>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D4D8879A-972D-6240-BCB9-E4894468C637}"/>
              </a:ext>
            </a:extLst>
          </p:cNvPr>
          <p:cNvSpPr/>
          <p:nvPr/>
        </p:nvSpPr>
        <p:spPr>
          <a:xfrm>
            <a:off x="7857074" y="1439340"/>
            <a:ext cx="905929" cy="770466"/>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Map</a:t>
            </a:r>
          </a:p>
        </p:txBody>
      </p:sp>
      <p:cxnSp>
        <p:nvCxnSpPr>
          <p:cNvPr id="17" name="Straight Arrow Connector 16">
            <a:extLst>
              <a:ext uri="{FF2B5EF4-FFF2-40B4-BE49-F238E27FC236}">
                <a16:creationId xmlns:a16="http://schemas.microsoft.com/office/drawing/2014/main" id="{80401179-7AEC-8141-8D23-60F060DA6DC8}"/>
              </a:ext>
            </a:extLst>
          </p:cNvPr>
          <p:cNvCxnSpPr/>
          <p:nvPr/>
        </p:nvCxnSpPr>
        <p:spPr>
          <a:xfrm>
            <a:off x="9687987" y="999071"/>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A5EA08D9-672F-9F47-B02D-DA93ECE026FD}"/>
              </a:ext>
            </a:extLst>
          </p:cNvPr>
          <p:cNvSpPr/>
          <p:nvPr/>
        </p:nvSpPr>
        <p:spPr>
          <a:xfrm>
            <a:off x="9235022" y="1439340"/>
            <a:ext cx="905929" cy="770466"/>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Map</a:t>
            </a:r>
          </a:p>
        </p:txBody>
      </p:sp>
      <p:cxnSp>
        <p:nvCxnSpPr>
          <p:cNvPr id="19" name="Straight Arrow Connector 18">
            <a:extLst>
              <a:ext uri="{FF2B5EF4-FFF2-40B4-BE49-F238E27FC236}">
                <a16:creationId xmlns:a16="http://schemas.microsoft.com/office/drawing/2014/main" id="{4830161A-BD35-2940-8069-582A45ACC441}"/>
              </a:ext>
            </a:extLst>
          </p:cNvPr>
          <p:cNvCxnSpPr/>
          <p:nvPr/>
        </p:nvCxnSpPr>
        <p:spPr>
          <a:xfrm>
            <a:off x="11044763" y="999071"/>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636C9BC6-EEBF-484F-B51A-0E92639A43C1}"/>
              </a:ext>
            </a:extLst>
          </p:cNvPr>
          <p:cNvSpPr/>
          <p:nvPr/>
        </p:nvSpPr>
        <p:spPr>
          <a:xfrm>
            <a:off x="10591798" y="1439340"/>
            <a:ext cx="905929" cy="770466"/>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Map</a:t>
            </a:r>
          </a:p>
        </p:txBody>
      </p:sp>
      <p:cxnSp>
        <p:nvCxnSpPr>
          <p:cNvPr id="21" name="Straight Arrow Connector 20">
            <a:extLst>
              <a:ext uri="{FF2B5EF4-FFF2-40B4-BE49-F238E27FC236}">
                <a16:creationId xmlns:a16="http://schemas.microsoft.com/office/drawing/2014/main" id="{AC7F85E8-A6CE-C94D-BFCE-0D6F20AAA8D7}"/>
              </a:ext>
            </a:extLst>
          </p:cNvPr>
          <p:cNvCxnSpPr/>
          <p:nvPr/>
        </p:nvCxnSpPr>
        <p:spPr>
          <a:xfrm>
            <a:off x="5799670" y="2209804"/>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1CCD4676-410F-C649-96DD-0DF2A87D3742}"/>
              </a:ext>
            </a:extLst>
          </p:cNvPr>
          <p:cNvSpPr/>
          <p:nvPr/>
        </p:nvSpPr>
        <p:spPr>
          <a:xfrm>
            <a:off x="5346705" y="2667676"/>
            <a:ext cx="889000" cy="36406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Keys</a:t>
            </a:r>
          </a:p>
        </p:txBody>
      </p:sp>
      <p:cxnSp>
        <p:nvCxnSpPr>
          <p:cNvPr id="23" name="Straight Arrow Connector 22">
            <a:extLst>
              <a:ext uri="{FF2B5EF4-FFF2-40B4-BE49-F238E27FC236}">
                <a16:creationId xmlns:a16="http://schemas.microsoft.com/office/drawing/2014/main" id="{0F8D036E-875B-C84C-A4AE-E018165D85AF}"/>
              </a:ext>
            </a:extLst>
          </p:cNvPr>
          <p:cNvCxnSpPr/>
          <p:nvPr/>
        </p:nvCxnSpPr>
        <p:spPr>
          <a:xfrm>
            <a:off x="7035803" y="2209804"/>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E968847B-A061-8140-9D1D-0F49735F68A0}"/>
              </a:ext>
            </a:extLst>
          </p:cNvPr>
          <p:cNvSpPr/>
          <p:nvPr/>
        </p:nvSpPr>
        <p:spPr>
          <a:xfrm>
            <a:off x="6582838" y="2667676"/>
            <a:ext cx="889000" cy="36406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Keys</a:t>
            </a:r>
          </a:p>
        </p:txBody>
      </p:sp>
      <p:cxnSp>
        <p:nvCxnSpPr>
          <p:cNvPr id="25" name="Straight Arrow Connector 24">
            <a:extLst>
              <a:ext uri="{FF2B5EF4-FFF2-40B4-BE49-F238E27FC236}">
                <a16:creationId xmlns:a16="http://schemas.microsoft.com/office/drawing/2014/main" id="{12564B4F-CA91-2546-AB5B-81BD6F0B5DC9}"/>
              </a:ext>
            </a:extLst>
          </p:cNvPr>
          <p:cNvCxnSpPr/>
          <p:nvPr/>
        </p:nvCxnSpPr>
        <p:spPr>
          <a:xfrm>
            <a:off x="8271935" y="2209804"/>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41C800D7-F785-0E41-956D-8D3AFD0A562E}"/>
              </a:ext>
            </a:extLst>
          </p:cNvPr>
          <p:cNvSpPr/>
          <p:nvPr/>
        </p:nvSpPr>
        <p:spPr>
          <a:xfrm>
            <a:off x="7818970" y="2667676"/>
            <a:ext cx="889000" cy="36406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Keys</a:t>
            </a:r>
          </a:p>
        </p:txBody>
      </p:sp>
      <p:cxnSp>
        <p:nvCxnSpPr>
          <p:cNvPr id="27" name="Straight Arrow Connector 26">
            <a:extLst>
              <a:ext uri="{FF2B5EF4-FFF2-40B4-BE49-F238E27FC236}">
                <a16:creationId xmlns:a16="http://schemas.microsoft.com/office/drawing/2014/main" id="{96C6C4D4-CDDE-844C-B550-C9D3BF0B7210}"/>
              </a:ext>
            </a:extLst>
          </p:cNvPr>
          <p:cNvCxnSpPr/>
          <p:nvPr/>
        </p:nvCxnSpPr>
        <p:spPr>
          <a:xfrm>
            <a:off x="9679518" y="2210478"/>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73A82C8F-0A6B-4D41-8EFD-2B8573524BD7}"/>
              </a:ext>
            </a:extLst>
          </p:cNvPr>
          <p:cNvSpPr/>
          <p:nvPr/>
        </p:nvSpPr>
        <p:spPr>
          <a:xfrm>
            <a:off x="9226553" y="2668350"/>
            <a:ext cx="889000" cy="36406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Keys</a:t>
            </a:r>
          </a:p>
        </p:txBody>
      </p:sp>
      <p:cxnSp>
        <p:nvCxnSpPr>
          <p:cNvPr id="29" name="Straight Arrow Connector 28">
            <a:extLst>
              <a:ext uri="{FF2B5EF4-FFF2-40B4-BE49-F238E27FC236}">
                <a16:creationId xmlns:a16="http://schemas.microsoft.com/office/drawing/2014/main" id="{3C1EC9CF-CD06-5048-ABF6-ABC105A2B3D0}"/>
              </a:ext>
            </a:extLst>
          </p:cNvPr>
          <p:cNvCxnSpPr/>
          <p:nvPr/>
        </p:nvCxnSpPr>
        <p:spPr>
          <a:xfrm>
            <a:off x="11036294" y="2224334"/>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71383F9A-7B75-5A43-AA28-6FA3234F851B}"/>
              </a:ext>
            </a:extLst>
          </p:cNvPr>
          <p:cNvSpPr/>
          <p:nvPr/>
        </p:nvSpPr>
        <p:spPr>
          <a:xfrm>
            <a:off x="10583329" y="2682206"/>
            <a:ext cx="889000" cy="36406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Keys</a:t>
            </a:r>
          </a:p>
        </p:txBody>
      </p:sp>
      <p:sp>
        <p:nvSpPr>
          <p:cNvPr id="31" name="Alternate Process 30">
            <a:extLst>
              <a:ext uri="{FF2B5EF4-FFF2-40B4-BE49-F238E27FC236}">
                <a16:creationId xmlns:a16="http://schemas.microsoft.com/office/drawing/2014/main" id="{D370CA9E-5551-BC41-A8BA-82786E61C0A3}"/>
              </a:ext>
            </a:extLst>
          </p:cNvPr>
          <p:cNvSpPr/>
          <p:nvPr/>
        </p:nvSpPr>
        <p:spPr>
          <a:xfrm>
            <a:off x="7128935" y="3376812"/>
            <a:ext cx="2489201" cy="50800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Combiner</a:t>
            </a:r>
          </a:p>
        </p:txBody>
      </p:sp>
      <p:cxnSp>
        <p:nvCxnSpPr>
          <p:cNvPr id="32" name="Straight Arrow Connector 31">
            <a:extLst>
              <a:ext uri="{FF2B5EF4-FFF2-40B4-BE49-F238E27FC236}">
                <a16:creationId xmlns:a16="http://schemas.microsoft.com/office/drawing/2014/main" id="{6C510A89-800B-BE48-8C5D-DCD01A23781B}"/>
              </a:ext>
            </a:extLst>
          </p:cNvPr>
          <p:cNvCxnSpPr>
            <a:cxnSpLocks/>
          </p:cNvCxnSpPr>
          <p:nvPr/>
        </p:nvCxnSpPr>
        <p:spPr>
          <a:xfrm>
            <a:off x="5799669" y="3031743"/>
            <a:ext cx="1689098" cy="3450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0EFE7A30-DBB4-C549-9D0E-F790FD3E68CD}"/>
              </a:ext>
            </a:extLst>
          </p:cNvPr>
          <p:cNvCxnSpPr>
            <a:cxnSpLocks/>
            <a:stCxn id="24" idx="2"/>
          </p:cNvCxnSpPr>
          <p:nvPr/>
        </p:nvCxnSpPr>
        <p:spPr>
          <a:xfrm>
            <a:off x="7027338" y="3031743"/>
            <a:ext cx="808561" cy="3443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EF6F4986-B1E1-B645-B0C3-B8A26FF4BA13}"/>
              </a:ext>
            </a:extLst>
          </p:cNvPr>
          <p:cNvCxnSpPr>
            <a:cxnSpLocks/>
          </p:cNvCxnSpPr>
          <p:nvPr/>
        </p:nvCxnSpPr>
        <p:spPr>
          <a:xfrm flipH="1">
            <a:off x="8233841" y="3015608"/>
            <a:ext cx="4230" cy="4049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D8FF7819-8E2F-9540-ABFE-213969E9EF71}"/>
              </a:ext>
            </a:extLst>
          </p:cNvPr>
          <p:cNvCxnSpPr>
            <a:cxnSpLocks/>
            <a:stCxn id="28" idx="2"/>
            <a:endCxn id="31" idx="0"/>
          </p:cNvCxnSpPr>
          <p:nvPr/>
        </p:nvCxnSpPr>
        <p:spPr>
          <a:xfrm flipH="1">
            <a:off x="8373536" y="3032417"/>
            <a:ext cx="1297517" cy="3443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64439728-FBA7-1E46-83A5-9B39669E3F01}"/>
              </a:ext>
            </a:extLst>
          </p:cNvPr>
          <p:cNvCxnSpPr>
            <a:cxnSpLocks/>
            <a:stCxn id="30" idx="2"/>
          </p:cNvCxnSpPr>
          <p:nvPr/>
        </p:nvCxnSpPr>
        <p:spPr>
          <a:xfrm flipH="1">
            <a:off x="8940805" y="3046273"/>
            <a:ext cx="2087024" cy="3298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F517BBBE-20C1-A34F-A223-D91847F58EA3}"/>
              </a:ext>
            </a:extLst>
          </p:cNvPr>
          <p:cNvSpPr/>
          <p:nvPr/>
        </p:nvSpPr>
        <p:spPr>
          <a:xfrm>
            <a:off x="6108708" y="4136642"/>
            <a:ext cx="889000" cy="364067"/>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S/S</a:t>
            </a:r>
          </a:p>
        </p:txBody>
      </p:sp>
      <p:sp>
        <p:nvSpPr>
          <p:cNvPr id="38" name="Rectangle 37">
            <a:extLst>
              <a:ext uri="{FF2B5EF4-FFF2-40B4-BE49-F238E27FC236}">
                <a16:creationId xmlns:a16="http://schemas.microsoft.com/office/drawing/2014/main" id="{7AA83EA7-20F7-BD4B-A915-BB4D7CE0FDB1}"/>
              </a:ext>
            </a:extLst>
          </p:cNvPr>
          <p:cNvSpPr/>
          <p:nvPr/>
        </p:nvSpPr>
        <p:spPr>
          <a:xfrm>
            <a:off x="7344841" y="4136642"/>
            <a:ext cx="889000" cy="364067"/>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S/S</a:t>
            </a:r>
          </a:p>
        </p:txBody>
      </p:sp>
      <p:sp>
        <p:nvSpPr>
          <p:cNvPr id="39" name="Rectangle 38">
            <a:extLst>
              <a:ext uri="{FF2B5EF4-FFF2-40B4-BE49-F238E27FC236}">
                <a16:creationId xmlns:a16="http://schemas.microsoft.com/office/drawing/2014/main" id="{92D336FC-F1D1-D94C-BE04-4C00044D349F}"/>
              </a:ext>
            </a:extLst>
          </p:cNvPr>
          <p:cNvSpPr/>
          <p:nvPr/>
        </p:nvSpPr>
        <p:spPr>
          <a:xfrm>
            <a:off x="8580973" y="4136642"/>
            <a:ext cx="889000" cy="364067"/>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S/S</a:t>
            </a:r>
          </a:p>
        </p:txBody>
      </p:sp>
      <p:sp>
        <p:nvSpPr>
          <p:cNvPr id="40" name="Rectangle 39">
            <a:extLst>
              <a:ext uri="{FF2B5EF4-FFF2-40B4-BE49-F238E27FC236}">
                <a16:creationId xmlns:a16="http://schemas.microsoft.com/office/drawing/2014/main" id="{C11AAD5D-9725-9D48-805F-795C839CCAF8}"/>
              </a:ext>
            </a:extLst>
          </p:cNvPr>
          <p:cNvSpPr/>
          <p:nvPr/>
        </p:nvSpPr>
        <p:spPr>
          <a:xfrm>
            <a:off x="9988556" y="4137316"/>
            <a:ext cx="889000" cy="364067"/>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S/S</a:t>
            </a:r>
          </a:p>
        </p:txBody>
      </p:sp>
      <p:cxnSp>
        <p:nvCxnSpPr>
          <p:cNvPr id="41" name="Straight Arrow Connector 40">
            <a:extLst>
              <a:ext uri="{FF2B5EF4-FFF2-40B4-BE49-F238E27FC236}">
                <a16:creationId xmlns:a16="http://schemas.microsoft.com/office/drawing/2014/main" id="{EA3F8F20-0C06-4A41-B1AE-7DF255DC42C8}"/>
              </a:ext>
            </a:extLst>
          </p:cNvPr>
          <p:cNvCxnSpPr/>
          <p:nvPr/>
        </p:nvCxnSpPr>
        <p:spPr>
          <a:xfrm>
            <a:off x="6529921" y="4516935"/>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20711989-6A4E-2C41-8C9F-B61FAD4FDA2C}"/>
              </a:ext>
            </a:extLst>
          </p:cNvPr>
          <p:cNvSpPr/>
          <p:nvPr/>
        </p:nvSpPr>
        <p:spPr>
          <a:xfrm>
            <a:off x="5911854" y="4951481"/>
            <a:ext cx="1236133" cy="53366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sz="1600" dirty="0"/>
              <a:t>Reduce</a:t>
            </a:r>
          </a:p>
        </p:txBody>
      </p:sp>
      <p:cxnSp>
        <p:nvCxnSpPr>
          <p:cNvPr id="43" name="Straight Arrow Connector 42">
            <a:extLst>
              <a:ext uri="{FF2B5EF4-FFF2-40B4-BE49-F238E27FC236}">
                <a16:creationId xmlns:a16="http://schemas.microsoft.com/office/drawing/2014/main" id="{1D2073D7-F856-7940-A6F6-6941F9B14126}"/>
              </a:ext>
            </a:extLst>
          </p:cNvPr>
          <p:cNvCxnSpPr/>
          <p:nvPr/>
        </p:nvCxnSpPr>
        <p:spPr>
          <a:xfrm>
            <a:off x="7791454" y="4536230"/>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Oval 43">
            <a:extLst>
              <a:ext uri="{FF2B5EF4-FFF2-40B4-BE49-F238E27FC236}">
                <a16:creationId xmlns:a16="http://schemas.microsoft.com/office/drawing/2014/main" id="{84E51DCD-B3AC-6243-B558-FE5496DF93F1}"/>
              </a:ext>
            </a:extLst>
          </p:cNvPr>
          <p:cNvSpPr/>
          <p:nvPr/>
        </p:nvSpPr>
        <p:spPr>
          <a:xfrm>
            <a:off x="7173387" y="4970776"/>
            <a:ext cx="1236133" cy="53366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sz="1600" dirty="0"/>
              <a:t>Reduce</a:t>
            </a:r>
          </a:p>
        </p:txBody>
      </p:sp>
      <p:cxnSp>
        <p:nvCxnSpPr>
          <p:cNvPr id="45" name="Straight Arrow Connector 44">
            <a:extLst>
              <a:ext uri="{FF2B5EF4-FFF2-40B4-BE49-F238E27FC236}">
                <a16:creationId xmlns:a16="http://schemas.microsoft.com/office/drawing/2014/main" id="{092AEAD5-A122-1748-B784-796AA4FBE2FD}"/>
              </a:ext>
            </a:extLst>
          </p:cNvPr>
          <p:cNvCxnSpPr/>
          <p:nvPr/>
        </p:nvCxnSpPr>
        <p:spPr>
          <a:xfrm>
            <a:off x="9052987" y="4549605"/>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BD5D824F-FD22-BB4A-A83D-B2A6C2142B9B}"/>
              </a:ext>
            </a:extLst>
          </p:cNvPr>
          <p:cNvSpPr/>
          <p:nvPr/>
        </p:nvSpPr>
        <p:spPr>
          <a:xfrm>
            <a:off x="8434920" y="4984151"/>
            <a:ext cx="1236133" cy="53366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sz="1600" dirty="0"/>
              <a:t>Reduce</a:t>
            </a:r>
          </a:p>
        </p:txBody>
      </p:sp>
      <p:cxnSp>
        <p:nvCxnSpPr>
          <p:cNvPr id="47" name="Straight Arrow Connector 46">
            <a:extLst>
              <a:ext uri="{FF2B5EF4-FFF2-40B4-BE49-F238E27FC236}">
                <a16:creationId xmlns:a16="http://schemas.microsoft.com/office/drawing/2014/main" id="{8B5A7E81-0D7D-864D-9557-3AE3A09BB39C}"/>
              </a:ext>
            </a:extLst>
          </p:cNvPr>
          <p:cNvCxnSpPr/>
          <p:nvPr/>
        </p:nvCxnSpPr>
        <p:spPr>
          <a:xfrm>
            <a:off x="10441520" y="4544485"/>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8" name="Oval 47">
            <a:extLst>
              <a:ext uri="{FF2B5EF4-FFF2-40B4-BE49-F238E27FC236}">
                <a16:creationId xmlns:a16="http://schemas.microsoft.com/office/drawing/2014/main" id="{DD89D06E-FBD5-2941-ABF9-4D381020AD82}"/>
              </a:ext>
            </a:extLst>
          </p:cNvPr>
          <p:cNvSpPr/>
          <p:nvPr/>
        </p:nvSpPr>
        <p:spPr>
          <a:xfrm>
            <a:off x="9823453" y="4979031"/>
            <a:ext cx="1236133" cy="53366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sz="1600" dirty="0"/>
              <a:t>Reduce</a:t>
            </a:r>
          </a:p>
        </p:txBody>
      </p:sp>
    </p:spTree>
    <p:extLst>
      <p:ext uri="{BB962C8B-B14F-4D97-AF65-F5344CB8AC3E}">
        <p14:creationId xmlns:p14="http://schemas.microsoft.com/office/powerpoint/2010/main" val="22702287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160861" y="186402"/>
            <a:ext cx="4402673" cy="5734344"/>
          </a:xfrm>
        </p:spPr>
        <p:txBody>
          <a:bodyPr>
            <a:normAutofit/>
          </a:bodyPr>
          <a:lstStyle/>
          <a:p>
            <a:pPr algn="ctr">
              <a:lnSpc>
                <a:spcPct val="150000"/>
              </a:lnSpc>
            </a:pPr>
            <a:r>
              <a:rPr lang="en-US" sz="3000" b="1" dirty="0"/>
              <a:t>MapReduce Architecture</a:t>
            </a:r>
          </a:p>
          <a:p>
            <a:pPr>
              <a:lnSpc>
                <a:spcPct val="150000"/>
              </a:lnSpc>
            </a:pPr>
            <a:r>
              <a:rPr lang="en-US" sz="2400" b="1" dirty="0"/>
              <a:t>Output Phase</a:t>
            </a:r>
            <a:r>
              <a:rPr lang="en-US" sz="2400" dirty="0"/>
              <a:t> − In the output phase, we have an output formatter that translates the final key-value pairs from the Reducer function and writes them onto a file using a record writer.</a:t>
            </a:r>
          </a:p>
          <a:p>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17</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a:xfrm>
            <a:off x="4123267" y="6356350"/>
            <a:ext cx="4114800" cy="365125"/>
          </a:xfrm>
        </p:spPr>
        <p:txBody>
          <a:bodyPr/>
          <a:lstStyle/>
          <a:p>
            <a:r>
              <a:rPr lang="en-US"/>
              <a:t>Or Peretz</a:t>
            </a:r>
            <a:endParaRPr lang="en-IL"/>
          </a:p>
        </p:txBody>
      </p:sp>
      <p:sp>
        <p:nvSpPr>
          <p:cNvPr id="6" name="Rounded Rectangle 5">
            <a:extLst>
              <a:ext uri="{FF2B5EF4-FFF2-40B4-BE49-F238E27FC236}">
                <a16:creationId xmlns:a16="http://schemas.microsoft.com/office/drawing/2014/main" id="{CDD13228-D798-A543-9CF3-83A10A6F83A8}"/>
              </a:ext>
            </a:extLst>
          </p:cNvPr>
          <p:cNvSpPr/>
          <p:nvPr/>
        </p:nvSpPr>
        <p:spPr>
          <a:xfrm>
            <a:off x="5249338" y="533406"/>
            <a:ext cx="1134533" cy="4656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Input</a:t>
            </a:r>
          </a:p>
        </p:txBody>
      </p:sp>
      <p:sp>
        <p:nvSpPr>
          <p:cNvPr id="7" name="Rounded Rectangle 6">
            <a:extLst>
              <a:ext uri="{FF2B5EF4-FFF2-40B4-BE49-F238E27FC236}">
                <a16:creationId xmlns:a16="http://schemas.microsoft.com/office/drawing/2014/main" id="{264630C5-F7F6-644E-A3A3-6C5BE2751DA9}"/>
              </a:ext>
            </a:extLst>
          </p:cNvPr>
          <p:cNvSpPr/>
          <p:nvPr/>
        </p:nvSpPr>
        <p:spPr>
          <a:xfrm>
            <a:off x="6510871" y="533405"/>
            <a:ext cx="1134533" cy="4656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Input</a:t>
            </a:r>
          </a:p>
        </p:txBody>
      </p:sp>
      <p:sp>
        <p:nvSpPr>
          <p:cNvPr id="8" name="Rounded Rectangle 7">
            <a:extLst>
              <a:ext uri="{FF2B5EF4-FFF2-40B4-BE49-F238E27FC236}">
                <a16:creationId xmlns:a16="http://schemas.microsoft.com/office/drawing/2014/main" id="{9ABFA56E-6EF8-8046-B5E4-CA1FB2E395A6}"/>
              </a:ext>
            </a:extLst>
          </p:cNvPr>
          <p:cNvSpPr/>
          <p:nvPr/>
        </p:nvSpPr>
        <p:spPr>
          <a:xfrm>
            <a:off x="7772404" y="533404"/>
            <a:ext cx="1134533" cy="4656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Input</a:t>
            </a:r>
          </a:p>
        </p:txBody>
      </p:sp>
      <p:sp>
        <p:nvSpPr>
          <p:cNvPr id="9" name="Rounded Rectangle 8">
            <a:extLst>
              <a:ext uri="{FF2B5EF4-FFF2-40B4-BE49-F238E27FC236}">
                <a16:creationId xmlns:a16="http://schemas.microsoft.com/office/drawing/2014/main" id="{5A37C5B1-41B1-814D-9968-562351759BC4}"/>
              </a:ext>
            </a:extLst>
          </p:cNvPr>
          <p:cNvSpPr/>
          <p:nvPr/>
        </p:nvSpPr>
        <p:spPr>
          <a:xfrm>
            <a:off x="9067804" y="533404"/>
            <a:ext cx="1134533" cy="4656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Input</a:t>
            </a:r>
          </a:p>
        </p:txBody>
      </p:sp>
      <p:sp>
        <p:nvSpPr>
          <p:cNvPr id="10" name="Rounded Rectangle 9">
            <a:extLst>
              <a:ext uri="{FF2B5EF4-FFF2-40B4-BE49-F238E27FC236}">
                <a16:creationId xmlns:a16="http://schemas.microsoft.com/office/drawing/2014/main" id="{F83D2799-5FAD-704B-ADB5-56D01C7DB85F}"/>
              </a:ext>
            </a:extLst>
          </p:cNvPr>
          <p:cNvSpPr/>
          <p:nvPr/>
        </p:nvSpPr>
        <p:spPr>
          <a:xfrm>
            <a:off x="10422470" y="533404"/>
            <a:ext cx="1134533" cy="4656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Input</a:t>
            </a:r>
          </a:p>
        </p:txBody>
      </p:sp>
      <p:cxnSp>
        <p:nvCxnSpPr>
          <p:cNvPr id="11" name="Straight Arrow Connector 10">
            <a:extLst>
              <a:ext uri="{FF2B5EF4-FFF2-40B4-BE49-F238E27FC236}">
                <a16:creationId xmlns:a16="http://schemas.microsoft.com/office/drawing/2014/main" id="{EFD7DBEC-8DCC-B445-BA8A-08C4D9AE8B69}"/>
              </a:ext>
            </a:extLst>
          </p:cNvPr>
          <p:cNvCxnSpPr/>
          <p:nvPr/>
        </p:nvCxnSpPr>
        <p:spPr>
          <a:xfrm>
            <a:off x="5816604" y="999071"/>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4C502997-222F-EC4F-8345-8BFABC85A89E}"/>
              </a:ext>
            </a:extLst>
          </p:cNvPr>
          <p:cNvSpPr/>
          <p:nvPr/>
        </p:nvSpPr>
        <p:spPr>
          <a:xfrm>
            <a:off x="5363639" y="1439340"/>
            <a:ext cx="905929" cy="770466"/>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Map</a:t>
            </a:r>
          </a:p>
        </p:txBody>
      </p:sp>
      <p:cxnSp>
        <p:nvCxnSpPr>
          <p:cNvPr id="13" name="Straight Arrow Connector 12">
            <a:extLst>
              <a:ext uri="{FF2B5EF4-FFF2-40B4-BE49-F238E27FC236}">
                <a16:creationId xmlns:a16="http://schemas.microsoft.com/office/drawing/2014/main" id="{E1398C68-0BE3-C541-B49C-AB26A5F1BA29}"/>
              </a:ext>
            </a:extLst>
          </p:cNvPr>
          <p:cNvCxnSpPr/>
          <p:nvPr/>
        </p:nvCxnSpPr>
        <p:spPr>
          <a:xfrm>
            <a:off x="7052737" y="999071"/>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4A85AFA8-2BD4-2C43-B0A8-FF3D11B9AAB1}"/>
              </a:ext>
            </a:extLst>
          </p:cNvPr>
          <p:cNvSpPr/>
          <p:nvPr/>
        </p:nvSpPr>
        <p:spPr>
          <a:xfrm>
            <a:off x="6599772" y="1439340"/>
            <a:ext cx="905929" cy="770466"/>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Map</a:t>
            </a:r>
          </a:p>
        </p:txBody>
      </p:sp>
      <p:cxnSp>
        <p:nvCxnSpPr>
          <p:cNvPr id="15" name="Straight Arrow Connector 14">
            <a:extLst>
              <a:ext uri="{FF2B5EF4-FFF2-40B4-BE49-F238E27FC236}">
                <a16:creationId xmlns:a16="http://schemas.microsoft.com/office/drawing/2014/main" id="{AB82AAC2-459F-594D-8047-9B31C2DAA613}"/>
              </a:ext>
            </a:extLst>
          </p:cNvPr>
          <p:cNvCxnSpPr/>
          <p:nvPr/>
        </p:nvCxnSpPr>
        <p:spPr>
          <a:xfrm>
            <a:off x="8310039" y="999071"/>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D4D8879A-972D-6240-BCB9-E4894468C637}"/>
              </a:ext>
            </a:extLst>
          </p:cNvPr>
          <p:cNvSpPr/>
          <p:nvPr/>
        </p:nvSpPr>
        <p:spPr>
          <a:xfrm>
            <a:off x="7857074" y="1439340"/>
            <a:ext cx="905929" cy="770466"/>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Map</a:t>
            </a:r>
          </a:p>
        </p:txBody>
      </p:sp>
      <p:cxnSp>
        <p:nvCxnSpPr>
          <p:cNvPr id="17" name="Straight Arrow Connector 16">
            <a:extLst>
              <a:ext uri="{FF2B5EF4-FFF2-40B4-BE49-F238E27FC236}">
                <a16:creationId xmlns:a16="http://schemas.microsoft.com/office/drawing/2014/main" id="{80401179-7AEC-8141-8D23-60F060DA6DC8}"/>
              </a:ext>
            </a:extLst>
          </p:cNvPr>
          <p:cNvCxnSpPr/>
          <p:nvPr/>
        </p:nvCxnSpPr>
        <p:spPr>
          <a:xfrm>
            <a:off x="9687987" y="999071"/>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A5EA08D9-672F-9F47-B02D-DA93ECE026FD}"/>
              </a:ext>
            </a:extLst>
          </p:cNvPr>
          <p:cNvSpPr/>
          <p:nvPr/>
        </p:nvSpPr>
        <p:spPr>
          <a:xfrm>
            <a:off x="9235022" y="1439340"/>
            <a:ext cx="905929" cy="770466"/>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Map</a:t>
            </a:r>
          </a:p>
        </p:txBody>
      </p:sp>
      <p:cxnSp>
        <p:nvCxnSpPr>
          <p:cNvPr id="19" name="Straight Arrow Connector 18">
            <a:extLst>
              <a:ext uri="{FF2B5EF4-FFF2-40B4-BE49-F238E27FC236}">
                <a16:creationId xmlns:a16="http://schemas.microsoft.com/office/drawing/2014/main" id="{4830161A-BD35-2940-8069-582A45ACC441}"/>
              </a:ext>
            </a:extLst>
          </p:cNvPr>
          <p:cNvCxnSpPr/>
          <p:nvPr/>
        </p:nvCxnSpPr>
        <p:spPr>
          <a:xfrm>
            <a:off x="11044763" y="999071"/>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636C9BC6-EEBF-484F-B51A-0E92639A43C1}"/>
              </a:ext>
            </a:extLst>
          </p:cNvPr>
          <p:cNvSpPr/>
          <p:nvPr/>
        </p:nvSpPr>
        <p:spPr>
          <a:xfrm>
            <a:off x="10591798" y="1439340"/>
            <a:ext cx="905929" cy="770466"/>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Map</a:t>
            </a:r>
          </a:p>
        </p:txBody>
      </p:sp>
      <p:cxnSp>
        <p:nvCxnSpPr>
          <p:cNvPr id="21" name="Straight Arrow Connector 20">
            <a:extLst>
              <a:ext uri="{FF2B5EF4-FFF2-40B4-BE49-F238E27FC236}">
                <a16:creationId xmlns:a16="http://schemas.microsoft.com/office/drawing/2014/main" id="{AC7F85E8-A6CE-C94D-BFCE-0D6F20AAA8D7}"/>
              </a:ext>
            </a:extLst>
          </p:cNvPr>
          <p:cNvCxnSpPr/>
          <p:nvPr/>
        </p:nvCxnSpPr>
        <p:spPr>
          <a:xfrm>
            <a:off x="5799670" y="2209804"/>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1CCD4676-410F-C649-96DD-0DF2A87D3742}"/>
              </a:ext>
            </a:extLst>
          </p:cNvPr>
          <p:cNvSpPr/>
          <p:nvPr/>
        </p:nvSpPr>
        <p:spPr>
          <a:xfrm>
            <a:off x="5346705" y="2667676"/>
            <a:ext cx="889000" cy="36406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Keys</a:t>
            </a:r>
          </a:p>
        </p:txBody>
      </p:sp>
      <p:cxnSp>
        <p:nvCxnSpPr>
          <p:cNvPr id="23" name="Straight Arrow Connector 22">
            <a:extLst>
              <a:ext uri="{FF2B5EF4-FFF2-40B4-BE49-F238E27FC236}">
                <a16:creationId xmlns:a16="http://schemas.microsoft.com/office/drawing/2014/main" id="{0F8D036E-875B-C84C-A4AE-E018165D85AF}"/>
              </a:ext>
            </a:extLst>
          </p:cNvPr>
          <p:cNvCxnSpPr/>
          <p:nvPr/>
        </p:nvCxnSpPr>
        <p:spPr>
          <a:xfrm>
            <a:off x="7035803" y="2209804"/>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E968847B-A061-8140-9D1D-0F49735F68A0}"/>
              </a:ext>
            </a:extLst>
          </p:cNvPr>
          <p:cNvSpPr/>
          <p:nvPr/>
        </p:nvSpPr>
        <p:spPr>
          <a:xfrm>
            <a:off x="6582838" y="2667676"/>
            <a:ext cx="889000" cy="36406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Keys</a:t>
            </a:r>
          </a:p>
        </p:txBody>
      </p:sp>
      <p:cxnSp>
        <p:nvCxnSpPr>
          <p:cNvPr id="25" name="Straight Arrow Connector 24">
            <a:extLst>
              <a:ext uri="{FF2B5EF4-FFF2-40B4-BE49-F238E27FC236}">
                <a16:creationId xmlns:a16="http://schemas.microsoft.com/office/drawing/2014/main" id="{12564B4F-CA91-2546-AB5B-81BD6F0B5DC9}"/>
              </a:ext>
            </a:extLst>
          </p:cNvPr>
          <p:cNvCxnSpPr/>
          <p:nvPr/>
        </p:nvCxnSpPr>
        <p:spPr>
          <a:xfrm>
            <a:off x="8271935" y="2209804"/>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41C800D7-F785-0E41-956D-8D3AFD0A562E}"/>
              </a:ext>
            </a:extLst>
          </p:cNvPr>
          <p:cNvSpPr/>
          <p:nvPr/>
        </p:nvSpPr>
        <p:spPr>
          <a:xfrm>
            <a:off x="7818970" y="2667676"/>
            <a:ext cx="889000" cy="36406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Keys</a:t>
            </a:r>
          </a:p>
        </p:txBody>
      </p:sp>
      <p:cxnSp>
        <p:nvCxnSpPr>
          <p:cNvPr id="27" name="Straight Arrow Connector 26">
            <a:extLst>
              <a:ext uri="{FF2B5EF4-FFF2-40B4-BE49-F238E27FC236}">
                <a16:creationId xmlns:a16="http://schemas.microsoft.com/office/drawing/2014/main" id="{96C6C4D4-CDDE-844C-B550-C9D3BF0B7210}"/>
              </a:ext>
            </a:extLst>
          </p:cNvPr>
          <p:cNvCxnSpPr/>
          <p:nvPr/>
        </p:nvCxnSpPr>
        <p:spPr>
          <a:xfrm>
            <a:off x="9679518" y="2210478"/>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73A82C8F-0A6B-4D41-8EFD-2B8573524BD7}"/>
              </a:ext>
            </a:extLst>
          </p:cNvPr>
          <p:cNvSpPr/>
          <p:nvPr/>
        </p:nvSpPr>
        <p:spPr>
          <a:xfrm>
            <a:off x="9226553" y="2668350"/>
            <a:ext cx="889000" cy="36406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Keys</a:t>
            </a:r>
          </a:p>
        </p:txBody>
      </p:sp>
      <p:cxnSp>
        <p:nvCxnSpPr>
          <p:cNvPr id="29" name="Straight Arrow Connector 28">
            <a:extLst>
              <a:ext uri="{FF2B5EF4-FFF2-40B4-BE49-F238E27FC236}">
                <a16:creationId xmlns:a16="http://schemas.microsoft.com/office/drawing/2014/main" id="{3C1EC9CF-CD06-5048-ABF6-ABC105A2B3D0}"/>
              </a:ext>
            </a:extLst>
          </p:cNvPr>
          <p:cNvCxnSpPr/>
          <p:nvPr/>
        </p:nvCxnSpPr>
        <p:spPr>
          <a:xfrm>
            <a:off x="11036294" y="2224334"/>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71383F9A-7B75-5A43-AA28-6FA3234F851B}"/>
              </a:ext>
            </a:extLst>
          </p:cNvPr>
          <p:cNvSpPr/>
          <p:nvPr/>
        </p:nvSpPr>
        <p:spPr>
          <a:xfrm>
            <a:off x="10583329" y="2682206"/>
            <a:ext cx="889000" cy="36406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Keys</a:t>
            </a:r>
          </a:p>
        </p:txBody>
      </p:sp>
      <p:sp>
        <p:nvSpPr>
          <p:cNvPr id="31" name="Alternate Process 30">
            <a:extLst>
              <a:ext uri="{FF2B5EF4-FFF2-40B4-BE49-F238E27FC236}">
                <a16:creationId xmlns:a16="http://schemas.microsoft.com/office/drawing/2014/main" id="{D370CA9E-5551-BC41-A8BA-82786E61C0A3}"/>
              </a:ext>
            </a:extLst>
          </p:cNvPr>
          <p:cNvSpPr/>
          <p:nvPr/>
        </p:nvSpPr>
        <p:spPr>
          <a:xfrm>
            <a:off x="7128935" y="3376812"/>
            <a:ext cx="2489201" cy="50800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Combiner</a:t>
            </a:r>
          </a:p>
        </p:txBody>
      </p:sp>
      <p:cxnSp>
        <p:nvCxnSpPr>
          <p:cNvPr id="32" name="Straight Arrow Connector 31">
            <a:extLst>
              <a:ext uri="{FF2B5EF4-FFF2-40B4-BE49-F238E27FC236}">
                <a16:creationId xmlns:a16="http://schemas.microsoft.com/office/drawing/2014/main" id="{6C510A89-800B-BE48-8C5D-DCD01A23781B}"/>
              </a:ext>
            </a:extLst>
          </p:cNvPr>
          <p:cNvCxnSpPr>
            <a:cxnSpLocks/>
          </p:cNvCxnSpPr>
          <p:nvPr/>
        </p:nvCxnSpPr>
        <p:spPr>
          <a:xfrm>
            <a:off x="5799669" y="3031743"/>
            <a:ext cx="1689098" cy="3450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0EFE7A30-DBB4-C549-9D0E-F790FD3E68CD}"/>
              </a:ext>
            </a:extLst>
          </p:cNvPr>
          <p:cNvCxnSpPr>
            <a:cxnSpLocks/>
            <a:stCxn id="24" idx="2"/>
          </p:cNvCxnSpPr>
          <p:nvPr/>
        </p:nvCxnSpPr>
        <p:spPr>
          <a:xfrm>
            <a:off x="7027338" y="3031743"/>
            <a:ext cx="808561" cy="3443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EF6F4986-B1E1-B645-B0C3-B8A26FF4BA13}"/>
              </a:ext>
            </a:extLst>
          </p:cNvPr>
          <p:cNvCxnSpPr>
            <a:cxnSpLocks/>
          </p:cNvCxnSpPr>
          <p:nvPr/>
        </p:nvCxnSpPr>
        <p:spPr>
          <a:xfrm flipH="1">
            <a:off x="8233841" y="3015608"/>
            <a:ext cx="4230" cy="4049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D8FF7819-8E2F-9540-ABFE-213969E9EF71}"/>
              </a:ext>
            </a:extLst>
          </p:cNvPr>
          <p:cNvCxnSpPr>
            <a:cxnSpLocks/>
            <a:stCxn id="28" idx="2"/>
            <a:endCxn id="31" idx="0"/>
          </p:cNvCxnSpPr>
          <p:nvPr/>
        </p:nvCxnSpPr>
        <p:spPr>
          <a:xfrm flipH="1">
            <a:off x="8373536" y="3032417"/>
            <a:ext cx="1297517" cy="3443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64439728-FBA7-1E46-83A5-9B39669E3F01}"/>
              </a:ext>
            </a:extLst>
          </p:cNvPr>
          <p:cNvCxnSpPr>
            <a:cxnSpLocks/>
            <a:stCxn id="30" idx="2"/>
          </p:cNvCxnSpPr>
          <p:nvPr/>
        </p:nvCxnSpPr>
        <p:spPr>
          <a:xfrm flipH="1">
            <a:off x="8940805" y="3046273"/>
            <a:ext cx="2087024" cy="3298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F517BBBE-20C1-A34F-A223-D91847F58EA3}"/>
              </a:ext>
            </a:extLst>
          </p:cNvPr>
          <p:cNvSpPr/>
          <p:nvPr/>
        </p:nvSpPr>
        <p:spPr>
          <a:xfrm>
            <a:off x="6108708" y="4136642"/>
            <a:ext cx="889000" cy="364067"/>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S/S</a:t>
            </a:r>
          </a:p>
        </p:txBody>
      </p:sp>
      <p:sp>
        <p:nvSpPr>
          <p:cNvPr id="38" name="Rectangle 37">
            <a:extLst>
              <a:ext uri="{FF2B5EF4-FFF2-40B4-BE49-F238E27FC236}">
                <a16:creationId xmlns:a16="http://schemas.microsoft.com/office/drawing/2014/main" id="{7AA83EA7-20F7-BD4B-A915-BB4D7CE0FDB1}"/>
              </a:ext>
            </a:extLst>
          </p:cNvPr>
          <p:cNvSpPr/>
          <p:nvPr/>
        </p:nvSpPr>
        <p:spPr>
          <a:xfrm>
            <a:off x="7344841" y="4136642"/>
            <a:ext cx="889000" cy="364067"/>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S/S</a:t>
            </a:r>
          </a:p>
        </p:txBody>
      </p:sp>
      <p:sp>
        <p:nvSpPr>
          <p:cNvPr id="39" name="Rectangle 38">
            <a:extLst>
              <a:ext uri="{FF2B5EF4-FFF2-40B4-BE49-F238E27FC236}">
                <a16:creationId xmlns:a16="http://schemas.microsoft.com/office/drawing/2014/main" id="{92D336FC-F1D1-D94C-BE04-4C00044D349F}"/>
              </a:ext>
            </a:extLst>
          </p:cNvPr>
          <p:cNvSpPr/>
          <p:nvPr/>
        </p:nvSpPr>
        <p:spPr>
          <a:xfrm>
            <a:off x="8580973" y="4136642"/>
            <a:ext cx="889000" cy="364067"/>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S/S</a:t>
            </a:r>
          </a:p>
        </p:txBody>
      </p:sp>
      <p:sp>
        <p:nvSpPr>
          <p:cNvPr id="40" name="Rectangle 39">
            <a:extLst>
              <a:ext uri="{FF2B5EF4-FFF2-40B4-BE49-F238E27FC236}">
                <a16:creationId xmlns:a16="http://schemas.microsoft.com/office/drawing/2014/main" id="{C11AAD5D-9725-9D48-805F-795C839CCAF8}"/>
              </a:ext>
            </a:extLst>
          </p:cNvPr>
          <p:cNvSpPr/>
          <p:nvPr/>
        </p:nvSpPr>
        <p:spPr>
          <a:xfrm>
            <a:off x="9988556" y="4137316"/>
            <a:ext cx="889000" cy="364067"/>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S/S</a:t>
            </a:r>
          </a:p>
        </p:txBody>
      </p:sp>
      <p:cxnSp>
        <p:nvCxnSpPr>
          <p:cNvPr id="41" name="Straight Arrow Connector 40">
            <a:extLst>
              <a:ext uri="{FF2B5EF4-FFF2-40B4-BE49-F238E27FC236}">
                <a16:creationId xmlns:a16="http://schemas.microsoft.com/office/drawing/2014/main" id="{EA3F8F20-0C06-4A41-B1AE-7DF255DC42C8}"/>
              </a:ext>
            </a:extLst>
          </p:cNvPr>
          <p:cNvCxnSpPr/>
          <p:nvPr/>
        </p:nvCxnSpPr>
        <p:spPr>
          <a:xfrm>
            <a:off x="6529921" y="4516935"/>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20711989-6A4E-2C41-8C9F-B61FAD4FDA2C}"/>
              </a:ext>
            </a:extLst>
          </p:cNvPr>
          <p:cNvSpPr/>
          <p:nvPr/>
        </p:nvSpPr>
        <p:spPr>
          <a:xfrm>
            <a:off x="5911854" y="4951481"/>
            <a:ext cx="1236133" cy="53366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sz="1600" dirty="0"/>
              <a:t>Reduce</a:t>
            </a:r>
          </a:p>
        </p:txBody>
      </p:sp>
      <p:cxnSp>
        <p:nvCxnSpPr>
          <p:cNvPr id="43" name="Straight Arrow Connector 42">
            <a:extLst>
              <a:ext uri="{FF2B5EF4-FFF2-40B4-BE49-F238E27FC236}">
                <a16:creationId xmlns:a16="http://schemas.microsoft.com/office/drawing/2014/main" id="{1D2073D7-F856-7940-A6F6-6941F9B14126}"/>
              </a:ext>
            </a:extLst>
          </p:cNvPr>
          <p:cNvCxnSpPr/>
          <p:nvPr/>
        </p:nvCxnSpPr>
        <p:spPr>
          <a:xfrm>
            <a:off x="7791454" y="4536230"/>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Oval 43">
            <a:extLst>
              <a:ext uri="{FF2B5EF4-FFF2-40B4-BE49-F238E27FC236}">
                <a16:creationId xmlns:a16="http://schemas.microsoft.com/office/drawing/2014/main" id="{84E51DCD-B3AC-6243-B558-FE5496DF93F1}"/>
              </a:ext>
            </a:extLst>
          </p:cNvPr>
          <p:cNvSpPr/>
          <p:nvPr/>
        </p:nvSpPr>
        <p:spPr>
          <a:xfrm>
            <a:off x="7173387" y="4970776"/>
            <a:ext cx="1236133" cy="53366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sz="1600" dirty="0"/>
              <a:t>Reduce</a:t>
            </a:r>
          </a:p>
        </p:txBody>
      </p:sp>
      <p:cxnSp>
        <p:nvCxnSpPr>
          <p:cNvPr id="45" name="Straight Arrow Connector 44">
            <a:extLst>
              <a:ext uri="{FF2B5EF4-FFF2-40B4-BE49-F238E27FC236}">
                <a16:creationId xmlns:a16="http://schemas.microsoft.com/office/drawing/2014/main" id="{092AEAD5-A122-1748-B784-796AA4FBE2FD}"/>
              </a:ext>
            </a:extLst>
          </p:cNvPr>
          <p:cNvCxnSpPr/>
          <p:nvPr/>
        </p:nvCxnSpPr>
        <p:spPr>
          <a:xfrm>
            <a:off x="9052987" y="4549605"/>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BD5D824F-FD22-BB4A-A83D-B2A6C2142B9B}"/>
              </a:ext>
            </a:extLst>
          </p:cNvPr>
          <p:cNvSpPr/>
          <p:nvPr/>
        </p:nvSpPr>
        <p:spPr>
          <a:xfrm>
            <a:off x="8434920" y="4984151"/>
            <a:ext cx="1236133" cy="53366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sz="1600" dirty="0"/>
              <a:t>Reduce</a:t>
            </a:r>
          </a:p>
        </p:txBody>
      </p:sp>
      <p:cxnSp>
        <p:nvCxnSpPr>
          <p:cNvPr id="47" name="Straight Arrow Connector 46">
            <a:extLst>
              <a:ext uri="{FF2B5EF4-FFF2-40B4-BE49-F238E27FC236}">
                <a16:creationId xmlns:a16="http://schemas.microsoft.com/office/drawing/2014/main" id="{8B5A7E81-0D7D-864D-9557-3AE3A09BB39C}"/>
              </a:ext>
            </a:extLst>
          </p:cNvPr>
          <p:cNvCxnSpPr/>
          <p:nvPr/>
        </p:nvCxnSpPr>
        <p:spPr>
          <a:xfrm>
            <a:off x="10441520" y="4544485"/>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8" name="Oval 47">
            <a:extLst>
              <a:ext uri="{FF2B5EF4-FFF2-40B4-BE49-F238E27FC236}">
                <a16:creationId xmlns:a16="http://schemas.microsoft.com/office/drawing/2014/main" id="{DD89D06E-FBD5-2941-ABF9-4D381020AD82}"/>
              </a:ext>
            </a:extLst>
          </p:cNvPr>
          <p:cNvSpPr/>
          <p:nvPr/>
        </p:nvSpPr>
        <p:spPr>
          <a:xfrm>
            <a:off x="9823453" y="4979031"/>
            <a:ext cx="1236133" cy="53366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sz="1600" dirty="0"/>
              <a:t>Reduce</a:t>
            </a:r>
          </a:p>
        </p:txBody>
      </p:sp>
      <p:sp>
        <p:nvSpPr>
          <p:cNvPr id="3" name="Rectangle 2">
            <a:extLst>
              <a:ext uri="{FF2B5EF4-FFF2-40B4-BE49-F238E27FC236}">
                <a16:creationId xmlns:a16="http://schemas.microsoft.com/office/drawing/2014/main" id="{6AB1ADF7-E336-A549-B0B1-F425124C6137}"/>
              </a:ext>
            </a:extLst>
          </p:cNvPr>
          <p:cNvSpPr/>
          <p:nvPr/>
        </p:nvSpPr>
        <p:spPr>
          <a:xfrm>
            <a:off x="6832600" y="5808058"/>
            <a:ext cx="3149600" cy="4854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Output</a:t>
            </a:r>
          </a:p>
        </p:txBody>
      </p:sp>
    </p:spTree>
    <p:extLst>
      <p:ext uri="{BB962C8B-B14F-4D97-AF65-F5344CB8AC3E}">
        <p14:creationId xmlns:p14="http://schemas.microsoft.com/office/powerpoint/2010/main" val="29453299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pPr marL="0" lvl="0" indent="0">
              <a:buNone/>
            </a:pPr>
            <a:r>
              <a:t>Why Shuffle Is the Bottleneck</a:t>
            </a:r>
          </a:p>
        </p:txBody>
      </p:sp>
      <p:sp>
        <p:nvSpPr>
          <p:cNvPr id="3" name="Content Placeholder 2"/>
          <p:cNvSpPr>
            <a:spLocks noGrp="1"/>
          </p:cNvSpPr>
          <p:nvPr>
            <p:ph idx="1" hasCustomPrompt="1"/>
          </p:nvPr>
        </p:nvSpPr>
        <p:spPr/>
        <p:txBody>
          <a:bodyPr/>
          <a:lstStyle/>
          <a:p>
            <a:pPr lvl="0"/>
            <a:r>
              <a:t>All map outputs must be redistributed by key.</a:t>
            </a:r>
          </a:p>
          <a:p>
            <a:pPr lvl="0"/>
            <a:r>
              <a:t>Network + disk spill dominate total runtime.</a:t>
            </a:r>
          </a:p>
          <a:p>
            <a:pPr lvl="0"/>
            <a:r>
              <a:t>CPU can be idle while waiting for shuffle.</a:t>
            </a:r>
          </a:p>
          <a:p>
            <a:pPr lvl="0"/>
            <a:r>
              <a:rPr b="1"/>
              <a:t>SQL lens:</a:t>
            </a:r>
            <a:r>
              <a:t> This is like a global </a:t>
            </a:r>
            <a:r>
              <a:rPr>
                <a:latin typeface="Courier"/>
              </a:rPr>
              <a:t>GROUP BY</a:t>
            </a:r>
            <a:r>
              <a:t> needing a full data repartition.</a:t>
            </a:r>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7F24627C-5938-5D06-969C-341161F72C9C}"/>
              </a:ext>
            </a:extLst>
          </p:cNvPr>
          <p:cNvSpPr>
            <a:spLocks noGrp="1"/>
          </p:cNvSpPr>
          <p:nvPr>
            <p:ph type="title"/>
          </p:nvPr>
        </p:nvSpPr>
        <p:spPr>
          <a:xfrm>
            <a:off x="609600" y="274638"/>
            <a:ext cx="10972800" cy="1143000"/>
          </a:xfrm>
        </p:spPr>
        <p:txBody>
          <a:bodyPr/>
          <a:lstStyle/>
          <a:p>
            <a:pPr marL="0" lvl="0" indent="0">
              <a:buNone/>
            </a:pPr>
            <a:r>
              <a:t>Shuffle Cost Formula (Simple Model)</a:t>
            </a:r>
          </a:p>
        </p:txBody>
      </p:sp>
      <p:sp>
        <p:nvSpPr>
          <p:cNvPr id="3" name="Text Placeholder 3">
            <a:extLst>
              <a:ext uri="{FF2B5EF4-FFF2-40B4-BE49-F238E27FC236}">
                <a16:creationId xmlns:a16="http://schemas.microsoft.com/office/drawing/2014/main" id="{838FFFFD-68E9-C4E4-7764-523BAE32B83B}"/>
              </a:ext>
            </a:extLst>
          </p:cNvPr>
          <p:cNvSpPr>
            <a:spLocks noGrp="1"/>
          </p:cNvSpPr>
          <p:nvPr>
            <p:ph type="body" sz="half" idx="2" hasCustomPrompt="1"/>
          </p:nvPr>
        </p:nvSpPr>
        <p:spPr/>
        <p:txBody>
          <a:bodyPr/>
          <a:lstStyle/>
          <a:p>
            <a:pPr marL="0" lvl="0" indent="0">
              <a:buNone/>
            </a:pPr>
            <a:r>
              <a:t>[ C_{shuffle} = E s ] - </a:t>
            </a:r>
            <a:r>
              <a:rPr>
                <a:latin typeface="Courier"/>
              </a:rPr>
              <a:t>E</a:t>
            </a:r>
            <a:r>
              <a:t>: number of emitted key-value pairs from map - </a:t>
            </a:r>
            <a:r>
              <a:rPr>
                <a:latin typeface="Courier"/>
              </a:rPr>
              <a:t>s</a:t>
            </a:r>
            <a:r>
              <a:t>: average serialized pair size - Reduce </a:t>
            </a:r>
            <a:r>
              <a:rPr>
                <a:latin typeface="Courier"/>
              </a:rPr>
              <a:t>E</a:t>
            </a:r>
            <a:r>
              <a:t> (via combiner) or </a:t>
            </a:r>
            <a:r>
              <a:rPr>
                <a:latin typeface="Courier"/>
              </a:rPr>
              <a:t>s</a:t>
            </a:r>
            <a:r>
              <a:t> (via compact encoding) to reduce cost.</a:t>
            </a:r>
          </a:p>
        </p:txBody>
      </p:sp>
      <p:pic>
        <p:nvPicPr>
          <p:cNvPr id="2" name="Picture 1" descr="../../diagrams/week06/week6_shuffle_cost.png"/>
          <p:cNvPicPr>
            <a:picLocks noGrp="1" noChangeAspect="1"/>
          </p:cNvPicPr>
          <p:nvPr/>
        </p:nvPicPr>
        <p:blipFill>
          <a:blip r:embed="rId2"/>
          <a:stretch>
            <a:fillRect/>
          </a:stretch>
        </p:blipFill>
        <p:spPr bwMode="auto">
          <a:xfrm>
            <a:off x="6870700" y="1409700"/>
            <a:ext cx="1765300" cy="4356100"/>
          </a:xfrm>
          <a:prstGeom prst="rect">
            <a:avLst/>
          </a:prstGeom>
          <a:noFill/>
          <a:ln w="9525">
            <a:noFill/>
            <a:headEnd/>
            <a:tailEnd/>
          </a:ln>
        </p:spPr>
      </p:pic>
      <p:sp>
        <p:nvSpPr>
          <p:cNvPr id="6" name="Footer Placeholder 5"/>
          <p:cNvSpPr>
            <a:spLocks noGrp="1"/>
          </p:cNvSpPr>
          <p:nvPr>
            <p:ph type="ftr" sz="quarter" idx="11"/>
          </p:nvPr>
        </p:nvSpPr>
        <p:spPr/>
        <p:txBody>
          <a:bodyPr/>
          <a:lstStyle/>
          <a:p>
            <a:r>
              <a:rPr lang="en-US"/>
              <a:t>Or Peretz</a:t>
            </a:r>
          </a:p>
        </p:txBody>
      </p:sp>
      <p:sp>
        <p:nvSpPr>
          <p:cNvPr id="7" name="Slide Number Placeholder 6"/>
          <p:cNvSpPr>
            <a:spLocks noGrp="1"/>
          </p:cNvSpPr>
          <p:nvPr>
            <p:ph type="sldNum" sz="quarter" idx="12"/>
          </p:nvPr>
        </p:nvSpPr>
        <p:spPr/>
        <p:txBody>
          <a:bodyPr/>
          <a:lstStyle/>
          <a:p>
            <a:fld id="{C1FF6DA9-008F-8B48-92A6-B652298478BF}" type="slidenum">
              <a:rPr lang="en-US" smtClean="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000" b="1" dirty="0"/>
              <a:t>Example</a:t>
            </a:r>
          </a:p>
          <a:p>
            <a:br>
              <a:rPr lang="en-US" sz="2400" dirty="0"/>
            </a:b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20</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3" name="Alternate Process 2">
            <a:extLst>
              <a:ext uri="{FF2B5EF4-FFF2-40B4-BE49-F238E27FC236}">
                <a16:creationId xmlns:a16="http://schemas.microsoft.com/office/drawing/2014/main" id="{0EECF884-FE53-9245-972A-83D98525E38F}"/>
              </a:ext>
            </a:extLst>
          </p:cNvPr>
          <p:cNvSpPr/>
          <p:nvPr/>
        </p:nvSpPr>
        <p:spPr>
          <a:xfrm>
            <a:off x="948266" y="2751667"/>
            <a:ext cx="2065867" cy="152400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A B R</a:t>
            </a:r>
          </a:p>
          <a:p>
            <a:pPr algn="ctr"/>
            <a:r>
              <a:rPr lang="en-IL" dirty="0"/>
              <a:t>C C R</a:t>
            </a:r>
          </a:p>
          <a:p>
            <a:pPr algn="ctr"/>
            <a:r>
              <a:rPr lang="en-IL" dirty="0"/>
              <a:t>A C B</a:t>
            </a:r>
          </a:p>
        </p:txBody>
      </p:sp>
      <p:sp>
        <p:nvSpPr>
          <p:cNvPr id="6" name="TextBox 5">
            <a:extLst>
              <a:ext uri="{FF2B5EF4-FFF2-40B4-BE49-F238E27FC236}">
                <a16:creationId xmlns:a16="http://schemas.microsoft.com/office/drawing/2014/main" id="{587018DC-63B1-914A-9AE8-9A5FB1593549}"/>
              </a:ext>
            </a:extLst>
          </p:cNvPr>
          <p:cNvSpPr txBox="1"/>
          <p:nvPr/>
        </p:nvSpPr>
        <p:spPr>
          <a:xfrm>
            <a:off x="1397000" y="1092200"/>
            <a:ext cx="1337733" cy="369332"/>
          </a:xfrm>
          <a:prstGeom prst="rect">
            <a:avLst/>
          </a:prstGeom>
          <a:noFill/>
        </p:spPr>
        <p:txBody>
          <a:bodyPr wrap="square" rtlCol="0">
            <a:spAutoFit/>
          </a:bodyPr>
          <a:lstStyle/>
          <a:p>
            <a:r>
              <a:rPr lang="en-IL" dirty="0"/>
              <a:t>Input</a:t>
            </a:r>
          </a:p>
        </p:txBody>
      </p:sp>
      <p:sp>
        <p:nvSpPr>
          <p:cNvPr id="7" name="TextBox 6">
            <a:extLst>
              <a:ext uri="{FF2B5EF4-FFF2-40B4-BE49-F238E27FC236}">
                <a16:creationId xmlns:a16="http://schemas.microsoft.com/office/drawing/2014/main" id="{CE2BDBB2-3C9B-614C-9B46-F7B3969C84EB}"/>
              </a:ext>
            </a:extLst>
          </p:cNvPr>
          <p:cNvSpPr txBox="1"/>
          <p:nvPr/>
        </p:nvSpPr>
        <p:spPr>
          <a:xfrm>
            <a:off x="3979335" y="1092200"/>
            <a:ext cx="1337733" cy="369332"/>
          </a:xfrm>
          <a:prstGeom prst="rect">
            <a:avLst/>
          </a:prstGeom>
          <a:noFill/>
        </p:spPr>
        <p:txBody>
          <a:bodyPr wrap="square" rtlCol="0">
            <a:spAutoFit/>
          </a:bodyPr>
          <a:lstStyle/>
          <a:p>
            <a:r>
              <a:rPr lang="en-IL" dirty="0"/>
              <a:t>Split</a:t>
            </a:r>
          </a:p>
        </p:txBody>
      </p:sp>
      <p:sp>
        <p:nvSpPr>
          <p:cNvPr id="8" name="TextBox 7">
            <a:extLst>
              <a:ext uri="{FF2B5EF4-FFF2-40B4-BE49-F238E27FC236}">
                <a16:creationId xmlns:a16="http://schemas.microsoft.com/office/drawing/2014/main" id="{B2D7A096-E4E0-6542-A179-15807F975373}"/>
              </a:ext>
            </a:extLst>
          </p:cNvPr>
          <p:cNvSpPr txBox="1"/>
          <p:nvPr/>
        </p:nvSpPr>
        <p:spPr>
          <a:xfrm>
            <a:off x="6011335" y="1092200"/>
            <a:ext cx="1337733" cy="369332"/>
          </a:xfrm>
          <a:prstGeom prst="rect">
            <a:avLst/>
          </a:prstGeom>
          <a:noFill/>
        </p:spPr>
        <p:txBody>
          <a:bodyPr wrap="square" rtlCol="0">
            <a:spAutoFit/>
          </a:bodyPr>
          <a:lstStyle/>
          <a:p>
            <a:r>
              <a:rPr lang="en-IL" dirty="0"/>
              <a:t>Map</a:t>
            </a:r>
          </a:p>
        </p:txBody>
      </p:sp>
      <p:sp>
        <p:nvSpPr>
          <p:cNvPr id="9" name="TextBox 8">
            <a:extLst>
              <a:ext uri="{FF2B5EF4-FFF2-40B4-BE49-F238E27FC236}">
                <a16:creationId xmlns:a16="http://schemas.microsoft.com/office/drawing/2014/main" id="{37CC957F-CEEF-004A-ADEC-ABA33BF2738C}"/>
              </a:ext>
            </a:extLst>
          </p:cNvPr>
          <p:cNvSpPr txBox="1"/>
          <p:nvPr/>
        </p:nvSpPr>
        <p:spPr>
          <a:xfrm>
            <a:off x="7958668" y="1092200"/>
            <a:ext cx="1532466" cy="369332"/>
          </a:xfrm>
          <a:prstGeom prst="rect">
            <a:avLst/>
          </a:prstGeom>
          <a:noFill/>
        </p:spPr>
        <p:txBody>
          <a:bodyPr wrap="square" rtlCol="0">
            <a:spAutoFit/>
          </a:bodyPr>
          <a:lstStyle/>
          <a:p>
            <a:r>
              <a:rPr lang="en-IL" dirty="0"/>
              <a:t>Shuffle &amp; Sort</a:t>
            </a:r>
          </a:p>
        </p:txBody>
      </p:sp>
      <p:sp>
        <p:nvSpPr>
          <p:cNvPr id="10" name="TextBox 9">
            <a:extLst>
              <a:ext uri="{FF2B5EF4-FFF2-40B4-BE49-F238E27FC236}">
                <a16:creationId xmlns:a16="http://schemas.microsoft.com/office/drawing/2014/main" id="{0C599264-8E37-1548-A143-5E554CADAB16}"/>
              </a:ext>
            </a:extLst>
          </p:cNvPr>
          <p:cNvSpPr txBox="1"/>
          <p:nvPr/>
        </p:nvSpPr>
        <p:spPr>
          <a:xfrm>
            <a:off x="10854267" y="1092200"/>
            <a:ext cx="1337733" cy="369332"/>
          </a:xfrm>
          <a:prstGeom prst="rect">
            <a:avLst/>
          </a:prstGeom>
          <a:noFill/>
        </p:spPr>
        <p:txBody>
          <a:bodyPr wrap="square" rtlCol="0">
            <a:spAutoFit/>
          </a:bodyPr>
          <a:lstStyle/>
          <a:p>
            <a:r>
              <a:rPr lang="en-IL" dirty="0"/>
              <a:t>Reduce</a:t>
            </a:r>
          </a:p>
        </p:txBody>
      </p:sp>
    </p:spTree>
    <p:extLst>
      <p:ext uri="{BB962C8B-B14F-4D97-AF65-F5344CB8AC3E}">
        <p14:creationId xmlns:p14="http://schemas.microsoft.com/office/powerpoint/2010/main" val="3828655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 calcmode="lin" valueType="num">
                                      <p:cBhvr additive="base">
                                        <p:cTn id="13"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000" b="1" dirty="0"/>
              <a:t>Example</a:t>
            </a:r>
          </a:p>
          <a:p>
            <a:br>
              <a:rPr lang="en-US" sz="2400" dirty="0"/>
            </a:b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21</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3" name="Alternate Process 2">
            <a:extLst>
              <a:ext uri="{FF2B5EF4-FFF2-40B4-BE49-F238E27FC236}">
                <a16:creationId xmlns:a16="http://schemas.microsoft.com/office/drawing/2014/main" id="{0EECF884-FE53-9245-972A-83D98525E38F}"/>
              </a:ext>
            </a:extLst>
          </p:cNvPr>
          <p:cNvSpPr/>
          <p:nvPr/>
        </p:nvSpPr>
        <p:spPr>
          <a:xfrm>
            <a:off x="948266" y="2751667"/>
            <a:ext cx="2065867" cy="152400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A B R</a:t>
            </a:r>
          </a:p>
          <a:p>
            <a:pPr algn="ctr"/>
            <a:r>
              <a:rPr lang="en-IL" dirty="0"/>
              <a:t>C C R</a:t>
            </a:r>
          </a:p>
          <a:p>
            <a:pPr algn="ctr"/>
            <a:r>
              <a:rPr lang="en-IL" dirty="0"/>
              <a:t>A C B</a:t>
            </a:r>
          </a:p>
        </p:txBody>
      </p:sp>
      <p:sp>
        <p:nvSpPr>
          <p:cNvPr id="6" name="TextBox 5">
            <a:extLst>
              <a:ext uri="{FF2B5EF4-FFF2-40B4-BE49-F238E27FC236}">
                <a16:creationId xmlns:a16="http://schemas.microsoft.com/office/drawing/2014/main" id="{587018DC-63B1-914A-9AE8-9A5FB1593549}"/>
              </a:ext>
            </a:extLst>
          </p:cNvPr>
          <p:cNvSpPr txBox="1"/>
          <p:nvPr/>
        </p:nvSpPr>
        <p:spPr>
          <a:xfrm>
            <a:off x="1397000" y="1092200"/>
            <a:ext cx="1337733" cy="369332"/>
          </a:xfrm>
          <a:prstGeom prst="rect">
            <a:avLst/>
          </a:prstGeom>
          <a:noFill/>
        </p:spPr>
        <p:txBody>
          <a:bodyPr wrap="square" rtlCol="0">
            <a:spAutoFit/>
          </a:bodyPr>
          <a:lstStyle/>
          <a:p>
            <a:r>
              <a:rPr lang="en-IL" dirty="0"/>
              <a:t>Input</a:t>
            </a:r>
          </a:p>
        </p:txBody>
      </p:sp>
      <p:sp>
        <p:nvSpPr>
          <p:cNvPr id="7" name="TextBox 6">
            <a:extLst>
              <a:ext uri="{FF2B5EF4-FFF2-40B4-BE49-F238E27FC236}">
                <a16:creationId xmlns:a16="http://schemas.microsoft.com/office/drawing/2014/main" id="{CE2BDBB2-3C9B-614C-9B46-F7B3969C84EB}"/>
              </a:ext>
            </a:extLst>
          </p:cNvPr>
          <p:cNvSpPr txBox="1"/>
          <p:nvPr/>
        </p:nvSpPr>
        <p:spPr>
          <a:xfrm>
            <a:off x="3979335" y="1092200"/>
            <a:ext cx="1337733" cy="369332"/>
          </a:xfrm>
          <a:prstGeom prst="rect">
            <a:avLst/>
          </a:prstGeom>
          <a:noFill/>
        </p:spPr>
        <p:txBody>
          <a:bodyPr wrap="square" rtlCol="0">
            <a:spAutoFit/>
          </a:bodyPr>
          <a:lstStyle/>
          <a:p>
            <a:r>
              <a:rPr lang="en-IL" dirty="0"/>
              <a:t>Split</a:t>
            </a:r>
          </a:p>
        </p:txBody>
      </p:sp>
      <p:sp>
        <p:nvSpPr>
          <p:cNvPr id="8" name="TextBox 7">
            <a:extLst>
              <a:ext uri="{FF2B5EF4-FFF2-40B4-BE49-F238E27FC236}">
                <a16:creationId xmlns:a16="http://schemas.microsoft.com/office/drawing/2014/main" id="{B2D7A096-E4E0-6542-A179-15807F975373}"/>
              </a:ext>
            </a:extLst>
          </p:cNvPr>
          <p:cNvSpPr txBox="1"/>
          <p:nvPr/>
        </p:nvSpPr>
        <p:spPr>
          <a:xfrm>
            <a:off x="6011335" y="1092200"/>
            <a:ext cx="1337733" cy="369332"/>
          </a:xfrm>
          <a:prstGeom prst="rect">
            <a:avLst/>
          </a:prstGeom>
          <a:noFill/>
        </p:spPr>
        <p:txBody>
          <a:bodyPr wrap="square" rtlCol="0">
            <a:spAutoFit/>
          </a:bodyPr>
          <a:lstStyle/>
          <a:p>
            <a:r>
              <a:rPr lang="en-IL" dirty="0"/>
              <a:t>Map</a:t>
            </a:r>
          </a:p>
        </p:txBody>
      </p:sp>
      <p:sp>
        <p:nvSpPr>
          <p:cNvPr id="9" name="TextBox 8">
            <a:extLst>
              <a:ext uri="{FF2B5EF4-FFF2-40B4-BE49-F238E27FC236}">
                <a16:creationId xmlns:a16="http://schemas.microsoft.com/office/drawing/2014/main" id="{37CC957F-CEEF-004A-ADEC-ABA33BF2738C}"/>
              </a:ext>
            </a:extLst>
          </p:cNvPr>
          <p:cNvSpPr txBox="1"/>
          <p:nvPr/>
        </p:nvSpPr>
        <p:spPr>
          <a:xfrm>
            <a:off x="7958668" y="1092200"/>
            <a:ext cx="1532466" cy="369332"/>
          </a:xfrm>
          <a:prstGeom prst="rect">
            <a:avLst/>
          </a:prstGeom>
          <a:noFill/>
        </p:spPr>
        <p:txBody>
          <a:bodyPr wrap="square" rtlCol="0">
            <a:spAutoFit/>
          </a:bodyPr>
          <a:lstStyle/>
          <a:p>
            <a:r>
              <a:rPr lang="en-IL" dirty="0"/>
              <a:t>Shuffle &amp; Sort</a:t>
            </a:r>
          </a:p>
        </p:txBody>
      </p:sp>
      <p:sp>
        <p:nvSpPr>
          <p:cNvPr id="10" name="TextBox 9">
            <a:extLst>
              <a:ext uri="{FF2B5EF4-FFF2-40B4-BE49-F238E27FC236}">
                <a16:creationId xmlns:a16="http://schemas.microsoft.com/office/drawing/2014/main" id="{0C599264-8E37-1548-A143-5E554CADAB16}"/>
              </a:ext>
            </a:extLst>
          </p:cNvPr>
          <p:cNvSpPr txBox="1"/>
          <p:nvPr/>
        </p:nvSpPr>
        <p:spPr>
          <a:xfrm>
            <a:off x="10854267" y="1092200"/>
            <a:ext cx="1337733" cy="369332"/>
          </a:xfrm>
          <a:prstGeom prst="rect">
            <a:avLst/>
          </a:prstGeom>
          <a:noFill/>
        </p:spPr>
        <p:txBody>
          <a:bodyPr wrap="square" rtlCol="0">
            <a:spAutoFit/>
          </a:bodyPr>
          <a:lstStyle/>
          <a:p>
            <a:r>
              <a:rPr lang="en-IL" dirty="0"/>
              <a:t>Reduce</a:t>
            </a:r>
          </a:p>
        </p:txBody>
      </p:sp>
      <p:sp>
        <p:nvSpPr>
          <p:cNvPr id="11" name="Rectangle 10">
            <a:extLst>
              <a:ext uri="{FF2B5EF4-FFF2-40B4-BE49-F238E27FC236}">
                <a16:creationId xmlns:a16="http://schemas.microsoft.com/office/drawing/2014/main" id="{553AF6E7-4D32-FD4E-A62A-D191941AC8C0}"/>
              </a:ext>
            </a:extLst>
          </p:cNvPr>
          <p:cNvSpPr/>
          <p:nvPr/>
        </p:nvSpPr>
        <p:spPr>
          <a:xfrm>
            <a:off x="3742267" y="1744133"/>
            <a:ext cx="1490133" cy="4487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A B R</a:t>
            </a:r>
          </a:p>
        </p:txBody>
      </p:sp>
      <p:sp>
        <p:nvSpPr>
          <p:cNvPr id="12" name="Rectangle 11">
            <a:extLst>
              <a:ext uri="{FF2B5EF4-FFF2-40B4-BE49-F238E27FC236}">
                <a16:creationId xmlns:a16="http://schemas.microsoft.com/office/drawing/2014/main" id="{0DFFEB46-978F-2946-AFEF-9E8EC17587DC}"/>
              </a:ext>
            </a:extLst>
          </p:cNvPr>
          <p:cNvSpPr/>
          <p:nvPr/>
        </p:nvSpPr>
        <p:spPr>
          <a:xfrm>
            <a:off x="3742267" y="3227504"/>
            <a:ext cx="1490133" cy="4487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C C R</a:t>
            </a:r>
          </a:p>
        </p:txBody>
      </p:sp>
      <p:sp>
        <p:nvSpPr>
          <p:cNvPr id="13" name="Rectangle 12">
            <a:extLst>
              <a:ext uri="{FF2B5EF4-FFF2-40B4-BE49-F238E27FC236}">
                <a16:creationId xmlns:a16="http://schemas.microsoft.com/office/drawing/2014/main" id="{C7FE1AD3-7180-E044-866A-EC938FCE1588}"/>
              </a:ext>
            </a:extLst>
          </p:cNvPr>
          <p:cNvSpPr/>
          <p:nvPr/>
        </p:nvSpPr>
        <p:spPr>
          <a:xfrm>
            <a:off x="3742266" y="4755351"/>
            <a:ext cx="1490133" cy="4487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A C B</a:t>
            </a:r>
          </a:p>
        </p:txBody>
      </p:sp>
      <p:cxnSp>
        <p:nvCxnSpPr>
          <p:cNvPr id="15" name="Straight Arrow Connector 14">
            <a:extLst>
              <a:ext uri="{FF2B5EF4-FFF2-40B4-BE49-F238E27FC236}">
                <a16:creationId xmlns:a16="http://schemas.microsoft.com/office/drawing/2014/main" id="{0C24BAE1-B3B4-4841-A985-F58C74A6DE21}"/>
              </a:ext>
            </a:extLst>
          </p:cNvPr>
          <p:cNvCxnSpPr>
            <a:stCxn id="3" idx="3"/>
            <a:endCxn id="11" idx="1"/>
          </p:cNvCxnSpPr>
          <p:nvPr/>
        </p:nvCxnSpPr>
        <p:spPr>
          <a:xfrm flipV="1">
            <a:off x="3014133" y="1968500"/>
            <a:ext cx="728134" cy="15451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517F08B-BBFB-B740-9E06-ACDA93109D0A}"/>
              </a:ext>
            </a:extLst>
          </p:cNvPr>
          <p:cNvCxnSpPr>
            <a:stCxn id="3" idx="3"/>
            <a:endCxn id="12" idx="1"/>
          </p:cNvCxnSpPr>
          <p:nvPr/>
        </p:nvCxnSpPr>
        <p:spPr>
          <a:xfrm flipV="1">
            <a:off x="3014133" y="3451871"/>
            <a:ext cx="728134" cy="617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50DA819-36C5-6A47-ADC4-B9E03DEDC527}"/>
              </a:ext>
            </a:extLst>
          </p:cNvPr>
          <p:cNvCxnSpPr>
            <a:stCxn id="3" idx="3"/>
            <a:endCxn id="13" idx="1"/>
          </p:cNvCxnSpPr>
          <p:nvPr/>
        </p:nvCxnSpPr>
        <p:spPr>
          <a:xfrm>
            <a:off x="3014133" y="3513667"/>
            <a:ext cx="728133" cy="14660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0432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 calcmode="lin" valueType="num">
                                      <p:cBhvr additive="base">
                                        <p:cTn id="13"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000" b="1" dirty="0"/>
              <a:t>Example</a:t>
            </a:r>
          </a:p>
          <a:p>
            <a:br>
              <a:rPr lang="en-US" sz="2400" dirty="0"/>
            </a:b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22</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3" name="Alternate Process 2">
            <a:extLst>
              <a:ext uri="{FF2B5EF4-FFF2-40B4-BE49-F238E27FC236}">
                <a16:creationId xmlns:a16="http://schemas.microsoft.com/office/drawing/2014/main" id="{0EECF884-FE53-9245-972A-83D98525E38F}"/>
              </a:ext>
            </a:extLst>
          </p:cNvPr>
          <p:cNvSpPr/>
          <p:nvPr/>
        </p:nvSpPr>
        <p:spPr>
          <a:xfrm>
            <a:off x="948266" y="2751667"/>
            <a:ext cx="2065867" cy="152400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A B R</a:t>
            </a:r>
          </a:p>
          <a:p>
            <a:pPr algn="ctr"/>
            <a:r>
              <a:rPr lang="en-IL" dirty="0"/>
              <a:t>C C R</a:t>
            </a:r>
          </a:p>
          <a:p>
            <a:pPr algn="ctr"/>
            <a:r>
              <a:rPr lang="en-IL" dirty="0"/>
              <a:t>A C B</a:t>
            </a:r>
          </a:p>
        </p:txBody>
      </p:sp>
      <p:sp>
        <p:nvSpPr>
          <p:cNvPr id="6" name="TextBox 5">
            <a:extLst>
              <a:ext uri="{FF2B5EF4-FFF2-40B4-BE49-F238E27FC236}">
                <a16:creationId xmlns:a16="http://schemas.microsoft.com/office/drawing/2014/main" id="{587018DC-63B1-914A-9AE8-9A5FB1593549}"/>
              </a:ext>
            </a:extLst>
          </p:cNvPr>
          <p:cNvSpPr txBox="1"/>
          <p:nvPr/>
        </p:nvSpPr>
        <p:spPr>
          <a:xfrm>
            <a:off x="1397000" y="1092200"/>
            <a:ext cx="1337733" cy="369332"/>
          </a:xfrm>
          <a:prstGeom prst="rect">
            <a:avLst/>
          </a:prstGeom>
          <a:noFill/>
        </p:spPr>
        <p:txBody>
          <a:bodyPr wrap="square" rtlCol="0">
            <a:spAutoFit/>
          </a:bodyPr>
          <a:lstStyle/>
          <a:p>
            <a:r>
              <a:rPr lang="en-IL" dirty="0"/>
              <a:t>Input</a:t>
            </a:r>
          </a:p>
        </p:txBody>
      </p:sp>
      <p:sp>
        <p:nvSpPr>
          <p:cNvPr id="7" name="TextBox 6">
            <a:extLst>
              <a:ext uri="{FF2B5EF4-FFF2-40B4-BE49-F238E27FC236}">
                <a16:creationId xmlns:a16="http://schemas.microsoft.com/office/drawing/2014/main" id="{CE2BDBB2-3C9B-614C-9B46-F7B3969C84EB}"/>
              </a:ext>
            </a:extLst>
          </p:cNvPr>
          <p:cNvSpPr txBox="1"/>
          <p:nvPr/>
        </p:nvSpPr>
        <p:spPr>
          <a:xfrm>
            <a:off x="3979335" y="1092200"/>
            <a:ext cx="1337733" cy="369332"/>
          </a:xfrm>
          <a:prstGeom prst="rect">
            <a:avLst/>
          </a:prstGeom>
          <a:noFill/>
        </p:spPr>
        <p:txBody>
          <a:bodyPr wrap="square" rtlCol="0">
            <a:spAutoFit/>
          </a:bodyPr>
          <a:lstStyle/>
          <a:p>
            <a:r>
              <a:rPr lang="en-IL" dirty="0"/>
              <a:t>Split</a:t>
            </a:r>
          </a:p>
        </p:txBody>
      </p:sp>
      <p:sp>
        <p:nvSpPr>
          <p:cNvPr id="8" name="TextBox 7">
            <a:extLst>
              <a:ext uri="{FF2B5EF4-FFF2-40B4-BE49-F238E27FC236}">
                <a16:creationId xmlns:a16="http://schemas.microsoft.com/office/drawing/2014/main" id="{B2D7A096-E4E0-6542-A179-15807F975373}"/>
              </a:ext>
            </a:extLst>
          </p:cNvPr>
          <p:cNvSpPr txBox="1"/>
          <p:nvPr/>
        </p:nvSpPr>
        <p:spPr>
          <a:xfrm>
            <a:off x="6011335" y="1092200"/>
            <a:ext cx="1337733" cy="369332"/>
          </a:xfrm>
          <a:prstGeom prst="rect">
            <a:avLst/>
          </a:prstGeom>
          <a:noFill/>
        </p:spPr>
        <p:txBody>
          <a:bodyPr wrap="square" rtlCol="0">
            <a:spAutoFit/>
          </a:bodyPr>
          <a:lstStyle/>
          <a:p>
            <a:r>
              <a:rPr lang="en-IL" dirty="0"/>
              <a:t>Map</a:t>
            </a:r>
          </a:p>
        </p:txBody>
      </p:sp>
      <p:sp>
        <p:nvSpPr>
          <p:cNvPr id="9" name="TextBox 8">
            <a:extLst>
              <a:ext uri="{FF2B5EF4-FFF2-40B4-BE49-F238E27FC236}">
                <a16:creationId xmlns:a16="http://schemas.microsoft.com/office/drawing/2014/main" id="{37CC957F-CEEF-004A-ADEC-ABA33BF2738C}"/>
              </a:ext>
            </a:extLst>
          </p:cNvPr>
          <p:cNvSpPr txBox="1"/>
          <p:nvPr/>
        </p:nvSpPr>
        <p:spPr>
          <a:xfrm>
            <a:off x="7958668" y="1092200"/>
            <a:ext cx="1532466" cy="369332"/>
          </a:xfrm>
          <a:prstGeom prst="rect">
            <a:avLst/>
          </a:prstGeom>
          <a:noFill/>
        </p:spPr>
        <p:txBody>
          <a:bodyPr wrap="square" rtlCol="0">
            <a:spAutoFit/>
          </a:bodyPr>
          <a:lstStyle/>
          <a:p>
            <a:r>
              <a:rPr lang="en-IL" dirty="0"/>
              <a:t>Shuffle &amp; Sort</a:t>
            </a:r>
          </a:p>
        </p:txBody>
      </p:sp>
      <p:sp>
        <p:nvSpPr>
          <p:cNvPr id="10" name="TextBox 9">
            <a:extLst>
              <a:ext uri="{FF2B5EF4-FFF2-40B4-BE49-F238E27FC236}">
                <a16:creationId xmlns:a16="http://schemas.microsoft.com/office/drawing/2014/main" id="{0C599264-8E37-1548-A143-5E554CADAB16}"/>
              </a:ext>
            </a:extLst>
          </p:cNvPr>
          <p:cNvSpPr txBox="1"/>
          <p:nvPr/>
        </p:nvSpPr>
        <p:spPr>
          <a:xfrm>
            <a:off x="10854267" y="1092200"/>
            <a:ext cx="1337733" cy="369332"/>
          </a:xfrm>
          <a:prstGeom prst="rect">
            <a:avLst/>
          </a:prstGeom>
          <a:noFill/>
        </p:spPr>
        <p:txBody>
          <a:bodyPr wrap="square" rtlCol="0">
            <a:spAutoFit/>
          </a:bodyPr>
          <a:lstStyle/>
          <a:p>
            <a:r>
              <a:rPr lang="en-IL" dirty="0"/>
              <a:t>Reduce</a:t>
            </a:r>
          </a:p>
        </p:txBody>
      </p:sp>
      <p:sp>
        <p:nvSpPr>
          <p:cNvPr id="11" name="Rectangle 10">
            <a:extLst>
              <a:ext uri="{FF2B5EF4-FFF2-40B4-BE49-F238E27FC236}">
                <a16:creationId xmlns:a16="http://schemas.microsoft.com/office/drawing/2014/main" id="{553AF6E7-4D32-FD4E-A62A-D191941AC8C0}"/>
              </a:ext>
            </a:extLst>
          </p:cNvPr>
          <p:cNvSpPr/>
          <p:nvPr/>
        </p:nvSpPr>
        <p:spPr>
          <a:xfrm>
            <a:off x="3742267" y="1744133"/>
            <a:ext cx="1490133" cy="4487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A B R</a:t>
            </a:r>
          </a:p>
        </p:txBody>
      </p:sp>
      <p:sp>
        <p:nvSpPr>
          <p:cNvPr id="12" name="Rectangle 11">
            <a:extLst>
              <a:ext uri="{FF2B5EF4-FFF2-40B4-BE49-F238E27FC236}">
                <a16:creationId xmlns:a16="http://schemas.microsoft.com/office/drawing/2014/main" id="{0DFFEB46-978F-2946-AFEF-9E8EC17587DC}"/>
              </a:ext>
            </a:extLst>
          </p:cNvPr>
          <p:cNvSpPr/>
          <p:nvPr/>
        </p:nvSpPr>
        <p:spPr>
          <a:xfrm>
            <a:off x="3742267" y="3227504"/>
            <a:ext cx="1490133" cy="4487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C C R</a:t>
            </a:r>
          </a:p>
        </p:txBody>
      </p:sp>
      <p:sp>
        <p:nvSpPr>
          <p:cNvPr id="13" name="Rectangle 12">
            <a:extLst>
              <a:ext uri="{FF2B5EF4-FFF2-40B4-BE49-F238E27FC236}">
                <a16:creationId xmlns:a16="http://schemas.microsoft.com/office/drawing/2014/main" id="{C7FE1AD3-7180-E044-866A-EC938FCE1588}"/>
              </a:ext>
            </a:extLst>
          </p:cNvPr>
          <p:cNvSpPr/>
          <p:nvPr/>
        </p:nvSpPr>
        <p:spPr>
          <a:xfrm>
            <a:off x="3742266" y="4755351"/>
            <a:ext cx="1490133" cy="4487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A C B</a:t>
            </a:r>
          </a:p>
        </p:txBody>
      </p:sp>
      <p:cxnSp>
        <p:nvCxnSpPr>
          <p:cNvPr id="15" name="Straight Arrow Connector 14">
            <a:extLst>
              <a:ext uri="{FF2B5EF4-FFF2-40B4-BE49-F238E27FC236}">
                <a16:creationId xmlns:a16="http://schemas.microsoft.com/office/drawing/2014/main" id="{0C24BAE1-B3B4-4841-A985-F58C74A6DE21}"/>
              </a:ext>
            </a:extLst>
          </p:cNvPr>
          <p:cNvCxnSpPr>
            <a:stCxn id="3" idx="3"/>
            <a:endCxn id="11" idx="1"/>
          </p:cNvCxnSpPr>
          <p:nvPr/>
        </p:nvCxnSpPr>
        <p:spPr>
          <a:xfrm flipV="1">
            <a:off x="3014133" y="1968500"/>
            <a:ext cx="728134" cy="15451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517F08B-BBFB-B740-9E06-ACDA93109D0A}"/>
              </a:ext>
            </a:extLst>
          </p:cNvPr>
          <p:cNvCxnSpPr>
            <a:stCxn id="3" idx="3"/>
            <a:endCxn id="12" idx="1"/>
          </p:cNvCxnSpPr>
          <p:nvPr/>
        </p:nvCxnSpPr>
        <p:spPr>
          <a:xfrm flipV="1">
            <a:off x="3014133" y="3451871"/>
            <a:ext cx="728134" cy="617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50DA819-36C5-6A47-ADC4-B9E03DEDC527}"/>
              </a:ext>
            </a:extLst>
          </p:cNvPr>
          <p:cNvCxnSpPr>
            <a:stCxn id="3" idx="3"/>
            <a:endCxn id="13" idx="1"/>
          </p:cNvCxnSpPr>
          <p:nvPr/>
        </p:nvCxnSpPr>
        <p:spPr>
          <a:xfrm>
            <a:off x="3014133" y="3513667"/>
            <a:ext cx="728133" cy="14660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DC5D07B7-DA4D-414C-83F3-B271E87DC543}"/>
              </a:ext>
            </a:extLst>
          </p:cNvPr>
          <p:cNvSpPr/>
          <p:nvPr/>
        </p:nvSpPr>
        <p:spPr>
          <a:xfrm>
            <a:off x="5808134" y="1689100"/>
            <a:ext cx="1253068" cy="1007534"/>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A, 1</a:t>
            </a:r>
          </a:p>
          <a:p>
            <a:pPr algn="ctr"/>
            <a:r>
              <a:rPr lang="en-IL" dirty="0"/>
              <a:t>B, 1</a:t>
            </a:r>
          </a:p>
          <a:p>
            <a:pPr algn="ctr"/>
            <a:r>
              <a:rPr lang="en-IL" dirty="0"/>
              <a:t>R, 1</a:t>
            </a:r>
          </a:p>
        </p:txBody>
      </p:sp>
      <p:sp>
        <p:nvSpPr>
          <p:cNvPr id="20" name="Rectangle 19">
            <a:extLst>
              <a:ext uri="{FF2B5EF4-FFF2-40B4-BE49-F238E27FC236}">
                <a16:creationId xmlns:a16="http://schemas.microsoft.com/office/drawing/2014/main" id="{33A82160-2C8F-CF4A-97EB-5DF10B205288}"/>
              </a:ext>
            </a:extLst>
          </p:cNvPr>
          <p:cNvSpPr/>
          <p:nvPr/>
        </p:nvSpPr>
        <p:spPr>
          <a:xfrm>
            <a:off x="5808134" y="3134110"/>
            <a:ext cx="1253068" cy="1007534"/>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C, 1</a:t>
            </a:r>
          </a:p>
          <a:p>
            <a:pPr algn="ctr"/>
            <a:r>
              <a:rPr lang="en-IL" dirty="0"/>
              <a:t>C, 1</a:t>
            </a:r>
          </a:p>
          <a:p>
            <a:pPr algn="ctr"/>
            <a:r>
              <a:rPr lang="en-IL" dirty="0"/>
              <a:t>R, 1</a:t>
            </a:r>
          </a:p>
        </p:txBody>
      </p:sp>
      <p:sp>
        <p:nvSpPr>
          <p:cNvPr id="21" name="Rectangle 20">
            <a:extLst>
              <a:ext uri="{FF2B5EF4-FFF2-40B4-BE49-F238E27FC236}">
                <a16:creationId xmlns:a16="http://schemas.microsoft.com/office/drawing/2014/main" id="{D0C80C25-DB38-EB44-B74A-5FABC203B048}"/>
              </a:ext>
            </a:extLst>
          </p:cNvPr>
          <p:cNvSpPr/>
          <p:nvPr/>
        </p:nvSpPr>
        <p:spPr>
          <a:xfrm>
            <a:off x="5808134" y="4700318"/>
            <a:ext cx="1253068" cy="1007534"/>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A, 1</a:t>
            </a:r>
          </a:p>
          <a:p>
            <a:pPr algn="ctr"/>
            <a:r>
              <a:rPr lang="en-IL" dirty="0"/>
              <a:t>C, 1 </a:t>
            </a:r>
          </a:p>
          <a:p>
            <a:pPr algn="ctr"/>
            <a:r>
              <a:rPr lang="en-IL" dirty="0"/>
              <a:t>B, 1</a:t>
            </a:r>
          </a:p>
        </p:txBody>
      </p:sp>
      <p:cxnSp>
        <p:nvCxnSpPr>
          <p:cNvPr id="22" name="Straight Arrow Connector 21">
            <a:extLst>
              <a:ext uri="{FF2B5EF4-FFF2-40B4-BE49-F238E27FC236}">
                <a16:creationId xmlns:a16="http://schemas.microsoft.com/office/drawing/2014/main" id="{AEFCB9CA-3981-FF43-91A0-EB7CB1D6F458}"/>
              </a:ext>
            </a:extLst>
          </p:cNvPr>
          <p:cNvCxnSpPr>
            <a:cxnSpLocks/>
            <a:stCxn id="11" idx="3"/>
            <a:endCxn id="18" idx="1"/>
          </p:cNvCxnSpPr>
          <p:nvPr/>
        </p:nvCxnSpPr>
        <p:spPr>
          <a:xfrm>
            <a:off x="5232400" y="1968500"/>
            <a:ext cx="575734" cy="2243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D7CFA86D-647F-E143-8E05-8F35B4DD8EBE}"/>
              </a:ext>
            </a:extLst>
          </p:cNvPr>
          <p:cNvCxnSpPr>
            <a:cxnSpLocks/>
            <a:stCxn id="12" idx="3"/>
            <a:endCxn id="20" idx="1"/>
          </p:cNvCxnSpPr>
          <p:nvPr/>
        </p:nvCxnSpPr>
        <p:spPr>
          <a:xfrm>
            <a:off x="5232400" y="3451871"/>
            <a:ext cx="575734" cy="1860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DFC26473-D386-5A4A-8B01-B06C83C94995}"/>
              </a:ext>
            </a:extLst>
          </p:cNvPr>
          <p:cNvCxnSpPr>
            <a:cxnSpLocks/>
            <a:stCxn id="13" idx="3"/>
            <a:endCxn id="21" idx="1"/>
          </p:cNvCxnSpPr>
          <p:nvPr/>
        </p:nvCxnSpPr>
        <p:spPr>
          <a:xfrm>
            <a:off x="5232399" y="4979718"/>
            <a:ext cx="575735" cy="2243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909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 calcmode="lin" valueType="num">
                                      <p:cBhvr additive="base">
                                        <p:cTn id="13"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000" b="1" dirty="0"/>
              <a:t>Example</a:t>
            </a:r>
          </a:p>
          <a:p>
            <a:br>
              <a:rPr lang="en-US" sz="2400" dirty="0"/>
            </a:b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23</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3" name="Alternate Process 2">
            <a:extLst>
              <a:ext uri="{FF2B5EF4-FFF2-40B4-BE49-F238E27FC236}">
                <a16:creationId xmlns:a16="http://schemas.microsoft.com/office/drawing/2014/main" id="{0EECF884-FE53-9245-972A-83D98525E38F}"/>
              </a:ext>
            </a:extLst>
          </p:cNvPr>
          <p:cNvSpPr/>
          <p:nvPr/>
        </p:nvSpPr>
        <p:spPr>
          <a:xfrm>
            <a:off x="948266" y="2751667"/>
            <a:ext cx="2065867" cy="152400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A B R</a:t>
            </a:r>
          </a:p>
          <a:p>
            <a:pPr algn="ctr"/>
            <a:r>
              <a:rPr lang="en-IL" dirty="0"/>
              <a:t>C C R</a:t>
            </a:r>
          </a:p>
          <a:p>
            <a:pPr algn="ctr"/>
            <a:r>
              <a:rPr lang="en-IL" dirty="0"/>
              <a:t>A C B</a:t>
            </a:r>
          </a:p>
        </p:txBody>
      </p:sp>
      <p:sp>
        <p:nvSpPr>
          <p:cNvPr id="6" name="TextBox 5">
            <a:extLst>
              <a:ext uri="{FF2B5EF4-FFF2-40B4-BE49-F238E27FC236}">
                <a16:creationId xmlns:a16="http://schemas.microsoft.com/office/drawing/2014/main" id="{587018DC-63B1-914A-9AE8-9A5FB1593549}"/>
              </a:ext>
            </a:extLst>
          </p:cNvPr>
          <p:cNvSpPr txBox="1"/>
          <p:nvPr/>
        </p:nvSpPr>
        <p:spPr>
          <a:xfrm>
            <a:off x="1397000" y="1092200"/>
            <a:ext cx="1337733" cy="369332"/>
          </a:xfrm>
          <a:prstGeom prst="rect">
            <a:avLst/>
          </a:prstGeom>
          <a:noFill/>
        </p:spPr>
        <p:txBody>
          <a:bodyPr wrap="square" rtlCol="0">
            <a:spAutoFit/>
          </a:bodyPr>
          <a:lstStyle/>
          <a:p>
            <a:r>
              <a:rPr lang="en-IL" dirty="0"/>
              <a:t>Input</a:t>
            </a:r>
          </a:p>
        </p:txBody>
      </p:sp>
      <p:sp>
        <p:nvSpPr>
          <p:cNvPr id="7" name="TextBox 6">
            <a:extLst>
              <a:ext uri="{FF2B5EF4-FFF2-40B4-BE49-F238E27FC236}">
                <a16:creationId xmlns:a16="http://schemas.microsoft.com/office/drawing/2014/main" id="{CE2BDBB2-3C9B-614C-9B46-F7B3969C84EB}"/>
              </a:ext>
            </a:extLst>
          </p:cNvPr>
          <p:cNvSpPr txBox="1"/>
          <p:nvPr/>
        </p:nvSpPr>
        <p:spPr>
          <a:xfrm>
            <a:off x="3979335" y="1092200"/>
            <a:ext cx="1337733" cy="369332"/>
          </a:xfrm>
          <a:prstGeom prst="rect">
            <a:avLst/>
          </a:prstGeom>
          <a:noFill/>
        </p:spPr>
        <p:txBody>
          <a:bodyPr wrap="square" rtlCol="0">
            <a:spAutoFit/>
          </a:bodyPr>
          <a:lstStyle/>
          <a:p>
            <a:r>
              <a:rPr lang="en-IL" dirty="0"/>
              <a:t>Split</a:t>
            </a:r>
          </a:p>
        </p:txBody>
      </p:sp>
      <p:sp>
        <p:nvSpPr>
          <p:cNvPr id="8" name="TextBox 7">
            <a:extLst>
              <a:ext uri="{FF2B5EF4-FFF2-40B4-BE49-F238E27FC236}">
                <a16:creationId xmlns:a16="http://schemas.microsoft.com/office/drawing/2014/main" id="{B2D7A096-E4E0-6542-A179-15807F975373}"/>
              </a:ext>
            </a:extLst>
          </p:cNvPr>
          <p:cNvSpPr txBox="1"/>
          <p:nvPr/>
        </p:nvSpPr>
        <p:spPr>
          <a:xfrm>
            <a:off x="6011335" y="1092200"/>
            <a:ext cx="1337733" cy="369332"/>
          </a:xfrm>
          <a:prstGeom prst="rect">
            <a:avLst/>
          </a:prstGeom>
          <a:noFill/>
        </p:spPr>
        <p:txBody>
          <a:bodyPr wrap="square" rtlCol="0">
            <a:spAutoFit/>
          </a:bodyPr>
          <a:lstStyle/>
          <a:p>
            <a:r>
              <a:rPr lang="en-IL" dirty="0"/>
              <a:t>Map</a:t>
            </a:r>
          </a:p>
        </p:txBody>
      </p:sp>
      <p:sp>
        <p:nvSpPr>
          <p:cNvPr id="9" name="TextBox 8">
            <a:extLst>
              <a:ext uri="{FF2B5EF4-FFF2-40B4-BE49-F238E27FC236}">
                <a16:creationId xmlns:a16="http://schemas.microsoft.com/office/drawing/2014/main" id="{37CC957F-CEEF-004A-ADEC-ABA33BF2738C}"/>
              </a:ext>
            </a:extLst>
          </p:cNvPr>
          <p:cNvSpPr txBox="1"/>
          <p:nvPr/>
        </p:nvSpPr>
        <p:spPr>
          <a:xfrm>
            <a:off x="7958668" y="1092200"/>
            <a:ext cx="1532466" cy="369332"/>
          </a:xfrm>
          <a:prstGeom prst="rect">
            <a:avLst/>
          </a:prstGeom>
          <a:noFill/>
        </p:spPr>
        <p:txBody>
          <a:bodyPr wrap="square" rtlCol="0">
            <a:spAutoFit/>
          </a:bodyPr>
          <a:lstStyle/>
          <a:p>
            <a:r>
              <a:rPr lang="en-IL" dirty="0"/>
              <a:t>Shuffle &amp; Sort</a:t>
            </a:r>
          </a:p>
        </p:txBody>
      </p:sp>
      <p:sp>
        <p:nvSpPr>
          <p:cNvPr id="10" name="TextBox 9">
            <a:extLst>
              <a:ext uri="{FF2B5EF4-FFF2-40B4-BE49-F238E27FC236}">
                <a16:creationId xmlns:a16="http://schemas.microsoft.com/office/drawing/2014/main" id="{0C599264-8E37-1548-A143-5E554CADAB16}"/>
              </a:ext>
            </a:extLst>
          </p:cNvPr>
          <p:cNvSpPr txBox="1"/>
          <p:nvPr/>
        </p:nvSpPr>
        <p:spPr>
          <a:xfrm>
            <a:off x="10854267" y="1092200"/>
            <a:ext cx="1337733" cy="369332"/>
          </a:xfrm>
          <a:prstGeom prst="rect">
            <a:avLst/>
          </a:prstGeom>
          <a:noFill/>
        </p:spPr>
        <p:txBody>
          <a:bodyPr wrap="square" rtlCol="0">
            <a:spAutoFit/>
          </a:bodyPr>
          <a:lstStyle/>
          <a:p>
            <a:r>
              <a:rPr lang="en-IL" dirty="0"/>
              <a:t>Reduce</a:t>
            </a:r>
          </a:p>
        </p:txBody>
      </p:sp>
      <p:sp>
        <p:nvSpPr>
          <p:cNvPr id="11" name="Rectangle 10">
            <a:extLst>
              <a:ext uri="{FF2B5EF4-FFF2-40B4-BE49-F238E27FC236}">
                <a16:creationId xmlns:a16="http://schemas.microsoft.com/office/drawing/2014/main" id="{553AF6E7-4D32-FD4E-A62A-D191941AC8C0}"/>
              </a:ext>
            </a:extLst>
          </p:cNvPr>
          <p:cNvSpPr/>
          <p:nvPr/>
        </p:nvSpPr>
        <p:spPr>
          <a:xfrm>
            <a:off x="3742267" y="1744133"/>
            <a:ext cx="1490133" cy="4487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A B R</a:t>
            </a:r>
          </a:p>
        </p:txBody>
      </p:sp>
      <p:sp>
        <p:nvSpPr>
          <p:cNvPr id="12" name="Rectangle 11">
            <a:extLst>
              <a:ext uri="{FF2B5EF4-FFF2-40B4-BE49-F238E27FC236}">
                <a16:creationId xmlns:a16="http://schemas.microsoft.com/office/drawing/2014/main" id="{0DFFEB46-978F-2946-AFEF-9E8EC17587DC}"/>
              </a:ext>
            </a:extLst>
          </p:cNvPr>
          <p:cNvSpPr/>
          <p:nvPr/>
        </p:nvSpPr>
        <p:spPr>
          <a:xfrm>
            <a:off x="3742267" y="3227504"/>
            <a:ext cx="1490133" cy="4487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C C R</a:t>
            </a:r>
          </a:p>
        </p:txBody>
      </p:sp>
      <p:sp>
        <p:nvSpPr>
          <p:cNvPr id="13" name="Rectangle 12">
            <a:extLst>
              <a:ext uri="{FF2B5EF4-FFF2-40B4-BE49-F238E27FC236}">
                <a16:creationId xmlns:a16="http://schemas.microsoft.com/office/drawing/2014/main" id="{C7FE1AD3-7180-E044-866A-EC938FCE1588}"/>
              </a:ext>
            </a:extLst>
          </p:cNvPr>
          <p:cNvSpPr/>
          <p:nvPr/>
        </p:nvSpPr>
        <p:spPr>
          <a:xfrm>
            <a:off x="3742266" y="4755351"/>
            <a:ext cx="1490133" cy="4487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A C B</a:t>
            </a:r>
          </a:p>
        </p:txBody>
      </p:sp>
      <p:cxnSp>
        <p:nvCxnSpPr>
          <p:cNvPr id="15" name="Straight Arrow Connector 14">
            <a:extLst>
              <a:ext uri="{FF2B5EF4-FFF2-40B4-BE49-F238E27FC236}">
                <a16:creationId xmlns:a16="http://schemas.microsoft.com/office/drawing/2014/main" id="{0C24BAE1-B3B4-4841-A985-F58C74A6DE21}"/>
              </a:ext>
            </a:extLst>
          </p:cNvPr>
          <p:cNvCxnSpPr>
            <a:stCxn id="3" idx="3"/>
            <a:endCxn id="11" idx="1"/>
          </p:cNvCxnSpPr>
          <p:nvPr/>
        </p:nvCxnSpPr>
        <p:spPr>
          <a:xfrm flipV="1">
            <a:off x="3014133" y="1968500"/>
            <a:ext cx="728134" cy="15451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517F08B-BBFB-B740-9E06-ACDA93109D0A}"/>
              </a:ext>
            </a:extLst>
          </p:cNvPr>
          <p:cNvCxnSpPr>
            <a:stCxn id="3" idx="3"/>
            <a:endCxn id="12" idx="1"/>
          </p:cNvCxnSpPr>
          <p:nvPr/>
        </p:nvCxnSpPr>
        <p:spPr>
          <a:xfrm flipV="1">
            <a:off x="3014133" y="3451871"/>
            <a:ext cx="728134" cy="617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50DA819-36C5-6A47-ADC4-B9E03DEDC527}"/>
              </a:ext>
            </a:extLst>
          </p:cNvPr>
          <p:cNvCxnSpPr>
            <a:stCxn id="3" idx="3"/>
            <a:endCxn id="13" idx="1"/>
          </p:cNvCxnSpPr>
          <p:nvPr/>
        </p:nvCxnSpPr>
        <p:spPr>
          <a:xfrm>
            <a:off x="3014133" y="3513667"/>
            <a:ext cx="728133" cy="14660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DC5D07B7-DA4D-414C-83F3-B271E87DC543}"/>
              </a:ext>
            </a:extLst>
          </p:cNvPr>
          <p:cNvSpPr/>
          <p:nvPr/>
        </p:nvSpPr>
        <p:spPr>
          <a:xfrm>
            <a:off x="5808134" y="1689100"/>
            <a:ext cx="1253068" cy="1007534"/>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A, 1</a:t>
            </a:r>
          </a:p>
          <a:p>
            <a:pPr algn="ctr"/>
            <a:r>
              <a:rPr lang="en-IL" dirty="0"/>
              <a:t>B, 1</a:t>
            </a:r>
          </a:p>
          <a:p>
            <a:pPr algn="ctr"/>
            <a:r>
              <a:rPr lang="en-IL" dirty="0"/>
              <a:t>R, 1</a:t>
            </a:r>
          </a:p>
        </p:txBody>
      </p:sp>
      <p:sp>
        <p:nvSpPr>
          <p:cNvPr id="20" name="Rectangle 19">
            <a:extLst>
              <a:ext uri="{FF2B5EF4-FFF2-40B4-BE49-F238E27FC236}">
                <a16:creationId xmlns:a16="http://schemas.microsoft.com/office/drawing/2014/main" id="{33A82160-2C8F-CF4A-97EB-5DF10B205288}"/>
              </a:ext>
            </a:extLst>
          </p:cNvPr>
          <p:cNvSpPr/>
          <p:nvPr/>
        </p:nvSpPr>
        <p:spPr>
          <a:xfrm>
            <a:off x="5808134" y="3134110"/>
            <a:ext cx="1253068" cy="1007534"/>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C, 1</a:t>
            </a:r>
          </a:p>
          <a:p>
            <a:pPr algn="ctr"/>
            <a:r>
              <a:rPr lang="en-IL" dirty="0"/>
              <a:t>C, 1</a:t>
            </a:r>
          </a:p>
          <a:p>
            <a:pPr algn="ctr"/>
            <a:r>
              <a:rPr lang="en-IL" dirty="0"/>
              <a:t>R, 1</a:t>
            </a:r>
          </a:p>
        </p:txBody>
      </p:sp>
      <p:sp>
        <p:nvSpPr>
          <p:cNvPr id="21" name="Rectangle 20">
            <a:extLst>
              <a:ext uri="{FF2B5EF4-FFF2-40B4-BE49-F238E27FC236}">
                <a16:creationId xmlns:a16="http://schemas.microsoft.com/office/drawing/2014/main" id="{D0C80C25-DB38-EB44-B74A-5FABC203B048}"/>
              </a:ext>
            </a:extLst>
          </p:cNvPr>
          <p:cNvSpPr/>
          <p:nvPr/>
        </p:nvSpPr>
        <p:spPr>
          <a:xfrm>
            <a:off x="5808134" y="4700318"/>
            <a:ext cx="1253068" cy="1007534"/>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A, 1</a:t>
            </a:r>
          </a:p>
          <a:p>
            <a:pPr algn="ctr"/>
            <a:r>
              <a:rPr lang="en-IL" dirty="0"/>
              <a:t>C, 1 </a:t>
            </a:r>
          </a:p>
          <a:p>
            <a:pPr algn="ctr"/>
            <a:r>
              <a:rPr lang="en-IL" dirty="0"/>
              <a:t>B, 1</a:t>
            </a:r>
          </a:p>
        </p:txBody>
      </p:sp>
      <p:cxnSp>
        <p:nvCxnSpPr>
          <p:cNvPr id="22" name="Straight Arrow Connector 21">
            <a:extLst>
              <a:ext uri="{FF2B5EF4-FFF2-40B4-BE49-F238E27FC236}">
                <a16:creationId xmlns:a16="http://schemas.microsoft.com/office/drawing/2014/main" id="{AEFCB9CA-3981-FF43-91A0-EB7CB1D6F458}"/>
              </a:ext>
            </a:extLst>
          </p:cNvPr>
          <p:cNvCxnSpPr>
            <a:cxnSpLocks/>
            <a:stCxn id="11" idx="3"/>
            <a:endCxn id="18" idx="1"/>
          </p:cNvCxnSpPr>
          <p:nvPr/>
        </p:nvCxnSpPr>
        <p:spPr>
          <a:xfrm>
            <a:off x="5232400" y="1968500"/>
            <a:ext cx="575734" cy="2243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D7CFA86D-647F-E143-8E05-8F35B4DD8EBE}"/>
              </a:ext>
            </a:extLst>
          </p:cNvPr>
          <p:cNvCxnSpPr>
            <a:cxnSpLocks/>
            <a:stCxn id="12" idx="3"/>
            <a:endCxn id="20" idx="1"/>
          </p:cNvCxnSpPr>
          <p:nvPr/>
        </p:nvCxnSpPr>
        <p:spPr>
          <a:xfrm>
            <a:off x="5232400" y="3451871"/>
            <a:ext cx="575734" cy="1860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DFC26473-D386-5A4A-8B01-B06C83C94995}"/>
              </a:ext>
            </a:extLst>
          </p:cNvPr>
          <p:cNvCxnSpPr>
            <a:cxnSpLocks/>
            <a:stCxn id="13" idx="3"/>
            <a:endCxn id="21" idx="1"/>
          </p:cNvCxnSpPr>
          <p:nvPr/>
        </p:nvCxnSpPr>
        <p:spPr>
          <a:xfrm>
            <a:off x="5232399" y="4979718"/>
            <a:ext cx="575735" cy="2243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BAB6F327-B807-4043-9404-51A896FD3FC8}"/>
              </a:ext>
            </a:extLst>
          </p:cNvPr>
          <p:cNvSpPr/>
          <p:nvPr/>
        </p:nvSpPr>
        <p:spPr>
          <a:xfrm>
            <a:off x="8098367" y="1689100"/>
            <a:ext cx="1253068" cy="1007534"/>
          </a:xfrm>
          <a:prstGeom prst="rect">
            <a:avLst/>
          </a:prstGeom>
          <a:solidFill>
            <a:srgbClr val="00905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A, 1</a:t>
            </a:r>
          </a:p>
          <a:p>
            <a:pPr algn="ctr"/>
            <a:r>
              <a:rPr lang="en-IL" dirty="0"/>
              <a:t>A, 1</a:t>
            </a:r>
          </a:p>
        </p:txBody>
      </p:sp>
      <p:sp>
        <p:nvSpPr>
          <p:cNvPr id="25" name="Rectangle 24">
            <a:extLst>
              <a:ext uri="{FF2B5EF4-FFF2-40B4-BE49-F238E27FC236}">
                <a16:creationId xmlns:a16="http://schemas.microsoft.com/office/drawing/2014/main" id="{08AE1C2C-2679-2A49-9100-6720AFEEADFC}"/>
              </a:ext>
            </a:extLst>
          </p:cNvPr>
          <p:cNvSpPr/>
          <p:nvPr/>
        </p:nvSpPr>
        <p:spPr>
          <a:xfrm>
            <a:off x="8098367" y="2901407"/>
            <a:ext cx="1253068" cy="1007534"/>
          </a:xfrm>
          <a:prstGeom prst="rect">
            <a:avLst/>
          </a:prstGeom>
          <a:solidFill>
            <a:srgbClr val="00905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B, 1</a:t>
            </a:r>
          </a:p>
          <a:p>
            <a:pPr algn="ctr"/>
            <a:r>
              <a:rPr lang="en-IL" dirty="0"/>
              <a:t>B, 1</a:t>
            </a:r>
          </a:p>
        </p:txBody>
      </p:sp>
      <p:sp>
        <p:nvSpPr>
          <p:cNvPr id="26" name="Rectangle 25">
            <a:extLst>
              <a:ext uri="{FF2B5EF4-FFF2-40B4-BE49-F238E27FC236}">
                <a16:creationId xmlns:a16="http://schemas.microsoft.com/office/drawing/2014/main" id="{91D4D04C-FE64-B344-BF84-BBF6152F5221}"/>
              </a:ext>
            </a:extLst>
          </p:cNvPr>
          <p:cNvSpPr/>
          <p:nvPr/>
        </p:nvSpPr>
        <p:spPr>
          <a:xfrm>
            <a:off x="8098367" y="4161366"/>
            <a:ext cx="1253068" cy="1007534"/>
          </a:xfrm>
          <a:prstGeom prst="rect">
            <a:avLst/>
          </a:prstGeom>
          <a:solidFill>
            <a:srgbClr val="00905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C, 1</a:t>
            </a:r>
          </a:p>
          <a:p>
            <a:pPr algn="ctr"/>
            <a:r>
              <a:rPr lang="en-IL" dirty="0"/>
              <a:t>C, 1</a:t>
            </a:r>
          </a:p>
          <a:p>
            <a:pPr algn="ctr"/>
            <a:r>
              <a:rPr lang="en-IL" dirty="0"/>
              <a:t>C, 1</a:t>
            </a:r>
          </a:p>
        </p:txBody>
      </p:sp>
      <p:sp>
        <p:nvSpPr>
          <p:cNvPr id="28" name="Rectangle 27">
            <a:extLst>
              <a:ext uri="{FF2B5EF4-FFF2-40B4-BE49-F238E27FC236}">
                <a16:creationId xmlns:a16="http://schemas.microsoft.com/office/drawing/2014/main" id="{0B8E6385-03E0-DA42-9797-9D806724118C}"/>
              </a:ext>
            </a:extLst>
          </p:cNvPr>
          <p:cNvSpPr/>
          <p:nvPr/>
        </p:nvSpPr>
        <p:spPr>
          <a:xfrm>
            <a:off x="8098367" y="5421325"/>
            <a:ext cx="1253068" cy="1007534"/>
          </a:xfrm>
          <a:prstGeom prst="rect">
            <a:avLst/>
          </a:prstGeom>
          <a:solidFill>
            <a:srgbClr val="00905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R, 1</a:t>
            </a:r>
          </a:p>
          <a:p>
            <a:pPr algn="ctr"/>
            <a:r>
              <a:rPr lang="en-IL" dirty="0"/>
              <a:t>R, 1</a:t>
            </a:r>
          </a:p>
        </p:txBody>
      </p:sp>
      <p:cxnSp>
        <p:nvCxnSpPr>
          <p:cNvPr id="29" name="Straight Arrow Connector 28">
            <a:extLst>
              <a:ext uri="{FF2B5EF4-FFF2-40B4-BE49-F238E27FC236}">
                <a16:creationId xmlns:a16="http://schemas.microsoft.com/office/drawing/2014/main" id="{D3477D2D-2C34-F84D-B361-A191CCC635C9}"/>
              </a:ext>
            </a:extLst>
          </p:cNvPr>
          <p:cNvCxnSpPr>
            <a:cxnSpLocks/>
            <a:stCxn id="18" idx="3"/>
            <a:endCxn id="23" idx="1"/>
          </p:cNvCxnSpPr>
          <p:nvPr/>
        </p:nvCxnSpPr>
        <p:spPr>
          <a:xfrm>
            <a:off x="7061202" y="2192867"/>
            <a:ext cx="103716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B8E0ABEE-6A79-5847-9235-B5BB1A2E13D0}"/>
              </a:ext>
            </a:extLst>
          </p:cNvPr>
          <p:cNvCxnSpPr>
            <a:cxnSpLocks/>
            <a:stCxn id="18" idx="3"/>
            <a:endCxn id="25" idx="1"/>
          </p:cNvCxnSpPr>
          <p:nvPr/>
        </p:nvCxnSpPr>
        <p:spPr>
          <a:xfrm>
            <a:off x="7061202" y="2192867"/>
            <a:ext cx="1037165" cy="12123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039A9FFF-953E-3C4F-AEB3-9E9F309637DE}"/>
              </a:ext>
            </a:extLst>
          </p:cNvPr>
          <p:cNvCxnSpPr>
            <a:cxnSpLocks/>
            <a:stCxn id="18" idx="3"/>
            <a:endCxn id="26" idx="1"/>
          </p:cNvCxnSpPr>
          <p:nvPr/>
        </p:nvCxnSpPr>
        <p:spPr>
          <a:xfrm>
            <a:off x="7061202" y="2192867"/>
            <a:ext cx="1037165" cy="24722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68D612A7-5F96-4747-9308-EB7D652CA88A}"/>
              </a:ext>
            </a:extLst>
          </p:cNvPr>
          <p:cNvCxnSpPr>
            <a:cxnSpLocks/>
            <a:stCxn id="18" idx="3"/>
            <a:endCxn id="28" idx="1"/>
          </p:cNvCxnSpPr>
          <p:nvPr/>
        </p:nvCxnSpPr>
        <p:spPr>
          <a:xfrm>
            <a:off x="7061202" y="2192867"/>
            <a:ext cx="1037165" cy="37322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24195B4-8012-4D40-9C5D-56DE05A61130}"/>
              </a:ext>
            </a:extLst>
          </p:cNvPr>
          <p:cNvCxnSpPr>
            <a:cxnSpLocks/>
            <a:stCxn id="20" idx="3"/>
            <a:endCxn id="23" idx="1"/>
          </p:cNvCxnSpPr>
          <p:nvPr/>
        </p:nvCxnSpPr>
        <p:spPr>
          <a:xfrm flipV="1">
            <a:off x="7061202" y="2192867"/>
            <a:ext cx="1037165" cy="14450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123B11FF-8BC7-4F44-A1C9-B2CA7860FDD9}"/>
              </a:ext>
            </a:extLst>
          </p:cNvPr>
          <p:cNvCxnSpPr>
            <a:cxnSpLocks/>
            <a:stCxn id="20" idx="3"/>
            <a:endCxn id="25" idx="1"/>
          </p:cNvCxnSpPr>
          <p:nvPr/>
        </p:nvCxnSpPr>
        <p:spPr>
          <a:xfrm flipV="1">
            <a:off x="7061202" y="3405174"/>
            <a:ext cx="1037165" cy="232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525335DD-DEC9-4541-9DCF-8FDD9A4EFA86}"/>
              </a:ext>
            </a:extLst>
          </p:cNvPr>
          <p:cNvCxnSpPr>
            <a:cxnSpLocks/>
            <a:stCxn id="20" idx="3"/>
            <a:endCxn id="26" idx="1"/>
          </p:cNvCxnSpPr>
          <p:nvPr/>
        </p:nvCxnSpPr>
        <p:spPr>
          <a:xfrm>
            <a:off x="7061202" y="3637877"/>
            <a:ext cx="1037165" cy="10272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79B31CF8-E86E-214E-BBC8-9F42B77A98E2}"/>
              </a:ext>
            </a:extLst>
          </p:cNvPr>
          <p:cNvCxnSpPr>
            <a:cxnSpLocks/>
            <a:stCxn id="20" idx="3"/>
            <a:endCxn id="28" idx="1"/>
          </p:cNvCxnSpPr>
          <p:nvPr/>
        </p:nvCxnSpPr>
        <p:spPr>
          <a:xfrm>
            <a:off x="7061202" y="3637877"/>
            <a:ext cx="1037165" cy="22872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2AA61CD2-9642-E040-9EC1-A079E66F4F2C}"/>
              </a:ext>
            </a:extLst>
          </p:cNvPr>
          <p:cNvCxnSpPr>
            <a:cxnSpLocks/>
            <a:stCxn id="21" idx="3"/>
            <a:endCxn id="23" idx="1"/>
          </p:cNvCxnSpPr>
          <p:nvPr/>
        </p:nvCxnSpPr>
        <p:spPr>
          <a:xfrm flipV="1">
            <a:off x="7061202" y="2192867"/>
            <a:ext cx="1037165" cy="30112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48DAD30D-8C1A-724E-8653-95A7D158856B}"/>
              </a:ext>
            </a:extLst>
          </p:cNvPr>
          <p:cNvCxnSpPr>
            <a:cxnSpLocks/>
            <a:stCxn id="21" idx="3"/>
            <a:endCxn id="25" idx="1"/>
          </p:cNvCxnSpPr>
          <p:nvPr/>
        </p:nvCxnSpPr>
        <p:spPr>
          <a:xfrm flipV="1">
            <a:off x="7061202" y="3405174"/>
            <a:ext cx="1037165" cy="17989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CCB7263F-259B-A14C-B845-29B74C63B2D9}"/>
              </a:ext>
            </a:extLst>
          </p:cNvPr>
          <p:cNvCxnSpPr>
            <a:cxnSpLocks/>
            <a:stCxn id="21" idx="3"/>
            <a:endCxn id="26" idx="1"/>
          </p:cNvCxnSpPr>
          <p:nvPr/>
        </p:nvCxnSpPr>
        <p:spPr>
          <a:xfrm flipV="1">
            <a:off x="7061202" y="4665133"/>
            <a:ext cx="1037165" cy="5389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6E145192-75EC-734C-85BA-F0E4F037DA18}"/>
              </a:ext>
            </a:extLst>
          </p:cNvPr>
          <p:cNvCxnSpPr>
            <a:cxnSpLocks/>
            <a:stCxn id="21" idx="3"/>
            <a:endCxn id="28" idx="1"/>
          </p:cNvCxnSpPr>
          <p:nvPr/>
        </p:nvCxnSpPr>
        <p:spPr>
          <a:xfrm>
            <a:off x="7061202" y="5204085"/>
            <a:ext cx="1037165" cy="7210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2456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 calcmode="lin" valueType="num">
                                      <p:cBhvr additive="base">
                                        <p:cTn id="13"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000" b="1" dirty="0"/>
              <a:t>Example</a:t>
            </a:r>
          </a:p>
          <a:p>
            <a:br>
              <a:rPr lang="en-US" sz="2400" dirty="0"/>
            </a:b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24</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3" name="Alternate Process 2">
            <a:extLst>
              <a:ext uri="{FF2B5EF4-FFF2-40B4-BE49-F238E27FC236}">
                <a16:creationId xmlns:a16="http://schemas.microsoft.com/office/drawing/2014/main" id="{0EECF884-FE53-9245-972A-83D98525E38F}"/>
              </a:ext>
            </a:extLst>
          </p:cNvPr>
          <p:cNvSpPr/>
          <p:nvPr/>
        </p:nvSpPr>
        <p:spPr>
          <a:xfrm>
            <a:off x="948266" y="2751667"/>
            <a:ext cx="2065867" cy="152400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A B R</a:t>
            </a:r>
          </a:p>
          <a:p>
            <a:pPr algn="ctr"/>
            <a:r>
              <a:rPr lang="en-IL" dirty="0"/>
              <a:t>C C R</a:t>
            </a:r>
          </a:p>
          <a:p>
            <a:pPr algn="ctr"/>
            <a:r>
              <a:rPr lang="en-IL" dirty="0"/>
              <a:t>A C B</a:t>
            </a:r>
          </a:p>
        </p:txBody>
      </p:sp>
      <p:sp>
        <p:nvSpPr>
          <p:cNvPr id="6" name="TextBox 5">
            <a:extLst>
              <a:ext uri="{FF2B5EF4-FFF2-40B4-BE49-F238E27FC236}">
                <a16:creationId xmlns:a16="http://schemas.microsoft.com/office/drawing/2014/main" id="{587018DC-63B1-914A-9AE8-9A5FB1593549}"/>
              </a:ext>
            </a:extLst>
          </p:cNvPr>
          <p:cNvSpPr txBox="1"/>
          <p:nvPr/>
        </p:nvSpPr>
        <p:spPr>
          <a:xfrm>
            <a:off x="1397000" y="1092200"/>
            <a:ext cx="1337733" cy="369332"/>
          </a:xfrm>
          <a:prstGeom prst="rect">
            <a:avLst/>
          </a:prstGeom>
          <a:noFill/>
        </p:spPr>
        <p:txBody>
          <a:bodyPr wrap="square" rtlCol="0">
            <a:spAutoFit/>
          </a:bodyPr>
          <a:lstStyle/>
          <a:p>
            <a:r>
              <a:rPr lang="en-IL" dirty="0"/>
              <a:t>Input</a:t>
            </a:r>
          </a:p>
        </p:txBody>
      </p:sp>
      <p:sp>
        <p:nvSpPr>
          <p:cNvPr id="7" name="TextBox 6">
            <a:extLst>
              <a:ext uri="{FF2B5EF4-FFF2-40B4-BE49-F238E27FC236}">
                <a16:creationId xmlns:a16="http://schemas.microsoft.com/office/drawing/2014/main" id="{CE2BDBB2-3C9B-614C-9B46-F7B3969C84EB}"/>
              </a:ext>
            </a:extLst>
          </p:cNvPr>
          <p:cNvSpPr txBox="1"/>
          <p:nvPr/>
        </p:nvSpPr>
        <p:spPr>
          <a:xfrm>
            <a:off x="3979335" y="1092200"/>
            <a:ext cx="1337733" cy="369332"/>
          </a:xfrm>
          <a:prstGeom prst="rect">
            <a:avLst/>
          </a:prstGeom>
          <a:noFill/>
        </p:spPr>
        <p:txBody>
          <a:bodyPr wrap="square" rtlCol="0">
            <a:spAutoFit/>
          </a:bodyPr>
          <a:lstStyle/>
          <a:p>
            <a:r>
              <a:rPr lang="en-IL" dirty="0"/>
              <a:t>Split</a:t>
            </a:r>
          </a:p>
        </p:txBody>
      </p:sp>
      <p:sp>
        <p:nvSpPr>
          <p:cNvPr id="8" name="TextBox 7">
            <a:extLst>
              <a:ext uri="{FF2B5EF4-FFF2-40B4-BE49-F238E27FC236}">
                <a16:creationId xmlns:a16="http://schemas.microsoft.com/office/drawing/2014/main" id="{B2D7A096-E4E0-6542-A179-15807F975373}"/>
              </a:ext>
            </a:extLst>
          </p:cNvPr>
          <p:cNvSpPr txBox="1"/>
          <p:nvPr/>
        </p:nvSpPr>
        <p:spPr>
          <a:xfrm>
            <a:off x="6011335" y="1092200"/>
            <a:ext cx="1337733" cy="369332"/>
          </a:xfrm>
          <a:prstGeom prst="rect">
            <a:avLst/>
          </a:prstGeom>
          <a:noFill/>
        </p:spPr>
        <p:txBody>
          <a:bodyPr wrap="square" rtlCol="0">
            <a:spAutoFit/>
          </a:bodyPr>
          <a:lstStyle/>
          <a:p>
            <a:r>
              <a:rPr lang="en-IL" dirty="0"/>
              <a:t>Map</a:t>
            </a:r>
          </a:p>
        </p:txBody>
      </p:sp>
      <p:sp>
        <p:nvSpPr>
          <p:cNvPr id="9" name="TextBox 8">
            <a:extLst>
              <a:ext uri="{FF2B5EF4-FFF2-40B4-BE49-F238E27FC236}">
                <a16:creationId xmlns:a16="http://schemas.microsoft.com/office/drawing/2014/main" id="{37CC957F-CEEF-004A-ADEC-ABA33BF2738C}"/>
              </a:ext>
            </a:extLst>
          </p:cNvPr>
          <p:cNvSpPr txBox="1"/>
          <p:nvPr/>
        </p:nvSpPr>
        <p:spPr>
          <a:xfrm>
            <a:off x="7958668" y="1092200"/>
            <a:ext cx="1532466" cy="369332"/>
          </a:xfrm>
          <a:prstGeom prst="rect">
            <a:avLst/>
          </a:prstGeom>
          <a:noFill/>
        </p:spPr>
        <p:txBody>
          <a:bodyPr wrap="square" rtlCol="0">
            <a:spAutoFit/>
          </a:bodyPr>
          <a:lstStyle/>
          <a:p>
            <a:r>
              <a:rPr lang="en-IL" dirty="0"/>
              <a:t>Shuffle &amp; Sort</a:t>
            </a:r>
          </a:p>
        </p:txBody>
      </p:sp>
      <p:sp>
        <p:nvSpPr>
          <p:cNvPr id="10" name="TextBox 9">
            <a:extLst>
              <a:ext uri="{FF2B5EF4-FFF2-40B4-BE49-F238E27FC236}">
                <a16:creationId xmlns:a16="http://schemas.microsoft.com/office/drawing/2014/main" id="{0C599264-8E37-1548-A143-5E554CADAB16}"/>
              </a:ext>
            </a:extLst>
          </p:cNvPr>
          <p:cNvSpPr txBox="1"/>
          <p:nvPr/>
        </p:nvSpPr>
        <p:spPr>
          <a:xfrm>
            <a:off x="10854267" y="1092200"/>
            <a:ext cx="1337733" cy="369332"/>
          </a:xfrm>
          <a:prstGeom prst="rect">
            <a:avLst/>
          </a:prstGeom>
          <a:noFill/>
        </p:spPr>
        <p:txBody>
          <a:bodyPr wrap="square" rtlCol="0">
            <a:spAutoFit/>
          </a:bodyPr>
          <a:lstStyle/>
          <a:p>
            <a:r>
              <a:rPr lang="en-IL" dirty="0"/>
              <a:t>Reduce</a:t>
            </a:r>
          </a:p>
        </p:txBody>
      </p:sp>
      <p:sp>
        <p:nvSpPr>
          <p:cNvPr id="11" name="Rectangle 10">
            <a:extLst>
              <a:ext uri="{FF2B5EF4-FFF2-40B4-BE49-F238E27FC236}">
                <a16:creationId xmlns:a16="http://schemas.microsoft.com/office/drawing/2014/main" id="{553AF6E7-4D32-FD4E-A62A-D191941AC8C0}"/>
              </a:ext>
            </a:extLst>
          </p:cNvPr>
          <p:cNvSpPr/>
          <p:nvPr/>
        </p:nvSpPr>
        <p:spPr>
          <a:xfrm>
            <a:off x="3742267" y="1744133"/>
            <a:ext cx="1490133" cy="4487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A B R</a:t>
            </a:r>
          </a:p>
        </p:txBody>
      </p:sp>
      <p:sp>
        <p:nvSpPr>
          <p:cNvPr id="12" name="Rectangle 11">
            <a:extLst>
              <a:ext uri="{FF2B5EF4-FFF2-40B4-BE49-F238E27FC236}">
                <a16:creationId xmlns:a16="http://schemas.microsoft.com/office/drawing/2014/main" id="{0DFFEB46-978F-2946-AFEF-9E8EC17587DC}"/>
              </a:ext>
            </a:extLst>
          </p:cNvPr>
          <p:cNvSpPr/>
          <p:nvPr/>
        </p:nvSpPr>
        <p:spPr>
          <a:xfrm>
            <a:off x="3742267" y="3227504"/>
            <a:ext cx="1490133" cy="4487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C C R</a:t>
            </a:r>
          </a:p>
        </p:txBody>
      </p:sp>
      <p:sp>
        <p:nvSpPr>
          <p:cNvPr id="13" name="Rectangle 12">
            <a:extLst>
              <a:ext uri="{FF2B5EF4-FFF2-40B4-BE49-F238E27FC236}">
                <a16:creationId xmlns:a16="http://schemas.microsoft.com/office/drawing/2014/main" id="{C7FE1AD3-7180-E044-866A-EC938FCE1588}"/>
              </a:ext>
            </a:extLst>
          </p:cNvPr>
          <p:cNvSpPr/>
          <p:nvPr/>
        </p:nvSpPr>
        <p:spPr>
          <a:xfrm>
            <a:off x="3742266" y="4755351"/>
            <a:ext cx="1490133" cy="4487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A C B</a:t>
            </a:r>
          </a:p>
        </p:txBody>
      </p:sp>
      <p:cxnSp>
        <p:nvCxnSpPr>
          <p:cNvPr id="15" name="Straight Arrow Connector 14">
            <a:extLst>
              <a:ext uri="{FF2B5EF4-FFF2-40B4-BE49-F238E27FC236}">
                <a16:creationId xmlns:a16="http://schemas.microsoft.com/office/drawing/2014/main" id="{0C24BAE1-B3B4-4841-A985-F58C74A6DE21}"/>
              </a:ext>
            </a:extLst>
          </p:cNvPr>
          <p:cNvCxnSpPr>
            <a:stCxn id="3" idx="3"/>
            <a:endCxn id="11" idx="1"/>
          </p:cNvCxnSpPr>
          <p:nvPr/>
        </p:nvCxnSpPr>
        <p:spPr>
          <a:xfrm flipV="1">
            <a:off x="3014133" y="1968500"/>
            <a:ext cx="728134" cy="15451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517F08B-BBFB-B740-9E06-ACDA93109D0A}"/>
              </a:ext>
            </a:extLst>
          </p:cNvPr>
          <p:cNvCxnSpPr>
            <a:stCxn id="3" idx="3"/>
            <a:endCxn id="12" idx="1"/>
          </p:cNvCxnSpPr>
          <p:nvPr/>
        </p:nvCxnSpPr>
        <p:spPr>
          <a:xfrm flipV="1">
            <a:off x="3014133" y="3451871"/>
            <a:ext cx="728134" cy="617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50DA819-36C5-6A47-ADC4-B9E03DEDC527}"/>
              </a:ext>
            </a:extLst>
          </p:cNvPr>
          <p:cNvCxnSpPr>
            <a:stCxn id="3" idx="3"/>
            <a:endCxn id="13" idx="1"/>
          </p:cNvCxnSpPr>
          <p:nvPr/>
        </p:nvCxnSpPr>
        <p:spPr>
          <a:xfrm>
            <a:off x="3014133" y="3513667"/>
            <a:ext cx="728133" cy="14660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DC5D07B7-DA4D-414C-83F3-B271E87DC543}"/>
              </a:ext>
            </a:extLst>
          </p:cNvPr>
          <p:cNvSpPr/>
          <p:nvPr/>
        </p:nvSpPr>
        <p:spPr>
          <a:xfrm>
            <a:off x="5808134" y="1689100"/>
            <a:ext cx="1253068" cy="1007534"/>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A, 1</a:t>
            </a:r>
          </a:p>
          <a:p>
            <a:pPr algn="ctr"/>
            <a:r>
              <a:rPr lang="en-IL" dirty="0"/>
              <a:t>B, 1</a:t>
            </a:r>
          </a:p>
          <a:p>
            <a:pPr algn="ctr"/>
            <a:r>
              <a:rPr lang="en-IL" dirty="0"/>
              <a:t>R, 1</a:t>
            </a:r>
          </a:p>
        </p:txBody>
      </p:sp>
      <p:sp>
        <p:nvSpPr>
          <p:cNvPr id="20" name="Rectangle 19">
            <a:extLst>
              <a:ext uri="{FF2B5EF4-FFF2-40B4-BE49-F238E27FC236}">
                <a16:creationId xmlns:a16="http://schemas.microsoft.com/office/drawing/2014/main" id="{33A82160-2C8F-CF4A-97EB-5DF10B205288}"/>
              </a:ext>
            </a:extLst>
          </p:cNvPr>
          <p:cNvSpPr/>
          <p:nvPr/>
        </p:nvSpPr>
        <p:spPr>
          <a:xfrm>
            <a:off x="5808134" y="3134110"/>
            <a:ext cx="1253068" cy="1007534"/>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C, 1</a:t>
            </a:r>
          </a:p>
          <a:p>
            <a:pPr algn="ctr"/>
            <a:r>
              <a:rPr lang="en-IL" dirty="0"/>
              <a:t>C, 1</a:t>
            </a:r>
          </a:p>
          <a:p>
            <a:pPr algn="ctr"/>
            <a:r>
              <a:rPr lang="en-IL" dirty="0"/>
              <a:t>R, 1</a:t>
            </a:r>
          </a:p>
        </p:txBody>
      </p:sp>
      <p:sp>
        <p:nvSpPr>
          <p:cNvPr id="21" name="Rectangle 20">
            <a:extLst>
              <a:ext uri="{FF2B5EF4-FFF2-40B4-BE49-F238E27FC236}">
                <a16:creationId xmlns:a16="http://schemas.microsoft.com/office/drawing/2014/main" id="{D0C80C25-DB38-EB44-B74A-5FABC203B048}"/>
              </a:ext>
            </a:extLst>
          </p:cNvPr>
          <p:cNvSpPr/>
          <p:nvPr/>
        </p:nvSpPr>
        <p:spPr>
          <a:xfrm>
            <a:off x="5808134" y="4700318"/>
            <a:ext cx="1253068" cy="1007534"/>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A, 1</a:t>
            </a:r>
          </a:p>
          <a:p>
            <a:pPr algn="ctr"/>
            <a:r>
              <a:rPr lang="en-IL" dirty="0"/>
              <a:t>C, 1 </a:t>
            </a:r>
          </a:p>
          <a:p>
            <a:pPr algn="ctr"/>
            <a:r>
              <a:rPr lang="en-IL" dirty="0"/>
              <a:t>B, 1</a:t>
            </a:r>
          </a:p>
        </p:txBody>
      </p:sp>
      <p:cxnSp>
        <p:nvCxnSpPr>
          <p:cNvPr id="22" name="Straight Arrow Connector 21">
            <a:extLst>
              <a:ext uri="{FF2B5EF4-FFF2-40B4-BE49-F238E27FC236}">
                <a16:creationId xmlns:a16="http://schemas.microsoft.com/office/drawing/2014/main" id="{AEFCB9CA-3981-FF43-91A0-EB7CB1D6F458}"/>
              </a:ext>
            </a:extLst>
          </p:cNvPr>
          <p:cNvCxnSpPr>
            <a:cxnSpLocks/>
            <a:stCxn id="11" idx="3"/>
            <a:endCxn id="18" idx="1"/>
          </p:cNvCxnSpPr>
          <p:nvPr/>
        </p:nvCxnSpPr>
        <p:spPr>
          <a:xfrm>
            <a:off x="5232400" y="1968500"/>
            <a:ext cx="575734" cy="2243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D7CFA86D-647F-E143-8E05-8F35B4DD8EBE}"/>
              </a:ext>
            </a:extLst>
          </p:cNvPr>
          <p:cNvCxnSpPr>
            <a:cxnSpLocks/>
            <a:stCxn id="12" idx="3"/>
            <a:endCxn id="20" idx="1"/>
          </p:cNvCxnSpPr>
          <p:nvPr/>
        </p:nvCxnSpPr>
        <p:spPr>
          <a:xfrm>
            <a:off x="5232400" y="3451871"/>
            <a:ext cx="575734" cy="1860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DFC26473-D386-5A4A-8B01-B06C83C94995}"/>
              </a:ext>
            </a:extLst>
          </p:cNvPr>
          <p:cNvCxnSpPr>
            <a:cxnSpLocks/>
            <a:stCxn id="13" idx="3"/>
            <a:endCxn id="21" idx="1"/>
          </p:cNvCxnSpPr>
          <p:nvPr/>
        </p:nvCxnSpPr>
        <p:spPr>
          <a:xfrm>
            <a:off x="5232399" y="4979718"/>
            <a:ext cx="575735" cy="2243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BAB6F327-B807-4043-9404-51A896FD3FC8}"/>
              </a:ext>
            </a:extLst>
          </p:cNvPr>
          <p:cNvSpPr/>
          <p:nvPr/>
        </p:nvSpPr>
        <p:spPr>
          <a:xfrm>
            <a:off x="8098367" y="1689100"/>
            <a:ext cx="1253068" cy="1007534"/>
          </a:xfrm>
          <a:prstGeom prst="rect">
            <a:avLst/>
          </a:prstGeom>
          <a:solidFill>
            <a:srgbClr val="00905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A, 1</a:t>
            </a:r>
          </a:p>
          <a:p>
            <a:pPr algn="ctr"/>
            <a:r>
              <a:rPr lang="en-IL" dirty="0"/>
              <a:t>A, 1</a:t>
            </a:r>
          </a:p>
        </p:txBody>
      </p:sp>
      <p:sp>
        <p:nvSpPr>
          <p:cNvPr id="25" name="Rectangle 24">
            <a:extLst>
              <a:ext uri="{FF2B5EF4-FFF2-40B4-BE49-F238E27FC236}">
                <a16:creationId xmlns:a16="http://schemas.microsoft.com/office/drawing/2014/main" id="{08AE1C2C-2679-2A49-9100-6720AFEEADFC}"/>
              </a:ext>
            </a:extLst>
          </p:cNvPr>
          <p:cNvSpPr/>
          <p:nvPr/>
        </p:nvSpPr>
        <p:spPr>
          <a:xfrm>
            <a:off x="8098367" y="2901407"/>
            <a:ext cx="1253068" cy="1007534"/>
          </a:xfrm>
          <a:prstGeom prst="rect">
            <a:avLst/>
          </a:prstGeom>
          <a:solidFill>
            <a:srgbClr val="00905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B, 1</a:t>
            </a:r>
          </a:p>
          <a:p>
            <a:pPr algn="ctr"/>
            <a:r>
              <a:rPr lang="en-IL" dirty="0"/>
              <a:t>B, 1</a:t>
            </a:r>
          </a:p>
        </p:txBody>
      </p:sp>
      <p:sp>
        <p:nvSpPr>
          <p:cNvPr id="26" name="Rectangle 25">
            <a:extLst>
              <a:ext uri="{FF2B5EF4-FFF2-40B4-BE49-F238E27FC236}">
                <a16:creationId xmlns:a16="http://schemas.microsoft.com/office/drawing/2014/main" id="{91D4D04C-FE64-B344-BF84-BBF6152F5221}"/>
              </a:ext>
            </a:extLst>
          </p:cNvPr>
          <p:cNvSpPr/>
          <p:nvPr/>
        </p:nvSpPr>
        <p:spPr>
          <a:xfrm>
            <a:off x="8098367" y="4161366"/>
            <a:ext cx="1253068" cy="1007534"/>
          </a:xfrm>
          <a:prstGeom prst="rect">
            <a:avLst/>
          </a:prstGeom>
          <a:solidFill>
            <a:srgbClr val="00905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C, 1</a:t>
            </a:r>
          </a:p>
          <a:p>
            <a:pPr algn="ctr"/>
            <a:r>
              <a:rPr lang="en-IL" dirty="0"/>
              <a:t>C, 1</a:t>
            </a:r>
          </a:p>
          <a:p>
            <a:pPr algn="ctr"/>
            <a:r>
              <a:rPr lang="en-IL" dirty="0"/>
              <a:t>C, 1</a:t>
            </a:r>
          </a:p>
        </p:txBody>
      </p:sp>
      <p:sp>
        <p:nvSpPr>
          <p:cNvPr id="28" name="Rectangle 27">
            <a:extLst>
              <a:ext uri="{FF2B5EF4-FFF2-40B4-BE49-F238E27FC236}">
                <a16:creationId xmlns:a16="http://schemas.microsoft.com/office/drawing/2014/main" id="{0B8E6385-03E0-DA42-9797-9D806724118C}"/>
              </a:ext>
            </a:extLst>
          </p:cNvPr>
          <p:cNvSpPr/>
          <p:nvPr/>
        </p:nvSpPr>
        <p:spPr>
          <a:xfrm>
            <a:off x="8098367" y="5421325"/>
            <a:ext cx="1253068" cy="1007534"/>
          </a:xfrm>
          <a:prstGeom prst="rect">
            <a:avLst/>
          </a:prstGeom>
          <a:solidFill>
            <a:srgbClr val="00905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R, 1</a:t>
            </a:r>
          </a:p>
          <a:p>
            <a:pPr algn="ctr"/>
            <a:r>
              <a:rPr lang="en-IL" dirty="0"/>
              <a:t>R, 1</a:t>
            </a:r>
          </a:p>
        </p:txBody>
      </p:sp>
      <p:cxnSp>
        <p:nvCxnSpPr>
          <p:cNvPr id="29" name="Straight Arrow Connector 28">
            <a:extLst>
              <a:ext uri="{FF2B5EF4-FFF2-40B4-BE49-F238E27FC236}">
                <a16:creationId xmlns:a16="http://schemas.microsoft.com/office/drawing/2014/main" id="{D3477D2D-2C34-F84D-B361-A191CCC635C9}"/>
              </a:ext>
            </a:extLst>
          </p:cNvPr>
          <p:cNvCxnSpPr>
            <a:cxnSpLocks/>
            <a:stCxn id="18" idx="3"/>
            <a:endCxn id="23" idx="1"/>
          </p:cNvCxnSpPr>
          <p:nvPr/>
        </p:nvCxnSpPr>
        <p:spPr>
          <a:xfrm>
            <a:off x="7061202" y="2192867"/>
            <a:ext cx="103716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B8E0ABEE-6A79-5847-9235-B5BB1A2E13D0}"/>
              </a:ext>
            </a:extLst>
          </p:cNvPr>
          <p:cNvCxnSpPr>
            <a:cxnSpLocks/>
            <a:stCxn id="18" idx="3"/>
            <a:endCxn id="25" idx="1"/>
          </p:cNvCxnSpPr>
          <p:nvPr/>
        </p:nvCxnSpPr>
        <p:spPr>
          <a:xfrm>
            <a:off x="7061202" y="2192867"/>
            <a:ext cx="1037165" cy="12123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039A9FFF-953E-3C4F-AEB3-9E9F309637DE}"/>
              </a:ext>
            </a:extLst>
          </p:cNvPr>
          <p:cNvCxnSpPr>
            <a:cxnSpLocks/>
            <a:stCxn id="18" idx="3"/>
            <a:endCxn id="26" idx="1"/>
          </p:cNvCxnSpPr>
          <p:nvPr/>
        </p:nvCxnSpPr>
        <p:spPr>
          <a:xfrm>
            <a:off x="7061202" y="2192867"/>
            <a:ext cx="1037165" cy="24722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68D612A7-5F96-4747-9308-EB7D652CA88A}"/>
              </a:ext>
            </a:extLst>
          </p:cNvPr>
          <p:cNvCxnSpPr>
            <a:cxnSpLocks/>
            <a:stCxn id="18" idx="3"/>
            <a:endCxn id="28" idx="1"/>
          </p:cNvCxnSpPr>
          <p:nvPr/>
        </p:nvCxnSpPr>
        <p:spPr>
          <a:xfrm>
            <a:off x="7061202" y="2192867"/>
            <a:ext cx="1037165" cy="37322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24195B4-8012-4D40-9C5D-56DE05A61130}"/>
              </a:ext>
            </a:extLst>
          </p:cNvPr>
          <p:cNvCxnSpPr>
            <a:cxnSpLocks/>
            <a:stCxn id="20" idx="3"/>
            <a:endCxn id="23" idx="1"/>
          </p:cNvCxnSpPr>
          <p:nvPr/>
        </p:nvCxnSpPr>
        <p:spPr>
          <a:xfrm flipV="1">
            <a:off x="7061202" y="2192867"/>
            <a:ext cx="1037165" cy="14450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123B11FF-8BC7-4F44-A1C9-B2CA7860FDD9}"/>
              </a:ext>
            </a:extLst>
          </p:cNvPr>
          <p:cNvCxnSpPr>
            <a:cxnSpLocks/>
            <a:stCxn id="20" idx="3"/>
            <a:endCxn id="25" idx="1"/>
          </p:cNvCxnSpPr>
          <p:nvPr/>
        </p:nvCxnSpPr>
        <p:spPr>
          <a:xfrm flipV="1">
            <a:off x="7061202" y="3405174"/>
            <a:ext cx="1037165" cy="232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525335DD-DEC9-4541-9DCF-8FDD9A4EFA86}"/>
              </a:ext>
            </a:extLst>
          </p:cNvPr>
          <p:cNvCxnSpPr>
            <a:cxnSpLocks/>
            <a:stCxn id="20" idx="3"/>
            <a:endCxn id="26" idx="1"/>
          </p:cNvCxnSpPr>
          <p:nvPr/>
        </p:nvCxnSpPr>
        <p:spPr>
          <a:xfrm>
            <a:off x="7061202" y="3637877"/>
            <a:ext cx="1037165" cy="10272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79B31CF8-E86E-214E-BBC8-9F42B77A98E2}"/>
              </a:ext>
            </a:extLst>
          </p:cNvPr>
          <p:cNvCxnSpPr>
            <a:cxnSpLocks/>
            <a:stCxn id="20" idx="3"/>
            <a:endCxn id="28" idx="1"/>
          </p:cNvCxnSpPr>
          <p:nvPr/>
        </p:nvCxnSpPr>
        <p:spPr>
          <a:xfrm>
            <a:off x="7061202" y="3637877"/>
            <a:ext cx="1037165" cy="22872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2AA61CD2-9642-E040-9EC1-A079E66F4F2C}"/>
              </a:ext>
            </a:extLst>
          </p:cNvPr>
          <p:cNvCxnSpPr>
            <a:cxnSpLocks/>
            <a:stCxn id="21" idx="3"/>
            <a:endCxn id="23" idx="1"/>
          </p:cNvCxnSpPr>
          <p:nvPr/>
        </p:nvCxnSpPr>
        <p:spPr>
          <a:xfrm flipV="1">
            <a:off x="7061202" y="2192867"/>
            <a:ext cx="1037165" cy="30112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48DAD30D-8C1A-724E-8653-95A7D158856B}"/>
              </a:ext>
            </a:extLst>
          </p:cNvPr>
          <p:cNvCxnSpPr>
            <a:cxnSpLocks/>
            <a:stCxn id="21" idx="3"/>
            <a:endCxn id="25" idx="1"/>
          </p:cNvCxnSpPr>
          <p:nvPr/>
        </p:nvCxnSpPr>
        <p:spPr>
          <a:xfrm flipV="1">
            <a:off x="7061202" y="3405174"/>
            <a:ext cx="1037165" cy="17989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CCB7263F-259B-A14C-B845-29B74C63B2D9}"/>
              </a:ext>
            </a:extLst>
          </p:cNvPr>
          <p:cNvCxnSpPr>
            <a:cxnSpLocks/>
            <a:stCxn id="21" idx="3"/>
            <a:endCxn id="26" idx="1"/>
          </p:cNvCxnSpPr>
          <p:nvPr/>
        </p:nvCxnSpPr>
        <p:spPr>
          <a:xfrm flipV="1">
            <a:off x="7061202" y="4665133"/>
            <a:ext cx="1037165" cy="5389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6E145192-75EC-734C-85BA-F0E4F037DA18}"/>
              </a:ext>
            </a:extLst>
          </p:cNvPr>
          <p:cNvCxnSpPr>
            <a:cxnSpLocks/>
            <a:stCxn id="21" idx="3"/>
            <a:endCxn id="28" idx="1"/>
          </p:cNvCxnSpPr>
          <p:nvPr/>
        </p:nvCxnSpPr>
        <p:spPr>
          <a:xfrm>
            <a:off x="7061202" y="5204085"/>
            <a:ext cx="1037165" cy="7210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Rounded Rectangle 13">
            <a:extLst>
              <a:ext uri="{FF2B5EF4-FFF2-40B4-BE49-F238E27FC236}">
                <a16:creationId xmlns:a16="http://schemas.microsoft.com/office/drawing/2014/main" id="{7FA73CAD-A962-5C46-939D-79E188E79291}"/>
              </a:ext>
            </a:extLst>
          </p:cNvPr>
          <p:cNvSpPr/>
          <p:nvPr/>
        </p:nvSpPr>
        <p:spPr>
          <a:xfrm>
            <a:off x="10414000" y="2506133"/>
            <a:ext cx="1481667" cy="2159000"/>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A, 2</a:t>
            </a:r>
          </a:p>
          <a:p>
            <a:pPr algn="ctr"/>
            <a:r>
              <a:rPr lang="en-IL" dirty="0"/>
              <a:t>B, 2</a:t>
            </a:r>
          </a:p>
          <a:p>
            <a:pPr algn="ctr"/>
            <a:r>
              <a:rPr lang="en-IL" dirty="0"/>
              <a:t>C, 3</a:t>
            </a:r>
          </a:p>
          <a:p>
            <a:pPr algn="ctr"/>
            <a:r>
              <a:rPr lang="en-IL" dirty="0"/>
              <a:t>R, 2</a:t>
            </a:r>
          </a:p>
        </p:txBody>
      </p:sp>
      <p:cxnSp>
        <p:nvCxnSpPr>
          <p:cNvPr id="40" name="Straight Arrow Connector 39">
            <a:extLst>
              <a:ext uri="{FF2B5EF4-FFF2-40B4-BE49-F238E27FC236}">
                <a16:creationId xmlns:a16="http://schemas.microsoft.com/office/drawing/2014/main" id="{913013E3-9951-2A42-8EDC-98B99E1E0EA2}"/>
              </a:ext>
            </a:extLst>
          </p:cNvPr>
          <p:cNvCxnSpPr>
            <a:cxnSpLocks/>
            <a:stCxn id="23" idx="3"/>
            <a:endCxn id="14" idx="1"/>
          </p:cNvCxnSpPr>
          <p:nvPr/>
        </p:nvCxnSpPr>
        <p:spPr>
          <a:xfrm>
            <a:off x="9351435" y="2192867"/>
            <a:ext cx="1062565" cy="13927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74F81FCF-3F0E-BA47-B320-3ECC6AF0422A}"/>
              </a:ext>
            </a:extLst>
          </p:cNvPr>
          <p:cNvCxnSpPr>
            <a:cxnSpLocks/>
            <a:stCxn id="25" idx="3"/>
            <a:endCxn id="14" idx="1"/>
          </p:cNvCxnSpPr>
          <p:nvPr/>
        </p:nvCxnSpPr>
        <p:spPr>
          <a:xfrm>
            <a:off x="9351435" y="3405174"/>
            <a:ext cx="1062565" cy="1804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7C0F9BAF-088E-EF46-9CE8-C91969995B01}"/>
              </a:ext>
            </a:extLst>
          </p:cNvPr>
          <p:cNvCxnSpPr>
            <a:cxnSpLocks/>
            <a:stCxn id="26" idx="3"/>
            <a:endCxn id="14" idx="1"/>
          </p:cNvCxnSpPr>
          <p:nvPr/>
        </p:nvCxnSpPr>
        <p:spPr>
          <a:xfrm flipV="1">
            <a:off x="9351435" y="3585633"/>
            <a:ext cx="1062565" cy="1079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CBCAD225-A42E-AE4F-864B-B11FFC06AAA2}"/>
              </a:ext>
            </a:extLst>
          </p:cNvPr>
          <p:cNvCxnSpPr>
            <a:cxnSpLocks/>
            <a:stCxn id="28" idx="3"/>
            <a:endCxn id="14" idx="1"/>
          </p:cNvCxnSpPr>
          <p:nvPr/>
        </p:nvCxnSpPr>
        <p:spPr>
          <a:xfrm flipV="1">
            <a:off x="9351435" y="3585633"/>
            <a:ext cx="1062565" cy="23394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8128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 calcmode="lin" valueType="num">
                                      <p:cBhvr additive="base">
                                        <p:cTn id="13"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fontScale="90000"/>
          </a:bodyPr>
          <a:lstStyle/>
          <a:p>
            <a:pPr marL="0" lvl="0" indent="0">
              <a:buNone/>
            </a:pPr>
            <a:r>
              <a:t>Worked Example 3 (continued): Correct (sum, count) Approach</a:t>
            </a:r>
          </a:p>
        </p:txBody>
      </p:sp>
      <p:sp>
        <p:nvSpPr>
          <p:cNvPr id="3" name="Content Placeholder 2"/>
          <p:cNvSpPr>
            <a:spLocks noGrp="1"/>
          </p:cNvSpPr>
          <p:nvPr>
            <p:ph idx="1" hasCustomPrompt="1"/>
          </p:nvPr>
        </p:nvSpPr>
        <p:spPr/>
        <p:txBody>
          <a:bodyPr>
            <a:normAutofit fontScale="92500" lnSpcReduction="10000"/>
          </a:bodyPr>
          <a:lstStyle/>
          <a:p>
            <a:pPr marL="0" lvl="0" indent="0">
              <a:buNone/>
            </a:pPr>
            <a:r>
              <a:rPr b="1"/>
              <a:t>Correct map:</a:t>
            </a:r>
            <a:r>
              <a:t> emit </a:t>
            </a:r>
            <a:r>
              <a:rPr>
                <a:latin typeface="Courier"/>
              </a:rPr>
              <a:t>(AgentID, (sum, count))</a:t>
            </a:r>
            <a:r>
              <a:t> → (A1,(6,1)), (A1,(4,1)), (A2,(10,1)), (A1,(20,1))</a:t>
            </a:r>
          </a:p>
          <a:p>
            <a:pPr marL="0" lvl="0" indent="0">
              <a:buNone/>
            </a:pPr>
            <a:r>
              <a:rPr b="1"/>
              <a:t>Combiner:</a:t>
            </a:r>
            <a:r>
              <a:t> (A1,(10,2)), (A2,(10,1)), (A1,(20,1)). </a:t>
            </a:r>
            <a:r>
              <a:rPr b="1"/>
              <a:t>Shuffle:</a:t>
            </a:r>
            <a:r>
              <a:t> A1→[(10,2),(20,1)], A2→[(10,1)]</a:t>
            </a:r>
          </a:p>
          <a:p>
            <a:pPr marL="0" lvl="0" indent="0">
              <a:buNone/>
            </a:pPr>
            <a:r>
              <a:rPr b="1"/>
              <a:t>Reduce:</a:t>
            </a:r>
            <a:r>
              <a:t> A1 sum=30, count=3→avg=10; A2 sum=10, count=1→avg=10 ✓</a:t>
            </a:r>
          </a:p>
          <a:p>
            <a:pPr marL="0" lvl="0" indent="0">
              <a:buNone/>
            </a:pPr>
            <a:r>
              <a:rPr b="1"/>
              <a:t>SQL:</a:t>
            </a:r>
            <a:r>
              <a:t> </a:t>
            </a:r>
            <a:r>
              <a:rPr>
                <a:latin typeface="Courier"/>
              </a:rPr>
              <a:t>SELECT AgentID, AVG(HandleTime) FROM CallCenterLogs GROUP BY AgentID;</a:t>
            </a:r>
          </a:p>
          <a:p>
            <a:pPr marL="0" lvl="0" indent="0">
              <a:buNone/>
            </a:pPr>
            <a:r>
              <a:rPr b="1"/>
              <a:t>Mini cost:</a:t>
            </a:r>
            <a:r>
              <a:t> (sum,count) doubles pair size but enables safe combiner; </a:t>
            </a:r>
            <a:r>
              <a:rPr>
                <a:latin typeface="Courier"/>
              </a:rPr>
              <a:t>C_shuffle ≈ 128</a:t>
            </a:r>
            <a:r>
              <a:t> bytes—cheaper than wrong results.</a:t>
            </a:r>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7F24627C-5938-5D06-969C-341161F72C9C}"/>
              </a:ext>
            </a:extLst>
          </p:cNvPr>
          <p:cNvSpPr>
            <a:spLocks noGrp="1"/>
          </p:cNvSpPr>
          <p:nvPr>
            <p:ph type="title"/>
          </p:nvPr>
        </p:nvSpPr>
        <p:spPr>
          <a:xfrm>
            <a:off x="609600" y="274638"/>
            <a:ext cx="10972800" cy="1143000"/>
          </a:xfrm>
        </p:spPr>
        <p:txBody>
          <a:bodyPr/>
          <a:lstStyle/>
          <a:p>
            <a:pPr marL="0" lvl="0" indent="0">
              <a:buNone/>
            </a:pPr>
            <a:r>
              <a:t>Joins in MapReduce (SQL Lens)</a:t>
            </a:r>
          </a:p>
        </p:txBody>
      </p:sp>
      <p:sp>
        <p:nvSpPr>
          <p:cNvPr id="3" name="Text Placeholder 3">
            <a:extLst>
              <a:ext uri="{FF2B5EF4-FFF2-40B4-BE49-F238E27FC236}">
                <a16:creationId xmlns:a16="http://schemas.microsoft.com/office/drawing/2014/main" id="{838FFFFD-68E9-C4E4-7764-523BAE32B83B}"/>
              </a:ext>
            </a:extLst>
          </p:cNvPr>
          <p:cNvSpPr>
            <a:spLocks noGrp="1"/>
          </p:cNvSpPr>
          <p:nvPr>
            <p:ph type="body" sz="half" idx="2" hasCustomPrompt="1"/>
          </p:nvPr>
        </p:nvSpPr>
        <p:spPr/>
        <p:txBody>
          <a:bodyPr>
            <a:normAutofit fontScale="92500"/>
          </a:bodyPr>
          <a:lstStyle/>
          <a:p>
            <a:pPr lvl="0"/>
            <a:r>
              <a:rPr b="1"/>
              <a:t>Reduce-side join:</a:t>
            </a:r>
            <a:r>
              <a:t> shuffle both tables by join key.</a:t>
            </a:r>
          </a:p>
          <a:p>
            <a:pPr lvl="0"/>
            <a:r>
              <a:rPr b="1"/>
              <a:t>Broadcast/map-side join:</a:t>
            </a:r>
            <a:r>
              <a:t> replicate small table to mappers.</a:t>
            </a:r>
          </a:p>
          <a:p>
            <a:pPr lvl="0"/>
            <a:r>
              <a:rPr b="1"/>
              <a:t>SQL lens:</a:t>
            </a:r>
            <a:r>
              <a:t> Both implement </a:t>
            </a:r>
            <a:r>
              <a:rPr>
                <a:latin typeface="Courier"/>
              </a:rPr>
              <a:t>SELECT ... FROM R JOIN S ON key</a:t>
            </a:r>
            <a:r>
              <a:t> with different execution plans.</a:t>
            </a:r>
          </a:p>
        </p:txBody>
      </p:sp>
      <p:pic>
        <p:nvPicPr>
          <p:cNvPr id="2" name="Picture 1" descr="../../diagrams/week06/week6_join_reduce_vs_broadcast.png"/>
          <p:cNvPicPr>
            <a:picLocks noGrp="1" noChangeAspect="1"/>
          </p:cNvPicPr>
          <p:nvPr/>
        </p:nvPicPr>
        <p:blipFill>
          <a:blip r:embed="rId2"/>
          <a:stretch>
            <a:fillRect/>
          </a:stretch>
        </p:blipFill>
        <p:spPr bwMode="auto">
          <a:xfrm>
            <a:off x="4394200" y="1409700"/>
            <a:ext cx="6731000" cy="4356100"/>
          </a:xfrm>
          <a:prstGeom prst="rect">
            <a:avLst/>
          </a:prstGeom>
          <a:noFill/>
          <a:ln w="9525">
            <a:noFill/>
            <a:headEnd/>
            <a:tailEnd/>
          </a:ln>
        </p:spPr>
      </p:pic>
      <p:sp>
        <p:nvSpPr>
          <p:cNvPr id="6" name="Footer Placeholder 5"/>
          <p:cNvSpPr>
            <a:spLocks noGrp="1"/>
          </p:cNvSpPr>
          <p:nvPr>
            <p:ph type="ftr" sz="quarter" idx="11"/>
          </p:nvPr>
        </p:nvSpPr>
        <p:spPr/>
        <p:txBody>
          <a:bodyPr/>
          <a:lstStyle/>
          <a:p>
            <a:r>
              <a:rPr lang="en-US"/>
              <a:t>Or Peretz</a:t>
            </a:r>
          </a:p>
        </p:txBody>
      </p:sp>
      <p:sp>
        <p:nvSpPr>
          <p:cNvPr id="7" name="Slide Number Placeholder 6"/>
          <p:cNvSpPr>
            <a:spLocks noGrp="1"/>
          </p:cNvSpPr>
          <p:nvPr>
            <p:ph type="sldNum" sz="quarter" idx="12"/>
          </p:nvPr>
        </p:nvSpPr>
        <p:spPr/>
        <p:txBody>
          <a:bodyPr/>
          <a:lstStyle/>
          <a:p>
            <a:fld id="{C1FF6DA9-008F-8B48-92A6-B652298478BF}" type="slidenum">
              <a:rPr lang="en-US" smtClean="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pPr marL="0" lvl="0" indent="0">
              <a:buNone/>
            </a:pPr>
            <a:r>
              <a:t>Worked Example 4: Reduce-Side Join — Scenario &amp; Inputs</a:t>
            </a:r>
          </a:p>
        </p:txBody>
      </p:sp>
      <p:sp>
        <p:nvSpPr>
          <p:cNvPr id="3" name="Content Placeholder 2"/>
          <p:cNvSpPr>
            <a:spLocks noGrp="1"/>
          </p:cNvSpPr>
          <p:nvPr>
            <p:ph idx="1" hasCustomPrompt="1"/>
          </p:nvPr>
        </p:nvSpPr>
        <p:spPr/>
        <p:txBody>
          <a:bodyPr/>
          <a:lstStyle/>
          <a:p>
            <a:pPr marL="0" lvl="0" indent="0">
              <a:buNone/>
            </a:pPr>
            <a:r>
              <a:rPr b="1"/>
              <a:t>Scenario:</a:t>
            </a:r>
            <a:r>
              <a:t> Enrich orders with customer segment when both tables are large.</a:t>
            </a:r>
          </a:p>
          <a:p>
            <a:pPr marL="0" lvl="0" indent="0">
              <a:buNone/>
            </a:pPr>
            <a:r>
              <a:rPr b="1"/>
              <a:t>Input (Orders):</a:t>
            </a:r>
            <a:r>
              <a:t> (O1,C1,120), (O2,C2,80) | </a:t>
            </a:r>
            <a:r>
              <a:rPr b="1"/>
              <a:t>Input (Customers):</a:t>
            </a:r>
            <a:r>
              <a:t> (C1,Enterprise), (C2,SMB)</a:t>
            </a:r>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pPr marL="0" lvl="0" indent="0">
              <a:buNone/>
            </a:pPr>
            <a:r>
              <a:t>Worked Example 4 (continued): Map, Shuffle, Reduce</a:t>
            </a:r>
          </a:p>
        </p:txBody>
      </p:sp>
      <p:sp>
        <p:nvSpPr>
          <p:cNvPr id="3" name="Content Placeholder 2"/>
          <p:cNvSpPr>
            <a:spLocks noGrp="1"/>
          </p:cNvSpPr>
          <p:nvPr>
            <p:ph idx="1" hasCustomPrompt="1"/>
          </p:nvPr>
        </p:nvSpPr>
        <p:spPr/>
        <p:txBody>
          <a:bodyPr>
            <a:normAutofit fontScale="92500"/>
          </a:bodyPr>
          <a:lstStyle/>
          <a:p>
            <a:pPr marL="0" lvl="0" indent="0">
              <a:buNone/>
            </a:pPr>
            <a:r>
              <a:rPr b="1"/>
              <a:t>Map (tagged):</a:t>
            </a:r>
            <a:r>
              <a:t> Orders→(C1,(“O”,O1,120)), (C2,(“O”,O2,80)); Customers→(C1,(“C”,Enterprise)), (C2,(“C”,SMB))</a:t>
            </a:r>
          </a:p>
          <a:p>
            <a:pPr marL="0" lvl="0" indent="0">
              <a:buNone/>
            </a:pPr>
            <a:r>
              <a:rPr b="1"/>
              <a:t>Shuffle:</a:t>
            </a:r>
            <a:r>
              <a:t> C1→[O1,120],[Enterprise]; C2→[O2,80],[SMB]</a:t>
            </a:r>
          </a:p>
          <a:p>
            <a:pPr marL="0" lvl="0" indent="0">
              <a:buNone/>
            </a:pPr>
            <a:r>
              <a:rPr b="1"/>
              <a:t>Reduce:</a:t>
            </a:r>
            <a:r>
              <a:t> (O1,C1,120,Enterprise), (O2,C2,80,SMB)</a:t>
            </a:r>
          </a:p>
          <a:p>
            <a:pPr marL="0" lvl="0" indent="0">
              <a:buNone/>
            </a:pPr>
            <a:r>
              <a:rPr b="1"/>
              <a:t>SQL:</a:t>
            </a:r>
            <a:r>
              <a:t> </a:t>
            </a:r>
            <a:r>
              <a:rPr>
                <a:latin typeface="Courier"/>
              </a:rPr>
              <a:t>SELECT o.OrderID, o.CustomerID, o.Amount, c.Segment FROM Orders o JOIN Customers c ON o.CustomerID = c.CustomerID;</a:t>
            </a:r>
          </a:p>
          <a:p>
            <a:pPr marL="0" lvl="0" indent="0">
              <a:buNone/>
            </a:pPr>
            <a:r>
              <a:rPr b="1"/>
              <a:t>Cost:</a:t>
            </a:r>
            <a:r>
              <a:t> Shuffle ∝ |Orders|+|Customers|; at 10</a:t>
            </a:r>
            <a:r>
              <a:rPr baseline="30000"/>
              <a:t>8+10</a:t>
            </a:r>
            <a:r>
              <a:t>7 rows, shuffle dominates.</a:t>
            </a:r>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7F24627C-5938-5D06-969C-341161F72C9C}"/>
              </a:ext>
            </a:extLst>
          </p:cNvPr>
          <p:cNvSpPr>
            <a:spLocks noGrp="1"/>
          </p:cNvSpPr>
          <p:nvPr>
            <p:ph type="title"/>
          </p:nvPr>
        </p:nvSpPr>
        <p:spPr>
          <a:xfrm>
            <a:off x="609600" y="274638"/>
            <a:ext cx="10972800" cy="1143000"/>
          </a:xfrm>
        </p:spPr>
        <p:txBody>
          <a:bodyPr/>
          <a:lstStyle/>
          <a:p>
            <a:pPr marL="0" lvl="0" indent="0">
              <a:buNone/>
            </a:pPr>
            <a:r>
              <a:t>Failure Mode: Data Skew (Bottleneck Risk)</a:t>
            </a:r>
          </a:p>
        </p:txBody>
      </p:sp>
      <p:sp>
        <p:nvSpPr>
          <p:cNvPr id="3" name="Text Placeholder 3">
            <a:extLst>
              <a:ext uri="{FF2B5EF4-FFF2-40B4-BE49-F238E27FC236}">
                <a16:creationId xmlns:a16="http://schemas.microsoft.com/office/drawing/2014/main" id="{838FFFFD-68E9-C4E4-7764-523BAE32B83B}"/>
              </a:ext>
            </a:extLst>
          </p:cNvPr>
          <p:cNvSpPr>
            <a:spLocks noGrp="1"/>
          </p:cNvSpPr>
          <p:nvPr>
            <p:ph type="body" sz="half" idx="2" hasCustomPrompt="1"/>
          </p:nvPr>
        </p:nvSpPr>
        <p:spPr/>
        <p:txBody>
          <a:bodyPr>
            <a:normAutofit fontScale="92500"/>
          </a:bodyPr>
          <a:lstStyle/>
          <a:p>
            <a:pPr lvl="0"/>
            <a:r>
              <a:t>One hot key sends huge volume to one reducer.</a:t>
            </a:r>
          </a:p>
          <a:p>
            <a:pPr lvl="0"/>
            <a:r>
              <a:t>That reducer spills heavily, becomes straggler, may OOM.</a:t>
            </a:r>
          </a:p>
          <a:p>
            <a:pPr lvl="0"/>
            <a:r>
              <a:t>Whole job waits for this reducer.</a:t>
            </a:r>
          </a:p>
          <a:p>
            <a:pPr lvl="0"/>
            <a:r>
              <a:rPr b="1"/>
              <a:t>SQL lens:</a:t>
            </a:r>
            <a:r>
              <a:t> A </a:t>
            </a:r>
            <a:r>
              <a:rPr>
                <a:latin typeface="Courier"/>
              </a:rPr>
              <a:t>GROUP BY</a:t>
            </a:r>
            <a:r>
              <a:t> where one group is 90% of all rows.</a:t>
            </a:r>
          </a:p>
        </p:txBody>
      </p:sp>
      <p:pic>
        <p:nvPicPr>
          <p:cNvPr id="2" name="Picture 1" descr="../../diagrams/week06/week6_lecture_slide29_failure_skew.png"/>
          <p:cNvPicPr>
            <a:picLocks noGrp="1" noChangeAspect="1"/>
          </p:cNvPicPr>
          <p:nvPr/>
        </p:nvPicPr>
        <p:blipFill>
          <a:blip r:embed="rId2"/>
          <a:stretch>
            <a:fillRect/>
          </a:stretch>
        </p:blipFill>
        <p:spPr bwMode="auto">
          <a:xfrm>
            <a:off x="4381500" y="1409700"/>
            <a:ext cx="6769100" cy="4356100"/>
          </a:xfrm>
          <a:prstGeom prst="rect">
            <a:avLst/>
          </a:prstGeom>
          <a:noFill/>
          <a:ln w="9525">
            <a:noFill/>
            <a:headEnd/>
            <a:tailEnd/>
          </a:ln>
        </p:spPr>
      </p:pic>
      <p:sp>
        <p:nvSpPr>
          <p:cNvPr id="6" name="Footer Placeholder 5"/>
          <p:cNvSpPr>
            <a:spLocks noGrp="1"/>
          </p:cNvSpPr>
          <p:nvPr>
            <p:ph type="ftr" sz="quarter" idx="11"/>
          </p:nvPr>
        </p:nvSpPr>
        <p:spPr/>
        <p:txBody>
          <a:bodyPr/>
          <a:lstStyle/>
          <a:p>
            <a:r>
              <a:rPr lang="en-US"/>
              <a:t>Or Peretz</a:t>
            </a:r>
          </a:p>
        </p:txBody>
      </p:sp>
      <p:sp>
        <p:nvSpPr>
          <p:cNvPr id="7" name="Slide Number Placeholder 6"/>
          <p:cNvSpPr>
            <a:spLocks noGrp="1"/>
          </p:cNvSpPr>
          <p:nvPr>
            <p:ph type="sldNum" sz="quarter" idx="12"/>
          </p:nvPr>
        </p:nvSpPr>
        <p:spPr/>
        <p:txBody>
          <a:bodyPr/>
          <a:lstStyle/>
          <a:p>
            <a:fld id="{C1FF6DA9-008F-8B48-92A6-B652298478BF}" type="slidenum">
              <a:rPr lang="en-US" smtClean="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pPr marL="0" lvl="0" indent="0">
              <a:buNone/>
            </a:pPr>
            <a:r>
              <a:t>Skew Detection Signals</a:t>
            </a:r>
          </a:p>
        </p:txBody>
      </p:sp>
      <p:sp>
        <p:nvSpPr>
          <p:cNvPr id="3" name="Content Placeholder 2"/>
          <p:cNvSpPr>
            <a:spLocks noGrp="1"/>
          </p:cNvSpPr>
          <p:nvPr>
            <p:ph idx="1" hasCustomPrompt="1"/>
          </p:nvPr>
        </p:nvSpPr>
        <p:spPr/>
        <p:txBody>
          <a:bodyPr/>
          <a:lstStyle/>
          <a:p>
            <a:pPr lvl="0"/>
            <a:r>
              <a:t>Max reducer input vs median reducer input.</a:t>
            </a:r>
          </a:p>
          <a:p>
            <a:pPr lvl="0"/>
            <a:r>
              <a:t>Reducer runtime p99 vs median.</a:t>
            </a:r>
          </a:p>
          <a:p>
            <a:pPr lvl="0"/>
            <a:r>
              <a:t>Spill bytes and retry counts per reducer.</a:t>
            </a:r>
          </a:p>
          <a:p>
            <a:pPr lvl="0"/>
            <a:r>
              <a:t>Alert when imbalance ratio crosses threshold.</a:t>
            </a:r>
          </a:p>
          <a:p>
            <a:pPr marL="1270000" lvl="0" indent="0">
              <a:buNone/>
            </a:pPr>
            <a:r>
              <a:rPr sz="2000" b="1"/>
              <a:t>Managerial takeaway:</a:t>
            </a:r>
            <a:r>
              <a:rPr sz="2000"/>
              <a:t> Skew is a production risk, not a corner case. Monitor reducer balance like you monitor utilization in a factory line.</a:t>
            </a:r>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30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2111</Words>
  <Application>Microsoft Macintosh PowerPoint</Application>
  <PresentationFormat>מסך רחב</PresentationFormat>
  <Paragraphs>430</Paragraphs>
  <Slides>30</Slides>
  <Notes>16</Notes>
  <HiddenSlides>0</HiddenSlides>
  <MMClips>0</MMClips>
  <ScaleCrop>false</ScaleCrop>
  <HeadingPairs>
    <vt:vector size="6" baseType="variant">
      <vt:variant>
        <vt:lpstr>גופנים בשימוש</vt:lpstr>
      </vt:variant>
      <vt:variant>
        <vt:i4>4</vt:i4>
      </vt:variant>
      <vt:variant>
        <vt:lpstr>ערכת נושא</vt:lpstr>
      </vt:variant>
      <vt:variant>
        <vt:i4>1</vt:i4>
      </vt:variant>
      <vt:variant>
        <vt:lpstr>כותרות שקופיות</vt:lpstr>
      </vt:variant>
      <vt:variant>
        <vt:i4>30</vt:i4>
      </vt:variant>
    </vt:vector>
  </HeadingPairs>
  <TitlesOfParts>
    <vt:vector size="35" baseType="lpstr">
      <vt:lpstr>Aptos</vt:lpstr>
      <vt:lpstr>Arial</vt:lpstr>
      <vt:lpstr>Calibri</vt:lpstr>
      <vt:lpstr>Courier</vt:lpstr>
      <vt:lpstr>Office Theme</vt:lpstr>
      <vt:lpstr>Week 6: MapReduce Fundamentals</vt:lpstr>
      <vt:lpstr>Purpose &amp; Learning Objectives</vt:lpstr>
      <vt:lpstr>מצגת של PowerPoint‏</vt:lpstr>
      <vt:lpstr>Motivation</vt:lpstr>
      <vt:lpstr>מצגת של PowerPoint‏</vt:lpstr>
      <vt:lpstr>מצגת של PowerPoint‏</vt:lpstr>
      <vt:lpstr>מצגת של PowerPoint‏</vt:lpstr>
      <vt:lpstr>Why MapReduce Matters </vt:lpstr>
      <vt:lpstr>The Core Problem</vt:lpstr>
      <vt:lpstr>MapReduce Model (Operational View)</vt:lpstr>
      <vt:lpstr>מצגת של PowerPoint‏</vt:lpstr>
      <vt:lpstr>MapReduce workflow</vt:lpstr>
      <vt:lpstr>מצגת של PowerPoint‏</vt:lpstr>
      <vt:lpstr>מצגת של PowerPoint‏</vt:lpstr>
      <vt:lpstr>מצגת של PowerPoint‏</vt:lpstr>
      <vt:lpstr>מצגת של PowerPoint‏</vt:lpstr>
      <vt:lpstr>מצגת של PowerPoint‏</vt:lpstr>
      <vt:lpstr>Why Shuffle Is the Bottleneck</vt:lpstr>
      <vt:lpstr>Shuffle Cost Formula (Simple Model)</vt:lpstr>
      <vt:lpstr>מצגת של PowerPoint‏</vt:lpstr>
      <vt:lpstr>מצגת של PowerPoint‏</vt:lpstr>
      <vt:lpstr>מצגת של PowerPoint‏</vt:lpstr>
      <vt:lpstr>מצגת של PowerPoint‏</vt:lpstr>
      <vt:lpstr>מצגת של PowerPoint‏</vt:lpstr>
      <vt:lpstr>Worked Example 3 (continued): Correct (sum, count) Approach</vt:lpstr>
      <vt:lpstr>Joins in MapReduce (SQL Lens)</vt:lpstr>
      <vt:lpstr>Worked Example 4: Reduce-Side Join — Scenario &amp; Inputs</vt:lpstr>
      <vt:lpstr>Worked Example 4 (continued): Map, Shuffle, Reduce</vt:lpstr>
      <vt:lpstr>Failure Mode: Data Skew (Bottleneck Risk)</vt:lpstr>
      <vt:lpstr>Skew Detection Signals</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emplate>Facet</Template>
  <TotalTime>12</TotalTime>
  <Words>18</Words>
  <Application>Microsoft Macintosh PowerPoint</Application>
  <PresentationFormat>מסך רחב</PresentationFormat>
  <Paragraphs>12</Paragraphs>
  <Slides>6</Slides>
  <Notes>0</Notes>
  <HiddenSlides>0</HiddenSlides>
  <MMClips>0</MMClips>
  <ScaleCrop>false</ScaleCrop>
  <HeadingPairs>
    <vt:vector size="6" baseType="variant">
      <vt:variant>
        <vt:lpstr>גופנים בשימוש</vt:lpstr>
      </vt:variant>
      <vt:variant>
        <vt:i4>3</vt:i4>
      </vt:variant>
      <vt:variant>
        <vt:lpstr>ערכת נושא</vt:lpstr>
      </vt:variant>
      <vt:variant>
        <vt:i4>1</vt:i4>
      </vt:variant>
      <vt:variant>
        <vt:lpstr>כותרות שקופיות</vt:lpstr>
      </vt:variant>
      <vt:variant>
        <vt:i4>6</vt:i4>
      </vt:variant>
    </vt:vector>
  </HeadingPairs>
  <TitlesOfParts>
    <vt:vector size="10" baseType="lpstr">
      <vt:lpstr>Aptos</vt:lpstr>
      <vt:lpstr>Arial</vt:lpstr>
      <vt:lpstr>Calibri</vt:lpstr>
      <vt:lpstr>Office Theme</vt:lpstr>
      <vt:lpstr>מצגת של PowerPoint‏</vt:lpstr>
      <vt:lpstr>מצגת של PowerPoint‏</vt:lpstr>
      <vt:lpstr>מצגת של PowerPoint‏</vt:lpstr>
      <vt:lpstr>מצגת של PowerPoint‏</vt:lpstr>
      <vt:lpstr>מצגת של PowerPoint‏</vt:lpstr>
      <vt:lpstr>מצגת של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Or Perets</cp:lastModifiedBy>
  <cp:revision>1</cp:revision>
  <dcterms:created xsi:type="dcterms:W3CDTF">2026-02-10T09:23:28Z</dcterms:created>
  <dcterms:modified xsi:type="dcterms:W3CDTF">2026-02-10T09:27:40Z</dcterms:modified>
</cp:coreProperties>
</file>