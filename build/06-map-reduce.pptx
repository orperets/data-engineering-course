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package/2006/relationships/metadata/extended-properties" Target="docProps/app0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59" r:id="rId3"/>
    <p:sldId id="422" r:id="rId4"/>
    <p:sldId id="490" r:id="rId5"/>
    <p:sldId id="420" r:id="rId6"/>
    <p:sldId id="491" r:id="rId7"/>
    <p:sldId id="260" r:id="rId8"/>
    <p:sldId id="403" r:id="rId9"/>
    <p:sldId id="439" r:id="rId10"/>
    <p:sldId id="405" r:id="rId11"/>
    <p:sldId id="406" r:id="rId12"/>
    <p:sldId id="407" r:id="rId13"/>
    <p:sldId id="408" r:id="rId14"/>
    <p:sldId id="264" r:id="rId15"/>
    <p:sldId id="410" r:id="rId16"/>
    <p:sldId id="411" r:id="rId17"/>
    <p:sldId id="412" r:id="rId18"/>
    <p:sldId id="413" r:id="rId19"/>
    <p:sldId id="414" r:id="rId20"/>
    <p:sldId id="494" r:id="rId21"/>
    <p:sldId id="495" r:id="rId22"/>
    <p:sldId id="496" r:id="rId23"/>
    <p:sldId id="497" r:id="rId24"/>
    <p:sldId id="283" r:id="rId2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411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סגנון ביניים 2 - הדגשה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סגנון ביניים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468"/>
    <p:restoredTop sz="94689"/>
  </p:normalViewPr>
  <p:slideViewPr>
    <p:cSldViewPr snapToGrid="0" snapToObjects="1">
      <p:cViewPr varScale="1">
        <p:scale>
          <a:sx n="147" d="100"/>
          <a:sy n="147" d="100"/>
        </p:scale>
        <p:origin x="1304" y="200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 snapToObjects="1">
      <p:cViewPr varScale="1">
        <p:scale>
          <a:sx n="118" d="100"/>
          <a:sy n="118" d="100"/>
        </p:scale>
        <p:origin x="5160" y="21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כותרת עליונה 1"/>
          <p:cNvSpPr>
            <a:spLocks noGrp="1"/>
          </p:cNvSpPr>
          <p:nvPr>
            <p:ph type="hdr" sz="quarter"/>
          </p:nvPr>
        </p:nvSpPr>
        <p:spPr>
          <a:xfrm>
            <a:off x="388620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1"/>
          <a:lstStyle>
            <a:lvl1pPr algn="r">
              <a:defRPr sz="1200"/>
            </a:lvl1pPr>
          </a:lstStyle>
          <a:p>
            <a:endParaRPr lang="he-IL"/>
          </a:p>
        </p:txBody>
      </p:sp>
      <p:sp>
        <p:nvSpPr>
          <p:cNvPr id="3" name="מציין מיקום של תאריך 2"/>
          <p:cNvSpPr>
            <a:spLocks noGrp="1"/>
          </p:cNvSpPr>
          <p:nvPr>
            <p:ph type="dt" idx="1"/>
          </p:nvPr>
        </p:nvSpPr>
        <p:spPr>
          <a:xfrm>
            <a:off x="1588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1"/>
          <a:lstStyle>
            <a:lvl1pPr algn="l">
              <a:defRPr sz="1200"/>
            </a:lvl1pPr>
          </a:lstStyle>
          <a:p>
            <a:fld id="{783F44B0-594F-8349-A74B-C1F4F86F20B1}" type="datetimeFigureOut">
              <a:rPr lang="he-IL" smtClean="0"/>
              <a:t>כ'.אייר.תשפ"ו</a:t>
            </a:fld>
            <a:endParaRPr lang="he-IL"/>
          </a:p>
        </p:txBody>
      </p:sp>
      <p:sp>
        <p:nvSpPr>
          <p:cNvPr id="4" name="מציין מיקום של תמונת שקופית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1" anchor="ctr"/>
          <a:lstStyle/>
          <a:p>
            <a:endParaRPr lang="he-IL"/>
          </a:p>
        </p:txBody>
      </p:sp>
      <p:sp>
        <p:nvSpPr>
          <p:cNvPr id="5" name="מציין מיקום של הערות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1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6" name="מציין מיקום של כותרת תחתונה 5"/>
          <p:cNvSpPr>
            <a:spLocks noGrp="1"/>
          </p:cNvSpPr>
          <p:nvPr>
            <p:ph type="ftr" sz="quarter" idx="4"/>
          </p:nvPr>
        </p:nvSpPr>
        <p:spPr>
          <a:xfrm>
            <a:off x="388620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1" anchor="b"/>
          <a:lstStyle>
            <a:lvl1pPr algn="r">
              <a:defRPr sz="1200"/>
            </a:lvl1pPr>
          </a:lstStyle>
          <a:p>
            <a:endParaRPr lang="he-IL"/>
          </a:p>
        </p:txBody>
      </p:sp>
      <p:sp>
        <p:nvSpPr>
          <p:cNvPr id="7" name="מציין מיקום של מספר שקופית 6"/>
          <p:cNvSpPr>
            <a:spLocks noGrp="1"/>
          </p:cNvSpPr>
          <p:nvPr>
            <p:ph type="sldNum" sz="quarter" idx="5"/>
          </p:nvPr>
        </p:nvSpPr>
        <p:spPr>
          <a:xfrm>
            <a:off x="1588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1" anchor="b"/>
          <a:lstStyle>
            <a:lvl1pPr algn="l">
              <a:defRPr sz="1200"/>
            </a:lvl1pPr>
          </a:lstStyle>
          <a:p>
            <a:fld id="{5E768386-1BD3-A54E-8731-B2DA2E62BADA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64861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D3072DB-288D-41CF-9840-06B017A0D6A2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29687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08866D-0BA4-4B03-8FA8-A96EE1FB39D0}" type="slidenum">
              <a:rPr lang="en-IL" smtClean="0"/>
              <a:t>4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00483066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08866D-0BA4-4B03-8FA8-A96EE1FB39D0}" type="slidenum">
              <a:rPr lang="en-IL" smtClean="0"/>
              <a:t>5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90049082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08866D-0BA4-4B03-8FA8-A96EE1FB39D0}" type="slidenum">
              <a:rPr lang="en-IL" smtClean="0"/>
              <a:t>6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47646559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08866D-0BA4-4B03-8FA8-A96EE1FB39D0}" type="slidenum">
              <a:rPr lang="en-IL" smtClean="0"/>
              <a:t>8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49697443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08866D-0BA4-4B03-8FA8-A96EE1FB39D0}" type="slidenum">
              <a:rPr lang="en-IL" smtClean="0"/>
              <a:t>10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42670511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08866D-0BA4-4B03-8FA8-A96EE1FB39D0}" type="slidenum">
              <a:rPr lang="en-IL" smtClean="0"/>
              <a:t>11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13731990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08866D-0BA4-4B03-8FA8-A96EE1FB39D0}" type="slidenum">
              <a:rPr lang="en-IL" smtClean="0"/>
              <a:t>12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6807201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08866D-0BA4-4B03-8FA8-A96EE1FB39D0}" type="slidenum">
              <a:rPr lang="en-IL" smtClean="0"/>
              <a:t>13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3675911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08866D-0BA4-4B03-8FA8-A96EE1FB39D0}" type="slidenum">
              <a:rPr lang="en-IL" smtClean="0"/>
              <a:t>15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10166780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08866D-0BA4-4B03-8FA8-A96EE1FB39D0}" type="slidenum">
              <a:rPr lang="en-IL" smtClean="0"/>
              <a:t>16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18030693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08866D-0BA4-4B03-8FA8-A96EE1FB39D0}" type="slidenum">
              <a:rPr lang="en-IL" smtClean="0"/>
              <a:t>17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413580840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08866D-0BA4-4B03-8FA8-A96EE1FB39D0}" type="slidenum">
              <a:rPr lang="en-IL" smtClean="0"/>
              <a:t>18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27321006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08866D-0BA4-4B03-8FA8-A96EE1FB39D0}" type="slidenum">
              <a:rPr lang="en-IL" smtClean="0"/>
              <a:t>19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36413634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F315C-7971-730A-52EC-FAFD1926D1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0517349-BCF0-2E0F-0024-511C106EE3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9F8A68-78EB-E43F-C3DF-6B55F4140A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887073-0D1B-7BE5-A5B6-D73CFB8EF4A2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11087720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914400" y="2130426"/>
            <a:ext cx="10363200" cy="1470025"/>
          </a:xfrm>
        </p:spPr>
        <p:txBody>
          <a:bodyPr/>
          <a:lstStyle>
            <a:lvl1pPr>
              <a:defRPr sz="4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964B5F-BAD9-9946-9D71-AB5C763DA70C}" type="datetime9">
              <a:rPr lang="he-IL" smtClean="0"/>
              <a:t>7 מאי,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sz="3400"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E1EEA0-9609-584F-90F2-46E4F93E52CD}" type="datetime9">
              <a:rPr lang="he-IL" smtClean="0"/>
              <a:t>7 מאי,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A6A5E-CA21-6B4F-9DE7-1A275F321E49}" type="datetime9">
              <a:rPr lang="he-IL" smtClean="0"/>
              <a:t>7 מאי,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129F15AE-737D-866E-3CF2-D0120AD833A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14400" y="2130426"/>
            <a:ext cx="10363200" cy="1470025"/>
          </a:xfrm>
        </p:spPr>
        <p:txBody>
          <a:bodyPr/>
          <a:lstStyle>
            <a:lvl1pPr>
              <a:defRPr sz="42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56840" y="1600201"/>
            <a:ext cx="6601428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717894" y="2569580"/>
            <a:ext cx="5864506" cy="3556584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3C6960-90E0-EA41-937B-E68D4C6A0841}" type="datetime9">
              <a:rPr lang="he-IL" smtClean="0"/>
              <a:t>7 מאי, 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CAE1C8-A9FA-924F-80DA-3B96C0343AF4}" type="datetime9">
              <a:rPr lang="he-IL" smtClean="0"/>
              <a:t>7 מאי, 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C92AE4-510D-3C40-B9B0-AA6693EED883}" type="datetime9">
              <a:rPr lang="he-IL" smtClean="0"/>
              <a:t>7 מאי, 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1D8F28D-D1D2-34A5-D88A-549DD7AD701A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46768" y="1600201"/>
            <a:ext cx="10635632" cy="4525963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C5D179-4B48-7641-AFA1-4656153FFCB8}" type="datetime9">
              <a:rPr lang="he-IL" smtClean="0"/>
              <a:t>7 מאי, 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3F1439EE-8346-69C4-2D2A-C45C952E131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46768" y="1600201"/>
            <a:ext cx="10635632" cy="4525963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D96A8D-C7E4-194A-BF0A-D552B24EBF94}" type="datetime9">
              <a:rPr lang="he-IL" smtClean="0"/>
              <a:t>7 מאי, 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F24627C-5938-5D06-969C-341161F72C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63E56AFE-36F7-8DA5-652B-89A25DA319A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957403" y="1417638"/>
            <a:ext cx="7624997" cy="4357028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838FFFFD-68E9-C4E4-7764-523BAE32B83B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965200" y="1417638"/>
            <a:ext cx="2844801" cy="4357028"/>
          </a:xfrm>
        </p:spPr>
        <p:txBody>
          <a:bodyPr/>
          <a:lstStyle>
            <a:lvl1pPr marL="0" indent="0">
              <a:buNone/>
              <a:defRPr sz="2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2B2D52-0D9F-F345-8384-0DCA30BF1F04}" type="datetime9">
              <a:rPr lang="he-IL" smtClean="0"/>
              <a:t>7 מאי, 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744ED6-1944-D14D-91B5-FC6036DE393D}" type="datetime9">
              <a:rPr lang="he-IL" smtClean="0"/>
              <a:t>7 מאי,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268E4D-FFEC-474C-BD1C-299FD021CBA4}" type="datetime9">
              <a:rPr lang="he-IL" smtClean="0"/>
              <a:t>7 מאי,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8257D3F8-87F0-4DF5-8F98-66DFD99EE7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83474"/>
            <a:ext cx="10515600" cy="5593489"/>
          </a:xfrm>
        </p:spPr>
        <p:txBody>
          <a:bodyPr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L" dirty="0"/>
          </a:p>
        </p:txBody>
      </p:sp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BCDE1D59-793A-43B8-B383-259A90AD527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896E8B87-F9FD-464E-B534-DBC261D83ADB}" type="datetime8">
              <a:rPr lang="en-US" smtClean="0"/>
              <a:t>5/7/26 8:56 AM</a:t>
            </a:fld>
            <a:endParaRPr lang="en-IL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AA69F713-2159-4167-B614-5042E8DE4D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Or Peretz</a:t>
            </a:r>
            <a:endParaRPr lang="en-IL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F40A595-FC21-4942-AC1C-EC8D0EE8F2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>
            <a:lvl1pPr>
              <a:defRPr sz="1800"/>
            </a:lvl1pPr>
          </a:lstStyle>
          <a:p>
            <a:fld id="{C9D69B18-316A-457F-86C2-CFE4F951EE27}" type="slidenum">
              <a:rPr lang="en-IL" smtClean="0"/>
              <a:pPr/>
              <a:t>‹#›</a:t>
            </a:fld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25374851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>
        <p:tmplLst>
          <p:tmpl lvl="1">
            <p:tnLst>
              <p:par>
                <p:cTn presetID="1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2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</p:cTn>
              </p:par>
            </p:tnLst>
          </p:tmpl>
          <p:tmpl lvl="2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2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</p:cTn>
              </p:par>
            </p:tnLst>
          </p:tmpl>
          <p:tmpl lvl="3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2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</p:cTn>
              </p:par>
            </p:tnLst>
          </p:tmpl>
          <p:tmpl lvl="4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2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</p:cTn>
              </p:par>
            </p:tnLst>
          </p:tmpl>
          <p:tmpl lvl="5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2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</p:cTn>
              </p:par>
            </p:tnLst>
          </p:tmpl>
        </p:tmplLst>
      </p:bldP>
    </p:bldLst>
  </p:timing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966545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oundRect">
            <a:avLst/>
          </a:prstGeom>
          <a:ln w="12700">
            <a:solidFill>
              <a:schemeClr val="accent2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10972800"/>
                      <a:gd name="csY0" fmla="*/ 0 h 1143000"/>
                      <a:gd name="csX1" fmla="*/ 10972800 w 10972800"/>
                      <a:gd name="csY1" fmla="*/ 0 h 1143000"/>
                      <a:gd name="csX2" fmla="*/ 10972800 w 10972800"/>
                      <a:gd name="csY2" fmla="*/ 1143000 h 1143000"/>
                      <a:gd name="csX3" fmla="*/ 0 w 10972800"/>
                      <a:gd name="csY3" fmla="*/ 1143000 h 1143000"/>
                      <a:gd name="csX4" fmla="*/ 0 w 10972800"/>
                      <a:gd name="csY4" fmla="*/ 0 h 11430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10972800" h="1143000" fill="none" extrusionOk="0">
                        <a:moveTo>
                          <a:pt x="0" y="0"/>
                        </a:moveTo>
                        <a:cubicBezTo>
                          <a:pt x="4674310" y="-49533"/>
                          <a:pt x="6929254" y="-14809"/>
                          <a:pt x="10972800" y="0"/>
                        </a:cubicBezTo>
                        <a:cubicBezTo>
                          <a:pt x="10969069" y="570730"/>
                          <a:pt x="11062171" y="914526"/>
                          <a:pt x="10972800" y="1143000"/>
                        </a:cubicBezTo>
                        <a:cubicBezTo>
                          <a:pt x="6482996" y="1094769"/>
                          <a:pt x="3552735" y="1227455"/>
                          <a:pt x="0" y="1143000"/>
                        </a:cubicBezTo>
                        <a:cubicBezTo>
                          <a:pt x="69309" y="672287"/>
                          <a:pt x="-28229" y="279082"/>
                          <a:pt x="0" y="0"/>
                        </a:cubicBezTo>
                        <a:close/>
                      </a:path>
                      <a:path w="10972800" h="1143000" stroke="0" extrusionOk="0">
                        <a:moveTo>
                          <a:pt x="0" y="0"/>
                        </a:moveTo>
                        <a:cubicBezTo>
                          <a:pt x="3528079" y="118645"/>
                          <a:pt x="9610931" y="116012"/>
                          <a:pt x="10972800" y="0"/>
                        </a:cubicBezTo>
                        <a:cubicBezTo>
                          <a:pt x="11055528" y="134374"/>
                          <a:pt x="10882381" y="1028043"/>
                          <a:pt x="10972800" y="1143000"/>
                        </a:cubicBezTo>
                        <a:cubicBezTo>
                          <a:pt x="8799093" y="1277600"/>
                          <a:pt x="3316512" y="985804"/>
                          <a:pt x="0" y="1143000"/>
                        </a:cubicBezTo>
                        <a:cubicBezTo>
                          <a:pt x="94203" y="956839"/>
                          <a:pt x="-18710" y="289479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46768" y="1600201"/>
            <a:ext cx="10635632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AA9E24A-D52C-CB4E-85D6-C52415601A2A}" type="datetime9">
              <a:rPr lang="he-IL" smtClean="0"/>
              <a:t>7 מאי,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Freeform 6">
            <a:extLst>
              <a:ext uri="{FF2B5EF4-FFF2-40B4-BE49-F238E27FC236}">
                <a16:creationId xmlns:a16="http://schemas.microsoft.com/office/drawing/2014/main" id="{9E54F053-C5B3-FA53-FB24-F76EBC23E5F7}"/>
              </a:ext>
            </a:extLst>
          </p:cNvPr>
          <p:cNvSpPr/>
          <p:nvPr/>
        </p:nvSpPr>
        <p:spPr>
          <a:xfrm>
            <a:off x="10492509" y="-832013"/>
            <a:ext cx="5901557" cy="7690013"/>
          </a:xfrm>
          <a:custGeom>
            <a:avLst/>
            <a:gdLst/>
            <a:ahLst/>
            <a:cxnLst/>
            <a:rect l="l" t="t" r="r" b="b"/>
            <a:pathLst>
              <a:path w="812800" h="81280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57150" cap="sq">
            <a:solidFill>
              <a:srgbClr val="941100">
                <a:alpha val="44000"/>
              </a:srgbClr>
            </a:solidFill>
            <a:prstDash val="solid"/>
            <a:miter/>
          </a:ln>
        </p:spPr>
        <p:txBody>
          <a:bodyPr/>
          <a:lstStyle/>
          <a:p>
            <a:endParaRPr lang="en-IL"/>
          </a:p>
        </p:txBody>
      </p:sp>
      <p:sp>
        <p:nvSpPr>
          <p:cNvPr id="12" name="Freeform 20">
            <a:extLst>
              <a:ext uri="{FF2B5EF4-FFF2-40B4-BE49-F238E27FC236}">
                <a16:creationId xmlns:a16="http://schemas.microsoft.com/office/drawing/2014/main" id="{C6ADFD82-3296-8C7F-2ACC-D8399785AC79}"/>
              </a:ext>
            </a:extLst>
          </p:cNvPr>
          <p:cNvSpPr/>
          <p:nvPr/>
        </p:nvSpPr>
        <p:spPr>
          <a:xfrm>
            <a:off x="-6720016" y="-1088358"/>
            <a:ext cx="7329616" cy="7329616"/>
          </a:xfrm>
          <a:custGeom>
            <a:avLst/>
            <a:gdLst/>
            <a:ahLst/>
            <a:cxnLst/>
            <a:rect l="l" t="t" r="r" b="b"/>
            <a:pathLst>
              <a:path w="812800" h="81280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514350" cap="sq">
            <a:solidFill>
              <a:srgbClr val="941100">
                <a:alpha val="17929"/>
              </a:srgbClr>
            </a:solidFill>
            <a:prstDash val="solid"/>
            <a:miter/>
          </a:ln>
        </p:spPr>
        <p:txBody>
          <a:bodyPr/>
          <a:lstStyle/>
          <a:p>
            <a:endParaRPr lang="en-IL" sz="933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hdr="0" dt="0"/>
  <p:txStyles>
    <p:titleStyle>
      <a:lvl1pPr algn="ctr" defTabSz="457200" rtl="0" eaLnBrk="1" latinLnBrk="0" hangingPunct="1">
        <a:spcBef>
          <a:spcPct val="0"/>
        </a:spcBef>
        <a:buNone/>
        <a:defRPr sz="3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lnSpc>
          <a:spcPct val="130000"/>
        </a:lnSpc>
        <a:spcBef>
          <a:spcPts val="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lnSpc>
          <a:spcPct val="130000"/>
        </a:lnSpc>
        <a:spcBef>
          <a:spcPts val="0"/>
        </a:spcBef>
        <a:buFont typeface="Arial"/>
        <a:buChar char="–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lnSpc>
          <a:spcPct val="130000"/>
        </a:lnSpc>
        <a:spcBef>
          <a:spcPts val="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lnSpc>
          <a:spcPct val="130000"/>
        </a:lnSpc>
        <a:spcBef>
          <a:spcPts val="0"/>
        </a:spcBef>
        <a:buFont typeface="Arial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lnSpc>
          <a:spcPct val="130000"/>
        </a:lnSpc>
        <a:spcBef>
          <a:spcPts val="0"/>
        </a:spcBef>
        <a:buFont typeface="Arial"/>
        <a:buChar char="»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0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7.png"/><Relationship Id="rId4" Type="http://schemas.openxmlformats.org/officeDocument/2006/relationships/image" Target="../media/image15.png"/><Relationship Id="rId9" Type="http://schemas.openxmlformats.org/officeDocument/2006/relationships/image" Target="../media/image16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129F15AE-737D-866E-3CF2-D0120AD833A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pPr lvl="0"/>
            <a:r>
              <a:rPr lang="en-US" dirty="0"/>
              <a:t>MapReduce </a:t>
            </a:r>
            <a:r>
              <a:rPr lang="en" dirty="0"/>
              <a:t>Algorithm</a:t>
            </a:r>
            <a:endParaRPr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marL="0" lvl="0" indent="0">
              <a:buNone/>
            </a:pPr>
            <a:r>
              <a:t>Purpose &amp; Learning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>
              <a:lnSpc>
                <a:spcPct val="150000"/>
              </a:lnSpc>
            </a:pPr>
            <a:r>
              <a:rPr b="1" dirty="0"/>
              <a:t>Purpose:</a:t>
            </a:r>
            <a:r>
              <a:rPr dirty="0"/>
              <a:t> Learn the core model behind distributed processing</a:t>
            </a:r>
            <a:r>
              <a:rPr lang="en-US" dirty="0"/>
              <a:t>.</a:t>
            </a:r>
            <a:r>
              <a:rPr dirty="0"/>
              <a:t> </a:t>
            </a:r>
            <a:r>
              <a:rPr b="1" dirty="0"/>
              <a:t>Learning Objectives:</a:t>
            </a:r>
          </a:p>
          <a:p>
            <a:pPr lvl="1">
              <a:lnSpc>
                <a:spcPct val="150000"/>
              </a:lnSpc>
            </a:pPr>
            <a:r>
              <a:rPr dirty="0"/>
              <a:t>Explain map, shuffle, and reduce as formal operators</a:t>
            </a:r>
          </a:p>
          <a:p>
            <a:pPr lvl="1">
              <a:lnSpc>
                <a:spcPct val="150000"/>
              </a:lnSpc>
            </a:pPr>
            <a:r>
              <a:rPr dirty="0"/>
              <a:t>Estimate runtime</a:t>
            </a:r>
          </a:p>
          <a:p>
            <a:pPr lvl="1">
              <a:lnSpc>
                <a:spcPct val="150000"/>
              </a:lnSpc>
            </a:pPr>
            <a:r>
              <a:rPr dirty="0"/>
              <a:t>Use combiners and partitioning strategies safely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>
              <a:lnSpc>
                <a:spcPct val="150000"/>
              </a:lnSpc>
              <a:spcBef>
                <a:spcPts val="1000"/>
              </a:spcBef>
            </a:pPr>
            <a:r>
              <a:rPr lang="en-US" sz="3000" dirty="0">
                <a:latin typeface="+mn-lt"/>
                <a:ea typeface="+mn-ea"/>
                <a:cs typeface="+mn-cs"/>
              </a:rPr>
              <a:t>Motivation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04335" y="1421027"/>
            <a:ext cx="10515600" cy="4935323"/>
          </a:xfrm>
        </p:spPr>
        <p:txBody>
          <a:bodyPr>
            <a:normAutofit/>
          </a:bodyPr>
          <a:lstStyle/>
          <a:p>
            <a:r>
              <a:rPr lang="en-US" sz="2400" dirty="0"/>
              <a:t>Process lots of data</a:t>
            </a:r>
          </a:p>
          <a:p>
            <a:pPr lvl="2">
              <a:spcBef>
                <a:spcPts val="0"/>
              </a:spcBef>
              <a:spcAft>
                <a:spcPts val="0"/>
              </a:spcAft>
            </a:pPr>
            <a:r>
              <a:rPr lang="en-US" sz="2400" dirty="0"/>
              <a:t>Google processed about </a:t>
            </a:r>
            <a:r>
              <a:rPr lang="en-US" sz="2400" dirty="0">
                <a:solidFill>
                  <a:srgbClr val="FF0000"/>
                </a:solidFill>
              </a:rPr>
              <a:t>24 petabytes </a:t>
            </a:r>
            <a:r>
              <a:rPr lang="en-US" sz="2400" dirty="0"/>
              <a:t>of data per day in 2009.</a:t>
            </a:r>
            <a:endParaRPr lang="en-US" sz="2400" b="1" dirty="0"/>
          </a:p>
          <a:p>
            <a:r>
              <a:rPr lang="en-US" sz="2400" b="1" dirty="0">
                <a:solidFill>
                  <a:schemeClr val="tx2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 single machine </a:t>
            </a:r>
            <a:r>
              <a:rPr lang="en-US" sz="2400" dirty="0"/>
              <a:t>cannot serve all the data</a:t>
            </a:r>
          </a:p>
          <a:p>
            <a:pPr lvl="2"/>
            <a:r>
              <a:rPr lang="en-US" sz="2400" dirty="0"/>
              <a:t>You need a distributed system to store and process </a:t>
            </a:r>
            <a:r>
              <a:rPr lang="en-US" sz="2400" b="1" dirty="0">
                <a:solidFill>
                  <a:srgbClr val="CC00C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in parallel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400" dirty="0"/>
              <a:t>Parallel programming?</a:t>
            </a:r>
          </a:p>
          <a:p>
            <a:pPr lvl="2"/>
            <a:r>
              <a:rPr lang="en-US" sz="2400" b="1" dirty="0">
                <a:solidFill>
                  <a:srgbClr val="663300"/>
                </a:solidFill>
              </a:rPr>
              <a:t>Threading</a:t>
            </a:r>
            <a:r>
              <a:rPr lang="en-US" sz="2400" dirty="0"/>
              <a:t> is hard!</a:t>
            </a:r>
          </a:p>
          <a:p>
            <a:pPr lvl="2"/>
            <a:r>
              <a:rPr lang="en-US" sz="2400" dirty="0"/>
              <a:t>How do you facilitate </a:t>
            </a:r>
            <a:r>
              <a:rPr lang="en-US" sz="24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communication</a:t>
            </a:r>
            <a:r>
              <a:rPr lang="en-US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US" sz="2400" dirty="0"/>
              <a:t>between nodes?</a:t>
            </a:r>
          </a:p>
          <a:p>
            <a:pPr lvl="2"/>
            <a:r>
              <a:rPr lang="en-US" sz="2400" dirty="0"/>
              <a:t>How do you </a:t>
            </a:r>
            <a:r>
              <a:rPr lang="en-US" sz="2400" b="1" dirty="0"/>
              <a:t>scale to </a:t>
            </a:r>
            <a:r>
              <a:rPr lang="en-US" sz="2400" b="1" dirty="0">
                <a:solidFill>
                  <a:srgbClr val="006600"/>
                </a:solidFill>
              </a:rPr>
              <a:t>more machines</a:t>
            </a:r>
            <a:r>
              <a:rPr lang="en-US" sz="2400" dirty="0"/>
              <a:t>?</a:t>
            </a:r>
          </a:p>
          <a:p>
            <a:pPr lvl="2">
              <a:spcBef>
                <a:spcPts val="0"/>
              </a:spcBef>
            </a:pPr>
            <a:r>
              <a:rPr lang="en-US" sz="2400" dirty="0"/>
              <a:t>How do you handle machine </a:t>
            </a:r>
            <a:r>
              <a:rPr lang="en-US" sz="24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failures</a:t>
            </a:r>
            <a:r>
              <a:rPr lang="en-US" sz="2400" dirty="0"/>
              <a:t>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070496-1CF9-408E-B326-6CCA99B85165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37953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1924E95-B662-476B-8747-32147EFC68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40910" y="136525"/>
            <a:ext cx="9083109" cy="6485754"/>
          </a:xfrm>
        </p:spPr>
        <p:txBody>
          <a:bodyPr>
            <a:normAutofit/>
          </a:bodyPr>
          <a:lstStyle/>
          <a:p>
            <a:pPr algn="ctr">
              <a:lnSpc>
                <a:spcPct val="150000"/>
              </a:lnSpc>
            </a:pPr>
            <a:r>
              <a:rPr lang="en-US" sz="3000" b="1" dirty="0"/>
              <a:t>Google’s Solution</a:t>
            </a:r>
          </a:p>
          <a:p>
            <a:pPr>
              <a:lnSpc>
                <a:spcPct val="150000"/>
              </a:lnSpc>
            </a:pPr>
            <a:r>
              <a:rPr lang="en-US" sz="2400" dirty="0"/>
              <a:t>Google solved this problem using an algorithm called </a:t>
            </a:r>
            <a:r>
              <a:rPr lang="en-US" sz="2400" b="1" u="sng" dirty="0"/>
              <a:t>MapReduce</a:t>
            </a:r>
            <a:r>
              <a:rPr lang="en-US" sz="2400" dirty="0"/>
              <a:t>. </a:t>
            </a:r>
          </a:p>
          <a:p>
            <a:pPr>
              <a:lnSpc>
                <a:spcPct val="150000"/>
              </a:lnSpc>
            </a:pPr>
            <a:r>
              <a:rPr lang="en-US" sz="2400" dirty="0"/>
              <a:t>This algorithm divides the task into small parts and assigns them to many computers, and collects the results from them which when integrated, form the result dataset.</a:t>
            </a:r>
          </a:p>
          <a:p>
            <a:pPr>
              <a:lnSpc>
                <a:spcPct val="150000"/>
              </a:lnSpc>
            </a:pP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6ACA64-1602-4D57-9A3D-3E1EFB449B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D69B18-316A-457F-86C2-CFE4F951EE27}" type="slidenum">
              <a:rPr lang="en-IL" smtClean="0"/>
              <a:pPr/>
              <a:t>4</a:t>
            </a:fld>
            <a:endParaRPr lang="en-IL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DF2A5E-FADA-2843-B7A0-3CD8A067E5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  <a:endParaRPr lang="en-IL"/>
          </a:p>
        </p:txBody>
      </p:sp>
      <p:sp>
        <p:nvSpPr>
          <p:cNvPr id="3" name="Can 2">
            <a:extLst>
              <a:ext uri="{FF2B5EF4-FFF2-40B4-BE49-F238E27FC236}">
                <a16:creationId xmlns:a16="http://schemas.microsoft.com/office/drawing/2014/main" id="{8940CFD2-D691-1949-95BA-CCCB0F0F41F2}"/>
              </a:ext>
            </a:extLst>
          </p:cNvPr>
          <p:cNvSpPr/>
          <p:nvPr/>
        </p:nvSpPr>
        <p:spPr>
          <a:xfrm>
            <a:off x="2853267" y="3379402"/>
            <a:ext cx="499533" cy="643467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12" name="Can 11">
            <a:extLst>
              <a:ext uri="{FF2B5EF4-FFF2-40B4-BE49-F238E27FC236}">
                <a16:creationId xmlns:a16="http://schemas.microsoft.com/office/drawing/2014/main" id="{95B4A001-1136-DD4A-9B73-EFC74D66CC2E}"/>
              </a:ext>
            </a:extLst>
          </p:cNvPr>
          <p:cNvSpPr/>
          <p:nvPr/>
        </p:nvSpPr>
        <p:spPr>
          <a:xfrm>
            <a:off x="2853267" y="4401505"/>
            <a:ext cx="499533" cy="643467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13" name="Can 12">
            <a:extLst>
              <a:ext uri="{FF2B5EF4-FFF2-40B4-BE49-F238E27FC236}">
                <a16:creationId xmlns:a16="http://schemas.microsoft.com/office/drawing/2014/main" id="{AD7E5B11-5FD0-B349-A1EF-7E8A55A4A440}"/>
              </a:ext>
            </a:extLst>
          </p:cNvPr>
          <p:cNvSpPr/>
          <p:nvPr/>
        </p:nvSpPr>
        <p:spPr>
          <a:xfrm>
            <a:off x="2853268" y="5366705"/>
            <a:ext cx="499533" cy="643467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9" name="Cube 8">
            <a:extLst>
              <a:ext uri="{FF2B5EF4-FFF2-40B4-BE49-F238E27FC236}">
                <a16:creationId xmlns:a16="http://schemas.microsoft.com/office/drawing/2014/main" id="{AFAA0F24-92D1-2044-AB97-C74CE86F1038}"/>
              </a:ext>
            </a:extLst>
          </p:cNvPr>
          <p:cNvSpPr/>
          <p:nvPr/>
        </p:nvSpPr>
        <p:spPr>
          <a:xfrm>
            <a:off x="5041899" y="3724170"/>
            <a:ext cx="2328333" cy="1811867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L" dirty="0"/>
              <a:t>Centralized</a:t>
            </a:r>
          </a:p>
          <a:p>
            <a:pPr algn="ctr"/>
            <a:r>
              <a:rPr lang="en-IL" dirty="0"/>
              <a:t>System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15D7C46-0077-5642-8F87-5D94008FC861}"/>
              </a:ext>
            </a:extLst>
          </p:cNvPr>
          <p:cNvCxnSpPr>
            <a:cxnSpLocks/>
            <a:endCxn id="9" idx="2"/>
          </p:cNvCxnSpPr>
          <p:nvPr/>
        </p:nvCxnSpPr>
        <p:spPr>
          <a:xfrm>
            <a:off x="3352800" y="3758039"/>
            <a:ext cx="1689099" cy="10985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EF67CE9-AB66-664E-8EBD-2AD7926EC3B7}"/>
              </a:ext>
            </a:extLst>
          </p:cNvPr>
          <p:cNvCxnSpPr>
            <a:stCxn id="12" idx="4"/>
            <a:endCxn id="9" idx="2"/>
          </p:cNvCxnSpPr>
          <p:nvPr/>
        </p:nvCxnSpPr>
        <p:spPr>
          <a:xfrm>
            <a:off x="3352800" y="4723239"/>
            <a:ext cx="1689099" cy="1333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15666F7-3EEC-4548-932B-198921B4645F}"/>
              </a:ext>
            </a:extLst>
          </p:cNvPr>
          <p:cNvCxnSpPr>
            <a:stCxn id="13" idx="4"/>
            <a:endCxn id="9" idx="2"/>
          </p:cNvCxnSpPr>
          <p:nvPr/>
        </p:nvCxnSpPr>
        <p:spPr>
          <a:xfrm flipV="1">
            <a:off x="3352801" y="4856587"/>
            <a:ext cx="1689098" cy="83185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Oval 20">
            <a:extLst>
              <a:ext uri="{FF2B5EF4-FFF2-40B4-BE49-F238E27FC236}">
                <a16:creationId xmlns:a16="http://schemas.microsoft.com/office/drawing/2014/main" id="{AFF3CCAB-C353-894F-AE80-CB27D96CB760}"/>
              </a:ext>
            </a:extLst>
          </p:cNvPr>
          <p:cNvSpPr/>
          <p:nvPr/>
        </p:nvSpPr>
        <p:spPr>
          <a:xfrm>
            <a:off x="8610600" y="4097760"/>
            <a:ext cx="1312334" cy="11176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L" dirty="0"/>
              <a:t>User</a:t>
            </a:r>
          </a:p>
        </p:txBody>
      </p:sp>
      <p:sp>
        <p:nvSpPr>
          <p:cNvPr id="22" name="Left-Right Arrow 21">
            <a:extLst>
              <a:ext uri="{FF2B5EF4-FFF2-40B4-BE49-F238E27FC236}">
                <a16:creationId xmlns:a16="http://schemas.microsoft.com/office/drawing/2014/main" id="{BB0DE406-BE25-6E42-83D1-D439A62D817C}"/>
              </a:ext>
            </a:extLst>
          </p:cNvPr>
          <p:cNvSpPr/>
          <p:nvPr/>
        </p:nvSpPr>
        <p:spPr>
          <a:xfrm>
            <a:off x="7603066" y="4550727"/>
            <a:ext cx="787400" cy="211667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1" eaLnBrk="1" latinLnBrk="0" hangingPunct="1"/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9016779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1924E95-B662-476B-8747-32147EFC68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26507" y="186123"/>
            <a:ext cx="9245251" cy="6485754"/>
          </a:xfrm>
        </p:spPr>
        <p:txBody>
          <a:bodyPr>
            <a:normAutofit/>
          </a:bodyPr>
          <a:lstStyle/>
          <a:p>
            <a:pPr algn="ctr">
              <a:lnSpc>
                <a:spcPct val="150000"/>
              </a:lnSpc>
            </a:pPr>
            <a:r>
              <a:rPr lang="en-US" sz="3000" b="1" dirty="0"/>
              <a:t>Google’s Solution</a:t>
            </a:r>
          </a:p>
          <a:p>
            <a:pPr fontAlgn="base"/>
            <a:r>
              <a:rPr lang="en-US" sz="2400" b="1" dirty="0"/>
              <a:t>Problem</a:t>
            </a:r>
            <a:r>
              <a:rPr lang="en-US" sz="2400" dirty="0"/>
              <a:t>: Can’t use a single computer to process the data.</a:t>
            </a:r>
          </a:p>
          <a:p>
            <a:pPr fontAlgn="base"/>
            <a:r>
              <a:rPr lang="en-US" sz="2400" b="1" dirty="0"/>
              <a:t>Solution</a:t>
            </a:r>
            <a:r>
              <a:rPr lang="en-US" sz="2400" dirty="0"/>
              <a:t>: Use a group of interconnected computers.</a:t>
            </a:r>
          </a:p>
          <a:p>
            <a:pPr fontAlgn="base"/>
            <a:endParaRPr lang="en-US" sz="2400" dirty="0"/>
          </a:p>
          <a:p>
            <a:pPr fontAlgn="base"/>
            <a:r>
              <a:rPr lang="en-US" sz="2400" b="1" dirty="0"/>
              <a:t>Problem</a:t>
            </a:r>
            <a:r>
              <a:rPr lang="en-US" sz="2400" dirty="0"/>
              <a:t>: Conventional algorithms are </a:t>
            </a:r>
            <a:r>
              <a:rPr lang="en-US" sz="2400" b="1" dirty="0"/>
              <a:t>not</a:t>
            </a:r>
            <a:r>
              <a:rPr lang="en-US" sz="2400" dirty="0"/>
              <a:t> designed around memory independence.</a:t>
            </a:r>
          </a:p>
          <a:p>
            <a:pPr fontAlgn="base"/>
            <a:r>
              <a:rPr lang="en-US" sz="2400" b="1" dirty="0"/>
              <a:t>Solution</a:t>
            </a:r>
            <a:r>
              <a:rPr lang="en-US" sz="2400" dirty="0"/>
              <a:t>: MapReduce</a:t>
            </a:r>
          </a:p>
          <a:p>
            <a:pPr fontAlgn="base"/>
            <a:endParaRPr lang="en-US" sz="2400" dirty="0"/>
          </a:p>
          <a:p>
            <a:pPr fontAlgn="base">
              <a:lnSpc>
                <a:spcPct val="150000"/>
              </a:lnSpc>
            </a:pPr>
            <a:r>
              <a:rPr lang="en-US" sz="2400" b="1" dirty="0"/>
              <a:t>Definition.</a:t>
            </a:r>
            <a:r>
              <a:rPr lang="en-US" sz="2400" dirty="0"/>
              <a:t> MapReduce is a programming paradigm model of using parallel, distributed algorithms to process or generate data sets. </a:t>
            </a:r>
            <a:endParaRPr lang="en-US" sz="24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6ACA64-1602-4D57-9A3D-3E1EFB449B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D69B18-316A-457F-86C2-CFE4F951EE27}" type="slidenum">
              <a:rPr lang="en-IL" smtClean="0"/>
              <a:pPr/>
              <a:t>5</a:t>
            </a:fld>
            <a:endParaRPr lang="en-IL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DF2A5E-FADA-2843-B7A0-3CD8A067E5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5758670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1924E95-B662-476B-8747-32147EFC68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7238" y="186123"/>
            <a:ext cx="10511076" cy="6485754"/>
          </a:xfrm>
        </p:spPr>
        <p:txBody>
          <a:bodyPr>
            <a:normAutofit/>
          </a:bodyPr>
          <a:lstStyle/>
          <a:p>
            <a:pPr algn="ctr">
              <a:lnSpc>
                <a:spcPct val="150000"/>
              </a:lnSpc>
            </a:pPr>
            <a:r>
              <a:rPr lang="en-US" sz="3000" b="1" dirty="0"/>
              <a:t>How Is It Work? </a:t>
            </a:r>
          </a:p>
          <a:p>
            <a:pPr>
              <a:lnSpc>
                <a:spcPct val="150000"/>
              </a:lnSpc>
            </a:pPr>
            <a:r>
              <a:rPr lang="en-US" sz="2400" dirty="0"/>
              <a:t>The MapReduce algorithm contains two important tasks: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sz="2400" dirty="0"/>
              <a:t>The </a:t>
            </a:r>
            <a:r>
              <a:rPr lang="en-US" sz="2400" b="1" u="sng" dirty="0"/>
              <a:t>Map</a:t>
            </a:r>
            <a:r>
              <a:rPr lang="en-US" sz="2400" dirty="0"/>
              <a:t> task takes a set of data and converts it into another set of data, </a:t>
            </a:r>
            <a:br>
              <a:rPr lang="en-US" sz="2400" dirty="0"/>
            </a:br>
            <a:r>
              <a:rPr lang="en-US" sz="2400" dirty="0"/>
              <a:t>where individual elements are broken down into tuples.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sz="2400" dirty="0"/>
              <a:t>The </a:t>
            </a:r>
            <a:r>
              <a:rPr lang="en-US" sz="2400" b="1" u="sng" dirty="0"/>
              <a:t>Reduce</a:t>
            </a:r>
            <a:r>
              <a:rPr lang="en-US" sz="2400" dirty="0"/>
              <a:t> task takes the output from the Map as an input and combines those tuples into a smaller set of tuples.</a:t>
            </a:r>
          </a:p>
          <a:p>
            <a:pPr algn="ctr"/>
            <a:r>
              <a:rPr lang="en-US" sz="2400" b="1" dirty="0"/>
              <a:t>											The reduce task is always 												performed after the map job.</a:t>
            </a:r>
          </a:p>
          <a:p>
            <a:br>
              <a:rPr lang="en-US" sz="2400" dirty="0"/>
            </a:b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6ACA64-1602-4D57-9A3D-3E1EFB449B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D69B18-316A-457F-86C2-CFE4F951EE27}" type="slidenum">
              <a:rPr lang="en-IL" smtClean="0"/>
              <a:pPr/>
              <a:t>6</a:t>
            </a:fld>
            <a:endParaRPr lang="en-IL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DF2A5E-FADA-2843-B7A0-3CD8A067E5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  <a:endParaRPr lang="en-IL"/>
          </a:p>
        </p:txBody>
      </p:sp>
      <p:pic>
        <p:nvPicPr>
          <p:cNvPr id="3" name="תמונה 2" descr="Everything you need to know about MapReduce">
            <a:extLst>
              <a:ext uri="{FF2B5EF4-FFF2-40B4-BE49-F238E27FC236}">
                <a16:creationId xmlns:a16="http://schemas.microsoft.com/office/drawing/2014/main" id="{6D4080E4-C230-0081-2EA4-0846A40EBB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5129" y="3860754"/>
            <a:ext cx="3753175" cy="2678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09886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Why MapReduce Matters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>
            <a:normAutofit/>
          </a:bodyPr>
          <a:lstStyle/>
          <a:p>
            <a:pPr lvl="0"/>
            <a:r>
              <a:rPr dirty="0"/>
              <a:t>Single-node processing </a:t>
            </a:r>
            <a:r>
              <a:rPr lang="en-US" dirty="0"/>
              <a:t>can not handle big-data.</a:t>
            </a:r>
            <a:endParaRPr dirty="0"/>
          </a:p>
          <a:p>
            <a:pPr lvl="0"/>
            <a:r>
              <a:rPr dirty="0"/>
              <a:t>MapReduce </a:t>
            </a:r>
            <a:r>
              <a:rPr lang="en-US" dirty="0"/>
              <a:t>use </a:t>
            </a:r>
            <a:r>
              <a:rPr dirty="0"/>
              <a:t>parallel micro-batches with aggregation.</a:t>
            </a:r>
          </a:p>
          <a:p>
            <a:pPr lvl="0"/>
            <a:r>
              <a:rPr dirty="0"/>
              <a:t>The real “cost center” is moving and consolidating data </a:t>
            </a:r>
            <a:br>
              <a:rPr lang="en-US" dirty="0"/>
            </a:br>
            <a:r>
              <a:rPr dirty="0"/>
              <a:t>(shuffle), not local computation.</a:t>
            </a:r>
          </a:p>
          <a:p>
            <a:pPr lvl="0"/>
            <a:r>
              <a:rPr b="1" dirty="0"/>
              <a:t>SQL lens:</a:t>
            </a:r>
            <a:r>
              <a:rPr dirty="0"/>
              <a:t> </a:t>
            </a:r>
            <a:br>
              <a:rPr lang="en-US" dirty="0"/>
            </a:br>
            <a:r>
              <a:rPr dirty="0"/>
              <a:t>MapReduce is a physical execution model </a:t>
            </a:r>
            <a:br>
              <a:rPr lang="en-US" dirty="0"/>
            </a:br>
            <a:r>
              <a:rPr dirty="0"/>
              <a:t>for </a:t>
            </a:r>
            <a:r>
              <a:rPr dirty="0">
                <a:latin typeface="Courier"/>
              </a:rPr>
              <a:t>GROUP BY</a:t>
            </a:r>
            <a:r>
              <a:rPr dirty="0"/>
              <a:t> and </a:t>
            </a:r>
            <a:r>
              <a:rPr dirty="0">
                <a:latin typeface="Courier"/>
              </a:rPr>
              <a:t>JOIN</a:t>
            </a:r>
            <a:r>
              <a:rPr dirty="0"/>
              <a:t> at scale.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1924E95-B662-476B-8747-32147EFC68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7933" y="136525"/>
            <a:ext cx="11616266" cy="6485754"/>
          </a:xfrm>
        </p:spPr>
        <p:txBody>
          <a:bodyPr>
            <a:normAutofit/>
          </a:bodyPr>
          <a:lstStyle/>
          <a:p>
            <a:pPr algn="ctr">
              <a:lnSpc>
                <a:spcPct val="150000"/>
              </a:lnSpc>
            </a:pPr>
            <a:r>
              <a:rPr lang="en-US" sz="3000" b="1" dirty="0"/>
              <a:t>How Is It Work? </a:t>
            </a:r>
          </a:p>
          <a:p>
            <a:pPr>
              <a:lnSpc>
                <a:spcPct val="150000"/>
              </a:lnSpc>
            </a:pPr>
            <a:endParaRPr lang="en-US" sz="2400" dirty="0"/>
          </a:p>
          <a:p>
            <a:pPr>
              <a:lnSpc>
                <a:spcPct val="150000"/>
              </a:lnSpc>
            </a:pPr>
            <a:endParaRPr lang="en-US" sz="2400" dirty="0"/>
          </a:p>
          <a:p>
            <a:pPr>
              <a:lnSpc>
                <a:spcPct val="150000"/>
              </a:lnSpc>
            </a:pPr>
            <a:endParaRPr lang="en-US" sz="2400" dirty="0"/>
          </a:p>
          <a:p>
            <a:pPr>
              <a:lnSpc>
                <a:spcPct val="150000"/>
              </a:lnSpc>
            </a:pPr>
            <a:endParaRPr lang="en-US" sz="2400" dirty="0"/>
          </a:p>
          <a:p>
            <a:pPr>
              <a:lnSpc>
                <a:spcPct val="150000"/>
              </a:lnSpc>
            </a:pPr>
            <a:endParaRPr lang="en-US" sz="2400" dirty="0"/>
          </a:p>
          <a:p>
            <a:pPr>
              <a:lnSpc>
                <a:spcPct val="150000"/>
              </a:lnSpc>
            </a:pPr>
            <a:endParaRPr lang="en-US" sz="2400" dirty="0"/>
          </a:p>
          <a:p>
            <a:pPr>
              <a:lnSpc>
                <a:spcPct val="150000"/>
              </a:lnSpc>
            </a:pP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6ACA64-1602-4D57-9A3D-3E1EFB449B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D69B18-316A-457F-86C2-CFE4F951EE27}" type="slidenum">
              <a:rPr lang="en-IL" smtClean="0"/>
              <a:pPr/>
              <a:t>8</a:t>
            </a:fld>
            <a:endParaRPr lang="en-IL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DF2A5E-FADA-2843-B7A0-3CD8A067E5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  <a:endParaRPr lang="en-IL"/>
          </a:p>
        </p:txBody>
      </p:sp>
      <p:pic>
        <p:nvPicPr>
          <p:cNvPr id="2052" name="Picture 4" descr="The MapReduce architecture.  MapReduce Algorithm There are four steps... |  Download Scientific Diagram">
            <a:extLst>
              <a:ext uri="{FF2B5EF4-FFF2-40B4-BE49-F238E27FC236}">
                <a16:creationId xmlns:a16="http://schemas.microsoft.com/office/drawing/2014/main" id="{4B082B5C-DECF-6448-9A1D-B50CBF2F6F2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268"/>
          <a:stretch/>
        </p:blipFill>
        <p:spPr bwMode="auto">
          <a:xfrm>
            <a:off x="2387599" y="1362463"/>
            <a:ext cx="7814735" cy="36057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419433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MapReduce workflow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070496-1CF9-408E-B326-6CCA99B85165}" type="slidenum">
              <a:rPr lang="en-US" smtClean="0"/>
              <a:t>9</a:t>
            </a:fld>
            <a:endParaRPr lang="en-US"/>
          </a:p>
        </p:txBody>
      </p:sp>
      <p:grpSp>
        <p:nvGrpSpPr>
          <p:cNvPr id="135" name="Group 134"/>
          <p:cNvGrpSpPr/>
          <p:nvPr/>
        </p:nvGrpSpPr>
        <p:grpSpPr>
          <a:xfrm>
            <a:off x="7162800" y="2886348"/>
            <a:ext cx="990600" cy="1447800"/>
            <a:chOff x="5638800" y="2886348"/>
            <a:chExt cx="990600" cy="1447800"/>
          </a:xfrm>
        </p:grpSpPr>
        <p:sp>
          <p:nvSpPr>
            <p:cNvPr id="70" name="Oval 23"/>
            <p:cNvSpPr>
              <a:spLocks noChangeArrowheads="1"/>
            </p:cNvSpPr>
            <p:nvPr/>
          </p:nvSpPr>
          <p:spPr bwMode="auto">
            <a:xfrm>
              <a:off x="5638800" y="3876948"/>
              <a:ext cx="990600" cy="457200"/>
            </a:xfrm>
            <a:prstGeom prst="ellipse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defRPr>
                  <a:solidFill>
                    <a:schemeClr val="tx1"/>
                  </a:solidFill>
                  <a:latin typeface="Verdana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Verdana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Verdana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Verdana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Verdana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Verdana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Verdana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Verdana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Verdana" pitchFamily="34" charset="0"/>
                </a:defRPr>
              </a:lvl9pPr>
            </a:lstStyle>
            <a:p>
              <a:pPr algn="ctr"/>
              <a:r>
                <a:rPr lang="en-US" altLang="en-US" dirty="0"/>
                <a:t>Worker</a:t>
              </a:r>
            </a:p>
          </p:txBody>
        </p:sp>
        <p:sp>
          <p:nvSpPr>
            <p:cNvPr id="71" name="Oval 24"/>
            <p:cNvSpPr>
              <a:spLocks noChangeArrowheads="1"/>
            </p:cNvSpPr>
            <p:nvPr/>
          </p:nvSpPr>
          <p:spPr bwMode="auto">
            <a:xfrm>
              <a:off x="5638800" y="2886348"/>
              <a:ext cx="990600" cy="457200"/>
            </a:xfrm>
            <a:prstGeom prst="ellipse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defRPr>
                  <a:solidFill>
                    <a:schemeClr val="tx1"/>
                  </a:solidFill>
                  <a:latin typeface="Verdana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Verdana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Verdana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Verdana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Verdana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Verdana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Verdana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Verdana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Verdana" pitchFamily="34" charset="0"/>
                </a:defRPr>
              </a:lvl9pPr>
            </a:lstStyle>
            <a:p>
              <a:pPr algn="ctr"/>
              <a:r>
                <a:rPr lang="en-US" altLang="en-US" dirty="0"/>
                <a:t>Worker</a:t>
              </a:r>
            </a:p>
          </p:txBody>
        </p:sp>
      </p:grpSp>
      <p:grpSp>
        <p:nvGrpSpPr>
          <p:cNvPr id="75" name="Group 65"/>
          <p:cNvGrpSpPr>
            <a:grpSpLocks/>
          </p:cNvGrpSpPr>
          <p:nvPr/>
        </p:nvGrpSpPr>
        <p:grpSpPr bwMode="auto">
          <a:xfrm>
            <a:off x="3505200" y="2581548"/>
            <a:ext cx="990600" cy="2133600"/>
            <a:chOff x="1248" y="2352"/>
            <a:chExt cx="624" cy="1344"/>
          </a:xfrm>
        </p:grpSpPr>
        <p:sp>
          <p:nvSpPr>
            <p:cNvPr id="83" name="Oval 6"/>
            <p:cNvSpPr>
              <a:spLocks noChangeArrowheads="1"/>
            </p:cNvSpPr>
            <p:nvPr/>
          </p:nvSpPr>
          <p:spPr bwMode="auto">
            <a:xfrm>
              <a:off x="1248" y="2352"/>
              <a:ext cx="624" cy="288"/>
            </a:xfrm>
            <a:prstGeom prst="ellipse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defRPr>
                  <a:solidFill>
                    <a:schemeClr val="tx1"/>
                  </a:solidFill>
                  <a:latin typeface="Verdana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Verdana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Verdana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Verdana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Verdana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Verdana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Verdana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Verdana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Verdana" pitchFamily="34" charset="0"/>
                </a:defRPr>
              </a:lvl9pPr>
            </a:lstStyle>
            <a:p>
              <a:pPr algn="ctr"/>
              <a:r>
                <a:rPr lang="en-US" altLang="en-US" dirty="0"/>
                <a:t>Worker</a:t>
              </a:r>
            </a:p>
          </p:txBody>
        </p:sp>
        <p:sp>
          <p:nvSpPr>
            <p:cNvPr id="84" name="Oval 7"/>
            <p:cNvSpPr>
              <a:spLocks noChangeArrowheads="1"/>
            </p:cNvSpPr>
            <p:nvPr/>
          </p:nvSpPr>
          <p:spPr bwMode="auto">
            <a:xfrm>
              <a:off x="1248" y="2880"/>
              <a:ext cx="624" cy="288"/>
            </a:xfrm>
            <a:prstGeom prst="ellipse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defRPr>
                  <a:solidFill>
                    <a:schemeClr val="tx1"/>
                  </a:solidFill>
                  <a:latin typeface="Verdana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Verdana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Verdana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Verdana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Verdana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Verdana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Verdana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Verdana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Verdana" pitchFamily="34" charset="0"/>
                </a:defRPr>
              </a:lvl9pPr>
            </a:lstStyle>
            <a:p>
              <a:pPr algn="ctr"/>
              <a:r>
                <a:rPr lang="en-US" altLang="en-US"/>
                <a:t>Worker</a:t>
              </a:r>
            </a:p>
          </p:txBody>
        </p:sp>
        <p:sp>
          <p:nvSpPr>
            <p:cNvPr id="85" name="Oval 8"/>
            <p:cNvSpPr>
              <a:spLocks noChangeArrowheads="1"/>
            </p:cNvSpPr>
            <p:nvPr/>
          </p:nvSpPr>
          <p:spPr bwMode="auto">
            <a:xfrm>
              <a:off x="1248" y="3408"/>
              <a:ext cx="624" cy="288"/>
            </a:xfrm>
            <a:prstGeom prst="ellipse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defRPr>
                  <a:solidFill>
                    <a:schemeClr val="tx1"/>
                  </a:solidFill>
                  <a:latin typeface="Verdana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Verdana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Verdana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Verdana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Verdana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Verdana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Verdana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Verdana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Verdana" pitchFamily="34" charset="0"/>
                </a:defRPr>
              </a:lvl9pPr>
            </a:lstStyle>
            <a:p>
              <a:pPr algn="ctr"/>
              <a:r>
                <a:rPr lang="en-US" altLang="en-US"/>
                <a:t>Worker</a:t>
              </a:r>
            </a:p>
          </p:txBody>
        </p:sp>
      </p:grpSp>
      <p:grpSp>
        <p:nvGrpSpPr>
          <p:cNvPr id="91" name="Group 46"/>
          <p:cNvGrpSpPr>
            <a:grpSpLocks/>
          </p:cNvGrpSpPr>
          <p:nvPr/>
        </p:nvGrpSpPr>
        <p:grpSpPr bwMode="auto">
          <a:xfrm>
            <a:off x="2590800" y="2810148"/>
            <a:ext cx="914400" cy="1676400"/>
            <a:chOff x="672" y="2496"/>
            <a:chExt cx="576" cy="1056"/>
          </a:xfrm>
        </p:grpSpPr>
        <p:sp>
          <p:nvSpPr>
            <p:cNvPr id="92" name="Line 42"/>
            <p:cNvSpPr>
              <a:spLocks noChangeShapeType="1"/>
            </p:cNvSpPr>
            <p:nvPr/>
          </p:nvSpPr>
          <p:spPr bwMode="auto">
            <a:xfrm flipV="1">
              <a:off x="672" y="2496"/>
              <a:ext cx="576" cy="33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" name="Line 43"/>
            <p:cNvSpPr>
              <a:spLocks noChangeShapeType="1"/>
            </p:cNvSpPr>
            <p:nvPr/>
          </p:nvSpPr>
          <p:spPr bwMode="auto">
            <a:xfrm>
              <a:off x="672" y="3024"/>
              <a:ext cx="57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" name="Line 44"/>
            <p:cNvSpPr>
              <a:spLocks noChangeShapeType="1"/>
            </p:cNvSpPr>
            <p:nvPr/>
          </p:nvSpPr>
          <p:spPr bwMode="auto">
            <a:xfrm>
              <a:off x="672" y="3216"/>
              <a:ext cx="576" cy="33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5" name="Text Box 45"/>
            <p:cNvSpPr txBox="1">
              <a:spLocks noChangeArrowheads="1"/>
            </p:cNvSpPr>
            <p:nvPr/>
          </p:nvSpPr>
          <p:spPr bwMode="auto">
            <a:xfrm>
              <a:off x="672" y="2784"/>
              <a:ext cx="439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Verdana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Verdana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Verdana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Verdana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Verdana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Verdana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Verdana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Verdana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Verdana" pitchFamily="34" charset="0"/>
                </a:defRPr>
              </a:lvl9pPr>
            </a:lstStyle>
            <a:p>
              <a:r>
                <a:rPr lang="en-US" altLang="en-US"/>
                <a:t>read</a:t>
              </a:r>
            </a:p>
          </p:txBody>
        </p:sp>
      </p:grpSp>
      <p:grpSp>
        <p:nvGrpSpPr>
          <p:cNvPr id="96" name="Group 51"/>
          <p:cNvGrpSpPr>
            <a:grpSpLocks/>
          </p:cNvGrpSpPr>
          <p:nvPr/>
        </p:nvGrpSpPr>
        <p:grpSpPr bwMode="auto">
          <a:xfrm>
            <a:off x="4495800" y="2581548"/>
            <a:ext cx="1600200" cy="2133600"/>
            <a:chOff x="1872" y="2352"/>
            <a:chExt cx="1008" cy="1344"/>
          </a:xfrm>
        </p:grpSpPr>
        <p:grpSp>
          <p:nvGrpSpPr>
            <p:cNvPr id="97" name="Group 16"/>
            <p:cNvGrpSpPr>
              <a:grpSpLocks/>
            </p:cNvGrpSpPr>
            <p:nvPr/>
          </p:nvGrpSpPr>
          <p:grpSpPr bwMode="auto">
            <a:xfrm>
              <a:off x="2592" y="2352"/>
              <a:ext cx="288" cy="288"/>
              <a:chOff x="2640" y="2160"/>
              <a:chExt cx="288" cy="288"/>
            </a:xfrm>
          </p:grpSpPr>
          <p:sp>
            <p:nvSpPr>
              <p:cNvPr id="108" name="Rectangle 14"/>
              <p:cNvSpPr>
                <a:spLocks noChangeArrowheads="1"/>
              </p:cNvSpPr>
              <p:nvPr/>
            </p:nvSpPr>
            <p:spPr bwMode="auto">
              <a:xfrm>
                <a:off x="2640" y="2160"/>
                <a:ext cx="144" cy="288"/>
              </a:xfrm>
              <a:prstGeom prst="rect">
                <a:avLst/>
              </a:prstGeom>
              <a:solidFill>
                <a:srgbClr val="FF505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>
                    <a:solidFill>
                      <a:schemeClr val="tx1"/>
                    </a:solidFill>
                    <a:latin typeface="Verdana" pitchFamily="34" charset="0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Verdana" pitchFamily="34" charset="0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Verdana" pitchFamily="34" charset="0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Verdana" pitchFamily="34" charset="0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Verdana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Verdana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Verdana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Verdana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Verdana" pitchFamily="34" charset="0"/>
                  </a:defRPr>
                </a:lvl9pPr>
              </a:lstStyle>
              <a:p>
                <a:endParaRPr lang="en-US" altLang="en-US"/>
              </a:p>
            </p:txBody>
          </p:sp>
          <p:sp>
            <p:nvSpPr>
              <p:cNvPr id="109" name="Rectangle 15"/>
              <p:cNvSpPr>
                <a:spLocks noChangeArrowheads="1"/>
              </p:cNvSpPr>
              <p:nvPr/>
            </p:nvSpPr>
            <p:spPr bwMode="auto">
              <a:xfrm>
                <a:off x="2784" y="2160"/>
                <a:ext cx="144" cy="288"/>
              </a:xfrm>
              <a:prstGeom prst="rect">
                <a:avLst/>
              </a:prstGeom>
              <a:solidFill>
                <a:srgbClr val="FF505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>
                    <a:solidFill>
                      <a:schemeClr val="tx1"/>
                    </a:solidFill>
                    <a:latin typeface="Verdana" pitchFamily="34" charset="0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Verdana" pitchFamily="34" charset="0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Verdana" pitchFamily="34" charset="0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Verdana" pitchFamily="34" charset="0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Verdana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Verdana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Verdana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Verdana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Verdana" pitchFamily="34" charset="0"/>
                  </a:defRPr>
                </a:lvl9pPr>
              </a:lstStyle>
              <a:p>
                <a:endParaRPr lang="en-US" altLang="en-US"/>
              </a:p>
            </p:txBody>
          </p:sp>
        </p:grpSp>
        <p:grpSp>
          <p:nvGrpSpPr>
            <p:cNvPr id="98" name="Group 17"/>
            <p:cNvGrpSpPr>
              <a:grpSpLocks/>
            </p:cNvGrpSpPr>
            <p:nvPr/>
          </p:nvGrpSpPr>
          <p:grpSpPr bwMode="auto">
            <a:xfrm>
              <a:off x="2592" y="2880"/>
              <a:ext cx="288" cy="288"/>
              <a:chOff x="2640" y="2160"/>
              <a:chExt cx="288" cy="288"/>
            </a:xfrm>
          </p:grpSpPr>
          <p:sp>
            <p:nvSpPr>
              <p:cNvPr id="106" name="Rectangle 18"/>
              <p:cNvSpPr>
                <a:spLocks noChangeArrowheads="1"/>
              </p:cNvSpPr>
              <p:nvPr/>
            </p:nvSpPr>
            <p:spPr bwMode="auto">
              <a:xfrm>
                <a:off x="2640" y="2160"/>
                <a:ext cx="144" cy="288"/>
              </a:xfrm>
              <a:prstGeom prst="rect">
                <a:avLst/>
              </a:prstGeom>
              <a:solidFill>
                <a:srgbClr val="FF505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>
                    <a:solidFill>
                      <a:schemeClr val="tx1"/>
                    </a:solidFill>
                    <a:latin typeface="Verdana" pitchFamily="34" charset="0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Verdana" pitchFamily="34" charset="0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Verdana" pitchFamily="34" charset="0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Verdana" pitchFamily="34" charset="0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Verdana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Verdana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Verdana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Verdana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Verdana" pitchFamily="34" charset="0"/>
                  </a:defRPr>
                </a:lvl9pPr>
              </a:lstStyle>
              <a:p>
                <a:endParaRPr lang="en-US" altLang="en-US"/>
              </a:p>
            </p:txBody>
          </p:sp>
          <p:sp>
            <p:nvSpPr>
              <p:cNvPr id="107" name="Rectangle 19"/>
              <p:cNvSpPr>
                <a:spLocks noChangeArrowheads="1"/>
              </p:cNvSpPr>
              <p:nvPr/>
            </p:nvSpPr>
            <p:spPr bwMode="auto">
              <a:xfrm>
                <a:off x="2784" y="2160"/>
                <a:ext cx="144" cy="288"/>
              </a:xfrm>
              <a:prstGeom prst="rect">
                <a:avLst/>
              </a:prstGeom>
              <a:solidFill>
                <a:srgbClr val="FF505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>
                    <a:solidFill>
                      <a:schemeClr val="tx1"/>
                    </a:solidFill>
                    <a:latin typeface="Verdana" pitchFamily="34" charset="0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Verdana" pitchFamily="34" charset="0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Verdana" pitchFamily="34" charset="0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Verdana" pitchFamily="34" charset="0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Verdana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Verdana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Verdana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Verdana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Verdana" pitchFamily="34" charset="0"/>
                  </a:defRPr>
                </a:lvl9pPr>
              </a:lstStyle>
              <a:p>
                <a:endParaRPr lang="en-US" altLang="en-US"/>
              </a:p>
            </p:txBody>
          </p:sp>
        </p:grpSp>
        <p:grpSp>
          <p:nvGrpSpPr>
            <p:cNvPr id="99" name="Group 20"/>
            <p:cNvGrpSpPr>
              <a:grpSpLocks/>
            </p:cNvGrpSpPr>
            <p:nvPr/>
          </p:nvGrpSpPr>
          <p:grpSpPr bwMode="auto">
            <a:xfrm>
              <a:off x="2592" y="3408"/>
              <a:ext cx="288" cy="288"/>
              <a:chOff x="2640" y="2160"/>
              <a:chExt cx="288" cy="288"/>
            </a:xfrm>
          </p:grpSpPr>
          <p:sp>
            <p:nvSpPr>
              <p:cNvPr id="104" name="Rectangle 21"/>
              <p:cNvSpPr>
                <a:spLocks noChangeArrowheads="1"/>
              </p:cNvSpPr>
              <p:nvPr/>
            </p:nvSpPr>
            <p:spPr bwMode="auto">
              <a:xfrm>
                <a:off x="2640" y="2160"/>
                <a:ext cx="144" cy="288"/>
              </a:xfrm>
              <a:prstGeom prst="rect">
                <a:avLst/>
              </a:prstGeom>
              <a:solidFill>
                <a:srgbClr val="FF505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>
                    <a:solidFill>
                      <a:schemeClr val="tx1"/>
                    </a:solidFill>
                    <a:latin typeface="Verdana" pitchFamily="34" charset="0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Verdana" pitchFamily="34" charset="0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Verdana" pitchFamily="34" charset="0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Verdana" pitchFamily="34" charset="0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Verdana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Verdana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Verdana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Verdana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Verdana" pitchFamily="34" charset="0"/>
                  </a:defRPr>
                </a:lvl9pPr>
              </a:lstStyle>
              <a:p>
                <a:endParaRPr lang="en-US" altLang="en-US"/>
              </a:p>
            </p:txBody>
          </p:sp>
          <p:sp>
            <p:nvSpPr>
              <p:cNvPr id="105" name="Rectangle 22"/>
              <p:cNvSpPr>
                <a:spLocks noChangeArrowheads="1"/>
              </p:cNvSpPr>
              <p:nvPr/>
            </p:nvSpPr>
            <p:spPr bwMode="auto">
              <a:xfrm>
                <a:off x="2784" y="2160"/>
                <a:ext cx="144" cy="288"/>
              </a:xfrm>
              <a:prstGeom prst="rect">
                <a:avLst/>
              </a:prstGeom>
              <a:solidFill>
                <a:srgbClr val="FF505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>
                    <a:solidFill>
                      <a:schemeClr val="tx1"/>
                    </a:solidFill>
                    <a:latin typeface="Verdana" pitchFamily="34" charset="0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Verdana" pitchFamily="34" charset="0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Verdana" pitchFamily="34" charset="0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Verdana" pitchFamily="34" charset="0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Verdana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Verdana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Verdana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Verdana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Verdana" pitchFamily="34" charset="0"/>
                  </a:defRPr>
                </a:lvl9pPr>
              </a:lstStyle>
              <a:p>
                <a:endParaRPr lang="en-US" altLang="en-US"/>
              </a:p>
            </p:txBody>
          </p:sp>
        </p:grpSp>
        <p:sp>
          <p:nvSpPr>
            <p:cNvPr id="100" name="Line 47"/>
            <p:cNvSpPr>
              <a:spLocks noChangeShapeType="1"/>
            </p:cNvSpPr>
            <p:nvPr/>
          </p:nvSpPr>
          <p:spPr bwMode="auto">
            <a:xfrm>
              <a:off x="1872" y="2496"/>
              <a:ext cx="72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1" name="Line 48"/>
            <p:cNvSpPr>
              <a:spLocks noChangeShapeType="1"/>
            </p:cNvSpPr>
            <p:nvPr/>
          </p:nvSpPr>
          <p:spPr bwMode="auto">
            <a:xfrm>
              <a:off x="1872" y="3024"/>
              <a:ext cx="72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" name="Line 49"/>
            <p:cNvSpPr>
              <a:spLocks noChangeShapeType="1"/>
            </p:cNvSpPr>
            <p:nvPr/>
          </p:nvSpPr>
          <p:spPr bwMode="auto">
            <a:xfrm>
              <a:off x="1872" y="3552"/>
              <a:ext cx="72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" name="Text Box 50"/>
            <p:cNvSpPr txBox="1">
              <a:spLocks noChangeArrowheads="1"/>
            </p:cNvSpPr>
            <p:nvPr/>
          </p:nvSpPr>
          <p:spPr bwMode="auto">
            <a:xfrm>
              <a:off x="1970" y="2620"/>
              <a:ext cx="482" cy="3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Verdana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Verdana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Verdana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Verdana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Verdana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Verdana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Verdana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Verdana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Verdana" pitchFamily="34" charset="0"/>
                </a:defRPr>
              </a:lvl9pPr>
            </a:lstStyle>
            <a:p>
              <a:r>
                <a:rPr lang="en-US" altLang="en-US" sz="1600" dirty="0"/>
                <a:t>local</a:t>
              </a:r>
              <a:endParaRPr lang="en-US" altLang="en-US" dirty="0"/>
            </a:p>
            <a:p>
              <a:r>
                <a:rPr lang="en-US" altLang="en-US" dirty="0"/>
                <a:t>write</a:t>
              </a:r>
            </a:p>
          </p:txBody>
        </p:sp>
      </p:grpSp>
      <p:grpSp>
        <p:nvGrpSpPr>
          <p:cNvPr id="110" name="Group 59"/>
          <p:cNvGrpSpPr>
            <a:grpSpLocks/>
          </p:cNvGrpSpPr>
          <p:nvPr/>
        </p:nvGrpSpPr>
        <p:grpSpPr bwMode="auto">
          <a:xfrm>
            <a:off x="6096000" y="2810148"/>
            <a:ext cx="1074738" cy="2416175"/>
            <a:chOff x="2880" y="2496"/>
            <a:chExt cx="677" cy="1522"/>
          </a:xfrm>
        </p:grpSpPr>
        <p:sp>
          <p:nvSpPr>
            <p:cNvPr id="111" name="Line 52"/>
            <p:cNvSpPr>
              <a:spLocks noChangeShapeType="1"/>
            </p:cNvSpPr>
            <p:nvPr/>
          </p:nvSpPr>
          <p:spPr bwMode="auto">
            <a:xfrm>
              <a:off x="2880" y="2496"/>
              <a:ext cx="672" cy="1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2" name="Line 53"/>
            <p:cNvSpPr>
              <a:spLocks noChangeShapeType="1"/>
            </p:cNvSpPr>
            <p:nvPr/>
          </p:nvSpPr>
          <p:spPr bwMode="auto">
            <a:xfrm>
              <a:off x="2880" y="2496"/>
              <a:ext cx="672" cy="81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3" name="Line 54"/>
            <p:cNvSpPr>
              <a:spLocks noChangeShapeType="1"/>
            </p:cNvSpPr>
            <p:nvPr/>
          </p:nvSpPr>
          <p:spPr bwMode="auto">
            <a:xfrm flipV="1">
              <a:off x="2880" y="2688"/>
              <a:ext cx="672" cy="33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4" name="Line 55"/>
            <p:cNvSpPr>
              <a:spLocks noChangeShapeType="1"/>
            </p:cNvSpPr>
            <p:nvPr/>
          </p:nvSpPr>
          <p:spPr bwMode="auto">
            <a:xfrm>
              <a:off x="2880" y="3024"/>
              <a:ext cx="672" cy="28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5" name="Line 56"/>
            <p:cNvSpPr>
              <a:spLocks noChangeShapeType="1"/>
            </p:cNvSpPr>
            <p:nvPr/>
          </p:nvSpPr>
          <p:spPr bwMode="auto">
            <a:xfrm flipV="1">
              <a:off x="2880" y="2736"/>
              <a:ext cx="672" cy="81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6" name="Line 57"/>
            <p:cNvSpPr>
              <a:spLocks noChangeShapeType="1"/>
            </p:cNvSpPr>
            <p:nvPr/>
          </p:nvSpPr>
          <p:spPr bwMode="auto">
            <a:xfrm flipV="1">
              <a:off x="2880" y="3312"/>
              <a:ext cx="672" cy="24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7" name="Text Box 58"/>
            <p:cNvSpPr txBox="1">
              <a:spLocks noChangeArrowheads="1"/>
            </p:cNvSpPr>
            <p:nvPr/>
          </p:nvSpPr>
          <p:spPr bwMode="auto">
            <a:xfrm>
              <a:off x="2976" y="3456"/>
              <a:ext cx="581" cy="56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Verdana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Verdana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Verdana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Verdana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Verdana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Verdana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Verdana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Verdana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Verdana" pitchFamily="34" charset="0"/>
                </a:defRPr>
              </a:lvl9pPr>
            </a:lstStyle>
            <a:p>
              <a:r>
                <a:rPr lang="en-US" altLang="en-US" sz="1600" dirty="0"/>
                <a:t>remote</a:t>
              </a:r>
            </a:p>
            <a:p>
              <a:r>
                <a:rPr lang="en-US" altLang="en-US" sz="1600" dirty="0"/>
                <a:t>read</a:t>
              </a:r>
              <a:r>
                <a:rPr lang="en-US" altLang="en-US" dirty="0"/>
                <a:t>,</a:t>
              </a:r>
            </a:p>
            <a:p>
              <a:r>
                <a:rPr lang="en-US" altLang="en-US" dirty="0"/>
                <a:t>sort</a:t>
              </a:r>
            </a:p>
          </p:txBody>
        </p:sp>
      </p:grpSp>
      <p:grpSp>
        <p:nvGrpSpPr>
          <p:cNvPr id="118" name="Group 63"/>
          <p:cNvGrpSpPr>
            <a:grpSpLocks/>
          </p:cNvGrpSpPr>
          <p:nvPr/>
        </p:nvGrpSpPr>
        <p:grpSpPr bwMode="auto">
          <a:xfrm>
            <a:off x="8153400" y="2733948"/>
            <a:ext cx="1981200" cy="1600200"/>
            <a:chOff x="4176" y="2448"/>
            <a:chExt cx="1248" cy="1008"/>
          </a:xfrm>
        </p:grpSpPr>
        <p:sp>
          <p:nvSpPr>
            <p:cNvPr id="119" name="Rectangle 27"/>
            <p:cNvSpPr>
              <a:spLocks noChangeArrowheads="1"/>
            </p:cNvSpPr>
            <p:nvPr/>
          </p:nvSpPr>
          <p:spPr bwMode="auto">
            <a:xfrm>
              <a:off x="4848" y="2448"/>
              <a:ext cx="576" cy="384"/>
            </a:xfrm>
            <a:prstGeom prst="rect">
              <a:avLst/>
            </a:prstGeom>
            <a:solidFill>
              <a:srgbClr val="FF505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>
                  <a:solidFill>
                    <a:schemeClr val="tx1"/>
                  </a:solidFill>
                  <a:latin typeface="Verdana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Verdana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Verdana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Verdana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Verdana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Verdana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Verdana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Verdana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Verdana" pitchFamily="34" charset="0"/>
                </a:defRPr>
              </a:lvl9pPr>
            </a:lstStyle>
            <a:p>
              <a:pPr algn="ctr"/>
              <a:r>
                <a:rPr lang="en-US" altLang="en-US"/>
                <a:t>Output</a:t>
              </a:r>
            </a:p>
            <a:p>
              <a:pPr algn="ctr"/>
              <a:r>
                <a:rPr lang="en-US" altLang="en-US"/>
                <a:t>File 0</a:t>
              </a:r>
            </a:p>
          </p:txBody>
        </p:sp>
        <p:sp>
          <p:nvSpPr>
            <p:cNvPr id="120" name="Rectangle 28"/>
            <p:cNvSpPr>
              <a:spLocks noChangeArrowheads="1"/>
            </p:cNvSpPr>
            <p:nvPr/>
          </p:nvSpPr>
          <p:spPr bwMode="auto">
            <a:xfrm>
              <a:off x="4848" y="3072"/>
              <a:ext cx="576" cy="384"/>
            </a:xfrm>
            <a:prstGeom prst="rect">
              <a:avLst/>
            </a:prstGeom>
            <a:solidFill>
              <a:srgbClr val="FF505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>
                  <a:solidFill>
                    <a:schemeClr val="tx1"/>
                  </a:solidFill>
                  <a:latin typeface="Verdana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Verdana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Verdana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Verdana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Verdana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Verdana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Verdana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Verdana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Verdana" pitchFamily="34" charset="0"/>
                </a:defRPr>
              </a:lvl9pPr>
            </a:lstStyle>
            <a:p>
              <a:pPr algn="ctr"/>
              <a:r>
                <a:rPr lang="en-US" altLang="en-US"/>
                <a:t>Output</a:t>
              </a:r>
            </a:p>
            <a:p>
              <a:pPr algn="ctr"/>
              <a:r>
                <a:rPr lang="en-US" altLang="en-US"/>
                <a:t>File 1</a:t>
              </a:r>
            </a:p>
          </p:txBody>
        </p:sp>
        <p:sp>
          <p:nvSpPr>
            <p:cNvPr id="121" name="Line 60"/>
            <p:cNvSpPr>
              <a:spLocks noChangeShapeType="1"/>
            </p:cNvSpPr>
            <p:nvPr/>
          </p:nvSpPr>
          <p:spPr bwMode="auto">
            <a:xfrm>
              <a:off x="4176" y="2688"/>
              <a:ext cx="67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2" name="Line 61"/>
            <p:cNvSpPr>
              <a:spLocks noChangeShapeType="1"/>
            </p:cNvSpPr>
            <p:nvPr/>
          </p:nvSpPr>
          <p:spPr bwMode="auto">
            <a:xfrm>
              <a:off x="4176" y="3312"/>
              <a:ext cx="67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3" name="Text Box 62"/>
            <p:cNvSpPr txBox="1">
              <a:spLocks noChangeArrowheads="1"/>
            </p:cNvSpPr>
            <p:nvPr/>
          </p:nvSpPr>
          <p:spPr bwMode="auto">
            <a:xfrm>
              <a:off x="4214" y="2468"/>
              <a:ext cx="47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Verdana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Verdana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Verdana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Verdana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Verdana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Verdana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Verdana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Verdana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Verdana" pitchFamily="34" charset="0"/>
                </a:defRPr>
              </a:lvl9pPr>
            </a:lstStyle>
            <a:p>
              <a:r>
                <a:rPr lang="en-US" altLang="en-US"/>
                <a:t>write</a:t>
              </a:r>
            </a:p>
          </p:txBody>
        </p:sp>
      </p:grpSp>
      <p:grpSp>
        <p:nvGrpSpPr>
          <p:cNvPr id="125" name="Group 64"/>
          <p:cNvGrpSpPr>
            <a:grpSpLocks/>
          </p:cNvGrpSpPr>
          <p:nvPr/>
        </p:nvGrpSpPr>
        <p:grpSpPr bwMode="auto">
          <a:xfrm>
            <a:off x="1752600" y="3191148"/>
            <a:ext cx="838200" cy="914400"/>
            <a:chOff x="144" y="2736"/>
            <a:chExt cx="528" cy="576"/>
          </a:xfrm>
        </p:grpSpPr>
        <p:sp>
          <p:nvSpPr>
            <p:cNvPr id="127" name="Rectangle 9"/>
            <p:cNvSpPr>
              <a:spLocks noChangeArrowheads="1"/>
            </p:cNvSpPr>
            <p:nvPr/>
          </p:nvSpPr>
          <p:spPr bwMode="auto">
            <a:xfrm>
              <a:off x="144" y="2736"/>
              <a:ext cx="528" cy="192"/>
            </a:xfrm>
            <a:prstGeom prst="rect">
              <a:avLst/>
            </a:prstGeom>
            <a:solidFill>
              <a:srgbClr val="FF505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>
                  <a:solidFill>
                    <a:schemeClr val="tx1"/>
                  </a:solidFill>
                  <a:latin typeface="Verdana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Verdana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Verdana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Verdana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Verdana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Verdana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Verdana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Verdana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Verdana" pitchFamily="34" charset="0"/>
                </a:defRPr>
              </a:lvl9pPr>
            </a:lstStyle>
            <a:p>
              <a:pPr algn="ctr"/>
              <a:r>
                <a:rPr lang="en-US" altLang="en-US"/>
                <a:t>Split 0</a:t>
              </a:r>
            </a:p>
          </p:txBody>
        </p:sp>
        <p:sp>
          <p:nvSpPr>
            <p:cNvPr id="128" name="Rectangle 10"/>
            <p:cNvSpPr>
              <a:spLocks noChangeArrowheads="1"/>
            </p:cNvSpPr>
            <p:nvPr/>
          </p:nvSpPr>
          <p:spPr bwMode="auto">
            <a:xfrm>
              <a:off x="144" y="2928"/>
              <a:ext cx="528" cy="192"/>
            </a:xfrm>
            <a:prstGeom prst="rect">
              <a:avLst/>
            </a:prstGeom>
            <a:solidFill>
              <a:srgbClr val="FF505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>
                  <a:solidFill>
                    <a:schemeClr val="tx1"/>
                  </a:solidFill>
                  <a:latin typeface="Verdana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Verdana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Verdana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Verdana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Verdana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Verdana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Verdana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Verdana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Verdana" pitchFamily="34" charset="0"/>
                </a:defRPr>
              </a:lvl9pPr>
            </a:lstStyle>
            <a:p>
              <a:pPr algn="ctr"/>
              <a:r>
                <a:rPr lang="en-US" altLang="en-US"/>
                <a:t>Split 1</a:t>
              </a:r>
            </a:p>
          </p:txBody>
        </p:sp>
        <p:sp>
          <p:nvSpPr>
            <p:cNvPr id="129" name="Rectangle 11"/>
            <p:cNvSpPr>
              <a:spLocks noChangeArrowheads="1"/>
            </p:cNvSpPr>
            <p:nvPr/>
          </p:nvSpPr>
          <p:spPr bwMode="auto">
            <a:xfrm>
              <a:off x="144" y="3120"/>
              <a:ext cx="528" cy="192"/>
            </a:xfrm>
            <a:prstGeom prst="rect">
              <a:avLst/>
            </a:prstGeom>
            <a:solidFill>
              <a:srgbClr val="FF505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>
                  <a:solidFill>
                    <a:schemeClr val="tx1"/>
                  </a:solidFill>
                  <a:latin typeface="Verdana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Verdana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Verdana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Verdana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Verdana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Verdana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Verdana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Verdana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Verdana" pitchFamily="34" charset="0"/>
                </a:defRPr>
              </a:lvl9pPr>
            </a:lstStyle>
            <a:p>
              <a:pPr algn="ctr"/>
              <a:r>
                <a:rPr lang="en-US" altLang="en-US"/>
                <a:t>Split 2</a:t>
              </a:r>
            </a:p>
          </p:txBody>
        </p:sp>
      </p:grpSp>
      <p:sp>
        <p:nvSpPr>
          <p:cNvPr id="126" name="Text Box 69"/>
          <p:cNvSpPr txBox="1">
            <a:spLocks noChangeArrowheads="1"/>
          </p:cNvSpPr>
          <p:nvPr/>
        </p:nvSpPr>
        <p:spPr bwMode="auto">
          <a:xfrm>
            <a:off x="1458912" y="2060849"/>
            <a:ext cx="1423988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Verdana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Verdana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Verdana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Verdana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Verdana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itchFamily="34" charset="0"/>
              </a:defRPr>
            </a:lvl9pPr>
          </a:lstStyle>
          <a:p>
            <a:r>
              <a:rPr lang="en-US" altLang="en-US" dirty="0"/>
              <a:t>Input Data</a:t>
            </a:r>
          </a:p>
        </p:txBody>
      </p:sp>
      <p:sp>
        <p:nvSpPr>
          <p:cNvPr id="131" name="Text Box 69"/>
          <p:cNvSpPr txBox="1">
            <a:spLocks noChangeArrowheads="1"/>
          </p:cNvSpPr>
          <p:nvPr/>
        </p:nvSpPr>
        <p:spPr bwMode="auto">
          <a:xfrm>
            <a:off x="8870954" y="2060848"/>
            <a:ext cx="1611313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Verdana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Verdana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Verdana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Verdana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Verdana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itchFamily="34" charset="0"/>
              </a:defRPr>
            </a:lvl9pPr>
          </a:lstStyle>
          <a:p>
            <a:r>
              <a:rPr lang="en-US" altLang="en-US" dirty="0"/>
              <a:t>Output Data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2778919" y="5226322"/>
            <a:ext cx="2443162" cy="129266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b="1" dirty="0">
                <a:solidFill>
                  <a:srgbClr val="FF0000"/>
                </a:solidFill>
              </a:rPr>
              <a:t>Map</a:t>
            </a:r>
            <a:endParaRPr lang="en-US" b="1" dirty="0"/>
          </a:p>
          <a:p>
            <a:pPr algn="ctr"/>
            <a:r>
              <a:rPr lang="en-US" dirty="0"/>
              <a:t>extract something you care about from each record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6753852" y="5226322"/>
            <a:ext cx="1808496" cy="129266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b="1" dirty="0">
                <a:solidFill>
                  <a:srgbClr val="FF0000"/>
                </a:solidFill>
              </a:rPr>
              <a:t>Reduce</a:t>
            </a:r>
            <a:r>
              <a:rPr lang="en-US" sz="2400" dirty="0">
                <a:solidFill>
                  <a:srgbClr val="FF0000"/>
                </a:solidFill>
              </a:rPr>
              <a:t> </a:t>
            </a:r>
            <a:r>
              <a:rPr lang="en-US" dirty="0"/>
              <a:t>aggregate, summarize, filter, or transform</a:t>
            </a:r>
          </a:p>
        </p:txBody>
      </p:sp>
    </p:spTree>
    <p:extLst>
      <p:ext uri="{BB962C8B-B14F-4D97-AF65-F5344CB8AC3E}">
        <p14:creationId xmlns:p14="http://schemas.microsoft.com/office/powerpoint/2010/main" val="15506095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9"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1" grpId="0"/>
      <p:bldP spid="132" grpId="0"/>
      <p:bldP spid="13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1924E95-B662-476B-8747-32147EFC68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19201" y="136525"/>
            <a:ext cx="9237132" cy="6485754"/>
          </a:xfrm>
        </p:spPr>
        <p:txBody>
          <a:bodyPr>
            <a:normAutofit/>
          </a:bodyPr>
          <a:lstStyle/>
          <a:p>
            <a:pPr algn="ctr">
              <a:lnSpc>
                <a:spcPct val="150000"/>
              </a:lnSpc>
            </a:pPr>
            <a:r>
              <a:rPr lang="en-US" sz="3000" b="1" dirty="0"/>
              <a:t>MapReduce Architecture</a:t>
            </a:r>
          </a:p>
          <a:p>
            <a:pPr>
              <a:lnSpc>
                <a:spcPct val="150000"/>
              </a:lnSpc>
            </a:pPr>
            <a:r>
              <a:rPr lang="en-US" sz="2400" b="1" dirty="0"/>
              <a:t>Input Phase</a:t>
            </a:r>
            <a:r>
              <a:rPr lang="en-US" sz="2400" dirty="0"/>
              <a:t> − Here we have a Record Reader that translates each record in an input file and sends the parsed data to the mapper.</a:t>
            </a:r>
          </a:p>
          <a:p>
            <a:pPr>
              <a:lnSpc>
                <a:spcPct val="150000"/>
              </a:lnSpc>
            </a:pPr>
            <a:r>
              <a:rPr lang="en-US" sz="2400" b="1" dirty="0"/>
              <a:t>Map</a:t>
            </a:r>
            <a:r>
              <a:rPr lang="en-US" sz="2400" dirty="0"/>
              <a:t> − Map is a user-defined function, which takes a series of key-value pairs and processes each one of them to generate zero or more key-value pairs.</a:t>
            </a:r>
          </a:p>
          <a:p>
            <a:br>
              <a:rPr lang="en-US" sz="2400" dirty="0"/>
            </a:b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6ACA64-1602-4D57-9A3D-3E1EFB449B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D69B18-316A-457F-86C2-CFE4F951EE27}" type="slidenum">
              <a:rPr lang="en-IL" smtClean="0"/>
              <a:pPr/>
              <a:t>10</a:t>
            </a:fld>
            <a:endParaRPr lang="en-IL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DF2A5E-FADA-2843-B7A0-3CD8A067E5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  <a:endParaRPr lang="en-IL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CDD13228-D798-A543-9CF3-83A10A6F83A8}"/>
              </a:ext>
            </a:extLst>
          </p:cNvPr>
          <p:cNvSpPr/>
          <p:nvPr/>
        </p:nvSpPr>
        <p:spPr>
          <a:xfrm>
            <a:off x="2777067" y="3623741"/>
            <a:ext cx="1134533" cy="46566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L" dirty="0"/>
              <a:t>Input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264630C5-F7F6-644E-A3A3-6C5BE2751DA9}"/>
              </a:ext>
            </a:extLst>
          </p:cNvPr>
          <p:cNvSpPr/>
          <p:nvPr/>
        </p:nvSpPr>
        <p:spPr>
          <a:xfrm>
            <a:off x="4038600" y="3623740"/>
            <a:ext cx="1134533" cy="46566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L" dirty="0"/>
              <a:t>Input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9ABFA56E-6EF8-8046-B5E4-CA1FB2E395A6}"/>
              </a:ext>
            </a:extLst>
          </p:cNvPr>
          <p:cNvSpPr/>
          <p:nvPr/>
        </p:nvSpPr>
        <p:spPr>
          <a:xfrm>
            <a:off x="5300133" y="3623739"/>
            <a:ext cx="1134533" cy="46566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L" dirty="0"/>
              <a:t>Input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5A37C5B1-41B1-814D-9968-562351759BC4}"/>
              </a:ext>
            </a:extLst>
          </p:cNvPr>
          <p:cNvSpPr/>
          <p:nvPr/>
        </p:nvSpPr>
        <p:spPr>
          <a:xfrm>
            <a:off x="6595533" y="3623739"/>
            <a:ext cx="1134533" cy="46566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L" dirty="0"/>
              <a:t>Input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F83D2799-5FAD-704B-ADB5-56D01C7DB85F}"/>
              </a:ext>
            </a:extLst>
          </p:cNvPr>
          <p:cNvSpPr/>
          <p:nvPr/>
        </p:nvSpPr>
        <p:spPr>
          <a:xfrm>
            <a:off x="7950199" y="3623739"/>
            <a:ext cx="1134533" cy="46566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L" dirty="0"/>
              <a:t>Input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FD7DBEC-8DCC-B445-BA8A-08C4D9AE8B69}"/>
              </a:ext>
            </a:extLst>
          </p:cNvPr>
          <p:cNvCxnSpPr/>
          <p:nvPr/>
        </p:nvCxnSpPr>
        <p:spPr>
          <a:xfrm>
            <a:off x="3344333" y="4089406"/>
            <a:ext cx="0" cy="4402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Oval 11">
            <a:extLst>
              <a:ext uri="{FF2B5EF4-FFF2-40B4-BE49-F238E27FC236}">
                <a16:creationId xmlns:a16="http://schemas.microsoft.com/office/drawing/2014/main" id="{4C502997-222F-EC4F-8345-8BFABC85A89E}"/>
              </a:ext>
            </a:extLst>
          </p:cNvPr>
          <p:cNvSpPr/>
          <p:nvPr/>
        </p:nvSpPr>
        <p:spPr>
          <a:xfrm>
            <a:off x="2891368" y="4529675"/>
            <a:ext cx="905929" cy="770466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L" dirty="0"/>
              <a:t>Map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E1398C68-0BE3-C541-B49C-AB26A5F1BA29}"/>
              </a:ext>
            </a:extLst>
          </p:cNvPr>
          <p:cNvCxnSpPr/>
          <p:nvPr/>
        </p:nvCxnSpPr>
        <p:spPr>
          <a:xfrm>
            <a:off x="4580466" y="4089406"/>
            <a:ext cx="0" cy="4402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4A85AFA8-2BD4-2C43-B0A8-FF3D11B9AAB1}"/>
              </a:ext>
            </a:extLst>
          </p:cNvPr>
          <p:cNvSpPr/>
          <p:nvPr/>
        </p:nvSpPr>
        <p:spPr>
          <a:xfrm>
            <a:off x="4127501" y="4529675"/>
            <a:ext cx="905929" cy="770466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L" dirty="0"/>
              <a:t>Map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AB82AAC2-459F-594D-8047-9B31C2DAA613}"/>
              </a:ext>
            </a:extLst>
          </p:cNvPr>
          <p:cNvCxnSpPr/>
          <p:nvPr/>
        </p:nvCxnSpPr>
        <p:spPr>
          <a:xfrm>
            <a:off x="5837768" y="4089406"/>
            <a:ext cx="0" cy="4402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D4D8879A-972D-6240-BCB9-E4894468C637}"/>
              </a:ext>
            </a:extLst>
          </p:cNvPr>
          <p:cNvSpPr/>
          <p:nvPr/>
        </p:nvSpPr>
        <p:spPr>
          <a:xfrm>
            <a:off x="5384803" y="4529675"/>
            <a:ext cx="905929" cy="770466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L" dirty="0"/>
              <a:t>Map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0401179-7AEC-8141-8D23-60F060DA6DC8}"/>
              </a:ext>
            </a:extLst>
          </p:cNvPr>
          <p:cNvCxnSpPr/>
          <p:nvPr/>
        </p:nvCxnSpPr>
        <p:spPr>
          <a:xfrm>
            <a:off x="7215716" y="4089406"/>
            <a:ext cx="0" cy="4402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A5EA08D9-672F-9F47-B02D-DA93ECE026FD}"/>
              </a:ext>
            </a:extLst>
          </p:cNvPr>
          <p:cNvSpPr/>
          <p:nvPr/>
        </p:nvSpPr>
        <p:spPr>
          <a:xfrm>
            <a:off x="6762751" y="4529675"/>
            <a:ext cx="905929" cy="770466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L" dirty="0"/>
              <a:t>Map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4830161A-BD35-2940-8069-582A45ACC441}"/>
              </a:ext>
            </a:extLst>
          </p:cNvPr>
          <p:cNvCxnSpPr/>
          <p:nvPr/>
        </p:nvCxnSpPr>
        <p:spPr>
          <a:xfrm>
            <a:off x="8572492" y="4089406"/>
            <a:ext cx="0" cy="4402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636C9BC6-EEBF-484F-B51A-0E92639A43C1}"/>
              </a:ext>
            </a:extLst>
          </p:cNvPr>
          <p:cNvSpPr/>
          <p:nvPr/>
        </p:nvSpPr>
        <p:spPr>
          <a:xfrm>
            <a:off x="8119527" y="4529675"/>
            <a:ext cx="905929" cy="770466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L" dirty="0"/>
              <a:t>Map</a:t>
            </a:r>
          </a:p>
        </p:txBody>
      </p:sp>
    </p:spTree>
    <p:extLst>
      <p:ext uri="{BB962C8B-B14F-4D97-AF65-F5344CB8AC3E}">
        <p14:creationId xmlns:p14="http://schemas.microsoft.com/office/powerpoint/2010/main" val="21690523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1924E95-B662-476B-8747-32147EFC68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7933" y="136525"/>
            <a:ext cx="11616266" cy="6485754"/>
          </a:xfrm>
        </p:spPr>
        <p:txBody>
          <a:bodyPr>
            <a:normAutofit/>
          </a:bodyPr>
          <a:lstStyle/>
          <a:p>
            <a:pPr algn="ctr">
              <a:lnSpc>
                <a:spcPct val="150000"/>
              </a:lnSpc>
            </a:pPr>
            <a:r>
              <a:rPr lang="en-US" sz="3000" b="1" dirty="0"/>
              <a:t>MapReduce Architecture</a:t>
            </a:r>
          </a:p>
          <a:p>
            <a:r>
              <a:rPr lang="en-US" sz="2400" b="1" dirty="0"/>
              <a:t>Intermediate Keys</a:t>
            </a:r>
            <a:r>
              <a:rPr lang="en-US" sz="2400" dirty="0"/>
              <a:t> − They key-value pairs generated by the mapper are known as intermediate keys.</a:t>
            </a:r>
          </a:p>
          <a:p>
            <a:r>
              <a:rPr lang="en-US" sz="2400" b="1" dirty="0"/>
              <a:t>Combiner (Optional)</a:t>
            </a:r>
            <a:r>
              <a:rPr lang="en-US" sz="2400" dirty="0"/>
              <a:t> − A combiner is a type of local Reducer that groups similar data from the map phase into identifiable sets. </a:t>
            </a:r>
          </a:p>
          <a:p>
            <a:br>
              <a:rPr lang="en-US" sz="2400" dirty="0"/>
            </a:b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6ACA64-1602-4D57-9A3D-3E1EFB449B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D69B18-316A-457F-86C2-CFE4F951EE27}" type="slidenum">
              <a:rPr lang="en-IL" smtClean="0"/>
              <a:pPr/>
              <a:t>11</a:t>
            </a:fld>
            <a:endParaRPr lang="en-IL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DF2A5E-FADA-2843-B7A0-3CD8A067E5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  <a:endParaRPr lang="en-IL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CDD13228-D798-A543-9CF3-83A10A6F83A8}"/>
              </a:ext>
            </a:extLst>
          </p:cNvPr>
          <p:cNvSpPr/>
          <p:nvPr/>
        </p:nvSpPr>
        <p:spPr>
          <a:xfrm>
            <a:off x="2777067" y="2768607"/>
            <a:ext cx="1134533" cy="46566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L" dirty="0"/>
              <a:t>Input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264630C5-F7F6-644E-A3A3-6C5BE2751DA9}"/>
              </a:ext>
            </a:extLst>
          </p:cNvPr>
          <p:cNvSpPr/>
          <p:nvPr/>
        </p:nvSpPr>
        <p:spPr>
          <a:xfrm>
            <a:off x="4038600" y="2768606"/>
            <a:ext cx="1134533" cy="46566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L" dirty="0"/>
              <a:t>Input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9ABFA56E-6EF8-8046-B5E4-CA1FB2E395A6}"/>
              </a:ext>
            </a:extLst>
          </p:cNvPr>
          <p:cNvSpPr/>
          <p:nvPr/>
        </p:nvSpPr>
        <p:spPr>
          <a:xfrm>
            <a:off x="5300133" y="2768605"/>
            <a:ext cx="1134533" cy="46566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L" dirty="0"/>
              <a:t>Input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5A37C5B1-41B1-814D-9968-562351759BC4}"/>
              </a:ext>
            </a:extLst>
          </p:cNvPr>
          <p:cNvSpPr/>
          <p:nvPr/>
        </p:nvSpPr>
        <p:spPr>
          <a:xfrm>
            <a:off x="6595533" y="2768605"/>
            <a:ext cx="1134533" cy="46566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L" dirty="0"/>
              <a:t>Input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F83D2799-5FAD-704B-ADB5-56D01C7DB85F}"/>
              </a:ext>
            </a:extLst>
          </p:cNvPr>
          <p:cNvSpPr/>
          <p:nvPr/>
        </p:nvSpPr>
        <p:spPr>
          <a:xfrm>
            <a:off x="7950199" y="2768605"/>
            <a:ext cx="1134533" cy="46566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L" dirty="0"/>
              <a:t>Input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FD7DBEC-8DCC-B445-BA8A-08C4D9AE8B69}"/>
              </a:ext>
            </a:extLst>
          </p:cNvPr>
          <p:cNvCxnSpPr/>
          <p:nvPr/>
        </p:nvCxnSpPr>
        <p:spPr>
          <a:xfrm>
            <a:off x="3344333" y="3234272"/>
            <a:ext cx="0" cy="4402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Oval 11">
            <a:extLst>
              <a:ext uri="{FF2B5EF4-FFF2-40B4-BE49-F238E27FC236}">
                <a16:creationId xmlns:a16="http://schemas.microsoft.com/office/drawing/2014/main" id="{4C502997-222F-EC4F-8345-8BFABC85A89E}"/>
              </a:ext>
            </a:extLst>
          </p:cNvPr>
          <p:cNvSpPr/>
          <p:nvPr/>
        </p:nvSpPr>
        <p:spPr>
          <a:xfrm>
            <a:off x="2891368" y="3674541"/>
            <a:ext cx="905929" cy="770466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L" dirty="0"/>
              <a:t>Map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E1398C68-0BE3-C541-B49C-AB26A5F1BA29}"/>
              </a:ext>
            </a:extLst>
          </p:cNvPr>
          <p:cNvCxnSpPr/>
          <p:nvPr/>
        </p:nvCxnSpPr>
        <p:spPr>
          <a:xfrm>
            <a:off x="4580466" y="3234272"/>
            <a:ext cx="0" cy="4402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4A85AFA8-2BD4-2C43-B0A8-FF3D11B9AAB1}"/>
              </a:ext>
            </a:extLst>
          </p:cNvPr>
          <p:cNvSpPr/>
          <p:nvPr/>
        </p:nvSpPr>
        <p:spPr>
          <a:xfrm>
            <a:off x="4127501" y="3674541"/>
            <a:ext cx="905929" cy="770466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L" dirty="0"/>
              <a:t>Map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AB82AAC2-459F-594D-8047-9B31C2DAA613}"/>
              </a:ext>
            </a:extLst>
          </p:cNvPr>
          <p:cNvCxnSpPr/>
          <p:nvPr/>
        </p:nvCxnSpPr>
        <p:spPr>
          <a:xfrm>
            <a:off x="5837768" y="3234272"/>
            <a:ext cx="0" cy="4402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D4D8879A-972D-6240-BCB9-E4894468C637}"/>
              </a:ext>
            </a:extLst>
          </p:cNvPr>
          <p:cNvSpPr/>
          <p:nvPr/>
        </p:nvSpPr>
        <p:spPr>
          <a:xfrm>
            <a:off x="5384803" y="3674541"/>
            <a:ext cx="905929" cy="770466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L" dirty="0"/>
              <a:t>Map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0401179-7AEC-8141-8D23-60F060DA6DC8}"/>
              </a:ext>
            </a:extLst>
          </p:cNvPr>
          <p:cNvCxnSpPr/>
          <p:nvPr/>
        </p:nvCxnSpPr>
        <p:spPr>
          <a:xfrm>
            <a:off x="7215716" y="3234272"/>
            <a:ext cx="0" cy="4402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A5EA08D9-672F-9F47-B02D-DA93ECE026FD}"/>
              </a:ext>
            </a:extLst>
          </p:cNvPr>
          <p:cNvSpPr/>
          <p:nvPr/>
        </p:nvSpPr>
        <p:spPr>
          <a:xfrm>
            <a:off x="6762751" y="3674541"/>
            <a:ext cx="905929" cy="770466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L" dirty="0"/>
              <a:t>Map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4830161A-BD35-2940-8069-582A45ACC441}"/>
              </a:ext>
            </a:extLst>
          </p:cNvPr>
          <p:cNvCxnSpPr/>
          <p:nvPr/>
        </p:nvCxnSpPr>
        <p:spPr>
          <a:xfrm>
            <a:off x="8572492" y="3234272"/>
            <a:ext cx="0" cy="4402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636C9BC6-EEBF-484F-B51A-0E92639A43C1}"/>
              </a:ext>
            </a:extLst>
          </p:cNvPr>
          <p:cNvSpPr/>
          <p:nvPr/>
        </p:nvSpPr>
        <p:spPr>
          <a:xfrm>
            <a:off x="8119527" y="3674541"/>
            <a:ext cx="905929" cy="770466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L" dirty="0"/>
              <a:t>Map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AC7F85E8-A6CE-C94D-BFCE-0D6F20AAA8D7}"/>
              </a:ext>
            </a:extLst>
          </p:cNvPr>
          <p:cNvCxnSpPr/>
          <p:nvPr/>
        </p:nvCxnSpPr>
        <p:spPr>
          <a:xfrm>
            <a:off x="3327399" y="4445005"/>
            <a:ext cx="0" cy="4402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1CCD4676-410F-C649-96DD-0DF2A87D3742}"/>
              </a:ext>
            </a:extLst>
          </p:cNvPr>
          <p:cNvSpPr/>
          <p:nvPr/>
        </p:nvSpPr>
        <p:spPr>
          <a:xfrm>
            <a:off x="2874434" y="4902877"/>
            <a:ext cx="889000" cy="364067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L" dirty="0"/>
              <a:t>Keys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F8D036E-875B-C84C-A4AE-E018165D85AF}"/>
              </a:ext>
            </a:extLst>
          </p:cNvPr>
          <p:cNvCxnSpPr/>
          <p:nvPr/>
        </p:nvCxnSpPr>
        <p:spPr>
          <a:xfrm>
            <a:off x="4563532" y="4445005"/>
            <a:ext cx="0" cy="4402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E968847B-A061-8140-9D1D-0F49735F68A0}"/>
              </a:ext>
            </a:extLst>
          </p:cNvPr>
          <p:cNvSpPr/>
          <p:nvPr/>
        </p:nvSpPr>
        <p:spPr>
          <a:xfrm>
            <a:off x="4110567" y="4902877"/>
            <a:ext cx="889000" cy="364067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L" dirty="0"/>
              <a:t>Keys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12564B4F-CA91-2546-AB5B-81BD6F0B5DC9}"/>
              </a:ext>
            </a:extLst>
          </p:cNvPr>
          <p:cNvCxnSpPr/>
          <p:nvPr/>
        </p:nvCxnSpPr>
        <p:spPr>
          <a:xfrm>
            <a:off x="5799664" y="4445005"/>
            <a:ext cx="0" cy="4402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ctangle 25">
            <a:extLst>
              <a:ext uri="{FF2B5EF4-FFF2-40B4-BE49-F238E27FC236}">
                <a16:creationId xmlns:a16="http://schemas.microsoft.com/office/drawing/2014/main" id="{41C800D7-F785-0E41-956D-8D3AFD0A562E}"/>
              </a:ext>
            </a:extLst>
          </p:cNvPr>
          <p:cNvSpPr/>
          <p:nvPr/>
        </p:nvSpPr>
        <p:spPr>
          <a:xfrm>
            <a:off x="5346699" y="4902877"/>
            <a:ext cx="889000" cy="364067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L" dirty="0"/>
              <a:t>Keys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6C6C4D4-CDDE-844C-B550-C9D3BF0B7210}"/>
              </a:ext>
            </a:extLst>
          </p:cNvPr>
          <p:cNvCxnSpPr/>
          <p:nvPr/>
        </p:nvCxnSpPr>
        <p:spPr>
          <a:xfrm>
            <a:off x="7207247" y="4445679"/>
            <a:ext cx="0" cy="4402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73A82C8F-0A6B-4D41-8EFD-2B8573524BD7}"/>
              </a:ext>
            </a:extLst>
          </p:cNvPr>
          <p:cNvSpPr/>
          <p:nvPr/>
        </p:nvSpPr>
        <p:spPr>
          <a:xfrm>
            <a:off x="6754282" y="4903551"/>
            <a:ext cx="889000" cy="364067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L" dirty="0"/>
              <a:t>Keys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3C1EC9CF-CD06-5048-ABF6-ABC105A2B3D0}"/>
              </a:ext>
            </a:extLst>
          </p:cNvPr>
          <p:cNvCxnSpPr/>
          <p:nvPr/>
        </p:nvCxnSpPr>
        <p:spPr>
          <a:xfrm>
            <a:off x="8564023" y="4459535"/>
            <a:ext cx="0" cy="4402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71383F9A-7B75-5A43-AA28-6FA3234F851B}"/>
              </a:ext>
            </a:extLst>
          </p:cNvPr>
          <p:cNvSpPr/>
          <p:nvPr/>
        </p:nvSpPr>
        <p:spPr>
          <a:xfrm>
            <a:off x="8111058" y="4917407"/>
            <a:ext cx="889000" cy="364067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L" dirty="0"/>
              <a:t>Keys</a:t>
            </a:r>
          </a:p>
        </p:txBody>
      </p:sp>
      <p:sp>
        <p:nvSpPr>
          <p:cNvPr id="31" name="Alternate Process 30">
            <a:extLst>
              <a:ext uri="{FF2B5EF4-FFF2-40B4-BE49-F238E27FC236}">
                <a16:creationId xmlns:a16="http://schemas.microsoft.com/office/drawing/2014/main" id="{D370CA9E-5551-BC41-A8BA-82786E61C0A3}"/>
              </a:ext>
            </a:extLst>
          </p:cNvPr>
          <p:cNvSpPr/>
          <p:nvPr/>
        </p:nvSpPr>
        <p:spPr>
          <a:xfrm>
            <a:off x="4656664" y="5612013"/>
            <a:ext cx="2489201" cy="508000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L" dirty="0"/>
              <a:t>Combiner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6C510A89-800B-BE48-8C5D-DCD01A23781B}"/>
              </a:ext>
            </a:extLst>
          </p:cNvPr>
          <p:cNvCxnSpPr>
            <a:cxnSpLocks/>
          </p:cNvCxnSpPr>
          <p:nvPr/>
        </p:nvCxnSpPr>
        <p:spPr>
          <a:xfrm>
            <a:off x="3327398" y="5266944"/>
            <a:ext cx="1689098" cy="3450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0EFE7A30-DBB4-C549-9D0E-F790FD3E68CD}"/>
              </a:ext>
            </a:extLst>
          </p:cNvPr>
          <p:cNvCxnSpPr>
            <a:cxnSpLocks/>
            <a:stCxn id="24" idx="2"/>
          </p:cNvCxnSpPr>
          <p:nvPr/>
        </p:nvCxnSpPr>
        <p:spPr>
          <a:xfrm>
            <a:off x="4555067" y="5266944"/>
            <a:ext cx="808561" cy="3443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EF6F4986-B1E1-B645-B0C3-B8A26FF4BA13}"/>
              </a:ext>
            </a:extLst>
          </p:cNvPr>
          <p:cNvCxnSpPr>
            <a:cxnSpLocks/>
          </p:cNvCxnSpPr>
          <p:nvPr/>
        </p:nvCxnSpPr>
        <p:spPr>
          <a:xfrm flipH="1">
            <a:off x="5761570" y="5250809"/>
            <a:ext cx="4230" cy="40493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D8FF7819-8E2F-9540-ABFE-213969E9EF71}"/>
              </a:ext>
            </a:extLst>
          </p:cNvPr>
          <p:cNvCxnSpPr>
            <a:cxnSpLocks/>
            <a:stCxn id="28" idx="2"/>
            <a:endCxn id="31" idx="0"/>
          </p:cNvCxnSpPr>
          <p:nvPr/>
        </p:nvCxnSpPr>
        <p:spPr>
          <a:xfrm flipH="1">
            <a:off x="5901265" y="5267618"/>
            <a:ext cx="1297517" cy="3443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4439728-FBA7-1E46-83A5-9B39669E3F01}"/>
              </a:ext>
            </a:extLst>
          </p:cNvPr>
          <p:cNvCxnSpPr>
            <a:cxnSpLocks/>
            <a:stCxn id="30" idx="2"/>
          </p:cNvCxnSpPr>
          <p:nvPr/>
        </p:nvCxnSpPr>
        <p:spPr>
          <a:xfrm flipH="1">
            <a:off x="6468534" y="5281474"/>
            <a:ext cx="2087024" cy="32986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489230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1924E95-B662-476B-8747-32147EFC68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47739" y="24386"/>
            <a:ext cx="9163052" cy="5734344"/>
          </a:xfrm>
        </p:spPr>
        <p:txBody>
          <a:bodyPr>
            <a:normAutofit/>
          </a:bodyPr>
          <a:lstStyle/>
          <a:p>
            <a:pPr algn="ctr">
              <a:lnSpc>
                <a:spcPct val="170000"/>
              </a:lnSpc>
            </a:pPr>
            <a:r>
              <a:rPr lang="en-US" sz="3200" b="1" dirty="0"/>
              <a:t>MapReduce Architecture - Sorting</a:t>
            </a:r>
          </a:p>
          <a:p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6ACA64-1602-4D57-9A3D-3E1EFB449B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D69B18-316A-457F-86C2-CFE4F951EE27}" type="slidenum">
              <a:rPr lang="en-IL" smtClean="0"/>
              <a:pPr/>
              <a:t>12</a:t>
            </a:fld>
            <a:endParaRPr lang="en-IL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DF2A5E-FADA-2843-B7A0-3CD8A067E5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3267" y="6356350"/>
            <a:ext cx="4114800" cy="365125"/>
          </a:xfrm>
        </p:spPr>
        <p:txBody>
          <a:bodyPr/>
          <a:lstStyle/>
          <a:p>
            <a:r>
              <a:rPr lang="en-US"/>
              <a:t>Or Peretz</a:t>
            </a:r>
            <a:endParaRPr lang="en-IL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CDD13228-D798-A543-9CF3-83A10A6F83A8}"/>
              </a:ext>
            </a:extLst>
          </p:cNvPr>
          <p:cNvSpPr/>
          <p:nvPr/>
        </p:nvSpPr>
        <p:spPr>
          <a:xfrm>
            <a:off x="3044762" y="1193807"/>
            <a:ext cx="1134533" cy="46566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L" dirty="0"/>
              <a:t>Input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264630C5-F7F6-644E-A3A3-6C5BE2751DA9}"/>
              </a:ext>
            </a:extLst>
          </p:cNvPr>
          <p:cNvSpPr/>
          <p:nvPr/>
        </p:nvSpPr>
        <p:spPr>
          <a:xfrm>
            <a:off x="4306295" y="1193806"/>
            <a:ext cx="1134533" cy="46566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L" dirty="0"/>
              <a:t>Input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9ABFA56E-6EF8-8046-B5E4-CA1FB2E395A6}"/>
              </a:ext>
            </a:extLst>
          </p:cNvPr>
          <p:cNvSpPr/>
          <p:nvPr/>
        </p:nvSpPr>
        <p:spPr>
          <a:xfrm>
            <a:off x="5567828" y="1193805"/>
            <a:ext cx="1134533" cy="46566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L" dirty="0"/>
              <a:t>Input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5A37C5B1-41B1-814D-9968-562351759BC4}"/>
              </a:ext>
            </a:extLst>
          </p:cNvPr>
          <p:cNvSpPr/>
          <p:nvPr/>
        </p:nvSpPr>
        <p:spPr>
          <a:xfrm>
            <a:off x="6863228" y="1193805"/>
            <a:ext cx="1134533" cy="46566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L" dirty="0"/>
              <a:t>Input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F83D2799-5FAD-704B-ADB5-56D01C7DB85F}"/>
              </a:ext>
            </a:extLst>
          </p:cNvPr>
          <p:cNvSpPr/>
          <p:nvPr/>
        </p:nvSpPr>
        <p:spPr>
          <a:xfrm>
            <a:off x="8217894" y="1193805"/>
            <a:ext cx="1134533" cy="46566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L" dirty="0"/>
              <a:t>Input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FD7DBEC-8DCC-B445-BA8A-08C4D9AE8B69}"/>
              </a:ext>
            </a:extLst>
          </p:cNvPr>
          <p:cNvCxnSpPr/>
          <p:nvPr/>
        </p:nvCxnSpPr>
        <p:spPr>
          <a:xfrm>
            <a:off x="3612028" y="1659472"/>
            <a:ext cx="0" cy="4402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Oval 11">
            <a:extLst>
              <a:ext uri="{FF2B5EF4-FFF2-40B4-BE49-F238E27FC236}">
                <a16:creationId xmlns:a16="http://schemas.microsoft.com/office/drawing/2014/main" id="{4C502997-222F-EC4F-8345-8BFABC85A89E}"/>
              </a:ext>
            </a:extLst>
          </p:cNvPr>
          <p:cNvSpPr/>
          <p:nvPr/>
        </p:nvSpPr>
        <p:spPr>
          <a:xfrm>
            <a:off x="3159063" y="2099741"/>
            <a:ext cx="905929" cy="770466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L" dirty="0"/>
              <a:t>Map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E1398C68-0BE3-C541-B49C-AB26A5F1BA29}"/>
              </a:ext>
            </a:extLst>
          </p:cNvPr>
          <p:cNvCxnSpPr/>
          <p:nvPr/>
        </p:nvCxnSpPr>
        <p:spPr>
          <a:xfrm>
            <a:off x="4848161" y="1659472"/>
            <a:ext cx="0" cy="4402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4A85AFA8-2BD4-2C43-B0A8-FF3D11B9AAB1}"/>
              </a:ext>
            </a:extLst>
          </p:cNvPr>
          <p:cNvSpPr/>
          <p:nvPr/>
        </p:nvSpPr>
        <p:spPr>
          <a:xfrm>
            <a:off x="4395196" y="2099741"/>
            <a:ext cx="905929" cy="770466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L" dirty="0"/>
              <a:t>Map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AB82AAC2-459F-594D-8047-9B31C2DAA613}"/>
              </a:ext>
            </a:extLst>
          </p:cNvPr>
          <p:cNvCxnSpPr/>
          <p:nvPr/>
        </p:nvCxnSpPr>
        <p:spPr>
          <a:xfrm>
            <a:off x="6105463" y="1659472"/>
            <a:ext cx="0" cy="4402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D4D8879A-972D-6240-BCB9-E4894468C637}"/>
              </a:ext>
            </a:extLst>
          </p:cNvPr>
          <p:cNvSpPr/>
          <p:nvPr/>
        </p:nvSpPr>
        <p:spPr>
          <a:xfrm>
            <a:off x="5652498" y="2099741"/>
            <a:ext cx="905929" cy="770466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L" dirty="0"/>
              <a:t>Map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0401179-7AEC-8141-8D23-60F060DA6DC8}"/>
              </a:ext>
            </a:extLst>
          </p:cNvPr>
          <p:cNvCxnSpPr/>
          <p:nvPr/>
        </p:nvCxnSpPr>
        <p:spPr>
          <a:xfrm>
            <a:off x="7483411" y="1659472"/>
            <a:ext cx="0" cy="4402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A5EA08D9-672F-9F47-B02D-DA93ECE026FD}"/>
              </a:ext>
            </a:extLst>
          </p:cNvPr>
          <p:cNvSpPr/>
          <p:nvPr/>
        </p:nvSpPr>
        <p:spPr>
          <a:xfrm>
            <a:off x="7030446" y="2099741"/>
            <a:ext cx="905929" cy="770466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L" dirty="0"/>
              <a:t>Map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4830161A-BD35-2940-8069-582A45ACC441}"/>
              </a:ext>
            </a:extLst>
          </p:cNvPr>
          <p:cNvCxnSpPr/>
          <p:nvPr/>
        </p:nvCxnSpPr>
        <p:spPr>
          <a:xfrm>
            <a:off x="8840187" y="1659472"/>
            <a:ext cx="0" cy="4402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636C9BC6-EEBF-484F-B51A-0E92639A43C1}"/>
              </a:ext>
            </a:extLst>
          </p:cNvPr>
          <p:cNvSpPr/>
          <p:nvPr/>
        </p:nvSpPr>
        <p:spPr>
          <a:xfrm>
            <a:off x="8387222" y="2099741"/>
            <a:ext cx="905929" cy="770466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L" dirty="0"/>
              <a:t>Map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AC7F85E8-A6CE-C94D-BFCE-0D6F20AAA8D7}"/>
              </a:ext>
            </a:extLst>
          </p:cNvPr>
          <p:cNvCxnSpPr/>
          <p:nvPr/>
        </p:nvCxnSpPr>
        <p:spPr>
          <a:xfrm>
            <a:off x="3595094" y="2870205"/>
            <a:ext cx="0" cy="4402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1CCD4676-410F-C649-96DD-0DF2A87D3742}"/>
              </a:ext>
            </a:extLst>
          </p:cNvPr>
          <p:cNvSpPr/>
          <p:nvPr/>
        </p:nvSpPr>
        <p:spPr>
          <a:xfrm>
            <a:off x="3142129" y="3328077"/>
            <a:ext cx="889000" cy="364067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L" dirty="0"/>
              <a:t>Keys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F8D036E-875B-C84C-A4AE-E018165D85AF}"/>
              </a:ext>
            </a:extLst>
          </p:cNvPr>
          <p:cNvCxnSpPr/>
          <p:nvPr/>
        </p:nvCxnSpPr>
        <p:spPr>
          <a:xfrm>
            <a:off x="4831227" y="2870205"/>
            <a:ext cx="0" cy="4402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E968847B-A061-8140-9D1D-0F49735F68A0}"/>
              </a:ext>
            </a:extLst>
          </p:cNvPr>
          <p:cNvSpPr/>
          <p:nvPr/>
        </p:nvSpPr>
        <p:spPr>
          <a:xfrm>
            <a:off x="4378262" y="3328077"/>
            <a:ext cx="889000" cy="364067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L" dirty="0"/>
              <a:t>Keys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12564B4F-CA91-2546-AB5B-81BD6F0B5DC9}"/>
              </a:ext>
            </a:extLst>
          </p:cNvPr>
          <p:cNvCxnSpPr/>
          <p:nvPr/>
        </p:nvCxnSpPr>
        <p:spPr>
          <a:xfrm>
            <a:off x="6067359" y="2870205"/>
            <a:ext cx="0" cy="4402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ctangle 25">
            <a:extLst>
              <a:ext uri="{FF2B5EF4-FFF2-40B4-BE49-F238E27FC236}">
                <a16:creationId xmlns:a16="http://schemas.microsoft.com/office/drawing/2014/main" id="{41C800D7-F785-0E41-956D-8D3AFD0A562E}"/>
              </a:ext>
            </a:extLst>
          </p:cNvPr>
          <p:cNvSpPr/>
          <p:nvPr/>
        </p:nvSpPr>
        <p:spPr>
          <a:xfrm>
            <a:off x="5614394" y="3328077"/>
            <a:ext cx="889000" cy="364067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L" dirty="0"/>
              <a:t>Keys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6C6C4D4-CDDE-844C-B550-C9D3BF0B7210}"/>
              </a:ext>
            </a:extLst>
          </p:cNvPr>
          <p:cNvCxnSpPr/>
          <p:nvPr/>
        </p:nvCxnSpPr>
        <p:spPr>
          <a:xfrm>
            <a:off x="7474942" y="2870879"/>
            <a:ext cx="0" cy="4402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73A82C8F-0A6B-4D41-8EFD-2B8573524BD7}"/>
              </a:ext>
            </a:extLst>
          </p:cNvPr>
          <p:cNvSpPr/>
          <p:nvPr/>
        </p:nvSpPr>
        <p:spPr>
          <a:xfrm>
            <a:off x="7021977" y="3328751"/>
            <a:ext cx="889000" cy="364067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L" dirty="0"/>
              <a:t>Keys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3C1EC9CF-CD06-5048-ABF6-ABC105A2B3D0}"/>
              </a:ext>
            </a:extLst>
          </p:cNvPr>
          <p:cNvCxnSpPr/>
          <p:nvPr/>
        </p:nvCxnSpPr>
        <p:spPr>
          <a:xfrm>
            <a:off x="8831718" y="2884735"/>
            <a:ext cx="0" cy="4402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71383F9A-7B75-5A43-AA28-6FA3234F851B}"/>
              </a:ext>
            </a:extLst>
          </p:cNvPr>
          <p:cNvSpPr/>
          <p:nvPr/>
        </p:nvSpPr>
        <p:spPr>
          <a:xfrm>
            <a:off x="8378753" y="3342607"/>
            <a:ext cx="889000" cy="364067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L" dirty="0"/>
              <a:t>Keys</a:t>
            </a:r>
          </a:p>
        </p:txBody>
      </p:sp>
      <p:sp>
        <p:nvSpPr>
          <p:cNvPr id="31" name="Alternate Process 30">
            <a:extLst>
              <a:ext uri="{FF2B5EF4-FFF2-40B4-BE49-F238E27FC236}">
                <a16:creationId xmlns:a16="http://schemas.microsoft.com/office/drawing/2014/main" id="{D370CA9E-5551-BC41-A8BA-82786E61C0A3}"/>
              </a:ext>
            </a:extLst>
          </p:cNvPr>
          <p:cNvSpPr/>
          <p:nvPr/>
        </p:nvSpPr>
        <p:spPr>
          <a:xfrm>
            <a:off x="4924359" y="4037213"/>
            <a:ext cx="2489201" cy="508000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L" dirty="0"/>
              <a:t>Combiner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6C510A89-800B-BE48-8C5D-DCD01A23781B}"/>
              </a:ext>
            </a:extLst>
          </p:cNvPr>
          <p:cNvCxnSpPr>
            <a:cxnSpLocks/>
          </p:cNvCxnSpPr>
          <p:nvPr/>
        </p:nvCxnSpPr>
        <p:spPr>
          <a:xfrm>
            <a:off x="3595093" y="3692144"/>
            <a:ext cx="1689098" cy="3450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0EFE7A30-DBB4-C549-9D0E-F790FD3E68CD}"/>
              </a:ext>
            </a:extLst>
          </p:cNvPr>
          <p:cNvCxnSpPr>
            <a:cxnSpLocks/>
            <a:stCxn id="24" idx="2"/>
          </p:cNvCxnSpPr>
          <p:nvPr/>
        </p:nvCxnSpPr>
        <p:spPr>
          <a:xfrm>
            <a:off x="4822762" y="3692144"/>
            <a:ext cx="808561" cy="3443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EF6F4986-B1E1-B645-B0C3-B8A26FF4BA13}"/>
              </a:ext>
            </a:extLst>
          </p:cNvPr>
          <p:cNvCxnSpPr>
            <a:cxnSpLocks/>
          </p:cNvCxnSpPr>
          <p:nvPr/>
        </p:nvCxnSpPr>
        <p:spPr>
          <a:xfrm flipH="1">
            <a:off x="6029265" y="3676009"/>
            <a:ext cx="4230" cy="40493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D8FF7819-8E2F-9540-ABFE-213969E9EF71}"/>
              </a:ext>
            </a:extLst>
          </p:cNvPr>
          <p:cNvCxnSpPr>
            <a:cxnSpLocks/>
            <a:stCxn id="28" idx="2"/>
            <a:endCxn id="31" idx="0"/>
          </p:cNvCxnSpPr>
          <p:nvPr/>
        </p:nvCxnSpPr>
        <p:spPr>
          <a:xfrm flipH="1">
            <a:off x="6168960" y="3692818"/>
            <a:ext cx="1297517" cy="3443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4439728-FBA7-1E46-83A5-9B39669E3F01}"/>
              </a:ext>
            </a:extLst>
          </p:cNvPr>
          <p:cNvCxnSpPr>
            <a:cxnSpLocks/>
            <a:stCxn id="30" idx="2"/>
          </p:cNvCxnSpPr>
          <p:nvPr/>
        </p:nvCxnSpPr>
        <p:spPr>
          <a:xfrm flipH="1">
            <a:off x="6736229" y="3706674"/>
            <a:ext cx="2087024" cy="32986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F517BBBE-20C1-A34F-A223-D91847F58EA3}"/>
              </a:ext>
            </a:extLst>
          </p:cNvPr>
          <p:cNvSpPr/>
          <p:nvPr/>
        </p:nvSpPr>
        <p:spPr>
          <a:xfrm>
            <a:off x="3904132" y="4797043"/>
            <a:ext cx="889000" cy="364067"/>
          </a:xfrm>
          <a:prstGeom prst="rect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L" dirty="0"/>
              <a:t>S/S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7AA83EA7-20F7-BD4B-A915-BB4D7CE0FDB1}"/>
              </a:ext>
            </a:extLst>
          </p:cNvPr>
          <p:cNvSpPr/>
          <p:nvPr/>
        </p:nvSpPr>
        <p:spPr>
          <a:xfrm>
            <a:off x="5140265" y="4797043"/>
            <a:ext cx="889000" cy="364067"/>
          </a:xfrm>
          <a:prstGeom prst="rect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L" dirty="0"/>
              <a:t>S/S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92D336FC-F1D1-D94C-BE04-4C00044D349F}"/>
              </a:ext>
            </a:extLst>
          </p:cNvPr>
          <p:cNvSpPr/>
          <p:nvPr/>
        </p:nvSpPr>
        <p:spPr>
          <a:xfrm>
            <a:off x="6376397" y="4797043"/>
            <a:ext cx="889000" cy="364067"/>
          </a:xfrm>
          <a:prstGeom prst="rect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L" dirty="0"/>
              <a:t>S/S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C11AAD5D-9725-9D48-805F-795C839CCAF8}"/>
              </a:ext>
            </a:extLst>
          </p:cNvPr>
          <p:cNvSpPr/>
          <p:nvPr/>
        </p:nvSpPr>
        <p:spPr>
          <a:xfrm>
            <a:off x="7783980" y="4797717"/>
            <a:ext cx="889000" cy="364067"/>
          </a:xfrm>
          <a:prstGeom prst="rect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L" dirty="0"/>
              <a:t>S/S</a:t>
            </a:r>
          </a:p>
        </p:txBody>
      </p:sp>
    </p:spTree>
    <p:extLst>
      <p:ext uri="{BB962C8B-B14F-4D97-AF65-F5344CB8AC3E}">
        <p14:creationId xmlns:p14="http://schemas.microsoft.com/office/powerpoint/2010/main" val="3462987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1924E95-B662-476B-8747-32147EFC68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8707" y="86260"/>
            <a:ext cx="10611522" cy="5734344"/>
          </a:xfrm>
        </p:spPr>
        <p:txBody>
          <a:bodyPr>
            <a:normAutofit/>
          </a:bodyPr>
          <a:lstStyle/>
          <a:p>
            <a:pPr algn="ctr">
              <a:lnSpc>
                <a:spcPct val="160000"/>
              </a:lnSpc>
            </a:pPr>
            <a:r>
              <a:rPr lang="en-US" sz="3200" b="1" dirty="0"/>
              <a:t>MapReduce Architecture - Reduce</a:t>
            </a:r>
          </a:p>
          <a:p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6ACA64-1602-4D57-9A3D-3E1EFB449B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D69B18-316A-457F-86C2-CFE4F951EE27}" type="slidenum">
              <a:rPr lang="en-IL" smtClean="0"/>
              <a:pPr/>
              <a:t>13</a:t>
            </a:fld>
            <a:endParaRPr lang="en-IL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DF2A5E-FADA-2843-B7A0-3CD8A067E5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3267" y="6356350"/>
            <a:ext cx="4114800" cy="365125"/>
          </a:xfrm>
        </p:spPr>
        <p:txBody>
          <a:bodyPr/>
          <a:lstStyle/>
          <a:p>
            <a:r>
              <a:rPr lang="en-US"/>
              <a:t>Or Peretz</a:t>
            </a:r>
            <a:endParaRPr lang="en-IL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CDD13228-D798-A543-9CF3-83A10A6F83A8}"/>
              </a:ext>
            </a:extLst>
          </p:cNvPr>
          <p:cNvSpPr/>
          <p:nvPr/>
        </p:nvSpPr>
        <p:spPr>
          <a:xfrm>
            <a:off x="2772833" y="987133"/>
            <a:ext cx="1134533" cy="46566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L" dirty="0"/>
              <a:t>Input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264630C5-F7F6-644E-A3A3-6C5BE2751DA9}"/>
              </a:ext>
            </a:extLst>
          </p:cNvPr>
          <p:cNvSpPr/>
          <p:nvPr/>
        </p:nvSpPr>
        <p:spPr>
          <a:xfrm>
            <a:off x="4034366" y="987132"/>
            <a:ext cx="1134533" cy="46566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L" dirty="0"/>
              <a:t>Input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9ABFA56E-6EF8-8046-B5E4-CA1FB2E395A6}"/>
              </a:ext>
            </a:extLst>
          </p:cNvPr>
          <p:cNvSpPr/>
          <p:nvPr/>
        </p:nvSpPr>
        <p:spPr>
          <a:xfrm>
            <a:off x="5295899" y="987131"/>
            <a:ext cx="1134533" cy="46566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L" dirty="0"/>
              <a:t>Input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5A37C5B1-41B1-814D-9968-562351759BC4}"/>
              </a:ext>
            </a:extLst>
          </p:cNvPr>
          <p:cNvSpPr/>
          <p:nvPr/>
        </p:nvSpPr>
        <p:spPr>
          <a:xfrm>
            <a:off x="6591299" y="987131"/>
            <a:ext cx="1134533" cy="46566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L" dirty="0"/>
              <a:t>Input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F83D2799-5FAD-704B-ADB5-56D01C7DB85F}"/>
              </a:ext>
            </a:extLst>
          </p:cNvPr>
          <p:cNvSpPr/>
          <p:nvPr/>
        </p:nvSpPr>
        <p:spPr>
          <a:xfrm>
            <a:off x="7945965" y="987131"/>
            <a:ext cx="1134533" cy="46566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L" dirty="0"/>
              <a:t>Input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FD7DBEC-8DCC-B445-BA8A-08C4D9AE8B69}"/>
              </a:ext>
            </a:extLst>
          </p:cNvPr>
          <p:cNvCxnSpPr/>
          <p:nvPr/>
        </p:nvCxnSpPr>
        <p:spPr>
          <a:xfrm>
            <a:off x="3340099" y="1452798"/>
            <a:ext cx="0" cy="4402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Oval 11">
            <a:extLst>
              <a:ext uri="{FF2B5EF4-FFF2-40B4-BE49-F238E27FC236}">
                <a16:creationId xmlns:a16="http://schemas.microsoft.com/office/drawing/2014/main" id="{4C502997-222F-EC4F-8345-8BFABC85A89E}"/>
              </a:ext>
            </a:extLst>
          </p:cNvPr>
          <p:cNvSpPr/>
          <p:nvPr/>
        </p:nvSpPr>
        <p:spPr>
          <a:xfrm>
            <a:off x="2887134" y="1893067"/>
            <a:ext cx="905929" cy="770466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L" dirty="0"/>
              <a:t>Map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E1398C68-0BE3-C541-B49C-AB26A5F1BA29}"/>
              </a:ext>
            </a:extLst>
          </p:cNvPr>
          <p:cNvCxnSpPr/>
          <p:nvPr/>
        </p:nvCxnSpPr>
        <p:spPr>
          <a:xfrm>
            <a:off x="4576232" y="1452798"/>
            <a:ext cx="0" cy="4402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4A85AFA8-2BD4-2C43-B0A8-FF3D11B9AAB1}"/>
              </a:ext>
            </a:extLst>
          </p:cNvPr>
          <p:cNvSpPr/>
          <p:nvPr/>
        </p:nvSpPr>
        <p:spPr>
          <a:xfrm>
            <a:off x="4123267" y="1893067"/>
            <a:ext cx="905929" cy="770466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L" dirty="0"/>
              <a:t>Map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AB82AAC2-459F-594D-8047-9B31C2DAA613}"/>
              </a:ext>
            </a:extLst>
          </p:cNvPr>
          <p:cNvCxnSpPr/>
          <p:nvPr/>
        </p:nvCxnSpPr>
        <p:spPr>
          <a:xfrm>
            <a:off x="5833534" y="1452798"/>
            <a:ext cx="0" cy="4402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D4D8879A-972D-6240-BCB9-E4894468C637}"/>
              </a:ext>
            </a:extLst>
          </p:cNvPr>
          <p:cNvSpPr/>
          <p:nvPr/>
        </p:nvSpPr>
        <p:spPr>
          <a:xfrm>
            <a:off x="5380569" y="1893067"/>
            <a:ext cx="905929" cy="770466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L" dirty="0"/>
              <a:t>Map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0401179-7AEC-8141-8D23-60F060DA6DC8}"/>
              </a:ext>
            </a:extLst>
          </p:cNvPr>
          <p:cNvCxnSpPr/>
          <p:nvPr/>
        </p:nvCxnSpPr>
        <p:spPr>
          <a:xfrm>
            <a:off x="7211482" y="1452798"/>
            <a:ext cx="0" cy="4402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A5EA08D9-672F-9F47-B02D-DA93ECE026FD}"/>
              </a:ext>
            </a:extLst>
          </p:cNvPr>
          <p:cNvSpPr/>
          <p:nvPr/>
        </p:nvSpPr>
        <p:spPr>
          <a:xfrm>
            <a:off x="6758517" y="1893067"/>
            <a:ext cx="905929" cy="770466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L" dirty="0"/>
              <a:t>Map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4830161A-BD35-2940-8069-582A45ACC441}"/>
              </a:ext>
            </a:extLst>
          </p:cNvPr>
          <p:cNvCxnSpPr/>
          <p:nvPr/>
        </p:nvCxnSpPr>
        <p:spPr>
          <a:xfrm>
            <a:off x="8568258" y="1452798"/>
            <a:ext cx="0" cy="4402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636C9BC6-EEBF-484F-B51A-0E92639A43C1}"/>
              </a:ext>
            </a:extLst>
          </p:cNvPr>
          <p:cNvSpPr/>
          <p:nvPr/>
        </p:nvSpPr>
        <p:spPr>
          <a:xfrm>
            <a:off x="8115293" y="1893067"/>
            <a:ext cx="905929" cy="770466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L" dirty="0"/>
              <a:t>Map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AC7F85E8-A6CE-C94D-BFCE-0D6F20AAA8D7}"/>
              </a:ext>
            </a:extLst>
          </p:cNvPr>
          <p:cNvCxnSpPr/>
          <p:nvPr/>
        </p:nvCxnSpPr>
        <p:spPr>
          <a:xfrm>
            <a:off x="3323165" y="2663531"/>
            <a:ext cx="0" cy="4402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1CCD4676-410F-C649-96DD-0DF2A87D3742}"/>
              </a:ext>
            </a:extLst>
          </p:cNvPr>
          <p:cNvSpPr/>
          <p:nvPr/>
        </p:nvSpPr>
        <p:spPr>
          <a:xfrm>
            <a:off x="2870200" y="3121403"/>
            <a:ext cx="889000" cy="364067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L" dirty="0"/>
              <a:t>Keys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F8D036E-875B-C84C-A4AE-E018165D85AF}"/>
              </a:ext>
            </a:extLst>
          </p:cNvPr>
          <p:cNvCxnSpPr/>
          <p:nvPr/>
        </p:nvCxnSpPr>
        <p:spPr>
          <a:xfrm>
            <a:off x="4559298" y="2663531"/>
            <a:ext cx="0" cy="4402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E968847B-A061-8140-9D1D-0F49735F68A0}"/>
              </a:ext>
            </a:extLst>
          </p:cNvPr>
          <p:cNvSpPr/>
          <p:nvPr/>
        </p:nvSpPr>
        <p:spPr>
          <a:xfrm>
            <a:off x="4106333" y="3121403"/>
            <a:ext cx="889000" cy="364067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L" dirty="0"/>
              <a:t>Keys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12564B4F-CA91-2546-AB5B-81BD6F0B5DC9}"/>
              </a:ext>
            </a:extLst>
          </p:cNvPr>
          <p:cNvCxnSpPr/>
          <p:nvPr/>
        </p:nvCxnSpPr>
        <p:spPr>
          <a:xfrm>
            <a:off x="5795430" y="2663531"/>
            <a:ext cx="0" cy="4402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ctangle 25">
            <a:extLst>
              <a:ext uri="{FF2B5EF4-FFF2-40B4-BE49-F238E27FC236}">
                <a16:creationId xmlns:a16="http://schemas.microsoft.com/office/drawing/2014/main" id="{41C800D7-F785-0E41-956D-8D3AFD0A562E}"/>
              </a:ext>
            </a:extLst>
          </p:cNvPr>
          <p:cNvSpPr/>
          <p:nvPr/>
        </p:nvSpPr>
        <p:spPr>
          <a:xfrm>
            <a:off x="5342465" y="3121403"/>
            <a:ext cx="889000" cy="364067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L" dirty="0"/>
              <a:t>Keys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6C6C4D4-CDDE-844C-B550-C9D3BF0B7210}"/>
              </a:ext>
            </a:extLst>
          </p:cNvPr>
          <p:cNvCxnSpPr/>
          <p:nvPr/>
        </p:nvCxnSpPr>
        <p:spPr>
          <a:xfrm>
            <a:off x="7203013" y="2664205"/>
            <a:ext cx="0" cy="4402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73A82C8F-0A6B-4D41-8EFD-2B8573524BD7}"/>
              </a:ext>
            </a:extLst>
          </p:cNvPr>
          <p:cNvSpPr/>
          <p:nvPr/>
        </p:nvSpPr>
        <p:spPr>
          <a:xfrm>
            <a:off x="6750048" y="3122077"/>
            <a:ext cx="889000" cy="364067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L" dirty="0"/>
              <a:t>Keys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3C1EC9CF-CD06-5048-ABF6-ABC105A2B3D0}"/>
              </a:ext>
            </a:extLst>
          </p:cNvPr>
          <p:cNvCxnSpPr/>
          <p:nvPr/>
        </p:nvCxnSpPr>
        <p:spPr>
          <a:xfrm>
            <a:off x="8559789" y="2678061"/>
            <a:ext cx="0" cy="4402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71383F9A-7B75-5A43-AA28-6FA3234F851B}"/>
              </a:ext>
            </a:extLst>
          </p:cNvPr>
          <p:cNvSpPr/>
          <p:nvPr/>
        </p:nvSpPr>
        <p:spPr>
          <a:xfrm>
            <a:off x="8106824" y="3135933"/>
            <a:ext cx="889000" cy="364067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L" dirty="0"/>
              <a:t>Keys</a:t>
            </a:r>
          </a:p>
        </p:txBody>
      </p:sp>
      <p:sp>
        <p:nvSpPr>
          <p:cNvPr id="31" name="Alternate Process 30">
            <a:extLst>
              <a:ext uri="{FF2B5EF4-FFF2-40B4-BE49-F238E27FC236}">
                <a16:creationId xmlns:a16="http://schemas.microsoft.com/office/drawing/2014/main" id="{D370CA9E-5551-BC41-A8BA-82786E61C0A3}"/>
              </a:ext>
            </a:extLst>
          </p:cNvPr>
          <p:cNvSpPr/>
          <p:nvPr/>
        </p:nvSpPr>
        <p:spPr>
          <a:xfrm>
            <a:off x="4652430" y="3830539"/>
            <a:ext cx="2489201" cy="508000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L" dirty="0"/>
              <a:t>Combiner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6C510A89-800B-BE48-8C5D-DCD01A23781B}"/>
              </a:ext>
            </a:extLst>
          </p:cNvPr>
          <p:cNvCxnSpPr>
            <a:cxnSpLocks/>
          </p:cNvCxnSpPr>
          <p:nvPr/>
        </p:nvCxnSpPr>
        <p:spPr>
          <a:xfrm>
            <a:off x="3323164" y="3485470"/>
            <a:ext cx="1689098" cy="3450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0EFE7A30-DBB4-C549-9D0E-F790FD3E68CD}"/>
              </a:ext>
            </a:extLst>
          </p:cNvPr>
          <p:cNvCxnSpPr>
            <a:cxnSpLocks/>
            <a:stCxn id="24" idx="2"/>
          </p:cNvCxnSpPr>
          <p:nvPr/>
        </p:nvCxnSpPr>
        <p:spPr>
          <a:xfrm>
            <a:off x="4550833" y="3485470"/>
            <a:ext cx="808561" cy="3443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EF6F4986-B1E1-B645-B0C3-B8A26FF4BA13}"/>
              </a:ext>
            </a:extLst>
          </p:cNvPr>
          <p:cNvCxnSpPr>
            <a:cxnSpLocks/>
          </p:cNvCxnSpPr>
          <p:nvPr/>
        </p:nvCxnSpPr>
        <p:spPr>
          <a:xfrm flipH="1">
            <a:off x="5757336" y="3469335"/>
            <a:ext cx="4230" cy="40493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D8FF7819-8E2F-9540-ABFE-213969E9EF71}"/>
              </a:ext>
            </a:extLst>
          </p:cNvPr>
          <p:cNvCxnSpPr>
            <a:cxnSpLocks/>
            <a:stCxn id="28" idx="2"/>
            <a:endCxn id="31" idx="0"/>
          </p:cNvCxnSpPr>
          <p:nvPr/>
        </p:nvCxnSpPr>
        <p:spPr>
          <a:xfrm flipH="1">
            <a:off x="5897031" y="3486144"/>
            <a:ext cx="1297517" cy="3443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4439728-FBA7-1E46-83A5-9B39669E3F01}"/>
              </a:ext>
            </a:extLst>
          </p:cNvPr>
          <p:cNvCxnSpPr>
            <a:cxnSpLocks/>
            <a:stCxn id="30" idx="2"/>
          </p:cNvCxnSpPr>
          <p:nvPr/>
        </p:nvCxnSpPr>
        <p:spPr>
          <a:xfrm flipH="1">
            <a:off x="6464300" y="3500000"/>
            <a:ext cx="2087024" cy="32986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F517BBBE-20C1-A34F-A223-D91847F58EA3}"/>
              </a:ext>
            </a:extLst>
          </p:cNvPr>
          <p:cNvSpPr/>
          <p:nvPr/>
        </p:nvSpPr>
        <p:spPr>
          <a:xfrm>
            <a:off x="3632203" y="4590369"/>
            <a:ext cx="889000" cy="364067"/>
          </a:xfrm>
          <a:prstGeom prst="rect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L" dirty="0"/>
              <a:t>S/S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7AA83EA7-20F7-BD4B-A915-BB4D7CE0FDB1}"/>
              </a:ext>
            </a:extLst>
          </p:cNvPr>
          <p:cNvSpPr/>
          <p:nvPr/>
        </p:nvSpPr>
        <p:spPr>
          <a:xfrm>
            <a:off x="4868336" y="4590369"/>
            <a:ext cx="889000" cy="364067"/>
          </a:xfrm>
          <a:prstGeom prst="rect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L" dirty="0"/>
              <a:t>S/S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92D336FC-F1D1-D94C-BE04-4C00044D349F}"/>
              </a:ext>
            </a:extLst>
          </p:cNvPr>
          <p:cNvSpPr/>
          <p:nvPr/>
        </p:nvSpPr>
        <p:spPr>
          <a:xfrm>
            <a:off x="6104468" y="4590369"/>
            <a:ext cx="889000" cy="364067"/>
          </a:xfrm>
          <a:prstGeom prst="rect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L" dirty="0"/>
              <a:t>S/S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C11AAD5D-9725-9D48-805F-795C839CCAF8}"/>
              </a:ext>
            </a:extLst>
          </p:cNvPr>
          <p:cNvSpPr/>
          <p:nvPr/>
        </p:nvSpPr>
        <p:spPr>
          <a:xfrm>
            <a:off x="7512051" y="4591043"/>
            <a:ext cx="889000" cy="364067"/>
          </a:xfrm>
          <a:prstGeom prst="rect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L" dirty="0"/>
              <a:t>S/S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EA3F8F20-0C06-4A41-B1AE-7DF255DC42C8}"/>
              </a:ext>
            </a:extLst>
          </p:cNvPr>
          <p:cNvCxnSpPr/>
          <p:nvPr/>
        </p:nvCxnSpPr>
        <p:spPr>
          <a:xfrm>
            <a:off x="4053416" y="4970662"/>
            <a:ext cx="0" cy="4402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Oval 41">
            <a:extLst>
              <a:ext uri="{FF2B5EF4-FFF2-40B4-BE49-F238E27FC236}">
                <a16:creationId xmlns:a16="http://schemas.microsoft.com/office/drawing/2014/main" id="{20711989-6A4E-2C41-8C9F-B61FAD4FDA2C}"/>
              </a:ext>
            </a:extLst>
          </p:cNvPr>
          <p:cNvSpPr/>
          <p:nvPr/>
        </p:nvSpPr>
        <p:spPr>
          <a:xfrm>
            <a:off x="3435349" y="5405208"/>
            <a:ext cx="1236133" cy="533660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L" sz="1600" dirty="0"/>
              <a:t>Reduce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1D2073D7-F856-7940-A6F6-6941F9B14126}"/>
              </a:ext>
            </a:extLst>
          </p:cNvPr>
          <p:cNvCxnSpPr/>
          <p:nvPr/>
        </p:nvCxnSpPr>
        <p:spPr>
          <a:xfrm>
            <a:off x="5314949" y="4989957"/>
            <a:ext cx="0" cy="4402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Oval 43">
            <a:extLst>
              <a:ext uri="{FF2B5EF4-FFF2-40B4-BE49-F238E27FC236}">
                <a16:creationId xmlns:a16="http://schemas.microsoft.com/office/drawing/2014/main" id="{84E51DCD-B3AC-6243-B558-FE5496DF93F1}"/>
              </a:ext>
            </a:extLst>
          </p:cNvPr>
          <p:cNvSpPr/>
          <p:nvPr/>
        </p:nvSpPr>
        <p:spPr>
          <a:xfrm>
            <a:off x="4696882" y="5424503"/>
            <a:ext cx="1236133" cy="533660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L" sz="1600" dirty="0"/>
              <a:t>Reduce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092AEAD5-A122-1748-B784-796AA4FBE2FD}"/>
              </a:ext>
            </a:extLst>
          </p:cNvPr>
          <p:cNvCxnSpPr/>
          <p:nvPr/>
        </p:nvCxnSpPr>
        <p:spPr>
          <a:xfrm>
            <a:off x="6576482" y="5003332"/>
            <a:ext cx="0" cy="4402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Oval 45">
            <a:extLst>
              <a:ext uri="{FF2B5EF4-FFF2-40B4-BE49-F238E27FC236}">
                <a16:creationId xmlns:a16="http://schemas.microsoft.com/office/drawing/2014/main" id="{BD5D824F-FD22-BB4A-A83D-B2A6C2142B9B}"/>
              </a:ext>
            </a:extLst>
          </p:cNvPr>
          <p:cNvSpPr/>
          <p:nvPr/>
        </p:nvSpPr>
        <p:spPr>
          <a:xfrm>
            <a:off x="5958415" y="5437878"/>
            <a:ext cx="1236133" cy="533660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L" sz="1600" dirty="0"/>
              <a:t>Reduce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8B5A7E81-0D7D-864D-9557-3AE3A09BB39C}"/>
              </a:ext>
            </a:extLst>
          </p:cNvPr>
          <p:cNvCxnSpPr/>
          <p:nvPr/>
        </p:nvCxnSpPr>
        <p:spPr>
          <a:xfrm>
            <a:off x="7965015" y="4998212"/>
            <a:ext cx="0" cy="4402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Oval 47">
            <a:extLst>
              <a:ext uri="{FF2B5EF4-FFF2-40B4-BE49-F238E27FC236}">
                <a16:creationId xmlns:a16="http://schemas.microsoft.com/office/drawing/2014/main" id="{DD89D06E-FBD5-2941-ABF9-4D381020AD82}"/>
              </a:ext>
            </a:extLst>
          </p:cNvPr>
          <p:cNvSpPr/>
          <p:nvPr/>
        </p:nvSpPr>
        <p:spPr>
          <a:xfrm>
            <a:off x="7346948" y="5432758"/>
            <a:ext cx="1236133" cy="533660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L" sz="1600" dirty="0"/>
              <a:t>Reduce</a:t>
            </a:r>
          </a:p>
        </p:txBody>
      </p:sp>
    </p:spTree>
    <p:extLst>
      <p:ext uri="{BB962C8B-B14F-4D97-AF65-F5344CB8AC3E}">
        <p14:creationId xmlns:p14="http://schemas.microsoft.com/office/powerpoint/2010/main" val="227022873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Why Shuffle Is the Bottleneck</a:t>
            </a:r>
            <a:r>
              <a:rPr lang="en-US" dirty="0"/>
              <a:t>?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dirty="0"/>
              <a:t>All map outputs must be </a:t>
            </a:r>
            <a:r>
              <a:rPr dirty="0">
                <a:highlight>
                  <a:srgbClr val="FFFF00"/>
                </a:highlight>
              </a:rPr>
              <a:t>redistributed</a:t>
            </a:r>
            <a:r>
              <a:rPr dirty="0"/>
              <a:t> by key.</a:t>
            </a:r>
          </a:p>
          <a:p>
            <a:pPr lvl="0"/>
            <a:r>
              <a:rPr dirty="0"/>
              <a:t>Network + disk spill dominate total runtime.</a:t>
            </a:r>
          </a:p>
          <a:p>
            <a:pPr lvl="0"/>
            <a:r>
              <a:rPr dirty="0"/>
              <a:t>CPU can be idle while waiting for shuffle.</a:t>
            </a:r>
          </a:p>
          <a:p>
            <a:pPr lvl="0"/>
            <a:r>
              <a:rPr b="1" dirty="0"/>
              <a:t>SQL lens:</a:t>
            </a:r>
            <a:r>
              <a:rPr dirty="0"/>
              <a:t> </a:t>
            </a:r>
            <a:endParaRPr lang="en-US" dirty="0"/>
          </a:p>
          <a:p>
            <a:pPr marL="0" lvl="0" indent="0">
              <a:buNone/>
            </a:pPr>
            <a:r>
              <a:rPr dirty="0"/>
              <a:t>This is like a global </a:t>
            </a:r>
            <a:r>
              <a:rPr dirty="0">
                <a:latin typeface="Courier"/>
              </a:rPr>
              <a:t>GROUP BY</a:t>
            </a:r>
            <a:r>
              <a:rPr dirty="0"/>
              <a:t> needing a full data repartition.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1924E95-B662-476B-8747-32147EFC68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7933" y="136525"/>
            <a:ext cx="11616266" cy="6485754"/>
          </a:xfrm>
        </p:spPr>
        <p:txBody>
          <a:bodyPr>
            <a:normAutofit/>
          </a:bodyPr>
          <a:lstStyle/>
          <a:p>
            <a:pPr algn="ctr">
              <a:lnSpc>
                <a:spcPct val="150000"/>
              </a:lnSpc>
            </a:pPr>
            <a:r>
              <a:rPr lang="en-US" sz="3000" b="1" dirty="0"/>
              <a:t>Example</a:t>
            </a:r>
          </a:p>
          <a:p>
            <a:br>
              <a:rPr lang="en-US" sz="2400" dirty="0"/>
            </a:b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6ACA64-1602-4D57-9A3D-3E1EFB449B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D69B18-316A-457F-86C2-CFE4F951EE27}" type="slidenum">
              <a:rPr lang="en-IL" smtClean="0"/>
              <a:pPr/>
              <a:t>15</a:t>
            </a:fld>
            <a:endParaRPr lang="en-IL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DF2A5E-FADA-2843-B7A0-3CD8A067E5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  <a:endParaRPr lang="en-IL"/>
          </a:p>
        </p:txBody>
      </p:sp>
      <p:sp>
        <p:nvSpPr>
          <p:cNvPr id="3" name="Alternate Process 2">
            <a:extLst>
              <a:ext uri="{FF2B5EF4-FFF2-40B4-BE49-F238E27FC236}">
                <a16:creationId xmlns:a16="http://schemas.microsoft.com/office/drawing/2014/main" id="{0EECF884-FE53-9245-972A-83D98525E38F}"/>
              </a:ext>
            </a:extLst>
          </p:cNvPr>
          <p:cNvSpPr/>
          <p:nvPr/>
        </p:nvSpPr>
        <p:spPr>
          <a:xfrm>
            <a:off x="948266" y="2751667"/>
            <a:ext cx="2065867" cy="1524000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L" dirty="0"/>
              <a:t>A B R</a:t>
            </a:r>
          </a:p>
          <a:p>
            <a:pPr algn="ctr"/>
            <a:r>
              <a:rPr lang="en-IL" dirty="0"/>
              <a:t>C C R</a:t>
            </a:r>
          </a:p>
          <a:p>
            <a:pPr algn="ctr"/>
            <a:r>
              <a:rPr lang="en-IL" dirty="0"/>
              <a:t>A C B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87018DC-63B1-914A-9AE8-9A5FB1593549}"/>
              </a:ext>
            </a:extLst>
          </p:cNvPr>
          <p:cNvSpPr txBox="1"/>
          <p:nvPr/>
        </p:nvSpPr>
        <p:spPr>
          <a:xfrm>
            <a:off x="1397000" y="1092200"/>
            <a:ext cx="13377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L" dirty="0"/>
              <a:t>Input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E2BDBB2-3C9B-614C-9B46-F7B3969C84EB}"/>
              </a:ext>
            </a:extLst>
          </p:cNvPr>
          <p:cNvSpPr txBox="1"/>
          <p:nvPr/>
        </p:nvSpPr>
        <p:spPr>
          <a:xfrm>
            <a:off x="3979335" y="1092200"/>
            <a:ext cx="13377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L" dirty="0"/>
              <a:t>Split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2D7A096-E4E0-6542-A179-15807F975373}"/>
              </a:ext>
            </a:extLst>
          </p:cNvPr>
          <p:cNvSpPr txBox="1"/>
          <p:nvPr/>
        </p:nvSpPr>
        <p:spPr>
          <a:xfrm>
            <a:off x="6011335" y="1092200"/>
            <a:ext cx="13377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L" dirty="0"/>
              <a:t>Map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7CC957F-CEEF-004A-ADEC-ABA33BF2738C}"/>
              </a:ext>
            </a:extLst>
          </p:cNvPr>
          <p:cNvSpPr txBox="1"/>
          <p:nvPr/>
        </p:nvSpPr>
        <p:spPr>
          <a:xfrm>
            <a:off x="7958668" y="1092200"/>
            <a:ext cx="15324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L" dirty="0"/>
              <a:t>Shuffle &amp; Sort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C599264-8E37-1548-A143-5E554CADAB16}"/>
              </a:ext>
            </a:extLst>
          </p:cNvPr>
          <p:cNvSpPr txBox="1"/>
          <p:nvPr/>
        </p:nvSpPr>
        <p:spPr>
          <a:xfrm>
            <a:off x="10854267" y="1092200"/>
            <a:ext cx="13377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L" dirty="0"/>
              <a:t>Reduce</a:t>
            </a:r>
          </a:p>
        </p:txBody>
      </p:sp>
    </p:spTree>
    <p:extLst>
      <p:ext uri="{BB962C8B-B14F-4D97-AF65-F5344CB8AC3E}">
        <p14:creationId xmlns:p14="http://schemas.microsoft.com/office/powerpoint/2010/main" val="38286555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1924E95-B662-476B-8747-32147EFC68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7933" y="136525"/>
            <a:ext cx="11616266" cy="6485754"/>
          </a:xfrm>
        </p:spPr>
        <p:txBody>
          <a:bodyPr>
            <a:normAutofit/>
          </a:bodyPr>
          <a:lstStyle/>
          <a:p>
            <a:pPr algn="ctr">
              <a:lnSpc>
                <a:spcPct val="150000"/>
              </a:lnSpc>
            </a:pPr>
            <a:r>
              <a:rPr lang="en-US" sz="3000" b="1" dirty="0"/>
              <a:t>Example</a:t>
            </a:r>
          </a:p>
          <a:p>
            <a:br>
              <a:rPr lang="en-US" sz="2400" dirty="0"/>
            </a:b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6ACA64-1602-4D57-9A3D-3E1EFB449B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D69B18-316A-457F-86C2-CFE4F951EE27}" type="slidenum">
              <a:rPr lang="en-IL" smtClean="0"/>
              <a:pPr/>
              <a:t>16</a:t>
            </a:fld>
            <a:endParaRPr lang="en-IL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DF2A5E-FADA-2843-B7A0-3CD8A067E5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  <a:endParaRPr lang="en-IL"/>
          </a:p>
        </p:txBody>
      </p:sp>
      <p:sp>
        <p:nvSpPr>
          <p:cNvPr id="3" name="Alternate Process 2">
            <a:extLst>
              <a:ext uri="{FF2B5EF4-FFF2-40B4-BE49-F238E27FC236}">
                <a16:creationId xmlns:a16="http://schemas.microsoft.com/office/drawing/2014/main" id="{0EECF884-FE53-9245-972A-83D98525E38F}"/>
              </a:ext>
            </a:extLst>
          </p:cNvPr>
          <p:cNvSpPr/>
          <p:nvPr/>
        </p:nvSpPr>
        <p:spPr>
          <a:xfrm>
            <a:off x="948266" y="2751667"/>
            <a:ext cx="2065867" cy="1524000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L" dirty="0"/>
              <a:t>A B R</a:t>
            </a:r>
          </a:p>
          <a:p>
            <a:pPr algn="ctr"/>
            <a:r>
              <a:rPr lang="en-IL" dirty="0"/>
              <a:t>C C R</a:t>
            </a:r>
          </a:p>
          <a:p>
            <a:pPr algn="ctr"/>
            <a:r>
              <a:rPr lang="en-IL" dirty="0"/>
              <a:t>A C B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87018DC-63B1-914A-9AE8-9A5FB1593549}"/>
              </a:ext>
            </a:extLst>
          </p:cNvPr>
          <p:cNvSpPr txBox="1"/>
          <p:nvPr/>
        </p:nvSpPr>
        <p:spPr>
          <a:xfrm>
            <a:off x="1397000" y="1092200"/>
            <a:ext cx="13377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L" dirty="0"/>
              <a:t>Input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E2BDBB2-3C9B-614C-9B46-F7B3969C84EB}"/>
              </a:ext>
            </a:extLst>
          </p:cNvPr>
          <p:cNvSpPr txBox="1"/>
          <p:nvPr/>
        </p:nvSpPr>
        <p:spPr>
          <a:xfrm>
            <a:off x="3979335" y="1092200"/>
            <a:ext cx="13377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L" dirty="0"/>
              <a:t>Split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2D7A096-E4E0-6542-A179-15807F975373}"/>
              </a:ext>
            </a:extLst>
          </p:cNvPr>
          <p:cNvSpPr txBox="1"/>
          <p:nvPr/>
        </p:nvSpPr>
        <p:spPr>
          <a:xfrm>
            <a:off x="6011335" y="1092200"/>
            <a:ext cx="13377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L" dirty="0"/>
              <a:t>Map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7CC957F-CEEF-004A-ADEC-ABA33BF2738C}"/>
              </a:ext>
            </a:extLst>
          </p:cNvPr>
          <p:cNvSpPr txBox="1"/>
          <p:nvPr/>
        </p:nvSpPr>
        <p:spPr>
          <a:xfrm>
            <a:off x="7958668" y="1092200"/>
            <a:ext cx="15324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L" dirty="0"/>
              <a:t>Shuffle &amp; Sort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C599264-8E37-1548-A143-5E554CADAB16}"/>
              </a:ext>
            </a:extLst>
          </p:cNvPr>
          <p:cNvSpPr txBox="1"/>
          <p:nvPr/>
        </p:nvSpPr>
        <p:spPr>
          <a:xfrm>
            <a:off x="10854267" y="1092200"/>
            <a:ext cx="13377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L" dirty="0"/>
              <a:t>Reduce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53AF6E7-4D32-FD4E-A62A-D191941AC8C0}"/>
              </a:ext>
            </a:extLst>
          </p:cNvPr>
          <p:cNvSpPr/>
          <p:nvPr/>
        </p:nvSpPr>
        <p:spPr>
          <a:xfrm>
            <a:off x="3742267" y="1744133"/>
            <a:ext cx="1490133" cy="44873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L" dirty="0"/>
              <a:t>A B 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DFFEB46-978F-2946-AFEF-9E8EC17587DC}"/>
              </a:ext>
            </a:extLst>
          </p:cNvPr>
          <p:cNvSpPr/>
          <p:nvPr/>
        </p:nvSpPr>
        <p:spPr>
          <a:xfrm>
            <a:off x="3742267" y="3227504"/>
            <a:ext cx="1490133" cy="44873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L" dirty="0"/>
              <a:t>C C R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7FE1AD3-7180-E044-866A-EC938FCE1588}"/>
              </a:ext>
            </a:extLst>
          </p:cNvPr>
          <p:cNvSpPr/>
          <p:nvPr/>
        </p:nvSpPr>
        <p:spPr>
          <a:xfrm>
            <a:off x="3742266" y="4755351"/>
            <a:ext cx="1490133" cy="44873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L" dirty="0"/>
              <a:t>A C B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C24BAE1-B3B4-4841-A985-F58C74A6DE21}"/>
              </a:ext>
            </a:extLst>
          </p:cNvPr>
          <p:cNvCxnSpPr>
            <a:stCxn id="3" idx="3"/>
            <a:endCxn id="11" idx="1"/>
          </p:cNvCxnSpPr>
          <p:nvPr/>
        </p:nvCxnSpPr>
        <p:spPr>
          <a:xfrm flipV="1">
            <a:off x="3014133" y="1968500"/>
            <a:ext cx="728134" cy="15451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5517F08B-BBFB-B740-9E06-ACDA93109D0A}"/>
              </a:ext>
            </a:extLst>
          </p:cNvPr>
          <p:cNvCxnSpPr>
            <a:stCxn id="3" idx="3"/>
            <a:endCxn id="12" idx="1"/>
          </p:cNvCxnSpPr>
          <p:nvPr/>
        </p:nvCxnSpPr>
        <p:spPr>
          <a:xfrm flipV="1">
            <a:off x="3014133" y="3451871"/>
            <a:ext cx="728134" cy="6179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050DA819-36C5-6A47-ADC4-B9E03DEDC527}"/>
              </a:ext>
            </a:extLst>
          </p:cNvPr>
          <p:cNvCxnSpPr>
            <a:stCxn id="3" idx="3"/>
            <a:endCxn id="13" idx="1"/>
          </p:cNvCxnSpPr>
          <p:nvPr/>
        </p:nvCxnSpPr>
        <p:spPr>
          <a:xfrm>
            <a:off x="3014133" y="3513667"/>
            <a:ext cx="728133" cy="14660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04321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1924E95-B662-476B-8747-32147EFC68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7933" y="136525"/>
            <a:ext cx="11616266" cy="6485754"/>
          </a:xfrm>
        </p:spPr>
        <p:txBody>
          <a:bodyPr>
            <a:normAutofit/>
          </a:bodyPr>
          <a:lstStyle/>
          <a:p>
            <a:pPr algn="ctr">
              <a:lnSpc>
                <a:spcPct val="150000"/>
              </a:lnSpc>
            </a:pPr>
            <a:r>
              <a:rPr lang="en-US" sz="3000" b="1" dirty="0"/>
              <a:t>Example</a:t>
            </a:r>
          </a:p>
          <a:p>
            <a:br>
              <a:rPr lang="en-US" sz="2400" dirty="0"/>
            </a:b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6ACA64-1602-4D57-9A3D-3E1EFB449B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D69B18-316A-457F-86C2-CFE4F951EE27}" type="slidenum">
              <a:rPr lang="en-IL" smtClean="0"/>
              <a:pPr/>
              <a:t>17</a:t>
            </a:fld>
            <a:endParaRPr lang="en-IL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DF2A5E-FADA-2843-B7A0-3CD8A067E5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  <a:endParaRPr lang="en-IL"/>
          </a:p>
        </p:txBody>
      </p:sp>
      <p:sp>
        <p:nvSpPr>
          <p:cNvPr id="3" name="Alternate Process 2">
            <a:extLst>
              <a:ext uri="{FF2B5EF4-FFF2-40B4-BE49-F238E27FC236}">
                <a16:creationId xmlns:a16="http://schemas.microsoft.com/office/drawing/2014/main" id="{0EECF884-FE53-9245-972A-83D98525E38F}"/>
              </a:ext>
            </a:extLst>
          </p:cNvPr>
          <p:cNvSpPr/>
          <p:nvPr/>
        </p:nvSpPr>
        <p:spPr>
          <a:xfrm>
            <a:off x="948266" y="2751667"/>
            <a:ext cx="2065867" cy="1524000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L" dirty="0"/>
              <a:t>A B R</a:t>
            </a:r>
          </a:p>
          <a:p>
            <a:pPr algn="ctr"/>
            <a:r>
              <a:rPr lang="en-IL" dirty="0"/>
              <a:t>C C R</a:t>
            </a:r>
          </a:p>
          <a:p>
            <a:pPr algn="ctr"/>
            <a:r>
              <a:rPr lang="en-IL" dirty="0"/>
              <a:t>A C B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87018DC-63B1-914A-9AE8-9A5FB1593549}"/>
              </a:ext>
            </a:extLst>
          </p:cNvPr>
          <p:cNvSpPr txBox="1"/>
          <p:nvPr/>
        </p:nvSpPr>
        <p:spPr>
          <a:xfrm>
            <a:off x="1397000" y="1092200"/>
            <a:ext cx="13377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L" dirty="0"/>
              <a:t>Input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E2BDBB2-3C9B-614C-9B46-F7B3969C84EB}"/>
              </a:ext>
            </a:extLst>
          </p:cNvPr>
          <p:cNvSpPr txBox="1"/>
          <p:nvPr/>
        </p:nvSpPr>
        <p:spPr>
          <a:xfrm>
            <a:off x="3979335" y="1092200"/>
            <a:ext cx="13377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L" dirty="0"/>
              <a:t>Split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2D7A096-E4E0-6542-A179-15807F975373}"/>
              </a:ext>
            </a:extLst>
          </p:cNvPr>
          <p:cNvSpPr txBox="1"/>
          <p:nvPr/>
        </p:nvSpPr>
        <p:spPr>
          <a:xfrm>
            <a:off x="6011335" y="1092200"/>
            <a:ext cx="13377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L" dirty="0"/>
              <a:t>Map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7CC957F-CEEF-004A-ADEC-ABA33BF2738C}"/>
              </a:ext>
            </a:extLst>
          </p:cNvPr>
          <p:cNvSpPr txBox="1"/>
          <p:nvPr/>
        </p:nvSpPr>
        <p:spPr>
          <a:xfrm>
            <a:off x="7958668" y="1092200"/>
            <a:ext cx="15324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L" dirty="0"/>
              <a:t>Shuffle &amp; Sort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C599264-8E37-1548-A143-5E554CADAB16}"/>
              </a:ext>
            </a:extLst>
          </p:cNvPr>
          <p:cNvSpPr txBox="1"/>
          <p:nvPr/>
        </p:nvSpPr>
        <p:spPr>
          <a:xfrm>
            <a:off x="10854267" y="1092200"/>
            <a:ext cx="13377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L" dirty="0"/>
              <a:t>Reduce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53AF6E7-4D32-FD4E-A62A-D191941AC8C0}"/>
              </a:ext>
            </a:extLst>
          </p:cNvPr>
          <p:cNvSpPr/>
          <p:nvPr/>
        </p:nvSpPr>
        <p:spPr>
          <a:xfrm>
            <a:off x="3742267" y="1744133"/>
            <a:ext cx="1490133" cy="44873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L" dirty="0"/>
              <a:t>A B 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DFFEB46-978F-2946-AFEF-9E8EC17587DC}"/>
              </a:ext>
            </a:extLst>
          </p:cNvPr>
          <p:cNvSpPr/>
          <p:nvPr/>
        </p:nvSpPr>
        <p:spPr>
          <a:xfrm>
            <a:off x="3742267" y="3227504"/>
            <a:ext cx="1490133" cy="44873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L" dirty="0"/>
              <a:t>C C R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7FE1AD3-7180-E044-866A-EC938FCE1588}"/>
              </a:ext>
            </a:extLst>
          </p:cNvPr>
          <p:cNvSpPr/>
          <p:nvPr/>
        </p:nvSpPr>
        <p:spPr>
          <a:xfrm>
            <a:off x="3742266" y="4755351"/>
            <a:ext cx="1490133" cy="44873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L" dirty="0"/>
              <a:t>A C B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C24BAE1-B3B4-4841-A985-F58C74A6DE21}"/>
              </a:ext>
            </a:extLst>
          </p:cNvPr>
          <p:cNvCxnSpPr>
            <a:stCxn id="3" idx="3"/>
            <a:endCxn id="11" idx="1"/>
          </p:cNvCxnSpPr>
          <p:nvPr/>
        </p:nvCxnSpPr>
        <p:spPr>
          <a:xfrm flipV="1">
            <a:off x="3014133" y="1968500"/>
            <a:ext cx="728134" cy="15451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5517F08B-BBFB-B740-9E06-ACDA93109D0A}"/>
              </a:ext>
            </a:extLst>
          </p:cNvPr>
          <p:cNvCxnSpPr>
            <a:stCxn id="3" idx="3"/>
            <a:endCxn id="12" idx="1"/>
          </p:cNvCxnSpPr>
          <p:nvPr/>
        </p:nvCxnSpPr>
        <p:spPr>
          <a:xfrm flipV="1">
            <a:off x="3014133" y="3451871"/>
            <a:ext cx="728134" cy="6179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050DA819-36C5-6A47-ADC4-B9E03DEDC527}"/>
              </a:ext>
            </a:extLst>
          </p:cNvPr>
          <p:cNvCxnSpPr>
            <a:stCxn id="3" idx="3"/>
            <a:endCxn id="13" idx="1"/>
          </p:cNvCxnSpPr>
          <p:nvPr/>
        </p:nvCxnSpPr>
        <p:spPr>
          <a:xfrm>
            <a:off x="3014133" y="3513667"/>
            <a:ext cx="728133" cy="14660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DC5D07B7-DA4D-414C-83F3-B271E87DC543}"/>
              </a:ext>
            </a:extLst>
          </p:cNvPr>
          <p:cNvSpPr/>
          <p:nvPr/>
        </p:nvSpPr>
        <p:spPr>
          <a:xfrm>
            <a:off x="5808134" y="1689100"/>
            <a:ext cx="1253068" cy="1007534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L" dirty="0"/>
              <a:t>A, 1</a:t>
            </a:r>
          </a:p>
          <a:p>
            <a:pPr algn="ctr"/>
            <a:r>
              <a:rPr lang="en-IL" dirty="0"/>
              <a:t>B, 1</a:t>
            </a:r>
          </a:p>
          <a:p>
            <a:pPr algn="ctr"/>
            <a:r>
              <a:rPr lang="en-IL" dirty="0"/>
              <a:t>R, 1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3A82160-2C8F-CF4A-97EB-5DF10B205288}"/>
              </a:ext>
            </a:extLst>
          </p:cNvPr>
          <p:cNvSpPr/>
          <p:nvPr/>
        </p:nvSpPr>
        <p:spPr>
          <a:xfrm>
            <a:off x="5808134" y="3134110"/>
            <a:ext cx="1253068" cy="1007534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L" dirty="0"/>
              <a:t>C, 1</a:t>
            </a:r>
          </a:p>
          <a:p>
            <a:pPr algn="ctr"/>
            <a:r>
              <a:rPr lang="en-IL" dirty="0"/>
              <a:t>C, 1</a:t>
            </a:r>
          </a:p>
          <a:p>
            <a:pPr algn="ctr"/>
            <a:r>
              <a:rPr lang="en-IL" dirty="0"/>
              <a:t>R, 1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0C80C25-DB38-EB44-B74A-5FABC203B048}"/>
              </a:ext>
            </a:extLst>
          </p:cNvPr>
          <p:cNvSpPr/>
          <p:nvPr/>
        </p:nvSpPr>
        <p:spPr>
          <a:xfrm>
            <a:off x="5808134" y="4700318"/>
            <a:ext cx="1253068" cy="1007534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L" dirty="0"/>
              <a:t>A, 1</a:t>
            </a:r>
          </a:p>
          <a:p>
            <a:pPr algn="ctr"/>
            <a:r>
              <a:rPr lang="en-IL" dirty="0"/>
              <a:t>C, 1 </a:t>
            </a:r>
          </a:p>
          <a:p>
            <a:pPr algn="ctr"/>
            <a:r>
              <a:rPr lang="en-IL" dirty="0"/>
              <a:t>B, 1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AEFCB9CA-3981-FF43-91A0-EB7CB1D6F458}"/>
              </a:ext>
            </a:extLst>
          </p:cNvPr>
          <p:cNvCxnSpPr>
            <a:cxnSpLocks/>
            <a:stCxn id="11" idx="3"/>
            <a:endCxn id="18" idx="1"/>
          </p:cNvCxnSpPr>
          <p:nvPr/>
        </p:nvCxnSpPr>
        <p:spPr>
          <a:xfrm>
            <a:off x="5232400" y="1968500"/>
            <a:ext cx="575734" cy="2243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D7CFA86D-647F-E143-8E05-8F35B4DD8EBE}"/>
              </a:ext>
            </a:extLst>
          </p:cNvPr>
          <p:cNvCxnSpPr>
            <a:cxnSpLocks/>
            <a:stCxn id="12" idx="3"/>
            <a:endCxn id="20" idx="1"/>
          </p:cNvCxnSpPr>
          <p:nvPr/>
        </p:nvCxnSpPr>
        <p:spPr>
          <a:xfrm>
            <a:off x="5232400" y="3451871"/>
            <a:ext cx="575734" cy="1860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DFC26473-D386-5A4A-8B01-B06C83C94995}"/>
              </a:ext>
            </a:extLst>
          </p:cNvPr>
          <p:cNvCxnSpPr>
            <a:cxnSpLocks/>
            <a:stCxn id="13" idx="3"/>
            <a:endCxn id="21" idx="1"/>
          </p:cNvCxnSpPr>
          <p:nvPr/>
        </p:nvCxnSpPr>
        <p:spPr>
          <a:xfrm>
            <a:off x="5232399" y="4979718"/>
            <a:ext cx="575735" cy="2243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89094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1924E95-B662-476B-8747-32147EFC68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7933" y="136525"/>
            <a:ext cx="11616266" cy="6485754"/>
          </a:xfrm>
        </p:spPr>
        <p:txBody>
          <a:bodyPr>
            <a:normAutofit/>
          </a:bodyPr>
          <a:lstStyle/>
          <a:p>
            <a:pPr algn="ctr">
              <a:lnSpc>
                <a:spcPct val="150000"/>
              </a:lnSpc>
            </a:pPr>
            <a:r>
              <a:rPr lang="en-US" sz="3000" b="1" dirty="0"/>
              <a:t>Example</a:t>
            </a:r>
          </a:p>
          <a:p>
            <a:br>
              <a:rPr lang="en-US" sz="2400" dirty="0"/>
            </a:b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6ACA64-1602-4D57-9A3D-3E1EFB449B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D69B18-316A-457F-86C2-CFE4F951EE27}" type="slidenum">
              <a:rPr lang="en-IL" smtClean="0"/>
              <a:pPr/>
              <a:t>18</a:t>
            </a:fld>
            <a:endParaRPr lang="en-IL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DF2A5E-FADA-2843-B7A0-3CD8A067E5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  <a:endParaRPr lang="en-IL"/>
          </a:p>
        </p:txBody>
      </p:sp>
      <p:sp>
        <p:nvSpPr>
          <p:cNvPr id="3" name="Alternate Process 2">
            <a:extLst>
              <a:ext uri="{FF2B5EF4-FFF2-40B4-BE49-F238E27FC236}">
                <a16:creationId xmlns:a16="http://schemas.microsoft.com/office/drawing/2014/main" id="{0EECF884-FE53-9245-972A-83D98525E38F}"/>
              </a:ext>
            </a:extLst>
          </p:cNvPr>
          <p:cNvSpPr/>
          <p:nvPr/>
        </p:nvSpPr>
        <p:spPr>
          <a:xfrm>
            <a:off x="948266" y="2751667"/>
            <a:ext cx="2065867" cy="1524000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L" dirty="0"/>
              <a:t>A B R</a:t>
            </a:r>
          </a:p>
          <a:p>
            <a:pPr algn="ctr"/>
            <a:r>
              <a:rPr lang="en-IL" dirty="0"/>
              <a:t>C C R</a:t>
            </a:r>
          </a:p>
          <a:p>
            <a:pPr algn="ctr"/>
            <a:r>
              <a:rPr lang="en-IL" dirty="0"/>
              <a:t>A C B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87018DC-63B1-914A-9AE8-9A5FB1593549}"/>
              </a:ext>
            </a:extLst>
          </p:cNvPr>
          <p:cNvSpPr txBox="1"/>
          <p:nvPr/>
        </p:nvSpPr>
        <p:spPr>
          <a:xfrm>
            <a:off x="1397000" y="1092200"/>
            <a:ext cx="13377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L" dirty="0"/>
              <a:t>Input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E2BDBB2-3C9B-614C-9B46-F7B3969C84EB}"/>
              </a:ext>
            </a:extLst>
          </p:cNvPr>
          <p:cNvSpPr txBox="1"/>
          <p:nvPr/>
        </p:nvSpPr>
        <p:spPr>
          <a:xfrm>
            <a:off x="3979335" y="1092200"/>
            <a:ext cx="13377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L" dirty="0"/>
              <a:t>Split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2D7A096-E4E0-6542-A179-15807F975373}"/>
              </a:ext>
            </a:extLst>
          </p:cNvPr>
          <p:cNvSpPr txBox="1"/>
          <p:nvPr/>
        </p:nvSpPr>
        <p:spPr>
          <a:xfrm>
            <a:off x="6011335" y="1092200"/>
            <a:ext cx="13377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L" dirty="0"/>
              <a:t>Map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7CC957F-CEEF-004A-ADEC-ABA33BF2738C}"/>
              </a:ext>
            </a:extLst>
          </p:cNvPr>
          <p:cNvSpPr txBox="1"/>
          <p:nvPr/>
        </p:nvSpPr>
        <p:spPr>
          <a:xfrm>
            <a:off x="7958668" y="1092200"/>
            <a:ext cx="15324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L" dirty="0"/>
              <a:t>Shuffle &amp; Sort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C599264-8E37-1548-A143-5E554CADAB16}"/>
              </a:ext>
            </a:extLst>
          </p:cNvPr>
          <p:cNvSpPr txBox="1"/>
          <p:nvPr/>
        </p:nvSpPr>
        <p:spPr>
          <a:xfrm>
            <a:off x="10854267" y="1092200"/>
            <a:ext cx="13377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L" dirty="0"/>
              <a:t>Reduce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53AF6E7-4D32-FD4E-A62A-D191941AC8C0}"/>
              </a:ext>
            </a:extLst>
          </p:cNvPr>
          <p:cNvSpPr/>
          <p:nvPr/>
        </p:nvSpPr>
        <p:spPr>
          <a:xfrm>
            <a:off x="3742267" y="1744133"/>
            <a:ext cx="1490133" cy="44873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L" dirty="0"/>
              <a:t>A B 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DFFEB46-978F-2946-AFEF-9E8EC17587DC}"/>
              </a:ext>
            </a:extLst>
          </p:cNvPr>
          <p:cNvSpPr/>
          <p:nvPr/>
        </p:nvSpPr>
        <p:spPr>
          <a:xfrm>
            <a:off x="3742267" y="3227504"/>
            <a:ext cx="1490133" cy="44873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L" dirty="0"/>
              <a:t>C C R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7FE1AD3-7180-E044-866A-EC938FCE1588}"/>
              </a:ext>
            </a:extLst>
          </p:cNvPr>
          <p:cNvSpPr/>
          <p:nvPr/>
        </p:nvSpPr>
        <p:spPr>
          <a:xfrm>
            <a:off x="3742266" y="4755351"/>
            <a:ext cx="1490133" cy="44873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L" dirty="0"/>
              <a:t>A C B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C24BAE1-B3B4-4841-A985-F58C74A6DE21}"/>
              </a:ext>
            </a:extLst>
          </p:cNvPr>
          <p:cNvCxnSpPr>
            <a:stCxn id="3" idx="3"/>
            <a:endCxn id="11" idx="1"/>
          </p:cNvCxnSpPr>
          <p:nvPr/>
        </p:nvCxnSpPr>
        <p:spPr>
          <a:xfrm flipV="1">
            <a:off x="3014133" y="1968500"/>
            <a:ext cx="728134" cy="15451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5517F08B-BBFB-B740-9E06-ACDA93109D0A}"/>
              </a:ext>
            </a:extLst>
          </p:cNvPr>
          <p:cNvCxnSpPr>
            <a:stCxn id="3" idx="3"/>
            <a:endCxn id="12" idx="1"/>
          </p:cNvCxnSpPr>
          <p:nvPr/>
        </p:nvCxnSpPr>
        <p:spPr>
          <a:xfrm flipV="1">
            <a:off x="3014133" y="3451871"/>
            <a:ext cx="728134" cy="6179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050DA819-36C5-6A47-ADC4-B9E03DEDC527}"/>
              </a:ext>
            </a:extLst>
          </p:cNvPr>
          <p:cNvCxnSpPr>
            <a:stCxn id="3" idx="3"/>
            <a:endCxn id="13" idx="1"/>
          </p:cNvCxnSpPr>
          <p:nvPr/>
        </p:nvCxnSpPr>
        <p:spPr>
          <a:xfrm>
            <a:off x="3014133" y="3513667"/>
            <a:ext cx="728133" cy="14660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DC5D07B7-DA4D-414C-83F3-B271E87DC543}"/>
              </a:ext>
            </a:extLst>
          </p:cNvPr>
          <p:cNvSpPr/>
          <p:nvPr/>
        </p:nvSpPr>
        <p:spPr>
          <a:xfrm>
            <a:off x="5808134" y="1689100"/>
            <a:ext cx="1253068" cy="1007534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L" dirty="0"/>
              <a:t>A, 1</a:t>
            </a:r>
          </a:p>
          <a:p>
            <a:pPr algn="ctr"/>
            <a:r>
              <a:rPr lang="en-IL" dirty="0"/>
              <a:t>B, 1</a:t>
            </a:r>
          </a:p>
          <a:p>
            <a:pPr algn="ctr"/>
            <a:r>
              <a:rPr lang="en-IL" dirty="0"/>
              <a:t>R, 1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3A82160-2C8F-CF4A-97EB-5DF10B205288}"/>
              </a:ext>
            </a:extLst>
          </p:cNvPr>
          <p:cNvSpPr/>
          <p:nvPr/>
        </p:nvSpPr>
        <p:spPr>
          <a:xfrm>
            <a:off x="5808134" y="3134110"/>
            <a:ext cx="1253068" cy="1007534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L" dirty="0"/>
              <a:t>C, 1</a:t>
            </a:r>
          </a:p>
          <a:p>
            <a:pPr algn="ctr"/>
            <a:r>
              <a:rPr lang="en-IL" dirty="0"/>
              <a:t>C, 1</a:t>
            </a:r>
          </a:p>
          <a:p>
            <a:pPr algn="ctr"/>
            <a:r>
              <a:rPr lang="en-IL" dirty="0"/>
              <a:t>R, 1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0C80C25-DB38-EB44-B74A-5FABC203B048}"/>
              </a:ext>
            </a:extLst>
          </p:cNvPr>
          <p:cNvSpPr/>
          <p:nvPr/>
        </p:nvSpPr>
        <p:spPr>
          <a:xfrm>
            <a:off x="5808134" y="4700318"/>
            <a:ext cx="1253068" cy="1007534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L" dirty="0"/>
              <a:t>A, 1</a:t>
            </a:r>
          </a:p>
          <a:p>
            <a:pPr algn="ctr"/>
            <a:r>
              <a:rPr lang="en-IL" dirty="0"/>
              <a:t>C, 1 </a:t>
            </a:r>
          </a:p>
          <a:p>
            <a:pPr algn="ctr"/>
            <a:r>
              <a:rPr lang="en-IL" dirty="0"/>
              <a:t>B, 1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AEFCB9CA-3981-FF43-91A0-EB7CB1D6F458}"/>
              </a:ext>
            </a:extLst>
          </p:cNvPr>
          <p:cNvCxnSpPr>
            <a:cxnSpLocks/>
            <a:stCxn id="11" idx="3"/>
            <a:endCxn id="18" idx="1"/>
          </p:cNvCxnSpPr>
          <p:nvPr/>
        </p:nvCxnSpPr>
        <p:spPr>
          <a:xfrm>
            <a:off x="5232400" y="1968500"/>
            <a:ext cx="575734" cy="2243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D7CFA86D-647F-E143-8E05-8F35B4DD8EBE}"/>
              </a:ext>
            </a:extLst>
          </p:cNvPr>
          <p:cNvCxnSpPr>
            <a:cxnSpLocks/>
            <a:stCxn id="12" idx="3"/>
            <a:endCxn id="20" idx="1"/>
          </p:cNvCxnSpPr>
          <p:nvPr/>
        </p:nvCxnSpPr>
        <p:spPr>
          <a:xfrm>
            <a:off x="5232400" y="3451871"/>
            <a:ext cx="575734" cy="1860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DFC26473-D386-5A4A-8B01-B06C83C94995}"/>
              </a:ext>
            </a:extLst>
          </p:cNvPr>
          <p:cNvCxnSpPr>
            <a:cxnSpLocks/>
            <a:stCxn id="13" idx="3"/>
            <a:endCxn id="21" idx="1"/>
          </p:cNvCxnSpPr>
          <p:nvPr/>
        </p:nvCxnSpPr>
        <p:spPr>
          <a:xfrm>
            <a:off x="5232399" y="4979718"/>
            <a:ext cx="575735" cy="2243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 22">
            <a:extLst>
              <a:ext uri="{FF2B5EF4-FFF2-40B4-BE49-F238E27FC236}">
                <a16:creationId xmlns:a16="http://schemas.microsoft.com/office/drawing/2014/main" id="{BAB6F327-B807-4043-9404-51A896FD3FC8}"/>
              </a:ext>
            </a:extLst>
          </p:cNvPr>
          <p:cNvSpPr/>
          <p:nvPr/>
        </p:nvSpPr>
        <p:spPr>
          <a:xfrm>
            <a:off x="8098367" y="1689100"/>
            <a:ext cx="1253068" cy="1007534"/>
          </a:xfrm>
          <a:prstGeom prst="rect">
            <a:avLst/>
          </a:prstGeom>
          <a:solidFill>
            <a:srgbClr val="00905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L" dirty="0"/>
              <a:t>A, 1</a:t>
            </a:r>
          </a:p>
          <a:p>
            <a:pPr algn="ctr"/>
            <a:r>
              <a:rPr lang="en-IL" dirty="0"/>
              <a:t>A, 1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8AE1C2C-2679-2A49-9100-6720AFEEADFC}"/>
              </a:ext>
            </a:extLst>
          </p:cNvPr>
          <p:cNvSpPr/>
          <p:nvPr/>
        </p:nvSpPr>
        <p:spPr>
          <a:xfrm>
            <a:off x="8098367" y="2901407"/>
            <a:ext cx="1253068" cy="1007534"/>
          </a:xfrm>
          <a:prstGeom prst="rect">
            <a:avLst/>
          </a:prstGeom>
          <a:solidFill>
            <a:srgbClr val="00905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L" dirty="0"/>
              <a:t>B, 1</a:t>
            </a:r>
          </a:p>
          <a:p>
            <a:pPr algn="ctr"/>
            <a:r>
              <a:rPr lang="en-IL" dirty="0"/>
              <a:t>B, 1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91D4D04C-FE64-B344-BF84-BBF6152F5221}"/>
              </a:ext>
            </a:extLst>
          </p:cNvPr>
          <p:cNvSpPr/>
          <p:nvPr/>
        </p:nvSpPr>
        <p:spPr>
          <a:xfrm>
            <a:off x="8098367" y="4161366"/>
            <a:ext cx="1253068" cy="1007534"/>
          </a:xfrm>
          <a:prstGeom prst="rect">
            <a:avLst/>
          </a:prstGeom>
          <a:solidFill>
            <a:srgbClr val="00905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L" dirty="0"/>
              <a:t>C, 1</a:t>
            </a:r>
          </a:p>
          <a:p>
            <a:pPr algn="ctr"/>
            <a:r>
              <a:rPr lang="en-IL" dirty="0"/>
              <a:t>C, 1</a:t>
            </a:r>
          </a:p>
          <a:p>
            <a:pPr algn="ctr"/>
            <a:r>
              <a:rPr lang="en-IL" dirty="0"/>
              <a:t>C, 1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B8E6385-03E0-DA42-9797-9D806724118C}"/>
              </a:ext>
            </a:extLst>
          </p:cNvPr>
          <p:cNvSpPr/>
          <p:nvPr/>
        </p:nvSpPr>
        <p:spPr>
          <a:xfrm>
            <a:off x="8098367" y="5421325"/>
            <a:ext cx="1253068" cy="1007534"/>
          </a:xfrm>
          <a:prstGeom prst="rect">
            <a:avLst/>
          </a:prstGeom>
          <a:solidFill>
            <a:srgbClr val="00905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L" dirty="0"/>
              <a:t>R, 1</a:t>
            </a:r>
          </a:p>
          <a:p>
            <a:pPr algn="ctr"/>
            <a:r>
              <a:rPr lang="en-IL" dirty="0"/>
              <a:t>R, 1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D3477D2D-2C34-F84D-B361-A191CCC635C9}"/>
              </a:ext>
            </a:extLst>
          </p:cNvPr>
          <p:cNvCxnSpPr>
            <a:cxnSpLocks/>
            <a:stCxn id="18" idx="3"/>
            <a:endCxn id="23" idx="1"/>
          </p:cNvCxnSpPr>
          <p:nvPr/>
        </p:nvCxnSpPr>
        <p:spPr>
          <a:xfrm>
            <a:off x="7061202" y="2192867"/>
            <a:ext cx="103716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B8E0ABEE-6A79-5847-9235-B5BB1A2E13D0}"/>
              </a:ext>
            </a:extLst>
          </p:cNvPr>
          <p:cNvCxnSpPr>
            <a:cxnSpLocks/>
            <a:stCxn id="18" idx="3"/>
            <a:endCxn id="25" idx="1"/>
          </p:cNvCxnSpPr>
          <p:nvPr/>
        </p:nvCxnSpPr>
        <p:spPr>
          <a:xfrm>
            <a:off x="7061202" y="2192867"/>
            <a:ext cx="1037165" cy="121230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039A9FFF-953E-3C4F-AEB3-9E9F309637DE}"/>
              </a:ext>
            </a:extLst>
          </p:cNvPr>
          <p:cNvCxnSpPr>
            <a:cxnSpLocks/>
            <a:stCxn id="18" idx="3"/>
            <a:endCxn id="26" idx="1"/>
          </p:cNvCxnSpPr>
          <p:nvPr/>
        </p:nvCxnSpPr>
        <p:spPr>
          <a:xfrm>
            <a:off x="7061202" y="2192867"/>
            <a:ext cx="1037165" cy="24722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8D612A7-5F96-4747-9308-EB7D652CA88A}"/>
              </a:ext>
            </a:extLst>
          </p:cNvPr>
          <p:cNvCxnSpPr>
            <a:cxnSpLocks/>
            <a:stCxn id="18" idx="3"/>
            <a:endCxn id="28" idx="1"/>
          </p:cNvCxnSpPr>
          <p:nvPr/>
        </p:nvCxnSpPr>
        <p:spPr>
          <a:xfrm>
            <a:off x="7061202" y="2192867"/>
            <a:ext cx="1037165" cy="37322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024195B4-8012-4D40-9C5D-56DE05A61130}"/>
              </a:ext>
            </a:extLst>
          </p:cNvPr>
          <p:cNvCxnSpPr>
            <a:cxnSpLocks/>
            <a:stCxn id="20" idx="3"/>
            <a:endCxn id="23" idx="1"/>
          </p:cNvCxnSpPr>
          <p:nvPr/>
        </p:nvCxnSpPr>
        <p:spPr>
          <a:xfrm flipV="1">
            <a:off x="7061202" y="2192867"/>
            <a:ext cx="1037165" cy="14450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123B11FF-8BC7-4F44-A1C9-B2CA7860FDD9}"/>
              </a:ext>
            </a:extLst>
          </p:cNvPr>
          <p:cNvCxnSpPr>
            <a:cxnSpLocks/>
            <a:stCxn id="20" idx="3"/>
            <a:endCxn id="25" idx="1"/>
          </p:cNvCxnSpPr>
          <p:nvPr/>
        </p:nvCxnSpPr>
        <p:spPr>
          <a:xfrm flipV="1">
            <a:off x="7061202" y="3405174"/>
            <a:ext cx="1037165" cy="23270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525335DD-DEC9-4541-9DCF-8FDD9A4EFA86}"/>
              </a:ext>
            </a:extLst>
          </p:cNvPr>
          <p:cNvCxnSpPr>
            <a:cxnSpLocks/>
            <a:stCxn id="20" idx="3"/>
            <a:endCxn id="26" idx="1"/>
          </p:cNvCxnSpPr>
          <p:nvPr/>
        </p:nvCxnSpPr>
        <p:spPr>
          <a:xfrm>
            <a:off x="7061202" y="3637877"/>
            <a:ext cx="1037165" cy="10272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79B31CF8-E86E-214E-BBC8-9F42B77A98E2}"/>
              </a:ext>
            </a:extLst>
          </p:cNvPr>
          <p:cNvCxnSpPr>
            <a:cxnSpLocks/>
            <a:stCxn id="20" idx="3"/>
            <a:endCxn id="28" idx="1"/>
          </p:cNvCxnSpPr>
          <p:nvPr/>
        </p:nvCxnSpPr>
        <p:spPr>
          <a:xfrm>
            <a:off x="7061202" y="3637877"/>
            <a:ext cx="1037165" cy="22872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2AA61CD2-9642-E040-9EC1-A079E66F4F2C}"/>
              </a:ext>
            </a:extLst>
          </p:cNvPr>
          <p:cNvCxnSpPr>
            <a:cxnSpLocks/>
            <a:stCxn id="21" idx="3"/>
            <a:endCxn id="23" idx="1"/>
          </p:cNvCxnSpPr>
          <p:nvPr/>
        </p:nvCxnSpPr>
        <p:spPr>
          <a:xfrm flipV="1">
            <a:off x="7061202" y="2192867"/>
            <a:ext cx="1037165" cy="301121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48DAD30D-8C1A-724E-8653-95A7D158856B}"/>
              </a:ext>
            </a:extLst>
          </p:cNvPr>
          <p:cNvCxnSpPr>
            <a:cxnSpLocks/>
            <a:stCxn id="21" idx="3"/>
            <a:endCxn id="25" idx="1"/>
          </p:cNvCxnSpPr>
          <p:nvPr/>
        </p:nvCxnSpPr>
        <p:spPr>
          <a:xfrm flipV="1">
            <a:off x="7061202" y="3405174"/>
            <a:ext cx="1037165" cy="17989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CCB7263F-259B-A14C-B845-29B74C63B2D9}"/>
              </a:ext>
            </a:extLst>
          </p:cNvPr>
          <p:cNvCxnSpPr>
            <a:cxnSpLocks/>
            <a:stCxn id="21" idx="3"/>
            <a:endCxn id="26" idx="1"/>
          </p:cNvCxnSpPr>
          <p:nvPr/>
        </p:nvCxnSpPr>
        <p:spPr>
          <a:xfrm flipV="1">
            <a:off x="7061202" y="4665133"/>
            <a:ext cx="1037165" cy="53895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6E145192-75EC-734C-85BA-F0E4F037DA18}"/>
              </a:ext>
            </a:extLst>
          </p:cNvPr>
          <p:cNvCxnSpPr>
            <a:cxnSpLocks/>
            <a:stCxn id="21" idx="3"/>
            <a:endCxn id="28" idx="1"/>
          </p:cNvCxnSpPr>
          <p:nvPr/>
        </p:nvCxnSpPr>
        <p:spPr>
          <a:xfrm>
            <a:off x="7061202" y="5204085"/>
            <a:ext cx="1037165" cy="72100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224562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1924E95-B662-476B-8747-32147EFC68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7933" y="136525"/>
            <a:ext cx="11616266" cy="6485754"/>
          </a:xfrm>
        </p:spPr>
        <p:txBody>
          <a:bodyPr>
            <a:normAutofit/>
          </a:bodyPr>
          <a:lstStyle/>
          <a:p>
            <a:pPr algn="ctr">
              <a:lnSpc>
                <a:spcPct val="150000"/>
              </a:lnSpc>
            </a:pPr>
            <a:r>
              <a:rPr lang="en-US" sz="3000" b="1" dirty="0"/>
              <a:t>Example</a:t>
            </a:r>
          </a:p>
          <a:p>
            <a:br>
              <a:rPr lang="en-US" sz="2400" dirty="0"/>
            </a:b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6ACA64-1602-4D57-9A3D-3E1EFB449B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D69B18-316A-457F-86C2-CFE4F951EE27}" type="slidenum">
              <a:rPr lang="en-IL" smtClean="0"/>
              <a:pPr/>
              <a:t>19</a:t>
            </a:fld>
            <a:endParaRPr lang="en-IL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DF2A5E-FADA-2843-B7A0-3CD8A067E5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  <a:endParaRPr lang="en-IL"/>
          </a:p>
        </p:txBody>
      </p:sp>
      <p:sp>
        <p:nvSpPr>
          <p:cNvPr id="3" name="Alternate Process 2">
            <a:extLst>
              <a:ext uri="{FF2B5EF4-FFF2-40B4-BE49-F238E27FC236}">
                <a16:creationId xmlns:a16="http://schemas.microsoft.com/office/drawing/2014/main" id="{0EECF884-FE53-9245-972A-83D98525E38F}"/>
              </a:ext>
            </a:extLst>
          </p:cNvPr>
          <p:cNvSpPr/>
          <p:nvPr/>
        </p:nvSpPr>
        <p:spPr>
          <a:xfrm>
            <a:off x="948266" y="2751667"/>
            <a:ext cx="2065867" cy="1524000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L" dirty="0"/>
              <a:t>A B R</a:t>
            </a:r>
          </a:p>
          <a:p>
            <a:pPr algn="ctr"/>
            <a:r>
              <a:rPr lang="en-IL" dirty="0"/>
              <a:t>C C R</a:t>
            </a:r>
          </a:p>
          <a:p>
            <a:pPr algn="ctr"/>
            <a:r>
              <a:rPr lang="en-IL" dirty="0"/>
              <a:t>A C B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87018DC-63B1-914A-9AE8-9A5FB1593549}"/>
              </a:ext>
            </a:extLst>
          </p:cNvPr>
          <p:cNvSpPr txBox="1"/>
          <p:nvPr/>
        </p:nvSpPr>
        <p:spPr>
          <a:xfrm>
            <a:off x="1397000" y="1092200"/>
            <a:ext cx="13377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L" dirty="0"/>
              <a:t>Input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E2BDBB2-3C9B-614C-9B46-F7B3969C84EB}"/>
              </a:ext>
            </a:extLst>
          </p:cNvPr>
          <p:cNvSpPr txBox="1"/>
          <p:nvPr/>
        </p:nvSpPr>
        <p:spPr>
          <a:xfrm>
            <a:off x="3979335" y="1092200"/>
            <a:ext cx="13377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L" dirty="0"/>
              <a:t>Split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2D7A096-E4E0-6542-A179-15807F975373}"/>
              </a:ext>
            </a:extLst>
          </p:cNvPr>
          <p:cNvSpPr txBox="1"/>
          <p:nvPr/>
        </p:nvSpPr>
        <p:spPr>
          <a:xfrm>
            <a:off x="6011335" y="1092200"/>
            <a:ext cx="13377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L" dirty="0"/>
              <a:t>Map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7CC957F-CEEF-004A-ADEC-ABA33BF2738C}"/>
              </a:ext>
            </a:extLst>
          </p:cNvPr>
          <p:cNvSpPr txBox="1"/>
          <p:nvPr/>
        </p:nvSpPr>
        <p:spPr>
          <a:xfrm>
            <a:off x="7958668" y="1092200"/>
            <a:ext cx="15324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L" dirty="0"/>
              <a:t>Shuffle &amp; Sort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C599264-8E37-1548-A143-5E554CADAB16}"/>
              </a:ext>
            </a:extLst>
          </p:cNvPr>
          <p:cNvSpPr txBox="1"/>
          <p:nvPr/>
        </p:nvSpPr>
        <p:spPr>
          <a:xfrm>
            <a:off x="10854267" y="1092200"/>
            <a:ext cx="13377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L" dirty="0"/>
              <a:t>Reduce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53AF6E7-4D32-FD4E-A62A-D191941AC8C0}"/>
              </a:ext>
            </a:extLst>
          </p:cNvPr>
          <p:cNvSpPr/>
          <p:nvPr/>
        </p:nvSpPr>
        <p:spPr>
          <a:xfrm>
            <a:off x="3742267" y="1744133"/>
            <a:ext cx="1490133" cy="44873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L" dirty="0"/>
              <a:t>A B 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DFFEB46-978F-2946-AFEF-9E8EC17587DC}"/>
              </a:ext>
            </a:extLst>
          </p:cNvPr>
          <p:cNvSpPr/>
          <p:nvPr/>
        </p:nvSpPr>
        <p:spPr>
          <a:xfrm>
            <a:off x="3742267" y="3227504"/>
            <a:ext cx="1490133" cy="44873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L" dirty="0"/>
              <a:t>C C R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7FE1AD3-7180-E044-866A-EC938FCE1588}"/>
              </a:ext>
            </a:extLst>
          </p:cNvPr>
          <p:cNvSpPr/>
          <p:nvPr/>
        </p:nvSpPr>
        <p:spPr>
          <a:xfrm>
            <a:off x="3742266" y="4755351"/>
            <a:ext cx="1490133" cy="44873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L" dirty="0"/>
              <a:t>A C B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C24BAE1-B3B4-4841-A985-F58C74A6DE21}"/>
              </a:ext>
            </a:extLst>
          </p:cNvPr>
          <p:cNvCxnSpPr>
            <a:stCxn id="3" idx="3"/>
            <a:endCxn id="11" idx="1"/>
          </p:cNvCxnSpPr>
          <p:nvPr/>
        </p:nvCxnSpPr>
        <p:spPr>
          <a:xfrm flipV="1">
            <a:off x="3014133" y="1968500"/>
            <a:ext cx="728134" cy="15451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5517F08B-BBFB-B740-9E06-ACDA93109D0A}"/>
              </a:ext>
            </a:extLst>
          </p:cNvPr>
          <p:cNvCxnSpPr>
            <a:stCxn id="3" idx="3"/>
            <a:endCxn id="12" idx="1"/>
          </p:cNvCxnSpPr>
          <p:nvPr/>
        </p:nvCxnSpPr>
        <p:spPr>
          <a:xfrm flipV="1">
            <a:off x="3014133" y="3451871"/>
            <a:ext cx="728134" cy="6179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050DA819-36C5-6A47-ADC4-B9E03DEDC527}"/>
              </a:ext>
            </a:extLst>
          </p:cNvPr>
          <p:cNvCxnSpPr>
            <a:stCxn id="3" idx="3"/>
            <a:endCxn id="13" idx="1"/>
          </p:cNvCxnSpPr>
          <p:nvPr/>
        </p:nvCxnSpPr>
        <p:spPr>
          <a:xfrm>
            <a:off x="3014133" y="3513667"/>
            <a:ext cx="728133" cy="14660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DC5D07B7-DA4D-414C-83F3-B271E87DC543}"/>
              </a:ext>
            </a:extLst>
          </p:cNvPr>
          <p:cNvSpPr/>
          <p:nvPr/>
        </p:nvSpPr>
        <p:spPr>
          <a:xfrm>
            <a:off x="5808134" y="1689100"/>
            <a:ext cx="1253068" cy="1007534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L" dirty="0"/>
              <a:t>A, 1</a:t>
            </a:r>
          </a:p>
          <a:p>
            <a:pPr algn="ctr"/>
            <a:r>
              <a:rPr lang="en-IL" dirty="0"/>
              <a:t>B, 1</a:t>
            </a:r>
          </a:p>
          <a:p>
            <a:pPr algn="ctr"/>
            <a:r>
              <a:rPr lang="en-IL" dirty="0"/>
              <a:t>R, 1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3A82160-2C8F-CF4A-97EB-5DF10B205288}"/>
              </a:ext>
            </a:extLst>
          </p:cNvPr>
          <p:cNvSpPr/>
          <p:nvPr/>
        </p:nvSpPr>
        <p:spPr>
          <a:xfrm>
            <a:off x="5808134" y="3134110"/>
            <a:ext cx="1253068" cy="1007534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L" dirty="0"/>
              <a:t>C, 1</a:t>
            </a:r>
          </a:p>
          <a:p>
            <a:pPr algn="ctr"/>
            <a:r>
              <a:rPr lang="en-IL" dirty="0"/>
              <a:t>C, 1</a:t>
            </a:r>
          </a:p>
          <a:p>
            <a:pPr algn="ctr"/>
            <a:r>
              <a:rPr lang="en-IL" dirty="0"/>
              <a:t>R, 1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0C80C25-DB38-EB44-B74A-5FABC203B048}"/>
              </a:ext>
            </a:extLst>
          </p:cNvPr>
          <p:cNvSpPr/>
          <p:nvPr/>
        </p:nvSpPr>
        <p:spPr>
          <a:xfrm>
            <a:off x="5808134" y="4700318"/>
            <a:ext cx="1253068" cy="1007534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L" dirty="0"/>
              <a:t>A, 1</a:t>
            </a:r>
          </a:p>
          <a:p>
            <a:pPr algn="ctr"/>
            <a:r>
              <a:rPr lang="en-IL" dirty="0"/>
              <a:t>C, 1 </a:t>
            </a:r>
          </a:p>
          <a:p>
            <a:pPr algn="ctr"/>
            <a:r>
              <a:rPr lang="en-IL" dirty="0"/>
              <a:t>B, 1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AEFCB9CA-3981-FF43-91A0-EB7CB1D6F458}"/>
              </a:ext>
            </a:extLst>
          </p:cNvPr>
          <p:cNvCxnSpPr>
            <a:cxnSpLocks/>
            <a:stCxn id="11" idx="3"/>
            <a:endCxn id="18" idx="1"/>
          </p:cNvCxnSpPr>
          <p:nvPr/>
        </p:nvCxnSpPr>
        <p:spPr>
          <a:xfrm>
            <a:off x="5232400" y="1968500"/>
            <a:ext cx="575734" cy="2243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D7CFA86D-647F-E143-8E05-8F35B4DD8EBE}"/>
              </a:ext>
            </a:extLst>
          </p:cNvPr>
          <p:cNvCxnSpPr>
            <a:cxnSpLocks/>
            <a:stCxn id="12" idx="3"/>
            <a:endCxn id="20" idx="1"/>
          </p:cNvCxnSpPr>
          <p:nvPr/>
        </p:nvCxnSpPr>
        <p:spPr>
          <a:xfrm>
            <a:off x="5232400" y="3451871"/>
            <a:ext cx="575734" cy="1860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DFC26473-D386-5A4A-8B01-B06C83C94995}"/>
              </a:ext>
            </a:extLst>
          </p:cNvPr>
          <p:cNvCxnSpPr>
            <a:cxnSpLocks/>
            <a:stCxn id="13" idx="3"/>
            <a:endCxn id="21" idx="1"/>
          </p:cNvCxnSpPr>
          <p:nvPr/>
        </p:nvCxnSpPr>
        <p:spPr>
          <a:xfrm>
            <a:off x="5232399" y="4979718"/>
            <a:ext cx="575735" cy="2243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 22">
            <a:extLst>
              <a:ext uri="{FF2B5EF4-FFF2-40B4-BE49-F238E27FC236}">
                <a16:creationId xmlns:a16="http://schemas.microsoft.com/office/drawing/2014/main" id="{BAB6F327-B807-4043-9404-51A896FD3FC8}"/>
              </a:ext>
            </a:extLst>
          </p:cNvPr>
          <p:cNvSpPr/>
          <p:nvPr/>
        </p:nvSpPr>
        <p:spPr>
          <a:xfrm>
            <a:off x="8098367" y="1689100"/>
            <a:ext cx="1253068" cy="1007534"/>
          </a:xfrm>
          <a:prstGeom prst="rect">
            <a:avLst/>
          </a:prstGeom>
          <a:solidFill>
            <a:srgbClr val="00905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L" dirty="0"/>
              <a:t>A, 1</a:t>
            </a:r>
          </a:p>
          <a:p>
            <a:pPr algn="ctr"/>
            <a:r>
              <a:rPr lang="en-IL" dirty="0"/>
              <a:t>A, 1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8AE1C2C-2679-2A49-9100-6720AFEEADFC}"/>
              </a:ext>
            </a:extLst>
          </p:cNvPr>
          <p:cNvSpPr/>
          <p:nvPr/>
        </p:nvSpPr>
        <p:spPr>
          <a:xfrm>
            <a:off x="8098367" y="2901407"/>
            <a:ext cx="1253068" cy="1007534"/>
          </a:xfrm>
          <a:prstGeom prst="rect">
            <a:avLst/>
          </a:prstGeom>
          <a:solidFill>
            <a:srgbClr val="00905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L" dirty="0"/>
              <a:t>B, 1</a:t>
            </a:r>
          </a:p>
          <a:p>
            <a:pPr algn="ctr"/>
            <a:r>
              <a:rPr lang="en-IL" dirty="0"/>
              <a:t>B, 1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91D4D04C-FE64-B344-BF84-BBF6152F5221}"/>
              </a:ext>
            </a:extLst>
          </p:cNvPr>
          <p:cNvSpPr/>
          <p:nvPr/>
        </p:nvSpPr>
        <p:spPr>
          <a:xfrm>
            <a:off x="8098367" y="4161366"/>
            <a:ext cx="1253068" cy="1007534"/>
          </a:xfrm>
          <a:prstGeom prst="rect">
            <a:avLst/>
          </a:prstGeom>
          <a:solidFill>
            <a:srgbClr val="00905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L" dirty="0"/>
              <a:t>C, 1</a:t>
            </a:r>
          </a:p>
          <a:p>
            <a:pPr algn="ctr"/>
            <a:r>
              <a:rPr lang="en-IL" dirty="0"/>
              <a:t>C, 1</a:t>
            </a:r>
          </a:p>
          <a:p>
            <a:pPr algn="ctr"/>
            <a:r>
              <a:rPr lang="en-IL" dirty="0"/>
              <a:t>C, 1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B8E6385-03E0-DA42-9797-9D806724118C}"/>
              </a:ext>
            </a:extLst>
          </p:cNvPr>
          <p:cNvSpPr/>
          <p:nvPr/>
        </p:nvSpPr>
        <p:spPr>
          <a:xfrm>
            <a:off x="8098367" y="5421325"/>
            <a:ext cx="1253068" cy="1007534"/>
          </a:xfrm>
          <a:prstGeom prst="rect">
            <a:avLst/>
          </a:prstGeom>
          <a:solidFill>
            <a:srgbClr val="00905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L" dirty="0"/>
              <a:t>R, 1</a:t>
            </a:r>
          </a:p>
          <a:p>
            <a:pPr algn="ctr"/>
            <a:r>
              <a:rPr lang="en-IL" dirty="0"/>
              <a:t>R, 1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D3477D2D-2C34-F84D-B361-A191CCC635C9}"/>
              </a:ext>
            </a:extLst>
          </p:cNvPr>
          <p:cNvCxnSpPr>
            <a:cxnSpLocks/>
            <a:stCxn id="18" idx="3"/>
            <a:endCxn id="23" idx="1"/>
          </p:cNvCxnSpPr>
          <p:nvPr/>
        </p:nvCxnSpPr>
        <p:spPr>
          <a:xfrm>
            <a:off x="7061202" y="2192867"/>
            <a:ext cx="103716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B8E0ABEE-6A79-5847-9235-B5BB1A2E13D0}"/>
              </a:ext>
            </a:extLst>
          </p:cNvPr>
          <p:cNvCxnSpPr>
            <a:cxnSpLocks/>
            <a:stCxn id="18" idx="3"/>
            <a:endCxn id="25" idx="1"/>
          </p:cNvCxnSpPr>
          <p:nvPr/>
        </p:nvCxnSpPr>
        <p:spPr>
          <a:xfrm>
            <a:off x="7061202" y="2192867"/>
            <a:ext cx="1037165" cy="121230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039A9FFF-953E-3C4F-AEB3-9E9F309637DE}"/>
              </a:ext>
            </a:extLst>
          </p:cNvPr>
          <p:cNvCxnSpPr>
            <a:cxnSpLocks/>
            <a:stCxn id="18" idx="3"/>
            <a:endCxn id="26" idx="1"/>
          </p:cNvCxnSpPr>
          <p:nvPr/>
        </p:nvCxnSpPr>
        <p:spPr>
          <a:xfrm>
            <a:off x="7061202" y="2192867"/>
            <a:ext cx="1037165" cy="24722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8D612A7-5F96-4747-9308-EB7D652CA88A}"/>
              </a:ext>
            </a:extLst>
          </p:cNvPr>
          <p:cNvCxnSpPr>
            <a:cxnSpLocks/>
            <a:stCxn id="18" idx="3"/>
            <a:endCxn id="28" idx="1"/>
          </p:cNvCxnSpPr>
          <p:nvPr/>
        </p:nvCxnSpPr>
        <p:spPr>
          <a:xfrm>
            <a:off x="7061202" y="2192867"/>
            <a:ext cx="1037165" cy="37322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024195B4-8012-4D40-9C5D-56DE05A61130}"/>
              </a:ext>
            </a:extLst>
          </p:cNvPr>
          <p:cNvCxnSpPr>
            <a:cxnSpLocks/>
            <a:stCxn id="20" idx="3"/>
            <a:endCxn id="23" idx="1"/>
          </p:cNvCxnSpPr>
          <p:nvPr/>
        </p:nvCxnSpPr>
        <p:spPr>
          <a:xfrm flipV="1">
            <a:off x="7061202" y="2192867"/>
            <a:ext cx="1037165" cy="14450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123B11FF-8BC7-4F44-A1C9-B2CA7860FDD9}"/>
              </a:ext>
            </a:extLst>
          </p:cNvPr>
          <p:cNvCxnSpPr>
            <a:cxnSpLocks/>
            <a:stCxn id="20" idx="3"/>
            <a:endCxn id="25" idx="1"/>
          </p:cNvCxnSpPr>
          <p:nvPr/>
        </p:nvCxnSpPr>
        <p:spPr>
          <a:xfrm flipV="1">
            <a:off x="7061202" y="3405174"/>
            <a:ext cx="1037165" cy="23270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525335DD-DEC9-4541-9DCF-8FDD9A4EFA86}"/>
              </a:ext>
            </a:extLst>
          </p:cNvPr>
          <p:cNvCxnSpPr>
            <a:cxnSpLocks/>
            <a:stCxn id="20" idx="3"/>
            <a:endCxn id="26" idx="1"/>
          </p:cNvCxnSpPr>
          <p:nvPr/>
        </p:nvCxnSpPr>
        <p:spPr>
          <a:xfrm>
            <a:off x="7061202" y="3637877"/>
            <a:ext cx="1037165" cy="10272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79B31CF8-E86E-214E-BBC8-9F42B77A98E2}"/>
              </a:ext>
            </a:extLst>
          </p:cNvPr>
          <p:cNvCxnSpPr>
            <a:cxnSpLocks/>
            <a:stCxn id="20" idx="3"/>
            <a:endCxn id="28" idx="1"/>
          </p:cNvCxnSpPr>
          <p:nvPr/>
        </p:nvCxnSpPr>
        <p:spPr>
          <a:xfrm>
            <a:off x="7061202" y="3637877"/>
            <a:ext cx="1037165" cy="22872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2AA61CD2-9642-E040-9EC1-A079E66F4F2C}"/>
              </a:ext>
            </a:extLst>
          </p:cNvPr>
          <p:cNvCxnSpPr>
            <a:cxnSpLocks/>
            <a:stCxn id="21" idx="3"/>
            <a:endCxn id="23" idx="1"/>
          </p:cNvCxnSpPr>
          <p:nvPr/>
        </p:nvCxnSpPr>
        <p:spPr>
          <a:xfrm flipV="1">
            <a:off x="7061202" y="2192867"/>
            <a:ext cx="1037165" cy="301121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48DAD30D-8C1A-724E-8653-95A7D158856B}"/>
              </a:ext>
            </a:extLst>
          </p:cNvPr>
          <p:cNvCxnSpPr>
            <a:cxnSpLocks/>
            <a:stCxn id="21" idx="3"/>
            <a:endCxn id="25" idx="1"/>
          </p:cNvCxnSpPr>
          <p:nvPr/>
        </p:nvCxnSpPr>
        <p:spPr>
          <a:xfrm flipV="1">
            <a:off x="7061202" y="3405174"/>
            <a:ext cx="1037165" cy="17989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CCB7263F-259B-A14C-B845-29B74C63B2D9}"/>
              </a:ext>
            </a:extLst>
          </p:cNvPr>
          <p:cNvCxnSpPr>
            <a:cxnSpLocks/>
            <a:stCxn id="21" idx="3"/>
            <a:endCxn id="26" idx="1"/>
          </p:cNvCxnSpPr>
          <p:nvPr/>
        </p:nvCxnSpPr>
        <p:spPr>
          <a:xfrm flipV="1">
            <a:off x="7061202" y="4665133"/>
            <a:ext cx="1037165" cy="53895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6E145192-75EC-734C-85BA-F0E4F037DA18}"/>
              </a:ext>
            </a:extLst>
          </p:cNvPr>
          <p:cNvCxnSpPr>
            <a:cxnSpLocks/>
            <a:stCxn id="21" idx="3"/>
            <a:endCxn id="28" idx="1"/>
          </p:cNvCxnSpPr>
          <p:nvPr/>
        </p:nvCxnSpPr>
        <p:spPr>
          <a:xfrm>
            <a:off x="7061202" y="5204085"/>
            <a:ext cx="1037165" cy="72100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7FA73CAD-A962-5C46-939D-79E188E79291}"/>
              </a:ext>
            </a:extLst>
          </p:cNvPr>
          <p:cNvSpPr/>
          <p:nvPr/>
        </p:nvSpPr>
        <p:spPr>
          <a:xfrm>
            <a:off x="10414000" y="2506133"/>
            <a:ext cx="1481667" cy="2159000"/>
          </a:xfrm>
          <a:prstGeom prst="round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L" dirty="0"/>
              <a:t>A, 2</a:t>
            </a:r>
          </a:p>
          <a:p>
            <a:pPr algn="ctr"/>
            <a:r>
              <a:rPr lang="en-IL" dirty="0"/>
              <a:t>B, 2</a:t>
            </a:r>
          </a:p>
          <a:p>
            <a:pPr algn="ctr"/>
            <a:r>
              <a:rPr lang="en-IL" dirty="0"/>
              <a:t>C, 3</a:t>
            </a:r>
          </a:p>
          <a:p>
            <a:pPr algn="ctr"/>
            <a:r>
              <a:rPr lang="en-IL" dirty="0"/>
              <a:t>R, 2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913013E3-9951-2A42-8EDC-98B99E1E0EA2}"/>
              </a:ext>
            </a:extLst>
          </p:cNvPr>
          <p:cNvCxnSpPr>
            <a:cxnSpLocks/>
            <a:stCxn id="23" idx="3"/>
            <a:endCxn id="14" idx="1"/>
          </p:cNvCxnSpPr>
          <p:nvPr/>
        </p:nvCxnSpPr>
        <p:spPr>
          <a:xfrm>
            <a:off x="9351435" y="2192867"/>
            <a:ext cx="1062565" cy="13927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74F81FCF-3F0E-BA47-B320-3ECC6AF0422A}"/>
              </a:ext>
            </a:extLst>
          </p:cNvPr>
          <p:cNvCxnSpPr>
            <a:cxnSpLocks/>
            <a:stCxn id="25" idx="3"/>
            <a:endCxn id="14" idx="1"/>
          </p:cNvCxnSpPr>
          <p:nvPr/>
        </p:nvCxnSpPr>
        <p:spPr>
          <a:xfrm>
            <a:off x="9351435" y="3405174"/>
            <a:ext cx="1062565" cy="18045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7C0F9BAF-088E-EF46-9CE8-C91969995B01}"/>
              </a:ext>
            </a:extLst>
          </p:cNvPr>
          <p:cNvCxnSpPr>
            <a:cxnSpLocks/>
            <a:stCxn id="26" idx="3"/>
            <a:endCxn id="14" idx="1"/>
          </p:cNvCxnSpPr>
          <p:nvPr/>
        </p:nvCxnSpPr>
        <p:spPr>
          <a:xfrm flipV="1">
            <a:off x="9351435" y="3585633"/>
            <a:ext cx="1062565" cy="10795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CBCAD225-A42E-AE4F-864B-B11FFC06AAA2}"/>
              </a:ext>
            </a:extLst>
          </p:cNvPr>
          <p:cNvCxnSpPr>
            <a:cxnSpLocks/>
            <a:stCxn id="28" idx="3"/>
            <a:endCxn id="14" idx="1"/>
          </p:cNvCxnSpPr>
          <p:nvPr/>
        </p:nvCxnSpPr>
        <p:spPr>
          <a:xfrm flipV="1">
            <a:off x="9351435" y="3585633"/>
            <a:ext cx="1062565" cy="233945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181281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C818C8-0B26-B523-2079-D0C2D645FA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3943EF-37DD-3F33-BC61-0AB1D22FF49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MR Algorithm – Formal Definition</a:t>
            </a:r>
            <a:endParaRPr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7E6255-20DA-3ACE-B990-BF2EE48BE2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B096ED-B344-973A-3756-9D2D32B479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20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9" name="טבלה 8">
                <a:extLst>
                  <a:ext uri="{FF2B5EF4-FFF2-40B4-BE49-F238E27FC236}">
                    <a16:creationId xmlns:a16="http://schemas.microsoft.com/office/drawing/2014/main" id="{7AA5C6F9-B831-0BB3-76EC-17DCE9CCCE5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02896771"/>
                  </p:ext>
                </p:extLst>
              </p:nvPr>
            </p:nvGraphicFramePr>
            <p:xfrm>
              <a:off x="2314426" y="2115002"/>
              <a:ext cx="5798894" cy="1771992"/>
            </p:xfrm>
            <a:graphic>
              <a:graphicData uri="http://schemas.openxmlformats.org/drawingml/2006/table">
                <a:tbl>
                  <a:tblPr firstRow="1" bandRow="1" bandCol="1">
                    <a:tableStyleId>{073A0DAA-6AF3-43AB-8588-CEC1D06C72B9}</a:tableStyleId>
                  </a:tblPr>
                  <a:tblGrid>
                    <a:gridCol w="1138779">
                      <a:extLst>
                        <a:ext uri="{9D8B030D-6E8A-4147-A177-3AD203B41FA5}">
                          <a16:colId xmlns:a16="http://schemas.microsoft.com/office/drawing/2014/main" val="4025591915"/>
                        </a:ext>
                      </a:extLst>
                    </a:gridCol>
                    <a:gridCol w="4660115">
                      <a:extLst>
                        <a:ext uri="{9D8B030D-6E8A-4147-A177-3AD203B41FA5}">
                          <a16:colId xmlns:a16="http://schemas.microsoft.com/office/drawing/2014/main" val="3689354355"/>
                        </a:ext>
                      </a:extLst>
                    </a:gridCol>
                  </a:tblGrid>
                  <a:tr h="242689">
                    <a:tc>
                      <a:txBody>
                        <a:bodyPr/>
                        <a:lstStyle/>
                        <a:p>
                          <a:pPr algn="ctr">
                            <a:spcBef>
                              <a:spcPts val="180"/>
                            </a:spcBef>
                            <a:spcAft>
                              <a:spcPts val="180"/>
                            </a:spcAft>
                            <a:buNone/>
                          </a:pPr>
                          <a:r>
                            <a:rPr lang="en-US" sz="1600">
                              <a:effectLst/>
                            </a:rPr>
                            <a:t>Symbol</a:t>
                          </a:r>
                          <a:endParaRPr lang="en-US" sz="1600">
                            <a:effectLst/>
                            <a:latin typeface="Aptos" panose="020B0004020202020204" pitchFamily="34" charset="0"/>
                            <a:ea typeface="Times New Roman" panose="02020603050405020304" pitchFamily="18" charset="0"/>
                            <a:cs typeface="Arial" panose="020B0604020202020204" pitchFamily="34" charset="0"/>
                          </a:endParaRPr>
                        </a:p>
                      </a:txBody>
                      <a:tcPr marL="68580" marR="68580" marT="0" marB="0" anchor="b"/>
                    </a:tc>
                    <a:tc>
                      <a:txBody>
                        <a:bodyPr/>
                        <a:lstStyle/>
                        <a:p>
                          <a:pPr algn="ctr">
                            <a:spcBef>
                              <a:spcPts val="180"/>
                            </a:spcBef>
                            <a:spcAft>
                              <a:spcPts val="180"/>
                            </a:spcAft>
                            <a:buNone/>
                          </a:pPr>
                          <a:r>
                            <a:rPr lang="en-US" sz="1600" dirty="0">
                              <a:effectLst/>
                            </a:rPr>
                            <a:t>Meaning</a:t>
                          </a:r>
                          <a:endParaRPr lang="en-US" sz="1600" dirty="0">
                            <a:effectLst/>
                            <a:latin typeface="Aptos" panose="020B0004020202020204" pitchFamily="34" charset="0"/>
                            <a:ea typeface="Times New Roman" panose="02020603050405020304" pitchFamily="18" charset="0"/>
                            <a:cs typeface="Arial" panose="020B0604020202020204" pitchFamily="34" charset="0"/>
                          </a:endParaRPr>
                        </a:p>
                      </a:txBody>
                      <a:tcPr marL="68580" marR="68580" marT="0" marB="0" anchor="b"/>
                    </a:tc>
                    <a:extLst>
                      <a:ext uri="{0D108BD9-81ED-4DB2-BD59-A6C34878D82A}">
                        <a16:rowId xmlns:a16="http://schemas.microsoft.com/office/drawing/2014/main" val="375116119"/>
                      </a:ext>
                    </a:extLst>
                  </a:tr>
                  <a:tr h="276396">
                    <a:tc>
                      <a:txBody>
                        <a:bodyPr/>
                        <a:lstStyle/>
                        <a:p>
                          <a:pPr algn="ctr">
                            <a:spcBef>
                              <a:spcPts val="180"/>
                            </a:spcBef>
                            <a:spcAft>
                              <a:spcPts val="18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1600" b="0" i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D</m:t>
                                </m:r>
                              </m:oMath>
                            </m:oMathPara>
                          </a14:m>
                          <a:endParaRPr lang="en-US" sz="1600" dirty="0">
                            <a:effectLst/>
                            <a:latin typeface="Aptos" panose="020B0004020202020204" pitchFamily="34" charset="0"/>
                            <a:ea typeface="Times New Roman" panose="02020603050405020304" pitchFamily="18" charset="0"/>
                            <a:cs typeface="Arial" panose="020B0604020202020204" pitchFamily="34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spcBef>
                              <a:spcPts val="180"/>
                            </a:spcBef>
                            <a:spcAft>
                              <a:spcPts val="180"/>
                            </a:spcAft>
                            <a:buNone/>
                          </a:pPr>
                          <a:r>
                            <a:rPr lang="en-US" sz="1600" dirty="0">
                              <a:effectLst/>
                            </a:rPr>
                            <a:t>The input dataset.</a:t>
                          </a:r>
                          <a:endParaRPr lang="en-US" sz="1600" dirty="0">
                            <a:effectLst/>
                            <a:latin typeface="Aptos" panose="020B0004020202020204" pitchFamily="34" charset="0"/>
                            <a:ea typeface="Times New Roman" panose="02020603050405020304" pitchFamily="18" charset="0"/>
                            <a:cs typeface="Arial" panose="020B0604020202020204" pitchFamily="34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513561108"/>
                      </a:ext>
                    </a:extLst>
                  </a:tr>
                  <a:tr h="276396">
                    <a:tc>
                      <a:txBody>
                        <a:bodyPr/>
                        <a:lstStyle/>
                        <a:p>
                          <a:pPr algn="ctr">
                            <a:spcBef>
                              <a:spcPts val="180"/>
                            </a:spcBef>
                            <a:spcAft>
                              <a:spcPts val="18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1600" b="0" i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M</m:t>
                                </m:r>
                              </m:oMath>
                            </m:oMathPara>
                          </a14:m>
                          <a:endParaRPr lang="en-US" sz="1600" dirty="0">
                            <a:effectLst/>
                            <a:latin typeface="Aptos" panose="020B0004020202020204" pitchFamily="34" charset="0"/>
                            <a:ea typeface="Times New Roman" panose="02020603050405020304" pitchFamily="18" charset="0"/>
                            <a:cs typeface="Arial" panose="020B0604020202020204" pitchFamily="34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spcBef>
                              <a:spcPts val="180"/>
                            </a:spcBef>
                            <a:spcAft>
                              <a:spcPts val="180"/>
                            </a:spcAft>
                            <a:buNone/>
                          </a:pPr>
                          <a:r>
                            <a:rPr lang="en-US" sz="1600" dirty="0">
                              <a:effectLst/>
                            </a:rPr>
                            <a:t>A multiset. Duplicates are allowed.</a:t>
                          </a:r>
                          <a:endParaRPr lang="en-US" sz="1600" dirty="0">
                            <a:effectLst/>
                            <a:latin typeface="Aptos" panose="020B0004020202020204" pitchFamily="34" charset="0"/>
                            <a:ea typeface="Times New Roman" panose="02020603050405020304" pitchFamily="18" charset="0"/>
                            <a:cs typeface="Arial" panose="020B0604020202020204" pitchFamily="34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2348433625"/>
                      </a:ext>
                    </a:extLst>
                  </a:tr>
                  <a:tr h="276396">
                    <a:tc>
                      <a:txBody>
                        <a:bodyPr/>
                        <a:lstStyle/>
                        <a:p>
                          <a:pPr algn="ctr">
                            <a:spcBef>
                              <a:spcPts val="180"/>
                            </a:spcBef>
                            <a:spcAft>
                              <a:spcPts val="18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60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e>
                                  <m:sub>
                                    <m:r>
                                      <a:rPr lang="en-US" sz="16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>
                            <a:effectLst/>
                            <a:latin typeface="Aptos" panose="020B0004020202020204" pitchFamily="34" charset="0"/>
                            <a:ea typeface="Times New Roman" panose="02020603050405020304" pitchFamily="18" charset="0"/>
                            <a:cs typeface="Arial" panose="020B0604020202020204" pitchFamily="34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spcBef>
                              <a:spcPts val="180"/>
                            </a:spcBef>
                            <a:spcAft>
                              <a:spcPts val="180"/>
                            </a:spcAft>
                            <a:buNone/>
                          </a:pPr>
                          <a:r>
                            <a:rPr lang="en-US" sz="1600" dirty="0">
                              <a:effectLst/>
                            </a:rPr>
                            <a:t>The input-key domain. </a:t>
                          </a:r>
                          <a:br>
                            <a:rPr lang="en-US" sz="1600" dirty="0">
                              <a:effectLst/>
                            </a:rPr>
                          </a:br>
                          <a:r>
                            <a:rPr lang="en-US" sz="1600" dirty="0">
                              <a:effectLst/>
                            </a:rPr>
                            <a:t>Example: line number, byte offset, record ID.</a:t>
                          </a:r>
                          <a:endParaRPr lang="en-US" sz="1600" dirty="0">
                            <a:effectLst/>
                            <a:latin typeface="Aptos" panose="020B0004020202020204" pitchFamily="34" charset="0"/>
                            <a:ea typeface="Times New Roman" panose="02020603050405020304" pitchFamily="18" charset="0"/>
                            <a:cs typeface="Arial" panose="020B0604020202020204" pitchFamily="34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1476818885"/>
                      </a:ext>
                    </a:extLst>
                  </a:tr>
                  <a:tr h="276396">
                    <a:tc>
                      <a:txBody>
                        <a:bodyPr/>
                        <a:lstStyle/>
                        <a:p>
                          <a:pPr algn="ctr">
                            <a:spcBef>
                              <a:spcPts val="180"/>
                            </a:spcBef>
                            <a:spcAft>
                              <a:spcPts val="18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60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𝑉</m:t>
                                    </m:r>
                                  </m:e>
                                  <m:sub>
                                    <m:r>
                                      <a:rPr lang="en-US" sz="16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>
                            <a:effectLst/>
                            <a:latin typeface="Aptos" panose="020B0004020202020204" pitchFamily="34" charset="0"/>
                            <a:ea typeface="Times New Roman" panose="02020603050405020304" pitchFamily="18" charset="0"/>
                            <a:cs typeface="Arial" panose="020B0604020202020204" pitchFamily="34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spcBef>
                              <a:spcPts val="180"/>
                            </a:spcBef>
                            <a:spcAft>
                              <a:spcPts val="180"/>
                            </a:spcAft>
                            <a:buNone/>
                          </a:pPr>
                          <a:r>
                            <a:rPr lang="en-US" sz="1600" dirty="0">
                              <a:effectLst/>
                            </a:rPr>
                            <a:t>The input-value domain. </a:t>
                          </a:r>
                          <a:br>
                            <a:rPr lang="en-US" sz="1600" dirty="0">
                              <a:effectLst/>
                            </a:rPr>
                          </a:br>
                          <a:r>
                            <a:rPr lang="en-US" sz="1600" dirty="0">
                              <a:effectLst/>
                            </a:rPr>
                            <a:t>Example: line text, order row, log event.</a:t>
                          </a:r>
                          <a:endParaRPr lang="en-US" sz="1600" dirty="0">
                            <a:effectLst/>
                            <a:latin typeface="Aptos" panose="020B0004020202020204" pitchFamily="34" charset="0"/>
                            <a:ea typeface="Times New Roman" panose="02020603050405020304" pitchFamily="18" charset="0"/>
                            <a:cs typeface="Arial" panose="020B0604020202020204" pitchFamily="34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244366481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9" name="טבלה 8">
                <a:extLst>
                  <a:ext uri="{FF2B5EF4-FFF2-40B4-BE49-F238E27FC236}">
                    <a16:creationId xmlns:a16="http://schemas.microsoft.com/office/drawing/2014/main" id="{7AA5C6F9-B831-0BB3-76EC-17DCE9CCCE5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02896771"/>
                  </p:ext>
                </p:extLst>
              </p:nvPr>
            </p:nvGraphicFramePr>
            <p:xfrm>
              <a:off x="2314426" y="2115002"/>
              <a:ext cx="5798894" cy="1771992"/>
            </p:xfrm>
            <a:graphic>
              <a:graphicData uri="http://schemas.openxmlformats.org/drawingml/2006/table">
                <a:tbl>
                  <a:tblPr firstRow="1" bandRow="1" bandCol="1">
                    <a:tableStyleId>{073A0DAA-6AF3-43AB-8588-CEC1D06C72B9}</a:tableStyleId>
                  </a:tblPr>
                  <a:tblGrid>
                    <a:gridCol w="1138779">
                      <a:extLst>
                        <a:ext uri="{9D8B030D-6E8A-4147-A177-3AD203B41FA5}">
                          <a16:colId xmlns:a16="http://schemas.microsoft.com/office/drawing/2014/main" val="4025591915"/>
                        </a:ext>
                      </a:extLst>
                    </a:gridCol>
                    <a:gridCol w="4660115">
                      <a:extLst>
                        <a:ext uri="{9D8B030D-6E8A-4147-A177-3AD203B41FA5}">
                          <a16:colId xmlns:a16="http://schemas.microsoft.com/office/drawing/2014/main" val="3689354355"/>
                        </a:ext>
                      </a:extLst>
                    </a:gridCol>
                  </a:tblGrid>
                  <a:tr h="243840">
                    <a:tc>
                      <a:txBody>
                        <a:bodyPr/>
                        <a:lstStyle/>
                        <a:p>
                          <a:pPr algn="ctr">
                            <a:spcBef>
                              <a:spcPts val="180"/>
                            </a:spcBef>
                            <a:spcAft>
                              <a:spcPts val="180"/>
                            </a:spcAft>
                            <a:buNone/>
                          </a:pPr>
                          <a:r>
                            <a:rPr lang="en-US" sz="1600">
                              <a:effectLst/>
                            </a:rPr>
                            <a:t>Symbol</a:t>
                          </a:r>
                          <a:endParaRPr lang="en-US" sz="1600">
                            <a:effectLst/>
                            <a:latin typeface="Aptos" panose="020B0004020202020204" pitchFamily="34" charset="0"/>
                            <a:ea typeface="Times New Roman" panose="02020603050405020304" pitchFamily="18" charset="0"/>
                            <a:cs typeface="Arial" panose="020B0604020202020204" pitchFamily="34" charset="0"/>
                          </a:endParaRPr>
                        </a:p>
                      </a:txBody>
                      <a:tcPr marL="68580" marR="68580" marT="0" marB="0" anchor="b"/>
                    </a:tc>
                    <a:tc>
                      <a:txBody>
                        <a:bodyPr/>
                        <a:lstStyle/>
                        <a:p>
                          <a:pPr algn="ctr">
                            <a:spcBef>
                              <a:spcPts val="180"/>
                            </a:spcBef>
                            <a:spcAft>
                              <a:spcPts val="180"/>
                            </a:spcAft>
                            <a:buNone/>
                          </a:pPr>
                          <a:r>
                            <a:rPr lang="en-US" sz="1600" dirty="0">
                              <a:effectLst/>
                            </a:rPr>
                            <a:t>Meaning</a:t>
                          </a:r>
                          <a:endParaRPr lang="en-US" sz="1600" dirty="0">
                            <a:effectLst/>
                            <a:latin typeface="Aptos" panose="020B0004020202020204" pitchFamily="34" charset="0"/>
                            <a:ea typeface="Times New Roman" panose="02020603050405020304" pitchFamily="18" charset="0"/>
                            <a:cs typeface="Arial" panose="020B0604020202020204" pitchFamily="34" charset="0"/>
                          </a:endParaRPr>
                        </a:p>
                      </a:txBody>
                      <a:tcPr marL="68580" marR="68580" marT="0" marB="0" anchor="b"/>
                    </a:tc>
                    <a:extLst>
                      <a:ext uri="{0D108BD9-81ED-4DB2-BD59-A6C34878D82A}">
                        <a16:rowId xmlns:a16="http://schemas.microsoft.com/office/drawing/2014/main" val="375116119"/>
                      </a:ext>
                    </a:extLst>
                  </a:tr>
                  <a:tr h="276396">
                    <a:tc>
                      <a:txBody>
                        <a:bodyPr/>
                        <a:lstStyle/>
                        <a:p>
                          <a:endParaRPr lang="he-IL"/>
                        </a:p>
                      </a:txBody>
                      <a:tcPr marL="68580" marR="68580" marT="0" marB="0">
                        <a:blipFill>
                          <a:blip r:embed="rId2"/>
                          <a:stretch>
                            <a:fillRect l="-1111" t="-109091" r="-411111" b="-4954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spcBef>
                              <a:spcPts val="180"/>
                            </a:spcBef>
                            <a:spcAft>
                              <a:spcPts val="180"/>
                            </a:spcAft>
                            <a:buNone/>
                          </a:pPr>
                          <a:r>
                            <a:rPr lang="en-US" sz="1600" dirty="0">
                              <a:effectLst/>
                            </a:rPr>
                            <a:t>The input dataset.</a:t>
                          </a:r>
                          <a:endParaRPr lang="en-US" sz="1600" dirty="0">
                            <a:effectLst/>
                            <a:latin typeface="Aptos" panose="020B0004020202020204" pitchFamily="34" charset="0"/>
                            <a:ea typeface="Times New Roman" panose="02020603050405020304" pitchFamily="18" charset="0"/>
                            <a:cs typeface="Arial" panose="020B0604020202020204" pitchFamily="34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513561108"/>
                      </a:ext>
                    </a:extLst>
                  </a:tr>
                  <a:tr h="276396">
                    <a:tc>
                      <a:txBody>
                        <a:bodyPr/>
                        <a:lstStyle/>
                        <a:p>
                          <a:endParaRPr lang="he-IL"/>
                        </a:p>
                      </a:txBody>
                      <a:tcPr marL="68580" marR="68580" marT="0" marB="0">
                        <a:blipFill>
                          <a:blip r:embed="rId2"/>
                          <a:stretch>
                            <a:fillRect l="-1111" t="-209091" r="-411111" b="-3954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spcBef>
                              <a:spcPts val="180"/>
                            </a:spcBef>
                            <a:spcAft>
                              <a:spcPts val="180"/>
                            </a:spcAft>
                            <a:buNone/>
                          </a:pPr>
                          <a:r>
                            <a:rPr lang="en-US" sz="1600" dirty="0">
                              <a:effectLst/>
                            </a:rPr>
                            <a:t>A multiset. Duplicates are allowed.</a:t>
                          </a:r>
                          <a:endParaRPr lang="en-US" sz="1600" dirty="0">
                            <a:effectLst/>
                            <a:latin typeface="Aptos" panose="020B0004020202020204" pitchFamily="34" charset="0"/>
                            <a:ea typeface="Times New Roman" panose="02020603050405020304" pitchFamily="18" charset="0"/>
                            <a:cs typeface="Arial" panose="020B0604020202020204" pitchFamily="34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2348433625"/>
                      </a:ext>
                    </a:extLst>
                  </a:tr>
                  <a:tr h="487680">
                    <a:tc>
                      <a:txBody>
                        <a:bodyPr/>
                        <a:lstStyle/>
                        <a:p>
                          <a:endParaRPr lang="he-IL"/>
                        </a:p>
                      </a:txBody>
                      <a:tcPr marL="68580" marR="68580" marT="0" marB="0">
                        <a:blipFill>
                          <a:blip r:embed="rId2"/>
                          <a:stretch>
                            <a:fillRect l="-1111" t="-174359" r="-411111" b="-12307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spcBef>
                              <a:spcPts val="180"/>
                            </a:spcBef>
                            <a:spcAft>
                              <a:spcPts val="180"/>
                            </a:spcAft>
                            <a:buNone/>
                          </a:pPr>
                          <a:r>
                            <a:rPr lang="en-US" sz="1600" dirty="0">
                              <a:effectLst/>
                            </a:rPr>
                            <a:t>The input-key domain. </a:t>
                          </a:r>
                          <a:br>
                            <a:rPr lang="en-US" sz="1600" dirty="0">
                              <a:effectLst/>
                            </a:rPr>
                          </a:br>
                          <a:r>
                            <a:rPr lang="en-US" sz="1600" dirty="0">
                              <a:effectLst/>
                            </a:rPr>
                            <a:t>Example: line number, byte offset, record ID.</a:t>
                          </a:r>
                          <a:endParaRPr lang="en-US" sz="1600" dirty="0">
                            <a:effectLst/>
                            <a:latin typeface="Aptos" panose="020B0004020202020204" pitchFamily="34" charset="0"/>
                            <a:ea typeface="Times New Roman" panose="02020603050405020304" pitchFamily="18" charset="0"/>
                            <a:cs typeface="Arial" panose="020B0604020202020204" pitchFamily="34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1476818885"/>
                      </a:ext>
                    </a:extLst>
                  </a:tr>
                  <a:tr h="487680">
                    <a:tc>
                      <a:txBody>
                        <a:bodyPr/>
                        <a:lstStyle/>
                        <a:p>
                          <a:endParaRPr lang="he-IL"/>
                        </a:p>
                      </a:txBody>
                      <a:tcPr marL="68580" marR="68580" marT="0" marB="0">
                        <a:blipFill>
                          <a:blip r:embed="rId2"/>
                          <a:stretch>
                            <a:fillRect l="-1111" t="-274359" r="-411111" b="-2307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spcBef>
                              <a:spcPts val="180"/>
                            </a:spcBef>
                            <a:spcAft>
                              <a:spcPts val="180"/>
                            </a:spcAft>
                            <a:buNone/>
                          </a:pPr>
                          <a:r>
                            <a:rPr lang="en-US" sz="1600" dirty="0">
                              <a:effectLst/>
                            </a:rPr>
                            <a:t>The input-value domain. </a:t>
                          </a:r>
                          <a:br>
                            <a:rPr lang="en-US" sz="1600" dirty="0">
                              <a:effectLst/>
                            </a:rPr>
                          </a:br>
                          <a:r>
                            <a:rPr lang="en-US" sz="1600" dirty="0">
                              <a:effectLst/>
                            </a:rPr>
                            <a:t>Example: line text, order row, log event.</a:t>
                          </a:r>
                          <a:endParaRPr lang="en-US" sz="1600" dirty="0">
                            <a:effectLst/>
                            <a:latin typeface="Aptos" panose="020B0004020202020204" pitchFamily="34" charset="0"/>
                            <a:ea typeface="Times New Roman" panose="02020603050405020304" pitchFamily="18" charset="0"/>
                            <a:cs typeface="Arial" panose="020B0604020202020204" pitchFamily="34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2443664817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תיבת טקסט 10">
                <a:extLst>
                  <a:ext uri="{FF2B5EF4-FFF2-40B4-BE49-F238E27FC236}">
                    <a16:creationId xmlns:a16="http://schemas.microsoft.com/office/drawing/2014/main" id="{6D403CD3-92DD-8737-B570-F0A29F4CD0A2}"/>
                  </a:ext>
                </a:extLst>
              </p:cNvPr>
              <p:cNvSpPr txBox="1"/>
              <p:nvPr/>
            </p:nvSpPr>
            <p:spPr>
              <a:xfrm>
                <a:off x="1043491" y="1456521"/>
                <a:ext cx="10187493" cy="46276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Bef>
                    <a:spcPts val="900"/>
                  </a:spcBef>
                  <a:spcAft>
                    <a:spcPts val="900"/>
                  </a:spcAft>
                </a:pPr>
                <a:r>
                  <a:rPr lang="en-US" sz="2400" dirty="0">
                    <a:latin typeface="Aptos" panose="020B0004020202020204" pitchFamily="34" charset="0"/>
                    <a:ea typeface="Times New Roman" panose="02020603050405020304" pitchFamily="18" charset="0"/>
                    <a:cs typeface="Arial" panose="020B0604020202020204" pitchFamily="34" charset="0"/>
                  </a:rPr>
                  <a:t>Given dataset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  <a:ea typeface="Times New Roman" panose="02020603050405020304" pitchFamily="18" charset="0"/>
                        <a:cs typeface="Arial" panose="020B0604020202020204" pitchFamily="34" charset="0"/>
                      </a:rPr>
                      <m:t>D</m:t>
                    </m:r>
                    <m:r>
                      <a:rPr lang="en-US" sz="2400">
                        <a:latin typeface="Cambria Math" panose="02040503050406030204" pitchFamily="18" charset="0"/>
                        <a:ea typeface="Times New Roman" panose="02020603050405020304" pitchFamily="18" charset="0"/>
                        <a:cs typeface="Arial" panose="020B0604020202020204" pitchFamily="34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  <a:ea typeface="Times New Roman" panose="02020603050405020304" pitchFamily="18" charset="0"/>
                        <a:cs typeface="Arial" panose="020B0604020202020204" pitchFamily="34" charset="0"/>
                      </a:rPr>
                      <m:t>M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Arial" panose="020B0604020202020204" pitchFamily="34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Arial" panose="020B0604020202020204" pitchFamily="34" charset="0"/>
                              </a:rPr>
                              <m:t>𝐾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Arial" panose="020B0604020202020204" pitchFamily="34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400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Arial" panose="020B0604020202020204" pitchFamily="34" charset="0"/>
                          </a:rPr>
                          <m:t>×</m:t>
                        </m:r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Arial" panose="020B0604020202020204" pitchFamily="34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Arial" panose="020B0604020202020204" pitchFamily="34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Arial" panose="020B0604020202020204" pitchFamily="34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sz="2400" b="0" i="0" smtClean="0">
                        <a:latin typeface="Cambria Math" panose="02040503050406030204" pitchFamily="18" charset="0"/>
                        <a:ea typeface="Times New Roman" panose="02020603050405020304" pitchFamily="18" charset="0"/>
                        <a:cs typeface="Arial" panose="020B0604020202020204" pitchFamily="34" charset="0"/>
                      </a:rPr>
                      <m:t>,</m:t>
                    </m:r>
                  </m:oMath>
                </a14:m>
                <a:r>
                  <a:rPr lang="en-US" sz="2400" dirty="0">
                    <a:latin typeface="Aptos" panose="020B0004020202020204" pitchFamily="34" charset="0"/>
                    <a:ea typeface="Times New Roman" panose="02020603050405020304" pitchFamily="18" charset="0"/>
                    <a:cs typeface="Arial" panose="020B0604020202020204" pitchFamily="34" charset="0"/>
                  </a:rPr>
                  <a:t> where:</a:t>
                </a:r>
              </a:p>
              <a:p>
                <a:pPr>
                  <a:spcBef>
                    <a:spcPts val="900"/>
                  </a:spcBef>
                  <a:spcAft>
                    <a:spcPts val="900"/>
                  </a:spcAft>
                </a:pPr>
                <a:endParaRPr lang="en-US" sz="2400" dirty="0">
                  <a:latin typeface="Aptos" panose="020B00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endParaRPr>
              </a:p>
              <a:p>
                <a:pPr>
                  <a:spcBef>
                    <a:spcPts val="900"/>
                  </a:spcBef>
                  <a:spcAft>
                    <a:spcPts val="900"/>
                  </a:spcAft>
                </a:pPr>
                <a:endParaRPr lang="en-US" sz="2400" dirty="0">
                  <a:latin typeface="Aptos" panose="020B00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endParaRPr>
              </a:p>
              <a:p>
                <a:pPr>
                  <a:lnSpc>
                    <a:spcPct val="150000"/>
                  </a:lnSpc>
                  <a:spcBef>
                    <a:spcPts val="900"/>
                  </a:spcBef>
                  <a:spcAft>
                    <a:spcPts val="900"/>
                  </a:spcAft>
                </a:pPr>
                <a:endParaRPr lang="en-US" sz="2400" dirty="0">
                  <a:latin typeface="Aptos" panose="020B00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endParaRPr>
              </a:p>
              <a:p>
                <a:pPr>
                  <a:lnSpc>
                    <a:spcPct val="150000"/>
                  </a:lnSpc>
                  <a:spcBef>
                    <a:spcPts val="900"/>
                  </a:spcBef>
                  <a:spcAft>
                    <a:spcPts val="900"/>
                  </a:spcAft>
                </a:pPr>
                <a:r>
                  <a:rPr lang="en-US" sz="2400" dirty="0">
                    <a:latin typeface="Aptos" panose="020B0004020202020204" pitchFamily="34" charset="0"/>
                    <a:ea typeface="Times New Roman" panose="02020603050405020304" pitchFamily="18" charset="0"/>
                    <a:cs typeface="Arial" panose="020B0604020202020204" pitchFamily="34" charset="0"/>
                  </a:rPr>
                  <a:t>The mapper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>
                    <a:latin typeface="Aptos" panose="020B0004020202020204" pitchFamily="34" charset="0"/>
                    <a:ea typeface="Times New Roman" panose="02020603050405020304" pitchFamily="18" charset="0"/>
                    <a:cs typeface="Arial" panose="020B0604020202020204" pitchFamily="34" charset="0"/>
                  </a:rPr>
                  <a:t>transform input record </a:t>
                </a:r>
                <a14:m>
                  <m:oMath xmlns:m="http://schemas.openxmlformats.org/officeDocument/2006/math">
                    <m:r>
                      <a:rPr lang="en-US" sz="240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>
                        <a:latin typeface="Cambria Math" panose="02040503050406030204" pitchFamily="18" charset="0"/>
                      </a:rPr>
                      <m:t>)∈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>
                        <a:latin typeface="Cambria Math" panose="02040503050406030204" pitchFamily="18" charset="0"/>
                      </a:rPr>
                      <m:t>×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2400" dirty="0"/>
                  <a:t> to</a:t>
                </a:r>
              </a:p>
              <a:p>
                <a:pPr algn="ctr">
                  <a:lnSpc>
                    <a:spcPct val="150000"/>
                  </a:lnSpc>
                  <a:spcBef>
                    <a:spcPts val="900"/>
                  </a:spcBef>
                  <a:spcAft>
                    <a:spcPts val="900"/>
                  </a:spcAft>
                </a:pP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>
                        <a:latin typeface="Cambria Math" panose="02040503050406030204" pitchFamily="18" charset="0"/>
                      </a:rPr>
                      <m:t>×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>
                        <a:latin typeface="Cambria Math" panose="02040503050406030204" pitchFamily="18" charset="0"/>
                      </a:rPr>
                      <m:t>→</m:t>
                    </m:r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M</m:t>
                    </m:r>
                    <m:r>
                      <a:rPr lang="en-US" sz="240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400">
                        <a:latin typeface="Cambria Math" panose="02040503050406030204" pitchFamily="18" charset="0"/>
                      </a:rPr>
                      <m:t>×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40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>
                    <a:effectLst/>
                  </a:rPr>
                  <a:t> </a:t>
                </a:r>
                <a:endParaRPr lang="en-US" sz="2400" dirty="0"/>
              </a:p>
              <a:p>
                <a:pPr>
                  <a:lnSpc>
                    <a:spcPct val="150000"/>
                  </a:lnSpc>
                </a:pPr>
                <a:r>
                  <a:rPr lang="en-US" sz="2400" dirty="0"/>
                  <a:t>The reducer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2400" dirty="0"/>
                  <a:t> transforms grouped records into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2400">
                        <a:latin typeface="Cambria Math" panose="02040503050406030204" pitchFamily="18" charset="0"/>
                      </a:rPr>
                      <m:t>: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400">
                        <a:latin typeface="Cambria Math" panose="02040503050406030204" pitchFamily="18" charset="0"/>
                      </a:rPr>
                      <m:t>×</m:t>
                    </m:r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M</m:t>
                    </m:r>
                    <m:r>
                      <a:rPr lang="en-US" sz="240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400">
                        <a:latin typeface="Cambria Math" panose="02040503050406030204" pitchFamily="18" charset="0"/>
                      </a:rPr>
                      <m:t>)→</m:t>
                    </m:r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M</m:t>
                    </m:r>
                    <m:r>
                      <a:rPr lang="en-US" sz="240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sz="2400">
                        <a:latin typeface="Cambria Math" panose="02040503050406030204" pitchFamily="18" charset="0"/>
                      </a:rPr>
                      <m:t>×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sz="240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11" name="תיבת טקסט 10">
                <a:extLst>
                  <a:ext uri="{FF2B5EF4-FFF2-40B4-BE49-F238E27FC236}">
                    <a16:creationId xmlns:a16="http://schemas.microsoft.com/office/drawing/2014/main" id="{6D403CD3-92DD-8737-B570-F0A29F4CD0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3491" y="1456521"/>
                <a:ext cx="10187493" cy="4627677"/>
              </a:xfrm>
              <a:prstGeom prst="rect">
                <a:avLst/>
              </a:prstGeom>
              <a:blipFill>
                <a:blip r:embed="rId3"/>
                <a:stretch>
                  <a:fillRect l="-996" t="-1093" b="-1913"/>
                </a:stretch>
              </a:blipFill>
            </p:spPr>
            <p:txBody>
              <a:bodyPr/>
              <a:lstStyle/>
              <a:p>
                <a:r>
                  <a:rPr lang="he-I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3184572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מלבן מעוגל 5">
            <a:extLst>
              <a:ext uri="{FF2B5EF4-FFF2-40B4-BE49-F238E27FC236}">
                <a16:creationId xmlns:a16="http://schemas.microsoft.com/office/drawing/2014/main" id="{178BDB4A-C462-40C7-B10F-511D21267A56}"/>
              </a:ext>
            </a:extLst>
          </p:cNvPr>
          <p:cNvSpPr>
            <a:spLocks noGrp="1"/>
          </p:cNvSpPr>
          <p:nvPr/>
        </p:nvSpPr>
        <p:spPr>
          <a:xfrm>
            <a:off x="111122" y="1483336"/>
            <a:ext cx="299402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2D2D2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7" name="מלבן 6">
            <a:extLst>
              <a:ext uri="{FF2B5EF4-FFF2-40B4-BE49-F238E27FC236}">
                <a16:creationId xmlns:a16="http://schemas.microsoft.com/office/drawing/2014/main" id="{3D17A06F-D053-4AE1-9300-197630DA7398}"/>
              </a:ext>
            </a:extLst>
          </p:cNvPr>
          <p:cNvSpPr>
            <a:spLocks noGrp="1"/>
          </p:cNvSpPr>
          <p:nvPr/>
        </p:nvSpPr>
        <p:spPr>
          <a:xfrm>
            <a:off x="111122" y="1424498"/>
            <a:ext cx="2994028" cy="73152"/>
          </a:xfrm>
          <a:prstGeom prst="rect">
            <a:avLst/>
          </a:prstGeom>
          <a:solidFill>
            <a:srgbClr val="C46F68"/>
          </a:solidFill>
          <a:ln w="9525">
            <a:solidFill>
              <a:srgbClr val="C46F68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8" name="מלבן 7">
            <a:extLst>
              <a:ext uri="{FF2B5EF4-FFF2-40B4-BE49-F238E27FC236}">
                <a16:creationId xmlns:a16="http://schemas.microsoft.com/office/drawing/2014/main" id="{7A2C47E9-80E9-496E-844A-2E0EB40DDD63}"/>
              </a:ext>
            </a:extLst>
          </p:cNvPr>
          <p:cNvSpPr>
            <a:spLocks noGrp="1"/>
          </p:cNvSpPr>
          <p:nvPr/>
        </p:nvSpPr>
        <p:spPr>
          <a:xfrm>
            <a:off x="423820" y="1650976"/>
            <a:ext cx="2490830" cy="27432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  <p:txBody>
          <a:bodyPr wrap="square" lIns="36576" tIns="18288" rIns="36576" bIns="18288" anchor="ctr"/>
          <a:lstStyle/>
          <a:p>
            <a:pPr algn="l">
              <a:defRPr sz="1425" b="1" i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000" b="0" dirty="0">
                <a:solidFill>
                  <a:srgbClr val="000000"/>
                </a:solidFill>
                <a:latin typeface="Calibri"/>
              </a:rPr>
              <a:t>Map all records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מלבן 8">
                <a:extLst>
                  <a:ext uri="{FF2B5EF4-FFF2-40B4-BE49-F238E27FC236}">
                    <a16:creationId xmlns:a16="http://schemas.microsoft.com/office/drawing/2014/main" id="{B1603991-E7C7-4AEA-9E54-268E442FBE2E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44966" y="1886455"/>
                <a:ext cx="2791986" cy="640080"/>
              </a:xfrm>
              <a:prstGeom prst="rect">
                <a:avLst/>
              </a:prstGeom>
              <a:solidFill>
                <a:srgbClr val="FFFFFF"/>
              </a:solidFill>
              <a:ln w="0">
                <a:solidFill>
                  <a:srgbClr val="FFFFFF"/>
                </a:solidFill>
                <a:prstDash val="solid"/>
              </a:ln>
            </p:spPr>
            <p:txBody>
              <a:bodyPr anchor="t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ar-AE" sz="2000" b="0" i="0" smtClean="0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ar-AE" sz="2000" b="0" i="0" smtClean="0">
                          <a:latin typeface="Cambria Math" panose="02040503050406030204" pitchFamily="18" charset="0"/>
                        </a:rPr>
                        <m:t> = </m:t>
                      </m:r>
                      <m:nary>
                        <m:naryPr>
                          <m:chr m:val="⋃"/>
                          <m:supHide m:val="on"/>
                          <m:ctrlPr>
                            <a:rPr lang="ar-AE" sz="20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ar-AE" sz="20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ar-AE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20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ar-AE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ar-AE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2000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ar-AE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sub>
                        <m:sup/>
                        <m:e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ar-AE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20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ar-AE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ar-AE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2000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ar-AE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9" name="מלבן 8">
                <a:extLst>
                  <a:ext uri="{FF2B5EF4-FFF2-40B4-BE49-F238E27FC236}">
                    <a16:creationId xmlns:a16="http://schemas.microsoft.com/office/drawing/2014/main" id="{B1603991-E7C7-4AEA-9E54-268E442FBE2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4966" y="1886455"/>
                <a:ext cx="2791986" cy="640080"/>
              </a:xfrm>
              <a:prstGeom prst="rect">
                <a:avLst/>
              </a:prstGeom>
              <a:blipFill>
                <a:blip r:embed="rId3"/>
                <a:stretch>
                  <a:fillRect l="-1357" t="-165385" b="-263462"/>
                </a:stretch>
              </a:blipFill>
              <a:ln w="0">
                <a:solidFill>
                  <a:srgbClr val="FFFFFF"/>
                </a:solidFill>
                <a:prstDash val="solid"/>
              </a:ln>
            </p:spPr>
            <p:txBody>
              <a:bodyPr/>
              <a:lstStyle/>
              <a:p>
                <a:r>
                  <a:rPr lang="he-I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מלבן מעוגל 9">
            <a:extLst>
              <a:ext uri="{FF2B5EF4-FFF2-40B4-BE49-F238E27FC236}">
                <a16:creationId xmlns:a16="http://schemas.microsoft.com/office/drawing/2014/main" id="{0A81CD65-5D28-4951-B5DE-A06127679303}"/>
              </a:ext>
            </a:extLst>
          </p:cNvPr>
          <p:cNvSpPr>
            <a:spLocks noGrp="1"/>
          </p:cNvSpPr>
          <p:nvPr/>
        </p:nvSpPr>
        <p:spPr>
          <a:xfrm>
            <a:off x="2878766" y="2324100"/>
            <a:ext cx="3208866" cy="13335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2D2D2"/>
            </a:solidFill>
            <a:prstDash val="solid"/>
          </a:ln>
        </p:spPr>
        <p:txBody>
          <a:bodyPr/>
          <a:lstStyle/>
          <a:p>
            <a:endParaRPr lang="he-IL" sz="2000"/>
          </a:p>
        </p:txBody>
      </p:sp>
      <p:sp>
        <p:nvSpPr>
          <p:cNvPr id="11" name="מלבן 10">
            <a:extLst>
              <a:ext uri="{FF2B5EF4-FFF2-40B4-BE49-F238E27FC236}">
                <a16:creationId xmlns:a16="http://schemas.microsoft.com/office/drawing/2014/main" id="{B5B2153A-AFCC-4206-9A39-3128687DE7C0}"/>
              </a:ext>
            </a:extLst>
          </p:cNvPr>
          <p:cNvSpPr>
            <a:spLocks noGrp="1"/>
          </p:cNvSpPr>
          <p:nvPr/>
        </p:nvSpPr>
        <p:spPr>
          <a:xfrm>
            <a:off x="2878766" y="2324100"/>
            <a:ext cx="3208866" cy="76200"/>
          </a:xfrm>
          <a:prstGeom prst="rect">
            <a:avLst/>
          </a:prstGeom>
          <a:solidFill>
            <a:srgbClr val="3174B5"/>
          </a:solidFill>
          <a:ln w="9525">
            <a:solidFill>
              <a:srgbClr val="3174B5"/>
            </a:solidFill>
            <a:prstDash val="solid"/>
          </a:ln>
        </p:spPr>
        <p:txBody>
          <a:bodyPr/>
          <a:lstStyle/>
          <a:p>
            <a:endParaRPr lang="he-IL" sz="2000"/>
          </a:p>
        </p:txBody>
      </p:sp>
      <p:sp>
        <p:nvSpPr>
          <p:cNvPr id="12" name="מלבן 11">
            <a:extLst>
              <a:ext uri="{FF2B5EF4-FFF2-40B4-BE49-F238E27FC236}">
                <a16:creationId xmlns:a16="http://schemas.microsoft.com/office/drawing/2014/main" id="{3468BDCC-39B0-4808-84CE-8B374BD9F7D3}"/>
              </a:ext>
            </a:extLst>
          </p:cNvPr>
          <p:cNvSpPr>
            <a:spLocks noGrp="1"/>
          </p:cNvSpPr>
          <p:nvPr/>
        </p:nvSpPr>
        <p:spPr>
          <a:xfrm>
            <a:off x="3573032" y="2533650"/>
            <a:ext cx="1885950" cy="28575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  <p:txBody>
          <a:bodyPr wrap="square" lIns="36576" tIns="18288" rIns="36576" bIns="18288" anchor="ctr"/>
          <a:lstStyle/>
          <a:p>
            <a:pPr algn="l">
              <a:defRPr sz="1425" b="1" i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000" b="0" dirty="0">
                <a:solidFill>
                  <a:srgbClr val="000000"/>
                </a:solidFill>
                <a:latin typeface="Calibri"/>
              </a:rPr>
              <a:t> Partition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מלבן 12">
                <a:extLst>
                  <a:ext uri="{FF2B5EF4-FFF2-40B4-BE49-F238E27FC236}">
                    <a16:creationId xmlns:a16="http://schemas.microsoft.com/office/drawing/2014/main" id="{CA34C705-60BD-4FEC-8D58-D8564E4A076E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3153933" y="2876550"/>
                <a:ext cx="2669560" cy="457200"/>
              </a:xfrm>
              <a:prstGeom prst="rect">
                <a:avLst/>
              </a:prstGeom>
              <a:solidFill>
                <a:srgbClr val="FFFFFF"/>
              </a:solidFill>
              <a:ln w="0">
                <a:solidFill>
                  <a:srgbClr val="FFFFFF"/>
                </a:solidFill>
                <a:prstDash val="solid"/>
              </a:ln>
            </p:spPr>
            <p:txBody>
              <a:bodyPr anchor="t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000" b="0" i="0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sz="2000" b="0" i="0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20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sz="2000" b="0" i="0" smtClean="0"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sz="2000" b="0" i="0" smtClean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sz="2000" b="0" i="0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20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sz="2000" b="0" i="0" smtClean="0">
                          <a:latin typeface="Cambria Math" panose="02040503050406030204" pitchFamily="18" charset="0"/>
                        </a:rPr>
                        <m:t>) </m:t>
                      </m:r>
                      <m:r>
                        <a:rPr sz="2000" b="0" i="0" smtClean="0">
                          <a:latin typeface="Cambria Math" panose="02040503050406030204" pitchFamily="18" charset="0"/>
                        </a:rPr>
                        <m:t>𝑚𝑜𝑑</m:t>
                      </m:r>
                      <m:r>
                        <a:rPr sz="20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sz="2000" b="0" i="0" smtClean="0">
                          <a:latin typeface="Cambria Math" panose="02040503050406030204" pitchFamily="18" charset="0"/>
                        </a:rPr>
                        <m:t>𝑅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3" name="מלבן 12">
                <a:extLst>
                  <a:ext uri="{FF2B5EF4-FFF2-40B4-BE49-F238E27FC236}">
                    <a16:creationId xmlns:a16="http://schemas.microsoft.com/office/drawing/2014/main" id="{CA34C705-60BD-4FEC-8D58-D8564E4A076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53933" y="2876550"/>
                <a:ext cx="2669560" cy="4572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0">
                <a:solidFill>
                  <a:srgbClr val="FFFFFF"/>
                </a:solidFill>
                <a:prstDash val="solid"/>
              </a:ln>
            </p:spPr>
            <p:txBody>
              <a:bodyPr/>
              <a:lstStyle/>
              <a:p>
                <a:r>
                  <a:rPr lang="he-I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מלבן מעוגל 13">
            <a:extLst>
              <a:ext uri="{FF2B5EF4-FFF2-40B4-BE49-F238E27FC236}">
                <a16:creationId xmlns:a16="http://schemas.microsoft.com/office/drawing/2014/main" id="{826CB658-1D0B-433E-85E7-CC6F7FCC9587}"/>
              </a:ext>
            </a:extLst>
          </p:cNvPr>
          <p:cNvSpPr>
            <a:spLocks noGrp="1"/>
          </p:cNvSpPr>
          <p:nvPr/>
        </p:nvSpPr>
        <p:spPr>
          <a:xfrm>
            <a:off x="5817552" y="3226752"/>
            <a:ext cx="2762250" cy="13335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2D2D2"/>
            </a:solidFill>
            <a:prstDash val="solid"/>
          </a:ln>
        </p:spPr>
        <p:txBody>
          <a:bodyPr/>
          <a:lstStyle/>
          <a:p>
            <a:endParaRPr lang="he-IL" sz="2000"/>
          </a:p>
        </p:txBody>
      </p:sp>
      <p:sp>
        <p:nvSpPr>
          <p:cNvPr id="15" name="מלבן 14">
            <a:extLst>
              <a:ext uri="{FF2B5EF4-FFF2-40B4-BE49-F238E27FC236}">
                <a16:creationId xmlns:a16="http://schemas.microsoft.com/office/drawing/2014/main" id="{8ED64C31-5DEF-4177-907B-D25A2E778FCB}"/>
              </a:ext>
            </a:extLst>
          </p:cNvPr>
          <p:cNvSpPr>
            <a:spLocks noGrp="1"/>
          </p:cNvSpPr>
          <p:nvPr/>
        </p:nvSpPr>
        <p:spPr>
          <a:xfrm>
            <a:off x="5817552" y="3226752"/>
            <a:ext cx="2762250" cy="76200"/>
          </a:xfrm>
          <a:prstGeom prst="rect">
            <a:avLst/>
          </a:prstGeom>
          <a:solidFill>
            <a:srgbClr val="008C8C"/>
          </a:solidFill>
          <a:ln w="9525">
            <a:solidFill>
              <a:srgbClr val="008C8C"/>
            </a:solidFill>
            <a:prstDash val="solid"/>
          </a:ln>
        </p:spPr>
        <p:txBody>
          <a:bodyPr/>
          <a:lstStyle/>
          <a:p>
            <a:endParaRPr lang="he-IL" sz="2000"/>
          </a:p>
        </p:txBody>
      </p:sp>
      <p:sp>
        <p:nvSpPr>
          <p:cNvPr id="16" name="מלבן 15">
            <a:extLst>
              <a:ext uri="{FF2B5EF4-FFF2-40B4-BE49-F238E27FC236}">
                <a16:creationId xmlns:a16="http://schemas.microsoft.com/office/drawing/2014/main" id="{2D01C9B3-480C-4802-9AA5-E3C755F60694}"/>
              </a:ext>
            </a:extLst>
          </p:cNvPr>
          <p:cNvSpPr>
            <a:spLocks noGrp="1"/>
          </p:cNvSpPr>
          <p:nvPr/>
        </p:nvSpPr>
        <p:spPr>
          <a:xfrm>
            <a:off x="6008052" y="3436302"/>
            <a:ext cx="2298006" cy="28575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  <p:txBody>
          <a:bodyPr wrap="square" lIns="36576" tIns="18288" rIns="36576" bIns="18288" anchor="ctr"/>
          <a:lstStyle/>
          <a:p>
            <a:pPr algn="l">
              <a:defRPr sz="1425" b="1" i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000" b="0" dirty="0">
                <a:solidFill>
                  <a:srgbClr val="000000"/>
                </a:solidFill>
                <a:latin typeface="Calibri"/>
              </a:rPr>
              <a:t>Shuffle/group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מלבן 16">
                <a:extLst>
                  <a:ext uri="{FF2B5EF4-FFF2-40B4-BE49-F238E27FC236}">
                    <a16:creationId xmlns:a16="http://schemas.microsoft.com/office/drawing/2014/main" id="{61AB7681-DE45-4E1B-83A7-74FF9E80BD55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6008052" y="3779202"/>
                <a:ext cx="2298006" cy="666750"/>
              </a:xfrm>
              <a:prstGeom prst="rect">
                <a:avLst/>
              </a:prstGeom>
              <a:solidFill>
                <a:srgbClr val="FFFFFF"/>
              </a:solidFill>
              <a:ln w="0">
                <a:solidFill>
                  <a:srgbClr val="FFFFFF"/>
                </a:solidFill>
                <a:prstDash val="solid"/>
              </a:ln>
            </p:spPr>
            <p:txBody>
              <a:bodyPr anchor="t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ar-AE" sz="2000" b="0" i="0" smtClean="0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ar-AE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20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ar-AE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ar-AE" sz="2000" b="0" i="0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  <m:oMath xmlns:m="http://schemas.openxmlformats.org/officeDocument/2006/math">
                      <m:r>
                        <a:rPr lang="ar-AE" sz="2000" b="0" i="0" smtClean="0">
                          <a:latin typeface="Cambria Math" panose="02040503050406030204" pitchFamily="18" charset="0"/>
                        </a:rPr>
                        <m:t>[</m:t>
                      </m:r>
                      <m:sSub>
                        <m:sSubPr>
                          <m:ctrlPr>
                            <a:rPr lang="ar-A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20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ar-AE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ar-AE" sz="2000" b="0" i="0" smtClean="0">
                          <a:latin typeface="Cambria Math" panose="02040503050406030204" pitchFamily="18" charset="0"/>
                        </a:rPr>
                        <m:t> : (</m:t>
                      </m:r>
                      <m:sSub>
                        <m:sSubPr>
                          <m:ctrlPr>
                            <a:rPr lang="ar-A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20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ar-AE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ar-AE" sz="2000" b="0" i="0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ar-A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20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ar-AE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ar-AE" sz="2000" b="0" i="0" smtClean="0">
                          <a:latin typeface="Cambria Math" panose="02040503050406030204" pitchFamily="18" charset="0"/>
                        </a:rPr>
                        <m:t>) ∈ </m:t>
                      </m:r>
                      <m:r>
                        <a:rPr lang="ar-AE" sz="2000" b="0" i="0" smtClean="0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ar-AE" sz="2000" b="0" i="0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7" name="מלבן 16">
                <a:extLst>
                  <a:ext uri="{FF2B5EF4-FFF2-40B4-BE49-F238E27FC236}">
                    <a16:creationId xmlns:a16="http://schemas.microsoft.com/office/drawing/2014/main" id="{61AB7681-DE45-4E1B-83A7-74FF9E80BD5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08052" y="3779202"/>
                <a:ext cx="2298006" cy="666750"/>
              </a:xfrm>
              <a:prstGeom prst="rect">
                <a:avLst/>
              </a:prstGeom>
              <a:blipFill>
                <a:blip r:embed="rId5"/>
                <a:stretch>
                  <a:fillRect t="-5556" b="-16667"/>
                </a:stretch>
              </a:blipFill>
              <a:ln w="0">
                <a:solidFill>
                  <a:srgbClr val="FFFFFF"/>
                </a:solidFill>
                <a:prstDash val="solid"/>
              </a:ln>
            </p:spPr>
            <p:txBody>
              <a:bodyPr/>
              <a:lstStyle/>
              <a:p>
                <a:r>
                  <a:rPr lang="he-I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מלבן מעוגל 17">
            <a:extLst>
              <a:ext uri="{FF2B5EF4-FFF2-40B4-BE49-F238E27FC236}">
                <a16:creationId xmlns:a16="http://schemas.microsoft.com/office/drawing/2014/main" id="{B058AC25-E255-42EC-833E-BA424CFD46B8}"/>
              </a:ext>
            </a:extLst>
          </p:cNvPr>
          <p:cNvSpPr>
            <a:spLocks noGrp="1"/>
          </p:cNvSpPr>
          <p:nvPr/>
        </p:nvSpPr>
        <p:spPr>
          <a:xfrm>
            <a:off x="8496557" y="4160036"/>
            <a:ext cx="3178769" cy="146527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2D2D2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9" name="מלבן 18">
            <a:extLst>
              <a:ext uri="{FF2B5EF4-FFF2-40B4-BE49-F238E27FC236}">
                <a16:creationId xmlns:a16="http://schemas.microsoft.com/office/drawing/2014/main" id="{2C2451F5-1F49-4EFB-ADF0-D0520554948C}"/>
              </a:ext>
            </a:extLst>
          </p:cNvPr>
          <p:cNvSpPr>
            <a:spLocks noGrp="1"/>
          </p:cNvSpPr>
          <p:nvPr/>
        </p:nvSpPr>
        <p:spPr>
          <a:xfrm>
            <a:off x="8496557" y="4160036"/>
            <a:ext cx="3178769" cy="76200"/>
          </a:xfrm>
          <a:prstGeom prst="rect">
            <a:avLst/>
          </a:prstGeom>
          <a:solidFill>
            <a:srgbClr val="009051"/>
          </a:solidFill>
          <a:ln w="9525">
            <a:solidFill>
              <a:srgbClr val="009051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20" name="מלבן 19">
            <a:extLst>
              <a:ext uri="{FF2B5EF4-FFF2-40B4-BE49-F238E27FC236}">
                <a16:creationId xmlns:a16="http://schemas.microsoft.com/office/drawing/2014/main" id="{1B774D9F-E9D5-4A52-A1D6-C7A4229B1B47}"/>
              </a:ext>
            </a:extLst>
          </p:cNvPr>
          <p:cNvSpPr>
            <a:spLocks noGrp="1"/>
          </p:cNvSpPr>
          <p:nvPr/>
        </p:nvSpPr>
        <p:spPr>
          <a:xfrm>
            <a:off x="8687057" y="4369586"/>
            <a:ext cx="2218375" cy="28575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  <p:txBody>
          <a:bodyPr wrap="square" lIns="36576" tIns="18288" rIns="36576" bIns="18288" anchor="ctr"/>
          <a:lstStyle/>
          <a:p>
            <a:pPr algn="l">
              <a:defRPr sz="1425" b="1" i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000" b="0" dirty="0">
                <a:solidFill>
                  <a:srgbClr val="000000"/>
                </a:solidFill>
                <a:latin typeface="Calibri"/>
              </a:rPr>
              <a:t>Reduce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מלבן 20">
                <a:extLst>
                  <a:ext uri="{FF2B5EF4-FFF2-40B4-BE49-F238E27FC236}">
                    <a16:creationId xmlns:a16="http://schemas.microsoft.com/office/drawing/2014/main" id="{5C72CF46-F1EA-41F7-9E34-2984038A3CA4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8687057" y="4623276"/>
                <a:ext cx="2806951" cy="666750"/>
              </a:xfrm>
              <a:prstGeom prst="rect">
                <a:avLst/>
              </a:prstGeom>
              <a:solidFill>
                <a:srgbClr val="FFFFFF"/>
              </a:solidFill>
              <a:ln w="0">
                <a:solidFill>
                  <a:srgbClr val="FFFFFF"/>
                </a:solidFill>
                <a:prstDash val="solid"/>
              </a:ln>
            </p:spPr>
            <p:txBody>
              <a:bodyPr anchor="t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ar-AE" sz="2000" b="0" i="0" smtClean="0">
                          <a:latin typeface="Cambria Math" panose="02040503050406030204" pitchFamily="18" charset="0"/>
                        </a:rPr>
                        <m:t>𝑂</m:t>
                      </m:r>
                      <m:r>
                        <a:rPr lang="ar-AE" sz="2000" b="0" i="0" smtClean="0">
                          <a:latin typeface="Cambria Math" panose="02040503050406030204" pitchFamily="18" charset="0"/>
                        </a:rPr>
                        <m:t>= </m:t>
                      </m:r>
                      <m:nary>
                        <m:naryPr>
                          <m:chr m:val="⋃"/>
                          <m:supHide m:val="on"/>
                          <m:ctrlPr>
                            <a:rPr lang="ar-AE" sz="20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7"/>
                                </m:r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m:rPr>
                                  <m:brk m:alnAt="7"/>
                                </m:r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m:rPr>
                              <m:brk m:alnAt="7"/>
                            </m:rP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7"/>
                                </m:r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m:rPr>
                                  <m:brk m:alnAt="7"/>
                                </m:r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m:rPr>
                              <m:brk m:alnAt="7"/>
                            </m:rP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sub>
                        <m:sup/>
                        <m:e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ar-AE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20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ar-AE" sz="20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𝐺</m:t>
                          </m:r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ar-AE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20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ar-AE" sz="20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))</m:t>
                          </m:r>
                        </m:e>
                      </m:nary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1" name="מלבן 20">
                <a:extLst>
                  <a:ext uri="{FF2B5EF4-FFF2-40B4-BE49-F238E27FC236}">
                    <a16:creationId xmlns:a16="http://schemas.microsoft.com/office/drawing/2014/main" id="{5C72CF46-F1EA-41F7-9E34-2984038A3C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7057" y="4623276"/>
                <a:ext cx="2806951" cy="666750"/>
              </a:xfrm>
              <a:prstGeom prst="rect">
                <a:avLst/>
              </a:prstGeom>
              <a:blipFill>
                <a:blip r:embed="rId6"/>
                <a:stretch>
                  <a:fillRect l="-6306" t="-154545" b="-243636"/>
                </a:stretch>
              </a:blipFill>
              <a:ln w="0">
                <a:solidFill>
                  <a:srgbClr val="FFFFFF"/>
                </a:solidFill>
                <a:prstDash val="solid"/>
              </a:ln>
            </p:spPr>
            <p:txBody>
              <a:bodyPr/>
              <a:lstStyle/>
              <a:p>
                <a:r>
                  <a:rPr lang="he-I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Rectangle 31"/>
          <p:cNvSpPr/>
          <p:nvPr/>
        </p:nvSpPr>
        <p:spPr>
          <a:xfrm>
            <a:off x="612648" y="274320"/>
            <a:ext cx="10972800" cy="640080"/>
          </a:xfrm>
          <a:prstGeom prst="rect">
            <a:avLst/>
          </a:prstGeom>
          <a:noFill/>
          <a:ln w="12700">
            <a:solidFill>
              <a:srgbClr val="C46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04088" y="301752"/>
            <a:ext cx="10789920" cy="566928"/>
          </a:xfrm>
          <a:prstGeom prst="rect">
            <a:avLst/>
          </a:prstGeom>
          <a:noFill/>
          <a:ln>
            <a:noFill/>
          </a:ln>
        </p:spPr>
        <p:txBody>
          <a:bodyPr wrap="square" lIns="36576" tIns="18288" rIns="36576" bIns="18288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3100" b="1">
                <a:solidFill>
                  <a:srgbClr val="000000"/>
                </a:solidFill>
                <a:latin typeface="Calibri"/>
              </a:rPr>
              <a:t>Job Definition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69663" y="6355080"/>
            <a:ext cx="3858768" cy="256032"/>
          </a:xfrm>
          <a:prstGeom prst="rect">
            <a:avLst/>
          </a:prstGeom>
          <a:noFill/>
          <a:ln>
            <a:noFill/>
          </a:ln>
        </p:spPr>
        <p:txBody>
          <a:bodyPr wrap="square" lIns="36576" tIns="18288" rIns="36576" bIns="18288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0">
                <a:solidFill>
                  <a:srgbClr val="555555"/>
                </a:solidFill>
                <a:latin typeface="Calibri"/>
              </a:rPr>
              <a:t>Or Peretz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41664" y="6355080"/>
            <a:ext cx="2843784" cy="256032"/>
          </a:xfrm>
          <a:prstGeom prst="rect">
            <a:avLst/>
          </a:prstGeom>
          <a:noFill/>
          <a:ln>
            <a:noFill/>
          </a:ln>
        </p:spPr>
        <p:txBody>
          <a:bodyPr wrap="square" lIns="36576" tIns="18288" rIns="36576" bIns="18288" anchor="ctr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22</a:t>
            </a:r>
          </a:p>
        </p:txBody>
      </p:sp>
      <p:cxnSp>
        <p:nvCxnSpPr>
          <p:cNvPr id="3" name="מחבר מרפקי 2">
            <a:extLst>
              <a:ext uri="{FF2B5EF4-FFF2-40B4-BE49-F238E27FC236}">
                <a16:creationId xmlns:a16="http://schemas.microsoft.com/office/drawing/2014/main" id="{136F6E17-E473-4C30-5588-574D56556FB3}"/>
              </a:ext>
            </a:extLst>
          </p:cNvPr>
          <p:cNvCxnSpPr>
            <a:cxnSpLocks/>
            <a:stCxn id="6" idx="2"/>
            <a:endCxn id="10" idx="1"/>
          </p:cNvCxnSpPr>
          <p:nvPr/>
        </p:nvCxnSpPr>
        <p:spPr>
          <a:xfrm rot="16200000" flipH="1">
            <a:off x="2129774" y="2241858"/>
            <a:ext cx="227354" cy="1270630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" name="מחבר מרפקי 3">
            <a:extLst>
              <a:ext uri="{FF2B5EF4-FFF2-40B4-BE49-F238E27FC236}">
                <a16:creationId xmlns:a16="http://schemas.microsoft.com/office/drawing/2014/main" id="{04274A46-B538-D0E0-914F-715E7B745F4E}"/>
              </a:ext>
            </a:extLst>
          </p:cNvPr>
          <p:cNvCxnSpPr>
            <a:cxnSpLocks/>
            <a:stCxn id="10" idx="2"/>
            <a:endCxn id="14" idx="1"/>
          </p:cNvCxnSpPr>
          <p:nvPr/>
        </p:nvCxnSpPr>
        <p:spPr>
          <a:xfrm rot="16200000" flipH="1">
            <a:off x="5032424" y="3108374"/>
            <a:ext cx="235902" cy="133435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מחבר מרפקי 22">
            <a:extLst>
              <a:ext uri="{FF2B5EF4-FFF2-40B4-BE49-F238E27FC236}">
                <a16:creationId xmlns:a16="http://schemas.microsoft.com/office/drawing/2014/main" id="{BF8CECDE-35A4-0609-510A-0685DEFCA4C3}"/>
              </a:ext>
            </a:extLst>
          </p:cNvPr>
          <p:cNvCxnSpPr>
            <a:cxnSpLocks/>
          </p:cNvCxnSpPr>
          <p:nvPr/>
        </p:nvCxnSpPr>
        <p:spPr>
          <a:xfrm rot="16200000" flipH="1">
            <a:off x="7628759" y="4011028"/>
            <a:ext cx="235902" cy="133435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תיבת טקסט 24">
                <a:extLst>
                  <a:ext uri="{FF2B5EF4-FFF2-40B4-BE49-F238E27FC236}">
                    <a16:creationId xmlns:a16="http://schemas.microsoft.com/office/drawing/2014/main" id="{918C8516-BFE3-6A0F-65FB-A7CA259EA2D0}"/>
                  </a:ext>
                </a:extLst>
              </p:cNvPr>
              <p:cNvSpPr txBox="1"/>
              <p:nvPr/>
            </p:nvSpPr>
            <p:spPr>
              <a:xfrm>
                <a:off x="841056" y="4649088"/>
                <a:ext cx="4661531" cy="95898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1">
                <a:spAutoFit/>
              </a:bodyPr>
              <a:lstStyle/>
              <a:p>
                <a:pPr algn="ctr"/>
                <a:r>
                  <a:rPr lang="en-US" dirty="0"/>
                  <a:t>Combiner rule: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∪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∪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algn="ctr"/>
                <a:r>
                  <a:rPr lang="en-US" b="1" dirty="0">
                    <a:solidFill>
                      <a:schemeClr val="accent3">
                        <a:lumMod val="50000"/>
                      </a:schemeClr>
                    </a:solidFill>
                  </a:rPr>
                  <a:t>Good</a:t>
                </a:r>
                <a:r>
                  <a:rPr lang="en-US" dirty="0"/>
                  <a:t> - sum, count, …</a:t>
                </a:r>
              </a:p>
              <a:p>
                <a:pPr algn="ctr"/>
                <a:r>
                  <a:rPr lang="en-US" b="1" dirty="0">
                    <a:solidFill>
                      <a:srgbClr val="FF0000"/>
                    </a:solidFill>
                  </a:rPr>
                  <a:t>Bad</a:t>
                </a:r>
                <a:r>
                  <a:rPr lang="en-US" dirty="0"/>
                  <a:t> – median, average (naïve),…</a:t>
                </a:r>
                <a:endParaRPr lang="he-IL" dirty="0"/>
              </a:p>
            </p:txBody>
          </p:sp>
        </mc:Choice>
        <mc:Fallback xmlns="">
          <p:sp>
            <p:nvSpPr>
              <p:cNvPr id="25" name="תיבת טקסט 24">
                <a:extLst>
                  <a:ext uri="{FF2B5EF4-FFF2-40B4-BE49-F238E27FC236}">
                    <a16:creationId xmlns:a16="http://schemas.microsoft.com/office/drawing/2014/main" id="{918C8516-BFE3-6A0F-65FB-A7CA259EA2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1056" y="4649088"/>
                <a:ext cx="4661531" cy="958980"/>
              </a:xfrm>
              <a:prstGeom prst="rect">
                <a:avLst/>
              </a:prstGeom>
              <a:blipFill>
                <a:blip r:embed="rId7"/>
                <a:stretch>
                  <a:fillRect b="-769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he-I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9341194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30"/>
          <p:cNvSpPr/>
          <p:nvPr/>
        </p:nvSpPr>
        <p:spPr>
          <a:xfrm>
            <a:off x="612648" y="274320"/>
            <a:ext cx="10972800" cy="640080"/>
          </a:xfrm>
          <a:prstGeom prst="rect">
            <a:avLst/>
          </a:prstGeom>
          <a:noFill/>
          <a:ln w="12700">
            <a:solidFill>
              <a:srgbClr val="C46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04088" y="328222"/>
            <a:ext cx="10789920" cy="513987"/>
          </a:xfrm>
          <a:prstGeom prst="rect">
            <a:avLst/>
          </a:prstGeom>
          <a:noFill/>
          <a:ln>
            <a:noFill/>
          </a:ln>
        </p:spPr>
        <p:txBody>
          <a:bodyPr wrap="square" lIns="36576" tIns="18288" rIns="36576" bIns="18288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lang="en-US" sz="3100" b="1" dirty="0">
                <a:solidFill>
                  <a:srgbClr val="000000"/>
                </a:solidFill>
                <a:latin typeface="Calibri"/>
              </a:rPr>
              <a:t>Example</a:t>
            </a:r>
            <a:endParaRPr sz="3100" b="1" dirty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4169663" y="6355080"/>
            <a:ext cx="3858768" cy="256032"/>
          </a:xfrm>
          <a:prstGeom prst="rect">
            <a:avLst/>
          </a:prstGeom>
          <a:noFill/>
          <a:ln>
            <a:noFill/>
          </a:ln>
        </p:spPr>
        <p:txBody>
          <a:bodyPr wrap="square" lIns="36576" tIns="18288" rIns="36576" bIns="18288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0">
                <a:solidFill>
                  <a:srgbClr val="555555"/>
                </a:solidFill>
                <a:latin typeface="Calibri"/>
              </a:rPr>
              <a:t>Or Peretz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41664" y="6355080"/>
            <a:ext cx="2843784" cy="256032"/>
          </a:xfrm>
          <a:prstGeom prst="rect">
            <a:avLst/>
          </a:prstGeom>
          <a:noFill/>
          <a:ln>
            <a:noFill/>
          </a:ln>
        </p:spPr>
        <p:txBody>
          <a:bodyPr wrap="square" lIns="36576" tIns="18288" rIns="36576" bIns="18288" anchor="ctr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23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תיבת טקסט 36">
                <a:extLst>
                  <a:ext uri="{FF2B5EF4-FFF2-40B4-BE49-F238E27FC236}">
                    <a16:creationId xmlns:a16="http://schemas.microsoft.com/office/drawing/2014/main" id="{0A89DAA5-3BD0-6A37-081E-91365300CA15}"/>
                  </a:ext>
                </a:extLst>
              </p:cNvPr>
              <p:cNvSpPr txBox="1"/>
              <p:nvPr/>
            </p:nvSpPr>
            <p:spPr>
              <a:xfrm>
                <a:off x="4399154" y="1387587"/>
                <a:ext cx="7186294" cy="10618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Bef>
                    <a:spcPts val="900"/>
                  </a:spcBef>
                  <a:spcAft>
                    <a:spcPts val="900"/>
                  </a:spcAft>
                </a:pPr>
                <a:r>
                  <a:rPr lang="en-US" sz="2400" b="1" u="sng" dirty="0"/>
                  <a:t>Input</a:t>
                </a:r>
                <a:r>
                  <a:rPr lang="en-US" sz="2400" dirty="0"/>
                  <a:t>: ABCAACC, </a:t>
                </a:r>
                <a:r>
                  <a:rPr lang="en-US" sz="2400" b="1" u="sng" dirty="0"/>
                  <a:t>Mapper</a:t>
                </a:r>
                <a:r>
                  <a:rPr lang="en-US" sz="2400" dirty="0"/>
                  <a:t>: char -&gt; (char, 1)</a:t>
                </a:r>
              </a:p>
              <a:p>
                <a:pPr>
                  <a:spcBef>
                    <a:spcPts val="900"/>
                  </a:spcBef>
                  <a:spcAft>
                    <a:spcPts val="900"/>
                  </a:spcAft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={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,1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 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,1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 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,1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,1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 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,1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,1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,1)}</m:t>
                    </m:r>
                  </m:oMath>
                </a14:m>
                <a:r>
                  <a:rPr lang="en-US" sz="2400" dirty="0"/>
                  <a:t> </a:t>
                </a:r>
              </a:p>
            </p:txBody>
          </p:sp>
        </mc:Choice>
        <mc:Fallback xmlns="">
          <p:sp>
            <p:nvSpPr>
              <p:cNvPr id="37" name="תיבת טקסט 36">
                <a:extLst>
                  <a:ext uri="{FF2B5EF4-FFF2-40B4-BE49-F238E27FC236}">
                    <a16:creationId xmlns:a16="http://schemas.microsoft.com/office/drawing/2014/main" id="{0A89DAA5-3BD0-6A37-081E-91365300CA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99154" y="1387587"/>
                <a:ext cx="7186294" cy="1061829"/>
              </a:xfrm>
              <a:prstGeom prst="rect">
                <a:avLst/>
              </a:prstGeom>
              <a:blipFill>
                <a:blip r:embed="rId3"/>
                <a:stretch>
                  <a:fillRect l="-1411" t="-4762" b="-7143"/>
                </a:stretch>
              </a:blipFill>
            </p:spPr>
            <p:txBody>
              <a:bodyPr/>
              <a:lstStyle/>
              <a:p>
                <a:r>
                  <a:rPr lang="he-I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מלבן מעוגל 37">
            <a:extLst>
              <a:ext uri="{FF2B5EF4-FFF2-40B4-BE49-F238E27FC236}">
                <a16:creationId xmlns:a16="http://schemas.microsoft.com/office/drawing/2014/main" id="{9423451E-6BD6-93A0-9D87-6C77C9A8C7C7}"/>
              </a:ext>
            </a:extLst>
          </p:cNvPr>
          <p:cNvSpPr>
            <a:spLocks noGrp="1"/>
          </p:cNvSpPr>
          <p:nvPr/>
        </p:nvSpPr>
        <p:spPr>
          <a:xfrm>
            <a:off x="4019197" y="3618256"/>
            <a:ext cx="3208866" cy="958943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2D2D2"/>
            </a:solidFill>
            <a:prstDash val="solid"/>
          </a:ln>
        </p:spPr>
        <p:txBody>
          <a:bodyPr/>
          <a:lstStyle/>
          <a:p>
            <a:endParaRPr lang="he-IL" sz="2000"/>
          </a:p>
        </p:txBody>
      </p:sp>
      <p:sp>
        <p:nvSpPr>
          <p:cNvPr id="39" name="מלבן 38">
            <a:extLst>
              <a:ext uri="{FF2B5EF4-FFF2-40B4-BE49-F238E27FC236}">
                <a16:creationId xmlns:a16="http://schemas.microsoft.com/office/drawing/2014/main" id="{029DE032-154E-0204-1600-50C693242065}"/>
              </a:ext>
            </a:extLst>
          </p:cNvPr>
          <p:cNvSpPr>
            <a:spLocks noGrp="1"/>
          </p:cNvSpPr>
          <p:nvPr/>
        </p:nvSpPr>
        <p:spPr>
          <a:xfrm>
            <a:off x="4019197" y="3618256"/>
            <a:ext cx="3208866" cy="54797"/>
          </a:xfrm>
          <a:prstGeom prst="rect">
            <a:avLst/>
          </a:prstGeom>
          <a:solidFill>
            <a:srgbClr val="3174B5"/>
          </a:solidFill>
          <a:ln w="9525">
            <a:solidFill>
              <a:srgbClr val="3174B5"/>
            </a:solidFill>
            <a:prstDash val="solid"/>
          </a:ln>
        </p:spPr>
        <p:txBody>
          <a:bodyPr/>
          <a:lstStyle/>
          <a:p>
            <a:endParaRPr lang="he-IL" sz="2000"/>
          </a:p>
        </p:txBody>
      </p:sp>
      <p:sp>
        <p:nvSpPr>
          <p:cNvPr id="40" name="מלבן 39">
            <a:extLst>
              <a:ext uri="{FF2B5EF4-FFF2-40B4-BE49-F238E27FC236}">
                <a16:creationId xmlns:a16="http://schemas.microsoft.com/office/drawing/2014/main" id="{B424C166-7F38-9C85-EE13-0BBEA97B6F8E}"/>
              </a:ext>
            </a:extLst>
          </p:cNvPr>
          <p:cNvSpPr>
            <a:spLocks noGrp="1"/>
          </p:cNvSpPr>
          <p:nvPr/>
        </p:nvSpPr>
        <p:spPr>
          <a:xfrm>
            <a:off x="4713463" y="3827806"/>
            <a:ext cx="1885950" cy="205488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  <p:txBody>
          <a:bodyPr wrap="square" lIns="36576" tIns="18288" rIns="36576" bIns="18288" anchor="ctr"/>
          <a:lstStyle/>
          <a:p>
            <a:pPr algn="l">
              <a:defRPr sz="1425" b="1" i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000" b="0" dirty="0">
                <a:solidFill>
                  <a:srgbClr val="000000"/>
                </a:solidFill>
                <a:latin typeface="Calibri"/>
              </a:rPr>
              <a:t> Partition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מלבן 40">
                <a:extLst>
                  <a:ext uri="{FF2B5EF4-FFF2-40B4-BE49-F238E27FC236}">
                    <a16:creationId xmlns:a16="http://schemas.microsoft.com/office/drawing/2014/main" id="{EC5975E1-05C9-8DAC-E4D0-DE63F5A3C07B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4294364" y="4170706"/>
                <a:ext cx="2669560" cy="328780"/>
              </a:xfrm>
              <a:prstGeom prst="rect">
                <a:avLst/>
              </a:prstGeom>
              <a:solidFill>
                <a:srgbClr val="FFFFFF"/>
              </a:solidFill>
              <a:ln w="0">
                <a:solidFill>
                  <a:srgbClr val="FFFFFF"/>
                </a:solidFill>
                <a:prstDash val="solid"/>
              </a:ln>
            </p:spPr>
            <p:txBody>
              <a:bodyPr anchor="t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000" b="0" i="0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sz="2000" b="0" i="0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20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sz="2000" b="0" i="0" smtClean="0"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sz="2000" b="0" i="0" smtClean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sz="2000" b="0" i="0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20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sz="2000" b="0" i="0" smtClean="0">
                          <a:latin typeface="Cambria Math" panose="02040503050406030204" pitchFamily="18" charset="0"/>
                        </a:rPr>
                        <m:t>) </m:t>
                      </m:r>
                      <m:r>
                        <a:rPr sz="2000" b="0" i="0" smtClean="0">
                          <a:latin typeface="Cambria Math" panose="02040503050406030204" pitchFamily="18" charset="0"/>
                        </a:rPr>
                        <m:t>𝑚𝑜𝑑</m:t>
                      </m:r>
                      <m:r>
                        <a:rPr sz="20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sz="2000" b="0" i="0" smtClean="0">
                          <a:latin typeface="Cambria Math" panose="02040503050406030204" pitchFamily="18" charset="0"/>
                        </a:rPr>
                        <m:t>𝑅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1" name="מלבן 40">
                <a:extLst>
                  <a:ext uri="{FF2B5EF4-FFF2-40B4-BE49-F238E27FC236}">
                    <a16:creationId xmlns:a16="http://schemas.microsoft.com/office/drawing/2014/main" id="{EC5975E1-05C9-8DAC-E4D0-DE63F5A3C07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4364" y="4170706"/>
                <a:ext cx="2669560" cy="328780"/>
              </a:xfrm>
              <a:prstGeom prst="rect">
                <a:avLst/>
              </a:prstGeom>
              <a:blipFill>
                <a:blip r:embed="rId4"/>
                <a:stretch>
                  <a:fillRect b="-40741"/>
                </a:stretch>
              </a:blipFill>
              <a:ln w="0">
                <a:solidFill>
                  <a:srgbClr val="FFFFFF"/>
                </a:solidFill>
                <a:prstDash val="solid"/>
              </a:ln>
            </p:spPr>
            <p:txBody>
              <a:bodyPr/>
              <a:lstStyle/>
              <a:p>
                <a:r>
                  <a:rPr lang="he-I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2" name="תיבת טקסט 41">
                <a:extLst>
                  <a:ext uri="{FF2B5EF4-FFF2-40B4-BE49-F238E27FC236}">
                    <a16:creationId xmlns:a16="http://schemas.microsoft.com/office/drawing/2014/main" id="{1CB55469-587E-9FF9-4816-5D99F7D7159F}"/>
                  </a:ext>
                </a:extLst>
              </p:cNvPr>
              <p:cNvSpPr txBox="1"/>
              <p:nvPr/>
            </p:nvSpPr>
            <p:spPr>
              <a:xfrm>
                <a:off x="1002253" y="4749346"/>
                <a:ext cx="3538926" cy="157530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Bef>
                    <a:spcPts val="900"/>
                  </a:spcBef>
                  <a:spcAft>
                    <a:spcPts val="9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ar-AE" sz="2400" smtClean="0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ar-AE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24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ar-AE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sz="2400" b="0" i="0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  <m:d>
                                <m:d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</m:d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 % 3=0</m:t>
                              </m:r>
                            </m:e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  <m:d>
                                <m:d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</m:d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 % 3=1</m:t>
                              </m:r>
                            </m:e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  <m:d>
                                <m:d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</m:d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% 3=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42" name="תיבת טקסט 41">
                <a:extLst>
                  <a:ext uri="{FF2B5EF4-FFF2-40B4-BE49-F238E27FC236}">
                    <a16:creationId xmlns:a16="http://schemas.microsoft.com/office/drawing/2014/main" id="{1CB55469-587E-9FF9-4816-5D99F7D715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2253" y="4749346"/>
                <a:ext cx="3538926" cy="1575303"/>
              </a:xfrm>
              <a:prstGeom prst="rect">
                <a:avLst/>
              </a:prstGeom>
              <a:blipFill>
                <a:blip r:embed="rId5"/>
                <a:stretch>
                  <a:fillRect l="-35714" t="-197619" r="-12143" b="-275397"/>
                </a:stretch>
              </a:blipFill>
            </p:spPr>
            <p:txBody>
              <a:bodyPr/>
              <a:lstStyle/>
              <a:p>
                <a:r>
                  <a:rPr lang="he-I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תיבת טקסט 42">
                <a:extLst>
                  <a:ext uri="{FF2B5EF4-FFF2-40B4-BE49-F238E27FC236}">
                    <a16:creationId xmlns:a16="http://schemas.microsoft.com/office/drawing/2014/main" id="{FEDBC247-89C0-972D-6EDD-663894C478CC}"/>
                  </a:ext>
                </a:extLst>
              </p:cNvPr>
              <p:cNvSpPr txBox="1"/>
              <p:nvPr/>
            </p:nvSpPr>
            <p:spPr>
              <a:xfrm>
                <a:off x="5881360" y="4905547"/>
                <a:ext cx="3538926" cy="13157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Bef>
                    <a:spcPts val="900"/>
                  </a:spcBef>
                  <a:spcAft>
                    <a:spcPts val="9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,1</m:t>
                              </m:r>
                            </m:e>
                          </m:d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,1</m:t>
                              </m:r>
                            </m:e>
                          </m:d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,1</m:t>
                              </m:r>
                            </m:e>
                          </m:d>
                        </m:e>
                      </m:d>
                    </m:oMath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,1</m:t>
                              </m:r>
                            </m:e>
                          </m:d>
                        </m:e>
                      </m:d>
                    </m:oMath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[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,1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,1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,1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3" name="תיבת טקסט 42">
                <a:extLst>
                  <a:ext uri="{FF2B5EF4-FFF2-40B4-BE49-F238E27FC236}">
                    <a16:creationId xmlns:a16="http://schemas.microsoft.com/office/drawing/2014/main" id="{FEDBC247-89C0-972D-6EDD-663894C478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81360" y="4905547"/>
                <a:ext cx="3538926" cy="131574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he-I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5" name="מחבר חץ ישר 44">
            <a:extLst>
              <a:ext uri="{FF2B5EF4-FFF2-40B4-BE49-F238E27FC236}">
                <a16:creationId xmlns:a16="http://schemas.microsoft.com/office/drawing/2014/main" id="{70F9BF96-E9A4-E819-B6DC-06A12D1F3C95}"/>
              </a:ext>
            </a:extLst>
          </p:cNvPr>
          <p:cNvCxnSpPr>
            <a:cxnSpLocks/>
            <a:endCxn id="43" idx="1"/>
          </p:cNvCxnSpPr>
          <p:nvPr/>
        </p:nvCxnSpPr>
        <p:spPr>
          <a:xfrm flipV="1">
            <a:off x="4713463" y="5563420"/>
            <a:ext cx="1167897" cy="211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" name="מלבן מעוגל 4">
            <a:extLst>
              <a:ext uri="{FF2B5EF4-FFF2-40B4-BE49-F238E27FC236}">
                <a16:creationId xmlns:a16="http://schemas.microsoft.com/office/drawing/2014/main" id="{8974F2F2-B48E-416E-6AF2-DA609C083CBD}"/>
              </a:ext>
            </a:extLst>
          </p:cNvPr>
          <p:cNvSpPr>
            <a:spLocks noGrp="1"/>
          </p:cNvSpPr>
          <p:nvPr/>
        </p:nvSpPr>
        <p:spPr>
          <a:xfrm>
            <a:off x="1092428" y="1226859"/>
            <a:ext cx="299402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2D2D2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6" name="מלבן 5">
            <a:extLst>
              <a:ext uri="{FF2B5EF4-FFF2-40B4-BE49-F238E27FC236}">
                <a16:creationId xmlns:a16="http://schemas.microsoft.com/office/drawing/2014/main" id="{FB3939E5-326E-5911-F84D-2E23233069B2}"/>
              </a:ext>
            </a:extLst>
          </p:cNvPr>
          <p:cNvSpPr>
            <a:spLocks noGrp="1"/>
          </p:cNvSpPr>
          <p:nvPr/>
        </p:nvSpPr>
        <p:spPr>
          <a:xfrm>
            <a:off x="1092428" y="1168021"/>
            <a:ext cx="2994028" cy="73152"/>
          </a:xfrm>
          <a:prstGeom prst="rect">
            <a:avLst/>
          </a:prstGeom>
          <a:solidFill>
            <a:srgbClr val="C46F68"/>
          </a:solidFill>
          <a:ln w="9525">
            <a:solidFill>
              <a:srgbClr val="C46F68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7" name="מלבן 6">
            <a:extLst>
              <a:ext uri="{FF2B5EF4-FFF2-40B4-BE49-F238E27FC236}">
                <a16:creationId xmlns:a16="http://schemas.microsoft.com/office/drawing/2014/main" id="{E43B4552-C326-7C81-6BB2-76F49DA12928}"/>
              </a:ext>
            </a:extLst>
          </p:cNvPr>
          <p:cNvSpPr>
            <a:spLocks noGrp="1"/>
          </p:cNvSpPr>
          <p:nvPr/>
        </p:nvSpPr>
        <p:spPr>
          <a:xfrm>
            <a:off x="1405126" y="1394499"/>
            <a:ext cx="2490830" cy="27432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  <p:txBody>
          <a:bodyPr wrap="square" lIns="36576" tIns="18288" rIns="36576" bIns="18288" anchor="ctr"/>
          <a:lstStyle/>
          <a:p>
            <a:pPr algn="l">
              <a:defRPr sz="1425" b="1" i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000" b="0" dirty="0">
                <a:solidFill>
                  <a:srgbClr val="000000"/>
                </a:solidFill>
                <a:latin typeface="Calibri"/>
              </a:rPr>
              <a:t>Map all records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מלבן 7">
                <a:extLst>
                  <a:ext uri="{FF2B5EF4-FFF2-40B4-BE49-F238E27FC236}">
                    <a16:creationId xmlns:a16="http://schemas.microsoft.com/office/drawing/2014/main" id="{9D35F98A-3F6A-9954-2434-E5DD39FA06B5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126272" y="1629978"/>
                <a:ext cx="2791986" cy="640080"/>
              </a:xfrm>
              <a:prstGeom prst="rect">
                <a:avLst/>
              </a:prstGeom>
              <a:solidFill>
                <a:srgbClr val="FFFFFF"/>
              </a:solidFill>
              <a:ln w="0">
                <a:solidFill>
                  <a:srgbClr val="FFFFFF"/>
                </a:solidFill>
                <a:prstDash val="solid"/>
              </a:ln>
            </p:spPr>
            <p:txBody>
              <a:bodyPr anchor="t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ar-AE" sz="2000" b="0" i="0" smtClean="0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ar-AE" sz="2000" b="0" i="0" smtClean="0">
                          <a:latin typeface="Cambria Math" panose="02040503050406030204" pitchFamily="18" charset="0"/>
                        </a:rPr>
                        <m:t> = </m:t>
                      </m:r>
                      <m:nary>
                        <m:naryPr>
                          <m:chr m:val="⋃"/>
                          <m:supHide m:val="on"/>
                          <m:ctrlPr>
                            <a:rPr lang="ar-AE" sz="20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ar-AE" sz="20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ar-AE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20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ar-AE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ar-AE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2000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ar-AE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sub>
                        <m:sup/>
                        <m:e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ar-AE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20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ar-AE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ar-AE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2000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ar-AE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8" name="מלבן 7">
                <a:extLst>
                  <a:ext uri="{FF2B5EF4-FFF2-40B4-BE49-F238E27FC236}">
                    <a16:creationId xmlns:a16="http://schemas.microsoft.com/office/drawing/2014/main" id="{9D35F98A-3F6A-9954-2434-E5DD39FA06B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6272" y="1629978"/>
                <a:ext cx="2791986" cy="640080"/>
              </a:xfrm>
              <a:prstGeom prst="rect">
                <a:avLst/>
              </a:prstGeom>
              <a:blipFill>
                <a:blip r:embed="rId7"/>
                <a:stretch>
                  <a:fillRect l="-1351" t="-165385" b="-263462"/>
                </a:stretch>
              </a:blipFill>
              <a:ln w="0">
                <a:solidFill>
                  <a:srgbClr val="FFFFFF"/>
                </a:solidFill>
                <a:prstDash val="solid"/>
              </a:ln>
            </p:spPr>
            <p:txBody>
              <a:bodyPr/>
              <a:lstStyle/>
              <a:p>
                <a:r>
                  <a:rPr lang="he-I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מחבר חץ ישר 2">
            <a:extLst>
              <a:ext uri="{FF2B5EF4-FFF2-40B4-BE49-F238E27FC236}">
                <a16:creationId xmlns:a16="http://schemas.microsoft.com/office/drawing/2014/main" id="{7CCF92F4-7AE1-5DDB-E90C-0919E3554037}"/>
              </a:ext>
            </a:extLst>
          </p:cNvPr>
          <p:cNvCxnSpPr/>
          <p:nvPr/>
        </p:nvCxnSpPr>
        <p:spPr>
          <a:xfrm>
            <a:off x="5634446" y="2769326"/>
            <a:ext cx="0" cy="6596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407767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5A9661-0885-C46F-B867-0F935DBAC4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30">
            <a:extLst>
              <a:ext uri="{FF2B5EF4-FFF2-40B4-BE49-F238E27FC236}">
                <a16:creationId xmlns:a16="http://schemas.microsoft.com/office/drawing/2014/main" id="{4DFF4142-861A-66A6-CE3A-CBB7FC255226}"/>
              </a:ext>
            </a:extLst>
          </p:cNvPr>
          <p:cNvSpPr/>
          <p:nvPr/>
        </p:nvSpPr>
        <p:spPr>
          <a:xfrm>
            <a:off x="612648" y="274320"/>
            <a:ext cx="10972800" cy="640080"/>
          </a:xfrm>
          <a:prstGeom prst="rect">
            <a:avLst/>
          </a:prstGeom>
          <a:noFill/>
          <a:ln w="12700">
            <a:solidFill>
              <a:srgbClr val="C46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0B52B0E-83B1-60ED-A87C-AD832C380BDB}"/>
              </a:ext>
            </a:extLst>
          </p:cNvPr>
          <p:cNvSpPr txBox="1"/>
          <p:nvPr/>
        </p:nvSpPr>
        <p:spPr>
          <a:xfrm>
            <a:off x="704088" y="301752"/>
            <a:ext cx="10789920" cy="566928"/>
          </a:xfrm>
          <a:prstGeom prst="rect">
            <a:avLst/>
          </a:prstGeom>
          <a:noFill/>
          <a:ln>
            <a:noFill/>
          </a:ln>
        </p:spPr>
        <p:txBody>
          <a:bodyPr wrap="square" lIns="36576" tIns="18288" rIns="36576" bIns="18288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3100" b="1">
                <a:solidFill>
                  <a:srgbClr val="000000"/>
                </a:solidFill>
                <a:latin typeface="Calibri"/>
              </a:rPr>
              <a:t>Mapper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544A5B8-A018-C464-B659-3A8DAA2A9870}"/>
              </a:ext>
            </a:extLst>
          </p:cNvPr>
          <p:cNvSpPr txBox="1"/>
          <p:nvPr/>
        </p:nvSpPr>
        <p:spPr>
          <a:xfrm>
            <a:off x="4169663" y="6355080"/>
            <a:ext cx="3858768" cy="256032"/>
          </a:xfrm>
          <a:prstGeom prst="rect">
            <a:avLst/>
          </a:prstGeom>
          <a:noFill/>
          <a:ln>
            <a:noFill/>
          </a:ln>
        </p:spPr>
        <p:txBody>
          <a:bodyPr wrap="square" lIns="36576" tIns="18288" rIns="36576" bIns="18288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750" b="0">
                <a:solidFill>
                  <a:srgbClr val="555555"/>
                </a:solidFill>
                <a:latin typeface="Calibri"/>
              </a:rPr>
              <a:t>Or Peretz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8996684-AB79-8CDB-4498-657051A3638F}"/>
              </a:ext>
            </a:extLst>
          </p:cNvPr>
          <p:cNvSpPr txBox="1"/>
          <p:nvPr/>
        </p:nvSpPr>
        <p:spPr>
          <a:xfrm>
            <a:off x="8741664" y="6355080"/>
            <a:ext cx="2843784" cy="256032"/>
          </a:xfrm>
          <a:prstGeom prst="rect">
            <a:avLst/>
          </a:prstGeom>
          <a:noFill/>
          <a:ln>
            <a:noFill/>
          </a:ln>
        </p:spPr>
        <p:txBody>
          <a:bodyPr wrap="square" lIns="36576" tIns="18288" rIns="36576" bIns="18288" anchor="ctr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23</a:t>
            </a:r>
          </a:p>
        </p:txBody>
      </p:sp>
      <p:sp>
        <p:nvSpPr>
          <p:cNvPr id="4" name="מלבן מעוגל 3">
            <a:extLst>
              <a:ext uri="{FF2B5EF4-FFF2-40B4-BE49-F238E27FC236}">
                <a16:creationId xmlns:a16="http://schemas.microsoft.com/office/drawing/2014/main" id="{B09E8CE6-6439-CDBE-EEBD-E0911E80AF0D}"/>
              </a:ext>
            </a:extLst>
          </p:cNvPr>
          <p:cNvSpPr>
            <a:spLocks noGrp="1"/>
          </p:cNvSpPr>
          <p:nvPr/>
        </p:nvSpPr>
        <p:spPr>
          <a:xfrm>
            <a:off x="1528808" y="1475557"/>
            <a:ext cx="2904992" cy="13335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2D2D2"/>
            </a:solidFill>
            <a:prstDash val="solid"/>
          </a:ln>
        </p:spPr>
        <p:txBody>
          <a:bodyPr/>
          <a:lstStyle/>
          <a:p>
            <a:endParaRPr lang="he-IL" sz="2000"/>
          </a:p>
        </p:txBody>
      </p:sp>
      <p:sp>
        <p:nvSpPr>
          <p:cNvPr id="5" name="מלבן 4">
            <a:extLst>
              <a:ext uri="{FF2B5EF4-FFF2-40B4-BE49-F238E27FC236}">
                <a16:creationId xmlns:a16="http://schemas.microsoft.com/office/drawing/2014/main" id="{D12E818D-3627-9E76-EA5B-407B6B042D1A}"/>
              </a:ext>
            </a:extLst>
          </p:cNvPr>
          <p:cNvSpPr>
            <a:spLocks noGrp="1"/>
          </p:cNvSpPr>
          <p:nvPr/>
        </p:nvSpPr>
        <p:spPr>
          <a:xfrm>
            <a:off x="1528808" y="1475557"/>
            <a:ext cx="2904992" cy="76200"/>
          </a:xfrm>
          <a:prstGeom prst="rect">
            <a:avLst/>
          </a:prstGeom>
          <a:solidFill>
            <a:srgbClr val="008C8C"/>
          </a:solidFill>
          <a:ln w="9525">
            <a:solidFill>
              <a:srgbClr val="008C8C"/>
            </a:solidFill>
            <a:prstDash val="solid"/>
          </a:ln>
        </p:spPr>
        <p:txBody>
          <a:bodyPr/>
          <a:lstStyle/>
          <a:p>
            <a:endParaRPr lang="he-IL" sz="2000"/>
          </a:p>
        </p:txBody>
      </p:sp>
      <p:sp>
        <p:nvSpPr>
          <p:cNvPr id="6" name="מלבן 5">
            <a:extLst>
              <a:ext uri="{FF2B5EF4-FFF2-40B4-BE49-F238E27FC236}">
                <a16:creationId xmlns:a16="http://schemas.microsoft.com/office/drawing/2014/main" id="{EB34A766-5952-1585-49DF-B9BA400DB59B}"/>
              </a:ext>
            </a:extLst>
          </p:cNvPr>
          <p:cNvSpPr>
            <a:spLocks noGrp="1"/>
          </p:cNvSpPr>
          <p:nvPr/>
        </p:nvSpPr>
        <p:spPr>
          <a:xfrm>
            <a:off x="1719307" y="1685107"/>
            <a:ext cx="2416758" cy="28575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  <p:txBody>
          <a:bodyPr wrap="square" lIns="36576" tIns="18288" rIns="36576" bIns="18288" anchor="ctr"/>
          <a:lstStyle/>
          <a:p>
            <a:pPr algn="l">
              <a:defRPr sz="1425" b="1" i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000" b="0" dirty="0">
                <a:solidFill>
                  <a:srgbClr val="000000"/>
                </a:solidFill>
                <a:latin typeface="Calibri"/>
              </a:rPr>
              <a:t>Shuffle/group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מלבן 6">
                <a:extLst>
                  <a:ext uri="{FF2B5EF4-FFF2-40B4-BE49-F238E27FC236}">
                    <a16:creationId xmlns:a16="http://schemas.microsoft.com/office/drawing/2014/main" id="{81DDC0E3-BAF2-9100-F27E-0944AD577C63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719307" y="2028007"/>
                <a:ext cx="2416758" cy="666750"/>
              </a:xfrm>
              <a:prstGeom prst="rect">
                <a:avLst/>
              </a:prstGeom>
              <a:solidFill>
                <a:srgbClr val="FFFFFF"/>
              </a:solidFill>
              <a:ln w="0">
                <a:solidFill>
                  <a:srgbClr val="FFFFFF"/>
                </a:solidFill>
                <a:prstDash val="solid"/>
              </a:ln>
            </p:spPr>
            <p:txBody>
              <a:bodyPr anchor="t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ar-AE" sz="2000" b="0" i="0" smtClean="0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ar-AE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20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ar-AE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ar-AE" sz="2000" b="0" i="0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  <m:oMath xmlns:m="http://schemas.openxmlformats.org/officeDocument/2006/math">
                      <m:r>
                        <a:rPr lang="ar-AE" sz="2000" b="0" i="0" smtClean="0">
                          <a:latin typeface="Cambria Math" panose="02040503050406030204" pitchFamily="18" charset="0"/>
                        </a:rPr>
                        <m:t>[</m:t>
                      </m:r>
                      <m:sSub>
                        <m:sSubPr>
                          <m:ctrlPr>
                            <a:rPr lang="ar-A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20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ar-AE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ar-AE" sz="2000" b="0" i="0" smtClean="0">
                          <a:latin typeface="Cambria Math" panose="02040503050406030204" pitchFamily="18" charset="0"/>
                        </a:rPr>
                        <m:t> : (</m:t>
                      </m:r>
                      <m:sSub>
                        <m:sSubPr>
                          <m:ctrlPr>
                            <a:rPr lang="ar-A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20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ar-AE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ar-AE" sz="2000" b="0" i="0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ar-A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20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ar-AE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ar-AE" sz="2000" b="0" i="0" smtClean="0">
                          <a:latin typeface="Cambria Math" panose="02040503050406030204" pitchFamily="18" charset="0"/>
                        </a:rPr>
                        <m:t>) ∈ </m:t>
                      </m:r>
                      <m:r>
                        <a:rPr lang="ar-AE" sz="2000" b="0" i="0" smtClean="0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ar-AE" sz="2000" b="0" i="0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7" name="מלבן 6">
                <a:extLst>
                  <a:ext uri="{FF2B5EF4-FFF2-40B4-BE49-F238E27FC236}">
                    <a16:creationId xmlns:a16="http://schemas.microsoft.com/office/drawing/2014/main" id="{81DDC0E3-BAF2-9100-F27E-0944AD577C6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19307" y="2028007"/>
                <a:ext cx="2416758" cy="666750"/>
              </a:xfrm>
              <a:prstGeom prst="rect">
                <a:avLst/>
              </a:prstGeom>
              <a:blipFill>
                <a:blip r:embed="rId3"/>
                <a:stretch>
                  <a:fillRect t="-5556" b="-14815"/>
                </a:stretch>
              </a:blipFill>
              <a:ln w="0">
                <a:solidFill>
                  <a:srgbClr val="FFFFFF"/>
                </a:solidFill>
                <a:prstDash val="solid"/>
              </a:ln>
            </p:spPr>
            <p:txBody>
              <a:bodyPr/>
              <a:lstStyle/>
              <a:p>
                <a:r>
                  <a:rPr lang="he-I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תיבת טקסט 7">
                <a:extLst>
                  <a:ext uri="{FF2B5EF4-FFF2-40B4-BE49-F238E27FC236}">
                    <a16:creationId xmlns:a16="http://schemas.microsoft.com/office/drawing/2014/main" id="{4A859EAF-E5D6-4AC3-179D-5EE527EE457C}"/>
                  </a:ext>
                </a:extLst>
              </p:cNvPr>
              <p:cNvSpPr txBox="1"/>
              <p:nvPr/>
            </p:nvSpPr>
            <p:spPr>
              <a:xfrm>
                <a:off x="3844333" y="1475557"/>
                <a:ext cx="5724350" cy="13157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Bef>
                    <a:spcPts val="900"/>
                  </a:spcBef>
                  <a:spcAft>
                    <a:spcPts val="9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1,1,1</m:t>
                          </m:r>
                        </m:e>
                      </m:d>
                    </m:oMath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=[1]</m:t>
                      </m:r>
                    </m:oMath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=[1,1,1]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8" name="תיבת טקסט 7">
                <a:extLst>
                  <a:ext uri="{FF2B5EF4-FFF2-40B4-BE49-F238E27FC236}">
                    <a16:creationId xmlns:a16="http://schemas.microsoft.com/office/drawing/2014/main" id="{4A859EAF-E5D6-4AC3-179D-5EE527EE45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4333" y="1475557"/>
                <a:ext cx="5724350" cy="131574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he-I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תיבת טקסט 12">
                <a:extLst>
                  <a:ext uri="{FF2B5EF4-FFF2-40B4-BE49-F238E27FC236}">
                    <a16:creationId xmlns:a16="http://schemas.microsoft.com/office/drawing/2014/main" id="{DE6ACDC2-3C89-5E62-771B-DBB419755CA5}"/>
                  </a:ext>
                </a:extLst>
              </p:cNvPr>
              <p:cNvSpPr txBox="1"/>
              <p:nvPr/>
            </p:nvSpPr>
            <p:spPr>
              <a:xfrm>
                <a:off x="4169663" y="3709171"/>
                <a:ext cx="5724350" cy="114775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Bef>
                    <a:spcPts val="900"/>
                  </a:spcBef>
                  <a:spcAft>
                    <a:spcPts val="9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: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sz="2400">
                              <a:latin typeface="Cambria Math" panose="02040503050406030204" pitchFamily="18" charset="0"/>
                            </a:rPr>
                            <m:t>𝐺</m:t>
                          </m:r>
                          <m:d>
                            <m:dPr>
                              <m:ctrlPr>
                                <a:rPr lang="ar-AE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ar-A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sz="24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ar-AE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→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nary>
                            <m:naryPr>
                              <m:chr m:val="∑"/>
                              <m:supHide m:val="on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sSub>
                                <m:sSub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m:rPr>
                                      <m:brk m:alnAt="7"/>
                                    </m:r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  <m:d>
                                <m:d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</m:d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nary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3" name="תיבת טקסט 12">
                <a:extLst>
                  <a:ext uri="{FF2B5EF4-FFF2-40B4-BE49-F238E27FC236}">
                    <a16:creationId xmlns:a16="http://schemas.microsoft.com/office/drawing/2014/main" id="{DE6ACDC2-3C89-5E62-771B-DBB419755C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9663" y="3709171"/>
                <a:ext cx="5724350" cy="1147750"/>
              </a:xfrm>
              <a:prstGeom prst="rect">
                <a:avLst/>
              </a:prstGeom>
              <a:blipFill>
                <a:blip r:embed="rId6"/>
                <a:stretch>
                  <a:fillRect t="-110870" b="-140217"/>
                </a:stretch>
              </a:blipFill>
            </p:spPr>
            <p:txBody>
              <a:bodyPr/>
              <a:lstStyle/>
              <a:p>
                <a:r>
                  <a:rPr lang="he-I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תיבת טקסט 13">
                <a:extLst>
                  <a:ext uri="{FF2B5EF4-FFF2-40B4-BE49-F238E27FC236}">
                    <a16:creationId xmlns:a16="http://schemas.microsoft.com/office/drawing/2014/main" id="{31547A9C-2ADB-C89C-99A7-390F30606450}"/>
                  </a:ext>
                </a:extLst>
              </p:cNvPr>
              <p:cNvSpPr txBox="1"/>
              <p:nvPr/>
            </p:nvSpPr>
            <p:spPr>
              <a:xfrm>
                <a:off x="1273890" y="5007013"/>
                <a:ext cx="5724350" cy="13157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Bef>
                    <a:spcPts val="900"/>
                  </a:spcBef>
                  <a:spcAft>
                    <a:spcPts val="9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𝑟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1,1,1</m:t>
                              </m:r>
                            </m:e>
                          </m:d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,3</m:t>
                          </m:r>
                        </m:e>
                      </m:d>
                    </m:oMath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𝑟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,1</m:t>
                          </m:r>
                        </m:e>
                      </m:d>
                    </m:oMath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𝑟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1,1,1</m:t>
                              </m:r>
                            </m:e>
                          </m:d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=(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,3)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4" name="תיבת טקסט 13">
                <a:extLst>
                  <a:ext uri="{FF2B5EF4-FFF2-40B4-BE49-F238E27FC236}">
                    <a16:creationId xmlns:a16="http://schemas.microsoft.com/office/drawing/2014/main" id="{31547A9C-2ADB-C89C-99A7-390F306064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73890" y="5007013"/>
                <a:ext cx="5724350" cy="131574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he-I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תיבת טקסט 14">
                <a:extLst>
                  <a:ext uri="{FF2B5EF4-FFF2-40B4-BE49-F238E27FC236}">
                    <a16:creationId xmlns:a16="http://schemas.microsoft.com/office/drawing/2014/main" id="{C52070A4-9C57-3A15-0AB0-DB1E36821FA0}"/>
                  </a:ext>
                </a:extLst>
              </p:cNvPr>
              <p:cNvSpPr txBox="1"/>
              <p:nvPr/>
            </p:nvSpPr>
            <p:spPr>
              <a:xfrm>
                <a:off x="6972201" y="5072430"/>
                <a:ext cx="3538926" cy="57708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Bef>
                    <a:spcPts val="900"/>
                  </a:spcBef>
                  <a:spcAft>
                    <a:spcPts val="9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𝑂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={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,3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,1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,(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,3)}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5" name="תיבת טקסט 14">
                <a:extLst>
                  <a:ext uri="{FF2B5EF4-FFF2-40B4-BE49-F238E27FC236}">
                    <a16:creationId xmlns:a16="http://schemas.microsoft.com/office/drawing/2014/main" id="{C52070A4-9C57-3A15-0AB0-DB1E36821F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72201" y="5072430"/>
                <a:ext cx="3538926" cy="577081"/>
              </a:xfrm>
              <a:prstGeom prst="rect">
                <a:avLst/>
              </a:prstGeom>
              <a:blipFill>
                <a:blip r:embed="rId8"/>
                <a:stretch>
                  <a:fillRect r="-358"/>
                </a:stretch>
              </a:blipFill>
            </p:spPr>
            <p:txBody>
              <a:bodyPr/>
              <a:lstStyle/>
              <a:p>
                <a:r>
                  <a:rPr lang="he-I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מחבר חץ ישר 15">
            <a:extLst>
              <a:ext uri="{FF2B5EF4-FFF2-40B4-BE49-F238E27FC236}">
                <a16:creationId xmlns:a16="http://schemas.microsoft.com/office/drawing/2014/main" id="{15DE0A7D-1FD2-75C6-53E8-873352C8C9E1}"/>
              </a:ext>
            </a:extLst>
          </p:cNvPr>
          <p:cNvCxnSpPr>
            <a:cxnSpLocks/>
            <a:endCxn id="15" idx="1"/>
          </p:cNvCxnSpPr>
          <p:nvPr/>
        </p:nvCxnSpPr>
        <p:spPr>
          <a:xfrm flipV="1">
            <a:off x="5722706" y="5360971"/>
            <a:ext cx="1249495" cy="20151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מלבן מעוגל 1">
            <a:extLst>
              <a:ext uri="{FF2B5EF4-FFF2-40B4-BE49-F238E27FC236}">
                <a16:creationId xmlns:a16="http://schemas.microsoft.com/office/drawing/2014/main" id="{12D1D038-7F4D-5A1F-7737-6546EAFD55E8}"/>
              </a:ext>
            </a:extLst>
          </p:cNvPr>
          <p:cNvSpPr>
            <a:spLocks noGrp="1"/>
          </p:cNvSpPr>
          <p:nvPr/>
        </p:nvSpPr>
        <p:spPr>
          <a:xfrm>
            <a:off x="1415533" y="3436178"/>
            <a:ext cx="3178769" cy="146527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2D2D2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3" name="מלבן 2">
            <a:extLst>
              <a:ext uri="{FF2B5EF4-FFF2-40B4-BE49-F238E27FC236}">
                <a16:creationId xmlns:a16="http://schemas.microsoft.com/office/drawing/2014/main" id="{6A276032-7967-9D44-ABEA-0AB324CDED0E}"/>
              </a:ext>
            </a:extLst>
          </p:cNvPr>
          <p:cNvSpPr>
            <a:spLocks noGrp="1"/>
          </p:cNvSpPr>
          <p:nvPr/>
        </p:nvSpPr>
        <p:spPr>
          <a:xfrm>
            <a:off x="1415533" y="3436178"/>
            <a:ext cx="3178769" cy="76200"/>
          </a:xfrm>
          <a:prstGeom prst="rect">
            <a:avLst/>
          </a:prstGeom>
          <a:solidFill>
            <a:srgbClr val="009051"/>
          </a:solidFill>
          <a:ln w="9525">
            <a:solidFill>
              <a:srgbClr val="009051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7" name="מלבן 16">
            <a:extLst>
              <a:ext uri="{FF2B5EF4-FFF2-40B4-BE49-F238E27FC236}">
                <a16:creationId xmlns:a16="http://schemas.microsoft.com/office/drawing/2014/main" id="{FEFE9EAB-93CF-B22C-C468-5B5374596611}"/>
              </a:ext>
            </a:extLst>
          </p:cNvPr>
          <p:cNvSpPr>
            <a:spLocks noGrp="1"/>
          </p:cNvSpPr>
          <p:nvPr/>
        </p:nvSpPr>
        <p:spPr>
          <a:xfrm>
            <a:off x="1606033" y="3645728"/>
            <a:ext cx="2218375" cy="28575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  <p:txBody>
          <a:bodyPr wrap="square" lIns="36576" tIns="18288" rIns="36576" bIns="18288" anchor="ctr"/>
          <a:lstStyle/>
          <a:p>
            <a:pPr algn="l">
              <a:defRPr sz="1425" b="1" i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000" b="0" dirty="0">
                <a:solidFill>
                  <a:srgbClr val="000000"/>
                </a:solidFill>
                <a:latin typeface="Calibri"/>
              </a:rPr>
              <a:t>Reduce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מלבן 17">
                <a:extLst>
                  <a:ext uri="{FF2B5EF4-FFF2-40B4-BE49-F238E27FC236}">
                    <a16:creationId xmlns:a16="http://schemas.microsoft.com/office/drawing/2014/main" id="{ECCD2B45-A2A3-D594-F34E-F9C0BC7A2E57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606033" y="3899418"/>
                <a:ext cx="2806951" cy="666750"/>
              </a:xfrm>
              <a:prstGeom prst="rect">
                <a:avLst/>
              </a:prstGeom>
              <a:solidFill>
                <a:srgbClr val="FFFFFF"/>
              </a:solidFill>
              <a:ln w="0">
                <a:solidFill>
                  <a:srgbClr val="FFFFFF"/>
                </a:solidFill>
                <a:prstDash val="solid"/>
              </a:ln>
            </p:spPr>
            <p:txBody>
              <a:bodyPr anchor="t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ar-AE" sz="2000" b="0" i="0" smtClean="0">
                          <a:latin typeface="Cambria Math" panose="02040503050406030204" pitchFamily="18" charset="0"/>
                        </a:rPr>
                        <m:t>𝑂</m:t>
                      </m:r>
                      <m:r>
                        <a:rPr lang="ar-AE" sz="2000" b="0" i="0" smtClean="0">
                          <a:latin typeface="Cambria Math" panose="02040503050406030204" pitchFamily="18" charset="0"/>
                        </a:rPr>
                        <m:t>= </m:t>
                      </m:r>
                      <m:nary>
                        <m:naryPr>
                          <m:chr m:val="⋃"/>
                          <m:supHide m:val="on"/>
                          <m:ctrlPr>
                            <a:rPr lang="ar-AE" sz="20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7"/>
                                </m:r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m:rPr>
                                  <m:brk m:alnAt="7"/>
                                </m:r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m:rPr>
                              <m:brk m:alnAt="7"/>
                            </m:rP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7"/>
                                </m:r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m:rPr>
                                  <m:brk m:alnAt="7"/>
                                </m:r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m:rPr>
                              <m:brk m:alnAt="7"/>
                            </m:rP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sub>
                        <m:sup/>
                        <m:e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ar-AE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20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ar-AE" sz="20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𝐺</m:t>
                          </m:r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ar-AE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20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ar-AE" sz="20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))</m:t>
                          </m:r>
                        </m:e>
                      </m:nary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8" name="מלבן 17">
                <a:extLst>
                  <a:ext uri="{FF2B5EF4-FFF2-40B4-BE49-F238E27FC236}">
                    <a16:creationId xmlns:a16="http://schemas.microsoft.com/office/drawing/2014/main" id="{ECCD2B45-A2A3-D594-F34E-F9C0BC7A2E5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06033" y="3899418"/>
                <a:ext cx="2806951" cy="666750"/>
              </a:xfrm>
              <a:prstGeom prst="rect">
                <a:avLst/>
              </a:prstGeom>
              <a:blipFill>
                <a:blip r:embed="rId9"/>
                <a:stretch>
                  <a:fillRect l="-6306" t="-162264" b="-254717"/>
                </a:stretch>
              </a:blipFill>
              <a:ln w="0">
                <a:solidFill>
                  <a:srgbClr val="FFFFFF"/>
                </a:solidFill>
                <a:prstDash val="solid"/>
              </a:ln>
            </p:spPr>
            <p:txBody>
              <a:bodyPr/>
              <a:lstStyle/>
              <a:p>
                <a:r>
                  <a:rPr lang="he-I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5213689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Exercises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 hasCustomPrompt="1"/>
              </p:nvPr>
            </p:nvSpPr>
            <p:spPr/>
            <p:txBody>
              <a:bodyPr>
                <a:normAutofit/>
              </a:bodyPr>
              <a:lstStyle/>
              <a:p>
                <a:pPr lvl="0"/>
                <a:r>
                  <a:rPr lang="en-US" dirty="0"/>
                  <a:t>Given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=[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,…,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r>
                  <a:rPr lang="en-US" dirty="0"/>
                  <a:t> </a:t>
                </a:r>
                <a:br>
                  <a:rPr lang="en-US" dirty="0"/>
                </a:br>
                <a:r>
                  <a:rPr lang="en-US" dirty="0"/>
                  <a:t>design MR algorithm to find: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sz="2800" dirty="0"/>
              </a:p>
              <a:p>
                <a:pPr lvl="1"/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sz="2800" dirty="0"/>
              </a:p>
              <a:p>
                <a:pPr lvl="1"/>
                <a:endParaRPr lang="en-US" sz="2000" dirty="0"/>
              </a:p>
              <a:p>
                <a:pPr lvl="0"/>
                <a:r>
                  <a:rPr lang="en-US" dirty="0"/>
                  <a:t>Given SQL table, design MR algorithm to perform </a:t>
                </a:r>
                <a:br>
                  <a:rPr lang="en-US" dirty="0"/>
                </a:br>
                <a:r>
                  <a:rPr lang="en-US" dirty="0"/>
                  <a:t>WHERE of </a:t>
                </a:r>
                <a:r>
                  <a:rPr lang="en-US"/>
                  <a:t>given statement</a:t>
                </a:r>
                <a:r>
                  <a:rPr lang="en-US" dirty="0"/>
                  <a:t>.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 hasCustomPrompt="1"/>
              </p:nvPr>
            </p:nvSpPr>
            <p:spPr>
              <a:blipFill>
                <a:blip r:embed="rId2"/>
                <a:stretch>
                  <a:fillRect l="-954"/>
                </a:stretch>
              </a:blipFill>
            </p:spPr>
            <p:txBody>
              <a:bodyPr/>
              <a:lstStyle/>
              <a:p>
                <a:r>
                  <a:rPr lang="he-I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ערכת נושא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70</TotalTime>
  <Words>1374</Words>
  <Application>Microsoft Macintosh PowerPoint</Application>
  <PresentationFormat>מסך רחב</PresentationFormat>
  <Paragraphs>383</Paragraphs>
  <Slides>24</Slides>
  <Notes>17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5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24</vt:i4>
      </vt:variant>
    </vt:vector>
  </HeadingPairs>
  <TitlesOfParts>
    <vt:vector size="30" baseType="lpstr">
      <vt:lpstr>Aptos</vt:lpstr>
      <vt:lpstr>Arial</vt:lpstr>
      <vt:lpstr>Calibri</vt:lpstr>
      <vt:lpstr>Cambria Math</vt:lpstr>
      <vt:lpstr>Courier</vt:lpstr>
      <vt:lpstr>Office Theme</vt:lpstr>
      <vt:lpstr>MapReduce Algorithm</vt:lpstr>
      <vt:lpstr>Purpose &amp; Learning Objectives</vt:lpstr>
      <vt:lpstr>Motivation</vt:lpstr>
      <vt:lpstr>מצגת של PowerPoint‏</vt:lpstr>
      <vt:lpstr>מצגת של PowerPoint‏</vt:lpstr>
      <vt:lpstr>מצגת של PowerPoint‏</vt:lpstr>
      <vt:lpstr>Why MapReduce Matters </vt:lpstr>
      <vt:lpstr>מצגת של PowerPoint‏</vt:lpstr>
      <vt:lpstr>MapReduce workflow</vt:lpstr>
      <vt:lpstr>מצגת של PowerPoint‏</vt:lpstr>
      <vt:lpstr>מצגת של PowerPoint‏</vt:lpstr>
      <vt:lpstr>מצגת של PowerPoint‏</vt:lpstr>
      <vt:lpstr>מצגת של PowerPoint‏</vt:lpstr>
      <vt:lpstr>Why Shuffle Is the Bottleneck?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MR Algorithm – Formal Definition</vt:lpstr>
      <vt:lpstr>מצגת של PowerPoint‏</vt:lpstr>
      <vt:lpstr>מצגת של PowerPoint‏</vt:lpstr>
      <vt:lpstr>מצגת של PowerPoint‏</vt:lpstr>
      <vt:lpstr>Exercises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emplate>Facet</Template>
  <TotalTime>12</TotalTime>
  <Words>18</Words>
  <Application>Microsoft Macintosh PowerPoint</Application>
  <PresentationFormat>מסך רחב</PresentationFormat>
  <Paragraphs>12</Paragraphs>
  <Slides>6</Slides>
  <Notes>0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3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6</vt:i4>
      </vt:variant>
    </vt:vector>
  </HeadingPairs>
  <TitlesOfParts>
    <vt:vector size="10" baseType="lpstr">
      <vt:lpstr>Aptos</vt:lpstr>
      <vt:lpstr>Arial</vt:lpstr>
      <vt:lpstr>Calibri</vt:lpstr>
      <vt:lpstr>Office Theme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cp:lastModifiedBy>Or Perets</cp:lastModifiedBy>
  <cp:revision>12</cp:revision>
  <dcterms:created xsi:type="dcterms:W3CDTF">2026-02-10T09:23:28Z</dcterms:created>
  <dcterms:modified xsi:type="dcterms:W3CDTF">2026-05-07T05:58:40Z</dcterms:modified>
</cp:coreProperties>
</file>