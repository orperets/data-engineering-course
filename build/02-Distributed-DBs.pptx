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</p:sldIdLst>
  <p:sldSz cx="12192000" cy="6858000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411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3003"/>
    <p:restoredTop sz="94719"/>
  </p:normalViewPr>
  <p:slideViewPr>
    <p:cSldViewPr snapToGrid="0" snapToObjects="1">
      <p:cViewPr>
        <p:scale>
          <a:sx d="100" n="123"/>
          <a:sy d="100" n="123"/>
        </p:scale>
        <p:origin x="2856" y="1184"/>
      </p:cViewPr>
      <p:guideLst>
        <p:guide orient="horz" pos="2160"/>
        <p:guide pos="3840"/>
      </p:guideLst>
    </p:cSldViewPr>
  </p:slideViewPr>
  <p:notesTextViewPr>
    <p:cViewPr>
      <p:scale>
        <a:sx d="100" n="100"/>
        <a:sy d="100" n="100"/>
      </p:scale>
      <p:origin x="0" y="0"/>
    </p:cViewPr>
  </p:notesTextViewPr>
  <p:notesViewPr>
    <p:cSldViewPr snapToGrid="0" snapToObjects="1">
      <p:cViewPr varScale="1">
        <p:scale>
          <a:sx d="100" n="118"/>
          <a:sy d="100" n="118"/>
        </p:scale>
        <p:origin x="5160" y="216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0" Type="http://schemas.openxmlformats.org/officeDocument/2006/relationships/slide" Target="slides/slide79.xml" /><Relationship Id="rId81" Type="http://schemas.openxmlformats.org/officeDocument/2006/relationships/slide" Target="slides/slide80.xml" /><Relationship Id="rId82" Type="http://schemas.openxmlformats.org/officeDocument/2006/relationships/slide" Target="slides/slide81.xml" /><Relationship Id="rId83" Type="http://schemas.openxmlformats.org/officeDocument/2006/relationships/slide" Target="slides/slide82.xml" /><Relationship Id="rId84" Type="http://schemas.openxmlformats.org/officeDocument/2006/relationships/slide" Target="slides/slide83.xml" /><Relationship Id="rId85" Type="http://schemas.openxmlformats.org/officeDocument/2006/relationships/slide" Target="slides/slide84.xml" /><Relationship Id="rId86" Type="http://schemas.openxmlformats.org/officeDocument/2006/relationships/slide" Target="slides/slide85.xml" /><Relationship Id="rId87" Type="http://schemas.openxmlformats.org/officeDocument/2006/relationships/slide" Target="slides/slide86.xml" /><Relationship Id="rId88" Type="http://schemas.openxmlformats.org/officeDocument/2006/relationships/slide" Target="slides/slide87.xml" /><Relationship Id="rId89" Type="http://schemas.openxmlformats.org/officeDocument/2006/relationships/slide" Target="slides/slide88.xml" /><Relationship Id="rId90" Type="http://schemas.openxmlformats.org/officeDocument/2006/relationships/slide" Target="slides/slide89.xml" /><Relationship Id="rId91" Type="http://schemas.openxmlformats.org/officeDocument/2006/relationships/slide" Target="slides/slide90.xml" /><Relationship Id="rId92" Type="http://schemas.openxmlformats.org/officeDocument/2006/relationships/slide" Target="slides/slide91.xml" /><Relationship Id="rId93" Type="http://schemas.openxmlformats.org/officeDocument/2006/relationships/slide" Target="slides/slide92.xml" /><Relationship Id="rId94" Type="http://schemas.openxmlformats.org/officeDocument/2006/relationships/slide" Target="slides/slide93.xml" /><Relationship Id="rId95" Type="http://schemas.openxmlformats.org/officeDocument/2006/relationships/slide" Target="slides/slide94.xml" /><Relationship Id="rId96" Type="http://schemas.openxmlformats.org/officeDocument/2006/relationships/slide" Target="slides/slide95.xml" /><Relationship Id="rId97" Type="http://schemas.openxmlformats.org/officeDocument/2006/relationships/slide" Target="slides/slide96.xml" /><Relationship Id="rId98" Type="http://schemas.openxmlformats.org/officeDocument/2006/relationships/slide" Target="slides/slide97.xml" /><Relationship Id="rId99" Type="http://schemas.openxmlformats.org/officeDocument/2006/relationships/slide" Target="slides/slide98.xml" /><Relationship Id="rId100" Type="http://schemas.openxmlformats.org/officeDocument/2006/relationships/slide" Target="slides/slide99.xml" /><Relationship Id="rId101" Type="http://schemas.openxmlformats.org/officeDocument/2006/relationships/slide" Target="slides/slide100.xml" /><Relationship Id="rId102" Type="http://schemas.openxmlformats.org/officeDocument/2006/relationships/slide" Target="slides/slide101.xml" /><Relationship Id="rId103" Type="http://schemas.openxmlformats.org/officeDocument/2006/relationships/slide" Target="slides/slide102.xml" /><Relationship Id="rId104" Type="http://schemas.openxmlformats.org/officeDocument/2006/relationships/slide" Target="slides/slide103.xml" /><Relationship Id="rId105" Type="http://schemas.openxmlformats.org/officeDocument/2006/relationships/slide" Target="slides/slide104.xml" /><Relationship Id="rId106" Type="http://schemas.openxmlformats.org/officeDocument/2006/relationships/slide" Target="slides/slide105.xml" /><Relationship Id="rId107" Type="http://schemas.openxmlformats.org/officeDocument/2006/relationships/slide" Target="slides/slide106.xml" /><Relationship Id="rId108" Type="http://schemas.openxmlformats.org/officeDocument/2006/relationships/slide" Target="slides/slide107.xml" /><Relationship Id="rId109" Type="http://schemas.openxmlformats.org/officeDocument/2006/relationships/slide" Target="slides/slide108.xml" /><Relationship Id="rId110" Type="http://schemas.openxmlformats.org/officeDocument/2006/relationships/slide" Target="slides/slide109.xml" /><Relationship Id="rId111" Type="http://schemas.openxmlformats.org/officeDocument/2006/relationships/handoutMaster" Target="handoutMasters/handoutMaster1.xml" /><Relationship Id="rId11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14" Type="http://schemas.openxmlformats.org/officeDocument/2006/relationships/theme" Target="theme/theme1.xml" /><Relationship Id="rId113" Type="http://schemas.openxmlformats.org/officeDocument/2006/relationships/viewProps" Target="viewProps.xml" /><Relationship Id="rId1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14400" y="2130426"/>
            <a:ext cx="10363200" cy="1470025"/>
          </a:xfrm>
        </p:spPr>
        <p:txBody>
          <a:bodyPr/>
          <a:lstStyle>
            <a:lvl1pPr>
              <a:defRPr sz="4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34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29F15AE-737D-866E-3CF2-D0120AD833A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4400" y="2130426"/>
            <a:ext cx="10363200" cy="1470025"/>
          </a:xfrm>
        </p:spPr>
        <p:txBody>
          <a:bodyPr/>
          <a:lstStyle>
            <a:lvl1pPr>
              <a:defRPr sz="42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oundRect">
            <a:avLst/>
          </a:prstGeom>
          <a:ln w="12700">
            <a:solidFill>
              <a:schemeClr val="accent2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fmla="*/ 0 w 10972800" name="csX0"/>
                      <a:gd fmla="*/ 0 h 1143000" name="csY0"/>
                      <a:gd fmla="*/ 10972800 w 10972800" name="csX1"/>
                      <a:gd fmla="*/ 0 h 1143000" name="csY1"/>
                      <a:gd fmla="*/ 10972800 w 10972800" name="csX2"/>
                      <a:gd fmla="*/ 1143000 h 1143000" name="csY2"/>
                      <a:gd fmla="*/ 0 w 10972800" name="csX3"/>
                      <a:gd fmla="*/ 1143000 h 1143000" name="csY3"/>
                      <a:gd fmla="*/ 0 w 10972800" name="csX4"/>
                      <a:gd fmla="*/ 0 h 1143000" name="csY4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b="b" l="l" r="r" t="t"/>
                    <a:pathLst>
                      <a:path extrusionOk="0" fill="none" h="1143000" w="10972800">
                        <a:moveTo>
                          <a:pt x="0" y="0"/>
                        </a:moveTo>
                        <a:cubicBezTo>
                          <a:pt x="4674310" y="-49533"/>
                          <a:pt x="6929254" y="-14809"/>
                          <a:pt x="10972800" y="0"/>
                        </a:cubicBezTo>
                        <a:cubicBezTo>
                          <a:pt x="10969069" y="570730"/>
                          <a:pt x="11062171" y="914526"/>
                          <a:pt x="10972800" y="1143000"/>
                        </a:cubicBezTo>
                        <a:cubicBezTo>
                          <a:pt x="6482996" y="1094769"/>
                          <a:pt x="3552735" y="1227455"/>
                          <a:pt x="0" y="1143000"/>
                        </a:cubicBezTo>
                        <a:cubicBezTo>
                          <a:pt x="69309" y="672287"/>
                          <a:pt x="-28229" y="279082"/>
                          <a:pt x="0" y="0"/>
                        </a:cubicBezTo>
                        <a:close/>
                      </a:path>
                      <a:path extrusionOk="0" h="1143000" stroke="0" w="10972800">
                        <a:moveTo>
                          <a:pt x="0" y="0"/>
                        </a:moveTo>
                        <a:cubicBezTo>
                          <a:pt x="3528079" y="118645"/>
                          <a:pt x="9610931" y="116012"/>
                          <a:pt x="10972800" y="0"/>
                        </a:cubicBezTo>
                        <a:cubicBezTo>
                          <a:pt x="11055528" y="134374"/>
                          <a:pt x="10882381" y="1028043"/>
                          <a:pt x="10972800" y="1143000"/>
                        </a:cubicBezTo>
                        <a:cubicBezTo>
                          <a:pt x="8799093" y="1277600"/>
                          <a:pt x="3316512" y="985804"/>
                          <a:pt x="0" y="1143000"/>
                        </a:cubicBezTo>
                        <a:cubicBezTo>
                          <a:pt x="94203" y="956839"/>
                          <a:pt x="-18710" y="289479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Freeform 6">
            <a:extLst>
              <a:ext uri="{FF2B5EF4-FFF2-40B4-BE49-F238E27FC236}">
                <a16:creationId xmlns:a16="http://schemas.microsoft.com/office/drawing/2014/main" id="{9E54F053-C5B3-FA53-FB24-F76EBC23E5F7}"/>
              </a:ext>
            </a:extLst>
          </p:cNvPr>
          <p:cNvSpPr/>
          <p:nvPr/>
        </p:nvSpPr>
        <p:spPr>
          <a:xfrm>
            <a:off x="10492509" y="-832013"/>
            <a:ext cx="5901557" cy="7690013"/>
          </a:xfrm>
          <a:custGeom>
            <a:avLst/>
            <a:gdLst/>
            <a:ahLst/>
            <a:cxnLst/>
            <a:rect b="b" l="l" r="r" t="t"/>
            <a:pathLst>
              <a:path h="812800" w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cap="sq" w="57150">
            <a:solidFill>
              <a:srgbClr val="941100">
                <a:alpha val="44000"/>
              </a:srgbClr>
            </a:solidFill>
            <a:prstDash val="solid"/>
            <a:miter/>
          </a:ln>
        </p:spPr>
        <p:txBody>
          <a:bodyPr/>
          <a:lstStyle/>
          <a:p>
            <a:endParaRPr lang="en-IL"/>
          </a:p>
        </p:txBody>
      </p:sp>
      <p:sp>
        <p:nvSpPr>
          <p:cNvPr id="12" name="Freeform 20">
            <a:extLst>
              <a:ext uri="{FF2B5EF4-FFF2-40B4-BE49-F238E27FC236}">
                <a16:creationId xmlns:a16="http://schemas.microsoft.com/office/drawing/2014/main" id="{C6ADFD82-3296-8C7F-2ACC-D8399785AC79}"/>
              </a:ext>
            </a:extLst>
          </p:cNvPr>
          <p:cNvSpPr/>
          <p:nvPr/>
        </p:nvSpPr>
        <p:spPr>
          <a:xfrm>
            <a:off x="-6457700" y="-1088358"/>
            <a:ext cx="7329616" cy="7329616"/>
          </a:xfrm>
          <a:custGeom>
            <a:avLst/>
            <a:gdLst/>
            <a:ahLst/>
            <a:cxnLst/>
            <a:rect b="b" l="l" r="r" t="t"/>
            <a:pathLst>
              <a:path h="812800" w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cap="sq" w="514350">
            <a:solidFill>
              <a:srgbClr val="941100">
                <a:alpha val="17929"/>
              </a:srgbClr>
            </a:solidFill>
            <a:prstDash val="solid"/>
            <a:miter/>
          </a:ln>
        </p:spPr>
        <p:txBody>
          <a:bodyPr/>
          <a:lstStyle/>
          <a:p>
            <a:endParaRPr lang="en-IL" sz="933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eaLnBrk="1" hangingPunct="1" latinLnBrk="0" rtl="0">
        <a:spcBef>
          <a:spcPct val="0"/>
        </a:spcBef>
        <a:buNone/>
        <a:defRPr b="1" kern="1200" sz="3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457200" eaLnBrk="1" hangingPunct="1" indent="-342900" latinLnBrk="0" marL="342900" rtl="0">
        <a:lnSpc>
          <a:spcPct val="130000"/>
        </a:lnSpc>
        <a:spcBef>
          <a:spcPts val="0"/>
        </a:spcBef>
        <a:buFont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indent="-285750" latinLnBrk="0" marL="742950" rtl="0">
        <a:lnSpc>
          <a:spcPct val="130000"/>
        </a:lnSpc>
        <a:spcBef>
          <a:spcPts val="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indent="-228600" latinLnBrk="0" marL="1143000" rtl="0">
        <a:lnSpc>
          <a:spcPct val="130000"/>
        </a:lnSpc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indent="-228600" latinLnBrk="0" marL="1600200" rtl="0">
        <a:lnSpc>
          <a:spcPct val="130000"/>
        </a:lnSpc>
        <a:spcBef>
          <a:spcPts val="0"/>
        </a:spcBef>
        <a:buFont typeface="Arial"/>
        <a:buChar char="–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indent="-228600" latinLnBrk="0" marL="2057400" rtl="0">
        <a:lnSpc>
          <a:spcPct val="130000"/>
        </a:lnSpc>
        <a:spcBef>
          <a:spcPts val="0"/>
        </a:spcBef>
        <a:buFont typeface="Arial"/>
        <a:buChar char="»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8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0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29F15AE-737D-866E-3CF2-D0120AD833A4}"/>
              </a:ext>
            </a:extLst>
          </p:cNvPr>
          <p:cNvSpPr>
            <a:spLocks noGrp="1"/>
          </p:cNvSpPr>
          <p:nvPr>
            <p:ph hasCustomPrompt="1"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Week 2: Distributed Databases: SQL vs NoSQL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Why this topic matters in data engineering</a:t>
            </a:r>
          </a:p>
          <a:p>
            <a:pPr lvl="0"/>
            <a:r>
              <a:rPr/>
              <a:t>Distributed storage as foundation for scale</a:t>
            </a:r>
          </a:p>
          <a:p>
            <a:pPr lvl="0"/>
            <a:r>
              <a:rPr/>
              <a:t>Trade-offs drive architecture choices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Define distributed DB concepts: partitioning, replication</a:t>
            </a:r>
          </a:p>
          <a:p>
            <a:pPr lvl="0"/>
            <a:r>
              <a:rPr/>
              <a:t>Compare SQL vs NoSQL models and guarantees formally</a:t>
            </a:r>
          </a:p>
          <a:p>
            <a:pPr lvl="0"/>
            <a:r>
              <a:rPr/>
              <a:t>Calculate single-node limits (storage, throughput, availability)</a:t>
            </a:r>
          </a:p>
          <a:p>
            <a:pPr lvl="0"/>
            <a:r>
              <a:rPr/>
              <a:t>Design partitioning strategies with numeric constraints</a:t>
            </a:r>
          </a:p>
          <a:p>
            <a:pPr lvl="0"/>
            <a:r>
              <a:rPr/>
              <a:t>Reason about replication factor and write amplification</a:t>
            </a:r>
          </a:p>
          <a:p>
            <a:pPr lvl="0"/>
            <a:r>
              <a:rPr/>
              <a:t>Analyze CAP trade-offs in concrete scenarios</a:t>
            </a:r>
          </a:p>
          <a:p>
            <a:pPr lvl="0"/>
            <a:r>
              <a:rPr/>
              <a:t>Identify failure modes and detection or mitigation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Concepts (1/2)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Constraints, Not Definitions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Constraint:</a:t>
            </a:r>
            <a:r>
              <a:rPr/>
              <a:t> data and compute must spread across nodes</a:t>
            </a:r>
          </a:p>
          <a:p>
            <a:pPr lvl="0"/>
            <a:r>
              <a:rPr/>
              <a:t>Single machine hits storage or throughput limits</a:t>
            </a:r>
          </a:p>
          <a:p>
            <a:pPr lvl="0"/>
            <a:r>
              <a:rPr b="1"/>
              <a:t>Partition:</a:t>
            </a:r>
            <a:r>
              <a:rPr/>
              <a:t> subset of data on one or more nodes</a:t>
            </a:r>
          </a:p>
          <a:p>
            <a:pPr lvl="0"/>
            <a:r>
              <a:rPr b="1"/>
              <a:t>Replication:</a:t>
            </a:r>
            <a:r>
              <a:rPr/>
              <a:t> copies for availability and durability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Partition and Replication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Design choice</a:t>
            </a:r>
            <a:r>
              <a:rPr/>
              <a:t> (how to split) drives scale and failure</a:t>
            </a:r>
          </a:p>
          <a:p>
            <a:pPr lvl="0"/>
            <a:r>
              <a:rPr b="1"/>
              <a:t>Replication cost:</a:t>
            </a:r>
            <a:r>
              <a:rPr/>
              <a:t> write amplification, consistency trade-offs</a:t>
            </a:r>
          </a:p>
          <a:p>
            <a:pPr lvl="0"/>
            <a:r>
              <a:rPr b="1"/>
              <a:t>Coordinator:</a:t>
            </a:r>
            <a:r>
              <a:rPr/>
              <a:t> routes requests, may run consensus</a:t>
            </a:r>
          </a:p>
          <a:p>
            <a:pPr lvl="0"/>
            <a:r>
              <a:rPr/>
              <a:t>Single point of failure if not designed for it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Context: E-Commerce Platform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Users: 50M rows ≈ 25 GB</a:t>
            </a:r>
          </a:p>
          <a:p>
            <a:pPr lvl="0"/>
            <a:r>
              <a:rPr/>
              <a:t>Orders: 500M rows ≈ 150 GB</a:t>
            </a:r>
          </a:p>
          <a:p>
            <a:pPr lvl="0"/>
            <a:r>
              <a:rPr/>
              <a:t>Products: 1M rows ≈ 1 GB</a:t>
            </a:r>
          </a:p>
          <a:p>
            <a:pPr lvl="0"/>
            <a:r>
              <a:rPr/>
              <a:t>Partition key: </a:t>
            </a:r>
            <a:r>
              <a:rPr>
                <a:latin typeface="Courier"/>
              </a:rPr>
              <a:t>user_id</a:t>
            </a:r>
            <a:r>
              <a:rPr/>
              <a:t> for users and orders</a:t>
            </a:r>
          </a:p>
          <a:p>
            <a:pPr lvl="0"/>
            <a:r>
              <a:rPr/>
              <a:t>Target: 10 nodes, balanced load</a:t>
            </a:r>
          </a:p>
          <a:p>
            <a:pPr lvl="0"/>
            <a:r>
              <a:rPr/>
              <a:t>Peak: 100K ops/sec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In-Lecture Exercise 2: Partitioning Sizing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Hash partition users and orders by </a:t>
            </a:r>
            <a:r>
              <a:rPr>
                <a:latin typeface="Courier"/>
              </a:rPr>
              <a:t>user_id</a:t>
            </a:r>
          </a:p>
          <a:p>
            <a:pPr lvl="0"/>
            <a:r>
              <a:rPr/>
              <a:t>Compute data per node on 10 nodes</a:t>
            </a:r>
          </a:p>
          <a:p>
            <a:pPr lvl="0"/>
            <a:r>
              <a:rPr/>
              <a:t>Check capacity for 100K peak at 10K ops/sec/node</a:t>
            </a:r>
          </a:p>
          <a:p>
            <a:pPr lvl="0"/>
            <a:r>
              <a:rPr/>
              <a:t>Decide co-location vs separate clusters</a:t>
            </a:r>
          </a:p>
          <a:p>
            <a:pPr lvl="0"/>
            <a:r>
              <a:rPr/>
              <a:t>Estimate transfer for full user+orders scan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In-Lecture Exercise 2: Solution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Users: 25/10 = 2.5 GB per node</a:t>
            </a:r>
          </a:p>
          <a:p>
            <a:pPr lvl="0"/>
            <a:r>
              <a:rPr/>
              <a:t>Orders: 150/10 = 15 GB per node</a:t>
            </a:r>
          </a:p>
          <a:p>
            <a:pPr lvl="0"/>
            <a:r>
              <a:rPr/>
              <a:t>Total ≈ 17.5 GB per node</a:t>
            </a:r>
          </a:p>
          <a:p>
            <a:pPr lvl="0"/>
            <a:r>
              <a:rPr/>
              <a:t>Peak: 100K / 10 = 10K ops/sec per node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In-Lecture Exercise 2: Solution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Capacity at limit; prefer 12–15 nodes headroom</a:t>
            </a:r>
          </a:p>
          <a:p>
            <a:pPr lvl="0"/>
            <a:r>
              <a:rPr/>
              <a:t>Co-locate for single-partition “orders by user”</a:t>
            </a:r>
          </a:p>
          <a:p>
            <a:pPr lvl="0"/>
            <a:r>
              <a:rPr/>
              <a:t>Separate ⇒ cross-partition scan ≈ 175 GB transfer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In-Lecture Exercise 2: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Partitioning math ties directly to capacity planning</a:t>
            </a:r>
          </a:p>
          <a:p>
            <a:pPr lvl="0"/>
            <a:r>
              <a:rPr/>
              <a:t>Co-location can cut latency for dominant access paths</a:t>
            </a:r>
          </a:p>
          <a:p>
            <a:pPr lvl="0"/>
            <a:r>
              <a:rPr/>
              <a:t>Cross-partition scans explode network costs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Formal Models (Access Patterns First)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Relational (SQL):</a:t>
            </a:r>
            <a:r>
              <a:rPr/>
              <a:t> tables, keys, joins, ACID</a:t>
            </a:r>
          </a:p>
          <a:p>
            <a:pPr lvl="0"/>
            <a:r>
              <a:rPr b="1"/>
              <a:t>Breaks when</a:t>
            </a:r>
            <a:r>
              <a:rPr/>
              <a:t> cross-partition joins dominate</a:t>
            </a:r>
          </a:p>
          <a:p>
            <a:pPr lvl="0"/>
            <a:r>
              <a:rPr b="1"/>
              <a:t>Key-value:</a:t>
            </a:r>
            <a:r>
              <a:rPr/>
              <a:t> get/put by key, no joins</a:t>
            </a:r>
          </a:p>
          <a:p>
            <a:pPr lvl="0"/>
            <a:r>
              <a:rPr b="1"/>
              <a:t>Scales when</a:t>
            </a:r>
            <a:r>
              <a:rPr/>
              <a:t> access is key-based only</a:t>
            </a:r>
          </a:p>
          <a:p>
            <a:pPr lvl="0"/>
            <a:r>
              <a:rPr b="1"/>
              <a:t>Document / wide-column:</a:t>
            </a:r>
            <a:r>
              <a:rPr/>
              <a:t> nested or clustering keys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SQL vs NoSQL — Engineering Choice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SQL: fixed schema, normalized, declarative</a:t>
            </a:r>
          </a:p>
          <a:p>
            <a:pPr lvl="0"/>
            <a:r>
              <a:rPr b="1"/>
              <a:t>Good for</a:t>
            </a:r>
            <a:r>
              <a:rPr/>
              <a:t> complex queries and strong consistency</a:t>
            </a:r>
          </a:p>
          <a:p>
            <a:pPr lvl="0"/>
            <a:r>
              <a:rPr/>
              <a:t>NoSQL: schema-flexible, key-centric</a:t>
            </a:r>
          </a:p>
          <a:p>
            <a:pPr lvl="0"/>
            <a:r>
              <a:rPr b="1"/>
              <a:t>Good for</a:t>
            </a:r>
            <a:r>
              <a:rPr/>
              <a:t> key-scale and horizontal partitioning</a:t>
            </a:r>
          </a:p>
          <a:p>
            <a:pPr lvl="0"/>
            <a:r>
              <a:rPr b="1"/>
              <a:t>Choose from access patterns and latency/cost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Concepts (2/2)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Guarantees — Why Systems Break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ACID:</a:t>
            </a:r>
            <a:r>
              <a:rPr/>
              <a:t> strong consistency</a:t>
            </a:r>
          </a:p>
          <a:p>
            <a:pPr lvl="0"/>
            <a:r>
              <a:rPr b="1"/>
              <a:t>Cost:</a:t>
            </a:r>
            <a:r>
              <a:rPr/>
              <a:t> cross-partition coordination, blocking, lower throughput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Guarantees — Why Systems Break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BASE:</a:t>
            </a:r>
            <a:r>
              <a:rPr/>
              <a:t> basically available, eventual consistency</a:t>
            </a:r>
          </a:p>
          <a:p>
            <a:pPr lvl="0"/>
            <a:r>
              <a:rPr b="1"/>
              <a:t>Cost:</a:t>
            </a:r>
            <a:r>
              <a:rPr/>
              <a:t> stale reads, conflict resolution</a:t>
            </a:r>
          </a:p>
          <a:p>
            <a:pPr lvl="0"/>
            <a:r>
              <a:rPr b="1"/>
              <a:t>Wrong assumption</a:t>
            </a:r>
            <a:r>
              <a:rPr/>
              <a:t> ⇒ wrong business outcomes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Breaks at Scale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Cross-partition joins:</a:t>
            </a:r>
            <a:r>
              <a:rPr/>
              <a:t> data movement and latency explode</a:t>
            </a:r>
          </a:p>
          <a:p>
            <a:pPr lvl="0"/>
            <a:r>
              <a:rPr b="1"/>
              <a:t>Single-node mental model fails</a:t>
            </a:r>
          </a:p>
          <a:p>
            <a:pPr lvl="0"/>
            <a:r>
              <a:rPr b="1"/>
              <a:t>Cross-partition transactions:</a:t>
            </a:r>
            <a:r>
              <a:rPr/>
              <a:t> 2PC blocks on any failure</a:t>
            </a:r>
          </a:p>
          <a:p>
            <a:pPr lvl="0"/>
            <a:r>
              <a:rPr b="1"/>
              <a:t>Throughput can drop to near zero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Breaks at Scale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Single partition:</a:t>
            </a:r>
            <a:r>
              <a:rPr/>
              <a:t> hot keys and skew</a:t>
            </a:r>
          </a:p>
          <a:p>
            <a:pPr lvl="0"/>
            <a:r>
              <a:rPr/>
              <a:t>One partition throttles; others idle</a:t>
            </a:r>
          </a:p>
          <a:p>
            <a:pPr lvl="0"/>
            <a:r>
              <a:rPr b="1"/>
              <a:t>Network:</a:t>
            </a:r>
            <a:r>
              <a:rPr/>
              <a:t> latency, partitions, partial failure</a:t>
            </a:r>
          </a:p>
          <a:p>
            <a:pPr lvl="0"/>
            <a:r>
              <a:rPr b="1"/>
              <a:t>Design for split-brain and stale reads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Single-Node Databases Break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Storage Limits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Single machine: max ~100 TB disk typical</a:t>
            </a:r>
          </a:p>
          <a:p>
            <a:pPr lvl="0"/>
            <a:r>
              <a:rPr/>
              <a:t>1B users × 1 KB ≈ 1 TB</a:t>
            </a:r>
          </a:p>
          <a:p>
            <a:pPr lvl="0"/>
            <a:r>
              <a:rPr/>
              <a:t>Growth 10%/month ⇒ 100 GB/month</a:t>
            </a:r>
          </a:p>
          <a:p>
            <a:pPr lvl="0"/>
            <a:r>
              <a:rPr b="1"/>
              <a:t>Practical limit ~10 TB</a:t>
            </a:r>
            <a:r>
              <a:rPr/>
              <a:t> with headroom</a:t>
            </a:r>
          </a:p>
          <a:p>
            <a:pPr lvl="0"/>
            <a:r>
              <a:rPr b="1"/>
              <a:t>“We’ll add disk”</a:t>
            </a:r>
            <a:r>
              <a:rPr/>
              <a:t> — then you hit I/O limits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Throughput Limits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Single machine: ~10K writes/sec order of magnitude</a:t>
            </a:r>
          </a:p>
          <a:p>
            <a:pPr lvl="0"/>
            <a:r>
              <a:rPr/>
              <a:t>Example: 100M users, 1 write/user/day ⇒ ~1,157 writes/sec avg</a:t>
            </a:r>
          </a:p>
          <a:p>
            <a:pPr lvl="0"/>
            <a:r>
              <a:rPr/>
              <a:t>Peak 5× ⇒ ~6K/sec</a:t>
            </a:r>
          </a:p>
          <a:p>
            <a:pPr lvl="0"/>
            <a:r>
              <a:rPr b="1"/>
              <a:t>Single node:</a:t>
            </a:r>
            <a:r>
              <a:rPr/>
              <a:t> insufficient headroom; systems break on spikes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In-Lecture Exercise 1: Single-Node Limits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100M users, 500 B per record</a:t>
            </a:r>
          </a:p>
          <a:p>
            <a:pPr lvl="0"/>
            <a:r>
              <a:rPr/>
              <a:t>Single node max 5,000 writes/sec</a:t>
            </a:r>
          </a:p>
          <a:p>
            <a:pPr lvl="0"/>
            <a:r>
              <a:rPr/>
              <a:t>Compute storage size and load time</a:t>
            </a:r>
          </a:p>
          <a:p>
            <a:pPr lvl="0"/>
            <a:r>
              <a:rPr/>
              <a:t>Compute nodes needed for 50,000 writes/sec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In-Lecture Exercise 1: Solution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Storage: 100M × 500 B ≈ 50 GB</a:t>
            </a:r>
          </a:p>
          <a:p>
            <a:pPr lvl="0"/>
            <a:r>
              <a:rPr/>
              <a:t>Load time: 100M / 5,000 s ≈ 20,000 s</a:t>
            </a:r>
          </a:p>
          <a:p>
            <a:pPr lvl="0"/>
            <a:r>
              <a:rPr/>
              <a:t>20,000 s ≈ 5.56 hours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In-Lecture Exercise 1: Solution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50,000 / 5,000 = 10 nodes with linear scaling</a:t>
            </a:r>
          </a:p>
          <a:p>
            <a:pPr lvl="0"/>
            <a:r>
              <a:rPr/>
              <a:t>Still need headroom for peaks and failures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In-Lecture Exercise 1: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Single-node limits appear quickly at real scale</a:t>
            </a:r>
          </a:p>
          <a:p>
            <a:pPr lvl="0"/>
            <a:r>
              <a:rPr/>
              <a:t>Simple math exposes when distribution becomes necessary</a:t>
            </a:r>
          </a:p>
          <a:p>
            <a:pPr lvl="0"/>
            <a:r>
              <a:rPr/>
              <a:t>Always plan for headroom, not average load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Availability Limits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Single machine: 99.9% ⇒ 8.76 h/year downtime</a:t>
            </a:r>
          </a:p>
          <a:p>
            <a:pPr lvl="0"/>
            <a:r>
              <a:rPr/>
              <a:t>E-commerce $10K/h ⇒ </a:t>
            </a:r>
            <a:r>
              <a:rPr b="1"/>
              <a:t>$87,600/year lost</a:t>
            </a:r>
          </a:p>
          <a:p>
            <a:pPr lvl="0"/>
            <a:r>
              <a:rPr/>
              <a:t>Distributed 99.99% ⇒ $8,760</a:t>
            </a:r>
          </a:p>
          <a:p>
            <a:pPr lvl="0"/>
            <a:r>
              <a:rPr b="1"/>
              <a:t>Distribution improves availability</a:t>
            </a:r>
          </a:p>
          <a:p>
            <a:pPr lvl="0"/>
            <a:r>
              <a:rPr/>
              <a:t>Adds network and partial-failure complexity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“Distributed” Really Means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Machines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Data split across nodes</a:t>
            </a:r>
          </a:p>
          <a:p>
            <a:pPr lvl="0"/>
            <a:r>
              <a:rPr/>
              <a:t>Each node: own storage, own compute</a:t>
            </a:r>
          </a:p>
          <a:p>
            <a:pPr lvl="0"/>
            <a:r>
              <a:rPr/>
              <a:t>Coordination over network</a:t>
            </a:r>
          </a:p>
          <a:p>
            <a:pPr lvl="0"/>
            <a:r>
              <a:rPr/>
              <a:t>Example: 3 nodes, ~33% data each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Partial Failures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One node fails; others continue</a:t>
            </a:r>
          </a:p>
          <a:p>
            <a:pPr lvl="0"/>
            <a:r>
              <a:rPr/>
              <a:t>Network partition ⇒ split-brain risk</a:t>
            </a:r>
          </a:p>
          <a:p>
            <a:pPr lvl="0"/>
            <a:r>
              <a:rPr/>
              <a:t>Replica lag ⇒ stale reads possible</a:t>
            </a:r>
          </a:p>
          <a:p>
            <a:pPr lvl="0"/>
            <a:r>
              <a:rPr/>
              <a:t>No single point of failure; complexity increases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In-Lecture Exercise 3: Replication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3-node cluster, 100 GB per node</a:t>
            </a:r>
          </a:p>
          <a:p>
            <a:pPr lvl="0"/>
            <a:r>
              <a:rPr/>
              <a:t>Compare RF=2 vs RF=3</a:t>
            </a:r>
          </a:p>
          <a:p>
            <a:pPr lvl="0"/>
            <a:r>
              <a:rPr/>
              <a:t>Write size 1 KB; 1 Gbps network</a:t>
            </a:r>
          </a:p>
          <a:p>
            <a:pPr lvl="0"/>
            <a:r>
              <a:rPr/>
              <a:t>Compute storage, write traffic, failure tolerance</a:t>
            </a:r>
          </a:p>
          <a:p>
            <a:pPr lvl="0"/>
            <a:r>
              <a:rPr/>
              <a:t>Estimate P(two failures) with 1%/year per node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In-Lecture Exercise 3: Solution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RF=2: 100 GB × 2 × 3 = 600 GB</a:t>
            </a:r>
          </a:p>
          <a:p>
            <a:pPr lvl="0"/>
            <a:r>
              <a:rPr/>
              <a:t>RF=3: 100 GB × 3 × 3 = 900 GB</a:t>
            </a:r>
          </a:p>
          <a:p>
            <a:pPr lvl="0"/>
            <a:r>
              <a:rPr/>
              <a:t>Write traffic: 2 KB vs 3 KB per write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In-Lecture Exercise 3: Solution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RF=2 tolerates 1 failure; RF=3 tolerates 2</a:t>
            </a:r>
          </a:p>
          <a:p>
            <a:pPr lvl="0"/>
            <a:r>
              <a:rPr/>
              <a:t>P(two failures) ≈ 0.01 × 0.01 = 0.0001</a:t>
            </a:r>
          </a:p>
          <a:p>
            <a:pPr lvl="0"/>
            <a:r>
              <a:rPr/>
              <a:t>Prefer RF=3 for availability and lower loss risk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In-Lecture Exercise 3: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Replication multiplies storage and write bandwidth</a:t>
            </a:r>
          </a:p>
          <a:p>
            <a:pPr lvl="0"/>
            <a:r>
              <a:rPr/>
              <a:t>Higher RF buys failure tolerance and read capacity</a:t>
            </a:r>
          </a:p>
          <a:p>
            <a:pPr lvl="0"/>
            <a:r>
              <a:rPr/>
              <a:t>Small failure probabilities still matter at scale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Network Uncertainty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Latency 1–100 ms between nodes</a:t>
            </a:r>
          </a:p>
          <a:p>
            <a:pPr lvl="0"/>
            <a:r>
              <a:rPr/>
              <a:t>Bandwidth 1–10 Gbps shared</a:t>
            </a:r>
          </a:p>
          <a:p>
            <a:pPr lvl="0"/>
            <a:r>
              <a:rPr/>
              <a:t>Packet loss 0.1–1% typical</a:t>
            </a:r>
          </a:p>
          <a:p>
            <a:pPr lvl="0"/>
            <a:r>
              <a:rPr/>
              <a:t>Example: 3-node write ⇒ 3× network cost</a:t>
            </a:r>
          </a:p>
          <a:p>
            <a:pPr lvl="0"/>
            <a:r>
              <a:rPr/>
              <a:t>Cannot assume instant communication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Distributed System Overview</a:t>
            </a:r>
          </a:p>
        </p:txBody>
      </p:sp>
      <p:pic>
        <p:nvPicPr>
          <p:cNvPr descr="../../diagrams/week02/week2_lecture_slide13_system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33700" y="1600200"/>
            <a:ext cx="63246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SQL in a Distributed World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Joins Across Machines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Table A on node 1 (100M rows), B on node 2 (50M rows)</a:t>
            </a:r>
          </a:p>
          <a:p>
            <a:pPr lvl="0"/>
            <a:r>
              <a:rPr/>
              <a:t>Join ⇒ must move data</a:t>
            </a:r>
          </a:p>
          <a:p>
            <a:pPr lvl="0"/>
            <a:r>
              <a:rPr/>
              <a:t>Transfer: 100M × 200 B ≈ 20 GB</a:t>
            </a:r>
          </a:p>
          <a:p>
            <a:pPr lvl="0"/>
            <a:r>
              <a:rPr/>
              <a:t>At 1 Gbps ⇒ 160 s + compute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In-Lecture Exercise 4: SQL vs NoSQL Latency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Use case: orders for user X by category</a:t>
            </a:r>
          </a:p>
          <a:p>
            <a:pPr lvl="0"/>
            <a:r>
              <a:rPr/>
              <a:t>SQL join moves 5 GB across partitions</a:t>
            </a:r>
          </a:p>
          <a:p>
            <a:pPr lvl="0"/>
            <a:r>
              <a:rPr/>
              <a:t>NoSQL co-located read ≈ 3 KB</a:t>
            </a:r>
          </a:p>
          <a:p>
            <a:pPr lvl="0"/>
            <a:r>
              <a:rPr/>
              <a:t>Compute SQL transfer time at 1 Gbps</a:t>
            </a:r>
          </a:p>
          <a:p>
            <a:pPr lvl="0"/>
            <a:r>
              <a:rPr/>
              <a:t>Compare latency and choose the better fit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In-Lecture Exercise 4: Solution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SQL transfer: 5 GB × 8 = 40 Gb</a:t>
            </a:r>
          </a:p>
          <a:p>
            <a:pPr lvl="0"/>
            <a:r>
              <a:rPr/>
              <a:t>40 Gb / 1 Gbps ≈ 40 seconds plus join time</a:t>
            </a:r>
          </a:p>
          <a:p>
            <a:pPr lvl="0"/>
            <a:r>
              <a:rPr/>
              <a:t>NoSQL single-partition read ≈ 1–5 ms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In-Lecture Exercise 4: Solution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NoSQL fits low-latency, user-scoped serving</a:t>
            </a:r>
          </a:p>
          <a:p>
            <a:pPr lvl="0"/>
            <a:r>
              <a:rPr/>
              <a:t>SQL fits heavy aggregation and ad-hoc analysis</a:t>
            </a:r>
          </a:p>
          <a:p>
            <a:pPr lvl="0"/>
            <a:r>
              <a:rPr/>
              <a:t>Choose based on access pattern and SLA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In-Lecture Exercise 4: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Cross-partition joins are latency killers</a:t>
            </a:r>
          </a:p>
          <a:p>
            <a:pPr lvl="0"/>
            <a:r>
              <a:rPr/>
              <a:t>Co-location enables millisecond user-scoped queries</a:t>
            </a:r>
          </a:p>
          <a:p>
            <a:pPr lvl="0"/>
            <a:r>
              <a:rPr/>
              <a:t>Use SQL for analytics, NoSQL for serving paths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Transactions at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ACID ⇒ all-or-nothing; 2PC used across nodes</a:t>
            </a:r>
          </a:p>
          <a:p>
            <a:pPr lvl="0"/>
            <a:r>
              <a:rPr/>
              <a:t>Coordinator blocks on any failure</a:t>
            </a:r>
          </a:p>
          <a:p>
            <a:pPr lvl="0"/>
            <a:r>
              <a:rPr/>
              <a:t>Example: 5 nodes, 1 fails ⇒ block until timeout (30 s)</a:t>
            </a:r>
          </a:p>
          <a:p>
            <a:pPr lvl="0"/>
            <a:r>
              <a:rPr/>
              <a:t>Throughput can drop to near zero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 Explosion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Single node: 1 disk read per local op</a:t>
            </a:r>
          </a:p>
          <a:p>
            <a:pPr lvl="0"/>
            <a:r>
              <a:rPr/>
              <a:t>3 nodes: 3 disk reads + network</a:t>
            </a:r>
          </a:p>
          <a:p>
            <a:pPr lvl="0"/>
            <a:r>
              <a:rPr/>
              <a:t>Network ~10× slower than disk</a:t>
            </a:r>
          </a:p>
          <a:p>
            <a:pPr lvl="0"/>
            <a:r>
              <a:rPr/>
              <a:t>Example: 1M queries/day; 1 ms vs 10 ms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SQL Optimization Fundamentals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SQL DML and DDL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DML:</a:t>
            </a:r>
            <a:r>
              <a:rPr/>
              <a:t> SELECT, INSERT, UPDATE, DELETE — operate on data</a:t>
            </a:r>
          </a:p>
          <a:p>
            <a:pPr lvl="0"/>
            <a:r>
              <a:rPr b="1"/>
              <a:t>DDL:</a:t>
            </a:r>
            <a:r>
              <a:rPr/>
              <a:t> CREATE, DROP, ALTER — operate on schema</a:t>
            </a:r>
          </a:p>
          <a:p>
            <a:pPr lvl="0"/>
            <a:r>
              <a:rPr b="1"/>
              <a:t>In distributed:</a:t>
            </a:r>
            <a:r>
              <a:rPr/>
              <a:t> DML cost scales with data distribution</a:t>
            </a:r>
          </a:p>
          <a:p>
            <a:pPr lvl="0"/>
            <a:r>
              <a:rPr/>
              <a:t>DDL requires schema coordination across nodes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JOIN Types and Semantics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INNER JOIN:</a:t>
            </a:r>
            <a:r>
              <a:rPr/>
              <a:t> rows where condition matches in both tables</a:t>
            </a:r>
          </a:p>
          <a:p>
            <a:pPr lvl="0"/>
            <a:r>
              <a:rPr/>
              <a:t>Default when using just </a:t>
            </a:r>
            <a:r>
              <a:rPr>
                <a:latin typeface="Courier"/>
              </a:rPr>
              <a:t>JOIN</a:t>
            </a:r>
          </a:p>
          <a:p>
            <a:pPr lvl="0"/>
            <a:r>
              <a:rPr b="1"/>
              <a:t>LEFT OUTER JOIN:</a:t>
            </a:r>
            <a:r>
              <a:rPr/>
              <a:t> all rows from left table</a:t>
            </a:r>
          </a:p>
          <a:p>
            <a:pPr lvl="0"/>
            <a:r>
              <a:rPr/>
              <a:t>Plus matched rows from right; unmatched are NULL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JOIN Types and Semantics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RIGHT OUTER JOIN:</a:t>
            </a:r>
            <a:r>
              <a:rPr/>
              <a:t> all rows from right table</a:t>
            </a:r>
          </a:p>
          <a:p>
            <a:pPr lvl="0"/>
            <a:r>
              <a:rPr/>
              <a:t>Plus matched rows from left; unmatched are NULL</a:t>
            </a:r>
          </a:p>
          <a:p>
            <a:pPr lvl="0"/>
            <a:r>
              <a:rPr b="1"/>
              <a:t>FULL OUTER JOIN:</a:t>
            </a:r>
            <a:r>
              <a:rPr/>
              <a:t> all rows from both tables</a:t>
            </a:r>
          </a:p>
          <a:p>
            <a:pPr lvl="0"/>
            <a:r>
              <a:rPr/>
              <a:t>Unmatched columns are NULL on either side</a:t>
            </a:r>
          </a:p>
          <a:p>
            <a:pPr lvl="0"/>
            <a:r>
              <a:rPr b="1"/>
              <a:t>ON vs USING:</a:t>
            </a:r>
            <a:r>
              <a:rPr/>
              <a:t> </a:t>
            </a:r>
            <a:r>
              <a:rPr>
                <a:latin typeface="Courier"/>
              </a:rPr>
              <a:t>ON</a:t>
            </a:r>
            <a:r>
              <a:rPr/>
              <a:t> when names differ; </a:t>
            </a:r>
            <a:r>
              <a:rPr>
                <a:latin typeface="Courier"/>
              </a:rPr>
              <a:t>USING(column)</a:t>
            </a:r>
            <a:r>
              <a:rPr/>
              <a:t> when same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JOIN vs Subquery — When to Use Which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 of JOIN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Executes faster than subquery (retrieval time)</a:t>
            </a:r>
          </a:p>
          <a:p>
            <a:pPr lvl="0"/>
            <a:r>
              <a:rPr/>
              <a:t>Maximize calculations on the database</a:t>
            </a:r>
          </a:p>
          <a:p>
            <a:pPr lvl="0"/>
            <a:r>
              <a:rPr/>
              <a:t>Multiple types available for different scenarios</a:t>
            </a:r>
          </a:p>
          <a:p>
            <a:pPr lvl="0"/>
            <a:r>
              <a:rPr/>
              <a:t>Native support in optimizer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Disadvantages of JOIN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Not as easy to read as subqueries</a:t>
            </a:r>
          </a:p>
          <a:p>
            <a:pPr lvl="0"/>
            <a:r>
              <a:rPr/>
              <a:t>More joins means more work for server</a:t>
            </a:r>
          </a:p>
          <a:p>
            <a:pPr lvl="0"/>
            <a:r>
              <a:rPr/>
              <a:t>Can be confusing which type yields correct result</a:t>
            </a:r>
          </a:p>
          <a:p>
            <a:pPr lvl="0"/>
            <a:r>
              <a:rPr/>
              <a:t>Cannot be avoided when retrieving from normalized DB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 of Subquery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Divide complex query into isolated parts</a:t>
            </a:r>
          </a:p>
          <a:p>
            <a:pPr lvl="0"/>
            <a:r>
              <a:rPr/>
              <a:t>Easy to understand and maintain</a:t>
            </a:r>
          </a:p>
          <a:p>
            <a:pPr lvl="0"/>
            <a:r>
              <a:rPr/>
              <a:t>Use results of another query in outer query</a:t>
            </a:r>
          </a:p>
          <a:p>
            <a:pPr lvl="0"/>
            <a:r>
              <a:rPr/>
              <a:t>Can replace complex joins in some cases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Disadvantages of Subquery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Optimizer more mature for joins (especially MySQL)</a:t>
            </a:r>
          </a:p>
          <a:p>
            <a:pPr lvl="0"/>
            <a:r>
              <a:rPr/>
              <a:t>Subquery often more efficient if rewritten as join</a:t>
            </a:r>
          </a:p>
          <a:p>
            <a:pPr lvl="0"/>
            <a:r>
              <a:rPr/>
              <a:t>Cannot modify and select from same table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Handling NULL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NULL is not a string:</a:t>
            </a:r>
            <a:r>
              <a:rPr/>
              <a:t> use </a:t>
            </a:r>
            <a:r>
              <a:rPr>
                <a:latin typeface="Courier"/>
              </a:rPr>
              <a:t>IS NULL</a:t>
            </a:r>
            <a:r>
              <a:rPr/>
              <a:t> not </a:t>
            </a:r>
            <a:r>
              <a:rPr>
                <a:latin typeface="Courier"/>
              </a:rPr>
              <a:t>= 'NULL'</a:t>
            </a:r>
          </a:p>
          <a:p>
            <a:pPr lvl="0"/>
            <a:r>
              <a:rPr b="1"/>
              <a:t>NULL propagation:</a:t>
            </a:r>
            <a:r>
              <a:rPr/>
              <a:t> NULL in arithmetic yields NULL</a:t>
            </a:r>
          </a:p>
          <a:p>
            <a:pPr lvl="0"/>
            <a:r>
              <a:rPr b="1"/>
              <a:t>Common sources:</a:t>
            </a:r>
            <a:r>
              <a:rPr/>
              <a:t> OUTER JOIN, missing data, explicit NULL</a:t>
            </a:r>
          </a:p>
          <a:p>
            <a:pPr lvl="0"/>
            <a:r>
              <a:rPr b="1"/>
              <a:t>Detection:</a:t>
            </a:r>
            <a:r>
              <a:rPr/>
              <a:t> </a:t>
            </a:r>
            <a:r>
              <a:rPr>
                <a:latin typeface="Courier"/>
              </a:rPr>
              <a:t>IS NULL</a:t>
            </a:r>
            <a:r>
              <a:rPr/>
              <a:t>, </a:t>
            </a:r>
            <a:r>
              <a:rPr>
                <a:latin typeface="Courier"/>
              </a:rPr>
              <a:t>IS NOT NULL</a:t>
            </a:r>
            <a:r>
              <a:rPr/>
              <a:t> predicates</a:t>
            </a:r>
          </a:p>
          <a:p>
            <a:pPr lvl="0"/>
            <a:r>
              <a:rPr b="1"/>
              <a:t>Engineering:</a:t>
            </a:r>
            <a:r>
              <a:rPr/>
              <a:t> NULL handling affects query correctness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Window Functions Overview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are Window Functions?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Perform calculation on aggregate based on row set</a:t>
            </a:r>
          </a:p>
          <a:p>
            <a:pPr lvl="0"/>
            <a:r>
              <a:rPr/>
              <a:t>Return multiple rows for each group</a:t>
            </a:r>
          </a:p>
          <a:p>
            <a:pPr lvl="0"/>
            <a:r>
              <a:rPr/>
              <a:t>Each row retains its distinct identity</a:t>
            </a:r>
          </a:p>
          <a:p>
            <a:pPr lvl="0"/>
            <a:r>
              <a:rPr/>
              <a:t>The “window” = group of rows for function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Window Function Syntax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window_function_name([</a:t>
            </a:r>
            <a:r>
              <a:rPr b="1">
                <a:solidFill>
                  <a:srgbClr val="007020"/>
                </a:solidFill>
                <a:latin typeface="Courier"/>
              </a:rPr>
              <a:t>ALL</a:t>
            </a:r>
            <a:r>
              <a:rPr>
                <a:latin typeface="Courier"/>
              </a:rPr>
              <a:t>] expression)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OVER</a:t>
            </a:r>
            <a:r>
              <a:rPr>
                <a:latin typeface="Courier"/>
              </a:rPr>
              <a:t> (</a:t>
            </a:r>
            <a:br/>
            <a:r>
              <a:rPr>
                <a:latin typeface="Courier"/>
              </a:rPr>
              <a:t>  [</a:t>
            </a:r>
            <a:r>
              <a:rPr b="1">
                <a:solidFill>
                  <a:srgbClr val="007020"/>
                </a:solidFill>
                <a:latin typeface="Courier"/>
              </a:rPr>
              <a:t>PARTITION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BY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columns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  [</a:t>
            </a:r>
            <a:r>
              <a:rPr b="1">
                <a:solidFill>
                  <a:srgbClr val="007020"/>
                </a:solidFill>
                <a:latin typeface="Courier"/>
              </a:rPr>
              <a:t>ORDER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BY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columns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)</a:t>
            </a:r>
          </a:p>
          <a:p>
            <a:pPr lvl="0"/>
            <a:r>
              <a:rPr b="1"/>
              <a:t>OVER:</a:t>
            </a:r>
            <a:r>
              <a:rPr/>
              <a:t> specifies window clauses</a:t>
            </a:r>
          </a:p>
          <a:p>
            <a:pPr lvl="0"/>
            <a:r>
              <a:rPr b="1"/>
              <a:t>PARTITION BY:</a:t>
            </a:r>
            <a:r>
              <a:rPr/>
              <a:t> divides rows into partitions</a:t>
            </a:r>
          </a:p>
          <a:p>
            <a:pPr lvl="0"/>
            <a:r>
              <a:rPr b="1"/>
              <a:t>ORDER BY:</a:t>
            </a:r>
            <a:r>
              <a:rPr/>
              <a:t> specifies order within partition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Window Function Types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Aggregate Window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Operate on multiple rows: SUM(), MAX(), MIN(), AVG(), COUNT()</a:t>
            </a:r>
          </a:p>
          <a:p>
            <a:pPr lvl="0"/>
            <a:r>
              <a:rPr/>
              <a:t>Example: </a:t>
            </a:r>
            <a:r>
              <a:rPr>
                <a:latin typeface="Courier"/>
              </a:rPr>
              <a:t>SUM(Amount) OVER(PARTITION BY Country)</a:t>
            </a:r>
          </a:p>
          <a:p>
            <a:pPr lvl="0"/>
            <a:r>
              <a:rPr/>
              <a:t>Sum per country while keeping all rows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Ranking Window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Rank each row within partition</a:t>
            </a:r>
          </a:p>
          <a:p>
            <a:pPr lvl="0"/>
            <a:r>
              <a:rPr b="1"/>
              <a:t>RANK():</a:t>
            </a:r>
            <a:r>
              <a:rPr/>
              <a:t> same rank for ties; skips next (1,2,2,4)</a:t>
            </a:r>
          </a:p>
          <a:p>
            <a:pPr lvl="0"/>
            <a:r>
              <a:rPr b="1"/>
              <a:t>DENSE_RANK():</a:t>
            </a:r>
            <a:r>
              <a:rPr/>
              <a:t> same rank for ties; no skip (1,2,2,3)</a:t>
            </a:r>
          </a:p>
          <a:p>
            <a:pPr lvl="0"/>
            <a:r>
              <a:rPr b="1"/>
              <a:t>ROW_NUMBER():</a:t>
            </a:r>
            <a:r>
              <a:rPr/>
              <a:t> unique sequential number per partition</a:t>
            </a:r>
          </a:p>
          <a:p>
            <a:pPr lvl="0"/>
            <a:r>
              <a:rPr b="1"/>
              <a:t>NTILE(N):</a:t>
            </a:r>
            <a:r>
              <a:rPr/>
              <a:t> distribute rows into N equal groups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Value Window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Access values from other rows</a:t>
            </a:r>
          </a:p>
          <a:p>
            <a:pPr lvl="0"/>
            <a:r>
              <a:rPr b="1"/>
              <a:t>LAG(column, N):</a:t>
            </a:r>
            <a:r>
              <a:rPr/>
              <a:t> value from N rows before current</a:t>
            </a:r>
          </a:p>
          <a:p>
            <a:pPr lvl="0"/>
            <a:r>
              <a:rPr b="1"/>
              <a:t>LEAD(column, N):</a:t>
            </a:r>
            <a:r>
              <a:rPr/>
              <a:t> value from N rows after current</a:t>
            </a:r>
          </a:p>
          <a:p>
            <a:pPr lvl="0"/>
            <a:r>
              <a:rPr b="1"/>
              <a:t>FIRST_VALUE/LAST_VALUE:</a:t>
            </a:r>
            <a:r>
              <a:rPr/>
              <a:t> first/last in the window</a:t>
            </a:r>
          </a:p>
        </p:txBody>
      </p:sp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Window Functions in Distributed Systems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Local execution:</a:t>
            </a:r>
            <a:r>
              <a:rPr/>
              <a:t> window on partition key executes per node</a:t>
            </a:r>
          </a:p>
          <a:p>
            <a:pPr lvl="0"/>
            <a:r>
              <a:rPr b="1"/>
              <a:t>Global execution:</a:t>
            </a:r>
            <a:r>
              <a:rPr/>
              <a:t> window across partition keys requires shuffle</a:t>
            </a:r>
          </a:p>
          <a:p>
            <a:pPr lvl="0"/>
            <a:r>
              <a:rPr/>
              <a:t>PARTITION BY partition_key keeps computation local</a:t>
            </a:r>
          </a:p>
          <a:p>
            <a:pPr lvl="0"/>
            <a:r>
              <a:rPr/>
              <a:t>PARTITION BY non-partition-key forces data movement</a:t>
            </a:r>
          </a:p>
          <a:p>
            <a:pPr lvl="0"/>
            <a:r>
              <a:rPr b="1"/>
              <a:t>Design queries to align with data distribution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NoSQL Exists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Relaxed Guarantees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No cross-partition transactions</a:t>
            </a:r>
          </a:p>
          <a:p>
            <a:pPr lvl="0"/>
            <a:r>
              <a:rPr/>
              <a:t>Eventual consistency allowed</a:t>
            </a:r>
          </a:p>
          <a:p>
            <a:pPr lvl="0"/>
            <a:r>
              <a:rPr/>
              <a:t>No joins; single-partition access</a:t>
            </a:r>
          </a:p>
          <a:p>
            <a:pPr lvl="0"/>
            <a:r>
              <a:rPr/>
              <a:t>Example: key-value get/put by key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Simplified Access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Key-based access only; predefined paths</a:t>
            </a:r>
          </a:p>
          <a:p>
            <a:pPr lvl="0"/>
            <a:r>
              <a:rPr/>
              <a:t>Example: user_id → profile</a:t>
            </a:r>
          </a:p>
          <a:p>
            <a:pPr lvl="0"/>
            <a:r>
              <a:rPr/>
              <a:t>Latency 1–5 ms (local)</a:t>
            </a:r>
          </a:p>
          <a:p>
            <a:pPr lvl="0"/>
            <a:r>
              <a:rPr/>
              <a:t>Throughput ~100K ops/sec/node</a:t>
            </a:r>
          </a:p>
        </p:txBody>
      </p:sp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Predictable Scaling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Add nodes; partition by key (e.g. hash(user_id))</a:t>
            </a:r>
          </a:p>
          <a:p>
            <a:pPr lvl="0"/>
            <a:r>
              <a:rPr/>
              <a:t>Example: 3 → 6 nodes ⇒ 2× throughput, 2× storage</a:t>
            </a:r>
          </a:p>
          <a:p>
            <a:pPr lvl="0"/>
            <a:r>
              <a:rPr/>
              <a:t>No cross-partition coordination for key-based ops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Visual Comparison: SQL vs NoSQL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09600" y="1600200"/>
          <a:ext cx="10972800" cy="452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Aspect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NoSQL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Consistency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Strong (ACID)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Eventual (BASE)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Transactions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Cross-partition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Single-partition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Joins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Supported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supported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Schema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Fixed (schema-on-write)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Flexible (schema-on-read)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Scaling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Vertical (hard)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Horizontal (easier)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Latency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10–100 ms (joins)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1–5 ms (key lookup)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Complex queries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Simple lookups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Partitioning Intuition</a:t>
            </a:r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Horizontal Partitioning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Split table by rows; each partition holds a subset</a:t>
            </a:r>
          </a:p>
          <a:p>
            <a:pPr lvl="0"/>
            <a:r>
              <a:rPr/>
              <a:t>Example: users → partition 1 (1–333K), 2 (334K–666K), 3 (667K–1M)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Key-Based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Hash(key) mod N ⇒ partition id; N = number of partitions</a:t>
            </a:r>
          </a:p>
          <a:p>
            <a:pPr lvl="0"/>
            <a:r>
              <a:rPr/>
              <a:t>Example: hash(user_id) mod 3</a:t>
            </a:r>
          </a:p>
          <a:p>
            <a:pPr lvl="0"/>
            <a:r>
              <a:rPr/>
              <a:t>User 123 → 0, user 456 → 1, user 789 → 2</a:t>
            </a:r>
          </a:p>
        </p:txBody>
      </p:sp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Intuition</a:t>
            </a:r>
          </a:p>
        </p:txBody>
      </p:sp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Same partition copied to multiple nodes</a:t>
            </a:r>
          </a:p>
          <a:p>
            <a:pPr lvl="0"/>
            <a:r>
              <a:rPr/>
              <a:t>Example: 3 replicas per partition</a:t>
            </a:r>
          </a:p>
          <a:p>
            <a:pPr lvl="0"/>
            <a:r>
              <a:rPr/>
              <a:t>Write: update all replicas; read: any replica</a:t>
            </a:r>
          </a:p>
          <a:p>
            <a:pPr lvl="0"/>
            <a:r>
              <a:rPr/>
              <a:t>One replica down ⇒ two remain</a:t>
            </a:r>
          </a:p>
        </p:txBody>
      </p:sp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Read/Write Paths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Write: primary first, then async to secondaries</a:t>
            </a:r>
          </a:p>
          <a:p>
            <a:pPr lvl="0"/>
            <a:r>
              <a:rPr/>
              <a:t>Read: any replica</a:t>
            </a:r>
          </a:p>
          <a:p>
            <a:pPr lvl="0"/>
            <a:r>
              <a:rPr/>
              <a:t>Example: 3 replicas; write latency ~50 ms, read ~5 ms</a:t>
            </a:r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CAP Intuition (Engineering View)</a:t>
            </a:r>
          </a:p>
        </p:txBody>
      </p:sp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CAP Theorem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Consistency: all nodes see same data</a:t>
            </a:r>
          </a:p>
          <a:p>
            <a:pPr lvl="0"/>
            <a:r>
              <a:rPr/>
              <a:t>Availability: every request gets a response</a:t>
            </a:r>
          </a:p>
          <a:p>
            <a:pPr lvl="0"/>
            <a:r>
              <a:rPr/>
              <a:t>Partition tolerance: system works despite network splits</a:t>
            </a:r>
          </a:p>
          <a:p>
            <a:pPr lvl="0"/>
            <a:r>
              <a:rPr/>
              <a:t>Can only guarantee two of three in practice</a:t>
            </a:r>
          </a:p>
        </p:txBody>
      </p:sp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Concrete Scenario: E-Commerce Cart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User adds item; network partition splits two datacenters</a:t>
            </a:r>
          </a:p>
          <a:p>
            <a:pPr lvl="0"/>
            <a:r>
              <a:rPr/>
              <a:t>CP: block writes until heal ⇒ cart update fails</a:t>
            </a:r>
          </a:p>
          <a:p>
            <a:pPr lvl="0"/>
            <a:r>
              <a:rPr/>
              <a:t>AP: accept writes both sides ⇒ cart works, eventually consistent</a:t>
            </a:r>
          </a:p>
        </p:txBody>
      </p:sp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Trade-offs Explained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CP: strong consistency, possible downtime</a:t>
            </a:r>
          </a:p>
          <a:p>
            <a:pPr lvl="0"/>
            <a:r>
              <a:rPr/>
              <a:t>AP: always available, possible stale reads</a:t>
            </a:r>
          </a:p>
          <a:p>
            <a:pPr lvl="0"/>
            <a:r>
              <a:rPr/>
              <a:t>CA: not realistic in distributed systems</a:t>
            </a:r>
          </a:p>
          <a:p>
            <a:pPr lvl="0"/>
            <a:r>
              <a:rPr/>
              <a:t>Bank ⇒ CP; social feed ⇒ AP</a:t>
            </a:r>
          </a:p>
        </p:txBody>
      </p:sp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 of Naïve Design (Distributed DB)</a:t>
            </a:r>
          </a:p>
        </p:txBody>
      </p:sp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Goes Wrong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Naïve:</a:t>
            </a:r>
            <a:r>
              <a:rPr/>
              <a:t> “use SQL for everything”</a:t>
            </a:r>
          </a:p>
          <a:p>
            <a:pPr lvl="0"/>
            <a:r>
              <a:rPr/>
              <a:t>Cross-partition joins and 2PC </a:t>
            </a:r>
            <a:r>
              <a:rPr b="1"/>
              <a:t>kill</a:t>
            </a:r>
            <a:r>
              <a:rPr/>
              <a:t> latency and throughput</a:t>
            </a:r>
          </a:p>
          <a:p>
            <a:pPr lvl="0"/>
            <a:r>
              <a:rPr b="1"/>
              <a:t>Cost:</a:t>
            </a:r>
            <a:r>
              <a:rPr/>
              <a:t> timeouts, rewrites</a:t>
            </a:r>
          </a:p>
        </p:txBody>
      </p:sp>
    </p:spTree>
  </p:cSld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Goes Wrong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Naïve:</a:t>
            </a:r>
            <a:r>
              <a:rPr/>
              <a:t> “one partition key for all access patterns”</a:t>
            </a:r>
          </a:p>
          <a:p>
            <a:pPr lvl="0"/>
            <a:r>
              <a:rPr/>
              <a:t>E.g. partition by user_id but query by item_id ⇒ </a:t>
            </a:r>
            <a:r>
              <a:rPr b="1"/>
              <a:t>full scan</a:t>
            </a:r>
          </a:p>
          <a:p>
            <a:pPr lvl="0"/>
            <a:r>
              <a:rPr b="1"/>
              <a:t>Naïve:</a:t>
            </a:r>
            <a:r>
              <a:rPr/>
              <a:t> ignore hot keys</a:t>
            </a:r>
          </a:p>
          <a:p>
            <a:pPr lvl="0"/>
            <a:r>
              <a:rPr/>
              <a:t>Celebrity user </a:t>
            </a:r>
            <a:r>
              <a:rPr b="1"/>
              <a:t>throttles one partition</a:t>
            </a:r>
            <a:r>
              <a:rPr/>
              <a:t>; rest idle</a:t>
            </a:r>
          </a:p>
          <a:p>
            <a:pPr lvl="0"/>
            <a:r>
              <a:rPr b="1"/>
              <a:t>Takeaway:</a:t>
            </a:r>
            <a:r>
              <a:rPr/>
              <a:t> access patterns drive design</a:t>
            </a:r>
          </a:p>
        </p:txBody>
      </p:sp>
    </p:spTree>
  </p:cSld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Running Example — Data &amp; Goal</a:t>
            </a:r>
          </a:p>
        </p:txBody>
      </p:sp>
    </p:spTree>
  </p:cSld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Scenario: Recommendation / Activity Log Service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10M users; 100M events/day (clicks, views, likes)</a:t>
            </a:r>
          </a:p>
          <a:p>
            <a:pPr lvl="0"/>
            <a:r>
              <a:rPr/>
              <a:t>Events: user_id, item_id, action, timestamp</a:t>
            </a:r>
          </a:p>
          <a:p>
            <a:pPr lvl="0"/>
            <a:r>
              <a:rPr/>
              <a:t>~200 B/event ⇒ ~20 GB/day raw</a:t>
            </a:r>
          </a:p>
        </p:txBody>
      </p:sp>
    </p:spTree>
  </p:cSld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Engineering Objective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Store events and support two access patterns</a:t>
            </a:r>
          </a:p>
          <a:p>
            <a:pPr lvl="0"/>
            <a:r>
              <a:rPr/>
              <a:t>“All events for user X” and “all events for item Y”</a:t>
            </a:r>
          </a:p>
          <a:p>
            <a:pPr lvl="0"/>
            <a:r>
              <a:rPr/>
              <a:t>Latency: p99 &lt; 50 ms for key-based reads</a:t>
            </a:r>
          </a:p>
          <a:p>
            <a:pPr lvl="0"/>
            <a:r>
              <a:rPr/>
              <a:t>Throughput: 100M writes/day sustained</a:t>
            </a:r>
          </a:p>
        </p:txBody>
      </p:sp>
    </p:spTree>
  </p:cSld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Running Example — Step-by-Step (1/4)</a:t>
            </a:r>
          </a:p>
        </p:txBody>
      </p:sp>
    </p:spTree>
  </p:cSld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1: Scale and Access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100M events/day ⇒ ~1,157 writes/sec avg; peak ~6K/sec</a:t>
            </a:r>
          </a:p>
          <a:p>
            <a:pPr lvl="0"/>
            <a:r>
              <a:rPr/>
              <a:t>Two access patterns: by user_id, by item_id</a:t>
            </a:r>
          </a:p>
          <a:p>
            <a:pPr lvl="0"/>
            <a:r>
              <a:rPr/>
              <a:t>Single-node: storage and throughput insufficient</a:t>
            </a:r>
          </a:p>
          <a:p>
            <a:pPr lvl="0"/>
            <a:r>
              <a:rPr/>
              <a:t>Need partitioning and clear access design</a:t>
            </a:r>
          </a:p>
        </p:txBody>
      </p:sp>
    </p:spTree>
  </p:cSld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Running Example — Step-by-Step (2/4)</a:t>
            </a:r>
          </a:p>
        </p:txBody>
      </p:sp>
    </p:spTree>
  </p:cSld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2: SQL Design and Join Cost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Tables: users, items, events (user_id, item_id, action, ts)</a:t>
            </a:r>
          </a:p>
          <a:p>
            <a:pPr lvl="0"/>
            <a:r>
              <a:rPr/>
              <a:t>“Events for user X” ⇒ filter by user_id; optional join to items</a:t>
            </a:r>
          </a:p>
          <a:p>
            <a:pPr lvl="0"/>
            <a:r>
              <a:rPr/>
              <a:t>If users and events on different partitions ⇒ cross-partition read</a:t>
            </a:r>
          </a:p>
          <a:p>
            <a:pPr lvl="0"/>
            <a:r>
              <a:rPr/>
              <a:t>Transfer ~2 GB for 10M events ⇒ 16 s at 1 Gbps + compute</a:t>
            </a:r>
          </a:p>
        </p:txBody>
      </p:sp>
    </p:spTree>
  </p:cSld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Query Execution Flow</a:t>
            </a:r>
          </a:p>
        </p:txBody>
      </p:sp>
      <p:pic>
        <p:nvPicPr>
          <p:cNvPr descr="../../diagrams/week02/week2_lecture_slide35_query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9600" y="1879600"/>
            <a:ext cx="10972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Running Example — Step-by-Step (3/4)</a:t>
            </a:r>
          </a:p>
        </p:txBody>
      </p:sp>
    </p:spTree>
  </p:cSld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3: NoSQL Design and Partitioning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Partition by user_id: hash(user_id) mod N</a:t>
            </a:r>
          </a:p>
          <a:p>
            <a:pPr lvl="0"/>
            <a:r>
              <a:rPr/>
              <a:t>Store events co-located with user (document or wide-column)</a:t>
            </a:r>
          </a:p>
          <a:p>
            <a:pPr lvl="0"/>
            <a:r>
              <a:rPr/>
              <a:t>“Events for user X” ⇒ single-partition read ⇒ 1–5 ms</a:t>
            </a:r>
          </a:p>
          <a:p>
            <a:pPr lvl="0"/>
            <a:r>
              <a:rPr/>
              <a:t>“Events for item Y” ⇒ different access path needed</a:t>
            </a:r>
          </a:p>
          <a:p>
            <a:pPr lvl="0"/>
            <a:r>
              <a:rPr/>
              <a:t>Trade-off: denormalize or maintain two views</a:t>
            </a:r>
          </a:p>
        </p:txBody>
      </p:sp>
    </p:spTree>
  </p:cSld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Running Example — Step-by-Step (4/4)</a:t>
            </a:r>
          </a:p>
        </p:txBody>
      </p:sp>
    </p:spTree>
  </p:cSld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Output and Engineering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NoSQL key-based: ~5 ms for “events for user X”</a:t>
            </a:r>
          </a:p>
          <a:p>
            <a:pPr lvl="0"/>
            <a:r>
              <a:rPr/>
              <a:t>SQL cross-partition: tens of seconds</a:t>
            </a:r>
          </a:p>
          <a:p>
            <a:pPr lvl="0"/>
            <a:r>
              <a:rPr/>
              <a:t>NoSQL avoids cross-partition joins for primary access</a:t>
            </a:r>
          </a:p>
          <a:p>
            <a:pPr lvl="0"/>
            <a:r>
              <a:rPr/>
              <a:t>Trade-off: complex analytics harder in NoSQL</a:t>
            </a:r>
          </a:p>
          <a:p>
            <a:pPr lvl="0"/>
            <a:r>
              <a:rPr/>
              <a:t>Decision: NoSQL for serving, batch/SQL for analytics</a:t>
            </a:r>
          </a:p>
        </p:txBody>
      </p:sp>
    </p:spTree>
  </p:cSld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 &amp; Scaling Analysis (1/3)</a:t>
            </a:r>
          </a:p>
        </p:txBody>
      </p:sp>
    </p:spTree>
  </p:cSld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Single-node: T ∝ data size / disk bandwidth</a:t>
            </a:r>
          </a:p>
          <a:p>
            <a:pPr lvl="0"/>
            <a:r>
              <a:rPr/>
              <a:t>Distributed: T ∝ data size / bandwidth + network latency × stages</a:t>
            </a:r>
          </a:p>
          <a:p>
            <a:pPr lvl="0"/>
            <a:r>
              <a:rPr/>
              <a:t>Join: add shuffle time; shuffle often dominates</a:t>
            </a:r>
          </a:p>
          <a:p>
            <a:pPr lvl="0"/>
            <a:r>
              <a:rPr/>
              <a:t>Example: 1M queries, 1 ms vs 10 ms ⇒ 1,000 s vs 10,000 s</a:t>
            </a:r>
          </a:p>
        </p:txBody>
      </p:sp>
    </p:spTree>
  </p:cSld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Numeric Example: Nodes for Social Posts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100M users; 10 posts/user/day ⇒ 1B posts/day</a:t>
            </a:r>
          </a:p>
          <a:p>
            <a:pPr lvl="0"/>
            <a:r>
              <a:rPr/>
              <a:t>~11,574/sec avg; peak 5× ⇒ ~57,870 writes/sec</a:t>
            </a:r>
          </a:p>
          <a:p>
            <a:pPr lvl="0"/>
            <a:r>
              <a:rPr/>
              <a:t>Single node: ~10K writes/sec ⇒ need 6 nodes for writes</a:t>
            </a:r>
          </a:p>
          <a:p>
            <a:pPr lvl="0"/>
            <a:r>
              <a:rPr/>
              <a:t>Partition by user_id; 6 partitions ⇒ ~16.7M users each</a:t>
            </a:r>
          </a:p>
          <a:p>
            <a:pPr lvl="0"/>
            <a:r>
              <a:rPr/>
              <a:t>With RF 3: 18 nodes total; 3× storage, 2 node failures OK</a:t>
            </a:r>
          </a:p>
        </p:txBody>
      </p:sp>
    </p:spTree>
  </p:cSld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 &amp; Scaling Analysis (2/3)</a:t>
            </a:r>
          </a:p>
        </p:txBody>
      </p:sp>
    </p:spTree>
  </p:cSld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Memory and Storage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Per-node memory: limit working set, sorts, joins</a:t>
            </a:r>
          </a:p>
          <a:p>
            <a:pPr lvl="0"/>
            <a:r>
              <a:rPr/>
              <a:t>Storage: data size × replication factor</a:t>
            </a:r>
          </a:p>
          <a:p>
            <a:pPr lvl="0"/>
            <a:r>
              <a:rPr/>
              <a:t>Example: 100 GB × RF 3 ⇒ 300 GB total</a:t>
            </a:r>
          </a:p>
          <a:p>
            <a:pPr lvl="0"/>
            <a:r>
              <a:rPr/>
              <a:t>Growth: plan for 2× in 12–18 months</a:t>
            </a:r>
          </a:p>
        </p:txBody>
      </p:sp>
    </p:spTree>
  </p:cSld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 &amp; Scaling Analysis (3/3)</a:t>
            </a:r>
          </a:p>
        </p:txBody>
      </p:sp>
    </p:spTree>
  </p:cSld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Network, Throughput, Latency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Throughput: ops/sec ≈ min(disk, network, CPU) per node × nodes</a:t>
            </a:r>
          </a:p>
          <a:p>
            <a:pPr lvl="0"/>
            <a:r>
              <a:rPr/>
              <a:t>Latency: local read ~1–5 ms; cross-partition ~10–100 ms</a:t>
            </a:r>
          </a:p>
          <a:p>
            <a:pPr lvl="0"/>
            <a:r>
              <a:rPr/>
              <a:t>Write amplification: 1 write ⇒ RF copies over network</a:t>
            </a:r>
          </a:p>
          <a:p>
            <a:pPr lvl="0"/>
            <a:r>
              <a:rPr/>
              <a:t>Example: 1 KB write, RF 3 ⇒ 3 KB network per write</a:t>
            </a:r>
          </a:p>
        </p:txBody>
      </p:sp>
    </p:spTree>
  </p:cSld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&amp; Failure Modes (1/3)</a:t>
            </a:r>
          </a:p>
        </p:txBody>
      </p:sp>
    </p:spTree>
  </p:cSld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Pitfall: Hot Partitions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Single key gets disproportionate load (e.g. celebrity user)</a:t>
            </a:r>
          </a:p>
          <a:p>
            <a:pPr lvl="0"/>
            <a:r>
              <a:rPr/>
              <a:t>One partition throttled; others idle</a:t>
            </a:r>
          </a:p>
          <a:p>
            <a:pPr lvl="0"/>
            <a:r>
              <a:rPr/>
              <a:t>Mitigation: salt keys, cache, or split heavy keys</a:t>
            </a:r>
          </a:p>
        </p:txBody>
      </p:sp>
    </p:spTree>
  </p:cSld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&amp; Failure Modes (2/3)</a:t>
            </a:r>
          </a:p>
        </p:txBody>
      </p:sp>
    </p:spTree>
  </p:cSld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 Scenario: Network Partition (Split-Brain)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Nodes A and B,C in separate partitions</a:t>
            </a:r>
          </a:p>
          <a:p>
            <a:pPr lvl="0"/>
            <a:r>
              <a:rPr/>
              <a:t>A cannot reach B,C</a:t>
            </a:r>
          </a:p>
          <a:p>
            <a:pPr lvl="0"/>
            <a:r>
              <a:rPr/>
              <a:t>Writes accepted in both sides ⇒ divergent state</a:t>
            </a:r>
          </a:p>
          <a:p>
            <a:pPr lvl="0"/>
            <a:r>
              <a:rPr/>
              <a:t>Merge on heal: conflicts, last-writer-wins, or manual resolution</a:t>
            </a:r>
          </a:p>
        </p:txBody>
      </p:sp>
    </p:spTree>
  </p:cSld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 Propagation</a:t>
            </a:r>
          </a:p>
        </p:txBody>
      </p:sp>
      <p:pic>
        <p:nvPicPr>
          <p:cNvPr descr="../../diagrams/week02/week2_lecture_slide42_failure_parti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78300" y="1600200"/>
            <a:ext cx="38354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&amp; Failure Modes (3/3)</a:t>
            </a:r>
          </a:p>
        </p:txBody>
      </p:sp>
    </p:spTree>
  </p:cSld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Detection and Mitigation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Monitor: latency p99, error rates, replica lag</a:t>
            </a:r>
          </a:p>
          <a:p>
            <a:pPr lvl="0"/>
            <a:r>
              <a:rPr/>
              <a:t>Alerts: lag &gt; threshold, partition events, node down</a:t>
            </a:r>
          </a:p>
          <a:p>
            <a:pPr lvl="0"/>
            <a:r>
              <a:rPr/>
              <a:t>Mitigation: quorum writes, failover, idempotent producers</a:t>
            </a:r>
          </a:p>
          <a:p>
            <a:pPr lvl="0"/>
            <a:r>
              <a:rPr/>
              <a:t>Run chaos or partition drills in non-prod</a:t>
            </a:r>
          </a:p>
        </p:txBody>
      </p:sp>
    </p:spTree>
  </p:cSld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Best Practices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Design for failure:</a:t>
            </a:r>
            <a:r>
              <a:rPr/>
              <a:t> test failover and partition scenarios</a:t>
            </a:r>
          </a:p>
          <a:p>
            <a:pPr lvl="0"/>
            <a:r>
              <a:rPr b="1"/>
              <a:t>Partition for hot paths:</a:t>
            </a:r>
            <a:r>
              <a:rPr/>
              <a:t> avoid cross-partition joins</a:t>
            </a:r>
          </a:p>
          <a:p>
            <a:pPr lvl="0"/>
            <a:r>
              <a:rPr/>
              <a:t>Choose key from access pattern</a:t>
            </a:r>
          </a:p>
          <a:p>
            <a:pPr lvl="0"/>
            <a:r>
              <a:rPr b="1"/>
              <a:t>Replication factor:</a:t>
            </a:r>
            <a:r>
              <a:rPr/>
              <a:t> durability vs write amplification</a:t>
            </a:r>
          </a:p>
          <a:p>
            <a:pPr lvl="0"/>
            <a:r>
              <a:rPr b="1"/>
              <a:t>Single-partition ops</a:t>
            </a:r>
            <a:r>
              <a:rPr/>
              <a:t> for latency-sensitive APIs</a:t>
            </a:r>
          </a:p>
        </p:txBody>
      </p:sp>
    </p:spTree>
  </p:cSld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Best Practices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Use SQL/analytics store for complex ad-hoc queries</a:t>
            </a:r>
          </a:p>
          <a:p>
            <a:pPr lvl="0"/>
            <a:r>
              <a:rPr/>
              <a:t>Use NoSQL for serving key-based traffic</a:t>
            </a:r>
          </a:p>
          <a:p>
            <a:pPr lvl="0"/>
            <a:r>
              <a:rPr b="1"/>
              <a:t>Monitor:</a:t>
            </a:r>
            <a:r>
              <a:rPr/>
              <a:t> latency p99, throughput, replica lag</a:t>
            </a:r>
          </a:p>
          <a:p>
            <a:pPr lvl="0"/>
            <a:r>
              <a:rPr b="1"/>
              <a:t>Document trade-offs:</a:t>
            </a:r>
            <a:r>
              <a:rPr/>
              <a:t> CAP, cost, complexity for your use case</a:t>
            </a:r>
          </a:p>
          <a:p>
            <a:pPr lvl="0"/>
            <a:r>
              <a:rPr/>
              <a:t>Avoid “we chose X because it’s popular”</a:t>
            </a:r>
          </a:p>
        </p:txBody>
      </p:sp>
    </p:spTree>
  </p:cSld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Recap (Engineering Judgment)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Single-node hits storage, throughput, availability limits</a:t>
            </a:r>
          </a:p>
          <a:p>
            <a:pPr lvl="0"/>
            <a:r>
              <a:rPr/>
              <a:t>Distributed adds network and partial failure complexity</a:t>
            </a:r>
          </a:p>
          <a:p>
            <a:pPr lvl="0"/>
            <a:r>
              <a:rPr b="1"/>
              <a:t>SQL</a:t>
            </a:r>
            <a:r>
              <a:rPr/>
              <a:t> for joins and transactions</a:t>
            </a:r>
          </a:p>
          <a:p>
            <a:pPr lvl="0"/>
            <a:r>
              <a:rPr b="1"/>
              <a:t>NoSQL</a:t>
            </a:r>
            <a:r>
              <a:rPr/>
              <a:t> for key-scale and horizontal partitioning</a:t>
            </a:r>
          </a:p>
          <a:p>
            <a:pPr lvl="0"/>
            <a:r>
              <a:rPr/>
              <a:t>Partitioning and replication enable scale</a:t>
            </a:r>
          </a:p>
          <a:p>
            <a:pPr lvl="0"/>
            <a:r>
              <a:rPr b="1"/>
              <a:t>Both have cost and failure modes</a:t>
            </a:r>
          </a:p>
          <a:p>
            <a:pPr lvl="0"/>
            <a:r>
              <a:rPr b="1"/>
              <a:t>CAP:</a:t>
            </a:r>
            <a:r>
              <a:rPr/>
              <a:t> explicit trade-offs; design for requirements</a:t>
            </a:r>
          </a:p>
        </p:txBody>
      </p:sp>
    </p:spTree>
  </p:cSld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Pointers to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Compute partition sizes from data volume and key distribution</a:t>
            </a:r>
          </a:p>
          <a:p>
            <a:pPr lvl="0"/>
            <a:r>
              <a:rPr/>
              <a:t>Reason about replication factor and write amplification</a:t>
            </a:r>
          </a:p>
          <a:p>
            <a:pPr lvl="0"/>
            <a:r>
              <a:rPr/>
              <a:t>Compare SQL vs NoSQL for given access patterns</a:t>
            </a:r>
          </a:p>
          <a:p>
            <a:pPr lvl="0"/>
            <a:r>
              <a:rPr/>
              <a:t>Analyze CAP trade-offs in concrete scenarios</a:t>
            </a:r>
          </a:p>
          <a:p>
            <a:pPr lvl="0"/>
            <a:r>
              <a:rPr/>
              <a:t>Design partitioning schemes and justify choices</a:t>
            </a:r>
          </a:p>
          <a:p>
            <a:pPr lvl="0"/>
            <a:r>
              <a:rPr/>
              <a:t>Evaluate failure modes and mitigation strategies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9</TotalTime>
  <Words>0</Words>
  <Application>Microsoft Macintosh PowerPoint</Application>
  <PresentationFormat>מסך רחב</PresentationFormat>
  <Paragraphs>0</Paragraphs>
  <Slides>6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3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6</vt:i4>
      </vt:variant>
    </vt:vector>
  </HeadingPairs>
  <TitlesOfParts>
    <vt:vector size="10" baseType="lpstr">
      <vt:lpstr>Aptos</vt:lpstr>
      <vt:lpstr>Arial</vt:lpstr>
      <vt:lpstr>Calibri</vt:lpstr>
      <vt:lpstr>Office Theme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2026-01-29T11:33:40Z</dcterms:created>
  <dcterms:modified xsi:type="dcterms:W3CDTF">2026-01-29T11:33:40Z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