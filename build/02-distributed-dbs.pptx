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0846"/>
    <p:restoredTop sz="94733"/>
  </p:normalViewPr>
  <p:slideViewPr>
    <p:cSldViewPr snapToGrid="0" snapToObjects="1">
      <p:cViewPr>
        <p:scale>
          <a:sx d="100" n="86"/>
          <a:sy d="100" n="86"/>
        </p:scale>
        <p:origin x="1984" y="760"/>
      </p:cViewPr>
      <p:guideLst>
        <p:guide orient="horz" pos="2160"/>
        <p:guide pos="3840"/>
      </p:guideLst>
    </p:cSldViewPr>
  </p:slideViewPr>
  <p:notesTextViewPr>
    <p:cViewPr>
      <p:scale>
        <a:sx d="100" n="100"/>
        <a:sy d="100" n="100"/>
      </p:scale>
      <p:origin x="0" y="0"/>
    </p:cViewPr>
  </p:notesTextViewPr>
  <p:notesViewPr>
    <p:cSldViewPr snapToGrid="0" snapToObjects="1">
      <p:cViewPr varScale="1">
        <p:scale>
          <a:sx d="100" n="118"/>
          <a:sy d="100" n="118"/>
        </p:scale>
        <p:origin x="5160" y="21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48" Type="http://schemas.openxmlformats.org/officeDocument/2006/relationships/handoutMaster" Target="handoutMasters/handoutMaster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6840" y="1600201"/>
            <a:ext cx="660142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7894" y="2569580"/>
            <a:ext cx="5864506" cy="3556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fmla="*/ 0 w 10972800" name="csX0"/>
                      <a:gd fmla="*/ 0 h 1143000" name="csY0"/>
                      <a:gd fmla="*/ 10972800 w 10972800" name="csX1"/>
                      <a:gd fmla="*/ 0 h 1143000" name="csY1"/>
                      <a:gd fmla="*/ 10972800 w 10972800" name="csX2"/>
                      <a:gd fmla="*/ 1143000 h 1143000" name="csY2"/>
                      <a:gd fmla="*/ 0 w 10972800" name="csX3"/>
                      <a:gd fmla="*/ 1143000 h 1143000" name="csY3"/>
                      <a:gd fmla="*/ 0 w 10972800" name="csX4"/>
                      <a:gd fmla="*/ 0 h 1143000" name="csY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b="b" l="l" r="r" t="t"/>
                    <a:pathLst>
                      <a:path extrusionOk="0" fill="none" h="1143000" w="1097280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extrusionOk="0" h="1143000" stroke="0" w="1097280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946768" y="1600201"/>
            <a:ext cx="10635632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8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7150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720016" y="-1088358"/>
            <a:ext cx="7329616" cy="7329616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14350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hdr="0"/>
  <p:txStyles>
    <p:titleStyle>
      <a:lvl1pPr algn="ctr" defTabSz="457200" eaLnBrk="1" hangingPunct="1" latinLnBrk="0" rtl="0">
        <a:spcBef>
          <a:spcPct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lnSpc>
          <a:spcPct val="130000"/>
        </a:lnSpc>
        <a:spcBef>
          <a:spcPts val="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lnSpc>
          <a:spcPct val="130000"/>
        </a:lnSpc>
        <a:spcBef>
          <a:spcPts val="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lnSpc>
          <a:spcPct val="130000"/>
        </a:lnSpc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lnSpc>
          <a:spcPct val="130000"/>
        </a:lnSpc>
        <a:spcBef>
          <a:spcPts val="0"/>
        </a:spcBef>
        <a:buFont typeface="Arial"/>
        <a:buChar char="–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lnSpc>
          <a:spcPct val="130000"/>
        </a:lnSpc>
        <a:spcBef>
          <a:spcPts val="0"/>
        </a:spcBef>
        <a:buFont typeface="Arial"/>
        <a:buChar char="»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hasCustomPrompt="1"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2: Distributed Databases: SQL vs NoSQL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Understand why single-node databases fail at scale</a:t>
            </a:r>
          </a:p>
          <a:p>
            <a:pPr lvl="0"/>
            <a:r>
              <a:rPr/>
              <a:t>Learn how partitioning and replication enable growth</a:t>
            </a:r>
          </a:p>
          <a:p>
            <a:pPr lvl="0"/>
            <a:r>
              <a:rPr/>
              <a:t>Choose SQL, NoSQL, or hybrid architecture from workload needs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Calculate per-node data load under partitioning/replication</a:t>
            </a:r>
          </a:p>
          <a:p>
            <a:pPr lvl="0"/>
            <a:r>
              <a:rPr/>
              <a:t>Explain ACID, BASE, and CAP in engineering terms</a:t>
            </a:r>
          </a:p>
          <a:p>
            <a:pPr lvl="0"/>
            <a:r>
              <a:rPr/>
              <a:t>Design partition keys for dominant read/write paths</a:t>
            </a:r>
          </a:p>
          <a:p>
            <a:pPr lvl="0"/>
            <a:r>
              <a:rPr/>
              <a:t>Identify distributed failure modes and practical mitigations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Flow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Why we distribute databases</a:t>
            </a:r>
          </a:p>
          <a:p>
            <a:pPr lvl="0"/>
            <a:r>
              <a:rPr/>
              <a:t>Partitioning + replication mechanics</a:t>
            </a:r>
          </a:p>
          <a:p>
            <a:pPr lvl="0"/>
            <a:r>
              <a:rPr/>
              <a:t>SQL vs NoSQL decision framework</a:t>
            </a:r>
          </a:p>
          <a:p>
            <a:pPr lvl="0"/>
            <a:r>
              <a:rPr/>
              <a:t>Consistency trade-offs and failure handling</a:t>
            </a:r>
          </a:p>
          <a:p>
            <a:pPr lvl="0"/>
            <a:r>
              <a:rPr/>
              <a:t>End-to-end design example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Single-Node Databases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Storage, throughput, and availability have hard ceilings</a:t>
            </a:r>
          </a:p>
          <a:p>
            <a:pPr lvl="0"/>
            <a:r>
              <a:rPr/>
              <a:t>Vertical scaling becomes expensive and eventually plateaus</a:t>
            </a:r>
          </a:p>
          <a:p>
            <a:pPr lvl="0"/>
            <a:r>
              <a:rPr/>
              <a:t>Maintenance windows and failures become business risks</a:t>
            </a:r>
          </a:p>
          <a:p>
            <a:pPr lvl="0"/>
            <a:r>
              <a:rPr/>
              <a:t>Growth requires horizontal architecture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Single-Node Limits — Architecture</a:t>
            </a:r>
          </a:p>
        </p:txBody>
      </p:sp>
      <p:pic>
        <p:nvPicPr>
          <p:cNvPr descr="../../diagrams/week02/week2_single_node_limi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62300" y="1600200"/>
            <a:ext cx="61849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Single-node limits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Single-Node Limits (Quick Numbers)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Storage headroom shrinks as data and indexes grow</a:t>
            </a:r>
          </a:p>
          <a:p>
            <a:pPr lvl="0"/>
            <a:r>
              <a:rPr/>
              <a:t>Write throughput saturates during traffic spikes</a:t>
            </a:r>
          </a:p>
          <a:p>
            <a:pPr lvl="0"/>
            <a:r>
              <a:rPr/>
              <a:t>99.9% uptime still means hours of downtime per year</a:t>
            </a:r>
          </a:p>
          <a:p>
            <a:pPr lvl="0"/>
            <a:r>
              <a:rPr/>
              <a:t>Recovery time often dominates incident impact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Centralized to Distributed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Centralized DBMS: simple operations, one main failure domain</a:t>
            </a:r>
          </a:p>
          <a:p>
            <a:pPr lvl="0"/>
            <a:r>
              <a:rPr/>
              <a:t>Distributed DBMS: multiple nodes, higher scale and resilience</a:t>
            </a:r>
          </a:p>
          <a:p>
            <a:pPr lvl="0"/>
            <a:r>
              <a:rPr/>
              <a:t>User goal remains the same: one logical database view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GFS: Motivation for Distributed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Google File System (GFS) pioneered scalable distributed storage for large data-intensive applications</a:t>
            </a:r>
          </a:p>
          <a:p>
            <a:pPr lvl="0"/>
            <a:r>
              <a:rPr/>
              <a:t>Key observations: component failures are the norm; huge files (multi-GB) are common; files often mutated by appending</a:t>
            </a:r>
          </a:p>
          <a:p>
            <a:pPr lvl="0"/>
            <a:r>
              <a:rPr/>
              <a:t>Design principles: constant monitoring, fault tolerance, co-design of applications and APIs</a:t>
            </a:r>
          </a:p>
          <a:p>
            <a:pPr lvl="0"/>
            <a:r>
              <a:rPr/>
              <a:t>Files are broken into 64 MB chunks; each chunk replicated on multiple servers (default 3)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Centralized DBMS</a:t>
            </a:r>
          </a:p>
        </p:txBody>
      </p:sp>
      <p:pic>
        <p:nvPicPr>
          <p:cNvPr descr="../../diagrams/week02/week2_centralized_db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41700" y="1600200"/>
            <a:ext cx="56261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Centralized database architecture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Distributed DBMS</a:t>
            </a:r>
          </a:p>
        </p:txBody>
      </p:sp>
      <p:pic>
        <p:nvPicPr>
          <p:cNvPr descr="../../diagrams/week02/week2_distributed_db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86200" y="1600200"/>
            <a:ext cx="47244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Distributed database architecture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Distributed Database: User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Application queries a single logical database</a:t>
            </a:r>
          </a:p>
          <a:p>
            <a:pPr lvl="0"/>
            <a:r>
              <a:rPr/>
              <a:t>Distribution details are hidden by the DB layer</a:t>
            </a:r>
          </a:p>
          <a:p>
            <a:pPr lvl="0"/>
            <a:r>
              <a:rPr/>
              <a:t>Engineering complexity moves from app code into data platform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 View — Logical vs Physical</a:t>
            </a:r>
          </a:p>
        </p:txBody>
      </p:sp>
      <p:pic>
        <p:nvPicPr>
          <p:cNvPr descr="../../diagrams/week02/week2_user_view_logic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600200"/>
            <a:ext cx="75311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Logical vs physical view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Distributed Database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Partitioning splits data across nodes for scale</a:t>
            </a:r>
          </a:p>
          <a:p>
            <a:pPr lvl="0"/>
            <a:r>
              <a:rPr/>
              <a:t>Replication copies data for durability and availability</a:t>
            </a:r>
          </a:p>
          <a:p>
            <a:pPr lvl="0"/>
            <a:r>
              <a:rPr/>
              <a:t>Coordination happens over an unreliable network</a:t>
            </a:r>
          </a:p>
          <a:p>
            <a:pPr lvl="0"/>
            <a:r>
              <a:rPr/>
              <a:t>Partial failures are expected, not exceptional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Partitioning + Replication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3">
                <a:extLst>
                  <a:ext uri="{FF2B5EF4-FFF2-40B4-BE49-F238E27FC236}">
                    <a16:creationId xmlns:a16="http://schemas.microsoft.com/office/drawing/2014/main" id="{838FFFFD-68E9-C4E4-7764-523BAE32B83B}"/>
                  </a:ext>
                </a:extLst>
              </p:cNvPr>
              <p:cNvSpPr>
                <a:spLocks noGrp="1"/>
              </p:cNvSpPr>
              <p:nvPr>
                <p:ph hasCustomPrompt="1"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n</m:t>
                          </m:r>
                          <m:r>
                            <m:t>o</m:t>
                          </m:r>
                          <m:r>
                            <m:t>d</m:t>
                          </m:r>
                          <m: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t>r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a</m:t>
                          </m:r>
                          <m:r>
                            <m:t>v</m:t>
                          </m:r>
                          <m:r>
                            <m:t>a</m:t>
                          </m:r>
                          <m:r>
                            <m:t>i</m:t>
                          </m:r>
                          <m: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sSup>
                        <m:e>
                          <m:r>
                            <m:t>p</m:t>
                          </m:r>
                        </m:e>
                        <m:sup>
                          <m:r>
                            <m:t>r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- </a:t>
                </a:r>
                <a:r>
                  <a:rPr>
                    <a:latin typeface="Courier"/>
                  </a:rPr>
                  <a:t>D</a:t>
                </a:r>
                <a:r>
                  <a:rPr/>
                  <a:t>: total data, </a:t>
                </a:r>
                <a:r>
                  <a:rPr>
                    <a:latin typeface="Courier"/>
                  </a:rPr>
                  <a:t>N</a:t>
                </a:r>
                <a:r>
                  <a:rPr/>
                  <a:t>: nodes, </a:t>
                </a:r>
                <a:r>
                  <a:rPr>
                    <a:latin typeface="Courier"/>
                  </a:rPr>
                  <a:t>r</a:t>
                </a:r>
                <a:r>
                  <a:rPr/>
                  <a:t>: replication factor, </a:t>
                </a:r>
                <a:r>
                  <a:rPr>
                    <a:latin typeface="Courier"/>
                  </a:rPr>
                  <a:t>p</a:t>
                </a:r>
                <a:r>
                  <a:rPr/>
                  <a:t>: node-failure probability - Higher </a:t>
                </a:r>
                <a:r>
                  <a:rPr>
                    <a:latin typeface="Courier"/>
                  </a:rPr>
                  <a:t>r</a:t>
                </a:r>
                <a:r>
                  <a:rPr/>
                  <a:t> improves availability but increases write and storage cost</a:t>
                </a:r>
              </a:p>
            </p:txBody>
          </p:sp>
        </mc:Choice>
      </mc:AlternateContent>
      <p:pic>
        <p:nvPicPr>
          <p:cNvPr descr="../../diagrams/week02/week2_partition_formula_visu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1409700"/>
            <a:ext cx="61341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949700" y="5257800"/>
            <a:ext cx="7620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Partitioning formula visual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Sizing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Given: </a:t>
            </a:r>
            <a:r>
              <a:rPr>
                <a:latin typeface="Courier"/>
              </a:rPr>
              <a:t>D = 24 TB</a:t>
            </a:r>
            <a:r>
              <a:rPr/>
              <a:t>, </a:t>
            </a:r>
            <a:r>
              <a:rPr>
                <a:latin typeface="Courier"/>
              </a:rPr>
              <a:t>N = 12</a:t>
            </a:r>
            <a:r>
              <a:rPr/>
              <a:t>, </a:t>
            </a:r>
            <a:r>
              <a:rPr>
                <a:latin typeface="Courier"/>
              </a:rPr>
              <a:t>r = 3</a:t>
            </a:r>
          </a:p>
          <a:p>
            <a:pPr lvl="0"/>
            <a:r>
              <a:rPr/>
              <a:t>Per-node data: </a:t>
            </a:r>
            <a:r>
              <a:rPr>
                <a:latin typeface="Courier"/>
              </a:rPr>
              <a:t>S_node = (24 * 3) / 12 = 6 TB</a:t>
            </a:r>
          </a:p>
          <a:p>
            <a:pPr lvl="0"/>
            <a:r>
              <a:rPr/>
              <a:t>If node failure probability is </a:t>
            </a:r>
            <a:r>
              <a:rPr>
                <a:latin typeface="Courier"/>
              </a:rPr>
              <a:t>p = 0.02</a:t>
            </a:r>
            <a:r>
              <a:rPr/>
              <a:t>, then</a:t>
            </a:r>
          </a:p>
          <a:p>
            <a:pPr lvl="0"/>
            <a:r>
              <a:rPr/>
              <a:t>Availability of a replicated item: </a:t>
            </a:r>
            <a:r>
              <a:rPr>
                <a:latin typeface="Courier"/>
              </a:rPr>
              <a:t>1 - 0.02^3 = 99.9992%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Partitioning and Replication Visual</a:t>
            </a:r>
          </a:p>
        </p:txBody>
      </p:sp>
      <p:pic>
        <p:nvPicPr>
          <p:cNvPr descr="../../diagrams/week02/week2_partition_replication_mod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1600200"/>
            <a:ext cx="37592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Partitioning and replication model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and Cost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Local key lookups have low, stable latency</a:t>
            </a:r>
          </a:p>
          <a:p>
            <a:pPr lvl="0"/>
            <a:r>
              <a:rPr/>
              <a:t>Cross-partition operations add network and coordination latency</a:t>
            </a:r>
          </a:p>
          <a:p>
            <a:pPr lvl="0"/>
            <a:r>
              <a:rPr/>
              <a:t>Replication multiplies write traffic</a:t>
            </a:r>
          </a:p>
          <a:p>
            <a:pPr lvl="0"/>
            <a:r>
              <a:rPr/>
              <a:t>Stronger consistency usually increases p99 latency and cost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Partitioning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Choose partition key from dominant access pattern</a:t>
            </a:r>
          </a:p>
          <a:p>
            <a:pPr lvl="0"/>
            <a:r>
              <a:rPr/>
              <a:t>Keep common reads/writes single-partition when possible</a:t>
            </a:r>
          </a:p>
          <a:p>
            <a:pPr lvl="0"/>
            <a:r>
              <a:rPr/>
              <a:t>Avoid skewed keys that create hot partitions</a:t>
            </a:r>
          </a:p>
          <a:p>
            <a:pPr lvl="0"/>
            <a:r>
              <a:rPr/>
              <a:t>Revisit partition key as traffic shape changes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Partition Key Example: Good vs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Good for user feed service: partition by </a:t>
            </a:r>
            <a:r>
              <a:rPr>
                <a:latin typeface="Courier"/>
              </a:rPr>
              <a:t>user_id</a:t>
            </a:r>
          </a:p>
          <a:p>
            <a:pPr lvl="0"/>
            <a:r>
              <a:rPr/>
              <a:t>Bad for same workload: partition by </a:t>
            </a:r>
            <a:r>
              <a:rPr>
                <a:latin typeface="Courier"/>
              </a:rPr>
              <a:t>country</a:t>
            </a:r>
            <a:r>
              <a:rPr/>
              <a:t> (few hot values)</a:t>
            </a:r>
          </a:p>
          <a:p>
            <a:pPr lvl="0"/>
            <a:r>
              <a:rPr/>
              <a:t>Symptom of bad key: one node has high CPU/queue lag while others are idle</a:t>
            </a:r>
          </a:p>
          <a:p>
            <a:pPr lvl="0"/>
            <a:r>
              <a:rPr/>
              <a:t>Typical mitigation: key salting or sub-sharding for hot values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Distribution Visual</a:t>
            </a:r>
          </a:p>
        </p:txBody>
      </p:sp>
      <p:pic>
        <p:nvPicPr>
          <p:cNvPr descr="../../diagrams/week02/week2_partitioning_key_good_ba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02100" y="1600200"/>
            <a:ext cx="4305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Partition key: good vs bad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Replication Read/Write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Writes typically flow leader -&gt; followers</a:t>
            </a:r>
          </a:p>
          <a:p>
            <a:pPr lvl="0"/>
            <a:r>
              <a:rPr/>
              <a:t>Reads may be leader-only or replica-enabled</a:t>
            </a:r>
          </a:p>
          <a:p>
            <a:pPr lvl="0"/>
            <a:r>
              <a:rPr/>
              <a:t>Replica reads improve scale and often reduce latency</a:t>
            </a:r>
          </a:p>
          <a:p>
            <a:pPr lvl="0"/>
            <a:r>
              <a:rPr/>
              <a:t>Replica lag can return stale reads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Stale Read Example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User updates profile picture at </a:t>
            </a:r>
            <a:r>
              <a:rPr>
                <a:latin typeface="Courier"/>
              </a:rPr>
              <a:t>10:00:00</a:t>
            </a:r>
          </a:p>
          <a:p>
            <a:pPr lvl="0"/>
            <a:r>
              <a:rPr/>
              <a:t>Replica lags by 2 seconds</a:t>
            </a:r>
          </a:p>
          <a:p>
            <a:pPr lvl="0"/>
            <a:r>
              <a:rPr/>
              <a:t>Read at </a:t>
            </a:r>
            <a:r>
              <a:rPr>
                <a:latin typeface="Courier"/>
              </a:rPr>
              <a:t>10:00:01</a:t>
            </a:r>
            <a:r>
              <a:rPr/>
              <a:t> from replica returns old image</a:t>
            </a:r>
          </a:p>
          <a:p>
            <a:pPr lvl="0"/>
            <a:r>
              <a:rPr/>
              <a:t>If this is unacceptable, route that read to leader</a:t>
            </a:r>
          </a:p>
        </p:txBody>
      </p:sp>
      <p:pic>
        <p:nvPicPr>
          <p:cNvPr descr="../../diagrams/week02/week2_stale_read_seque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59500" y="1409700"/>
            <a:ext cx="32004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949700" y="5257800"/>
            <a:ext cx="7620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Stale read sequence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Replication Visual</a:t>
            </a:r>
          </a:p>
        </p:txBody>
      </p:sp>
      <p:pic>
        <p:nvPicPr>
          <p:cNvPr descr="../../diagrams/week02/week2_replication_read_wri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0" y="1600200"/>
            <a:ext cx="60960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Replication read/write path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SQL vs NoSQL: Decision Lens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SQL: relational model, joins, mature transactional tooling</a:t>
            </a:r>
          </a:p>
          <a:p>
            <a:pPr lvl="0"/>
            <a:r>
              <a:rPr/>
              <a:t>NoSQL: key-centric model, simpler horizontal scaling for serving paths</a:t>
            </a:r>
          </a:p>
          <a:p>
            <a:pPr lvl="0"/>
            <a:r>
              <a:rPr/>
              <a:t>Choose from access patterns, SLA, and consistency requirements</a:t>
            </a:r>
          </a:p>
          <a:p>
            <a:pPr lvl="0"/>
            <a:r>
              <a:rPr/>
              <a:t>Hybrid is common when serving and analytics needs diverge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SQL vs NoSQL — Architecture</a:t>
            </a:r>
          </a:p>
        </p:txBody>
      </p:sp>
      <p:pic>
        <p:nvPicPr>
          <p:cNvPr descr="../../diagrams/week02/week2_sql_vs_nosq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9800" y="1714500"/>
            <a:ext cx="106299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SQL vs NoSQL access patterns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SQL in Distributed Systems: Strengths and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Strong guarantees are useful for money and inventory workflows</a:t>
            </a:r>
          </a:p>
          <a:p>
            <a:pPr lvl="0"/>
            <a:r>
              <a:rPr/>
              <a:t>Cross-partition joins require expensive data movement</a:t>
            </a:r>
          </a:p>
          <a:p>
            <a:pPr lvl="0"/>
            <a:r>
              <a:rPr/>
              <a:t>Distributed transactions add coordination latency</a:t>
            </a:r>
          </a:p>
          <a:p>
            <a:pPr lvl="0"/>
            <a:r>
              <a:rPr/>
              <a:t>Best fit for correctness-critical multi-entity operations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NoSQL in Distributed Systems: Strengths and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Key-based reads/writes are fast and predictable</a:t>
            </a:r>
          </a:p>
          <a:p>
            <a:pPr lvl="0"/>
            <a:r>
              <a:rPr/>
              <a:t>Denormalization removes many runtime joins</a:t>
            </a:r>
          </a:p>
          <a:p>
            <a:pPr lvl="0"/>
            <a:r>
              <a:rPr/>
              <a:t>Eventual consistency requires reconciliation logic</a:t>
            </a:r>
          </a:p>
          <a:p>
            <a:pPr lvl="0"/>
            <a:r>
              <a:rPr/>
              <a:t>Best fit for high-throughput serving workloads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ACID (Transactional Guarantees)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Atomicity</a:t>
            </a:r>
            <a:r>
              <a:rPr/>
              <a:t>: all operations commit or none do</a:t>
            </a:r>
          </a:p>
          <a:p>
            <a:pPr lvl="0"/>
            <a:r>
              <a:rPr b="1"/>
              <a:t>Consistency</a:t>
            </a:r>
            <a:r>
              <a:rPr/>
              <a:t>: constraints remain valid after commit</a:t>
            </a:r>
          </a:p>
          <a:p>
            <a:pPr lvl="0"/>
            <a:r>
              <a:rPr b="1"/>
              <a:t>Isolation</a:t>
            </a:r>
            <a:r>
              <a:rPr/>
              <a:t>: concurrent transactions do not leak partial state</a:t>
            </a:r>
          </a:p>
          <a:p>
            <a:pPr lvl="0"/>
            <a:r>
              <a:rPr b="1"/>
              <a:t>Durability</a:t>
            </a:r>
            <a:r>
              <a:rPr/>
              <a:t>: committed writes survive crashes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(Scale-Oriented Guarantees)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Basically available</a:t>
            </a:r>
            <a:r>
              <a:rPr/>
              <a:t>: system responds despite some failures</a:t>
            </a:r>
          </a:p>
          <a:p>
            <a:pPr lvl="0"/>
            <a:r>
              <a:rPr b="1"/>
              <a:t>Soft state</a:t>
            </a:r>
            <a:r>
              <a:rPr/>
              <a:t>: replicas may temporarily diverge</a:t>
            </a:r>
          </a:p>
          <a:p>
            <a:pPr lvl="0"/>
            <a:r>
              <a:rPr b="1"/>
              <a:t>Eventually consistent</a:t>
            </a:r>
            <a:r>
              <a:rPr/>
              <a:t>: replicas converge when updates stop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 (Under Network Partition)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 b="1"/>
              <a:t>Consistency</a:t>
            </a:r>
            <a:r>
              <a:rPr/>
              <a:t>: read returns latest write</a:t>
            </a:r>
          </a:p>
          <a:p>
            <a:pPr lvl="0"/>
            <a:r>
              <a:rPr b="1"/>
              <a:t>Availability</a:t>
            </a:r>
            <a:r>
              <a:rPr/>
              <a:t>: every request gets a response</a:t>
            </a:r>
          </a:p>
          <a:p>
            <a:pPr lvl="0"/>
            <a:r>
              <a:rPr b="1"/>
              <a:t>Partition tolerance</a:t>
            </a:r>
            <a:r>
              <a:rPr/>
              <a:t>: system continues despite network splits</a:t>
            </a:r>
          </a:p>
          <a:p>
            <a:pPr lvl="0"/>
            <a:r>
              <a:rPr/>
              <a:t>During partition, you choose </a:t>
            </a:r>
            <a:r>
              <a:rPr b="1"/>
              <a:t>CP</a:t>
            </a:r>
            <a:r>
              <a:rPr/>
              <a:t> or </a:t>
            </a:r>
            <a:r>
              <a:rPr b="1"/>
              <a:t>AP</a:t>
            </a:r>
            <a:r>
              <a:rPr/>
              <a:t>, not both</a:t>
            </a:r>
          </a:p>
        </p:txBody>
      </p:sp>
      <p:pic>
        <p:nvPicPr>
          <p:cNvPr descr="../../diagrams/week02/week2_acid_base_cap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86400" y="1409700"/>
            <a:ext cx="45593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949700" y="5257800"/>
            <a:ext cx="7620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ACID BASE CAP comparison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 Scenario: Shopping Cart 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CP option: block conflicting updates until partition heals</a:t>
            </a:r>
          </a:p>
          <a:p>
            <a:pPr lvl="0"/>
            <a:r>
              <a:rPr/>
              <a:t>AP option: accept writes in both partitions and merge later</a:t>
            </a:r>
          </a:p>
          <a:p>
            <a:pPr lvl="0"/>
            <a:r>
              <a:rPr/>
              <a:t>CP reduces inconsistency risk but impacts UX availability</a:t>
            </a:r>
          </a:p>
          <a:p>
            <a:pPr lvl="0"/>
            <a:r>
              <a:rPr/>
              <a:t>AP protects UX but requires clear merge policy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Distributed Transactions: 2PC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Two-phase commit enforces atomicity across nodes</a:t>
            </a:r>
          </a:p>
          <a:p>
            <a:pPr lvl="0"/>
            <a:r>
              <a:rPr/>
              <a:t>Coordinator failure can block participants</a:t>
            </a:r>
          </a:p>
          <a:p>
            <a:pPr lvl="0"/>
            <a:r>
              <a:rPr/>
              <a:t>Valuable for strict consistency, expensive operationally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2PC — Blocking Risk</a:t>
            </a:r>
          </a:p>
        </p:txBody>
      </p:sp>
      <p:pic>
        <p:nvPicPr>
          <p:cNvPr descr="../../diagrams/week02/week2_2pc_block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02100" y="1600200"/>
            <a:ext cx="4305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2PC blocking risk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 in Practice</a:t>
            </a:r>
          </a:p>
        </p:txBody>
      </p:sp>
      <p:pic>
        <p:nvPicPr>
          <p:cNvPr descr="../../diagrams/week02/week2_cap_part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14800" y="1600200"/>
            <a:ext cx="42799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CAP network partition scenario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Example: Activity Log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100M events/day (~20 GB/day raw)</a:t>
            </a:r>
          </a:p>
          <a:p>
            <a:pPr lvl="0"/>
            <a:r>
              <a:rPr/>
              <a:t>Query A: feed by </a:t>
            </a:r>
            <a:r>
              <a:rPr>
                <a:latin typeface="Courier"/>
              </a:rPr>
              <a:t>user_id</a:t>
            </a:r>
          </a:p>
          <a:p>
            <a:pPr lvl="0"/>
            <a:r>
              <a:rPr/>
              <a:t>Query B: analytics by </a:t>
            </a:r>
            <a:r>
              <a:rPr>
                <a:latin typeface="Courier"/>
              </a:rPr>
              <a:t>item_id</a:t>
            </a:r>
          </a:p>
          <a:p>
            <a:pPr lvl="0"/>
            <a:r>
              <a:rPr/>
              <a:t>SLA: p99 read latency under 50 ms for serving API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SQL-Oriented Design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Normalized tables: </a:t>
            </a:r>
            <a:r>
              <a:rPr>
                <a:latin typeface="Courier"/>
              </a:rPr>
              <a:t>users</a:t>
            </a:r>
            <a:r>
              <a:rPr/>
              <a:t>, </a:t>
            </a:r>
            <a:r>
              <a:rPr>
                <a:latin typeface="Courier"/>
              </a:rPr>
              <a:t>items</a:t>
            </a:r>
            <a:r>
              <a:rPr/>
              <a:t>, </a:t>
            </a:r>
            <a:r>
              <a:rPr>
                <a:latin typeface="Courier"/>
              </a:rPr>
              <a:t>events</a:t>
            </a:r>
          </a:p>
          <a:p>
            <a:pPr lvl="0"/>
            <a:r>
              <a:rPr/>
              <a:t>Great for flexible analytics and relational queries</a:t>
            </a:r>
          </a:p>
          <a:p>
            <a:pPr lvl="0"/>
            <a:r>
              <a:rPr/>
              <a:t>Feed query may require cross-partition join + sort</a:t>
            </a:r>
          </a:p>
          <a:p>
            <a:pPr lvl="0"/>
            <a:r>
              <a:rPr/>
              <a:t>Latency degrades under heavy fan-out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NoSQL-Oriented Design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Partition </a:t>
            </a:r>
            <a:r>
              <a:rPr>
                <a:latin typeface="Courier"/>
              </a:rPr>
              <a:t>events_by_user</a:t>
            </a:r>
            <a:r>
              <a:rPr/>
              <a:t> by </a:t>
            </a:r>
            <a:r>
              <a:rPr>
                <a:latin typeface="Courier"/>
              </a:rPr>
              <a:t>user_id</a:t>
            </a:r>
          </a:p>
          <a:p>
            <a:pPr lvl="0"/>
            <a:r>
              <a:rPr/>
              <a:t>Feed query stays single-partition and predictable</a:t>
            </a:r>
          </a:p>
          <a:p>
            <a:pPr lvl="0"/>
            <a:r>
              <a:rPr>
                <a:latin typeface="Courier"/>
              </a:rPr>
              <a:t>item_id</a:t>
            </a:r>
            <a:r>
              <a:rPr/>
              <a:t> analytics needs separate materialized view</a:t>
            </a:r>
          </a:p>
          <a:p>
            <a:pPr lvl="0"/>
            <a:r>
              <a:rPr/>
              <a:t>Better serving latency, higher modeling complexity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Recommended Hybrid Architecture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NoSQL store for online serving paths</a:t>
            </a:r>
          </a:p>
          <a:p>
            <a:pPr lvl="0"/>
            <a:r>
              <a:rPr/>
              <a:t>SQL warehouse/lakehouse for analytics</a:t>
            </a:r>
          </a:p>
          <a:p>
            <a:pPr lvl="0"/>
            <a:r>
              <a:rPr/>
              <a:t>Stream or batch sync between serving and analytics stores</a:t>
            </a:r>
          </a:p>
          <a:p>
            <a:pPr lvl="0"/>
            <a:r>
              <a:rPr/>
              <a:t>Clear ownership per workload and data contract</a:t>
            </a:r>
          </a:p>
        </p:txBody>
      </p:sp>
      <p:pic>
        <p:nvPicPr>
          <p:cNvPr descr="../../diagrams/week02/week2_hybrid_deployment_no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1841500"/>
            <a:ext cx="76200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949700" y="5257800"/>
            <a:ext cx="7620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Hybrid deployment view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Hybrid Architecture — Overview</a:t>
            </a:r>
          </a:p>
        </p:txBody>
      </p:sp>
      <p:pic>
        <p:nvPicPr>
          <p:cNvPr descr="../../diagrams/week02/week2_hybrid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0" y="1600200"/>
            <a:ext cx="61087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Hybrid architecture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Hot partitions from skewed keys</a:t>
            </a:r>
          </a:p>
          <a:p>
            <a:pPr lvl="0"/>
            <a:r>
              <a:rPr/>
              <a:t>Replica lag causing stale reads</a:t>
            </a:r>
          </a:p>
          <a:p>
            <a:pPr lvl="0"/>
            <a:r>
              <a:rPr/>
              <a:t>Network partitions causing split-brain risk</a:t>
            </a:r>
          </a:p>
          <a:p>
            <a:pPr lvl="0"/>
            <a:r>
              <a:rPr/>
              <a:t>Coordinator failure in multi-node workflows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Scenario Visual</a:t>
            </a:r>
          </a:p>
        </p:txBody>
      </p:sp>
      <p:pic>
        <p:nvPicPr>
          <p:cNvPr descr="../../diagrams/week02/week2_failure_scenario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49500" y="1600200"/>
            <a:ext cx="77978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939800" y="5613400"/>
            <a:ext cx="1062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Common failure modes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Mitigation Playbook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Define quorum and consistency per endpoint</a:t>
            </a:r>
          </a:p>
          <a:p>
            <a:pPr lvl="0"/>
            <a:r>
              <a:rPr/>
              <a:t>Add salting/sharding for hot keys</a:t>
            </a:r>
          </a:p>
          <a:p>
            <a:pPr lvl="0"/>
            <a:r>
              <a:rPr/>
              <a:t>Monitor p99 latency, replication lag, and error rate</a:t>
            </a:r>
          </a:p>
          <a:p>
            <a:pPr lvl="0"/>
            <a:r>
              <a:rPr/>
              <a:t>Rehearse failover, partition, and recovery drills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What are your top 3 read/write paths?</a:t>
            </a:r>
          </a:p>
          <a:p>
            <a:pPr lvl="0"/>
            <a:r>
              <a:rPr/>
              <a:t>Which operations require strong consistency?</a:t>
            </a:r>
          </a:p>
          <a:p>
            <a:pPr lvl="0"/>
            <a:r>
              <a:rPr/>
              <a:t>What stale-read window is acceptable?</a:t>
            </a:r>
          </a:p>
          <a:p>
            <a:pPr lvl="0"/>
            <a:r>
              <a:rPr/>
              <a:t>How will node count and cost change in 12 months?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60-Second Decision Heuristic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If correctness-critical cross-entity transactions dominate -&gt; start SQL/CP</a:t>
            </a:r>
          </a:p>
          <a:p>
            <a:pPr lvl="0"/>
            <a:r>
              <a:rPr/>
              <a:t>If ultra-low-latency key access dominates -&gt; start NoSQL/AP-aware</a:t>
            </a:r>
          </a:p>
          <a:p>
            <a:pPr lvl="0"/>
            <a:r>
              <a:rPr/>
              <a:t>If both are critical -&gt; hybrid with explicit sync boundaries</a:t>
            </a:r>
          </a:p>
          <a:p>
            <a:pPr lvl="0"/>
            <a:r>
              <a:rPr/>
              <a:t>Re-evaluate quarterly as workload shape changes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Distributed databases trade simplicity for scale and resilience</a:t>
            </a:r>
          </a:p>
          <a:p>
            <a:pPr lvl="0"/>
            <a:r>
              <a:rPr/>
              <a:t>Partition-key quality is your strongest performance lever</a:t>
            </a:r>
          </a:p>
          <a:p>
            <a:pPr lvl="0"/>
            <a:r>
              <a:rPr/>
              <a:t>SQL and NoSQL solve different workload segments</a:t>
            </a:r>
          </a:p>
          <a:p>
            <a:pPr lvl="0"/>
            <a:r>
              <a:rPr/>
              <a:t>Next: parallel processing and distributed compute patterns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18</Words>
  <Application>Microsoft Macintosh PowerPoint</Application>
  <PresentationFormat>מסך רחב</PresentationFormat>
  <Paragraphs>12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2026-02-08T16:45:24Z</dcterms:created>
  <dcterms:modified xsi:type="dcterms:W3CDTF">2026-02-08T16:45:24Z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