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0846"/>
    <p:restoredTop sz="94733"/>
  </p:normalViewPr>
  <p:slideViewPr>
    <p:cSldViewPr snapToGrid="0" snapToObjects="1">
      <p:cViewPr>
        <p:scale>
          <a:sx d="100" n="86"/>
          <a:sy d="100" n="86"/>
        </p:scale>
        <p:origin x="1984" y="760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48" Type="http://schemas.openxmlformats.org/officeDocument/2006/relationships/handoutMaster" Target="handoutMasters/handout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2: Distributed Databases: SQL vs NoSQL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Understand why single-node databases fail at scale</a:t>
            </a:r>
          </a:p>
          <a:p>
            <a:pPr lvl="0"/>
            <a:r>
              <a:rPr/>
              <a:t>Learn how partitioning and replication enable growth</a:t>
            </a:r>
          </a:p>
          <a:p>
            <a:pPr lvl="0"/>
            <a:r>
              <a:rPr/>
              <a:t>Choose SQL, NoSQL, or hybrid architecture from workload needs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per-node data load under partitioning/replication</a:t>
            </a:r>
          </a:p>
          <a:p>
            <a:pPr lvl="0"/>
            <a:r>
              <a:rPr/>
              <a:t>Explain ACID, BASE, and CAP in engineering terms</a:t>
            </a:r>
          </a:p>
          <a:p>
            <a:pPr lvl="0"/>
            <a:r>
              <a:rPr/>
              <a:t>Design partition keys for dominant read/write paths</a:t>
            </a:r>
          </a:p>
          <a:p>
            <a:pPr lvl="0"/>
            <a:r>
              <a:rPr/>
              <a:t>Identify distributed failure modes and practical mitigations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we distribute databases</a:t>
            </a:r>
          </a:p>
          <a:p>
            <a:pPr lvl="0"/>
            <a:r>
              <a:rPr/>
              <a:t>Partitioning + replication mechanics</a:t>
            </a:r>
          </a:p>
          <a:p>
            <a:pPr lvl="0"/>
            <a:r>
              <a:rPr/>
              <a:t>SQL vs NoSQL decision framework</a:t>
            </a:r>
          </a:p>
          <a:p>
            <a:pPr lvl="0"/>
            <a:r>
              <a:rPr/>
              <a:t>Consistency trade-offs and failure handling</a:t>
            </a:r>
          </a:p>
          <a:p>
            <a:pPr lvl="0"/>
            <a:r>
              <a:rPr/>
              <a:t>End-to-end design example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Single-Node Databases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Storage, throughput, and availability have hard ceilings</a:t>
            </a:r>
          </a:p>
          <a:p>
            <a:pPr lvl="0"/>
            <a:r>
              <a:rPr/>
              <a:t>Vertical scaling becomes expensive and eventually plateaus</a:t>
            </a:r>
          </a:p>
          <a:p>
            <a:pPr lvl="0"/>
            <a:r>
              <a:rPr/>
              <a:t>Maintenance windows and failures become business risks</a:t>
            </a:r>
          </a:p>
          <a:p>
            <a:pPr lvl="0"/>
            <a:r>
              <a:rPr/>
              <a:t>Growth requires horizontal architecture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Single-Node Limits — Architecture</a:t>
            </a:r>
          </a:p>
        </p:txBody>
      </p:sp>
      <p:pic>
        <p:nvPicPr>
          <p:cNvPr descr="../../diagrams/week02/week2_single_node_lim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1600200"/>
            <a:ext cx="66548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Single-node limits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Single-Node Limits (Quick Numbers)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headroom shrinks as data and indexes grow</a:t>
            </a:r>
          </a:p>
          <a:p>
            <a:pPr lvl="0"/>
            <a:r>
              <a:rPr/>
              <a:t>Write throughput saturates during traffic spikes</a:t>
            </a:r>
          </a:p>
          <a:p>
            <a:pPr lvl="0"/>
            <a:r>
              <a:rPr/>
              <a:t>99.9% uptime still means hours of downtime per year</a:t>
            </a:r>
          </a:p>
          <a:p>
            <a:pPr lvl="0"/>
            <a:r>
              <a:rPr/>
              <a:t>Recovery time often dominates incident impact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Centralized to Distributed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Centralized DBMS: simple operations, one main failure domain</a:t>
            </a:r>
          </a:p>
          <a:p>
            <a:pPr lvl="0"/>
            <a:r>
              <a:rPr/>
              <a:t>Distributed DBMS: multiple nodes, higher scale and resilience</a:t>
            </a:r>
          </a:p>
          <a:p>
            <a:pPr lvl="0"/>
            <a:r>
              <a:rPr/>
              <a:t>User goal remains the same: one logical database view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GFS: Motivation for Distributed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Google File System (GFS) pioneered scalable distributed storage for large data-intensive applications</a:t>
            </a:r>
          </a:p>
          <a:p>
            <a:pPr lvl="0"/>
            <a:r>
              <a:rPr/>
              <a:t>Key observations: component failures are the norm; huge files (multi-GB) are common; files often mutated by appending</a:t>
            </a:r>
          </a:p>
          <a:p>
            <a:pPr lvl="0"/>
            <a:r>
              <a:rPr/>
              <a:t>Design principles: constant monitoring, fault tolerance, co-design of applications and APIs</a:t>
            </a:r>
          </a:p>
          <a:p>
            <a:pPr lvl="0"/>
            <a:r>
              <a:rPr/>
              <a:t>Files are broken into 64 MB chunks; each chunk replicated on multiple servers (default 3)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Centralized DBMS</a:t>
            </a:r>
          </a:p>
        </p:txBody>
      </p:sp>
      <p:pic>
        <p:nvPicPr>
          <p:cNvPr descr="../../diagrams/week02/week2_centralized_d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930400"/>
            <a:ext cx="106299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Centralized database architecture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Distributed DBMS</a:t>
            </a:r>
          </a:p>
        </p:txBody>
      </p:sp>
      <p:pic>
        <p:nvPicPr>
          <p:cNvPr descr="../../diagrams/week02/week2_distributed_d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600200"/>
            <a:ext cx="23876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Distributed database architecture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Distributed Database: User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Application queries a single logical database</a:t>
            </a:r>
          </a:p>
          <a:p>
            <a:pPr lvl="0"/>
            <a:r>
              <a:rPr/>
              <a:t>Distribution details are hidden by the DB layer</a:t>
            </a:r>
          </a:p>
          <a:p>
            <a:pPr lvl="0"/>
            <a:r>
              <a:rPr/>
              <a:t>Engineering complexity moves from app code into data platform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View — Logical vs Physical</a:t>
            </a:r>
          </a:p>
        </p:txBody>
      </p:sp>
      <p:pic>
        <p:nvPicPr>
          <p:cNvPr descr="../../diagrams/week02/week2_user_view_logic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689100"/>
            <a:ext cx="10629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Logical vs physical view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Distributed Database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Partitioning splits data across nodes for scale</a:t>
            </a:r>
          </a:p>
          <a:p>
            <a:pPr lvl="0"/>
            <a:r>
              <a:rPr/>
              <a:t>Replication copies data for durability and availability</a:t>
            </a:r>
          </a:p>
          <a:p>
            <a:pPr lvl="0"/>
            <a:r>
              <a:rPr/>
              <a:t>Coordination happens over an unreliable network</a:t>
            </a:r>
          </a:p>
          <a:p>
            <a:pPr lvl="0"/>
            <a:r>
              <a:rPr/>
              <a:t>Partial failures are expected, not exceptional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Partitioning + Replication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3">
                <a:extLst>
                  <a:ext uri="{FF2B5EF4-FFF2-40B4-BE49-F238E27FC236}">
                    <a16:creationId xmlns:a16="http://schemas.microsoft.com/office/drawing/2014/main" id="{838FFFFD-68E9-C4E4-7764-523BAE32B83B}"/>
                  </a:ext>
                </a:extLst>
              </p:cNvPr>
              <p:cNvSpPr>
                <a:spLocks noGrp="1"/>
              </p:cNvSpPr>
              <p:nvPr>
                <p:ph hasCustomPrompt="1"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n</m:t>
                          </m:r>
                          <m:r>
                            <m:t>o</m:t>
                          </m:r>
                          <m:r>
                            <m:t>d</m:t>
                          </m:r>
                          <m:r>
                            <m:t>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a</m:t>
                          </m:r>
                          <m:r>
                            <m:t>v</m:t>
                          </m:r>
                          <m:r>
                            <m:t>a</m:t>
                          </m:r>
                          <m:r>
                            <m:t>i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≈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r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- </a:t>
                </a:r>
                <a:r>
                  <a:rPr>
                    <a:latin typeface="Courier"/>
                  </a:rPr>
                  <a:t>D</a:t>
                </a:r>
                <a:r>
                  <a:rPr/>
                  <a:t>: total data, </a:t>
                </a:r>
                <a:r>
                  <a:rPr>
                    <a:latin typeface="Courier"/>
                  </a:rPr>
                  <a:t>N</a:t>
                </a:r>
                <a:r>
                  <a:rPr/>
                  <a:t>: nodes, </a:t>
                </a:r>
                <a:r>
                  <a:rPr>
                    <a:latin typeface="Courier"/>
                  </a:rPr>
                  <a:t>r</a:t>
                </a:r>
                <a:r>
                  <a:rPr/>
                  <a:t>: replication factor,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: node-failure probability - Higher </a:t>
                </a:r>
                <a:r>
                  <a:rPr>
                    <a:latin typeface="Courier"/>
                  </a:rPr>
                  <a:t>r</a:t>
                </a:r>
                <a:r>
                  <a:rPr/>
                  <a:t> improves availability but increases write and storage cost</a:t>
                </a:r>
              </a:p>
            </p:txBody>
          </p:sp>
        </mc:Choice>
      </mc:AlternateContent>
      <p:pic>
        <p:nvPicPr>
          <p:cNvPr descr="../../diagrams/week02/week2_partition_formula_visu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409700"/>
            <a:ext cx="6248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949700" y="5257800"/>
            <a:ext cx="76200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Partitioning formula visual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Sizing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Given: </a:t>
            </a:r>
            <a:r>
              <a:rPr>
                <a:latin typeface="Courier"/>
              </a:rPr>
              <a:t>D = 24 TB</a:t>
            </a:r>
            <a:r>
              <a:rPr/>
              <a:t>, </a:t>
            </a:r>
            <a:r>
              <a:rPr>
                <a:latin typeface="Courier"/>
              </a:rPr>
              <a:t>N = 12</a:t>
            </a:r>
            <a:r>
              <a:rPr/>
              <a:t>, </a:t>
            </a:r>
            <a:r>
              <a:rPr>
                <a:latin typeface="Courier"/>
              </a:rPr>
              <a:t>r = 3</a:t>
            </a:r>
          </a:p>
          <a:p>
            <a:pPr lvl="0"/>
            <a:r>
              <a:rPr/>
              <a:t>Per-node data: </a:t>
            </a:r>
            <a:r>
              <a:rPr>
                <a:latin typeface="Courier"/>
              </a:rPr>
              <a:t>S_node = (24 * 3) / 12 = 6 TB</a:t>
            </a:r>
          </a:p>
          <a:p>
            <a:pPr lvl="0"/>
            <a:r>
              <a:rPr/>
              <a:t>If node failure probability is </a:t>
            </a:r>
            <a:r>
              <a:rPr>
                <a:latin typeface="Courier"/>
              </a:rPr>
              <a:t>p = 0.02</a:t>
            </a:r>
            <a:r>
              <a:rPr/>
              <a:t>, then</a:t>
            </a:r>
          </a:p>
          <a:p>
            <a:pPr lvl="0"/>
            <a:r>
              <a:rPr/>
              <a:t>Availability of a replicated item: </a:t>
            </a:r>
            <a:r>
              <a:rPr>
                <a:latin typeface="Courier"/>
              </a:rPr>
              <a:t>1 - 0.02^3 = 99.9992%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Partitioning and Replication Visual</a:t>
            </a:r>
          </a:p>
        </p:txBody>
      </p:sp>
      <p:pic>
        <p:nvPicPr>
          <p:cNvPr descr="../../diagrams/week02/week2_partition_replication_mod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33800" y="1600200"/>
            <a:ext cx="50419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Partitioning and replication model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and Cost Intuition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Local key lookups have low, stable latency</a:t>
            </a:r>
          </a:p>
          <a:p>
            <a:pPr lvl="0"/>
            <a:r>
              <a:rPr/>
              <a:t>Cross-partition operations add network and coordination latency</a:t>
            </a:r>
          </a:p>
          <a:p>
            <a:pPr lvl="0"/>
            <a:r>
              <a:rPr/>
              <a:t>Replication multiplies write traffic</a:t>
            </a:r>
          </a:p>
          <a:p>
            <a:pPr lvl="0"/>
            <a:r>
              <a:rPr/>
              <a:t>Stronger consistency usually increases p99 latency and cost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partition key from dominant access pattern</a:t>
            </a:r>
          </a:p>
          <a:p>
            <a:pPr lvl="0"/>
            <a:r>
              <a:rPr/>
              <a:t>Keep common reads/writes single-partition when possible</a:t>
            </a:r>
          </a:p>
          <a:p>
            <a:pPr lvl="0"/>
            <a:r>
              <a:rPr/>
              <a:t>Avoid skewed keys that create hot partitions</a:t>
            </a:r>
          </a:p>
          <a:p>
            <a:pPr lvl="0"/>
            <a:r>
              <a:rPr/>
              <a:t>Revisit partition key as traffic shape changes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 Key Example: Good vs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Good for user feed service: partition by </a:t>
            </a:r>
            <a:r>
              <a:rPr>
                <a:latin typeface="Courier"/>
              </a:rPr>
              <a:t>user_id</a:t>
            </a:r>
          </a:p>
          <a:p>
            <a:pPr lvl="0"/>
            <a:r>
              <a:rPr/>
              <a:t>Bad for same workload: partition by </a:t>
            </a:r>
            <a:r>
              <a:rPr>
                <a:latin typeface="Courier"/>
              </a:rPr>
              <a:t>country</a:t>
            </a:r>
            <a:r>
              <a:rPr/>
              <a:t> (few hot values)</a:t>
            </a:r>
          </a:p>
          <a:p>
            <a:pPr lvl="0"/>
            <a:r>
              <a:rPr/>
              <a:t>Symptom of bad key: one node has high CPU/queue lag while others are idle</a:t>
            </a:r>
          </a:p>
          <a:p>
            <a:pPr lvl="0"/>
            <a:r>
              <a:rPr/>
              <a:t>Typical mitigation: key salting or sub-sharding for hot values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Distribution Visual</a:t>
            </a:r>
          </a:p>
        </p:txBody>
      </p:sp>
      <p:pic>
        <p:nvPicPr>
          <p:cNvPr descr="../../diagrams/week02/week2_partitioning_key_good_b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600200"/>
            <a:ext cx="16256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Partition key: good vs bad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Read/Write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Writes typically flow leader -&gt; followers</a:t>
            </a:r>
          </a:p>
          <a:p>
            <a:pPr lvl="0"/>
            <a:r>
              <a:rPr/>
              <a:t>Reads may be leader-only or replica-enabled</a:t>
            </a:r>
          </a:p>
          <a:p>
            <a:pPr lvl="0"/>
            <a:r>
              <a:rPr/>
              <a:t>Replica reads improve scale and often reduce latency</a:t>
            </a:r>
          </a:p>
          <a:p>
            <a:pPr lvl="0"/>
            <a:r>
              <a:rPr/>
              <a:t>Replica lag can return stale reads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Stale Read Example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User updates profile picture at </a:t>
            </a:r>
            <a:r>
              <a:rPr>
                <a:latin typeface="Courier"/>
              </a:rPr>
              <a:t>10:00:00</a:t>
            </a:r>
          </a:p>
          <a:p>
            <a:pPr lvl="0"/>
            <a:r>
              <a:rPr/>
              <a:t>Replica lags by 2 seconds</a:t>
            </a:r>
          </a:p>
          <a:p>
            <a:pPr lvl="0"/>
            <a:r>
              <a:rPr/>
              <a:t>Read at </a:t>
            </a:r>
            <a:r>
              <a:rPr>
                <a:latin typeface="Courier"/>
              </a:rPr>
              <a:t>10:00:01</a:t>
            </a:r>
            <a:r>
              <a:rPr/>
              <a:t> from replica returns old image</a:t>
            </a:r>
          </a:p>
          <a:p>
            <a:pPr lvl="0"/>
            <a:r>
              <a:rPr/>
              <a:t>If this is unacceptable, route that read to leader</a:t>
            </a:r>
          </a:p>
        </p:txBody>
      </p:sp>
      <p:pic>
        <p:nvPicPr>
          <p:cNvPr descr="../../diagrams/week02/week2_stale_read_sequ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0" y="1409700"/>
            <a:ext cx="3568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949700" y="5257800"/>
            <a:ext cx="76200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Stale read sequence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Visual</a:t>
            </a:r>
          </a:p>
        </p:txBody>
      </p:sp>
      <p:pic>
        <p:nvPicPr>
          <p:cNvPr descr="../../diagrams/week02/week2_replication_read_wr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0" y="1600200"/>
            <a:ext cx="64135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Replication read/write path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vs NoSQL: Decision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SQL: relational model, joins, mature transactional tooling</a:t>
            </a:r>
          </a:p>
          <a:p>
            <a:pPr lvl="0"/>
            <a:r>
              <a:rPr/>
              <a:t>NoSQL: key-centric model, simpler horizontal scaling for serving paths</a:t>
            </a:r>
          </a:p>
          <a:p>
            <a:pPr lvl="0"/>
            <a:r>
              <a:rPr/>
              <a:t>Choose from access patterns, SLA, and consistency requirements</a:t>
            </a:r>
          </a:p>
          <a:p>
            <a:pPr lvl="0"/>
            <a:r>
              <a:rPr/>
              <a:t>Hybrid is common when serving and analytics needs diverge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vs NoSQL — Architecture</a:t>
            </a:r>
          </a:p>
        </p:txBody>
      </p:sp>
      <p:pic>
        <p:nvPicPr>
          <p:cNvPr descr="../../diagrams/week02/week2_sql_vs_nosq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600200"/>
            <a:ext cx="6756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SQL vs NoSQL access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in Distributed Systems: Strengths and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Strong guarantees are useful for money and inventory workflows</a:t>
            </a:r>
          </a:p>
          <a:p>
            <a:pPr lvl="0"/>
            <a:r>
              <a:rPr/>
              <a:t>Cross-partition joins require expensive data movement</a:t>
            </a:r>
          </a:p>
          <a:p>
            <a:pPr lvl="0"/>
            <a:r>
              <a:rPr/>
              <a:t>Distributed transactions add coordination latency</a:t>
            </a:r>
          </a:p>
          <a:p>
            <a:pPr lvl="0"/>
            <a:r>
              <a:rPr/>
              <a:t>Best fit for correctness-critical multi-entity operations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NoSQL in Distributed Systems: Strengths and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Key-based reads/writes are fast and predictable</a:t>
            </a:r>
          </a:p>
          <a:p>
            <a:pPr lvl="0"/>
            <a:r>
              <a:rPr/>
              <a:t>Denormalization removes many runtime joins</a:t>
            </a:r>
          </a:p>
          <a:p>
            <a:pPr lvl="0"/>
            <a:r>
              <a:rPr/>
              <a:t>Eventual consistency requires reconciliation logic</a:t>
            </a:r>
          </a:p>
          <a:p>
            <a:pPr lvl="0"/>
            <a:r>
              <a:rPr/>
              <a:t>Best fit for high-throughput serving workloads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ACID (Transactional Guarantees)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Atomicity</a:t>
            </a:r>
            <a:r>
              <a:rPr/>
              <a:t>: all operations commit or none do</a:t>
            </a:r>
          </a:p>
          <a:p>
            <a:pPr lvl="0"/>
            <a:r>
              <a:rPr b="1"/>
              <a:t>Consistency</a:t>
            </a:r>
            <a:r>
              <a:rPr/>
              <a:t>: constraints remain valid after commit</a:t>
            </a:r>
          </a:p>
          <a:p>
            <a:pPr lvl="0"/>
            <a:r>
              <a:rPr b="1"/>
              <a:t>Isolation</a:t>
            </a:r>
            <a:r>
              <a:rPr/>
              <a:t>: concurrent transactions do not leak partial state</a:t>
            </a:r>
          </a:p>
          <a:p>
            <a:pPr lvl="0"/>
            <a:r>
              <a:rPr b="1"/>
              <a:t>Durability</a:t>
            </a:r>
            <a:r>
              <a:rPr/>
              <a:t>: committed writes survive crashes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(Scale-Oriented Guarantees)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Basically available</a:t>
            </a:r>
            <a:r>
              <a:rPr/>
              <a:t>: system responds despite some failures</a:t>
            </a:r>
          </a:p>
          <a:p>
            <a:pPr lvl="0"/>
            <a:r>
              <a:rPr b="1"/>
              <a:t>Soft state</a:t>
            </a:r>
            <a:r>
              <a:rPr/>
              <a:t>: replicas may temporarily diverge</a:t>
            </a:r>
          </a:p>
          <a:p>
            <a:pPr lvl="0"/>
            <a:r>
              <a:rPr b="1"/>
              <a:t>Eventually consistent</a:t>
            </a:r>
            <a:r>
              <a:rPr/>
              <a:t>: replicas converge when updates stop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CAP (Under Network Partition)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 b="1"/>
              <a:t>Consistency</a:t>
            </a:r>
            <a:r>
              <a:rPr/>
              <a:t>: read returns latest write</a:t>
            </a:r>
          </a:p>
          <a:p>
            <a:pPr lvl="0"/>
            <a:r>
              <a:rPr b="1"/>
              <a:t>Availability</a:t>
            </a:r>
            <a:r>
              <a:rPr/>
              <a:t>: every request gets a response</a:t>
            </a:r>
          </a:p>
          <a:p>
            <a:pPr lvl="0"/>
            <a:r>
              <a:rPr b="1"/>
              <a:t>Partition tolerance</a:t>
            </a:r>
            <a:r>
              <a:rPr/>
              <a:t>: system continues despite network splits</a:t>
            </a:r>
          </a:p>
          <a:p>
            <a:pPr lvl="0"/>
            <a:r>
              <a:rPr/>
              <a:t>During partition, you choose </a:t>
            </a:r>
            <a:r>
              <a:rPr b="1"/>
              <a:t>CP</a:t>
            </a:r>
            <a:r>
              <a:rPr/>
              <a:t> or </a:t>
            </a:r>
            <a:r>
              <a:rPr b="1"/>
              <a:t>AP</a:t>
            </a:r>
            <a:r>
              <a:rPr/>
              <a:t>, not both</a:t>
            </a:r>
          </a:p>
        </p:txBody>
      </p:sp>
      <p:pic>
        <p:nvPicPr>
          <p:cNvPr descr="../../diagrams/week02/week2_acid_base_cap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00900" y="1409700"/>
            <a:ext cx="1117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949700" y="5257800"/>
            <a:ext cx="76200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ACID BASE CAP comparison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Scenario: Shopping Cart 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CP option: block conflicting updates until partition heals</a:t>
            </a:r>
          </a:p>
          <a:p>
            <a:pPr lvl="0"/>
            <a:r>
              <a:rPr/>
              <a:t>AP option: accept writes in both partitions and merge later</a:t>
            </a:r>
          </a:p>
          <a:p>
            <a:pPr lvl="0"/>
            <a:r>
              <a:rPr/>
              <a:t>CP reduces inconsistency risk but impacts UX availability</a:t>
            </a:r>
          </a:p>
          <a:p>
            <a:pPr lvl="0"/>
            <a:r>
              <a:rPr/>
              <a:t>AP protects UX but requires clear merge policy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Distributed Transactions: 2PC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Two-phase commit enforces atomicity across nodes</a:t>
            </a:r>
          </a:p>
          <a:p>
            <a:pPr lvl="0"/>
            <a:r>
              <a:rPr/>
              <a:t>Coordinator failure can block participants</a:t>
            </a:r>
          </a:p>
          <a:p>
            <a:pPr lvl="0"/>
            <a:r>
              <a:rPr/>
              <a:t>Valuable for strict consistency, expensive operationally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2PC — Blocking Risk</a:t>
            </a:r>
          </a:p>
        </p:txBody>
      </p:sp>
      <p:pic>
        <p:nvPicPr>
          <p:cNvPr descr="../../diagrams/week02/week2_2pc_block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95900" y="1600200"/>
            <a:ext cx="1930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2PC blocking risk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in Practice</a:t>
            </a:r>
          </a:p>
        </p:txBody>
      </p:sp>
      <p:pic>
        <p:nvPicPr>
          <p:cNvPr descr="../../diagrams/week02/week2_cap_par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600200"/>
            <a:ext cx="102235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CAP network partition scenario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Example: Activity Log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100M events/day (~20 GB/day raw)</a:t>
            </a:r>
          </a:p>
          <a:p>
            <a:pPr lvl="0"/>
            <a:r>
              <a:rPr/>
              <a:t>Query A: feed by </a:t>
            </a:r>
            <a:r>
              <a:rPr>
                <a:latin typeface="Courier"/>
              </a:rPr>
              <a:t>user_id</a:t>
            </a:r>
          </a:p>
          <a:p>
            <a:pPr lvl="0"/>
            <a:r>
              <a:rPr/>
              <a:t>Query B: analytics by </a:t>
            </a:r>
            <a:r>
              <a:rPr>
                <a:latin typeface="Courier"/>
              </a:rPr>
              <a:t>item_id</a:t>
            </a:r>
          </a:p>
          <a:p>
            <a:pPr lvl="0"/>
            <a:r>
              <a:rPr/>
              <a:t>SLA: p99 read latency under 50 ms for serving API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SQL-Oriented Design (Example)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Normalized tables: </a:t>
            </a:r>
            <a:r>
              <a:rPr>
                <a:latin typeface="Courier"/>
              </a:rPr>
              <a:t>users</a:t>
            </a:r>
            <a:r>
              <a:rPr/>
              <a:t>, </a:t>
            </a:r>
            <a:r>
              <a:rPr>
                <a:latin typeface="Courier"/>
              </a:rPr>
              <a:t>items</a:t>
            </a:r>
            <a:r>
              <a:rPr/>
              <a:t>, </a:t>
            </a:r>
            <a:r>
              <a:rPr>
                <a:latin typeface="Courier"/>
              </a:rPr>
              <a:t>events</a:t>
            </a:r>
          </a:p>
          <a:p>
            <a:pPr lvl="0"/>
            <a:r>
              <a:rPr/>
              <a:t>Great for flexible analytics and relational queries</a:t>
            </a:r>
          </a:p>
          <a:p>
            <a:pPr lvl="0"/>
            <a:r>
              <a:rPr/>
              <a:t>Feed query may require cross-partition join + sort</a:t>
            </a:r>
          </a:p>
          <a:p>
            <a:pPr lvl="0"/>
            <a:r>
              <a:rPr/>
              <a:t>Latency degrades under heavy fan-out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NoSQL-Oriented Design (Example)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Partition </a:t>
            </a:r>
            <a:r>
              <a:rPr>
                <a:latin typeface="Courier"/>
              </a:rPr>
              <a:t>events_by_user</a:t>
            </a:r>
            <a:r>
              <a:rPr/>
              <a:t> by </a:t>
            </a:r>
            <a:r>
              <a:rPr>
                <a:latin typeface="Courier"/>
              </a:rPr>
              <a:t>user_id</a:t>
            </a:r>
          </a:p>
          <a:p>
            <a:pPr lvl="0"/>
            <a:r>
              <a:rPr/>
              <a:t>Feed query stays single-partition and predictable</a:t>
            </a:r>
          </a:p>
          <a:p>
            <a:pPr lvl="0"/>
            <a:r>
              <a:rPr>
                <a:latin typeface="Courier"/>
              </a:rPr>
              <a:t>item_id</a:t>
            </a:r>
            <a:r>
              <a:rPr/>
              <a:t> analytics needs separate materialized view</a:t>
            </a:r>
          </a:p>
          <a:p>
            <a:pPr lvl="0"/>
            <a:r>
              <a:rPr/>
              <a:t>Better serving latency, higher modeling complexity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Recommended Hybrid Architecture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NoSQL store for online serving paths</a:t>
            </a:r>
          </a:p>
          <a:p>
            <a:pPr lvl="0"/>
            <a:r>
              <a:rPr/>
              <a:t>SQL warehouse/lakehouse for analytics</a:t>
            </a:r>
          </a:p>
          <a:p>
            <a:pPr lvl="0"/>
            <a:r>
              <a:rPr/>
              <a:t>Stream or batch sync between serving and analytics stores</a:t>
            </a:r>
          </a:p>
          <a:p>
            <a:pPr lvl="0"/>
            <a:r>
              <a:rPr/>
              <a:t>Clear ownership per workload and data contract</a:t>
            </a:r>
          </a:p>
        </p:txBody>
      </p:sp>
      <p:pic>
        <p:nvPicPr>
          <p:cNvPr descr="../../diagrams/week02/week2_hybrid_deployment_no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311400"/>
            <a:ext cx="76200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949700" y="5257800"/>
            <a:ext cx="76200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Hybrid deployment view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 Architecture — Overview</a:t>
            </a:r>
          </a:p>
        </p:txBody>
      </p:sp>
      <p:pic>
        <p:nvPicPr>
          <p:cNvPr descr="../../diagrams/week02/week2_hybrid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00400" y="1600200"/>
            <a:ext cx="61087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Hybrid architecture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Hot partitions from skewed keys</a:t>
            </a:r>
          </a:p>
          <a:p>
            <a:pPr lvl="0"/>
            <a:r>
              <a:rPr/>
              <a:t>Replica lag causing stale reads</a:t>
            </a:r>
          </a:p>
          <a:p>
            <a:pPr lvl="0"/>
            <a:r>
              <a:rPr/>
              <a:t>Network partitions causing split-brain risk</a:t>
            </a:r>
          </a:p>
          <a:p>
            <a:pPr lvl="0"/>
            <a:r>
              <a:rPr/>
              <a:t>Coordinator failure in multi-node workflows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Scenario Visual</a:t>
            </a:r>
          </a:p>
        </p:txBody>
      </p:sp>
      <p:pic>
        <p:nvPicPr>
          <p:cNvPr descr="../../diagrams/week02/week2_failure_scenari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2590800"/>
            <a:ext cx="106299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939800" y="5613400"/>
            <a:ext cx="10629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Common failure modes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Mitigation Playbook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quorum and consistency per endpoint</a:t>
            </a:r>
          </a:p>
          <a:p>
            <a:pPr lvl="0"/>
            <a:r>
              <a:rPr/>
              <a:t>Add salting/sharding for hot keys</a:t>
            </a:r>
          </a:p>
          <a:p>
            <a:pPr lvl="0"/>
            <a:r>
              <a:rPr/>
              <a:t>Monitor p99 latency, replication lag, and error rate</a:t>
            </a:r>
          </a:p>
          <a:p>
            <a:pPr lvl="0"/>
            <a:r>
              <a:rPr/>
              <a:t>Rehearse failover, partition, and recovery drills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are your top 3 read/write paths?</a:t>
            </a:r>
          </a:p>
          <a:p>
            <a:pPr lvl="0"/>
            <a:r>
              <a:rPr/>
              <a:t>Which operations require strong consistency?</a:t>
            </a:r>
          </a:p>
          <a:p>
            <a:pPr lvl="0"/>
            <a:r>
              <a:rPr/>
              <a:t>What stale-read window is acceptable?</a:t>
            </a:r>
          </a:p>
          <a:p>
            <a:pPr lvl="0"/>
            <a:r>
              <a:rPr/>
              <a:t>How will node count and cost change in 12 months?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60-Second Decision Heuristic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If correctness-critical cross-entity transactions dominate -&gt; start SQL/CP</a:t>
            </a:r>
          </a:p>
          <a:p>
            <a:pPr lvl="0"/>
            <a:r>
              <a:rPr/>
              <a:t>If ultra-low-latency key access dominates -&gt; start NoSQL/AP-aware</a:t>
            </a:r>
          </a:p>
          <a:p>
            <a:pPr lvl="0"/>
            <a:r>
              <a:rPr/>
              <a:t>If both are critical -&gt; hybrid with explicit sync boundaries</a:t>
            </a:r>
          </a:p>
          <a:p>
            <a:pPr lvl="0"/>
            <a:r>
              <a:rPr/>
              <a:t>Re-evaluate quarterly as workload shape changes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trade simplicity for scale and resilience</a:t>
            </a:r>
          </a:p>
          <a:p>
            <a:pPr lvl="0"/>
            <a:r>
              <a:rPr/>
              <a:t>Partition-key quality is your strongest performance lever</a:t>
            </a:r>
          </a:p>
          <a:p>
            <a:pPr lvl="0"/>
            <a:r>
              <a:rPr/>
              <a:t>SQL and NoSQL solve different workload segments</a:t>
            </a:r>
          </a:p>
          <a:p>
            <a:pPr lvl="0"/>
            <a:r>
              <a:rPr/>
              <a:t>Next: parallel processing and distributed compute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2026-02-08T16:12:20Z</dcterms:created>
  <dcterms:modified xsi:type="dcterms:W3CDTF">2026-02-08T16:12:20Z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