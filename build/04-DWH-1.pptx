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60" r:id="rId3"/>
    <p:sldId id="261" r:id="rId4"/>
    <p:sldId id="264" r:id="rId5"/>
    <p:sldId id="485" r:id="rId6"/>
    <p:sldId id="265" r:id="rId7"/>
    <p:sldId id="367" r:id="rId8"/>
    <p:sldId id="268" r:id="rId9"/>
    <p:sldId id="267" r:id="rId10"/>
    <p:sldId id="483" r:id="rId11"/>
    <p:sldId id="456" r:id="rId12"/>
    <p:sldId id="471" r:id="rId13"/>
    <p:sldId id="472" r:id="rId14"/>
    <p:sldId id="446" r:id="rId15"/>
    <p:sldId id="280" r:id="rId16"/>
    <p:sldId id="282" r:id="rId17"/>
    <p:sldId id="285" r:id="rId18"/>
    <p:sldId id="486" r:id="rId19"/>
    <p:sldId id="274" r:id="rId20"/>
    <p:sldId id="276" r:id="rId21"/>
    <p:sldId id="277" r:id="rId22"/>
    <p:sldId id="292" r:id="rId23"/>
    <p:sldId id="487" r:id="rId24"/>
    <p:sldId id="262" r:id="rId25"/>
    <p:sldId id="358" r:id="rId26"/>
    <p:sldId id="353" r:id="rId27"/>
    <p:sldId id="331" r:id="rId28"/>
    <p:sldId id="489" r:id="rId29"/>
    <p:sldId id="490" r:id="rId30"/>
    <p:sldId id="491" r:id="rId31"/>
    <p:sldId id="492" r:id="rId32"/>
    <p:sldId id="493" r:id="rId33"/>
    <p:sldId id="494" r:id="rId34"/>
    <p:sldId id="266" r:id="rId35"/>
    <p:sldId id="495" r:id="rId36"/>
    <p:sldId id="496" r:id="rId37"/>
    <p:sldId id="497" r:id="rId38"/>
    <p:sldId id="498" r:id="rId39"/>
    <p:sldId id="372" r:id="rId40"/>
    <p:sldId id="373" r:id="rId41"/>
    <p:sldId id="499" r:id="rId42"/>
    <p:sldId id="275" r:id="rId43"/>
    <p:sldId id="500"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11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93"/>
    <p:restoredTop sz="94737"/>
  </p:normalViewPr>
  <p:slideViewPr>
    <p:cSldViewPr snapToGrid="0" snapToObjects="1">
      <p:cViewPr varScale="1">
        <p:scale>
          <a:sx n="102" d="100"/>
          <a:sy n="102" d="100"/>
        </p:scale>
        <p:origin x="976" y="184"/>
      </p:cViewPr>
      <p:guideLst>
        <p:guide orient="horz" pos="2160"/>
        <p:guide pos="3840"/>
      </p:guideLst>
    </p:cSldViewPr>
  </p:slideViewPr>
  <p:notesTextViewPr>
    <p:cViewPr>
      <p:scale>
        <a:sx n="100" d="100"/>
        <a:sy n="100" d="100"/>
      </p:scale>
      <p:origin x="0" y="0"/>
    </p:cViewPr>
  </p:notesTextViewPr>
  <p:notesViewPr>
    <p:cSldViewPr snapToGrid="0" snapToObjects="1">
      <p:cViewPr varScale="1">
        <p:scale>
          <a:sx n="118" d="100"/>
          <a:sy n="118" d="100"/>
        </p:scale>
        <p:origin x="5160"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94C10E31-8CF3-4843-8CA8-4D80C37B2FA3}" type="datetimeFigureOut">
              <a:rPr lang="he-IL" smtClean="0"/>
              <a:t>ו'.אייר.תשפ"ו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0822AE0F-FD37-5247-80F6-04E68FF9E213}" type="slidenum">
              <a:rPr lang="he-IL" smtClean="0"/>
              <a:t>‹#›</a:t>
            </a:fld>
            <a:endParaRPr lang="he-IL"/>
          </a:p>
        </p:txBody>
      </p:sp>
    </p:spTree>
    <p:extLst>
      <p:ext uri="{BB962C8B-B14F-4D97-AF65-F5344CB8AC3E}">
        <p14:creationId xmlns:p14="http://schemas.microsoft.com/office/powerpoint/2010/main" val="355398560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10</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pPr marL="0" algn="l" defTabSz="914400" rtl="0" eaLnBrk="1" latinLnBrk="0" hangingPunct="1"/>
            <a:endParaRPr lang="en-IL" altLang="en-IL"/>
          </a:p>
        </p:txBody>
      </p:sp>
    </p:spTree>
    <p:extLst>
      <p:ext uri="{BB962C8B-B14F-4D97-AF65-F5344CB8AC3E}">
        <p14:creationId xmlns:p14="http://schemas.microsoft.com/office/powerpoint/2010/main" val="1582006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11</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2531021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12</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503603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13</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914033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14</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4285667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0763450D-99CE-C24A-8D8D-B8CA56C5CC4E}"/>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E1D7C4A-BC49-1A48-BD91-C46D6C619243}" type="slidenum">
              <a:rPr lang="en-US" altLang="en-GB" sz="1200"/>
              <a:pPr/>
              <a:t>25</a:t>
            </a:fld>
            <a:endParaRPr lang="en-US" altLang="en-GB" sz="1200"/>
          </a:p>
        </p:txBody>
      </p:sp>
      <p:sp>
        <p:nvSpPr>
          <p:cNvPr id="41987" name="Rectangle 2">
            <a:extLst>
              <a:ext uri="{FF2B5EF4-FFF2-40B4-BE49-F238E27FC236}">
                <a16:creationId xmlns:a16="http://schemas.microsoft.com/office/drawing/2014/main" id="{03FBB1CD-983F-A146-BC0C-9A9AC7F59C98}"/>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EB98BAC9-F51A-D245-8B1F-7F8D533450FA}"/>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94298DF5-F7A9-D548-A1AD-F7F07AFC4A50}"/>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0EBF4B6-2F2D-F74A-A95D-51E194C16FF9}" type="slidenum">
              <a:rPr lang="en-US" altLang="en-GB" sz="1200"/>
              <a:pPr/>
              <a:t>26</a:t>
            </a:fld>
            <a:endParaRPr lang="en-US" altLang="en-GB" sz="1200"/>
          </a:p>
        </p:txBody>
      </p:sp>
      <p:sp>
        <p:nvSpPr>
          <p:cNvPr id="44035" name="Rectangle 2">
            <a:extLst>
              <a:ext uri="{FF2B5EF4-FFF2-40B4-BE49-F238E27FC236}">
                <a16:creationId xmlns:a16="http://schemas.microsoft.com/office/drawing/2014/main" id="{561F36E8-F8FA-4045-800D-B491CE196EA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38266394-61EA-2442-9EFD-EF422C450F19}"/>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algn="l" defTabSz="914400" rtl="0" eaLnBrk="1" latinLnBrk="0" hangingPunct="1"/>
            <a:endParaRPr lang="he-IL" dirty="0"/>
          </a:p>
        </p:txBody>
      </p:sp>
      <p:sp>
        <p:nvSpPr>
          <p:cNvPr id="4" name="מציין מיקום של מספר שקופית 3"/>
          <p:cNvSpPr>
            <a:spLocks noGrp="1"/>
          </p:cNvSpPr>
          <p:nvPr>
            <p:ph type="sldNum" sz="quarter" idx="5"/>
          </p:nvPr>
        </p:nvSpPr>
        <p:spPr/>
        <p:txBody>
          <a:bodyPr/>
          <a:lstStyle/>
          <a:p>
            <a:fld id="{DE555C55-3E82-AD4D-8F16-F9B28D7295B4}" type="slidenum">
              <a:rPr lang="he-IL" smtClean="0"/>
              <a:t>33</a:t>
            </a:fld>
            <a:endParaRPr lang="he-IL"/>
          </a:p>
        </p:txBody>
      </p:sp>
    </p:spTree>
    <p:extLst>
      <p:ext uri="{BB962C8B-B14F-4D97-AF65-F5344CB8AC3E}">
        <p14:creationId xmlns:p14="http://schemas.microsoft.com/office/powerpoint/2010/main" val="4202703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1CDFDA5-DCFC-4A4A-8BCA-ABB491A4B42F}"/>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3AB671E-96EA-4049-B2E5-E68D970123E5}" type="slidenum">
              <a:rPr lang="en-US" altLang="en-GB" sz="1200"/>
              <a:pPr/>
              <a:t>37</a:t>
            </a:fld>
            <a:endParaRPr lang="en-US" altLang="en-GB" sz="1200"/>
          </a:p>
        </p:txBody>
      </p:sp>
      <p:sp>
        <p:nvSpPr>
          <p:cNvPr id="50179" name="Rectangle 2">
            <a:extLst>
              <a:ext uri="{FF2B5EF4-FFF2-40B4-BE49-F238E27FC236}">
                <a16:creationId xmlns:a16="http://schemas.microsoft.com/office/drawing/2014/main" id="{6EBC1370-E741-ED4E-A2ED-E7CE70C705F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0" name="Rectangle 3">
            <a:extLst>
              <a:ext uri="{FF2B5EF4-FFF2-40B4-BE49-F238E27FC236}">
                <a16:creationId xmlns:a16="http://schemas.microsoft.com/office/drawing/2014/main" id="{D4769A82-938F-774E-B9E5-B29BB970C6C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GB" sz="1000" i="1"/>
              <a:t>7</a:t>
            </a:r>
          </a:p>
        </p:txBody>
      </p:sp>
      <p:sp>
        <p:nvSpPr>
          <p:cNvPr id="50181" name="Rectangle 4">
            <a:extLst>
              <a:ext uri="{FF2B5EF4-FFF2-40B4-BE49-F238E27FC236}">
                <a16:creationId xmlns:a16="http://schemas.microsoft.com/office/drawing/2014/main" id="{6947D6EA-40E8-0142-B9D4-7038C98C4ED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2" name="Rectangle 5">
            <a:extLst>
              <a:ext uri="{FF2B5EF4-FFF2-40B4-BE49-F238E27FC236}">
                <a16:creationId xmlns:a16="http://schemas.microsoft.com/office/drawing/2014/main" id="{759CD8AB-77B5-E949-83BF-6E2171C6CB0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3" name="Rectangle 6">
            <a:extLst>
              <a:ext uri="{FF2B5EF4-FFF2-40B4-BE49-F238E27FC236}">
                <a16:creationId xmlns:a16="http://schemas.microsoft.com/office/drawing/2014/main" id="{E691DAB9-D0DC-9D48-BE83-7A083766C85E}"/>
              </a:ext>
            </a:extLst>
          </p:cNvPr>
          <p:cNvSpPr>
            <a:spLocks noGrp="1" noChangeArrowheads="1"/>
          </p:cNvSpPr>
          <p:nvPr>
            <p:ph type="body" idx="1"/>
          </p:nvPr>
        </p:nvSpPr>
        <p:spPr>
          <a:noFill/>
        </p:spPr>
        <p:txBody>
          <a:bodyPr lIns="92075" tIns="46037" rIns="92075" bIns="46037"/>
          <a:lstStyle/>
          <a:p>
            <a:r>
              <a:rPr lang="en-GB" altLang="en-GB"/>
              <a:t>The Star is built for simplicity and speed. Forget everything you learned about designing relational databases. The Star Schema makes no excuses for the rules it breaks. The assumption behind it is that the database is static or ìquiet,î meaning that no updates are performed on-line. </a:t>
            </a:r>
          </a:p>
          <a:p>
            <a:r>
              <a:rPr lang="en-GB" altLang="en-GB"/>
              <a:t>Remember that most of the rules of relational database design are derived from the need to maintain atomicity, consistency and integrity (the ìACIDî test) in an On-Line Transaction Processing (OLTP) environment. Since the data warehouse is quiet, these constraints can be relaxed.</a:t>
            </a:r>
          </a:p>
          <a:p>
            <a:endParaRPr lang="en-GB" altLang="en-GB"/>
          </a:p>
          <a:p>
            <a:r>
              <a:rPr lang="en-GB" altLang="en-GB"/>
              <a:t> </a:t>
            </a:r>
          </a:p>
        </p:txBody>
      </p:sp>
      <p:sp>
        <p:nvSpPr>
          <p:cNvPr id="50184" name="Rectangle 7">
            <a:extLst>
              <a:ext uri="{FF2B5EF4-FFF2-40B4-BE49-F238E27FC236}">
                <a16:creationId xmlns:a16="http://schemas.microsoft.com/office/drawing/2014/main" id="{28AADC1E-C967-8346-8A95-4564CE9DFF2E}"/>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985960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0264EBC8-64C4-524C-8295-6DF8A9DA0EF9}"/>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1CCC9D1-262D-6944-A51C-27747F684BC7}" type="slidenum">
              <a:rPr lang="en-US" altLang="en-GB" sz="1200"/>
              <a:pPr/>
              <a:t>39</a:t>
            </a:fld>
            <a:endParaRPr lang="en-US" altLang="en-GB" sz="1200"/>
          </a:p>
        </p:txBody>
      </p:sp>
      <p:sp>
        <p:nvSpPr>
          <p:cNvPr id="57347" name="Rectangle 2">
            <a:extLst>
              <a:ext uri="{FF2B5EF4-FFF2-40B4-BE49-F238E27FC236}">
                <a16:creationId xmlns:a16="http://schemas.microsoft.com/office/drawing/2014/main" id="{F9096E6D-03EF-3F49-8E29-2ED62C5D6CFE}"/>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D8FED176-4817-5446-B6A4-438A37FB2A1F}"/>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37042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6FAEADCC-AC9C-7748-B87A-F70A2B3AED25}"/>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5E2680B-58F3-2747-9061-778F0121826A}" type="slidenum">
              <a:rPr lang="en-US" altLang="en-GB" sz="1200"/>
              <a:pPr/>
              <a:t>40</a:t>
            </a:fld>
            <a:endParaRPr lang="en-US" altLang="en-GB" sz="1200"/>
          </a:p>
        </p:txBody>
      </p:sp>
      <p:sp>
        <p:nvSpPr>
          <p:cNvPr id="58371" name="Rectangle 2">
            <a:extLst>
              <a:ext uri="{FF2B5EF4-FFF2-40B4-BE49-F238E27FC236}">
                <a16:creationId xmlns:a16="http://schemas.microsoft.com/office/drawing/2014/main" id="{E6B1D164-0948-CC4C-908B-3A909A5E25AD}"/>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3B198510-6FA9-D641-B385-1075C01C0BFD}"/>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888104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26"/>
            <a:ext cx="10363200" cy="1470025"/>
          </a:xfrm>
        </p:spPr>
        <p:txBody>
          <a:bodyPr/>
          <a:lstStyle>
            <a:lvl1pPr>
              <a:defRPr sz="4200"/>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3964B5F-BAD9-9946-9D71-AB5C763DA70C}" type="datetime9">
              <a:rPr lang="he-IL" smtClean="0"/>
              <a:t>23 אפריל,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400" b="1"/>
            </a:lvl1pPr>
          </a:lstStyle>
          <a:p>
            <a:r>
              <a:rPr lang="en-US" dirty="0"/>
              <a:t>Click to edit Master title style</a:t>
            </a:r>
          </a:p>
        </p:txBody>
      </p:sp>
      <p:sp>
        <p:nvSpPr>
          <p:cNvPr id="3" name="Content Placeholder 2"/>
          <p:cNvSpPr>
            <a:spLocks noGrp="1"/>
          </p:cNvSpPr>
          <p:nvPr>
            <p:ph idx="1" hasCustomPrompt="1"/>
          </p:nvPr>
        </p:nvSpPr>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9E1EEA0-9609-584F-90F2-46E4F93E52CD}" type="datetime9">
              <a:rPr lang="he-IL" smtClean="0"/>
              <a:t>23 אפריל,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CA6A5E-CA21-6B4F-9DE7-1A275F321E49}" type="datetime9">
              <a:rPr lang="he-IL" smtClean="0"/>
              <a:t>23 אפריל,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3" name="Title 1">
            <a:extLst>
              <a:ext uri="{FF2B5EF4-FFF2-40B4-BE49-F238E27FC236}">
                <a16:creationId xmlns:a16="http://schemas.microsoft.com/office/drawing/2014/main" id="{129F15AE-737D-866E-3CF2-D0120AD833A4}"/>
              </a:ext>
            </a:extLst>
          </p:cNvPr>
          <p:cNvSpPr>
            <a:spLocks noGrp="1"/>
          </p:cNvSpPr>
          <p:nvPr>
            <p:ph type="ctrTitle" hasCustomPrompt="1"/>
          </p:nvPr>
        </p:nvSpPr>
        <p:spPr>
          <a:xfrm>
            <a:off x="914400" y="2130426"/>
            <a:ext cx="10363200" cy="1470025"/>
          </a:xfrm>
        </p:spPr>
        <p:txBody>
          <a:bodyPr/>
          <a:lstStyle>
            <a:lvl1pPr>
              <a:defRPr sz="4200"/>
            </a:lvl1pPr>
          </a:lstStyle>
          <a:p>
            <a:r>
              <a:rPr lang="en-US" dirty="0"/>
              <a:t>Click to edit Master title style</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56840" y="1600201"/>
            <a:ext cx="660142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717894" y="2569580"/>
            <a:ext cx="5864506" cy="35565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AE3C6960-90E0-EA41-937B-E68D4C6A0841}" type="datetime9">
              <a:rPr lang="he-IL" smtClean="0"/>
              <a:t>23 אפריל,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CAE1C8-A9FA-924F-80DA-3B96C0343AF4}" type="datetime9">
              <a:rPr lang="he-IL" smtClean="0"/>
              <a:t>23 אפריל, 2026</a:t>
            </a:fld>
            <a:endParaRPr lang="en-US"/>
          </a:p>
        </p:txBody>
      </p:sp>
      <p:sp>
        <p:nvSpPr>
          <p:cNvPr id="8" name="Footer Placeholder 7"/>
          <p:cNvSpPr>
            <a:spLocks noGrp="1"/>
          </p:cNvSpPr>
          <p:nvPr>
            <p:ph type="ftr" sz="quarter" idx="11"/>
          </p:nvPr>
        </p:nvSpPr>
        <p:spPr/>
        <p:txBody>
          <a:bodyPr/>
          <a:lstStyle/>
          <a:p>
            <a:r>
              <a:rPr lang="en-US"/>
              <a:t>Or Peretz</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DC92AE4-510D-3C40-B9B0-AA6693EED883}" type="datetime9">
              <a:rPr lang="he-IL" smtClean="0"/>
              <a:t>23 אפריל, 2026</a:t>
            </a:fld>
            <a:endParaRPr lang="en-US"/>
          </a:p>
        </p:txBody>
      </p:sp>
      <p:sp>
        <p:nvSpPr>
          <p:cNvPr id="4" name="Footer Placeholder 3"/>
          <p:cNvSpPr>
            <a:spLocks noGrp="1"/>
          </p:cNvSpPr>
          <p:nvPr>
            <p:ph type="ftr" sz="quarter" idx="11"/>
          </p:nvPr>
        </p:nvSpPr>
        <p:spPr/>
        <p:txBody>
          <a:bodyPr/>
          <a:lstStyle/>
          <a:p>
            <a:r>
              <a:rPr lang="en-US"/>
              <a:t>Or Peretz</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6" name="Content Placeholder 2">
            <a:extLst>
              <a:ext uri="{FF2B5EF4-FFF2-40B4-BE49-F238E27FC236}">
                <a16:creationId xmlns:a16="http://schemas.microsoft.com/office/drawing/2014/main" id="{E1D8F28D-D1D2-34A5-D88A-549DD7AD701A}"/>
              </a:ext>
            </a:extLst>
          </p:cNvPr>
          <p:cNvSpPr>
            <a:spLocks noGrp="1"/>
          </p:cNvSpPr>
          <p:nvPr>
            <p:ph idx="1" hasCustomPrompt="1"/>
          </p:nvPr>
        </p:nvSpPr>
        <p:spPr>
          <a:xfrm>
            <a:off x="946768" y="1600201"/>
            <a:ext cx="10635632"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C5D179-4B48-7641-AFA1-4656153FFCB8}" type="datetime9">
              <a:rPr lang="he-IL" smtClean="0"/>
              <a:t>23 אפריל, 2026</a:t>
            </a:fld>
            <a:endParaRPr lang="en-US"/>
          </a:p>
        </p:txBody>
      </p:sp>
      <p:sp>
        <p:nvSpPr>
          <p:cNvPr id="3" name="Footer Placeholder 2"/>
          <p:cNvSpPr>
            <a:spLocks noGrp="1"/>
          </p:cNvSpPr>
          <p:nvPr>
            <p:ph type="ftr" sz="quarter" idx="11"/>
          </p:nvPr>
        </p:nvSpPr>
        <p:spPr/>
        <p:txBody>
          <a:bodyPr/>
          <a:lstStyle/>
          <a:p>
            <a:r>
              <a:rPr lang="en-US"/>
              <a:t>Or Peretz</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5" name="Content Placeholder 2">
            <a:extLst>
              <a:ext uri="{FF2B5EF4-FFF2-40B4-BE49-F238E27FC236}">
                <a16:creationId xmlns:a16="http://schemas.microsoft.com/office/drawing/2014/main" id="{3F1439EE-8346-69C4-2D2A-C45C952E131C}"/>
              </a:ext>
            </a:extLst>
          </p:cNvPr>
          <p:cNvSpPr>
            <a:spLocks noGrp="1"/>
          </p:cNvSpPr>
          <p:nvPr>
            <p:ph idx="1" hasCustomPrompt="1"/>
          </p:nvPr>
        </p:nvSpPr>
        <p:spPr>
          <a:xfrm>
            <a:off x="946768" y="1600201"/>
            <a:ext cx="10635632"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2D96A8D-C7E4-194A-BF0A-D552B24EBF94}" type="datetime9">
              <a:rPr lang="he-IL" smtClean="0"/>
              <a:t>23 אפריל,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r>
              <a:rPr lang="en-US"/>
              <a:t>Click to edit Master title style</a:t>
            </a:r>
          </a:p>
        </p:txBody>
      </p:sp>
      <p:sp>
        <p:nvSpPr>
          <p:cNvPr id="2" name="Content Placeholder 2">
            <a:extLst>
              <a:ext uri="{FF2B5EF4-FFF2-40B4-BE49-F238E27FC236}">
                <a16:creationId xmlns:a16="http://schemas.microsoft.com/office/drawing/2014/main" id="{63E56AFE-36F7-8DA5-652B-89A25DA319A7}"/>
              </a:ext>
            </a:extLst>
          </p:cNvPr>
          <p:cNvSpPr>
            <a:spLocks noGrp="1"/>
          </p:cNvSpPr>
          <p:nvPr>
            <p:ph idx="1" hasCustomPrompt="1"/>
          </p:nvPr>
        </p:nvSpPr>
        <p:spPr>
          <a:xfrm>
            <a:off x="3957403" y="1417638"/>
            <a:ext cx="7624997" cy="4357028"/>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a:xfrm>
            <a:off x="965200" y="1417638"/>
            <a:ext cx="2844801" cy="4357028"/>
          </a:xfrm>
        </p:spPr>
        <p:txBody>
          <a:bodyPr/>
          <a:lstStyle>
            <a:lvl1pPr marL="0" indent="0">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2B2D52-0D9F-F345-8384-0DCA30BF1F04}" type="datetime9">
              <a:rPr lang="he-IL" smtClean="0"/>
              <a:t>23 אפריל,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44ED6-1944-D14D-91B5-FC6036DE393D}" type="datetime9">
              <a:rPr lang="he-IL" smtClean="0"/>
              <a:t>23 אפריל,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268E4D-FFEC-474C-BD1C-299FD021CBA4}" type="datetime9">
              <a:rPr lang="he-IL" smtClean="0"/>
              <a:t>23 אפריל,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896829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14DB5-C319-EF41-9B8F-A436AF5D3376}"/>
              </a:ext>
            </a:extLst>
          </p:cNvPr>
          <p:cNvSpPr>
            <a:spLocks noGrp="1"/>
          </p:cNvSpPr>
          <p:nvPr>
            <p:ph type="title"/>
          </p:nvPr>
        </p:nvSpPr>
        <p:spPr>
          <a:xfrm>
            <a:off x="1727200" y="0"/>
            <a:ext cx="10160000" cy="914400"/>
          </a:xfrm>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E3B9A124-8850-9E4F-BD09-A71A95B8D74E}"/>
              </a:ext>
            </a:extLst>
          </p:cNvPr>
          <p:cNvSpPr>
            <a:spLocks noGrp="1"/>
          </p:cNvSpPr>
          <p:nvPr>
            <p:ph sz="half" idx="1"/>
          </p:nvPr>
        </p:nvSpPr>
        <p:spPr>
          <a:xfrm>
            <a:off x="1727200" y="1295400"/>
            <a:ext cx="49784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2C0A9C8-041F-5F48-A71C-C6E540591858}"/>
              </a:ext>
            </a:extLst>
          </p:cNvPr>
          <p:cNvSpPr>
            <a:spLocks noGrp="1"/>
          </p:cNvSpPr>
          <p:nvPr>
            <p:ph type="body" sz="half" idx="2"/>
          </p:nvPr>
        </p:nvSpPr>
        <p:spPr>
          <a:xfrm>
            <a:off x="6908800" y="1295400"/>
            <a:ext cx="49784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E23439D7-70D0-9548-869A-6A40060A1A75}"/>
              </a:ext>
            </a:extLst>
          </p:cNvPr>
          <p:cNvSpPr>
            <a:spLocks noGrp="1"/>
          </p:cNvSpPr>
          <p:nvPr>
            <p:ph type="ftr" sz="quarter" idx="10"/>
          </p:nvPr>
        </p:nvSpPr>
        <p:spPr>
          <a:xfrm>
            <a:off x="1016000" y="6477000"/>
            <a:ext cx="3860800" cy="381000"/>
          </a:xfrm>
        </p:spPr>
        <p:txBody>
          <a:bodyPr/>
          <a:lstStyle>
            <a:lvl1pPr>
              <a:defRPr/>
            </a:lvl1pPr>
          </a:lstStyle>
          <a:p>
            <a:r>
              <a:rPr lang="en-US" altLang="en-US"/>
              <a:t>Or Peretz</a:t>
            </a:r>
          </a:p>
        </p:txBody>
      </p:sp>
      <p:sp>
        <p:nvSpPr>
          <p:cNvPr id="6" name="Slide Number Placeholder 5">
            <a:extLst>
              <a:ext uri="{FF2B5EF4-FFF2-40B4-BE49-F238E27FC236}">
                <a16:creationId xmlns:a16="http://schemas.microsoft.com/office/drawing/2014/main" id="{1FD563C8-AF6F-0E44-82C4-BCAC1D43B12F}"/>
              </a:ext>
            </a:extLst>
          </p:cNvPr>
          <p:cNvSpPr>
            <a:spLocks noGrp="1"/>
          </p:cNvSpPr>
          <p:nvPr>
            <p:ph type="sldNum" sz="quarter" idx="11"/>
          </p:nvPr>
        </p:nvSpPr>
        <p:spPr>
          <a:xfrm>
            <a:off x="10160000" y="6477000"/>
            <a:ext cx="2032000" cy="381000"/>
          </a:xfrm>
        </p:spPr>
        <p:txBody>
          <a:bodyPr/>
          <a:lstStyle>
            <a:lvl1pPr>
              <a:defRPr/>
            </a:lvl1pPr>
          </a:lstStyle>
          <a:p>
            <a:endParaRPr lang="en-US" altLang="en-US"/>
          </a:p>
        </p:txBody>
      </p:sp>
    </p:spTree>
    <p:extLst>
      <p:ext uri="{BB962C8B-B14F-4D97-AF65-F5344CB8AC3E}">
        <p14:creationId xmlns:p14="http://schemas.microsoft.com/office/powerpoint/2010/main" val="266889795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oundRect">
            <a:avLst/>
          </a:prstGeom>
          <a:ln w="12700">
            <a:solidFill>
              <a:schemeClr val="accent2"/>
            </a:solidFill>
            <a:extLst>
              <a:ext uri="{C807C97D-BFC1-408E-A445-0C87EB9F89A2}">
                <ask:lineSketchStyleProps xmlns:ask="http://schemas.microsoft.com/office/drawing/2018/sketchyshapes" sd="1219033472">
                  <a:custGeom>
                    <a:avLst/>
                    <a:gdLst>
                      <a:gd name="csX0" fmla="*/ 0 w 10972800"/>
                      <a:gd name="csY0" fmla="*/ 0 h 1143000"/>
                      <a:gd name="csX1" fmla="*/ 10972800 w 10972800"/>
                      <a:gd name="csY1" fmla="*/ 0 h 1143000"/>
                      <a:gd name="csX2" fmla="*/ 10972800 w 10972800"/>
                      <a:gd name="csY2" fmla="*/ 1143000 h 1143000"/>
                      <a:gd name="csX3" fmla="*/ 0 w 10972800"/>
                      <a:gd name="csY3" fmla="*/ 1143000 h 1143000"/>
                      <a:gd name="csX4" fmla="*/ 0 w 10972800"/>
                      <a:gd name="csY4" fmla="*/ 0 h 1143000"/>
                    </a:gdLst>
                    <a:ahLst/>
                    <a:cxnLst>
                      <a:cxn ang="0">
                        <a:pos x="csX0" y="csY0"/>
                      </a:cxn>
                      <a:cxn ang="0">
                        <a:pos x="csX1" y="csY1"/>
                      </a:cxn>
                      <a:cxn ang="0">
                        <a:pos x="csX2" y="csY2"/>
                      </a:cxn>
                      <a:cxn ang="0">
                        <a:pos x="csX3" y="csY3"/>
                      </a:cxn>
                      <a:cxn ang="0">
                        <a:pos x="csX4" y="csY4"/>
                      </a:cxn>
                    </a:cxnLst>
                    <a:rect l="l" t="t" r="r" b="b"/>
                    <a:pathLst>
                      <a:path w="10972800" h="1143000" fill="none" extrusionOk="0">
                        <a:moveTo>
                          <a:pt x="0" y="0"/>
                        </a:moveTo>
                        <a:cubicBezTo>
                          <a:pt x="4674310" y="-49533"/>
                          <a:pt x="6929254" y="-14809"/>
                          <a:pt x="10972800" y="0"/>
                        </a:cubicBezTo>
                        <a:cubicBezTo>
                          <a:pt x="10969069" y="570730"/>
                          <a:pt x="11062171" y="914526"/>
                          <a:pt x="10972800" y="1143000"/>
                        </a:cubicBezTo>
                        <a:cubicBezTo>
                          <a:pt x="6482996" y="1094769"/>
                          <a:pt x="3552735" y="1227455"/>
                          <a:pt x="0" y="1143000"/>
                        </a:cubicBezTo>
                        <a:cubicBezTo>
                          <a:pt x="69309" y="672287"/>
                          <a:pt x="-28229" y="279082"/>
                          <a:pt x="0" y="0"/>
                        </a:cubicBezTo>
                        <a:close/>
                      </a:path>
                      <a:path w="10972800" h="1143000" stroke="0" extrusionOk="0">
                        <a:moveTo>
                          <a:pt x="0" y="0"/>
                        </a:moveTo>
                        <a:cubicBezTo>
                          <a:pt x="3528079" y="118645"/>
                          <a:pt x="9610931" y="116012"/>
                          <a:pt x="10972800" y="0"/>
                        </a:cubicBezTo>
                        <a:cubicBezTo>
                          <a:pt x="11055528" y="134374"/>
                          <a:pt x="10882381" y="1028043"/>
                          <a:pt x="10972800" y="1143000"/>
                        </a:cubicBezTo>
                        <a:cubicBezTo>
                          <a:pt x="8799093" y="1277600"/>
                          <a:pt x="3316512" y="985804"/>
                          <a:pt x="0" y="1143000"/>
                        </a:cubicBezTo>
                        <a:cubicBezTo>
                          <a:pt x="94203" y="956839"/>
                          <a:pt x="-18710" y="289479"/>
                          <a:pt x="0" y="0"/>
                        </a:cubicBezTo>
                        <a:close/>
                      </a:path>
                    </a:pathLst>
                  </a:custGeom>
                  <ask:type>
                    <ask:lineSketchNone/>
                  </ask:type>
                </ask:lineSketchStyleProps>
              </a:ext>
            </a:extLst>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46768" y="1600201"/>
            <a:ext cx="10635632"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A9E24A-D52C-CB4E-85D6-C52415601A2A}" type="datetime9">
              <a:rPr lang="he-IL" smtClean="0"/>
              <a:t>23 אפריל, 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Freeform 6">
            <a:extLst>
              <a:ext uri="{FF2B5EF4-FFF2-40B4-BE49-F238E27FC236}">
                <a16:creationId xmlns:a16="http://schemas.microsoft.com/office/drawing/2014/main" id="{9E54F053-C5B3-FA53-FB24-F76EBC23E5F7}"/>
              </a:ext>
            </a:extLst>
          </p:cNvPr>
          <p:cNvSpPr/>
          <p:nvPr/>
        </p:nvSpPr>
        <p:spPr>
          <a:xfrm>
            <a:off x="10492509" y="-832013"/>
            <a:ext cx="5901557" cy="769001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941100">
                <a:alpha val="44000"/>
              </a:srgbClr>
            </a:solidFill>
            <a:prstDash val="solid"/>
            <a:miter/>
          </a:ln>
        </p:spPr>
        <p:txBody>
          <a:bodyPr/>
          <a:lstStyle/>
          <a:p>
            <a:endParaRPr lang="en-IL"/>
          </a:p>
        </p:txBody>
      </p:sp>
      <p:sp>
        <p:nvSpPr>
          <p:cNvPr id="12" name="Freeform 20">
            <a:extLst>
              <a:ext uri="{FF2B5EF4-FFF2-40B4-BE49-F238E27FC236}">
                <a16:creationId xmlns:a16="http://schemas.microsoft.com/office/drawing/2014/main" id="{C6ADFD82-3296-8C7F-2ACC-D8399785AC79}"/>
              </a:ext>
            </a:extLst>
          </p:cNvPr>
          <p:cNvSpPr/>
          <p:nvPr/>
        </p:nvSpPr>
        <p:spPr>
          <a:xfrm>
            <a:off x="-6720016" y="-1088358"/>
            <a:ext cx="7329616" cy="732961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941100">
                <a:alpha val="17929"/>
              </a:srgbClr>
            </a:solidFill>
            <a:prstDash val="solid"/>
            <a:miter/>
          </a:ln>
        </p:spPr>
        <p:txBody>
          <a:bodyPr/>
          <a:lstStyle/>
          <a:p>
            <a:endParaRPr lang="en-IL" sz="933"/>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ctr" defTabSz="457200" rtl="0" eaLnBrk="1" latinLnBrk="0" hangingPunct="1">
        <a:spcBef>
          <a:spcPct val="0"/>
        </a:spcBef>
        <a:buNone/>
        <a:defRPr sz="3400" b="1" kern="1200">
          <a:solidFill>
            <a:schemeClr val="tx1"/>
          </a:solidFill>
          <a:latin typeface="+mj-lt"/>
          <a:ea typeface="+mj-ea"/>
          <a:cs typeface="+mj-cs"/>
        </a:defRPr>
      </a:lvl1pPr>
    </p:titleStyle>
    <p:bodyStyle>
      <a:lvl1pPr marL="342900" indent="-342900" algn="l" defTabSz="457200" rtl="0" eaLnBrk="1" latinLnBrk="0" hangingPunct="1">
        <a:lnSpc>
          <a:spcPct val="130000"/>
        </a:lnSpc>
        <a:spcBef>
          <a:spcPts val="0"/>
        </a:spcBef>
        <a:buFont typeface="Arial"/>
        <a:buChar char="•"/>
        <a:defRPr sz="2800" kern="1200">
          <a:solidFill>
            <a:schemeClr val="tx1"/>
          </a:solidFill>
          <a:latin typeface="+mn-lt"/>
          <a:ea typeface="+mn-ea"/>
          <a:cs typeface="+mn-cs"/>
        </a:defRPr>
      </a:lvl1pPr>
      <a:lvl2pPr marL="742950" indent="-285750" algn="l" defTabSz="457200" rtl="0" eaLnBrk="1" latinLnBrk="0" hangingPunct="1">
        <a:lnSpc>
          <a:spcPct val="130000"/>
        </a:lnSpc>
        <a:spcBef>
          <a:spcPts val="0"/>
        </a:spcBef>
        <a:buFont typeface="Arial"/>
        <a:buChar char="–"/>
        <a:defRPr sz="2400" kern="1200">
          <a:solidFill>
            <a:schemeClr val="tx1"/>
          </a:solidFill>
          <a:latin typeface="+mn-lt"/>
          <a:ea typeface="+mn-ea"/>
          <a:cs typeface="+mn-cs"/>
        </a:defRPr>
      </a:lvl2pPr>
      <a:lvl3pPr marL="1143000" indent="-228600" algn="l" defTabSz="457200" rtl="0" eaLnBrk="1" latinLnBrk="0" hangingPunct="1">
        <a:lnSpc>
          <a:spcPct val="130000"/>
        </a:lnSpc>
        <a:spcBef>
          <a:spcPts val="0"/>
        </a:spcBef>
        <a:buFont typeface="Arial"/>
        <a:buChar char="•"/>
        <a:defRPr sz="2000" kern="1200">
          <a:solidFill>
            <a:schemeClr val="tx1"/>
          </a:solidFill>
          <a:latin typeface="+mn-lt"/>
          <a:ea typeface="+mn-ea"/>
          <a:cs typeface="+mn-cs"/>
        </a:defRPr>
      </a:lvl3pPr>
      <a:lvl4pPr marL="1600200" indent="-228600" algn="l" defTabSz="457200" rtl="0" eaLnBrk="1" latinLnBrk="0" hangingPunct="1">
        <a:lnSpc>
          <a:spcPct val="130000"/>
        </a:lnSpc>
        <a:spcBef>
          <a:spcPts val="0"/>
        </a:spcBef>
        <a:buFont typeface="Arial"/>
        <a:buChar char="–"/>
        <a:defRPr sz="1800" kern="1200">
          <a:solidFill>
            <a:schemeClr val="tx1"/>
          </a:solidFill>
          <a:latin typeface="+mn-lt"/>
          <a:ea typeface="+mn-ea"/>
          <a:cs typeface="+mn-cs"/>
        </a:defRPr>
      </a:lvl4pPr>
      <a:lvl5pPr marL="2057400" indent="-228600" algn="l" defTabSz="457200" rtl="0" eaLnBrk="1" latinLnBrk="0" hangingPunct="1">
        <a:lnSpc>
          <a:spcPct val="130000"/>
        </a:lnSpc>
        <a:spcBef>
          <a:spcPts val="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9F15AE-737D-866E-3CF2-D0120AD833A4}"/>
              </a:ext>
            </a:extLst>
          </p:cNvPr>
          <p:cNvSpPr>
            <a:spLocks noGrp="1"/>
          </p:cNvSpPr>
          <p:nvPr>
            <p:ph type="ctrTitle" hasCustomPrompt="1"/>
          </p:nvPr>
        </p:nvSpPr>
        <p:spPr>
          <a:xfrm>
            <a:off x="914400" y="2130426"/>
            <a:ext cx="10363200" cy="1470025"/>
          </a:xfrm>
        </p:spPr>
        <p:txBody>
          <a:bodyPr/>
          <a:lstStyle/>
          <a:p>
            <a:pPr marL="0" lvl="0" indent="0">
              <a:buNone/>
            </a:pPr>
            <a:r>
              <a:rPr dirty="0"/>
              <a:t>DWH + ETL </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Why This Topic Is Critical</a:t>
            </a:r>
          </a:p>
        </p:txBody>
      </p:sp>
      <p:sp>
        <p:nvSpPr>
          <p:cNvPr id="3" name="Content Placeholder 2"/>
          <p:cNvSpPr>
            <a:spLocks noGrp="1"/>
          </p:cNvSpPr>
          <p:nvPr>
            <p:ph idx="1" hasCustomPrompt="1"/>
          </p:nvPr>
        </p:nvSpPr>
        <p:spPr/>
        <p:txBody>
          <a:bodyPr/>
          <a:lstStyle/>
          <a:p>
            <a:pPr lvl="0">
              <a:lnSpc>
                <a:spcPct val="150000"/>
              </a:lnSpc>
            </a:pPr>
            <a:r>
              <a:rPr dirty="0"/>
              <a:t>Most BI outages begin in ingestion, not dashboards</a:t>
            </a:r>
          </a:p>
          <a:p>
            <a:pPr lvl="0">
              <a:lnSpc>
                <a:spcPct val="150000"/>
              </a:lnSpc>
            </a:pPr>
            <a:r>
              <a:rPr dirty="0"/>
              <a:t>Small ingestion bugs create silent KPI drift</a:t>
            </a:r>
          </a:p>
          <a:p>
            <a:pPr lvl="0">
              <a:lnSpc>
                <a:spcPct val="150000"/>
              </a:lnSpc>
            </a:pPr>
            <a:r>
              <a:rPr dirty="0"/>
              <a:t>Source systems change faster than analytics models</a:t>
            </a:r>
          </a:p>
          <a:p>
            <a:pPr lvl="0">
              <a:lnSpc>
                <a:spcPct val="150000"/>
              </a:lnSpc>
            </a:pPr>
            <a:r>
              <a:rPr dirty="0"/>
              <a:t>Reliability requires explicit policies, not assumptions</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Incident: Revenue Doubled After Rerun</a:t>
            </a:r>
          </a:p>
        </p:txBody>
      </p:sp>
      <p:sp>
        <p:nvSpPr>
          <p:cNvPr id="3" name="Content Placeholder 2"/>
          <p:cNvSpPr>
            <a:spLocks noGrp="1"/>
          </p:cNvSpPr>
          <p:nvPr>
            <p:ph idx="1" hasCustomPrompt="1"/>
          </p:nvPr>
        </p:nvSpPr>
        <p:spPr/>
        <p:txBody>
          <a:bodyPr/>
          <a:lstStyle/>
          <a:p>
            <a:pPr lvl="0">
              <a:lnSpc>
                <a:spcPct val="150000"/>
              </a:lnSpc>
            </a:pPr>
            <a:r>
              <a:rPr dirty="0"/>
              <a:t>Nightly pipeline failed at 02:10 after loading 2 of 3 partitions</a:t>
            </a:r>
          </a:p>
          <a:p>
            <a:pPr lvl="0">
              <a:lnSpc>
                <a:spcPct val="150000"/>
              </a:lnSpc>
            </a:pPr>
            <a:r>
              <a:rPr dirty="0"/>
              <a:t>Operator reran full job with plain </a:t>
            </a:r>
            <a:r>
              <a:rPr dirty="0">
                <a:latin typeface="Courier"/>
              </a:rPr>
              <a:t>INSERT</a:t>
            </a:r>
          </a:p>
          <a:p>
            <a:pPr lvl="0">
              <a:lnSpc>
                <a:spcPct val="150000"/>
              </a:lnSpc>
            </a:pPr>
            <a:r>
              <a:rPr dirty="0"/>
              <a:t>Same transactions loaded again, revenue KPI jumped ~2x</a:t>
            </a:r>
          </a:p>
          <a:p>
            <a:pPr lvl="0">
              <a:lnSpc>
                <a:spcPct val="150000"/>
              </a:lnSpc>
            </a:pPr>
            <a:r>
              <a:rPr dirty="0"/>
              <a:t>Root cause: no checkpoint + no idempotent target write</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rPr dirty="0"/>
              <a:t>Core Stores: Warehouse vs Lake</a:t>
            </a:r>
          </a:p>
        </p:txBody>
      </p:sp>
      <p:sp>
        <p:nvSpPr>
          <p:cNvPr id="3" name="Content Placeholder 2"/>
          <p:cNvSpPr>
            <a:spLocks noGrp="1"/>
          </p:cNvSpPr>
          <p:nvPr>
            <p:ph idx="1" hasCustomPrompt="1"/>
          </p:nvPr>
        </p:nvSpPr>
        <p:spPr/>
        <p:txBody>
          <a:bodyPr/>
          <a:lstStyle/>
          <a:p>
            <a:pPr lvl="0"/>
            <a:r>
              <a:rPr b="1" dirty="0"/>
              <a:t>Warehouse</a:t>
            </a:r>
            <a:r>
              <a:rPr dirty="0"/>
              <a:t>: curated, schema-on-write, BI-first</a:t>
            </a:r>
          </a:p>
          <a:p>
            <a:pPr lvl="0"/>
            <a:r>
              <a:rPr b="1" dirty="0"/>
              <a:t>Lake</a:t>
            </a:r>
            <a:r>
              <a:rPr dirty="0"/>
              <a:t>: raw + processed zones, schema flexibility</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4</a:t>
            </a:fld>
            <a:endParaRPr lang="en-US"/>
          </a:p>
        </p:txBody>
      </p:sp>
      <p:pic>
        <p:nvPicPr>
          <p:cNvPr id="4" name="תמונה 3" descr="Data Lake vs Data Warehouse : r/dataengineering">
            <a:extLst>
              <a:ext uri="{FF2B5EF4-FFF2-40B4-BE49-F238E27FC236}">
                <a16:creationId xmlns:a16="http://schemas.microsoft.com/office/drawing/2014/main" id="{FC60EA19-E9C6-5379-5DA3-80858E39E99F}"/>
              </a:ext>
            </a:extLst>
          </p:cNvPr>
          <p:cNvPicPr>
            <a:picLocks noChangeAspect="1"/>
          </p:cNvPicPr>
          <p:nvPr/>
        </p:nvPicPr>
        <p:blipFill>
          <a:blip r:embed="rId2"/>
          <a:srcRect b="8856"/>
          <a:stretch>
            <a:fillRect/>
          </a:stretch>
        </p:blipFill>
        <p:spPr>
          <a:xfrm>
            <a:off x="3607587" y="2735459"/>
            <a:ext cx="4976825" cy="33907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2901B-D674-DCF4-3EDA-47CC7E2BE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1C573-58C6-973D-D850-580FF03C68D3}"/>
              </a:ext>
            </a:extLst>
          </p:cNvPr>
          <p:cNvSpPr>
            <a:spLocks noGrp="1"/>
          </p:cNvSpPr>
          <p:nvPr>
            <p:ph type="title" hasCustomPrompt="1"/>
          </p:nvPr>
        </p:nvSpPr>
        <p:spPr/>
        <p:txBody>
          <a:bodyPr/>
          <a:lstStyle/>
          <a:p>
            <a:pPr marL="0" lvl="0" indent="0">
              <a:buNone/>
            </a:pPr>
            <a:r>
              <a:rPr dirty="0"/>
              <a:t>Core Stores: Warehouse vs Lake</a:t>
            </a:r>
          </a:p>
        </p:txBody>
      </p:sp>
      <p:sp>
        <p:nvSpPr>
          <p:cNvPr id="3" name="Content Placeholder 2">
            <a:extLst>
              <a:ext uri="{FF2B5EF4-FFF2-40B4-BE49-F238E27FC236}">
                <a16:creationId xmlns:a16="http://schemas.microsoft.com/office/drawing/2014/main" id="{635F83AA-4DCB-826A-4CC8-AF0E367CEEA2}"/>
              </a:ext>
            </a:extLst>
          </p:cNvPr>
          <p:cNvSpPr>
            <a:spLocks noGrp="1"/>
          </p:cNvSpPr>
          <p:nvPr>
            <p:ph idx="1" hasCustomPrompt="1"/>
          </p:nvPr>
        </p:nvSpPr>
        <p:spPr/>
        <p:txBody>
          <a:bodyPr/>
          <a:lstStyle/>
          <a:p>
            <a:pPr lvl="0"/>
            <a:r>
              <a:rPr dirty="0"/>
              <a:t>Warehouse optimizes consistency and discoverability</a:t>
            </a:r>
          </a:p>
          <a:p>
            <a:pPr lvl="0"/>
            <a:r>
              <a:rPr dirty="0"/>
              <a:t>Lake optimizes ingestion agility and storage economics</a:t>
            </a:r>
          </a:p>
        </p:txBody>
      </p:sp>
      <p:sp>
        <p:nvSpPr>
          <p:cNvPr id="5" name="Footer Placeholder 4">
            <a:extLst>
              <a:ext uri="{FF2B5EF4-FFF2-40B4-BE49-F238E27FC236}">
                <a16:creationId xmlns:a16="http://schemas.microsoft.com/office/drawing/2014/main" id="{649CAD53-A776-7D69-7A27-1B9D7A4196CE}"/>
              </a:ext>
            </a:extLst>
          </p:cNvPr>
          <p:cNvSpPr>
            <a:spLocks noGrp="1"/>
          </p:cNvSpPr>
          <p:nvPr>
            <p:ph type="ftr" sz="quarter" idx="11"/>
          </p:nvPr>
        </p:nvSpPr>
        <p:spPr/>
        <p:txBody>
          <a:bodyPr/>
          <a:lstStyle/>
          <a:p>
            <a:r>
              <a:rPr lang="en-US"/>
              <a:t>Or Peretz</a:t>
            </a:r>
          </a:p>
        </p:txBody>
      </p:sp>
      <p:sp>
        <p:nvSpPr>
          <p:cNvPr id="6" name="Slide Number Placeholder 5">
            <a:extLst>
              <a:ext uri="{FF2B5EF4-FFF2-40B4-BE49-F238E27FC236}">
                <a16:creationId xmlns:a16="http://schemas.microsoft.com/office/drawing/2014/main" id="{549EAFB5-C932-E70B-AC48-0DDF138C8263}"/>
              </a:ext>
            </a:extLst>
          </p:cNvPr>
          <p:cNvSpPr>
            <a:spLocks noGrp="1"/>
          </p:cNvSpPr>
          <p:nvPr>
            <p:ph type="sldNum" sz="quarter" idx="12"/>
          </p:nvPr>
        </p:nvSpPr>
        <p:spPr/>
        <p:txBody>
          <a:bodyPr/>
          <a:lstStyle/>
          <a:p>
            <a:fld id="{C1FF6DA9-008F-8B48-92A6-B652298478BF}" type="slidenum">
              <a:rPr lang="en-US" smtClean="0"/>
              <a:t>5</a:t>
            </a:fld>
            <a:endParaRPr lang="en-US"/>
          </a:p>
        </p:txBody>
      </p:sp>
      <p:pic>
        <p:nvPicPr>
          <p:cNvPr id="4" name="תמונה 3" descr="Data Lake vs Data Warehouse : r/dataengineering">
            <a:extLst>
              <a:ext uri="{FF2B5EF4-FFF2-40B4-BE49-F238E27FC236}">
                <a16:creationId xmlns:a16="http://schemas.microsoft.com/office/drawing/2014/main" id="{01A52214-5F1F-51FC-9641-17688B2C2221}"/>
              </a:ext>
            </a:extLst>
          </p:cNvPr>
          <p:cNvPicPr>
            <a:picLocks noChangeAspect="1"/>
          </p:cNvPicPr>
          <p:nvPr/>
        </p:nvPicPr>
        <p:blipFill>
          <a:blip r:embed="rId2"/>
          <a:srcRect b="8856"/>
          <a:stretch>
            <a:fillRect/>
          </a:stretch>
        </p:blipFill>
        <p:spPr>
          <a:xfrm>
            <a:off x="3607587" y="2735459"/>
            <a:ext cx="4976825" cy="3390705"/>
          </a:xfrm>
          <a:prstGeom prst="rect">
            <a:avLst/>
          </a:prstGeom>
        </p:spPr>
      </p:pic>
    </p:spTree>
    <p:extLst>
      <p:ext uri="{BB962C8B-B14F-4D97-AF65-F5344CB8AC3E}">
        <p14:creationId xmlns:p14="http://schemas.microsoft.com/office/powerpoint/2010/main" val="1661634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rPr dirty="0"/>
              <a:t>Data Warehouse Definition</a:t>
            </a:r>
          </a:p>
        </p:txBody>
      </p:sp>
      <p:sp>
        <p:nvSpPr>
          <p:cNvPr id="3" name="Content Placeholder 2"/>
          <p:cNvSpPr>
            <a:spLocks noGrp="1"/>
          </p:cNvSpPr>
          <p:nvPr>
            <p:ph idx="1" hasCustomPrompt="1"/>
          </p:nvPr>
        </p:nvSpPr>
        <p:spPr>
          <a:xfrm>
            <a:off x="946768" y="1600201"/>
            <a:ext cx="10635632" cy="4525963"/>
          </a:xfrm>
        </p:spPr>
        <p:txBody>
          <a:bodyPr>
            <a:normAutofit fontScale="92500"/>
          </a:bodyPr>
          <a:lstStyle/>
          <a:p>
            <a:pPr lvl="0"/>
            <a:r>
              <a:rPr b="1" dirty="0"/>
              <a:t>Subject-oriented</a:t>
            </a:r>
            <a:endParaRPr lang="he-IL" b="1" dirty="0"/>
          </a:p>
          <a:p>
            <a:pPr marL="0" lvl="0" indent="0">
              <a:buNone/>
            </a:pPr>
            <a:r>
              <a:rPr lang="he-IL" dirty="0"/>
              <a:t>		</a:t>
            </a:r>
            <a:r>
              <a:rPr dirty="0"/>
              <a:t>organized around major subjects (customer, product, sales)</a:t>
            </a:r>
          </a:p>
          <a:p>
            <a:pPr lvl="0"/>
            <a:r>
              <a:rPr b="1" dirty="0"/>
              <a:t>Integrated</a:t>
            </a:r>
            <a:endParaRPr lang="he-IL" b="1" dirty="0"/>
          </a:p>
          <a:p>
            <a:pPr marL="0" lvl="0" indent="0">
              <a:buNone/>
            </a:pPr>
            <a:r>
              <a:rPr lang="he-IL" b="1" dirty="0"/>
              <a:t>		</a:t>
            </a:r>
            <a:r>
              <a:rPr dirty="0"/>
              <a:t>multiple heterogeneous sources, cleaned and consistent</a:t>
            </a:r>
            <a:endParaRPr lang="en-US" dirty="0"/>
          </a:p>
          <a:p>
            <a:pPr lvl="0"/>
            <a:r>
              <a:rPr lang="en" b="1" dirty="0"/>
              <a:t>Time-variant</a:t>
            </a:r>
          </a:p>
          <a:p>
            <a:pPr marL="0" lvl="0" indent="0">
              <a:buNone/>
            </a:pPr>
            <a:r>
              <a:rPr lang="en" b="1" dirty="0"/>
              <a:t>	</a:t>
            </a:r>
            <a:r>
              <a:rPr lang="en" dirty="0"/>
              <a:t>historical perspective vs operational current-value data</a:t>
            </a:r>
          </a:p>
          <a:p>
            <a:pPr lvl="0"/>
            <a:r>
              <a:rPr lang="en" b="1" dirty="0"/>
              <a:t>Nonvolatile</a:t>
            </a:r>
          </a:p>
          <a:p>
            <a:pPr marL="0" lvl="0" indent="0">
              <a:buNone/>
            </a:pPr>
            <a:r>
              <a:rPr lang="en" b="1" dirty="0"/>
              <a:t>	</a:t>
            </a:r>
            <a:r>
              <a:rPr lang="en" dirty="0"/>
              <a:t>physically separate, operational updates do not occur in the warehouse</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6B7378B-A255-C844-AECA-A1F29F18CAD5}"/>
              </a:ext>
            </a:extLst>
          </p:cNvPr>
          <p:cNvSpPr>
            <a:spLocks noGrp="1" noChangeArrowheads="1"/>
          </p:cNvSpPr>
          <p:nvPr>
            <p:ph type="title"/>
          </p:nvPr>
        </p:nvSpPr>
        <p:spPr>
          <a:xfrm>
            <a:off x="609600" y="274638"/>
            <a:ext cx="10972800" cy="1143000"/>
          </a:xfrm>
        </p:spPr>
        <p:txBody>
          <a:bodyPr>
            <a:normAutofit/>
          </a:bodyPr>
          <a:lstStyle/>
          <a:p>
            <a:r>
              <a:rPr lang="en-US" altLang="en-IL" dirty="0"/>
              <a:t>Why Separate Data Warehouse?</a:t>
            </a:r>
          </a:p>
        </p:txBody>
      </p:sp>
      <p:sp>
        <p:nvSpPr>
          <p:cNvPr id="50179" name="Rectangle 3">
            <a:extLst>
              <a:ext uri="{FF2B5EF4-FFF2-40B4-BE49-F238E27FC236}">
                <a16:creationId xmlns:a16="http://schemas.microsoft.com/office/drawing/2014/main" id="{78408E13-D42E-E94C-839D-EBCF0AD5D157}"/>
              </a:ext>
            </a:extLst>
          </p:cNvPr>
          <p:cNvSpPr>
            <a:spLocks noGrp="1" noChangeArrowheads="1"/>
          </p:cNvSpPr>
          <p:nvPr>
            <p:ph idx="1"/>
          </p:nvPr>
        </p:nvSpPr>
        <p:spPr>
          <a:xfrm>
            <a:off x="731375" y="1600201"/>
            <a:ext cx="7737375" cy="4525963"/>
          </a:xfrm>
        </p:spPr>
        <p:txBody>
          <a:bodyPr/>
          <a:lstStyle/>
          <a:p>
            <a:pPr>
              <a:lnSpc>
                <a:spcPct val="150000"/>
              </a:lnSpc>
              <a:buFont typeface="Arial" panose="020B0604020202020204" pitchFamily="34" charset="0"/>
              <a:buChar char="•"/>
            </a:pPr>
            <a:r>
              <a:rPr lang="en-US" altLang="en-IL" dirty="0"/>
              <a:t>Decision support requires historical data </a:t>
            </a:r>
            <a:br>
              <a:rPr lang="en-US" altLang="en-IL" dirty="0"/>
            </a:br>
            <a:r>
              <a:rPr lang="en-US" altLang="en-IL" dirty="0"/>
              <a:t>which operational DBs typically don’t maintain.</a:t>
            </a:r>
          </a:p>
          <a:p>
            <a:pPr>
              <a:lnSpc>
                <a:spcPct val="150000"/>
              </a:lnSpc>
              <a:buFont typeface="Arial" panose="020B0604020202020204" pitchFamily="34" charset="0"/>
              <a:buChar char="•"/>
            </a:pPr>
            <a:r>
              <a:rPr lang="en-US" altLang="en-IL" dirty="0"/>
              <a:t>DS requires aggregation &amp; summarization</a:t>
            </a:r>
          </a:p>
          <a:p>
            <a:pPr>
              <a:lnSpc>
                <a:spcPct val="150000"/>
              </a:lnSpc>
              <a:buFont typeface="Arial" panose="020B0604020202020204" pitchFamily="34" charset="0"/>
              <a:buChar char="•"/>
            </a:pPr>
            <a:r>
              <a:rPr lang="en-US" altLang="en-IL" dirty="0"/>
              <a:t>Different sources typically use</a:t>
            </a:r>
            <a:br>
              <a:rPr lang="en-US" altLang="en-IL" dirty="0"/>
            </a:br>
            <a:r>
              <a:rPr lang="en-US" altLang="en-IL" dirty="0"/>
              <a:t>inconsistent data representations</a:t>
            </a:r>
          </a:p>
        </p:txBody>
      </p:sp>
      <p:sp>
        <p:nvSpPr>
          <p:cNvPr id="8" name="Footer Placeholder 4">
            <a:extLst>
              <a:ext uri="{FF2B5EF4-FFF2-40B4-BE49-F238E27FC236}">
                <a16:creationId xmlns:a16="http://schemas.microsoft.com/office/drawing/2014/main" id="{835F5063-E487-D143-925F-9B29C3C4F189}"/>
              </a:ext>
            </a:extLst>
          </p:cNvPr>
          <p:cNvSpPr>
            <a:spLocks noGrp="1"/>
          </p:cNvSpPr>
          <p:nvPr>
            <p:ph type="ftr" sz="quarter" idx="11"/>
          </p:nvPr>
        </p:nvSpPr>
        <p:spPr>
          <a:xfrm>
            <a:off x="4165600" y="6356351"/>
            <a:ext cx="3860800" cy="365125"/>
          </a:xfrm>
        </p:spPr>
        <p:txBody>
          <a:bodyPr/>
          <a:lstStyle/>
          <a:p>
            <a:r>
              <a:rPr lang="en-US"/>
              <a:t>Or Peretz</a:t>
            </a:r>
          </a:p>
        </p:txBody>
      </p:sp>
      <p:sp>
        <p:nvSpPr>
          <p:cNvPr id="9" name="Slide Number Placeholder 5">
            <a:extLst>
              <a:ext uri="{FF2B5EF4-FFF2-40B4-BE49-F238E27FC236}">
                <a16:creationId xmlns:a16="http://schemas.microsoft.com/office/drawing/2014/main" id="{A41A2CBA-D1E6-8137-2414-4AB59BE1477B}"/>
              </a:ext>
            </a:extLst>
          </p:cNvPr>
          <p:cNvSpPr>
            <a:spLocks noGrp="1"/>
          </p:cNvSpPr>
          <p:nvPr>
            <p:ph type="sldNum" sz="quarter" idx="12"/>
          </p:nvPr>
        </p:nvSpPr>
        <p:spPr>
          <a:xfrm>
            <a:off x="8737600" y="6356351"/>
            <a:ext cx="2844800" cy="365125"/>
          </a:xfrm>
        </p:spPr>
        <p:txBody>
          <a:bodyPr/>
          <a:lstStyle/>
          <a:p>
            <a:fld id="{C1FF6DA9-008F-8B48-92A6-B652298478BF}" type="slidenum">
              <a:rPr lang="en-US" smtClean="0"/>
              <a:t>7</a:t>
            </a:fld>
            <a:endParaRPr lang="en-US"/>
          </a:p>
        </p:txBody>
      </p:sp>
      <p:pic>
        <p:nvPicPr>
          <p:cNvPr id="2" name="תמונה 1" descr="Data Warehousing | Spaulding Ridge | Business Data Analytics">
            <a:extLst>
              <a:ext uri="{FF2B5EF4-FFF2-40B4-BE49-F238E27FC236}">
                <a16:creationId xmlns:a16="http://schemas.microsoft.com/office/drawing/2014/main" id="{8437F2D6-DBAE-BAFE-55A1-DF0CBE37FB29}"/>
              </a:ext>
            </a:extLst>
          </p:cNvPr>
          <p:cNvPicPr>
            <a:picLocks noChangeAspect="1"/>
          </p:cNvPicPr>
          <p:nvPr/>
        </p:nvPicPr>
        <p:blipFill>
          <a:blip r:embed="rId2"/>
          <a:stretch>
            <a:fillRect/>
          </a:stretch>
        </p:blipFill>
        <p:spPr>
          <a:xfrm>
            <a:off x="7754256" y="2063637"/>
            <a:ext cx="2844800" cy="3194162"/>
          </a:xfrm>
          <a:prstGeom prst="rect">
            <a:avLst/>
          </a:prstGeom>
        </p:spPr>
      </p:pic>
    </p:spTree>
    <p:extLst>
      <p:ext uri="{BB962C8B-B14F-4D97-AF65-F5344CB8AC3E}">
        <p14:creationId xmlns:p14="http://schemas.microsoft.com/office/powerpoint/2010/main" val="2925103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rPr dirty="0"/>
              <a:t>Schema-on-Write vs Schema-on-Read</a:t>
            </a:r>
          </a:p>
        </p:txBody>
      </p:sp>
      <p:sp>
        <p:nvSpPr>
          <p:cNvPr id="3" name="Content Placeholder 2"/>
          <p:cNvSpPr>
            <a:spLocks noGrp="1"/>
          </p:cNvSpPr>
          <p:nvPr>
            <p:ph idx="1" hasCustomPrompt="1"/>
          </p:nvPr>
        </p:nvSpPr>
        <p:spPr/>
        <p:txBody>
          <a:bodyPr/>
          <a:lstStyle/>
          <a:p>
            <a:pPr lvl="0">
              <a:lnSpc>
                <a:spcPct val="200000"/>
              </a:lnSpc>
            </a:pPr>
            <a:r>
              <a:rPr dirty="0"/>
              <a:t>Write-time schema validation catches issues earlier</a:t>
            </a:r>
          </a:p>
          <a:p>
            <a:pPr lvl="0">
              <a:lnSpc>
                <a:spcPct val="200000"/>
              </a:lnSpc>
            </a:pPr>
            <a:r>
              <a:rPr dirty="0"/>
              <a:t>Read-time schema validation supports source variability</a:t>
            </a:r>
          </a:p>
          <a:p>
            <a:pPr lvl="0">
              <a:lnSpc>
                <a:spcPct val="200000"/>
              </a:lnSpc>
            </a:pPr>
            <a:r>
              <a:rPr dirty="0"/>
              <a:t>Schema-on-write reduces BI surprise and metric drift</a:t>
            </a:r>
          </a:p>
          <a:p>
            <a:pPr lvl="0">
              <a:lnSpc>
                <a:spcPct val="200000"/>
              </a:lnSpc>
            </a:pPr>
            <a:r>
              <a:rPr dirty="0"/>
              <a:t>Schema-on-read speeds onboarding but needs stronger governance</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10972800" cy="1143000"/>
          </a:xfrm>
        </p:spPr>
        <p:txBody>
          <a:bodyPr anchor="ctr">
            <a:normAutofit/>
          </a:bodyPr>
          <a:lstStyle/>
          <a:p>
            <a:pPr marL="0" lvl="0" indent="0">
              <a:buNone/>
            </a:pPr>
            <a:r>
              <a:t>DWH vs Lake</a:t>
            </a:r>
          </a:p>
        </p:txBody>
      </p:sp>
      <p:sp>
        <p:nvSpPr>
          <p:cNvPr id="5" name="Footer Placeholder 4"/>
          <p:cNvSpPr>
            <a:spLocks noGrp="1"/>
          </p:cNvSpPr>
          <p:nvPr>
            <p:ph type="ftr" sz="quarter" idx="11"/>
          </p:nvPr>
        </p:nvSpPr>
        <p:spPr>
          <a:xfrm>
            <a:off x="4165600" y="6356351"/>
            <a:ext cx="3860800" cy="365125"/>
          </a:xfrm>
        </p:spPr>
        <p:txBody>
          <a:bodyPr anchor="ctr">
            <a:normAutofit/>
          </a:bodyPr>
          <a:lstStyle/>
          <a:p>
            <a:pPr>
              <a:spcAft>
                <a:spcPts val="600"/>
              </a:spcAft>
            </a:pPr>
            <a:r>
              <a:rPr lang="en-US"/>
              <a:t>Or Peretz</a:t>
            </a:r>
          </a:p>
        </p:txBody>
      </p:sp>
      <p:sp>
        <p:nvSpPr>
          <p:cNvPr id="6" name="Slide Number Placeholder 5"/>
          <p:cNvSpPr>
            <a:spLocks noGrp="1"/>
          </p:cNvSpPr>
          <p:nvPr>
            <p:ph type="sldNum" sz="quarter" idx="12"/>
          </p:nvPr>
        </p:nvSpPr>
        <p:spPr>
          <a:xfrm>
            <a:off x="8737600" y="6356351"/>
            <a:ext cx="2844800" cy="365125"/>
          </a:xfrm>
        </p:spPr>
        <p:txBody>
          <a:bodyPr anchor="ctr">
            <a:normAutofit/>
          </a:bodyPr>
          <a:lstStyle/>
          <a:p>
            <a:pPr>
              <a:spcAft>
                <a:spcPts val="600"/>
              </a:spcAft>
            </a:pPr>
            <a:fld id="{C1FF6DA9-008F-8B48-92A6-B652298478BF}" type="slidenum">
              <a:rPr lang="en-US" smtClean="0"/>
              <a:pPr>
                <a:spcAft>
                  <a:spcPts val="600"/>
                </a:spcAft>
              </a:pPr>
              <a:t>9</a:t>
            </a:fld>
            <a:endParaRPr lang="en-US"/>
          </a:p>
        </p:txBody>
      </p:sp>
      <p:pic>
        <p:nvPicPr>
          <p:cNvPr id="1026" name="Picture 2" descr="Schema on read and Schema-on-write | by Deepa Vasanthkumar | Medium">
            <a:extLst>
              <a:ext uri="{FF2B5EF4-FFF2-40B4-BE49-F238E27FC236}">
                <a16:creationId xmlns:a16="http://schemas.microsoft.com/office/drawing/2014/main" id="{E52F2811-A6FF-0B3E-00C2-1CC06BD99C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19" t="12178" b="13075"/>
          <a:stretch>
            <a:fillRect/>
          </a:stretch>
        </p:blipFill>
        <p:spPr bwMode="auto">
          <a:xfrm>
            <a:off x="1801091" y="2050472"/>
            <a:ext cx="8382056" cy="3699164"/>
          </a:xfrm>
          <a:prstGeom prst="rect">
            <a:avLst/>
          </a:prstGeom>
          <a:noFill/>
          <a:extLst>
            <a:ext uri="{909E8E84-426E-40DD-AFC4-6F175D3DCCD1}">
              <a14:hiddenFill xmlns:a14="http://schemas.microsoft.com/office/drawing/2010/main">
                <a:solidFill>
                  <a:srgbClr val="FFFFFF"/>
                </a:solidFill>
              </a14:hiddenFill>
            </a:ext>
          </a:extLst>
        </p:spPr>
      </p:pic>
      <p:sp>
        <p:nvSpPr>
          <p:cNvPr id="3" name="תיבת טקסט 2">
            <a:extLst>
              <a:ext uri="{FF2B5EF4-FFF2-40B4-BE49-F238E27FC236}">
                <a16:creationId xmlns:a16="http://schemas.microsoft.com/office/drawing/2014/main" id="{BC82CD9E-2046-9838-84C5-6E1DB70AD79B}"/>
              </a:ext>
            </a:extLst>
          </p:cNvPr>
          <p:cNvSpPr txBox="1"/>
          <p:nvPr/>
        </p:nvSpPr>
        <p:spPr>
          <a:xfrm>
            <a:off x="5417128" y="1690255"/>
            <a:ext cx="4003963" cy="461665"/>
          </a:xfrm>
          <a:prstGeom prst="rect">
            <a:avLst/>
          </a:prstGeom>
          <a:noFill/>
        </p:spPr>
        <p:txBody>
          <a:bodyPr wrap="square" rtlCol="1">
            <a:spAutoFit/>
          </a:bodyPr>
          <a:lstStyle/>
          <a:p>
            <a:r>
              <a:rPr lang="en-US" sz="2400" dirty="0"/>
              <a:t>On Read</a:t>
            </a:r>
            <a:endParaRPr lang="he-IL" sz="2400" dirty="0"/>
          </a:p>
        </p:txBody>
      </p:sp>
      <p:sp>
        <p:nvSpPr>
          <p:cNvPr id="4" name="תיבת טקסט 3">
            <a:extLst>
              <a:ext uri="{FF2B5EF4-FFF2-40B4-BE49-F238E27FC236}">
                <a16:creationId xmlns:a16="http://schemas.microsoft.com/office/drawing/2014/main" id="{D0A4D707-3C58-FC77-4D63-3693664B5915}"/>
              </a:ext>
            </a:extLst>
          </p:cNvPr>
          <p:cNvSpPr txBox="1"/>
          <p:nvPr/>
        </p:nvSpPr>
        <p:spPr>
          <a:xfrm>
            <a:off x="5417128" y="5726620"/>
            <a:ext cx="4003963" cy="461665"/>
          </a:xfrm>
          <a:prstGeom prst="rect">
            <a:avLst/>
          </a:prstGeom>
          <a:noFill/>
        </p:spPr>
        <p:txBody>
          <a:bodyPr wrap="square" rtlCol="1">
            <a:spAutoFit/>
          </a:bodyPr>
          <a:lstStyle/>
          <a:p>
            <a:r>
              <a:rPr lang="en-US" sz="2400" dirty="0"/>
              <a:t>On Write</a:t>
            </a:r>
            <a:endParaRPr lang="he-IL"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56438" y="238125"/>
            <a:ext cx="8458200" cy="914400"/>
          </a:xfrm>
          <a:noFill/>
        </p:spPr>
        <p:txBody>
          <a:bodyPr vert="horz" lIns="92075" tIns="46038" rIns="92075" bIns="46038" rtlCol="0" anchor="b">
            <a:normAutofit/>
          </a:bodyPr>
          <a:lstStyle/>
          <a:p>
            <a:pPr algn="ctr"/>
            <a:r>
              <a:rPr lang="en-US" altLang="en-GB" sz="3200" b="1" dirty="0">
                <a:latin typeface="+mn-lt"/>
              </a:rPr>
              <a:t>Extract, Transform, Load - ETL</a:t>
            </a:r>
          </a:p>
        </p:txBody>
      </p:sp>
      <p:sp>
        <p:nvSpPr>
          <p:cNvPr id="4" name="Footer Placeholder 4">
            <a:extLst>
              <a:ext uri="{FF2B5EF4-FFF2-40B4-BE49-F238E27FC236}">
                <a16:creationId xmlns:a16="http://schemas.microsoft.com/office/drawing/2014/main" id="{E742C07B-887A-CFA0-A331-42B194B6C9B1}"/>
              </a:ext>
            </a:extLst>
          </p:cNvPr>
          <p:cNvSpPr>
            <a:spLocks noGrp="1"/>
          </p:cNvSpPr>
          <p:nvPr>
            <p:ph type="ftr" sz="quarter" idx="11"/>
          </p:nvPr>
        </p:nvSpPr>
        <p:spPr>
          <a:xfrm>
            <a:off x="4165600" y="6356351"/>
            <a:ext cx="3860800" cy="365125"/>
          </a:xfrm>
        </p:spPr>
        <p:txBody>
          <a:bodyPr/>
          <a:lstStyle/>
          <a:p>
            <a:r>
              <a:rPr lang="en-US"/>
              <a:t>Or Peretz</a:t>
            </a:r>
          </a:p>
        </p:txBody>
      </p:sp>
      <p:sp>
        <p:nvSpPr>
          <p:cNvPr id="5" name="Slide Number Placeholder 5">
            <a:extLst>
              <a:ext uri="{FF2B5EF4-FFF2-40B4-BE49-F238E27FC236}">
                <a16:creationId xmlns:a16="http://schemas.microsoft.com/office/drawing/2014/main" id="{9A19459C-7E11-52E2-7AFE-604F2DAF0866}"/>
              </a:ext>
            </a:extLst>
          </p:cNvPr>
          <p:cNvSpPr>
            <a:spLocks noGrp="1"/>
          </p:cNvSpPr>
          <p:nvPr>
            <p:ph type="sldNum" sz="quarter" idx="12"/>
          </p:nvPr>
        </p:nvSpPr>
        <p:spPr>
          <a:xfrm>
            <a:off x="8737600" y="6356351"/>
            <a:ext cx="2844800" cy="365125"/>
          </a:xfrm>
        </p:spPr>
        <p:txBody>
          <a:bodyPr/>
          <a:lstStyle/>
          <a:p>
            <a:fld id="{C1FF6DA9-008F-8B48-92A6-B652298478BF}" type="slidenum">
              <a:rPr lang="en-US" smtClean="0"/>
              <a:t>10</a:t>
            </a:fld>
            <a:endParaRPr lang="en-US"/>
          </a:p>
        </p:txBody>
      </p:sp>
      <p:pic>
        <p:nvPicPr>
          <p:cNvPr id="7" name="תמונה 6">
            <a:extLst>
              <a:ext uri="{FF2B5EF4-FFF2-40B4-BE49-F238E27FC236}">
                <a16:creationId xmlns:a16="http://schemas.microsoft.com/office/drawing/2014/main" id="{7A74291C-8DCA-D793-302D-7FFFB3CC0CD0}"/>
              </a:ext>
            </a:extLst>
          </p:cNvPr>
          <p:cNvPicPr>
            <a:picLocks noChangeAspect="1"/>
          </p:cNvPicPr>
          <p:nvPr/>
        </p:nvPicPr>
        <p:blipFill>
          <a:blip r:embed="rId3"/>
          <a:stretch>
            <a:fillRect/>
          </a:stretch>
        </p:blipFill>
        <p:spPr>
          <a:xfrm>
            <a:off x="1956438" y="1585396"/>
            <a:ext cx="7772400" cy="4338083"/>
          </a:xfrm>
          <a:prstGeom prst="rect">
            <a:avLst/>
          </a:prstGeom>
        </p:spPr>
      </p:pic>
    </p:spTree>
    <p:extLst>
      <p:ext uri="{BB962C8B-B14F-4D97-AF65-F5344CB8AC3E}">
        <p14:creationId xmlns:p14="http://schemas.microsoft.com/office/powerpoint/2010/main" val="1553664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195072"/>
            <a:ext cx="8458200" cy="914400"/>
          </a:xfrm>
          <a:noFill/>
        </p:spPr>
        <p:txBody>
          <a:bodyPr vert="horz" lIns="92075" tIns="46038" rIns="92075" bIns="46038" rtlCol="0" anchor="b">
            <a:normAutofit/>
          </a:bodyPr>
          <a:lstStyle/>
          <a:p>
            <a:pPr algn="ctr"/>
            <a:r>
              <a:rPr lang="en-US" altLang="en-GB" sz="3200" b="1" dirty="0">
                <a:latin typeface="+mn-lt"/>
              </a:rPr>
              <a:t>Extraction</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1572768" y="1280160"/>
            <a:ext cx="8807364" cy="4962144"/>
          </a:xfrm>
          <a:noFill/>
        </p:spPr>
        <p:txBody>
          <a:bodyPr vert="horz" lIns="92075" tIns="46038" rIns="92075" bIns="46038" rtlCol="0">
            <a:normAutofit/>
          </a:bodyPr>
          <a:lstStyle/>
          <a:p>
            <a:pPr marL="0" indent="0">
              <a:lnSpc>
                <a:spcPct val="150000"/>
              </a:lnSpc>
              <a:buNone/>
            </a:pPr>
            <a:r>
              <a:rPr lang="en-US" dirty="0"/>
              <a:t>The main goal of extraction is to collect the data from the source system as fast as possible and less convenient for these source systems. </a:t>
            </a:r>
            <a:endParaRPr lang="he-IL" dirty="0"/>
          </a:p>
        </p:txBody>
      </p:sp>
      <p:pic>
        <p:nvPicPr>
          <p:cNvPr id="126978" name="Picture 2" descr="ETL Architecture">
            <a:extLst>
              <a:ext uri="{FF2B5EF4-FFF2-40B4-BE49-F238E27FC236}">
                <a16:creationId xmlns:a16="http://schemas.microsoft.com/office/drawing/2014/main" id="{D8BF5171-22D7-2C45-97F7-D0AD328E94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908"/>
          <a:stretch/>
        </p:blipFill>
        <p:spPr bwMode="auto">
          <a:xfrm>
            <a:off x="2851953" y="3672016"/>
            <a:ext cx="6248993" cy="1598081"/>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4">
            <a:extLst>
              <a:ext uri="{FF2B5EF4-FFF2-40B4-BE49-F238E27FC236}">
                <a16:creationId xmlns:a16="http://schemas.microsoft.com/office/drawing/2014/main" id="{07C431B6-C6B1-DFAD-C8FC-2F5671C822BB}"/>
              </a:ext>
            </a:extLst>
          </p:cNvPr>
          <p:cNvSpPr>
            <a:spLocks noGrp="1"/>
          </p:cNvSpPr>
          <p:nvPr>
            <p:ph type="ftr" sz="quarter" idx="11"/>
          </p:nvPr>
        </p:nvSpPr>
        <p:spPr>
          <a:xfrm>
            <a:off x="4165600" y="6356351"/>
            <a:ext cx="3860800" cy="365125"/>
          </a:xfrm>
        </p:spPr>
        <p:txBody>
          <a:bodyPr/>
          <a:lstStyle/>
          <a:p>
            <a:r>
              <a:rPr lang="en-US"/>
              <a:t>Or Peretz</a:t>
            </a:r>
          </a:p>
        </p:txBody>
      </p:sp>
      <p:sp>
        <p:nvSpPr>
          <p:cNvPr id="5" name="Slide Number Placeholder 5">
            <a:extLst>
              <a:ext uri="{FF2B5EF4-FFF2-40B4-BE49-F238E27FC236}">
                <a16:creationId xmlns:a16="http://schemas.microsoft.com/office/drawing/2014/main" id="{8F2BD81B-18A3-FF02-4810-8F99104B027A}"/>
              </a:ext>
            </a:extLst>
          </p:cNvPr>
          <p:cNvSpPr>
            <a:spLocks noGrp="1"/>
          </p:cNvSpPr>
          <p:nvPr>
            <p:ph type="sldNum" sz="quarter" idx="12"/>
          </p:nvPr>
        </p:nvSpPr>
        <p:spPr>
          <a:xfrm>
            <a:off x="8737600" y="6356351"/>
            <a:ext cx="2844800" cy="365125"/>
          </a:xfrm>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2450032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866900" y="209676"/>
            <a:ext cx="8458200" cy="914400"/>
          </a:xfrm>
          <a:noFill/>
        </p:spPr>
        <p:txBody>
          <a:bodyPr vert="horz" lIns="92075" tIns="46038" rIns="92075" bIns="46038" rtlCol="0" anchor="b">
            <a:normAutofit/>
          </a:bodyPr>
          <a:lstStyle/>
          <a:p>
            <a:pPr algn="ctr" defTabSz="914400" rtl="1" eaLnBrk="1" latinLnBrk="0" hangingPunct="1">
              <a:lnSpc>
                <a:spcPct val="90000"/>
              </a:lnSpc>
              <a:spcBef>
                <a:spcPct val="0"/>
              </a:spcBef>
              <a:buNone/>
            </a:pPr>
            <a:r>
              <a:rPr lang="en-US" altLang="en-GB" dirty="0"/>
              <a:t>Transformation</a:t>
            </a:r>
            <a:endParaRPr lang="en-US" altLang="en-GB" sz="3200" b="1" dirty="0">
              <a:latin typeface="+mn-lt"/>
            </a:endParaRP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963168" y="1189673"/>
            <a:ext cx="10265664" cy="5349240"/>
          </a:xfrm>
          <a:noFill/>
        </p:spPr>
        <p:txBody>
          <a:bodyPr vert="horz" lIns="92075" tIns="46038" rIns="92075" bIns="46038" rtlCol="0">
            <a:normAutofit/>
          </a:bodyPr>
          <a:lstStyle/>
          <a:p>
            <a:pPr marL="0" indent="0">
              <a:lnSpc>
                <a:spcPct val="150000"/>
              </a:lnSpc>
              <a:buNone/>
            </a:pPr>
            <a:r>
              <a:rPr lang="en-US" dirty="0"/>
              <a:t>All the collected data has been transformed into the same format</a:t>
            </a:r>
          </a:p>
          <a:p>
            <a:pPr>
              <a:lnSpc>
                <a:spcPct val="150000"/>
              </a:lnSpc>
            </a:pPr>
            <a:r>
              <a:rPr lang="en-US" b="1" dirty="0"/>
              <a:t>Filtering:</a:t>
            </a:r>
            <a:r>
              <a:rPr lang="en-US" dirty="0"/>
              <a:t> only relevant attributes going to DWH.</a:t>
            </a:r>
          </a:p>
          <a:p>
            <a:pPr>
              <a:lnSpc>
                <a:spcPct val="150000"/>
              </a:lnSpc>
            </a:pPr>
            <a:r>
              <a:rPr lang="en-US" b="1" dirty="0"/>
              <a:t>Cleaning:</a:t>
            </a:r>
            <a:r>
              <a:rPr lang="en-US" dirty="0"/>
              <a:t> Filling up the null values with specific default values.</a:t>
            </a:r>
          </a:p>
          <a:p>
            <a:pPr>
              <a:lnSpc>
                <a:spcPct val="150000"/>
              </a:lnSpc>
            </a:pPr>
            <a:r>
              <a:rPr lang="en-US" b="1" dirty="0"/>
              <a:t>Joining:</a:t>
            </a:r>
            <a:r>
              <a:rPr lang="en-US" dirty="0"/>
              <a:t> Join the multiple attributes into the one.</a:t>
            </a:r>
          </a:p>
          <a:p>
            <a:pPr>
              <a:lnSpc>
                <a:spcPct val="150000"/>
              </a:lnSpc>
            </a:pPr>
            <a:r>
              <a:rPr lang="en-US" b="1" dirty="0"/>
              <a:t>Splitting:</a:t>
            </a:r>
            <a:r>
              <a:rPr lang="en-US" dirty="0"/>
              <a:t> Splitting the single attribute into multiple attributes.</a:t>
            </a:r>
          </a:p>
          <a:p>
            <a:pPr>
              <a:lnSpc>
                <a:spcPct val="150000"/>
              </a:lnSpc>
            </a:pPr>
            <a:r>
              <a:rPr lang="en-US" b="1" dirty="0"/>
              <a:t>Sorting:</a:t>
            </a:r>
            <a:r>
              <a:rPr lang="en-US" dirty="0"/>
              <a:t> Sort the tuples based on the attributes.</a:t>
            </a:r>
          </a:p>
        </p:txBody>
      </p:sp>
      <p:sp>
        <p:nvSpPr>
          <p:cNvPr id="4" name="Footer Placeholder 4">
            <a:extLst>
              <a:ext uri="{FF2B5EF4-FFF2-40B4-BE49-F238E27FC236}">
                <a16:creationId xmlns:a16="http://schemas.microsoft.com/office/drawing/2014/main" id="{AF491F38-C731-FE54-50FA-1EA9BE03F8CE}"/>
              </a:ext>
            </a:extLst>
          </p:cNvPr>
          <p:cNvSpPr>
            <a:spLocks noGrp="1"/>
          </p:cNvSpPr>
          <p:nvPr>
            <p:ph type="ftr" sz="quarter" idx="11"/>
          </p:nvPr>
        </p:nvSpPr>
        <p:spPr>
          <a:xfrm>
            <a:off x="4165600" y="6356351"/>
            <a:ext cx="3860800" cy="365125"/>
          </a:xfrm>
        </p:spPr>
        <p:txBody>
          <a:bodyPr/>
          <a:lstStyle/>
          <a:p>
            <a:r>
              <a:rPr lang="en-US"/>
              <a:t>Or Peretz</a:t>
            </a:r>
          </a:p>
        </p:txBody>
      </p:sp>
      <p:sp>
        <p:nvSpPr>
          <p:cNvPr id="5" name="Slide Number Placeholder 5">
            <a:extLst>
              <a:ext uri="{FF2B5EF4-FFF2-40B4-BE49-F238E27FC236}">
                <a16:creationId xmlns:a16="http://schemas.microsoft.com/office/drawing/2014/main" id="{9E7051C9-C2C0-D16E-F6A4-9B8C98775696}"/>
              </a:ext>
            </a:extLst>
          </p:cNvPr>
          <p:cNvSpPr>
            <a:spLocks noGrp="1"/>
          </p:cNvSpPr>
          <p:nvPr>
            <p:ph type="sldNum" sz="quarter" idx="12"/>
          </p:nvPr>
        </p:nvSpPr>
        <p:spPr>
          <a:xfrm>
            <a:off x="8737600" y="6356351"/>
            <a:ext cx="2844800" cy="365125"/>
          </a:xfrm>
        </p:spPr>
        <p:txBody>
          <a:bodyPr/>
          <a:lstStyle/>
          <a:p>
            <a:fld id="{C1FF6DA9-008F-8B48-92A6-B652298478BF}" type="slidenum">
              <a:rPr lang="en-US" smtClean="0"/>
              <a:t>12</a:t>
            </a:fld>
            <a:endParaRPr lang="en-US"/>
          </a:p>
        </p:txBody>
      </p:sp>
    </p:spTree>
    <p:extLst>
      <p:ext uri="{BB962C8B-B14F-4D97-AF65-F5344CB8AC3E}">
        <p14:creationId xmlns:p14="http://schemas.microsoft.com/office/powerpoint/2010/main" val="1353559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866900" y="313267"/>
            <a:ext cx="8458200" cy="914400"/>
          </a:xfrm>
          <a:noFill/>
        </p:spPr>
        <p:txBody>
          <a:bodyPr vert="horz" lIns="92075" tIns="46038" rIns="92075" bIns="46038" rtlCol="0" anchor="b">
            <a:normAutofit/>
          </a:bodyPr>
          <a:lstStyle/>
          <a:p>
            <a:pPr algn="ctr" defTabSz="914400" rtl="1" eaLnBrk="1" latinLnBrk="0" hangingPunct="1">
              <a:lnSpc>
                <a:spcPct val="90000"/>
              </a:lnSpc>
              <a:spcBef>
                <a:spcPct val="0"/>
              </a:spcBef>
              <a:buNone/>
            </a:pPr>
            <a:r>
              <a:rPr lang="en-US" altLang="en-GB" dirty="0"/>
              <a:t>Loading</a:t>
            </a:r>
            <a:endParaRPr lang="en-US" altLang="en-GB" sz="3200" b="1" dirty="0">
              <a:latin typeface="+mn-lt"/>
            </a:endParaRP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1330740" y="1412664"/>
            <a:ext cx="9290304" cy="4807374"/>
          </a:xfrm>
          <a:noFill/>
        </p:spPr>
        <p:txBody>
          <a:bodyPr vert="horz" lIns="92075" tIns="46038" rIns="92075" bIns="46038" rtlCol="0">
            <a:normAutofit fontScale="92500"/>
          </a:bodyPr>
          <a:lstStyle/>
          <a:p>
            <a:pPr marL="0" indent="0">
              <a:lnSpc>
                <a:spcPct val="200000"/>
              </a:lnSpc>
              <a:buNone/>
            </a:pPr>
            <a:r>
              <a:rPr lang="en-US" dirty="0"/>
              <a:t>Loading is the final step of the ETL process. </a:t>
            </a:r>
          </a:p>
          <a:p>
            <a:pPr marL="0" indent="0">
              <a:lnSpc>
                <a:spcPct val="200000"/>
              </a:lnSpc>
              <a:buNone/>
            </a:pPr>
            <a:r>
              <a:rPr lang="en-US" dirty="0"/>
              <a:t>The big chunk of data is collected from various sources, transformed them, </a:t>
            </a:r>
          </a:p>
          <a:p>
            <a:pPr marL="0" indent="0">
              <a:lnSpc>
                <a:spcPct val="200000"/>
              </a:lnSpc>
              <a:buNone/>
            </a:pPr>
            <a:r>
              <a:rPr lang="en-US" dirty="0"/>
              <a:t>loaded to the data warehouse.</a:t>
            </a:r>
          </a:p>
          <a:p>
            <a:pPr marL="0" indent="0">
              <a:lnSpc>
                <a:spcPct val="200000"/>
              </a:lnSpc>
              <a:buNone/>
            </a:pPr>
            <a:br>
              <a:rPr lang="en-US" dirty="0"/>
            </a:br>
            <a:endParaRPr lang="en-US" dirty="0"/>
          </a:p>
        </p:txBody>
      </p:sp>
      <p:pic>
        <p:nvPicPr>
          <p:cNvPr id="5122" name="Picture 2" descr="victory Icon - Download victory Icon 2714573 | Noun Project">
            <a:extLst>
              <a:ext uri="{FF2B5EF4-FFF2-40B4-BE49-F238E27FC236}">
                <a16:creationId xmlns:a16="http://schemas.microsoft.com/office/drawing/2014/main" id="{AAE60FEF-9B2B-E949-8BFB-97F2C6E04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112" y="3313109"/>
            <a:ext cx="2540000" cy="2540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4">
            <a:extLst>
              <a:ext uri="{FF2B5EF4-FFF2-40B4-BE49-F238E27FC236}">
                <a16:creationId xmlns:a16="http://schemas.microsoft.com/office/drawing/2014/main" id="{F75D4255-DFBC-70FE-61BA-32E3EB53E978}"/>
              </a:ext>
            </a:extLst>
          </p:cNvPr>
          <p:cNvSpPr>
            <a:spLocks noGrp="1"/>
          </p:cNvSpPr>
          <p:nvPr>
            <p:ph type="ftr" sz="quarter" idx="11"/>
          </p:nvPr>
        </p:nvSpPr>
        <p:spPr>
          <a:xfrm>
            <a:off x="4165600" y="6356351"/>
            <a:ext cx="3860800" cy="365125"/>
          </a:xfrm>
        </p:spPr>
        <p:txBody>
          <a:bodyPr/>
          <a:lstStyle/>
          <a:p>
            <a:r>
              <a:rPr lang="en-US"/>
              <a:t>Or Peretz</a:t>
            </a:r>
          </a:p>
        </p:txBody>
      </p:sp>
      <p:sp>
        <p:nvSpPr>
          <p:cNvPr id="5" name="Slide Number Placeholder 5">
            <a:extLst>
              <a:ext uri="{FF2B5EF4-FFF2-40B4-BE49-F238E27FC236}">
                <a16:creationId xmlns:a16="http://schemas.microsoft.com/office/drawing/2014/main" id="{8C2D6975-95CF-403D-7493-0D7E79A763C5}"/>
              </a:ext>
            </a:extLst>
          </p:cNvPr>
          <p:cNvSpPr>
            <a:spLocks noGrp="1"/>
          </p:cNvSpPr>
          <p:nvPr>
            <p:ph type="sldNum" sz="quarter" idx="12"/>
          </p:nvPr>
        </p:nvSpPr>
        <p:spPr>
          <a:xfrm>
            <a:off x="8737600" y="6356351"/>
            <a:ext cx="2844800" cy="365125"/>
          </a:xfrm>
        </p:spPr>
        <p:txBody>
          <a:bodyPr/>
          <a:lstStyle/>
          <a:p>
            <a:fld id="{C1FF6DA9-008F-8B48-92A6-B652298478BF}" type="slidenum">
              <a:rPr lang="en-US" smtClean="0"/>
              <a:t>13</a:t>
            </a:fld>
            <a:endParaRPr lang="en-US"/>
          </a:p>
        </p:txBody>
      </p:sp>
    </p:spTree>
    <p:extLst>
      <p:ext uri="{BB962C8B-B14F-4D97-AF65-F5344CB8AC3E}">
        <p14:creationId xmlns:p14="http://schemas.microsoft.com/office/powerpoint/2010/main" val="800096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866900" y="136524"/>
            <a:ext cx="8458200" cy="914400"/>
          </a:xfrm>
          <a:noFill/>
        </p:spPr>
        <p:txBody>
          <a:bodyPr vert="horz" lIns="92075" tIns="46038" rIns="92075" bIns="46038" rtlCol="0" anchor="b">
            <a:normAutofit/>
          </a:bodyPr>
          <a:lstStyle/>
          <a:p>
            <a:pPr algn="ctr"/>
            <a:r>
              <a:rPr lang="en-US" altLang="en-GB" sz="3200" b="1" dirty="0">
                <a:latin typeface="+mn-lt"/>
              </a:rPr>
              <a:t>Extract, Load, Transform - ELT</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1597152" y="1353312"/>
            <a:ext cx="8727948" cy="5157216"/>
          </a:xfrm>
          <a:noFill/>
        </p:spPr>
        <p:txBody>
          <a:bodyPr vert="horz" lIns="92075" tIns="46038" rIns="92075" bIns="46038" rtlCol="0">
            <a:normAutofit/>
          </a:bodyPr>
          <a:lstStyle/>
          <a:p>
            <a:pPr marL="0" indent="0">
              <a:lnSpc>
                <a:spcPct val="150000"/>
              </a:lnSpc>
              <a:buNone/>
            </a:pPr>
            <a:r>
              <a:rPr lang="en-US" sz="2400" dirty="0"/>
              <a:t>After extracting the data, we immediately start loading phase, moving all the data sources into a single, centralized data repository. </a:t>
            </a:r>
            <a:endParaRPr lang="en-US" altLang="en-GB" sz="2400" dirty="0"/>
          </a:p>
        </p:txBody>
      </p:sp>
      <p:pic>
        <p:nvPicPr>
          <p:cNvPr id="116738" name="Picture 2" descr="Difference between ETL and ELT">
            <a:extLst>
              <a:ext uri="{FF2B5EF4-FFF2-40B4-BE49-F238E27FC236}">
                <a16:creationId xmlns:a16="http://schemas.microsoft.com/office/drawing/2014/main" id="{E04BC032-62B8-614F-BA67-EC0BB777AD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3865" y="2737022"/>
            <a:ext cx="6521897" cy="2329249"/>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4">
            <a:extLst>
              <a:ext uri="{FF2B5EF4-FFF2-40B4-BE49-F238E27FC236}">
                <a16:creationId xmlns:a16="http://schemas.microsoft.com/office/drawing/2014/main" id="{FDD59AC5-42CD-AA49-7A95-0C6BE9BAE751}"/>
              </a:ext>
            </a:extLst>
          </p:cNvPr>
          <p:cNvSpPr>
            <a:spLocks noGrp="1"/>
          </p:cNvSpPr>
          <p:nvPr>
            <p:ph type="ftr" sz="quarter" idx="11"/>
          </p:nvPr>
        </p:nvSpPr>
        <p:spPr>
          <a:xfrm>
            <a:off x="4165600" y="6356351"/>
            <a:ext cx="3860800" cy="365125"/>
          </a:xfrm>
        </p:spPr>
        <p:txBody>
          <a:bodyPr/>
          <a:lstStyle/>
          <a:p>
            <a:r>
              <a:rPr lang="en-US"/>
              <a:t>Or Peretz</a:t>
            </a:r>
          </a:p>
        </p:txBody>
      </p:sp>
      <p:sp>
        <p:nvSpPr>
          <p:cNvPr id="5" name="Slide Number Placeholder 5">
            <a:extLst>
              <a:ext uri="{FF2B5EF4-FFF2-40B4-BE49-F238E27FC236}">
                <a16:creationId xmlns:a16="http://schemas.microsoft.com/office/drawing/2014/main" id="{E7EE9512-9FB1-5511-D29A-32FEA9FBB736}"/>
              </a:ext>
            </a:extLst>
          </p:cNvPr>
          <p:cNvSpPr>
            <a:spLocks noGrp="1"/>
          </p:cNvSpPr>
          <p:nvPr>
            <p:ph type="sldNum" sz="quarter" idx="12"/>
          </p:nvPr>
        </p:nvSpPr>
        <p:spPr>
          <a:xfrm>
            <a:off x="8737600" y="6356351"/>
            <a:ext cx="2844800" cy="365125"/>
          </a:xfrm>
        </p:spPr>
        <p:txBody>
          <a:bodyPr/>
          <a:lstStyle/>
          <a:p>
            <a:fld id="{C1FF6DA9-008F-8B48-92A6-B652298478BF}" type="slidenum">
              <a:rPr lang="en-US" smtClean="0"/>
              <a:t>14</a:t>
            </a:fld>
            <a:endParaRPr lang="en-US"/>
          </a:p>
        </p:txBody>
      </p:sp>
      <p:sp>
        <p:nvSpPr>
          <p:cNvPr id="3" name="תיבת טקסט 2">
            <a:extLst>
              <a:ext uri="{FF2B5EF4-FFF2-40B4-BE49-F238E27FC236}">
                <a16:creationId xmlns:a16="http://schemas.microsoft.com/office/drawing/2014/main" id="{46A38A5C-9247-E119-921F-301FF75D8356}"/>
              </a:ext>
            </a:extLst>
          </p:cNvPr>
          <p:cNvSpPr txBox="1"/>
          <p:nvPr/>
        </p:nvSpPr>
        <p:spPr>
          <a:xfrm>
            <a:off x="-125626" y="5368659"/>
            <a:ext cx="11708026" cy="461665"/>
          </a:xfrm>
          <a:prstGeom prst="rect">
            <a:avLst/>
          </a:prstGeom>
          <a:noFill/>
        </p:spPr>
        <p:txBody>
          <a:bodyPr wrap="square">
            <a:spAutoFit/>
          </a:bodyPr>
          <a:lstStyle/>
          <a:p>
            <a:pPr marL="0" lvl="0" indent="0" algn="ctr">
              <a:buNone/>
            </a:pPr>
            <a:r>
              <a:rPr lang="en-US" sz="2400" b="1" dirty="0"/>
              <a:t>Today, most of the processes are ELT</a:t>
            </a:r>
          </a:p>
        </p:txBody>
      </p:sp>
    </p:spTree>
    <p:extLst>
      <p:ext uri="{BB962C8B-B14F-4D97-AF65-F5344CB8AC3E}">
        <p14:creationId xmlns:p14="http://schemas.microsoft.com/office/powerpoint/2010/main" val="2385094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rPr dirty="0"/>
              <a:t>C</a:t>
            </a:r>
            <a:r>
              <a:rPr lang="en-US" dirty="0"/>
              <a:t>hange-Data-Capture (CDC)</a:t>
            </a:r>
            <a:r>
              <a:rPr dirty="0"/>
              <a:t> Option</a:t>
            </a:r>
            <a:r>
              <a:rPr lang="en-US" dirty="0"/>
              <a:t>s</a:t>
            </a:r>
            <a:endParaRPr dirty="0"/>
          </a:p>
        </p:txBody>
      </p:sp>
      <p:sp>
        <p:nvSpPr>
          <p:cNvPr id="3" name="Content Placeholder 2"/>
          <p:cNvSpPr>
            <a:spLocks noGrp="1"/>
          </p:cNvSpPr>
          <p:nvPr>
            <p:ph idx="1" hasCustomPrompt="1"/>
          </p:nvPr>
        </p:nvSpPr>
        <p:spPr/>
        <p:txBody>
          <a:bodyPr/>
          <a:lstStyle/>
          <a:p>
            <a:pPr lvl="0"/>
            <a:r>
              <a:rPr b="1" dirty="0">
                <a:latin typeface="Aptos" panose="020B0004020202020204" pitchFamily="34" charset="0"/>
              </a:rPr>
              <a:t>Full snapshot compare</a:t>
            </a:r>
            <a:r>
              <a:rPr lang="en-US" b="1" dirty="0">
                <a:latin typeface="Aptos" panose="020B0004020202020204" pitchFamily="34" charset="0"/>
              </a:rPr>
              <a:t>: </a:t>
            </a:r>
            <a:r>
              <a:rPr dirty="0">
                <a:latin typeface="Aptos" panose="020B0004020202020204" pitchFamily="34" charset="0"/>
              </a:rPr>
              <a:t>simple, expensive at scale</a:t>
            </a:r>
          </a:p>
          <a:p>
            <a:pPr lvl="0"/>
            <a:r>
              <a:rPr b="1" dirty="0">
                <a:latin typeface="Aptos" panose="020B0004020202020204" pitchFamily="34" charset="0"/>
              </a:rPr>
              <a:t>Timestamp</a:t>
            </a:r>
            <a:r>
              <a:rPr lang="en-US" b="1" dirty="0">
                <a:latin typeface="Aptos" panose="020B0004020202020204" pitchFamily="34" charset="0"/>
              </a:rPr>
              <a:t>: </a:t>
            </a:r>
            <a:r>
              <a:rPr dirty="0">
                <a:latin typeface="Aptos" panose="020B0004020202020204" pitchFamily="34" charset="0"/>
              </a:rPr>
              <a:t>easy, misses hard deletes unless modeled</a:t>
            </a:r>
          </a:p>
          <a:p>
            <a:pPr lvl="0"/>
            <a:r>
              <a:rPr b="1" dirty="0">
                <a:latin typeface="Aptos" panose="020B0004020202020204" pitchFamily="34" charset="0"/>
              </a:rPr>
              <a:t>Trigger-based CDC</a:t>
            </a:r>
            <a:r>
              <a:rPr lang="en-US" b="1" dirty="0">
                <a:latin typeface="Aptos" panose="020B0004020202020204" pitchFamily="34" charset="0"/>
              </a:rPr>
              <a:t>: </a:t>
            </a:r>
            <a:r>
              <a:rPr dirty="0">
                <a:latin typeface="Aptos" panose="020B0004020202020204" pitchFamily="34" charset="0"/>
              </a:rPr>
              <a:t>accurate but can burden source DB</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15</a:t>
            </a:fld>
            <a:endParaRPr lang="en-US"/>
          </a:p>
        </p:txBody>
      </p:sp>
      <p:pic>
        <p:nvPicPr>
          <p:cNvPr id="2050" name="Picture 2" descr="What is Change Data Capture (CDC)? - by Ashish Pratap Singh">
            <a:extLst>
              <a:ext uri="{FF2B5EF4-FFF2-40B4-BE49-F238E27FC236}">
                <a16:creationId xmlns:a16="http://schemas.microsoft.com/office/drawing/2014/main" id="{CFCD7029-B866-0470-D2F1-3BC105EB8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4563" y="3429000"/>
            <a:ext cx="6210604" cy="32621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CDC Example: Orders Table</a:t>
            </a:r>
          </a:p>
        </p:txBody>
      </p:sp>
      <p:sp>
        <p:nvSpPr>
          <p:cNvPr id="3" name="Content Placeholder 2"/>
          <p:cNvSpPr>
            <a:spLocks noGrp="1"/>
          </p:cNvSpPr>
          <p:nvPr>
            <p:ph idx="1" hasCustomPrompt="1"/>
          </p:nvPr>
        </p:nvSpPr>
        <p:spPr/>
        <p:txBody>
          <a:bodyPr/>
          <a:lstStyle/>
          <a:p>
            <a:pPr lvl="0">
              <a:lnSpc>
                <a:spcPct val="200000"/>
              </a:lnSpc>
            </a:pPr>
            <a:r>
              <a:rPr b="1" dirty="0"/>
              <a:t>Inserts</a:t>
            </a:r>
            <a:r>
              <a:rPr dirty="0"/>
              <a:t>: new orders must appear once</a:t>
            </a:r>
          </a:p>
          <a:p>
            <a:pPr lvl="0">
              <a:lnSpc>
                <a:spcPct val="200000"/>
              </a:lnSpc>
            </a:pPr>
            <a:r>
              <a:rPr b="1" dirty="0"/>
              <a:t>Updates</a:t>
            </a:r>
            <a:r>
              <a:rPr dirty="0"/>
              <a:t>: status changes from </a:t>
            </a:r>
            <a:r>
              <a:rPr dirty="0">
                <a:latin typeface="Courier"/>
              </a:rPr>
              <a:t>PENDING</a:t>
            </a:r>
            <a:r>
              <a:rPr dirty="0"/>
              <a:t> to </a:t>
            </a:r>
            <a:r>
              <a:rPr dirty="0">
                <a:latin typeface="Courier"/>
              </a:rPr>
              <a:t>PAID</a:t>
            </a:r>
          </a:p>
          <a:p>
            <a:pPr lvl="0">
              <a:lnSpc>
                <a:spcPct val="200000"/>
              </a:lnSpc>
            </a:pPr>
            <a:r>
              <a:rPr b="1" dirty="0"/>
              <a:t>Deletes</a:t>
            </a:r>
            <a:r>
              <a:rPr dirty="0"/>
              <a:t>: canceled rows may need tombstone semantics</a:t>
            </a:r>
          </a:p>
          <a:p>
            <a:pPr lvl="0">
              <a:lnSpc>
                <a:spcPct val="200000"/>
              </a:lnSpc>
            </a:pPr>
            <a:r>
              <a:rPr dirty="0"/>
              <a:t>Policy must specify how each change type maps to analytics</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rPr dirty="0"/>
              <a:t>Ingestion Modes</a:t>
            </a:r>
          </a:p>
        </p:txBody>
      </p:sp>
      <p:sp>
        <p:nvSpPr>
          <p:cNvPr id="3" name="Content Placeholder 2"/>
          <p:cNvSpPr>
            <a:spLocks noGrp="1"/>
          </p:cNvSpPr>
          <p:nvPr>
            <p:ph idx="1" hasCustomPrompt="1"/>
          </p:nvPr>
        </p:nvSpPr>
        <p:spPr/>
        <p:txBody>
          <a:bodyPr/>
          <a:lstStyle/>
          <a:p>
            <a:pPr lvl="0">
              <a:lnSpc>
                <a:spcPct val="200000"/>
              </a:lnSpc>
            </a:pPr>
            <a:r>
              <a:rPr dirty="0"/>
              <a:t>Full refresh: easiest correctness, worst cost/latency at scale</a:t>
            </a:r>
          </a:p>
          <a:p>
            <a:pPr lvl="0">
              <a:lnSpc>
                <a:spcPct val="200000"/>
              </a:lnSpc>
            </a:pPr>
            <a:r>
              <a:rPr sz="3200" b="1" dirty="0">
                <a:highlight>
                  <a:srgbClr val="FFFF00"/>
                </a:highlight>
              </a:rPr>
              <a:t>Incremental batch: standard for most BI pipelines</a:t>
            </a:r>
          </a:p>
          <a:p>
            <a:pPr lvl="0">
              <a:lnSpc>
                <a:spcPct val="200000"/>
              </a:lnSpc>
            </a:pPr>
            <a:r>
              <a:rPr dirty="0"/>
              <a:t>Streaming: lowest latency, highest operational discipline</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42734-D3DC-4469-01D9-A42AFABB7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FCC5C-6D43-5287-051E-A507D681B569}"/>
              </a:ext>
            </a:extLst>
          </p:cNvPr>
          <p:cNvSpPr>
            <a:spLocks noGrp="1"/>
          </p:cNvSpPr>
          <p:nvPr>
            <p:ph type="title" hasCustomPrompt="1"/>
          </p:nvPr>
        </p:nvSpPr>
        <p:spPr/>
        <p:txBody>
          <a:bodyPr/>
          <a:lstStyle/>
          <a:p>
            <a:pPr marL="0" lvl="0" indent="0">
              <a:buNone/>
            </a:pPr>
            <a:r>
              <a:rPr dirty="0"/>
              <a:t>Ingestion Modes</a:t>
            </a:r>
          </a:p>
        </p:txBody>
      </p:sp>
      <p:sp>
        <p:nvSpPr>
          <p:cNvPr id="5" name="Footer Placeholder 4">
            <a:extLst>
              <a:ext uri="{FF2B5EF4-FFF2-40B4-BE49-F238E27FC236}">
                <a16:creationId xmlns:a16="http://schemas.microsoft.com/office/drawing/2014/main" id="{22E93F69-3B26-B86A-EFB9-8F8C22C1C15A}"/>
              </a:ext>
            </a:extLst>
          </p:cNvPr>
          <p:cNvSpPr>
            <a:spLocks noGrp="1"/>
          </p:cNvSpPr>
          <p:nvPr>
            <p:ph type="ftr" sz="quarter" idx="11"/>
          </p:nvPr>
        </p:nvSpPr>
        <p:spPr/>
        <p:txBody>
          <a:bodyPr/>
          <a:lstStyle/>
          <a:p>
            <a:r>
              <a:rPr lang="en-US"/>
              <a:t>Or Peretz</a:t>
            </a:r>
          </a:p>
        </p:txBody>
      </p:sp>
      <p:sp>
        <p:nvSpPr>
          <p:cNvPr id="6" name="Slide Number Placeholder 5">
            <a:extLst>
              <a:ext uri="{FF2B5EF4-FFF2-40B4-BE49-F238E27FC236}">
                <a16:creationId xmlns:a16="http://schemas.microsoft.com/office/drawing/2014/main" id="{EB0E7C55-D762-8D85-1FB4-D14DE3B202F0}"/>
              </a:ext>
            </a:extLst>
          </p:cNvPr>
          <p:cNvSpPr>
            <a:spLocks noGrp="1"/>
          </p:cNvSpPr>
          <p:nvPr>
            <p:ph type="sldNum" sz="quarter" idx="12"/>
          </p:nvPr>
        </p:nvSpPr>
        <p:spPr/>
        <p:txBody>
          <a:bodyPr/>
          <a:lstStyle/>
          <a:p>
            <a:fld id="{C1FF6DA9-008F-8B48-92A6-B652298478BF}" type="slidenum">
              <a:rPr lang="en-US" smtClean="0"/>
              <a:t>18</a:t>
            </a:fld>
            <a:endParaRPr lang="en-US"/>
          </a:p>
        </p:txBody>
      </p:sp>
      <p:pic>
        <p:nvPicPr>
          <p:cNvPr id="7" name="תמונה 6">
            <a:extLst>
              <a:ext uri="{FF2B5EF4-FFF2-40B4-BE49-F238E27FC236}">
                <a16:creationId xmlns:a16="http://schemas.microsoft.com/office/drawing/2014/main" id="{C871E11D-5A6C-5E58-9670-52D6E97A39A1}"/>
              </a:ext>
            </a:extLst>
          </p:cNvPr>
          <p:cNvPicPr>
            <a:picLocks noChangeAspect="1"/>
          </p:cNvPicPr>
          <p:nvPr/>
        </p:nvPicPr>
        <p:blipFill>
          <a:blip r:embed="rId2"/>
          <a:srcRect l="2139" t="11372" b="4880"/>
          <a:stretch>
            <a:fillRect/>
          </a:stretch>
        </p:blipFill>
        <p:spPr>
          <a:xfrm>
            <a:off x="1162430" y="1530495"/>
            <a:ext cx="9867140" cy="4712998"/>
          </a:xfrm>
          <a:prstGeom prst="rect">
            <a:avLst/>
          </a:prstGeom>
          <a:ln>
            <a:solidFill>
              <a:schemeClr val="tx1"/>
            </a:solidFill>
          </a:ln>
        </p:spPr>
      </p:pic>
    </p:spTree>
    <p:extLst>
      <p:ext uri="{BB962C8B-B14F-4D97-AF65-F5344CB8AC3E}">
        <p14:creationId xmlns:p14="http://schemas.microsoft.com/office/powerpoint/2010/main" val="1481929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rPr dirty="0"/>
              <a:t>Source-to-Target Mapping (STTM)</a:t>
            </a:r>
          </a:p>
        </p:txBody>
      </p:sp>
      <p:sp>
        <p:nvSpPr>
          <p:cNvPr id="3" name="Content Placeholder 2"/>
          <p:cNvSpPr>
            <a:spLocks noGrp="1"/>
          </p:cNvSpPr>
          <p:nvPr>
            <p:ph idx="1" hasCustomPrompt="1"/>
          </p:nvPr>
        </p:nvSpPr>
        <p:spPr/>
        <p:txBody>
          <a:bodyPr/>
          <a:lstStyle/>
          <a:p>
            <a:pPr lvl="0"/>
            <a:r>
              <a:rPr dirty="0"/>
              <a:t>Source and target schemas rarely match when moving </a:t>
            </a:r>
            <a:br>
              <a:rPr lang="en-US" dirty="0"/>
            </a:br>
            <a:r>
              <a:rPr dirty="0"/>
              <a:t>data between systems</a:t>
            </a:r>
          </a:p>
          <a:p>
            <a:pPr lvl="0"/>
            <a:r>
              <a:rPr dirty="0"/>
              <a:t>a set of instructions defining how</a:t>
            </a:r>
            <a:r>
              <a:rPr lang="en-US" dirty="0"/>
              <a:t> to transfer content. </a:t>
            </a:r>
            <a:endParaRPr dirty="0"/>
          </a:p>
          <a:p>
            <a:pPr lvl="0"/>
            <a:r>
              <a:rPr dirty="0"/>
              <a:t>Critical when integrating multiple source</a:t>
            </a:r>
            <a:r>
              <a:rPr lang="en-US" dirty="0"/>
              <a:t>s into WH.</a:t>
            </a:r>
          </a:p>
          <a:p>
            <a:pPr lvl="0"/>
            <a:endParaRPr dirty="0"/>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STTM Mapping Flow</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20</a:t>
            </a:fld>
            <a:endParaRPr lang="en-US"/>
          </a:p>
        </p:txBody>
      </p:sp>
      <p:pic>
        <p:nvPicPr>
          <p:cNvPr id="4" name="Picture 2" descr="Source to Target Mapping: 6 Easy Steps">
            <a:extLst>
              <a:ext uri="{FF2B5EF4-FFF2-40B4-BE49-F238E27FC236}">
                <a16:creationId xmlns:a16="http://schemas.microsoft.com/office/drawing/2014/main" id="{2C766BF5-AC97-2F7E-BEEE-237EB79D7E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46" t="25775" r="3046" b="12161"/>
          <a:stretch>
            <a:fillRect/>
          </a:stretch>
        </p:blipFill>
        <p:spPr bwMode="auto">
          <a:xfrm>
            <a:off x="1334530" y="1920512"/>
            <a:ext cx="10247870" cy="34037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STTM Process Types</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21</a:t>
            </a:fld>
            <a:endParaRPr lang="en-US"/>
          </a:p>
        </p:txBody>
      </p:sp>
      <p:pic>
        <p:nvPicPr>
          <p:cNvPr id="9" name="תמונה 8">
            <a:extLst>
              <a:ext uri="{FF2B5EF4-FFF2-40B4-BE49-F238E27FC236}">
                <a16:creationId xmlns:a16="http://schemas.microsoft.com/office/drawing/2014/main" id="{7EFB707E-7C30-E21C-5887-058B213176AD}"/>
              </a:ext>
            </a:extLst>
          </p:cNvPr>
          <p:cNvPicPr>
            <a:picLocks noChangeAspect="1"/>
          </p:cNvPicPr>
          <p:nvPr/>
        </p:nvPicPr>
        <p:blipFill>
          <a:blip r:embed="rId2"/>
          <a:stretch>
            <a:fillRect/>
          </a:stretch>
        </p:blipFill>
        <p:spPr>
          <a:xfrm>
            <a:off x="1717589" y="1581471"/>
            <a:ext cx="8554995" cy="47748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Idempotency Rule</a:t>
            </a:r>
          </a:p>
        </p:txBody>
      </p:sp>
      <mc:AlternateContent xmlns:mc="http://schemas.openxmlformats.org/markup-compatibility/2006" xmlns:a14="http://schemas.microsoft.com/office/drawing/2010/main">
        <mc:Choice Requires="a14">
          <p:sp>
            <p:nvSpPr>
              <p:cNvPr id="3" name="Content Placeholder 2"/>
              <p:cNvSpPr>
                <a:spLocks noGrp="1"/>
              </p:cNvSpPr>
              <p:nvPr>
                <p:ph idx="1" hasCustomPrompt="1"/>
              </p:nvPr>
            </p:nvSpPr>
            <p:spPr/>
            <p:txBody>
              <a:bodyPr/>
              <a:lstStyle/>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𝐷</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𝐷</m:t>
                      </m:r>
                      <m:r>
                        <a:rPr>
                          <a:latin typeface="Cambria Math" panose="02040503050406030204" pitchFamily="18" charset="0"/>
                        </a:rPr>
                        <m:t>)</m:t>
                      </m:r>
                    </m:oMath>
                  </m:oMathPara>
                </a14:m>
                <a:endParaRPr lang="en-US" dirty="0"/>
              </a:p>
              <a:p>
                <a:pPr marL="0" lvl="0" indent="0">
                  <a:buNone/>
                </a:pPr>
                <a:endParaRPr dirty="0"/>
              </a:p>
              <a:p>
                <a:pPr lvl="0">
                  <a:buFont typeface="Arial" panose="020B0604020202020204" pitchFamily="34" charset="0"/>
                  <a:buChar char="•"/>
                </a:pPr>
                <a:r>
                  <a:rPr dirty="0"/>
                  <a:t>Reprocessing same input </a:t>
                </a:r>
                <a:r>
                  <a:rPr b="1" u="sng" dirty="0"/>
                  <a:t>cannot</a:t>
                </a:r>
                <a:r>
                  <a:rPr dirty="0"/>
                  <a:t> change final target state</a:t>
                </a:r>
                <a:r>
                  <a:rPr lang="en-US" dirty="0"/>
                  <a:t>.</a:t>
                </a:r>
              </a:p>
              <a:p>
                <a:pPr lvl="0">
                  <a:buFont typeface="Arial" panose="020B0604020202020204" pitchFamily="34" charset="0"/>
                  <a:buChar char="•"/>
                </a:pPr>
                <a:r>
                  <a:rPr dirty="0"/>
                  <a:t>Requires stable keys and </a:t>
                </a:r>
                <a:r>
                  <a:rPr b="1" u="sng" dirty="0"/>
                  <a:t>deterministic</a:t>
                </a:r>
                <a:r>
                  <a:rPr dirty="0"/>
                  <a:t> transformation rules</a:t>
                </a:r>
                <a:r>
                  <a:rPr lang="en-US" dirty="0"/>
                  <a:t>.</a:t>
                </a:r>
              </a:p>
              <a:p>
                <a:pPr lvl="0">
                  <a:buFont typeface="Arial" panose="020B0604020202020204" pitchFamily="34" charset="0"/>
                  <a:buChar char="•"/>
                </a:pPr>
                <a:r>
                  <a:rPr dirty="0"/>
                  <a:t>Implement with conflict-safe </a:t>
                </a:r>
                <a:r>
                  <a:rPr dirty="0">
                    <a:latin typeface="Courier"/>
                  </a:rPr>
                  <a:t>MERGE</a:t>
                </a:r>
                <a:r>
                  <a:rPr dirty="0"/>
                  <a:t>/</a:t>
                </a:r>
                <a:r>
                  <a:rPr dirty="0" err="1"/>
                  <a:t>upsert</a:t>
                </a:r>
                <a:r>
                  <a:rPr dirty="0"/>
                  <a:t> patterns</a:t>
                </a:r>
              </a:p>
            </p:txBody>
          </p:sp>
        </mc:Choice>
        <mc:Fallback xmlns="">
          <p:sp>
            <p:nvSpPr>
              <p:cNvPr id="3" name="Content Placeholder 2"/>
              <p:cNvSpPr>
                <a:spLocks noGrp="1" noRot="1" noChangeAspect="1" noMove="1" noResize="1" noEditPoints="1" noAdjustHandles="1" noChangeArrowheads="1" noChangeShapeType="1" noTextEdit="1"/>
              </p:cNvSpPr>
              <p:nvPr>
                <p:ph idx="1" hasCustomPrompt="1"/>
              </p:nvPr>
            </p:nvSpPr>
            <p:spPr>
              <a:blipFill>
                <a:blip r:embed="rId2"/>
                <a:stretch>
                  <a:fillRect l="-954"/>
                </a:stretch>
              </a:blipFill>
            </p:spPr>
            <p:txBody>
              <a:bodyPr/>
              <a:lstStyle/>
              <a:p>
                <a:r>
                  <a:rPr lang="he-IL">
                    <a:noFill/>
                  </a:rPr>
                  <a:t> </a:t>
                </a:r>
              </a:p>
            </p:txBody>
          </p:sp>
        </mc:Fallback>
      </mc:AlternateContent>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9F15AE-737D-866E-3CF2-D0120AD833A4}"/>
              </a:ext>
            </a:extLst>
          </p:cNvPr>
          <p:cNvSpPr>
            <a:spLocks noGrp="1"/>
          </p:cNvSpPr>
          <p:nvPr>
            <p:ph type="ctrTitle" hasCustomPrompt="1"/>
          </p:nvPr>
        </p:nvSpPr>
        <p:spPr>
          <a:xfrm>
            <a:off x="914400" y="2130426"/>
            <a:ext cx="10363200" cy="1470025"/>
          </a:xfrm>
        </p:spPr>
        <p:txBody>
          <a:bodyPr/>
          <a:lstStyle/>
          <a:p>
            <a:r>
              <a:rPr dirty="0"/>
              <a:t>DWH Schema Design</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Fact and Dimension Contracts</a:t>
            </a:r>
          </a:p>
        </p:txBody>
      </p:sp>
      <p:sp>
        <p:nvSpPr>
          <p:cNvPr id="3" name="Content Placeholder 2"/>
          <p:cNvSpPr>
            <a:spLocks noGrp="1"/>
          </p:cNvSpPr>
          <p:nvPr>
            <p:ph idx="1" hasCustomPrompt="1"/>
          </p:nvPr>
        </p:nvSpPr>
        <p:spPr/>
        <p:txBody>
          <a:bodyPr/>
          <a:lstStyle/>
          <a:p>
            <a:r>
              <a:t>Fact table: measurable business events at one declared grain</a:t>
            </a:r>
          </a:p>
          <a:p>
            <a:r>
              <a:t>Dimension table: descriptive context used to filter, group, and explain facts</a:t>
            </a:r>
          </a:p>
          <a:p>
            <a:r>
              <a:t>Measure: numeric value with explicit aggregation semantics</a:t>
            </a:r>
          </a:p>
          <a:p>
            <a:r>
              <a:t>Hierarchy: governed drill path such as day -&gt; month -&gt; quarter -&gt; year</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a:extLst>
              <a:ext uri="{FF2B5EF4-FFF2-40B4-BE49-F238E27FC236}">
                <a16:creationId xmlns:a16="http://schemas.microsoft.com/office/drawing/2014/main" id="{B38943B0-975E-5F47-A0B8-A0569D48BFBB}"/>
              </a:ext>
            </a:extLst>
          </p:cNvPr>
          <p:cNvSpPr>
            <a:spLocks noGrp="1" noChangeArrowheads="1"/>
          </p:cNvSpPr>
          <p:nvPr>
            <p:ph type="title"/>
          </p:nvPr>
        </p:nvSpPr>
        <p:spPr/>
        <p:txBody>
          <a:bodyPr>
            <a:normAutofit/>
          </a:bodyPr>
          <a:lstStyle/>
          <a:p>
            <a:r>
              <a:t>The Multi-Dimensional Model</a:t>
            </a:r>
          </a:p>
        </p:txBody>
      </p:sp>
      <p:sp>
        <p:nvSpPr>
          <p:cNvPr id="4102" name="Rectangle 4">
            <a:extLst>
              <a:ext uri="{FF2B5EF4-FFF2-40B4-BE49-F238E27FC236}">
                <a16:creationId xmlns:a16="http://schemas.microsoft.com/office/drawing/2014/main" id="{38FE7E56-CAC9-D14A-B945-6783C0FD84CF}"/>
              </a:ext>
            </a:extLst>
          </p:cNvPr>
          <p:cNvSpPr>
            <a:spLocks noChangeArrowheads="1"/>
          </p:cNvSpPr>
          <p:nvPr/>
        </p:nvSpPr>
        <p:spPr bwMode="auto">
          <a:xfrm>
            <a:off x="4572000" y="2785532"/>
            <a:ext cx="4191000" cy="1447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03" name="Text Box 5">
            <a:extLst>
              <a:ext uri="{FF2B5EF4-FFF2-40B4-BE49-F238E27FC236}">
                <a16:creationId xmlns:a16="http://schemas.microsoft.com/office/drawing/2014/main" id="{74FD915F-47AF-A641-8580-A745443BFD87}"/>
              </a:ext>
            </a:extLst>
          </p:cNvPr>
          <p:cNvSpPr txBox="1">
            <a:spLocks noChangeArrowheads="1"/>
          </p:cNvSpPr>
          <p:nvPr/>
        </p:nvSpPr>
        <p:spPr bwMode="auto">
          <a:xfrm>
            <a:off x="4572000" y="2785532"/>
            <a:ext cx="4756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Prod Code	Time Code 	Store Code	 Sales	Qty	</a:t>
            </a:r>
            <a:endParaRPr lang="en-US" altLang="en-GB"/>
          </a:p>
        </p:txBody>
      </p:sp>
      <p:sp>
        <p:nvSpPr>
          <p:cNvPr id="4104" name="Line 6">
            <a:extLst>
              <a:ext uri="{FF2B5EF4-FFF2-40B4-BE49-F238E27FC236}">
                <a16:creationId xmlns:a16="http://schemas.microsoft.com/office/drawing/2014/main" id="{D552DB62-3A4C-F143-870E-697AB749AE7B}"/>
              </a:ext>
            </a:extLst>
          </p:cNvPr>
          <p:cNvSpPr>
            <a:spLocks noChangeShapeType="1"/>
          </p:cNvSpPr>
          <p:nvPr/>
        </p:nvSpPr>
        <p:spPr bwMode="auto">
          <a:xfrm>
            <a:off x="4572000" y="3166532"/>
            <a:ext cx="419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5" name="Line 7">
            <a:extLst>
              <a:ext uri="{FF2B5EF4-FFF2-40B4-BE49-F238E27FC236}">
                <a16:creationId xmlns:a16="http://schemas.microsoft.com/office/drawing/2014/main" id="{1D7858C2-AE37-454F-B3CD-572572ADC1B6}"/>
              </a:ext>
            </a:extLst>
          </p:cNvPr>
          <p:cNvSpPr>
            <a:spLocks noChangeShapeType="1"/>
          </p:cNvSpPr>
          <p:nvPr/>
        </p:nvSpPr>
        <p:spPr bwMode="auto">
          <a:xfrm>
            <a:off x="54864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6" name="Line 8">
            <a:extLst>
              <a:ext uri="{FF2B5EF4-FFF2-40B4-BE49-F238E27FC236}">
                <a16:creationId xmlns:a16="http://schemas.microsoft.com/office/drawing/2014/main" id="{F95C00CB-F790-4C42-B22C-BEB7A1EB7A65}"/>
              </a:ext>
            </a:extLst>
          </p:cNvPr>
          <p:cNvSpPr>
            <a:spLocks noChangeShapeType="1"/>
          </p:cNvSpPr>
          <p:nvPr/>
        </p:nvSpPr>
        <p:spPr bwMode="auto">
          <a:xfrm>
            <a:off x="64008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7" name="Line 9">
            <a:extLst>
              <a:ext uri="{FF2B5EF4-FFF2-40B4-BE49-F238E27FC236}">
                <a16:creationId xmlns:a16="http://schemas.microsoft.com/office/drawing/2014/main" id="{66BBFC74-9048-1643-A879-5B490814AE91}"/>
              </a:ext>
            </a:extLst>
          </p:cNvPr>
          <p:cNvSpPr>
            <a:spLocks noChangeShapeType="1"/>
          </p:cNvSpPr>
          <p:nvPr/>
        </p:nvSpPr>
        <p:spPr bwMode="auto">
          <a:xfrm>
            <a:off x="73152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8" name="Line 10">
            <a:extLst>
              <a:ext uri="{FF2B5EF4-FFF2-40B4-BE49-F238E27FC236}">
                <a16:creationId xmlns:a16="http://schemas.microsoft.com/office/drawing/2014/main" id="{CE606625-BC34-1D48-9CBF-252B62C7F67A}"/>
              </a:ext>
            </a:extLst>
          </p:cNvPr>
          <p:cNvSpPr>
            <a:spLocks noChangeShapeType="1"/>
          </p:cNvSpPr>
          <p:nvPr/>
        </p:nvSpPr>
        <p:spPr bwMode="auto">
          <a:xfrm>
            <a:off x="80772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9" name="Rectangle 11">
            <a:extLst>
              <a:ext uri="{FF2B5EF4-FFF2-40B4-BE49-F238E27FC236}">
                <a16:creationId xmlns:a16="http://schemas.microsoft.com/office/drawing/2014/main" id="{7E4162FA-1850-DF47-A1C0-FE9183F65978}"/>
              </a:ext>
            </a:extLst>
          </p:cNvPr>
          <p:cNvSpPr>
            <a:spLocks noChangeArrowheads="1"/>
          </p:cNvSpPr>
          <p:nvPr/>
        </p:nvSpPr>
        <p:spPr bwMode="auto">
          <a:xfrm>
            <a:off x="2438400" y="18711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GB" altLang="en-GB"/>
          </a:p>
        </p:txBody>
      </p:sp>
      <p:sp>
        <p:nvSpPr>
          <p:cNvPr id="4110" name="Text Box 12">
            <a:extLst>
              <a:ext uri="{FF2B5EF4-FFF2-40B4-BE49-F238E27FC236}">
                <a16:creationId xmlns:a16="http://schemas.microsoft.com/office/drawing/2014/main" id="{28FE381C-DBA7-2242-A6CF-628A9BBEE66F}"/>
              </a:ext>
            </a:extLst>
          </p:cNvPr>
          <p:cNvSpPr txBox="1">
            <a:spLocks noChangeArrowheads="1"/>
          </p:cNvSpPr>
          <p:nvPr/>
        </p:nvSpPr>
        <p:spPr bwMode="auto">
          <a:xfrm>
            <a:off x="2514601" y="1871132"/>
            <a:ext cx="898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Store Info</a:t>
            </a:r>
            <a:endParaRPr lang="en-US" altLang="en-GB"/>
          </a:p>
        </p:txBody>
      </p:sp>
      <p:sp>
        <p:nvSpPr>
          <p:cNvPr id="4111" name="Rectangle 13">
            <a:extLst>
              <a:ext uri="{FF2B5EF4-FFF2-40B4-BE49-F238E27FC236}">
                <a16:creationId xmlns:a16="http://schemas.microsoft.com/office/drawing/2014/main" id="{922BBA25-DC16-3945-91B9-1C8BAB69994C}"/>
              </a:ext>
            </a:extLst>
          </p:cNvPr>
          <p:cNvSpPr>
            <a:spLocks noChangeArrowheads="1"/>
          </p:cNvSpPr>
          <p:nvPr/>
        </p:nvSpPr>
        <p:spPr bwMode="auto">
          <a:xfrm>
            <a:off x="1828800" y="33189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12" name="Text Box 14">
            <a:extLst>
              <a:ext uri="{FF2B5EF4-FFF2-40B4-BE49-F238E27FC236}">
                <a16:creationId xmlns:a16="http://schemas.microsoft.com/office/drawing/2014/main" id="{C6B135E8-6C34-D34C-85F3-A0CAFE4ED8C4}"/>
              </a:ext>
            </a:extLst>
          </p:cNvPr>
          <p:cNvSpPr txBox="1">
            <a:spLocks noChangeArrowheads="1"/>
          </p:cNvSpPr>
          <p:nvPr/>
        </p:nvSpPr>
        <p:spPr bwMode="auto">
          <a:xfrm>
            <a:off x="1905001" y="3318932"/>
            <a:ext cx="1076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Product Info</a:t>
            </a:r>
            <a:endParaRPr lang="en-US" altLang="en-GB"/>
          </a:p>
        </p:txBody>
      </p:sp>
      <p:sp>
        <p:nvSpPr>
          <p:cNvPr id="4113" name="Rectangle 15">
            <a:extLst>
              <a:ext uri="{FF2B5EF4-FFF2-40B4-BE49-F238E27FC236}">
                <a16:creationId xmlns:a16="http://schemas.microsoft.com/office/drawing/2014/main" id="{EF75846C-1D80-F944-91E9-84D3A25D4063}"/>
              </a:ext>
            </a:extLst>
          </p:cNvPr>
          <p:cNvSpPr>
            <a:spLocks noChangeArrowheads="1"/>
          </p:cNvSpPr>
          <p:nvPr/>
        </p:nvSpPr>
        <p:spPr bwMode="auto">
          <a:xfrm>
            <a:off x="3581400" y="47667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14" name="Text Box 16">
            <a:extLst>
              <a:ext uri="{FF2B5EF4-FFF2-40B4-BE49-F238E27FC236}">
                <a16:creationId xmlns:a16="http://schemas.microsoft.com/office/drawing/2014/main" id="{F31E0279-904F-6340-AB7C-032DB7D50429}"/>
              </a:ext>
            </a:extLst>
          </p:cNvPr>
          <p:cNvSpPr txBox="1">
            <a:spLocks noChangeArrowheads="1"/>
          </p:cNvSpPr>
          <p:nvPr/>
        </p:nvSpPr>
        <p:spPr bwMode="auto">
          <a:xfrm>
            <a:off x="3810001" y="4766732"/>
            <a:ext cx="898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Time Info</a:t>
            </a:r>
            <a:endParaRPr lang="en-US" altLang="en-GB"/>
          </a:p>
        </p:txBody>
      </p:sp>
      <p:sp>
        <p:nvSpPr>
          <p:cNvPr id="4116" name="Text Box 18">
            <a:extLst>
              <a:ext uri="{FF2B5EF4-FFF2-40B4-BE49-F238E27FC236}">
                <a16:creationId xmlns:a16="http://schemas.microsoft.com/office/drawing/2014/main" id="{E08C5709-7029-BA45-92FB-574C679C1E17}"/>
              </a:ext>
            </a:extLst>
          </p:cNvPr>
          <p:cNvSpPr txBox="1">
            <a:spLocks noChangeArrowheads="1"/>
          </p:cNvSpPr>
          <p:nvPr/>
        </p:nvSpPr>
        <p:spPr bwMode="auto">
          <a:xfrm>
            <a:off x="7315201" y="2023532"/>
            <a:ext cx="1876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600"/>
              <a:t>Numerical Measures</a:t>
            </a:r>
            <a:endParaRPr lang="en-US" altLang="en-GB"/>
          </a:p>
        </p:txBody>
      </p:sp>
      <p:sp>
        <p:nvSpPr>
          <p:cNvPr id="4117" name="Line 19">
            <a:extLst>
              <a:ext uri="{FF2B5EF4-FFF2-40B4-BE49-F238E27FC236}">
                <a16:creationId xmlns:a16="http://schemas.microsoft.com/office/drawing/2014/main" id="{BC96A399-DB7B-2D41-B21D-69046B7B9C09}"/>
              </a:ext>
            </a:extLst>
          </p:cNvPr>
          <p:cNvSpPr>
            <a:spLocks noChangeShapeType="1"/>
          </p:cNvSpPr>
          <p:nvPr/>
        </p:nvSpPr>
        <p:spPr bwMode="auto">
          <a:xfrm flipH="1">
            <a:off x="7696200" y="2328332"/>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18" name="Line 20">
            <a:extLst>
              <a:ext uri="{FF2B5EF4-FFF2-40B4-BE49-F238E27FC236}">
                <a16:creationId xmlns:a16="http://schemas.microsoft.com/office/drawing/2014/main" id="{01BE0F24-75C2-F74D-8B1D-AD3397C42836}"/>
              </a:ext>
            </a:extLst>
          </p:cNvPr>
          <p:cNvSpPr>
            <a:spLocks noChangeShapeType="1"/>
          </p:cNvSpPr>
          <p:nvPr/>
        </p:nvSpPr>
        <p:spPr bwMode="auto">
          <a:xfrm>
            <a:off x="8153400" y="2328332"/>
            <a:ext cx="3048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19" name="Text Box 21">
            <a:extLst>
              <a:ext uri="{FF2B5EF4-FFF2-40B4-BE49-F238E27FC236}">
                <a16:creationId xmlns:a16="http://schemas.microsoft.com/office/drawing/2014/main" id="{9F7C093C-102A-C14E-A5AB-119868358C8F}"/>
              </a:ext>
            </a:extLst>
          </p:cNvPr>
          <p:cNvSpPr txBox="1">
            <a:spLocks noChangeArrowheads="1"/>
          </p:cNvSpPr>
          <p:nvPr/>
        </p:nvSpPr>
        <p:spPr bwMode="auto">
          <a:xfrm>
            <a:off x="4721226" y="1871133"/>
            <a:ext cx="26971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GB" sz="1600"/>
              <a:t>Key columns joining fact table</a:t>
            </a:r>
          </a:p>
          <a:p>
            <a:pPr algn="ctr"/>
            <a:r>
              <a:rPr lang="en-US" altLang="en-GB" sz="1600"/>
              <a:t>to dimension tables</a:t>
            </a:r>
            <a:endParaRPr lang="en-US" altLang="en-GB"/>
          </a:p>
        </p:txBody>
      </p:sp>
      <p:sp>
        <p:nvSpPr>
          <p:cNvPr id="4120" name="Line 22">
            <a:extLst>
              <a:ext uri="{FF2B5EF4-FFF2-40B4-BE49-F238E27FC236}">
                <a16:creationId xmlns:a16="http://schemas.microsoft.com/office/drawing/2014/main" id="{B3D2F552-69DC-C448-8988-66CD648370C9}"/>
              </a:ext>
            </a:extLst>
          </p:cNvPr>
          <p:cNvSpPr>
            <a:spLocks noChangeShapeType="1"/>
          </p:cNvSpPr>
          <p:nvPr/>
        </p:nvSpPr>
        <p:spPr bwMode="auto">
          <a:xfrm flipH="1">
            <a:off x="5029200" y="2404532"/>
            <a:ext cx="762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1" name="Line 23">
            <a:extLst>
              <a:ext uri="{FF2B5EF4-FFF2-40B4-BE49-F238E27FC236}">
                <a16:creationId xmlns:a16="http://schemas.microsoft.com/office/drawing/2014/main" id="{0FDF37E6-9256-C94D-84A6-AD230E35DD1C}"/>
              </a:ext>
            </a:extLst>
          </p:cNvPr>
          <p:cNvSpPr>
            <a:spLocks noChangeShapeType="1"/>
          </p:cNvSpPr>
          <p:nvPr/>
        </p:nvSpPr>
        <p:spPr bwMode="auto">
          <a:xfrm>
            <a:off x="6019800" y="2404532"/>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2" name="Line 24">
            <a:extLst>
              <a:ext uri="{FF2B5EF4-FFF2-40B4-BE49-F238E27FC236}">
                <a16:creationId xmlns:a16="http://schemas.microsoft.com/office/drawing/2014/main" id="{A3C890C5-B49E-C34D-A63E-633BBD302F74}"/>
              </a:ext>
            </a:extLst>
          </p:cNvPr>
          <p:cNvSpPr>
            <a:spLocks noChangeShapeType="1"/>
          </p:cNvSpPr>
          <p:nvPr/>
        </p:nvSpPr>
        <p:spPr bwMode="auto">
          <a:xfrm>
            <a:off x="6324600" y="2404532"/>
            <a:ext cx="533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3" name="Text Box 25">
            <a:extLst>
              <a:ext uri="{FF2B5EF4-FFF2-40B4-BE49-F238E27FC236}">
                <a16:creationId xmlns:a16="http://schemas.microsoft.com/office/drawing/2014/main" id="{5C512341-F5A8-F74F-842D-C32D87883F82}"/>
              </a:ext>
            </a:extLst>
          </p:cNvPr>
          <p:cNvSpPr txBox="1">
            <a:spLocks noChangeArrowheads="1"/>
          </p:cNvSpPr>
          <p:nvPr/>
        </p:nvSpPr>
        <p:spPr bwMode="auto">
          <a:xfrm>
            <a:off x="8763000" y="3115732"/>
            <a:ext cx="1581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800">
                <a:latin typeface="Arial" panose="020B0604020202020204" pitchFamily="34" charset="0"/>
              </a:rPr>
              <a:t>Fact table for </a:t>
            </a:r>
          </a:p>
          <a:p>
            <a:r>
              <a:rPr lang="en-US" altLang="en-GB" sz="1800">
                <a:latin typeface="Arial" panose="020B0604020202020204" pitchFamily="34" charset="0"/>
              </a:rPr>
              <a:t>measures</a:t>
            </a:r>
            <a:endParaRPr lang="en-US" altLang="en-GB"/>
          </a:p>
        </p:txBody>
      </p:sp>
      <p:sp>
        <p:nvSpPr>
          <p:cNvPr id="4124" name="Line 26">
            <a:extLst>
              <a:ext uri="{FF2B5EF4-FFF2-40B4-BE49-F238E27FC236}">
                <a16:creationId xmlns:a16="http://schemas.microsoft.com/office/drawing/2014/main" id="{59E4C600-71F9-EC45-9E31-018C5368FF91}"/>
              </a:ext>
            </a:extLst>
          </p:cNvPr>
          <p:cNvSpPr>
            <a:spLocks noChangeShapeType="1"/>
          </p:cNvSpPr>
          <p:nvPr/>
        </p:nvSpPr>
        <p:spPr bwMode="auto">
          <a:xfrm>
            <a:off x="2438400" y="21759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5" name="Line 27">
            <a:extLst>
              <a:ext uri="{FF2B5EF4-FFF2-40B4-BE49-F238E27FC236}">
                <a16:creationId xmlns:a16="http://schemas.microsoft.com/office/drawing/2014/main" id="{27E0D534-D6BE-D14C-AE3F-E9C8468DDE15}"/>
              </a:ext>
            </a:extLst>
          </p:cNvPr>
          <p:cNvSpPr>
            <a:spLocks noChangeShapeType="1"/>
          </p:cNvSpPr>
          <p:nvPr/>
        </p:nvSpPr>
        <p:spPr bwMode="auto">
          <a:xfrm>
            <a:off x="1828800" y="36237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6" name="Line 28">
            <a:extLst>
              <a:ext uri="{FF2B5EF4-FFF2-40B4-BE49-F238E27FC236}">
                <a16:creationId xmlns:a16="http://schemas.microsoft.com/office/drawing/2014/main" id="{35DD8D22-502C-DD4E-915F-43D29361BEF8}"/>
              </a:ext>
            </a:extLst>
          </p:cNvPr>
          <p:cNvSpPr>
            <a:spLocks noChangeShapeType="1"/>
          </p:cNvSpPr>
          <p:nvPr/>
        </p:nvSpPr>
        <p:spPr bwMode="auto">
          <a:xfrm>
            <a:off x="3581400" y="50715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7" name="Line 29">
            <a:extLst>
              <a:ext uri="{FF2B5EF4-FFF2-40B4-BE49-F238E27FC236}">
                <a16:creationId xmlns:a16="http://schemas.microsoft.com/office/drawing/2014/main" id="{5D3CB2E5-4FCE-7C48-A6F8-ACD745B9E1DB}"/>
              </a:ext>
            </a:extLst>
          </p:cNvPr>
          <p:cNvSpPr>
            <a:spLocks noChangeShapeType="1"/>
          </p:cNvSpPr>
          <p:nvPr/>
        </p:nvSpPr>
        <p:spPr bwMode="auto">
          <a:xfrm>
            <a:off x="3810000" y="2480732"/>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8" name="Line 30">
            <a:extLst>
              <a:ext uri="{FF2B5EF4-FFF2-40B4-BE49-F238E27FC236}">
                <a16:creationId xmlns:a16="http://schemas.microsoft.com/office/drawing/2014/main" id="{080588E7-C281-304C-9A61-4FD1BD410AB3}"/>
              </a:ext>
            </a:extLst>
          </p:cNvPr>
          <p:cNvSpPr>
            <a:spLocks noChangeShapeType="1"/>
          </p:cNvSpPr>
          <p:nvPr/>
        </p:nvSpPr>
        <p:spPr bwMode="auto">
          <a:xfrm flipV="1">
            <a:off x="3352800" y="3471332"/>
            <a:ext cx="914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9" name="Line 31">
            <a:extLst>
              <a:ext uri="{FF2B5EF4-FFF2-40B4-BE49-F238E27FC236}">
                <a16:creationId xmlns:a16="http://schemas.microsoft.com/office/drawing/2014/main" id="{E55C15C7-8B2F-4E48-B9DD-D4CD0BEAB263}"/>
              </a:ext>
            </a:extLst>
          </p:cNvPr>
          <p:cNvSpPr>
            <a:spLocks noChangeShapeType="1"/>
          </p:cNvSpPr>
          <p:nvPr/>
        </p:nvSpPr>
        <p:spPr bwMode="auto">
          <a:xfrm flipV="1">
            <a:off x="4038600" y="4004732"/>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30" name="Text Box 32">
            <a:extLst>
              <a:ext uri="{FF2B5EF4-FFF2-40B4-BE49-F238E27FC236}">
                <a16:creationId xmlns:a16="http://schemas.microsoft.com/office/drawing/2014/main" id="{BE7BC731-F382-544E-B574-FEDF980504E1}"/>
              </a:ext>
            </a:extLst>
          </p:cNvPr>
          <p:cNvSpPr txBox="1">
            <a:spLocks noChangeArrowheads="1"/>
          </p:cNvSpPr>
          <p:nvPr/>
        </p:nvSpPr>
        <p:spPr bwMode="auto">
          <a:xfrm>
            <a:off x="1524000" y="4614333"/>
            <a:ext cx="1936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800">
                <a:latin typeface="Arial" panose="020B0604020202020204" pitchFamily="34" charset="0"/>
              </a:rPr>
              <a:t>Dimension tables</a:t>
            </a:r>
            <a:endParaRPr lang="en-US" altLang="en-GB"/>
          </a:p>
        </p:txBody>
      </p:sp>
      <p:sp>
        <p:nvSpPr>
          <p:cNvPr id="2" name="Footer Placeholder 1">
            <a:extLst>
              <a:ext uri="{FF2B5EF4-FFF2-40B4-BE49-F238E27FC236}">
                <a16:creationId xmlns:a16="http://schemas.microsoft.com/office/drawing/2014/main" id="{7C2A4356-E613-A34A-B118-169155E8210C}"/>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05F9BB05-9A23-1C43-A0F0-3ECB4E5CDAEF}"/>
              </a:ext>
            </a:extLst>
          </p:cNvPr>
          <p:cNvSpPr>
            <a:spLocks noGrp="1"/>
          </p:cNvSpPr>
          <p:nvPr>
            <p:ph type="sldNum" sz="quarter" idx="12"/>
          </p:nvPr>
        </p:nvSpPr>
        <p:spPr/>
        <p:txBody>
          <a:bodyPr/>
          <a:lstStyle/>
          <a:p>
            <a:r>
              <a:t>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21D90797-729A-0045-8871-C1183921C696}"/>
              </a:ext>
            </a:extLst>
          </p:cNvPr>
          <p:cNvSpPr>
            <a:spLocks noGrp="1" noChangeArrowheads="1"/>
          </p:cNvSpPr>
          <p:nvPr>
            <p:ph type="title"/>
          </p:nvPr>
        </p:nvSpPr>
        <p:spPr>
          <a:xfrm>
            <a:off x="1981200" y="152400"/>
            <a:ext cx="8001000" cy="914400"/>
          </a:xfrm>
        </p:spPr>
        <p:txBody>
          <a:bodyPr>
            <a:normAutofit/>
          </a:bodyPr>
          <a:lstStyle/>
          <a:p>
            <a:r>
              <a:t>Dimensional Modeling</a:t>
            </a:r>
          </a:p>
        </p:txBody>
      </p:sp>
      <p:sp>
        <p:nvSpPr>
          <p:cNvPr id="6149" name="Rectangle 3">
            <a:extLst>
              <a:ext uri="{FF2B5EF4-FFF2-40B4-BE49-F238E27FC236}">
                <a16:creationId xmlns:a16="http://schemas.microsoft.com/office/drawing/2014/main" id="{A216099D-772B-5A4F-B931-3F2F6C666776}"/>
              </a:ext>
            </a:extLst>
          </p:cNvPr>
          <p:cNvSpPr>
            <a:spLocks noGrp="1" noChangeArrowheads="1"/>
          </p:cNvSpPr>
          <p:nvPr>
            <p:ph type="body" idx="4294967295"/>
          </p:nvPr>
        </p:nvSpPr>
        <p:spPr>
          <a:xfrm>
            <a:off x="1257300" y="1270675"/>
            <a:ext cx="9448800" cy="5257800"/>
          </a:xfrm>
        </p:spPr>
        <p:txBody>
          <a:bodyPr/>
          <a:lstStyle/>
          <a:p>
            <a:r>
              <a:rPr dirty="0"/>
              <a:t>Dimensions organize attributes into stable analysis paths</a:t>
            </a:r>
          </a:p>
          <a:p>
            <a:r>
              <a:rPr dirty="0"/>
              <a:t>E.g., Time: day -&gt; week -&gt; month -&gt; quarter -&gt; year</a:t>
            </a:r>
          </a:p>
          <a:p>
            <a:r>
              <a:rPr dirty="0"/>
              <a:t>E.g., Product: SKU -&gt; product line -&gt; brand -&gt; category</a:t>
            </a:r>
          </a:p>
          <a:p>
            <a:r>
              <a:rPr dirty="0"/>
              <a:t>Conformed dimensions reuse the same keys and labels across facts</a:t>
            </a:r>
          </a:p>
          <a:p>
            <a:r>
              <a:rPr dirty="0"/>
              <a:t>Role-playing dimensions reuse one table in different roles, e.g., </a:t>
            </a:r>
            <a:r>
              <a:rPr dirty="0" err="1"/>
              <a:t>order_date</a:t>
            </a:r>
            <a:r>
              <a:rPr dirty="0"/>
              <a:t> and </a:t>
            </a:r>
            <a:r>
              <a:rPr dirty="0" err="1"/>
              <a:t>ship_date</a:t>
            </a:r>
            <a:endParaRPr dirty="0"/>
          </a:p>
        </p:txBody>
      </p:sp>
      <p:sp>
        <p:nvSpPr>
          <p:cNvPr id="6152" name="Rectangle 9">
            <a:extLst>
              <a:ext uri="{FF2B5EF4-FFF2-40B4-BE49-F238E27FC236}">
                <a16:creationId xmlns:a16="http://schemas.microsoft.com/office/drawing/2014/main" id="{046B59CD-CC0F-FE4E-B5CC-BEF27603B288}"/>
              </a:ext>
            </a:extLst>
          </p:cNvPr>
          <p:cNvSpPr>
            <a:spLocks noChangeArrowheads="1"/>
          </p:cNvSpPr>
          <p:nvPr/>
        </p:nvSpPr>
        <p:spPr bwMode="auto">
          <a:xfrm>
            <a:off x="7373938" y="60229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2" name="Footer Placeholder 1">
            <a:extLst>
              <a:ext uri="{FF2B5EF4-FFF2-40B4-BE49-F238E27FC236}">
                <a16:creationId xmlns:a16="http://schemas.microsoft.com/office/drawing/2014/main" id="{E4232098-CE90-3E4E-B701-CC9863B74290}"/>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CBAF315A-EA2D-4D4A-AFC1-5625C954D217}"/>
              </a:ext>
            </a:extLst>
          </p:cNvPr>
          <p:cNvSpPr>
            <a:spLocks noGrp="1"/>
          </p:cNvSpPr>
          <p:nvPr>
            <p:ph type="sldNum" sz="quarter" idx="12"/>
          </p:nvPr>
        </p:nvSpPr>
        <p:spPr/>
        <p:txBody>
          <a:bodyPr/>
          <a:lstStyle/>
          <a:p>
            <a:r>
              <a:t>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52F53E2-4D3B-BC42-AE45-483F6CD6E3CD}"/>
              </a:ext>
            </a:extLst>
          </p:cNvPr>
          <p:cNvSpPr>
            <a:spLocks noGrp="1" noChangeArrowheads="1"/>
          </p:cNvSpPr>
          <p:nvPr>
            <p:ph type="title"/>
          </p:nvPr>
        </p:nvSpPr>
        <p:spPr>
          <a:xfrm>
            <a:off x="2070100" y="457200"/>
            <a:ext cx="8001000" cy="609600"/>
          </a:xfrm>
        </p:spPr>
        <p:txBody>
          <a:bodyPr>
            <a:normAutofit fontScale="90000"/>
          </a:bodyPr>
          <a:lstStyle/>
          <a:p>
            <a:r>
              <a:t>Concept Hierarchy: Location Dimension</a:t>
            </a:r>
          </a:p>
        </p:txBody>
      </p:sp>
      <p:sp>
        <p:nvSpPr>
          <p:cNvPr id="66563" name="Text Box 3">
            <a:extLst>
              <a:ext uri="{FF2B5EF4-FFF2-40B4-BE49-F238E27FC236}">
                <a16:creationId xmlns:a16="http://schemas.microsoft.com/office/drawing/2014/main" id="{D661D559-C2C8-4642-8AA3-8DC35B8DEF1D}"/>
              </a:ext>
            </a:extLst>
          </p:cNvPr>
          <p:cNvSpPr txBox="1">
            <a:spLocks noChangeArrowheads="1"/>
          </p:cNvSpPr>
          <p:nvPr/>
        </p:nvSpPr>
        <p:spPr bwMode="auto">
          <a:xfrm>
            <a:off x="6400801" y="1447800"/>
            <a:ext cx="48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all</a:t>
            </a:r>
          </a:p>
        </p:txBody>
      </p:sp>
      <p:sp>
        <p:nvSpPr>
          <p:cNvPr id="66564" name="Text Box 4">
            <a:extLst>
              <a:ext uri="{FF2B5EF4-FFF2-40B4-BE49-F238E27FC236}">
                <a16:creationId xmlns:a16="http://schemas.microsoft.com/office/drawing/2014/main" id="{D880A331-F813-404C-9EEC-8A805F556F4B}"/>
              </a:ext>
            </a:extLst>
          </p:cNvPr>
          <p:cNvSpPr txBox="1">
            <a:spLocks noChangeArrowheads="1"/>
          </p:cNvSpPr>
          <p:nvPr/>
        </p:nvSpPr>
        <p:spPr bwMode="auto">
          <a:xfrm>
            <a:off x="4876801" y="2438400"/>
            <a:ext cx="106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Europe</a:t>
            </a:r>
          </a:p>
        </p:txBody>
      </p:sp>
      <p:sp>
        <p:nvSpPr>
          <p:cNvPr id="66565" name="Text Box 5">
            <a:extLst>
              <a:ext uri="{FF2B5EF4-FFF2-40B4-BE49-F238E27FC236}">
                <a16:creationId xmlns:a16="http://schemas.microsoft.com/office/drawing/2014/main" id="{3C582C8A-1E77-3744-AEBB-897F22684AA6}"/>
              </a:ext>
            </a:extLst>
          </p:cNvPr>
          <p:cNvSpPr txBox="1">
            <a:spLocks noChangeArrowheads="1"/>
          </p:cNvSpPr>
          <p:nvPr/>
        </p:nvSpPr>
        <p:spPr bwMode="auto">
          <a:xfrm>
            <a:off x="7924800" y="2438400"/>
            <a:ext cx="2095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North_America</a:t>
            </a:r>
          </a:p>
        </p:txBody>
      </p:sp>
      <p:sp>
        <p:nvSpPr>
          <p:cNvPr id="66566" name="Text Box 6">
            <a:extLst>
              <a:ext uri="{FF2B5EF4-FFF2-40B4-BE49-F238E27FC236}">
                <a16:creationId xmlns:a16="http://schemas.microsoft.com/office/drawing/2014/main" id="{E90FEC38-CEB2-944A-A968-338191EA5554}"/>
              </a:ext>
            </a:extLst>
          </p:cNvPr>
          <p:cNvSpPr txBox="1">
            <a:spLocks noChangeArrowheads="1"/>
          </p:cNvSpPr>
          <p:nvPr/>
        </p:nvSpPr>
        <p:spPr bwMode="auto">
          <a:xfrm>
            <a:off x="9553576" y="350520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Mexico</a:t>
            </a:r>
          </a:p>
        </p:txBody>
      </p:sp>
      <p:sp>
        <p:nvSpPr>
          <p:cNvPr id="66567" name="Text Box 7">
            <a:extLst>
              <a:ext uri="{FF2B5EF4-FFF2-40B4-BE49-F238E27FC236}">
                <a16:creationId xmlns:a16="http://schemas.microsoft.com/office/drawing/2014/main" id="{DC480BB9-7E0A-7D4D-BDD6-1351AB24FD47}"/>
              </a:ext>
            </a:extLst>
          </p:cNvPr>
          <p:cNvSpPr txBox="1">
            <a:spLocks noChangeArrowheads="1"/>
          </p:cNvSpPr>
          <p:nvPr/>
        </p:nvSpPr>
        <p:spPr bwMode="auto">
          <a:xfrm>
            <a:off x="7467601" y="3505200"/>
            <a:ext cx="1096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Canada</a:t>
            </a:r>
          </a:p>
        </p:txBody>
      </p:sp>
      <p:sp>
        <p:nvSpPr>
          <p:cNvPr id="66568" name="Text Box 8">
            <a:extLst>
              <a:ext uri="{FF2B5EF4-FFF2-40B4-BE49-F238E27FC236}">
                <a16:creationId xmlns:a16="http://schemas.microsoft.com/office/drawing/2014/main" id="{652103C1-C236-7246-AE4E-16D7C7890E44}"/>
              </a:ext>
            </a:extLst>
          </p:cNvPr>
          <p:cNvSpPr txBox="1">
            <a:spLocks noChangeArrowheads="1"/>
          </p:cNvSpPr>
          <p:nvPr/>
        </p:nvSpPr>
        <p:spPr bwMode="auto">
          <a:xfrm>
            <a:off x="5751514" y="3505200"/>
            <a:ext cx="877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Spain</a:t>
            </a:r>
          </a:p>
        </p:txBody>
      </p:sp>
      <p:sp>
        <p:nvSpPr>
          <p:cNvPr id="66569" name="Text Box 9">
            <a:extLst>
              <a:ext uri="{FF2B5EF4-FFF2-40B4-BE49-F238E27FC236}">
                <a16:creationId xmlns:a16="http://schemas.microsoft.com/office/drawing/2014/main" id="{DE679913-466A-5647-AFCB-4E41D766C82D}"/>
              </a:ext>
            </a:extLst>
          </p:cNvPr>
          <p:cNvSpPr txBox="1">
            <a:spLocks noChangeArrowheads="1"/>
          </p:cNvSpPr>
          <p:nvPr/>
        </p:nvSpPr>
        <p:spPr bwMode="auto">
          <a:xfrm>
            <a:off x="3733801" y="3505200"/>
            <a:ext cx="1317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Germany</a:t>
            </a:r>
          </a:p>
        </p:txBody>
      </p:sp>
      <p:sp>
        <p:nvSpPr>
          <p:cNvPr id="66570" name="Text Box 10">
            <a:extLst>
              <a:ext uri="{FF2B5EF4-FFF2-40B4-BE49-F238E27FC236}">
                <a16:creationId xmlns:a16="http://schemas.microsoft.com/office/drawing/2014/main" id="{D3FD3549-31C8-6949-8EE5-D0E5C51616A6}"/>
              </a:ext>
            </a:extLst>
          </p:cNvPr>
          <p:cNvSpPr txBox="1">
            <a:spLocks noChangeArrowheads="1"/>
          </p:cNvSpPr>
          <p:nvPr/>
        </p:nvSpPr>
        <p:spPr bwMode="auto">
          <a:xfrm>
            <a:off x="6400801" y="4572000"/>
            <a:ext cx="1520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Vancouver</a:t>
            </a:r>
          </a:p>
        </p:txBody>
      </p:sp>
      <p:sp>
        <p:nvSpPr>
          <p:cNvPr id="66571" name="Text Box 11">
            <a:extLst>
              <a:ext uri="{FF2B5EF4-FFF2-40B4-BE49-F238E27FC236}">
                <a16:creationId xmlns:a16="http://schemas.microsoft.com/office/drawing/2014/main" id="{1F70F901-7990-0540-9DC1-A56AAFCC7B35}"/>
              </a:ext>
            </a:extLst>
          </p:cNvPr>
          <p:cNvSpPr txBox="1">
            <a:spLocks noChangeArrowheads="1"/>
          </p:cNvSpPr>
          <p:nvPr/>
        </p:nvSpPr>
        <p:spPr bwMode="auto">
          <a:xfrm>
            <a:off x="7543800" y="5562600"/>
            <a:ext cx="1284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M. Wind</a:t>
            </a:r>
          </a:p>
        </p:txBody>
      </p:sp>
      <p:sp>
        <p:nvSpPr>
          <p:cNvPr id="66572" name="Text Box 12">
            <a:extLst>
              <a:ext uri="{FF2B5EF4-FFF2-40B4-BE49-F238E27FC236}">
                <a16:creationId xmlns:a16="http://schemas.microsoft.com/office/drawing/2014/main" id="{0DF70A75-6FD1-214B-9D58-2EE2F5DF7740}"/>
              </a:ext>
            </a:extLst>
          </p:cNvPr>
          <p:cNvSpPr txBox="1">
            <a:spLocks noChangeArrowheads="1"/>
          </p:cNvSpPr>
          <p:nvPr/>
        </p:nvSpPr>
        <p:spPr bwMode="auto">
          <a:xfrm>
            <a:off x="5715001" y="5562600"/>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L. Chan</a:t>
            </a:r>
          </a:p>
        </p:txBody>
      </p:sp>
      <p:sp>
        <p:nvSpPr>
          <p:cNvPr id="66573" name="Text Box 13">
            <a:extLst>
              <a:ext uri="{FF2B5EF4-FFF2-40B4-BE49-F238E27FC236}">
                <a16:creationId xmlns:a16="http://schemas.microsoft.com/office/drawing/2014/main" id="{53B6CB5A-334C-824D-A63F-7853D1289969}"/>
              </a:ext>
            </a:extLst>
          </p:cNvPr>
          <p:cNvSpPr txBox="1">
            <a:spLocks noChangeArrowheads="1"/>
          </p:cNvSpPr>
          <p:nvPr/>
        </p:nvSpPr>
        <p:spPr bwMode="auto">
          <a:xfrm>
            <a:off x="6858000" y="24384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4" name="Text Box 14">
            <a:extLst>
              <a:ext uri="{FF2B5EF4-FFF2-40B4-BE49-F238E27FC236}">
                <a16:creationId xmlns:a16="http://schemas.microsoft.com/office/drawing/2014/main" id="{824B3FE5-AFB7-774D-9EB9-4ACAE95B5606}"/>
              </a:ext>
            </a:extLst>
          </p:cNvPr>
          <p:cNvSpPr txBox="1">
            <a:spLocks noChangeArrowheads="1"/>
          </p:cNvSpPr>
          <p:nvPr/>
        </p:nvSpPr>
        <p:spPr bwMode="auto">
          <a:xfrm>
            <a:off x="8915400" y="3505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5" name="Text Box 15">
            <a:extLst>
              <a:ext uri="{FF2B5EF4-FFF2-40B4-BE49-F238E27FC236}">
                <a16:creationId xmlns:a16="http://schemas.microsoft.com/office/drawing/2014/main" id="{E173470D-7E3C-EB41-A53B-E0510C59E64C}"/>
              </a:ext>
            </a:extLst>
          </p:cNvPr>
          <p:cNvSpPr txBox="1">
            <a:spLocks noChangeArrowheads="1"/>
          </p:cNvSpPr>
          <p:nvPr/>
        </p:nvSpPr>
        <p:spPr bwMode="auto">
          <a:xfrm>
            <a:off x="5181600" y="3505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6" name="Text Box 16">
            <a:extLst>
              <a:ext uri="{FF2B5EF4-FFF2-40B4-BE49-F238E27FC236}">
                <a16:creationId xmlns:a16="http://schemas.microsoft.com/office/drawing/2014/main" id="{19E109BF-1DFE-6C4A-B1DB-C104401EAD70}"/>
              </a:ext>
            </a:extLst>
          </p:cNvPr>
          <p:cNvSpPr txBox="1">
            <a:spLocks noChangeArrowheads="1"/>
          </p:cNvSpPr>
          <p:nvPr/>
        </p:nvSpPr>
        <p:spPr bwMode="auto">
          <a:xfrm>
            <a:off x="4953000" y="4648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7" name="Text Box 17">
            <a:extLst>
              <a:ext uri="{FF2B5EF4-FFF2-40B4-BE49-F238E27FC236}">
                <a16:creationId xmlns:a16="http://schemas.microsoft.com/office/drawing/2014/main" id="{37BD98FE-539E-544C-BC48-27322E9599B7}"/>
              </a:ext>
            </a:extLst>
          </p:cNvPr>
          <p:cNvSpPr txBox="1">
            <a:spLocks noChangeArrowheads="1"/>
          </p:cNvSpPr>
          <p:nvPr/>
        </p:nvSpPr>
        <p:spPr bwMode="auto">
          <a:xfrm>
            <a:off x="8001000" y="45720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8" name="Text Box 18">
            <a:extLst>
              <a:ext uri="{FF2B5EF4-FFF2-40B4-BE49-F238E27FC236}">
                <a16:creationId xmlns:a16="http://schemas.microsoft.com/office/drawing/2014/main" id="{CDB23A13-C6BE-A74D-A3BA-1814244FB31C}"/>
              </a:ext>
            </a:extLst>
          </p:cNvPr>
          <p:cNvSpPr txBox="1">
            <a:spLocks noChangeArrowheads="1"/>
          </p:cNvSpPr>
          <p:nvPr/>
        </p:nvSpPr>
        <p:spPr bwMode="auto">
          <a:xfrm>
            <a:off x="7010400" y="55626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9" name="Line 19">
            <a:extLst>
              <a:ext uri="{FF2B5EF4-FFF2-40B4-BE49-F238E27FC236}">
                <a16:creationId xmlns:a16="http://schemas.microsoft.com/office/drawing/2014/main" id="{0FFAD120-3D38-6E42-9EDA-EED8C2B42037}"/>
              </a:ext>
            </a:extLst>
          </p:cNvPr>
          <p:cNvSpPr>
            <a:spLocks noChangeShapeType="1"/>
          </p:cNvSpPr>
          <p:nvPr/>
        </p:nvSpPr>
        <p:spPr bwMode="auto">
          <a:xfrm flipH="1">
            <a:off x="5410200" y="1828800"/>
            <a:ext cx="1219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0" name="Line 20">
            <a:extLst>
              <a:ext uri="{FF2B5EF4-FFF2-40B4-BE49-F238E27FC236}">
                <a16:creationId xmlns:a16="http://schemas.microsoft.com/office/drawing/2014/main" id="{DED569FE-059C-DF49-910A-7807F012D750}"/>
              </a:ext>
            </a:extLst>
          </p:cNvPr>
          <p:cNvSpPr>
            <a:spLocks noChangeShapeType="1"/>
          </p:cNvSpPr>
          <p:nvPr/>
        </p:nvSpPr>
        <p:spPr bwMode="auto">
          <a:xfrm>
            <a:off x="6629400" y="1828800"/>
            <a:ext cx="2209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1" name="Line 21">
            <a:extLst>
              <a:ext uri="{FF2B5EF4-FFF2-40B4-BE49-F238E27FC236}">
                <a16:creationId xmlns:a16="http://schemas.microsoft.com/office/drawing/2014/main" id="{8C75EBE8-6EA5-E948-AE77-068298EDE2D5}"/>
              </a:ext>
            </a:extLst>
          </p:cNvPr>
          <p:cNvSpPr>
            <a:spLocks noChangeShapeType="1"/>
          </p:cNvSpPr>
          <p:nvPr/>
        </p:nvSpPr>
        <p:spPr bwMode="auto">
          <a:xfrm flipH="1">
            <a:off x="4343400" y="28194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2" name="Line 22">
            <a:extLst>
              <a:ext uri="{FF2B5EF4-FFF2-40B4-BE49-F238E27FC236}">
                <a16:creationId xmlns:a16="http://schemas.microsoft.com/office/drawing/2014/main" id="{72D9F352-3B2B-4C49-8D67-179D604EBB99}"/>
              </a:ext>
            </a:extLst>
          </p:cNvPr>
          <p:cNvSpPr>
            <a:spLocks noChangeShapeType="1"/>
          </p:cNvSpPr>
          <p:nvPr/>
        </p:nvSpPr>
        <p:spPr bwMode="auto">
          <a:xfrm>
            <a:off x="5334000" y="2819400"/>
            <a:ext cx="838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3" name="Line 23">
            <a:extLst>
              <a:ext uri="{FF2B5EF4-FFF2-40B4-BE49-F238E27FC236}">
                <a16:creationId xmlns:a16="http://schemas.microsoft.com/office/drawing/2014/main" id="{316BDBDF-7E4C-5D4A-852B-82AAE5CD783B}"/>
              </a:ext>
            </a:extLst>
          </p:cNvPr>
          <p:cNvSpPr>
            <a:spLocks noChangeShapeType="1"/>
          </p:cNvSpPr>
          <p:nvPr/>
        </p:nvSpPr>
        <p:spPr bwMode="auto">
          <a:xfrm flipH="1">
            <a:off x="8001000" y="28194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4" name="Line 24">
            <a:extLst>
              <a:ext uri="{FF2B5EF4-FFF2-40B4-BE49-F238E27FC236}">
                <a16:creationId xmlns:a16="http://schemas.microsoft.com/office/drawing/2014/main" id="{DC50D689-BB10-994D-8CC4-F3DAEEB4140F}"/>
              </a:ext>
            </a:extLst>
          </p:cNvPr>
          <p:cNvSpPr>
            <a:spLocks noChangeShapeType="1"/>
          </p:cNvSpPr>
          <p:nvPr/>
        </p:nvSpPr>
        <p:spPr bwMode="auto">
          <a:xfrm>
            <a:off x="8991600" y="2819400"/>
            <a:ext cx="1143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5" name="Line 25">
            <a:extLst>
              <a:ext uri="{FF2B5EF4-FFF2-40B4-BE49-F238E27FC236}">
                <a16:creationId xmlns:a16="http://schemas.microsoft.com/office/drawing/2014/main" id="{B947085E-521C-1847-B7ED-E94CC8053B9C}"/>
              </a:ext>
            </a:extLst>
          </p:cNvPr>
          <p:cNvSpPr>
            <a:spLocks noChangeShapeType="1"/>
          </p:cNvSpPr>
          <p:nvPr/>
        </p:nvSpPr>
        <p:spPr bwMode="auto">
          <a:xfrm flipH="1">
            <a:off x="3886200"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6" name="Line 26">
            <a:extLst>
              <a:ext uri="{FF2B5EF4-FFF2-40B4-BE49-F238E27FC236}">
                <a16:creationId xmlns:a16="http://schemas.microsoft.com/office/drawing/2014/main" id="{7C63A0BD-4E8C-1145-8242-6C255B9D1E16}"/>
              </a:ext>
            </a:extLst>
          </p:cNvPr>
          <p:cNvSpPr>
            <a:spLocks noChangeShapeType="1"/>
          </p:cNvSpPr>
          <p:nvPr/>
        </p:nvSpPr>
        <p:spPr bwMode="auto">
          <a:xfrm>
            <a:off x="4419600" y="3886200"/>
            <a:ext cx="609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7" name="Line 27">
            <a:extLst>
              <a:ext uri="{FF2B5EF4-FFF2-40B4-BE49-F238E27FC236}">
                <a16:creationId xmlns:a16="http://schemas.microsoft.com/office/drawing/2014/main" id="{600FF1C2-8C38-CC4A-9D6C-BE0B3C853EA2}"/>
              </a:ext>
            </a:extLst>
          </p:cNvPr>
          <p:cNvSpPr>
            <a:spLocks noChangeShapeType="1"/>
          </p:cNvSpPr>
          <p:nvPr/>
        </p:nvSpPr>
        <p:spPr bwMode="auto">
          <a:xfrm flipH="1">
            <a:off x="57150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8" name="Line 28">
            <a:extLst>
              <a:ext uri="{FF2B5EF4-FFF2-40B4-BE49-F238E27FC236}">
                <a16:creationId xmlns:a16="http://schemas.microsoft.com/office/drawing/2014/main" id="{B91369FF-4089-E040-A418-0BED4F30327E}"/>
              </a:ext>
            </a:extLst>
          </p:cNvPr>
          <p:cNvSpPr>
            <a:spLocks noChangeShapeType="1"/>
          </p:cNvSpPr>
          <p:nvPr/>
        </p:nvSpPr>
        <p:spPr bwMode="auto">
          <a:xfrm>
            <a:off x="60960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9" name="Line 29">
            <a:extLst>
              <a:ext uri="{FF2B5EF4-FFF2-40B4-BE49-F238E27FC236}">
                <a16:creationId xmlns:a16="http://schemas.microsoft.com/office/drawing/2014/main" id="{FF9D2701-FA54-9D43-9E29-1779F7A0DB86}"/>
              </a:ext>
            </a:extLst>
          </p:cNvPr>
          <p:cNvSpPr>
            <a:spLocks noChangeShapeType="1"/>
          </p:cNvSpPr>
          <p:nvPr/>
        </p:nvSpPr>
        <p:spPr bwMode="auto">
          <a:xfrm flipH="1">
            <a:off x="97536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0" name="Line 30">
            <a:extLst>
              <a:ext uri="{FF2B5EF4-FFF2-40B4-BE49-F238E27FC236}">
                <a16:creationId xmlns:a16="http://schemas.microsoft.com/office/drawing/2014/main" id="{3139F241-EF5D-7C4C-AE97-156C0CBB70FB}"/>
              </a:ext>
            </a:extLst>
          </p:cNvPr>
          <p:cNvSpPr>
            <a:spLocks noChangeShapeType="1"/>
          </p:cNvSpPr>
          <p:nvPr/>
        </p:nvSpPr>
        <p:spPr bwMode="auto">
          <a:xfrm>
            <a:off x="101346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1" name="Line 31">
            <a:extLst>
              <a:ext uri="{FF2B5EF4-FFF2-40B4-BE49-F238E27FC236}">
                <a16:creationId xmlns:a16="http://schemas.microsoft.com/office/drawing/2014/main" id="{C653B5B6-61E3-3444-8B93-A0C714132B0F}"/>
              </a:ext>
            </a:extLst>
          </p:cNvPr>
          <p:cNvSpPr>
            <a:spLocks noChangeShapeType="1"/>
          </p:cNvSpPr>
          <p:nvPr/>
        </p:nvSpPr>
        <p:spPr bwMode="auto">
          <a:xfrm flipH="1">
            <a:off x="3581400" y="5105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2" name="Line 32">
            <a:extLst>
              <a:ext uri="{FF2B5EF4-FFF2-40B4-BE49-F238E27FC236}">
                <a16:creationId xmlns:a16="http://schemas.microsoft.com/office/drawing/2014/main" id="{E5410D11-5265-C440-A844-E3A64131B9F4}"/>
              </a:ext>
            </a:extLst>
          </p:cNvPr>
          <p:cNvSpPr>
            <a:spLocks noChangeShapeType="1"/>
          </p:cNvSpPr>
          <p:nvPr/>
        </p:nvSpPr>
        <p:spPr bwMode="auto">
          <a:xfrm>
            <a:off x="3962400" y="5105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3" name="Line 33">
            <a:extLst>
              <a:ext uri="{FF2B5EF4-FFF2-40B4-BE49-F238E27FC236}">
                <a16:creationId xmlns:a16="http://schemas.microsoft.com/office/drawing/2014/main" id="{A269CB95-CDB6-364B-BD40-E7CC74B101BB}"/>
              </a:ext>
            </a:extLst>
          </p:cNvPr>
          <p:cNvSpPr>
            <a:spLocks noChangeShapeType="1"/>
          </p:cNvSpPr>
          <p:nvPr/>
        </p:nvSpPr>
        <p:spPr bwMode="auto">
          <a:xfrm flipH="1">
            <a:off x="6400800" y="4953000"/>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4" name="Line 34">
            <a:extLst>
              <a:ext uri="{FF2B5EF4-FFF2-40B4-BE49-F238E27FC236}">
                <a16:creationId xmlns:a16="http://schemas.microsoft.com/office/drawing/2014/main" id="{D3E79C59-A78E-2046-9029-0F53C8ABD0E9}"/>
              </a:ext>
            </a:extLst>
          </p:cNvPr>
          <p:cNvSpPr>
            <a:spLocks noChangeShapeType="1"/>
          </p:cNvSpPr>
          <p:nvPr/>
        </p:nvSpPr>
        <p:spPr bwMode="auto">
          <a:xfrm>
            <a:off x="7086600" y="4953000"/>
            <a:ext cx="990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5" name="Text Box 35">
            <a:extLst>
              <a:ext uri="{FF2B5EF4-FFF2-40B4-BE49-F238E27FC236}">
                <a16:creationId xmlns:a16="http://schemas.microsoft.com/office/drawing/2014/main" id="{7FB35836-A991-B846-88FE-837C01547DE7}"/>
              </a:ext>
            </a:extLst>
          </p:cNvPr>
          <p:cNvSpPr txBox="1">
            <a:spLocks noChangeArrowheads="1"/>
          </p:cNvSpPr>
          <p:nvPr/>
        </p:nvSpPr>
        <p:spPr bwMode="auto">
          <a:xfrm>
            <a:off x="1828801" y="1524000"/>
            <a:ext cx="48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all</a:t>
            </a:r>
          </a:p>
        </p:txBody>
      </p:sp>
      <p:sp>
        <p:nvSpPr>
          <p:cNvPr id="66596" name="Text Box 36">
            <a:extLst>
              <a:ext uri="{FF2B5EF4-FFF2-40B4-BE49-F238E27FC236}">
                <a16:creationId xmlns:a16="http://schemas.microsoft.com/office/drawing/2014/main" id="{D22EA0EF-C9A4-6542-98DC-A3659AE174FE}"/>
              </a:ext>
            </a:extLst>
          </p:cNvPr>
          <p:cNvSpPr txBox="1">
            <a:spLocks noChangeArrowheads="1"/>
          </p:cNvSpPr>
          <p:nvPr/>
        </p:nvSpPr>
        <p:spPr bwMode="auto">
          <a:xfrm>
            <a:off x="1752601" y="2514600"/>
            <a:ext cx="96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region</a:t>
            </a:r>
          </a:p>
        </p:txBody>
      </p:sp>
      <p:sp>
        <p:nvSpPr>
          <p:cNvPr id="66597" name="Text Box 37">
            <a:extLst>
              <a:ext uri="{FF2B5EF4-FFF2-40B4-BE49-F238E27FC236}">
                <a16:creationId xmlns:a16="http://schemas.microsoft.com/office/drawing/2014/main" id="{F96A5C37-9657-F44B-9FE1-06F00E163A4C}"/>
              </a:ext>
            </a:extLst>
          </p:cNvPr>
          <p:cNvSpPr txBox="1">
            <a:spLocks noChangeArrowheads="1"/>
          </p:cNvSpPr>
          <p:nvPr/>
        </p:nvSpPr>
        <p:spPr bwMode="auto">
          <a:xfrm>
            <a:off x="1828801" y="5638800"/>
            <a:ext cx="89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office</a:t>
            </a:r>
          </a:p>
        </p:txBody>
      </p:sp>
      <p:sp>
        <p:nvSpPr>
          <p:cNvPr id="66598" name="Line 38">
            <a:extLst>
              <a:ext uri="{FF2B5EF4-FFF2-40B4-BE49-F238E27FC236}">
                <a16:creationId xmlns:a16="http://schemas.microsoft.com/office/drawing/2014/main" id="{3C3163FD-C3D5-1F43-A1E9-917DC0860396}"/>
              </a:ext>
            </a:extLst>
          </p:cNvPr>
          <p:cNvSpPr>
            <a:spLocks noChangeShapeType="1"/>
          </p:cNvSpPr>
          <p:nvPr/>
        </p:nvSpPr>
        <p:spPr bwMode="auto">
          <a:xfrm flipH="1">
            <a:off x="8839200" y="5029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9" name="Line 39">
            <a:extLst>
              <a:ext uri="{FF2B5EF4-FFF2-40B4-BE49-F238E27FC236}">
                <a16:creationId xmlns:a16="http://schemas.microsoft.com/office/drawing/2014/main" id="{4C2AD698-8FB1-6849-BB1E-46267561E484}"/>
              </a:ext>
            </a:extLst>
          </p:cNvPr>
          <p:cNvSpPr>
            <a:spLocks noChangeShapeType="1"/>
          </p:cNvSpPr>
          <p:nvPr/>
        </p:nvSpPr>
        <p:spPr bwMode="auto">
          <a:xfrm>
            <a:off x="9220200" y="5029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0" name="Line 40">
            <a:extLst>
              <a:ext uri="{FF2B5EF4-FFF2-40B4-BE49-F238E27FC236}">
                <a16:creationId xmlns:a16="http://schemas.microsoft.com/office/drawing/2014/main" id="{00414BF5-86CD-964A-B927-81F99A52B30D}"/>
              </a:ext>
            </a:extLst>
          </p:cNvPr>
          <p:cNvSpPr>
            <a:spLocks noChangeShapeType="1"/>
          </p:cNvSpPr>
          <p:nvPr/>
        </p:nvSpPr>
        <p:spPr bwMode="auto">
          <a:xfrm flipH="1">
            <a:off x="7162800" y="3886200"/>
            <a:ext cx="762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1" name="Line 41">
            <a:extLst>
              <a:ext uri="{FF2B5EF4-FFF2-40B4-BE49-F238E27FC236}">
                <a16:creationId xmlns:a16="http://schemas.microsoft.com/office/drawing/2014/main" id="{959BE1E9-D178-D24E-9439-6EC04E9204A9}"/>
              </a:ext>
            </a:extLst>
          </p:cNvPr>
          <p:cNvSpPr>
            <a:spLocks noChangeShapeType="1"/>
          </p:cNvSpPr>
          <p:nvPr/>
        </p:nvSpPr>
        <p:spPr bwMode="auto">
          <a:xfrm>
            <a:off x="7924800" y="3886200"/>
            <a:ext cx="10668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2" name="Text Box 42">
            <a:extLst>
              <a:ext uri="{FF2B5EF4-FFF2-40B4-BE49-F238E27FC236}">
                <a16:creationId xmlns:a16="http://schemas.microsoft.com/office/drawing/2014/main" id="{DA5C0637-7A7D-1E40-BD0B-43AA6405462E}"/>
              </a:ext>
            </a:extLst>
          </p:cNvPr>
          <p:cNvSpPr txBox="1">
            <a:spLocks noChangeArrowheads="1"/>
          </p:cNvSpPr>
          <p:nvPr/>
        </p:nvSpPr>
        <p:spPr bwMode="auto">
          <a:xfrm>
            <a:off x="1752601" y="358140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country</a:t>
            </a:r>
          </a:p>
        </p:txBody>
      </p:sp>
      <p:sp>
        <p:nvSpPr>
          <p:cNvPr id="66603" name="Line 43">
            <a:extLst>
              <a:ext uri="{FF2B5EF4-FFF2-40B4-BE49-F238E27FC236}">
                <a16:creationId xmlns:a16="http://schemas.microsoft.com/office/drawing/2014/main" id="{32E393D7-D6EC-8D42-90B4-DED2D6466CF4}"/>
              </a:ext>
            </a:extLst>
          </p:cNvPr>
          <p:cNvSpPr>
            <a:spLocks noChangeShapeType="1"/>
          </p:cNvSpPr>
          <p:nvPr/>
        </p:nvSpPr>
        <p:spPr bwMode="auto">
          <a:xfrm>
            <a:off x="2133600" y="19050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4" name="Line 44">
            <a:extLst>
              <a:ext uri="{FF2B5EF4-FFF2-40B4-BE49-F238E27FC236}">
                <a16:creationId xmlns:a16="http://schemas.microsoft.com/office/drawing/2014/main" id="{283B2CD1-D90F-9B44-BC36-F8E35B12EECF}"/>
              </a:ext>
            </a:extLst>
          </p:cNvPr>
          <p:cNvSpPr>
            <a:spLocks noChangeShapeType="1"/>
          </p:cNvSpPr>
          <p:nvPr/>
        </p:nvSpPr>
        <p:spPr bwMode="auto">
          <a:xfrm>
            <a:off x="2133600" y="29718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5" name="Line 45">
            <a:extLst>
              <a:ext uri="{FF2B5EF4-FFF2-40B4-BE49-F238E27FC236}">
                <a16:creationId xmlns:a16="http://schemas.microsoft.com/office/drawing/2014/main" id="{2E0FA55E-4B78-EC42-B20D-0FDEE6340BD6}"/>
              </a:ext>
            </a:extLst>
          </p:cNvPr>
          <p:cNvSpPr>
            <a:spLocks noChangeShapeType="1"/>
          </p:cNvSpPr>
          <p:nvPr/>
        </p:nvSpPr>
        <p:spPr bwMode="auto">
          <a:xfrm>
            <a:off x="2133600" y="39624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6" name="Line 46">
            <a:extLst>
              <a:ext uri="{FF2B5EF4-FFF2-40B4-BE49-F238E27FC236}">
                <a16:creationId xmlns:a16="http://schemas.microsoft.com/office/drawing/2014/main" id="{02844544-F124-2140-A6D2-1A053E1F8CFE}"/>
              </a:ext>
            </a:extLst>
          </p:cNvPr>
          <p:cNvSpPr>
            <a:spLocks noChangeShapeType="1"/>
          </p:cNvSpPr>
          <p:nvPr/>
        </p:nvSpPr>
        <p:spPr bwMode="auto">
          <a:xfrm>
            <a:off x="2133600" y="5029200"/>
            <a:ext cx="0" cy="6858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7" name="Text Box 47">
            <a:extLst>
              <a:ext uri="{FF2B5EF4-FFF2-40B4-BE49-F238E27FC236}">
                <a16:creationId xmlns:a16="http://schemas.microsoft.com/office/drawing/2014/main" id="{6A836C9D-FF45-5B46-8AA0-777CAB88F652}"/>
              </a:ext>
            </a:extLst>
          </p:cNvPr>
          <p:cNvSpPr txBox="1">
            <a:spLocks noChangeArrowheads="1"/>
          </p:cNvSpPr>
          <p:nvPr/>
        </p:nvSpPr>
        <p:spPr bwMode="auto">
          <a:xfrm>
            <a:off x="8610601" y="4648200"/>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Toronto</a:t>
            </a:r>
          </a:p>
        </p:txBody>
      </p:sp>
      <p:sp>
        <p:nvSpPr>
          <p:cNvPr id="66608" name="Text Box 48">
            <a:extLst>
              <a:ext uri="{FF2B5EF4-FFF2-40B4-BE49-F238E27FC236}">
                <a16:creationId xmlns:a16="http://schemas.microsoft.com/office/drawing/2014/main" id="{F6223A77-D7F6-F646-96E0-717A10F1DAEA}"/>
              </a:ext>
            </a:extLst>
          </p:cNvPr>
          <p:cNvSpPr txBox="1">
            <a:spLocks noChangeArrowheads="1"/>
          </p:cNvSpPr>
          <p:nvPr/>
        </p:nvSpPr>
        <p:spPr bwMode="auto">
          <a:xfrm>
            <a:off x="3352800" y="4648200"/>
            <a:ext cx="1335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Frankfurt</a:t>
            </a:r>
          </a:p>
        </p:txBody>
      </p:sp>
      <p:sp>
        <p:nvSpPr>
          <p:cNvPr id="66609" name="Text Box 49">
            <a:extLst>
              <a:ext uri="{FF2B5EF4-FFF2-40B4-BE49-F238E27FC236}">
                <a16:creationId xmlns:a16="http://schemas.microsoft.com/office/drawing/2014/main" id="{4C7BF623-4AE8-8541-AB97-8FB30734F530}"/>
              </a:ext>
            </a:extLst>
          </p:cNvPr>
          <p:cNvSpPr txBox="1">
            <a:spLocks noChangeArrowheads="1"/>
          </p:cNvSpPr>
          <p:nvPr/>
        </p:nvSpPr>
        <p:spPr bwMode="auto">
          <a:xfrm>
            <a:off x="1828801" y="4648200"/>
            <a:ext cx="639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city</a:t>
            </a:r>
          </a:p>
        </p:txBody>
      </p:sp>
      <p:sp>
        <p:nvSpPr>
          <p:cNvPr id="2" name="Footer Placeholder 1">
            <a:extLst>
              <a:ext uri="{FF2B5EF4-FFF2-40B4-BE49-F238E27FC236}">
                <a16:creationId xmlns:a16="http://schemas.microsoft.com/office/drawing/2014/main" id="{938DDA49-175F-6C42-9C96-83DFEDB5C647}"/>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A564349A-7D89-5542-9E89-609640A90541}"/>
              </a:ext>
            </a:extLst>
          </p:cNvPr>
          <p:cNvSpPr>
            <a:spLocks noGrp="1"/>
          </p:cNvSpPr>
          <p:nvPr>
            <p:ph type="sldNum" sz="quarter" idx="12"/>
          </p:nvPr>
        </p:nvSpPr>
        <p:spPr/>
        <p:txBody>
          <a:bodyPr/>
          <a:lstStyle/>
          <a:p>
            <a:r>
              <a:t>7</a:t>
            </a:r>
          </a:p>
        </p:txBody>
      </p:sp>
    </p:spTree>
    <p:extLst>
      <p:ext uri="{BB962C8B-B14F-4D97-AF65-F5344CB8AC3E}">
        <p14:creationId xmlns:p14="http://schemas.microsoft.com/office/powerpoint/2010/main" val="1591231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Declaring Fact Grain</a:t>
            </a:r>
          </a:p>
        </p:txBody>
      </p:sp>
      <p:sp>
        <p:nvSpPr>
          <p:cNvPr id="3" name="Content Placeholder 2"/>
          <p:cNvSpPr>
            <a:spLocks noGrp="1"/>
          </p:cNvSpPr>
          <p:nvPr>
            <p:ph idx="1" hasCustomPrompt="1"/>
          </p:nvPr>
        </p:nvSpPr>
        <p:spPr/>
        <p:txBody>
          <a:bodyPr/>
          <a:lstStyle/>
          <a:p>
            <a:r>
              <a:rPr dirty="0"/>
              <a:t>Grain defines exactly what one row in the fact table represents</a:t>
            </a:r>
          </a:p>
          <a:p>
            <a:r>
              <a:rPr b="1" dirty="0">
                <a:highlight>
                  <a:srgbClr val="FFFF00"/>
                </a:highlight>
              </a:rPr>
              <a:t>If the grain is ambiguous, double counting is likely</a:t>
            </a:r>
          </a:p>
          <a:p>
            <a:r>
              <a:rPr dirty="0"/>
              <a:t>Document grain and natural uniqueness before writing ETL</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8</a:t>
            </a:r>
          </a:p>
        </p:txBody>
      </p:sp>
      <p:pic>
        <p:nvPicPr>
          <p:cNvPr id="7" name="תמונה 6">
            <a:extLst>
              <a:ext uri="{FF2B5EF4-FFF2-40B4-BE49-F238E27FC236}">
                <a16:creationId xmlns:a16="http://schemas.microsoft.com/office/drawing/2014/main" id="{5734B0AD-57C9-5C9D-CADD-DE74211C697C}"/>
              </a:ext>
            </a:extLst>
          </p:cNvPr>
          <p:cNvPicPr>
            <a:picLocks noChangeAspect="1"/>
          </p:cNvPicPr>
          <p:nvPr/>
        </p:nvPicPr>
        <p:blipFill>
          <a:blip r:embed="rId2"/>
          <a:srcRect t="18031"/>
          <a:stretch>
            <a:fillRect/>
          </a:stretch>
        </p:blipFill>
        <p:spPr>
          <a:xfrm>
            <a:off x="2813137" y="3352542"/>
            <a:ext cx="6565726" cy="300380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 What It Is</a:t>
            </a:r>
          </a:p>
        </p:txBody>
      </p:sp>
      <p:sp>
        <p:nvSpPr>
          <p:cNvPr id="3" name="Content Placeholder 2"/>
          <p:cNvSpPr>
            <a:spLocks noGrp="1"/>
          </p:cNvSpPr>
          <p:nvPr>
            <p:ph idx="1"/>
          </p:nvPr>
        </p:nvSpPr>
        <p:spPr>
          <a:xfrm>
            <a:off x="946768" y="1600201"/>
            <a:ext cx="9437309" cy="4525963"/>
          </a:xfrm>
        </p:spPr>
        <p:txBody>
          <a:bodyPr/>
          <a:lstStyle/>
          <a:p>
            <a:r>
              <a:rPr dirty="0"/>
              <a:t>The grain is the business event level captured </a:t>
            </a:r>
            <a:br>
              <a:rPr lang="en-US" dirty="0"/>
            </a:br>
            <a:r>
              <a:rPr dirty="0"/>
              <a:t>by the fact table</a:t>
            </a:r>
          </a:p>
          <a:p>
            <a:r>
              <a:rPr dirty="0"/>
              <a:t>It answers the question: what does one row mean?</a:t>
            </a:r>
          </a:p>
          <a:p>
            <a:r>
              <a:rPr dirty="0"/>
              <a:t>Changing grain later usually breaks joins, aggregates, and history</a:t>
            </a:r>
          </a:p>
        </p:txBody>
      </p:sp>
      <p:sp>
        <p:nvSpPr>
          <p:cNvPr id="4" name="TextBox 3"/>
          <p:cNvSpPr txBox="1"/>
          <p:nvPr/>
        </p:nvSpPr>
        <p:spPr>
          <a:xfrm>
            <a:off x="4169663" y="6355080"/>
            <a:ext cx="3858768" cy="365760"/>
          </a:xfrm>
          <a:prstGeom prst="rect">
            <a:avLst/>
          </a:prstGeom>
          <a:noFill/>
        </p:spPr>
        <p:txBody>
          <a:bodyPr wrap="none" lIns="0" tIns="0" rIns="0" bIns="0">
            <a:spAutoFit/>
          </a:bodyPr>
          <a:lstStyle/>
          <a:p>
            <a:pPr algn="ctr"/>
            <a:r>
              <a:rPr sz="700">
                <a:solidFill>
                  <a:srgbClr val="808080"/>
                </a:solidFill>
                <a:latin typeface="Calibri"/>
              </a:rPr>
              <a:t>Or Peretz</a:t>
            </a:r>
          </a:p>
        </p:txBody>
      </p:sp>
      <p:sp>
        <p:nvSpPr>
          <p:cNvPr id="5" name="TextBox 4"/>
          <p:cNvSpPr txBox="1"/>
          <p:nvPr/>
        </p:nvSpPr>
        <p:spPr>
          <a:xfrm>
            <a:off x="8741664" y="6355080"/>
            <a:ext cx="2843784" cy="365760"/>
          </a:xfrm>
          <a:prstGeom prst="rect">
            <a:avLst/>
          </a:prstGeom>
          <a:noFill/>
        </p:spPr>
        <p:txBody>
          <a:bodyPr wrap="none" lIns="0" tIns="0" rIns="0" bIns="0">
            <a:spAutoFit/>
          </a:bodyPr>
          <a:lstStyle/>
          <a:p>
            <a:r>
              <a:t>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Grain Options</a:t>
            </a:r>
          </a:p>
        </p:txBody>
      </p:sp>
      <p:sp>
        <p:nvSpPr>
          <p:cNvPr id="3" name="Content Placeholder 2"/>
          <p:cNvSpPr>
            <a:spLocks noGrp="1"/>
          </p:cNvSpPr>
          <p:nvPr>
            <p:ph idx="1"/>
          </p:nvPr>
        </p:nvSpPr>
        <p:spPr/>
        <p:txBody>
          <a:bodyPr/>
          <a:lstStyle/>
          <a:p>
            <a:r>
              <a:rPr dirty="0"/>
              <a:t>Transaction grain: one row per event</a:t>
            </a:r>
          </a:p>
          <a:p>
            <a:r>
              <a:rPr dirty="0"/>
              <a:t>Periodic snapshot grain: one row per entity per period</a:t>
            </a:r>
          </a:p>
          <a:p>
            <a:r>
              <a:rPr dirty="0"/>
              <a:t>Accumulating snapshot grain: one row per process lifecycle</a:t>
            </a:r>
          </a:p>
          <a:p>
            <a:r>
              <a:rPr dirty="0"/>
              <a:t>Aggregate grain: pre-summarized rows</a:t>
            </a:r>
          </a:p>
          <a:p>
            <a:r>
              <a:rPr dirty="0" err="1"/>
              <a:t>Factless</a:t>
            </a:r>
            <a:r>
              <a:rPr dirty="0"/>
              <a:t> grain: event existence only</a:t>
            </a:r>
          </a:p>
        </p:txBody>
      </p:sp>
      <p:sp>
        <p:nvSpPr>
          <p:cNvPr id="4" name="TextBox 3"/>
          <p:cNvSpPr txBox="1"/>
          <p:nvPr/>
        </p:nvSpPr>
        <p:spPr>
          <a:xfrm>
            <a:off x="4169663" y="6355080"/>
            <a:ext cx="3858768" cy="365760"/>
          </a:xfrm>
          <a:prstGeom prst="rect">
            <a:avLst/>
          </a:prstGeom>
          <a:noFill/>
        </p:spPr>
        <p:txBody>
          <a:bodyPr wrap="none" lIns="0" tIns="0" rIns="0" bIns="0">
            <a:spAutoFit/>
          </a:bodyPr>
          <a:lstStyle/>
          <a:p>
            <a:pPr algn="ctr"/>
            <a:r>
              <a:rPr sz="700">
                <a:solidFill>
                  <a:srgbClr val="808080"/>
                </a:solidFill>
                <a:latin typeface="Calibri"/>
              </a:rPr>
              <a:t>Or Peretz</a:t>
            </a:r>
          </a:p>
        </p:txBody>
      </p:sp>
      <p:sp>
        <p:nvSpPr>
          <p:cNvPr id="5" name="TextBox 4"/>
          <p:cNvSpPr txBox="1"/>
          <p:nvPr/>
        </p:nvSpPr>
        <p:spPr>
          <a:xfrm>
            <a:off x="8741664" y="6355080"/>
            <a:ext cx="2843784" cy="365760"/>
          </a:xfrm>
          <a:prstGeom prst="rect">
            <a:avLst/>
          </a:prstGeom>
          <a:noFill/>
        </p:spPr>
        <p:txBody>
          <a:bodyPr wrap="none" lIns="0" tIns="0" rIns="0" bIns="0">
            <a:spAutoFit/>
          </a:bodyPr>
          <a:lstStyle/>
          <a:p>
            <a:r>
              <a:t>10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Choosing the Right Grain</a:t>
            </a:r>
          </a:p>
        </p:txBody>
      </p:sp>
      <p:sp>
        <p:nvSpPr>
          <p:cNvPr id="3" name="Content Placeholder 2"/>
          <p:cNvSpPr>
            <a:spLocks noGrp="1"/>
          </p:cNvSpPr>
          <p:nvPr>
            <p:ph idx="1"/>
          </p:nvPr>
        </p:nvSpPr>
        <p:spPr/>
        <p:txBody>
          <a:bodyPr/>
          <a:lstStyle/>
          <a:p>
            <a:r>
              <a:rPr dirty="0"/>
              <a:t>Start with the lowest atomic grain needed for analysis</a:t>
            </a:r>
          </a:p>
          <a:p>
            <a:r>
              <a:rPr dirty="0"/>
              <a:t>Use aggregate grains only for performance </a:t>
            </a:r>
            <a:r>
              <a:rPr lang="en-US" dirty="0"/>
              <a:t>measures</a:t>
            </a:r>
            <a:endParaRPr dirty="0"/>
          </a:p>
          <a:p>
            <a:r>
              <a:rPr dirty="0"/>
              <a:t>Avoid mixing grains in one fact table</a:t>
            </a:r>
          </a:p>
          <a:p>
            <a:r>
              <a:rPr dirty="0"/>
              <a:t>Check that the proposed grain has a stable unique key</a:t>
            </a:r>
          </a:p>
          <a:p>
            <a:r>
              <a:rPr dirty="0"/>
              <a:t>Write the grain statement before designing dimensions</a:t>
            </a:r>
          </a:p>
        </p:txBody>
      </p:sp>
      <p:sp>
        <p:nvSpPr>
          <p:cNvPr id="4" name="TextBox 3"/>
          <p:cNvSpPr txBox="1"/>
          <p:nvPr/>
        </p:nvSpPr>
        <p:spPr>
          <a:xfrm>
            <a:off x="4169663" y="6355080"/>
            <a:ext cx="3858768" cy="365760"/>
          </a:xfrm>
          <a:prstGeom prst="rect">
            <a:avLst/>
          </a:prstGeom>
          <a:noFill/>
        </p:spPr>
        <p:txBody>
          <a:bodyPr wrap="none" lIns="0" tIns="0" rIns="0" bIns="0">
            <a:spAutoFit/>
          </a:bodyPr>
          <a:lstStyle/>
          <a:p>
            <a:pPr algn="ctr"/>
            <a:r>
              <a:rPr sz="700">
                <a:solidFill>
                  <a:srgbClr val="808080"/>
                </a:solidFill>
                <a:latin typeface="Calibri"/>
              </a:rPr>
              <a:t>Or Peretz</a:t>
            </a:r>
          </a:p>
        </p:txBody>
      </p:sp>
      <p:sp>
        <p:nvSpPr>
          <p:cNvPr id="5" name="TextBox 4"/>
          <p:cNvSpPr txBox="1"/>
          <p:nvPr/>
        </p:nvSpPr>
        <p:spPr>
          <a:xfrm>
            <a:off x="8741664" y="6355080"/>
            <a:ext cx="2843784" cy="365760"/>
          </a:xfrm>
          <a:prstGeom prst="rect">
            <a:avLst/>
          </a:prstGeom>
          <a:noFill/>
        </p:spPr>
        <p:txBody>
          <a:bodyPr wrap="none" lIns="0" tIns="0" rIns="0" bIns="0">
            <a:spAutoFit/>
          </a:bodyPr>
          <a:lstStyle/>
          <a:p>
            <a:r>
              <a:t>11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Table Behavior Types</a:t>
            </a:r>
          </a:p>
        </p:txBody>
      </p:sp>
      <p:sp>
        <p:nvSpPr>
          <p:cNvPr id="3" name="Content Placeholder 2"/>
          <p:cNvSpPr>
            <a:spLocks noGrp="1"/>
          </p:cNvSpPr>
          <p:nvPr>
            <p:ph idx="1"/>
          </p:nvPr>
        </p:nvSpPr>
        <p:spPr>
          <a:xfrm>
            <a:off x="946768" y="1623377"/>
            <a:ext cx="10000980" cy="4525963"/>
          </a:xfrm>
        </p:spPr>
        <p:txBody>
          <a:bodyPr/>
          <a:lstStyle/>
          <a:p>
            <a:r>
              <a:rPr dirty="0"/>
              <a:t>Append-only</a:t>
            </a:r>
            <a:endParaRPr lang="en-US" dirty="0"/>
          </a:p>
          <a:p>
            <a:pPr marL="0" indent="0">
              <a:buNone/>
            </a:pPr>
            <a:r>
              <a:rPr lang="en-US" dirty="0"/>
              <a:t>		</a:t>
            </a:r>
            <a:r>
              <a:rPr dirty="0"/>
              <a:t>tables only insert new rows and preserve full event history</a:t>
            </a:r>
          </a:p>
          <a:p>
            <a:r>
              <a:rPr dirty="0"/>
              <a:t>Mutable tables</a:t>
            </a:r>
            <a:endParaRPr lang="en-US" dirty="0"/>
          </a:p>
          <a:p>
            <a:pPr marL="0" indent="0">
              <a:buNone/>
            </a:pPr>
            <a:r>
              <a:rPr lang="en-US" dirty="0"/>
              <a:t>		</a:t>
            </a:r>
            <a:r>
              <a:rPr dirty="0"/>
              <a:t>allow updates and deletes when the latest state matters</a:t>
            </a:r>
          </a:p>
          <a:p>
            <a:r>
              <a:rPr dirty="0"/>
              <a:t>Late-arriving</a:t>
            </a:r>
            <a:endParaRPr lang="en-US" dirty="0"/>
          </a:p>
          <a:p>
            <a:pPr marL="0" indent="0">
              <a:buNone/>
            </a:pPr>
            <a:r>
              <a:rPr lang="en-US" dirty="0"/>
              <a:t>		</a:t>
            </a:r>
            <a:r>
              <a:rPr dirty="0"/>
              <a:t>data reaches after the business event happened</a:t>
            </a:r>
          </a:p>
        </p:txBody>
      </p:sp>
      <p:sp>
        <p:nvSpPr>
          <p:cNvPr id="4" name="TextBox 3"/>
          <p:cNvSpPr txBox="1"/>
          <p:nvPr/>
        </p:nvSpPr>
        <p:spPr>
          <a:xfrm>
            <a:off x="4169663" y="6355080"/>
            <a:ext cx="3858768" cy="365760"/>
          </a:xfrm>
          <a:prstGeom prst="rect">
            <a:avLst/>
          </a:prstGeom>
          <a:noFill/>
        </p:spPr>
        <p:txBody>
          <a:bodyPr wrap="none" lIns="0" tIns="0" rIns="0" bIns="0">
            <a:spAutoFit/>
          </a:bodyPr>
          <a:lstStyle/>
          <a:p>
            <a:pPr algn="ctr"/>
            <a:r>
              <a:rPr sz="700">
                <a:solidFill>
                  <a:srgbClr val="808080"/>
                </a:solidFill>
                <a:latin typeface="Calibri"/>
              </a:rPr>
              <a:t>Or Peretz</a:t>
            </a:r>
          </a:p>
        </p:txBody>
      </p:sp>
      <p:sp>
        <p:nvSpPr>
          <p:cNvPr id="5" name="TextBox 4"/>
          <p:cNvSpPr txBox="1"/>
          <p:nvPr/>
        </p:nvSpPr>
        <p:spPr>
          <a:xfrm>
            <a:off x="8741664" y="6355080"/>
            <a:ext cx="2843784" cy="365760"/>
          </a:xfrm>
          <a:prstGeom prst="rect">
            <a:avLst/>
          </a:prstGeom>
          <a:noFill/>
        </p:spPr>
        <p:txBody>
          <a:bodyPr wrap="none" lIns="0" tIns="0" rIns="0" bIns="0">
            <a:spAutoFit/>
          </a:bodyPr>
          <a:lstStyle/>
          <a:p>
            <a:r>
              <a:t>12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Append-Only vs. Mutable Tables</a:t>
            </a:r>
          </a:p>
        </p:txBody>
      </p:sp>
      <p:sp>
        <p:nvSpPr>
          <p:cNvPr id="3" name="Content Placeholder 2"/>
          <p:cNvSpPr>
            <a:spLocks noGrp="1"/>
          </p:cNvSpPr>
          <p:nvPr>
            <p:ph idx="1"/>
          </p:nvPr>
        </p:nvSpPr>
        <p:spPr/>
        <p:txBody>
          <a:bodyPr>
            <a:normAutofit/>
          </a:bodyPr>
          <a:lstStyle/>
          <a:p>
            <a:r>
              <a:rPr dirty="0"/>
              <a:t>Append-only</a:t>
            </a:r>
            <a:endParaRPr lang="en-US" dirty="0"/>
          </a:p>
          <a:p>
            <a:pPr marL="0" indent="0">
              <a:buNone/>
            </a:pPr>
            <a:r>
              <a:rPr lang="en-US" dirty="0"/>
              <a:t>		b</a:t>
            </a:r>
            <a:r>
              <a:rPr dirty="0"/>
              <a:t>est for logs, transactions, CDC history, and </a:t>
            </a:r>
            <a:r>
              <a:rPr dirty="0" err="1"/>
              <a:t>replayability</a:t>
            </a:r>
            <a:endParaRPr dirty="0"/>
          </a:p>
          <a:p>
            <a:r>
              <a:rPr dirty="0"/>
              <a:t>Mutable</a:t>
            </a:r>
            <a:endParaRPr lang="en-US" dirty="0"/>
          </a:p>
          <a:p>
            <a:pPr marL="0" indent="0">
              <a:buNone/>
            </a:pPr>
            <a:r>
              <a:rPr lang="en-US" dirty="0"/>
              <a:t>		</a:t>
            </a:r>
            <a:r>
              <a:rPr dirty="0"/>
              <a:t>best for current-state dimensions, operational mirrors</a:t>
            </a:r>
            <a:endParaRPr lang="en-US" dirty="0"/>
          </a:p>
          <a:p>
            <a:pPr marL="0" indent="0">
              <a:buNone/>
            </a:pPr>
            <a:endParaRPr lang="en-US" dirty="0"/>
          </a:p>
          <a:p>
            <a:pPr marL="0" indent="0">
              <a:buNone/>
            </a:pPr>
            <a:r>
              <a:rPr dirty="0"/>
              <a:t>A common pattern is append-only raw layer </a:t>
            </a:r>
            <a:br>
              <a:rPr lang="en-US" dirty="0"/>
            </a:br>
            <a:r>
              <a:rPr dirty="0"/>
              <a:t>plus curated mutable serving tables</a:t>
            </a:r>
          </a:p>
        </p:txBody>
      </p:sp>
      <p:sp>
        <p:nvSpPr>
          <p:cNvPr id="4" name="TextBox 3"/>
          <p:cNvSpPr txBox="1"/>
          <p:nvPr/>
        </p:nvSpPr>
        <p:spPr>
          <a:xfrm>
            <a:off x="4169663" y="6355080"/>
            <a:ext cx="3858768" cy="365760"/>
          </a:xfrm>
          <a:prstGeom prst="rect">
            <a:avLst/>
          </a:prstGeom>
          <a:noFill/>
        </p:spPr>
        <p:txBody>
          <a:bodyPr wrap="none" lIns="0" tIns="0" rIns="0" bIns="0">
            <a:spAutoFit/>
          </a:bodyPr>
          <a:lstStyle/>
          <a:p>
            <a:pPr algn="ctr"/>
            <a:r>
              <a:rPr sz="700">
                <a:solidFill>
                  <a:srgbClr val="808080"/>
                </a:solidFill>
                <a:latin typeface="Calibri"/>
              </a:rPr>
              <a:t>Or Peretz</a:t>
            </a:r>
          </a:p>
        </p:txBody>
      </p:sp>
      <p:sp>
        <p:nvSpPr>
          <p:cNvPr id="5" name="TextBox 4"/>
          <p:cNvSpPr txBox="1"/>
          <p:nvPr/>
        </p:nvSpPr>
        <p:spPr>
          <a:xfrm>
            <a:off x="8741664" y="6355080"/>
            <a:ext cx="2843784" cy="365760"/>
          </a:xfrm>
          <a:prstGeom prst="rect">
            <a:avLst/>
          </a:prstGeom>
          <a:noFill/>
        </p:spPr>
        <p:txBody>
          <a:bodyPr wrap="none" lIns="0" tIns="0" rIns="0" bIns="0">
            <a:spAutoFit/>
          </a:bodyPr>
          <a:lstStyle/>
          <a:p>
            <a:r>
              <a:t>13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Measure Types and Aggregation Rules</a:t>
            </a:r>
          </a:p>
        </p:txBody>
      </p:sp>
      <p:sp>
        <p:nvSpPr>
          <p:cNvPr id="3" name="Content Placeholder 2"/>
          <p:cNvSpPr>
            <a:spLocks noGrp="1"/>
          </p:cNvSpPr>
          <p:nvPr>
            <p:ph idx="1" hasCustomPrompt="1"/>
          </p:nvPr>
        </p:nvSpPr>
        <p:spPr/>
        <p:txBody>
          <a:bodyPr/>
          <a:lstStyle/>
          <a:p>
            <a:r>
              <a:rPr dirty="0"/>
              <a:t>Additive: safe to sum across all dimensions</a:t>
            </a:r>
          </a:p>
          <a:p>
            <a:r>
              <a:rPr dirty="0"/>
              <a:t>Semi-additive: sum across product, not across time</a:t>
            </a:r>
          </a:p>
          <a:p>
            <a:r>
              <a:rPr dirty="0"/>
              <a:t>Non-additive: calculate from numerator and denominator</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15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046A8-A3BF-37BF-970A-0ACE7B0D30F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E85AB37-FC94-2FB0-3492-F4238C5FCCC9}"/>
              </a:ext>
            </a:extLst>
          </p:cNvPr>
          <p:cNvSpPr>
            <a:spLocks noGrp="1"/>
          </p:cNvSpPr>
          <p:nvPr>
            <p:ph type="ctrTitle" hasCustomPrompt="1"/>
          </p:nvPr>
        </p:nvSpPr>
        <p:spPr>
          <a:xfrm>
            <a:off x="914400" y="2130426"/>
            <a:ext cx="10363200" cy="1470025"/>
          </a:xfrm>
        </p:spPr>
        <p:txBody>
          <a:bodyPr/>
          <a:lstStyle/>
          <a:p>
            <a:r>
              <a:rPr lang="en-US" dirty="0"/>
              <a:t>Common Schemas</a:t>
            </a:r>
            <a:endParaRPr dirty="0"/>
          </a:p>
        </p:txBody>
      </p:sp>
      <p:sp>
        <p:nvSpPr>
          <p:cNvPr id="5" name="Footer Placeholder 4">
            <a:extLst>
              <a:ext uri="{FF2B5EF4-FFF2-40B4-BE49-F238E27FC236}">
                <a16:creationId xmlns:a16="http://schemas.microsoft.com/office/drawing/2014/main" id="{A3AC4845-3BD1-ABAE-96B9-A26B68BBCCA5}"/>
              </a:ext>
            </a:extLst>
          </p:cNvPr>
          <p:cNvSpPr>
            <a:spLocks noGrp="1"/>
          </p:cNvSpPr>
          <p:nvPr>
            <p:ph type="ftr" sz="quarter" idx="11"/>
          </p:nvPr>
        </p:nvSpPr>
        <p:spPr/>
        <p:txBody>
          <a:bodyPr/>
          <a:lstStyle/>
          <a:p>
            <a:r>
              <a:rPr lang="en-US"/>
              <a:t>Or Peretz</a:t>
            </a:r>
          </a:p>
        </p:txBody>
      </p:sp>
      <p:sp>
        <p:nvSpPr>
          <p:cNvPr id="6" name="Slide Number Placeholder 5">
            <a:extLst>
              <a:ext uri="{FF2B5EF4-FFF2-40B4-BE49-F238E27FC236}">
                <a16:creationId xmlns:a16="http://schemas.microsoft.com/office/drawing/2014/main" id="{A6BBBF64-3BDE-7C95-A63A-9EA7BC99C4E8}"/>
              </a:ext>
            </a:extLst>
          </p:cNvPr>
          <p:cNvSpPr>
            <a:spLocks noGrp="1"/>
          </p:cNvSpPr>
          <p:nvPr>
            <p:ph type="sldNum" sz="quarter" idx="12"/>
          </p:nvPr>
        </p:nvSpPr>
        <p:spPr/>
        <p:txBody>
          <a:bodyPr/>
          <a:lstStyle/>
          <a:p>
            <a:r>
              <a:t>1</a:t>
            </a:r>
          </a:p>
        </p:txBody>
      </p:sp>
    </p:spTree>
    <p:extLst>
      <p:ext uri="{BB962C8B-B14F-4D97-AF65-F5344CB8AC3E}">
        <p14:creationId xmlns:p14="http://schemas.microsoft.com/office/powerpoint/2010/main" val="1320977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r>
              <a:t>Star Schema: Default BI Design</a:t>
            </a:r>
          </a:p>
        </p:txBody>
      </p:sp>
      <p:pic>
        <p:nvPicPr>
          <p:cNvPr id="2" name="Picture 1" descr="../../diagrams/week05/week5_star_schema.png"/>
          <p:cNvPicPr>
            <a:picLocks noGrp="1" noChangeAspect="1"/>
          </p:cNvPicPr>
          <p:nvPr/>
        </p:nvPicPr>
        <p:blipFill>
          <a:blip r:embed="rId2"/>
          <a:stretch>
            <a:fillRect/>
          </a:stretch>
        </p:blipFill>
        <p:spPr bwMode="auto">
          <a:xfrm>
            <a:off x="2286000" y="2141747"/>
            <a:ext cx="7620000" cy="3276600"/>
          </a:xfrm>
          <a:prstGeom prst="rect">
            <a:avLst/>
          </a:prstGeom>
          <a:noFill/>
          <a:ln w="9525">
            <a:noFill/>
            <a:headEnd/>
            <a:tailEnd/>
          </a:ln>
        </p:spPr>
      </p:pic>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r>
              <a:t>19</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247F2195-345C-304A-8C3F-63A95D23B2B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3" name="Rectangle 3">
            <a:extLst>
              <a:ext uri="{FF2B5EF4-FFF2-40B4-BE49-F238E27FC236}">
                <a16:creationId xmlns:a16="http://schemas.microsoft.com/office/drawing/2014/main" id="{A0FC9566-4825-6C4F-90A7-6D1920106940}"/>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4" name="Rectangle 4">
            <a:extLst>
              <a:ext uri="{FF2B5EF4-FFF2-40B4-BE49-F238E27FC236}">
                <a16:creationId xmlns:a16="http://schemas.microsoft.com/office/drawing/2014/main" id="{F9D8CE74-95B2-F848-B860-86A4812E8AAF}"/>
              </a:ext>
            </a:extLst>
          </p:cNvPr>
          <p:cNvSpPr>
            <a:spLocks noGrp="1" noChangeArrowheads="1"/>
          </p:cNvSpPr>
          <p:nvPr>
            <p:ph type="title"/>
          </p:nvPr>
        </p:nvSpPr>
        <p:spPr>
          <a:xfrm>
            <a:off x="1016000" y="50800"/>
            <a:ext cx="10160000" cy="914400"/>
          </a:xfrm>
          <a:noFill/>
        </p:spPr>
        <p:txBody>
          <a:bodyPr vert="horz" lIns="0" tIns="0" rIns="0" bIns="0" rtlCol="0" anchor="b">
            <a:normAutofit/>
          </a:bodyPr>
          <a:lstStyle/>
          <a:p>
            <a:r>
              <a:t>The Classic Star Schema</a:t>
            </a:r>
          </a:p>
        </p:txBody>
      </p:sp>
      <p:sp>
        <p:nvSpPr>
          <p:cNvPr id="12295" name="Rectangle 5">
            <a:extLst>
              <a:ext uri="{FF2B5EF4-FFF2-40B4-BE49-F238E27FC236}">
                <a16:creationId xmlns:a16="http://schemas.microsoft.com/office/drawing/2014/main" id="{5091B59B-BE13-964B-BBF6-6AE34839713A}"/>
              </a:ext>
            </a:extLst>
          </p:cNvPr>
          <p:cNvSpPr>
            <a:spLocks noGrp="1" noChangeArrowheads="1"/>
          </p:cNvSpPr>
          <p:nvPr>
            <p:ph type="body" sz="half" idx="2"/>
          </p:nvPr>
        </p:nvSpPr>
        <p:spPr>
          <a:xfrm>
            <a:off x="1728592" y="1193800"/>
            <a:ext cx="7114783" cy="5054600"/>
          </a:xfrm>
          <a:noFill/>
        </p:spPr>
        <p:txBody>
          <a:bodyPr vert="horz" lIns="92075" tIns="46037" rIns="92075" bIns="46037" rtlCol="0">
            <a:normAutofit/>
          </a:bodyPr>
          <a:lstStyle/>
          <a:p>
            <a:r>
              <a:rPr dirty="0"/>
              <a:t>A fact table sits at the center and connects to denormalized dimensions.</a:t>
            </a:r>
          </a:p>
          <a:p>
            <a:r>
              <a:rPr dirty="0"/>
              <a:t>Each dimension key appears once in the fact table primary/unique key.</a:t>
            </a:r>
          </a:p>
        </p:txBody>
      </p:sp>
      <p:sp>
        <p:nvSpPr>
          <p:cNvPr id="2" name="Footer Placeholder 1">
            <a:extLst>
              <a:ext uri="{FF2B5EF4-FFF2-40B4-BE49-F238E27FC236}">
                <a16:creationId xmlns:a16="http://schemas.microsoft.com/office/drawing/2014/main" id="{38BA2684-3C4D-3E4C-8392-716A83D63D2A}"/>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D8FB5893-6449-AC4A-A835-E6DE429CF24C}"/>
              </a:ext>
            </a:extLst>
          </p:cNvPr>
          <p:cNvSpPr>
            <a:spLocks noGrp="1"/>
          </p:cNvSpPr>
          <p:nvPr>
            <p:ph type="sldNum" sz="quarter" idx="11"/>
          </p:nvPr>
        </p:nvSpPr>
        <p:spPr/>
        <p:txBody>
          <a:bodyPr/>
          <a:lstStyle/>
          <a:p>
            <a:endParaRPr lang="en-US" altLang="en-US"/>
          </a:p>
        </p:txBody>
      </p:sp>
      <p:pic>
        <p:nvPicPr>
          <p:cNvPr id="1026" name="Picture 2" descr="Star Schema | Logi Analytics BI Encyclopedia">
            <a:extLst>
              <a:ext uri="{FF2B5EF4-FFF2-40B4-BE49-F238E27FC236}">
                <a16:creationId xmlns:a16="http://schemas.microsoft.com/office/drawing/2014/main" id="{4C8DFDC8-153E-3C41-A879-9AC35D304D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5007" y="3346450"/>
            <a:ext cx="3674993" cy="313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160337"/>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Snowflake Schema</a:t>
            </a:r>
          </a:p>
        </p:txBody>
      </p:sp>
      <p:sp>
        <p:nvSpPr>
          <p:cNvPr id="3" name="Content Placeholder 2"/>
          <p:cNvSpPr>
            <a:spLocks noGrp="1"/>
          </p:cNvSpPr>
          <p:nvPr>
            <p:ph idx="1" hasCustomPrompt="1"/>
          </p:nvPr>
        </p:nvSpPr>
        <p:spPr/>
        <p:txBody>
          <a:bodyPr/>
          <a:lstStyle/>
          <a:p>
            <a:r>
              <a:rPr dirty="0"/>
              <a:t>Snowflaking normalizes selected dimension </a:t>
            </a:r>
            <a:br>
              <a:rPr lang="en-US" dirty="0"/>
            </a:br>
            <a:r>
              <a:rPr dirty="0"/>
              <a:t>attributes into sub-dimensions</a:t>
            </a:r>
          </a:p>
          <a:p>
            <a:r>
              <a:rPr dirty="0"/>
              <a:t>It can reduce redundancy in large</a:t>
            </a:r>
            <a:r>
              <a:rPr lang="en-US" dirty="0"/>
              <a:t> </a:t>
            </a:r>
            <a:r>
              <a:rPr dirty="0"/>
              <a:t>dimensions</a:t>
            </a:r>
          </a:p>
          <a:p>
            <a:r>
              <a:rPr dirty="0"/>
              <a:t>It adds joins, ETL complexity, and harder self-service BI</a:t>
            </a:r>
          </a:p>
          <a:p>
            <a:r>
              <a:rPr dirty="0"/>
              <a:t>Common compromise: normalized core plus star marts</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21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7DC5E96D-7295-7A46-8A13-A4970C04CEC8}"/>
              </a:ext>
            </a:extLst>
          </p:cNvPr>
          <p:cNvSpPr>
            <a:spLocks noGrp="1" noChangeArrowheads="1"/>
          </p:cNvSpPr>
          <p:nvPr>
            <p:ph type="title"/>
          </p:nvPr>
        </p:nvSpPr>
        <p:spPr/>
        <p:txBody>
          <a:bodyPr>
            <a:normAutofit/>
          </a:bodyPr>
          <a:lstStyle/>
          <a:p>
            <a:r>
              <a:t>Snowflake Schema: Normalized Dimensions</a:t>
            </a:r>
          </a:p>
        </p:txBody>
      </p:sp>
      <p:sp>
        <p:nvSpPr>
          <p:cNvPr id="2" name="Footer Placeholder 1">
            <a:extLst>
              <a:ext uri="{FF2B5EF4-FFF2-40B4-BE49-F238E27FC236}">
                <a16:creationId xmlns:a16="http://schemas.microsoft.com/office/drawing/2014/main" id="{CC0593CF-1E3D-7046-A85B-0092D6E173CF}"/>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6C500C8D-D815-7145-87F5-706899578181}"/>
              </a:ext>
            </a:extLst>
          </p:cNvPr>
          <p:cNvSpPr>
            <a:spLocks noGrp="1"/>
          </p:cNvSpPr>
          <p:nvPr>
            <p:ph type="sldNum" sz="quarter" idx="11"/>
          </p:nvPr>
        </p:nvSpPr>
        <p:spPr/>
        <p:txBody>
          <a:bodyPr/>
          <a:lstStyle/>
          <a:p>
            <a:endParaRPr lang="en-US" altLang="en-US"/>
          </a:p>
        </p:txBody>
      </p:sp>
      <p:pic>
        <p:nvPicPr>
          <p:cNvPr id="1026" name="Picture 2" descr="Snowflake schema - Wikipedia">
            <a:extLst>
              <a:ext uri="{FF2B5EF4-FFF2-40B4-BE49-F238E27FC236}">
                <a16:creationId xmlns:a16="http://schemas.microsoft.com/office/drawing/2014/main" id="{21444CBD-8314-8F5E-3D55-02B80B45B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479" y="1589651"/>
            <a:ext cx="7608887" cy="4594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3011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2903A978-8055-EB41-8C19-BBAB90074685}"/>
              </a:ext>
            </a:extLst>
          </p:cNvPr>
          <p:cNvSpPr>
            <a:spLocks noGrp="1" noChangeArrowheads="1"/>
          </p:cNvSpPr>
          <p:nvPr>
            <p:ph type="title"/>
          </p:nvPr>
        </p:nvSpPr>
        <p:spPr/>
        <p:txBody>
          <a:bodyPr>
            <a:normAutofit/>
          </a:bodyPr>
          <a:lstStyle/>
          <a:p>
            <a:r>
              <a:t>Snowflaking a Product Dimension</a:t>
            </a:r>
          </a:p>
        </p:txBody>
      </p:sp>
      <p:sp>
        <p:nvSpPr>
          <p:cNvPr id="20485" name="Rectangle 3">
            <a:extLst>
              <a:ext uri="{FF2B5EF4-FFF2-40B4-BE49-F238E27FC236}">
                <a16:creationId xmlns:a16="http://schemas.microsoft.com/office/drawing/2014/main" id="{25C51041-4419-504B-90C3-74979E4F4B1D}"/>
              </a:ext>
            </a:extLst>
          </p:cNvPr>
          <p:cNvSpPr>
            <a:spLocks noGrp="1" noChangeArrowheads="1"/>
          </p:cNvSpPr>
          <p:nvPr>
            <p:ph type="body" idx="1"/>
          </p:nvPr>
        </p:nvSpPr>
        <p:spPr>
          <a:xfrm>
            <a:off x="1131634" y="1371602"/>
            <a:ext cx="10735733" cy="4805363"/>
          </a:xfrm>
        </p:spPr>
        <p:txBody>
          <a:bodyPr/>
          <a:lstStyle/>
          <a:p>
            <a:r>
              <a:rPr dirty="0"/>
              <a:t>Split shared hierarchy attributes into reference tables</a:t>
            </a:r>
          </a:p>
          <a:p>
            <a:r>
              <a:rPr dirty="0"/>
              <a:t>Product stores </a:t>
            </a:r>
            <a:r>
              <a:rPr dirty="0" err="1"/>
              <a:t>brand_key</a:t>
            </a:r>
            <a:r>
              <a:rPr dirty="0"/>
              <a:t> and </a:t>
            </a:r>
            <a:r>
              <a:rPr dirty="0" err="1"/>
              <a:t>category_key</a:t>
            </a:r>
            <a:endParaRPr dirty="0"/>
          </a:p>
          <a:p>
            <a:r>
              <a:rPr dirty="0"/>
              <a:t>Benefit: less repetition and stronger governance</a:t>
            </a:r>
          </a:p>
          <a:p>
            <a:r>
              <a:rPr dirty="0"/>
              <a:t>Cost: extra joins unless a mart </a:t>
            </a:r>
            <a:r>
              <a:rPr dirty="0" err="1"/>
              <a:t>denormalizes</a:t>
            </a:r>
            <a:r>
              <a:rPr dirty="0"/>
              <a:t> back</a:t>
            </a:r>
          </a:p>
        </p:txBody>
      </p:sp>
      <p:sp>
        <p:nvSpPr>
          <p:cNvPr id="20486" name="Rectangle 4">
            <a:extLst>
              <a:ext uri="{FF2B5EF4-FFF2-40B4-BE49-F238E27FC236}">
                <a16:creationId xmlns:a16="http://schemas.microsoft.com/office/drawing/2014/main" id="{A6FF800D-EC12-2E4B-AA50-211150467EF7}"/>
              </a:ext>
            </a:extLst>
          </p:cNvPr>
          <p:cNvSpPr>
            <a:spLocks noChangeArrowheads="1"/>
          </p:cNvSpPr>
          <p:nvPr/>
        </p:nvSpPr>
        <p:spPr bwMode="auto">
          <a:xfrm>
            <a:off x="2904064" y="3733798"/>
            <a:ext cx="1600200" cy="1752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sz="1400"/>
              <a:t>Product key</a:t>
            </a:r>
          </a:p>
          <a:p>
            <a:r>
              <a:rPr sz="1400"/>
              <a:t>Product name</a:t>
            </a:r>
          </a:p>
          <a:p>
            <a:r>
              <a:rPr sz="1400"/>
              <a:t>Product code</a:t>
            </a:r>
          </a:p>
          <a:p>
            <a:r>
              <a:rPr sz="1400"/>
              <a:t>Brand key</a:t>
            </a:r>
          </a:p>
        </p:txBody>
      </p:sp>
      <p:sp>
        <p:nvSpPr>
          <p:cNvPr id="20487" name="Rectangle 5">
            <a:extLst>
              <a:ext uri="{FF2B5EF4-FFF2-40B4-BE49-F238E27FC236}">
                <a16:creationId xmlns:a16="http://schemas.microsoft.com/office/drawing/2014/main" id="{1AC37613-FF5C-434D-BE31-D1DEFEF20DED}"/>
              </a:ext>
            </a:extLst>
          </p:cNvPr>
          <p:cNvSpPr>
            <a:spLocks noChangeArrowheads="1"/>
          </p:cNvSpPr>
          <p:nvPr/>
        </p:nvSpPr>
        <p:spPr bwMode="auto">
          <a:xfrm>
            <a:off x="5190064" y="3809998"/>
            <a:ext cx="1524000" cy="1447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sz="1400"/>
              <a:t>Brand key</a:t>
            </a:r>
          </a:p>
          <a:p>
            <a:r>
              <a:rPr sz="1400"/>
              <a:t>Brand name</a:t>
            </a:r>
          </a:p>
          <a:p>
            <a:r>
              <a:rPr sz="1400"/>
              <a:t>Category key</a:t>
            </a:r>
          </a:p>
        </p:txBody>
      </p:sp>
      <p:sp>
        <p:nvSpPr>
          <p:cNvPr id="20488" name="Rectangle 6">
            <a:extLst>
              <a:ext uri="{FF2B5EF4-FFF2-40B4-BE49-F238E27FC236}">
                <a16:creationId xmlns:a16="http://schemas.microsoft.com/office/drawing/2014/main" id="{ED90A8EE-DAD5-9F45-85A9-9C05D56E2A65}"/>
              </a:ext>
            </a:extLst>
          </p:cNvPr>
          <p:cNvSpPr>
            <a:spLocks noChangeArrowheads="1"/>
          </p:cNvSpPr>
          <p:nvPr/>
        </p:nvSpPr>
        <p:spPr bwMode="auto">
          <a:xfrm>
            <a:off x="7323664" y="3962398"/>
            <a:ext cx="1752600" cy="1066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sz="1400"/>
              <a:t>Category key</a:t>
            </a:r>
          </a:p>
          <a:p>
            <a:r>
              <a:rPr sz="1400"/>
              <a:t>Product category</a:t>
            </a:r>
          </a:p>
        </p:txBody>
      </p:sp>
      <p:sp>
        <p:nvSpPr>
          <p:cNvPr id="20489" name="Line 7">
            <a:extLst>
              <a:ext uri="{FF2B5EF4-FFF2-40B4-BE49-F238E27FC236}">
                <a16:creationId xmlns:a16="http://schemas.microsoft.com/office/drawing/2014/main" id="{BA045F16-3DE7-1A4A-94FA-2C4080E8993C}"/>
              </a:ext>
            </a:extLst>
          </p:cNvPr>
          <p:cNvSpPr>
            <a:spLocks noChangeShapeType="1"/>
          </p:cNvSpPr>
          <p:nvPr/>
        </p:nvSpPr>
        <p:spPr bwMode="auto">
          <a:xfrm flipV="1">
            <a:off x="4504264" y="4343398"/>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20490" name="Line 8">
            <a:extLst>
              <a:ext uri="{FF2B5EF4-FFF2-40B4-BE49-F238E27FC236}">
                <a16:creationId xmlns:a16="http://schemas.microsoft.com/office/drawing/2014/main" id="{21DD5AA0-DE5D-C749-AF02-3B73B082C4CA}"/>
              </a:ext>
            </a:extLst>
          </p:cNvPr>
          <p:cNvSpPr>
            <a:spLocks noChangeShapeType="1"/>
          </p:cNvSpPr>
          <p:nvPr/>
        </p:nvSpPr>
        <p:spPr bwMode="auto">
          <a:xfrm flipV="1">
            <a:off x="6714064" y="441959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2" name="Footer Placeholder 1">
            <a:extLst>
              <a:ext uri="{FF2B5EF4-FFF2-40B4-BE49-F238E27FC236}">
                <a16:creationId xmlns:a16="http://schemas.microsoft.com/office/drawing/2014/main" id="{F267C3B9-215B-1140-A49F-9AE70E7BCB5E}"/>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3ECDFFCB-B726-FF42-A18D-6836CDE9C5C7}"/>
              </a:ext>
            </a:extLst>
          </p:cNvPr>
          <p:cNvSpPr>
            <a:spLocks noGrp="1"/>
          </p:cNvSpPr>
          <p:nvPr>
            <p:ph type="sldNum" sz="quarter" idx="11"/>
          </p:nvPr>
        </p:nvSpPr>
        <p:spPr/>
        <p:txBody>
          <a:bodyPr/>
          <a:lstStyle/>
          <a:p>
            <a:endParaRPr lang="en-US" altLang="en-US"/>
          </a:p>
        </p:txBody>
      </p:sp>
    </p:spTree>
    <p:extLst>
      <p:ext uri="{BB962C8B-B14F-4D97-AF65-F5344CB8AC3E}">
        <p14:creationId xmlns:p14="http://schemas.microsoft.com/office/powerpoint/2010/main" val="29710353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Partitioning and Clustering Strategy</a:t>
            </a:r>
          </a:p>
        </p:txBody>
      </p:sp>
      <p:sp>
        <p:nvSpPr>
          <p:cNvPr id="3" name="Content Placeholder 2"/>
          <p:cNvSpPr>
            <a:spLocks noGrp="1"/>
          </p:cNvSpPr>
          <p:nvPr>
            <p:ph idx="1" hasCustomPrompt="1"/>
          </p:nvPr>
        </p:nvSpPr>
        <p:spPr/>
        <p:txBody>
          <a:bodyPr/>
          <a:lstStyle/>
          <a:p>
            <a:r>
              <a:t>Partition large facts by the dominant time filter, usually date_key</a:t>
            </a:r>
          </a:p>
          <a:p>
            <a:r>
              <a:t>Align partition granularity with query patterns and retention policy</a:t>
            </a:r>
          </a:p>
          <a:p>
            <a:r>
              <a:t>Cluster or sort on common filters such as customer_key or product_key</a:t>
            </a:r>
          </a:p>
          <a:p>
            <a:r>
              <a:t>Avoid tiny partitions and small files; they add metadata overhead</a:t>
            </a:r>
          </a:p>
          <a:p>
            <a:r>
              <a:t>Validate design with bytes scanned, partitions read, and p95 latency</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26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r>
              <a:t>Partition Pruning Cost Model</a:t>
            </a:r>
          </a:p>
        </p:txBody>
      </p:sp>
      <mc:AlternateContent xmlns:mc="http://schemas.openxmlformats.org/markup-compatibility/2006" xmlns:a14="http://schemas.microsoft.com/office/drawing/2010/main">
        <mc:Choice Requires="a14">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a:xfrm>
                <a:off x="1368725" y="1417638"/>
                <a:ext cx="8791275" cy="4357028"/>
              </a:xfrm>
            </p:spPr>
            <p:txBody>
              <a:bodyPr>
                <a:normAutofit/>
              </a:bodyPr>
              <a:lstStyle/>
              <a:p>
                <a:pPr marL="0" lvl="0" indent="0">
                  <a:buNone/>
                </a:pPr>
                <a14:m>
                  <m:oMathPara xmlns:m="http://schemas.openxmlformats.org/officeDocument/2006/math">
                    <m:oMathParaPr>
                      <m:jc m:val="center"/>
                    </m:oMathParaPr>
                    <m:oMath xmlns:m="http://schemas.openxmlformats.org/officeDocument/2006/math">
                      <m:r>
                        <m:rPr>
                          <m:nor/>
                        </m:rPr>
                        <a:rPr sz="2800"/>
                        <m:t>ScanCost</m:t>
                      </m:r>
                      <m:r>
                        <a:rPr sz="2800">
                          <a:latin typeface="Cambria Math" panose="02040503050406030204" pitchFamily="18" charset="0"/>
                        </a:rPr>
                        <m:t>=</m:t>
                      </m:r>
                      <m:r>
                        <a:rPr sz="2800">
                          <a:latin typeface="Cambria Math" panose="02040503050406030204" pitchFamily="18" charset="0"/>
                        </a:rPr>
                        <m:t>𝑠</m:t>
                      </m:r>
                      <m:r>
                        <a:rPr sz="2800">
                          <a:latin typeface="Cambria Math" panose="02040503050406030204" pitchFamily="18" charset="0"/>
                        </a:rPr>
                        <m:t>⋅|</m:t>
                      </m:r>
                      <m:r>
                        <a:rPr sz="2800">
                          <a:latin typeface="Cambria Math" panose="02040503050406030204" pitchFamily="18" charset="0"/>
                        </a:rPr>
                        <m:t>𝐹</m:t>
                      </m:r>
                      <m:r>
                        <a:rPr sz="2800">
                          <a:latin typeface="Cambria Math" panose="02040503050406030204" pitchFamily="18" charset="0"/>
                        </a:rPr>
                        <m:t>|</m:t>
                      </m:r>
                    </m:oMath>
                  </m:oMathPara>
                </a14:m>
                <a:endParaRPr sz="2800" dirty="0"/>
              </a:p>
              <a:p>
                <a:pPr marL="0" lvl="0" indent="0">
                  <a:buNone/>
                </a:pPr>
                <a:r>
                  <a:rPr sz="2800" dirty="0">
                    <a:latin typeface="Courier"/>
                  </a:rPr>
                  <a:t>F|</a:t>
                </a:r>
                <a:r>
                  <a:rPr sz="2800" dirty="0"/>
                  <a:t>: total fact size</a:t>
                </a:r>
                <a:endParaRPr lang="en-US" sz="2800" dirty="0"/>
              </a:p>
              <a:p>
                <a:pPr marL="0" lvl="0" indent="0">
                  <a:buNone/>
                </a:pPr>
                <a:r>
                  <a:rPr sz="2800" dirty="0">
                    <a:latin typeface="Courier"/>
                  </a:rPr>
                  <a:t>s</a:t>
                </a:r>
                <a:r>
                  <a:rPr sz="2800" dirty="0"/>
                  <a:t>: selected partition fraction</a:t>
                </a:r>
                <a:endParaRPr lang="en-US" sz="2800" dirty="0"/>
              </a:p>
              <a:p>
                <a:pPr marL="0" lvl="0" indent="0">
                  <a:buNone/>
                </a:pPr>
                <a:endParaRPr lang="en-US" sz="2800" dirty="0"/>
              </a:p>
              <a:p>
                <a:pPr marL="0" lvl="0" indent="0">
                  <a:buNone/>
                </a:pPr>
                <a:r>
                  <a:rPr sz="2800" dirty="0"/>
                  <a:t>Example: </a:t>
                </a:r>
                <a:r>
                  <a:rPr sz="2800" dirty="0">
                    <a:latin typeface="Courier"/>
                  </a:rPr>
                  <a:t>|F|=1 TB</a:t>
                </a:r>
                <a:r>
                  <a:rPr sz="2800" dirty="0"/>
                  <a:t>, one-day filter over 365 days -&gt; </a:t>
                </a:r>
                <a:r>
                  <a:rPr sz="2800" dirty="0">
                    <a:latin typeface="Courier"/>
                  </a:rPr>
                  <a:t>s=1/365</a:t>
                </a:r>
                <a:r>
                  <a:rPr sz="2800" dirty="0"/>
                  <a:t> - Scan drops from </a:t>
                </a:r>
                <a:r>
                  <a:rPr sz="2800" dirty="0">
                    <a:latin typeface="Courier"/>
                  </a:rPr>
                  <a:t>1 TB</a:t>
                </a:r>
                <a:r>
                  <a:rPr sz="2800" dirty="0"/>
                  <a:t> to about </a:t>
                </a:r>
                <a:r>
                  <a:rPr sz="2800" dirty="0">
                    <a:latin typeface="Courier"/>
                  </a:rPr>
                  <a:t>2.74 GB</a:t>
                </a:r>
                <a:r>
                  <a:rPr lang="en-US" sz="2800" dirty="0">
                    <a:latin typeface="Courier"/>
                  </a:rPr>
                  <a:t>,</a:t>
                </a:r>
                <a:r>
                  <a:rPr sz="2800" dirty="0"/>
                  <a:t> Cost and runtime often drop proportionally</a:t>
                </a:r>
              </a:p>
            </p:txBody>
          </p:sp>
        </mc:Choice>
        <mc:Fallback xmlns="">
          <p:sp>
            <p:nvSpPr>
              <p:cNvPr id="3" name="Text Placeholder 3">
                <a:extLst>
                  <a:ext uri="{FF2B5EF4-FFF2-40B4-BE49-F238E27FC236}">
                    <a16:creationId xmlns:a16="http://schemas.microsoft.com/office/drawing/2014/main" id="{838FFFFD-68E9-C4E4-7764-523BAE32B83B}"/>
                  </a:ext>
                </a:extLst>
              </p:cNvPr>
              <p:cNvSpPr>
                <a:spLocks noGrp="1" noRot="1" noChangeAspect="1" noMove="1" noResize="1" noEditPoints="1" noAdjustHandles="1" noChangeArrowheads="1" noChangeShapeType="1" noTextEdit="1"/>
              </p:cNvSpPr>
              <p:nvPr>
                <p:ph type="body" sz="half" idx="2" hasCustomPrompt="1"/>
              </p:nvPr>
            </p:nvSpPr>
            <p:spPr>
              <a:xfrm>
                <a:off x="1368725" y="1417638"/>
                <a:ext cx="8791275" cy="4357028"/>
              </a:xfrm>
              <a:blipFill>
                <a:blip r:embed="rId2"/>
                <a:stretch>
                  <a:fillRect l="-1587"/>
                </a:stretch>
              </a:blipFill>
            </p:spPr>
            <p:txBody>
              <a:bodyPr/>
              <a:lstStyle/>
              <a:p>
                <a:r>
                  <a:rPr lang="he-IL">
                    <a:noFill/>
                  </a:rPr>
                  <a:t> </a:t>
                </a:r>
              </a:p>
            </p:txBody>
          </p:sp>
        </mc:Fallback>
      </mc:AlternateContent>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r>
              <a:t>27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Join Cost Intuition</a:t>
            </a:r>
          </a:p>
        </p:txBody>
      </p:sp>
      <mc:AlternateContent xmlns:mc="http://schemas.openxmlformats.org/markup-compatibility/2006" xmlns:a14="http://schemas.microsoft.com/office/drawing/2010/main">
        <mc:Choice Requires="a14">
          <p:sp>
            <p:nvSpPr>
              <p:cNvPr id="3" name="Content Placeholder 2"/>
              <p:cNvSpPr>
                <a:spLocks noGrp="1"/>
              </p:cNvSpPr>
              <p:nvPr>
                <p:ph idx="1" hasCustomPrompt="1"/>
              </p:nvPr>
            </p:nvSpPr>
            <p:spPr/>
            <p:txBody>
              <a:bodyPr/>
              <a:lstStyle/>
              <a:p>
                <a:pPr marL="0" lvl="0" indent="0">
                  <a:buNone/>
                </a:pPr>
                <a14:m>
                  <m:oMathPara xmlns:m="http://schemas.openxmlformats.org/officeDocument/2006/math">
                    <m:oMathParaPr>
                      <m:jc m:val="center"/>
                    </m:oMathParaPr>
                    <m:oMath xmlns:m="http://schemas.openxmlformats.org/officeDocument/2006/math">
                      <m:r>
                        <m:rPr>
                          <m:nor/>
                        </m:rPr>
                        <a:rPr/>
                        <m:t>JoinWork</m:t>
                      </m:r>
                      <m:r>
                        <a:rPr>
                          <a:latin typeface="Cambria Math" panose="02040503050406030204" pitchFamily="18" charset="0"/>
                        </a:rPr>
                        <m:t>≈</m:t>
                      </m:r>
                      <m:r>
                        <a:rPr>
                          <a:latin typeface="Cambria Math" panose="02040503050406030204" pitchFamily="18" charset="0"/>
                        </a:rPr>
                        <m:t>𝑂</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𝑝𝑟𝑢𝑛𝑒𝑑</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𝑖</m:t>
                          </m:r>
                        </m:sub>
                      </m:sSub>
                      <m:r>
                        <a:rPr>
                          <a:latin typeface="Cambria Math" panose="02040503050406030204" pitchFamily="18" charset="0"/>
                        </a:rPr>
                        <m:t>|)</m:t>
                      </m:r>
                    </m:oMath>
                  </m:oMathPara>
                </a14:m>
                <a:endParaRPr dirty="0"/>
              </a:p>
              <a:p>
                <a:pPr marL="0" lvl="0" indent="0">
                  <a:buNone/>
                </a:pPr>
                <a:endParaRPr lang="en-US" dirty="0"/>
              </a:p>
              <a:p>
                <a:pPr marL="0" lvl="0" indent="0">
                  <a:buNone/>
                </a:pPr>
                <a:r>
                  <a:rPr dirty="0"/>
                  <a:t>Pruned fact size is usually dominant term</a:t>
                </a:r>
                <a:endParaRPr lang="en-US" dirty="0"/>
              </a:p>
              <a:p>
                <a:pPr marL="0" lvl="0" indent="0">
                  <a:buNone/>
                </a:pPr>
                <a:r>
                  <a:rPr dirty="0"/>
                  <a:t>Broadcast joins help when dimensions fit memory</a:t>
                </a:r>
                <a:endParaRPr lang="en-US" dirty="0"/>
              </a:p>
              <a:p>
                <a:pPr marL="0" lvl="0" indent="0">
                  <a:buNone/>
                </a:pPr>
                <a:r>
                  <a:rPr dirty="0"/>
                  <a:t>Large dimensions force shuffle and spill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hasCustomPrompt="1"/>
              </p:nvPr>
            </p:nvSpPr>
            <p:spPr>
              <a:blipFill>
                <a:blip r:embed="rId2"/>
                <a:stretch>
                  <a:fillRect l="-1192"/>
                </a:stretch>
              </a:blipFill>
            </p:spPr>
            <p:txBody>
              <a:bodyPr/>
              <a:lstStyle/>
              <a:p>
                <a:r>
                  <a:rPr lang="he-IL">
                    <a:noFill/>
                  </a:rPr>
                  <a:t> </a:t>
                </a:r>
              </a:p>
            </p:txBody>
          </p:sp>
        </mc:Fallback>
      </mc:AlternateContent>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1575</Words>
  <Application>Microsoft Macintosh PowerPoint</Application>
  <PresentationFormat>מסך רחב</PresentationFormat>
  <Paragraphs>309</Paragraphs>
  <Slides>43</Slides>
  <Notes>11</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43</vt:i4>
      </vt:variant>
    </vt:vector>
  </HeadingPairs>
  <TitlesOfParts>
    <vt:vector size="50" baseType="lpstr">
      <vt:lpstr>Aptos</vt:lpstr>
      <vt:lpstr>Arial</vt:lpstr>
      <vt:lpstr>Calibri</vt:lpstr>
      <vt:lpstr>Cambria Math</vt:lpstr>
      <vt:lpstr>Courier</vt:lpstr>
      <vt:lpstr>Times New Roman</vt:lpstr>
      <vt:lpstr>Office Theme</vt:lpstr>
      <vt:lpstr>DWH + ETL </vt:lpstr>
      <vt:lpstr>Why This Topic Is Critical</vt:lpstr>
      <vt:lpstr>Incident: Revenue Doubled After Rerun</vt:lpstr>
      <vt:lpstr>Core Stores: Warehouse vs Lake</vt:lpstr>
      <vt:lpstr>Core Stores: Warehouse vs Lake</vt:lpstr>
      <vt:lpstr>Data Warehouse Definition</vt:lpstr>
      <vt:lpstr>Why Separate Data Warehouse?</vt:lpstr>
      <vt:lpstr>Schema-on-Write vs Schema-on-Read</vt:lpstr>
      <vt:lpstr>DWH vs Lake</vt:lpstr>
      <vt:lpstr>Extract, Transform, Load - ETL</vt:lpstr>
      <vt:lpstr>Extraction</vt:lpstr>
      <vt:lpstr>Transformation</vt:lpstr>
      <vt:lpstr>Loading</vt:lpstr>
      <vt:lpstr>Extract, Load, Transform - ELT</vt:lpstr>
      <vt:lpstr>Change-Data-Capture (CDC) Options</vt:lpstr>
      <vt:lpstr>CDC Example: Orders Table</vt:lpstr>
      <vt:lpstr>Ingestion Modes</vt:lpstr>
      <vt:lpstr>Ingestion Modes</vt:lpstr>
      <vt:lpstr>Source-to-Target Mapping (STTM)</vt:lpstr>
      <vt:lpstr>STTM Mapping Flow</vt:lpstr>
      <vt:lpstr>STTM Process Types</vt:lpstr>
      <vt:lpstr>Idempotency Rule</vt:lpstr>
      <vt:lpstr>DWH Schema Design</vt:lpstr>
      <vt:lpstr>Fact and Dimension Contracts</vt:lpstr>
      <vt:lpstr>The Multi-Dimensional Model</vt:lpstr>
      <vt:lpstr>Dimensional Modeling</vt:lpstr>
      <vt:lpstr>Concept Hierarchy: Location Dimension</vt:lpstr>
      <vt:lpstr>Declaring Fact Grain</vt:lpstr>
      <vt:lpstr>Grain: What It Is</vt:lpstr>
      <vt:lpstr>Common Grain Options</vt:lpstr>
      <vt:lpstr>Choosing the Right Grain</vt:lpstr>
      <vt:lpstr>Table Behavior Types</vt:lpstr>
      <vt:lpstr>Append-Only vs. Mutable Tables</vt:lpstr>
      <vt:lpstr>Measure Types and Aggregation Rules</vt:lpstr>
      <vt:lpstr>Common Schemas</vt:lpstr>
      <vt:lpstr>Star Schema: Default BI Design</vt:lpstr>
      <vt:lpstr>The Classic Star Schema</vt:lpstr>
      <vt:lpstr>Snowflake Schema</vt:lpstr>
      <vt:lpstr>Snowflake Schema: Normalized Dimensions</vt:lpstr>
      <vt:lpstr>Snowflaking a Product Dimension</vt:lpstr>
      <vt:lpstr>Partitioning and Clustering Strategy</vt:lpstr>
      <vt:lpstr>Partition Pruning Cost Model</vt:lpstr>
      <vt:lpstr>Join Cost Intuition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Facet</Template>
  <TotalTime>12</TotalTime>
  <Words>18</Words>
  <Application>Microsoft Macintosh PowerPoint</Application>
  <PresentationFormat>מסך רחב</PresentationFormat>
  <Paragraphs>12</Paragraphs>
  <Slides>6</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6</vt:i4>
      </vt:variant>
    </vt:vector>
  </HeadingPairs>
  <TitlesOfParts>
    <vt:vector size="10" baseType="lpstr">
      <vt:lpstr>Aptos</vt:lpstr>
      <vt:lpstr>Arial</vt:lpstr>
      <vt:lpstr>Calibri</vt:lpstr>
      <vt:lpstr>Office Theme</vt:lpstr>
      <vt:lpstr>מצגת של PowerPoint‏</vt:lpstr>
      <vt:lpstr>מצגת של PowerPoint‏</vt:lpstr>
      <vt:lpstr>מצגת של PowerPoint‏</vt:lpstr>
      <vt:lpstr>מצגת של PowerPoint‏</vt:lpstr>
      <vt:lpstr>מצגת של PowerPoint‏</vt:lpstr>
      <vt:lpstr>מצגת של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Or Perets</cp:lastModifiedBy>
  <cp:revision>10</cp:revision>
  <dcterms:created xsi:type="dcterms:W3CDTF">2026-02-10T08:11:25Z</dcterms:created>
  <dcterms:modified xsi:type="dcterms:W3CDTF">2026-04-23T10:00:58Z</dcterms:modified>
</cp:coreProperties>
</file>