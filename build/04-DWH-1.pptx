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0846"/>
    <p:restoredTop sz="94733"/>
  </p:normalViewPr>
  <p:slideViewPr>
    <p:cSldViewPr snapToGrid="0" snapToObjects="1">
      <p:cViewPr varScale="1">
        <p:scale>
          <a:sx d="100" n="111"/>
          <a:sy d="100" n="111"/>
        </p:scale>
        <p:origin x="840" y="200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73" Type="http://schemas.openxmlformats.org/officeDocument/2006/relationships/tableStyles" Target="tableStyles.xml" /><Relationship Id="rId72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71" Type="http://schemas.openxmlformats.org/officeDocument/2006/relationships/viewProps" Target="viewProps.xml" /><Relationship Id="rId70" Type="http://schemas.openxmlformats.org/officeDocument/2006/relationships/presProps" Target="presProps.xml" /><Relationship Id="rId69" Type="http://schemas.openxmlformats.org/officeDocument/2006/relationships/handoutMaster" Target="handoutMasters/handout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4: DWH + ETL (Part 1)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ingestion pipelines that keep analytics trustworthy</a:t>
            </a:r>
          </a:p>
          <a:p>
            <a:pPr lvl="0"/>
            <a:r>
              <a:rPr/>
              <a:t>Connect ETL/ELT choices to DWH and lake architecture</a:t>
            </a:r>
          </a:p>
          <a:p>
            <a:pPr lvl="0"/>
            <a:r>
              <a:rPr/>
              <a:t>Design for retries, late data, and schema drift by default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ETL vs ELT using workload and governance constraints</a:t>
            </a:r>
          </a:p>
          <a:p>
            <a:pPr lvl="0"/>
            <a:r>
              <a:rPr/>
              <a:t>Design incremental pipelines with watermarks and control tables</a:t>
            </a:r>
          </a:p>
          <a:p>
            <a:pPr lvl="0"/>
            <a:r>
              <a:rPr/>
              <a:t>Implement deterministic deduplication and idempotent loads</a:t>
            </a:r>
          </a:p>
          <a:p>
            <a:pPr lvl="0"/>
            <a:r>
              <a:rPr/>
              <a:t>Handle late data, bad data, and reruns without KPI corruption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Lecture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and ingestion context</a:t>
            </a:r>
          </a:p>
          <a:p>
            <a:pPr lvl="0"/>
            <a:r>
              <a:rPr/>
              <a:t>ETL/ELT and CDC design choices</a:t>
            </a:r>
          </a:p>
          <a:p>
            <a:pPr lvl="0"/>
            <a:r>
              <a:rPr/>
              <a:t>Incremental load mechanics in detail</a:t>
            </a:r>
          </a:p>
          <a:p>
            <a:pPr lvl="0"/>
            <a:r>
              <a:rPr/>
              <a:t>Idempotent publish patterns and failure recovery</a:t>
            </a:r>
          </a:p>
          <a:p>
            <a:pPr lvl="0"/>
            <a:r>
              <a:rPr/>
              <a:t>Monitoring, runbooks, and production checklist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Topic Is Critical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Most BI outages begin in ingestion, not dashboards</a:t>
            </a:r>
          </a:p>
          <a:p>
            <a:pPr lvl="0"/>
            <a:r>
              <a:rPr/>
              <a:t>Small ingestion bugs create silent KPI drift</a:t>
            </a:r>
          </a:p>
          <a:p>
            <a:pPr lvl="0"/>
            <a:r>
              <a:rPr/>
              <a:t>Source systems change faster than analytics models</a:t>
            </a:r>
          </a:p>
          <a:p>
            <a:pPr lvl="0"/>
            <a:r>
              <a:rPr/>
              <a:t>Reliability requires explicit policies, not assumptions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Incident: Revenue Doubled After Rerun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Nightly pipeline failed at 02:10 after loading 2 of 3 partitions</a:t>
            </a:r>
          </a:p>
          <a:p>
            <a:pPr lvl="0"/>
            <a:r>
              <a:rPr/>
              <a:t>Operator reran full job with plain </a:t>
            </a:r>
            <a:r>
              <a:rPr>
                <a:latin typeface="Courier"/>
              </a:rPr>
              <a:t>INSERT</a:t>
            </a:r>
          </a:p>
          <a:p>
            <a:pPr lvl="0"/>
            <a:r>
              <a:rPr/>
              <a:t>Same transactions loaded again, revenue KPI jumped ~2x</a:t>
            </a:r>
          </a:p>
          <a:p>
            <a:pPr lvl="0"/>
            <a:r>
              <a:rPr/>
              <a:t>Root cause: no checkpoint + no idempotent target write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Reliable Ingestion Contract Includes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Declared business key and event-time semantics</a:t>
            </a:r>
          </a:p>
          <a:p>
            <a:pPr lvl="0"/>
            <a:r>
              <a:rPr/>
              <a:t>Accepted lateness window (for example, 48 hours)</a:t>
            </a:r>
          </a:p>
          <a:p>
            <a:pPr lvl="0"/>
            <a:r>
              <a:rPr/>
              <a:t>Quality thresholds (null rate, type errors, duplicates)</a:t>
            </a:r>
          </a:p>
          <a:p>
            <a:pPr lvl="0"/>
            <a:r>
              <a:rPr/>
              <a:t>Recovery policy for rerun, backfill, and schema changes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Contract Hierarchy</a:t>
            </a:r>
          </a:p>
        </p:txBody>
      </p:sp>
      <p:pic>
        <p:nvPicPr>
          <p:cNvPr descr="../../diagrams/week04/week4_ingestion_contract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2108200"/>
            <a:ext cx="106299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Stores: Warehouse vs Lake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Warehouse</a:t>
            </a:r>
            <a:r>
              <a:rPr/>
              <a:t>: curated, schema-on-write, BI-first</a:t>
            </a:r>
          </a:p>
          <a:p>
            <a:pPr lvl="0"/>
            <a:r>
              <a:rPr b="1"/>
              <a:t>Lake</a:t>
            </a:r>
            <a:r>
              <a:rPr/>
              <a:t>: raw + processed zones, schema flexibility</a:t>
            </a:r>
          </a:p>
          <a:p>
            <a:pPr lvl="0"/>
            <a:r>
              <a:rPr/>
              <a:t>Warehouse optimizes consistency and discoverability</a:t>
            </a:r>
          </a:p>
          <a:p>
            <a:pPr lvl="0"/>
            <a:r>
              <a:rPr/>
              <a:t>Lake optimizes ingestion agility and storage economics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Warehouse Definition (Inmon)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Inmon: a subject-oriented, integrated, time-variant, nonvolatile data store for decision support</a:t>
            </a:r>
          </a:p>
          <a:p>
            <a:pPr lvl="0"/>
            <a:r>
              <a:rPr b="1"/>
              <a:t>Subject-oriented</a:t>
            </a:r>
            <a:r>
              <a:rPr/>
              <a:t>: organized around major subjects (customer, product, sales)</a:t>
            </a:r>
          </a:p>
          <a:p>
            <a:pPr lvl="0"/>
            <a:r>
              <a:rPr b="1"/>
              <a:t>Integrated</a:t>
            </a:r>
            <a:r>
              <a:rPr/>
              <a:t>: multiple heterogeneous sources, cleaned and consistent naming/encoding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Warehouse Definition (Inmon) — Time and Volatility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Time-variant</a:t>
            </a:r>
            <a:r>
              <a:rPr/>
              <a:t>: historical perspective (past 5–10 years) vs operational current-value data</a:t>
            </a:r>
          </a:p>
          <a:p>
            <a:pPr lvl="0"/>
            <a:r>
              <a:rPr b="1"/>
              <a:t>Nonvolatile</a:t>
            </a:r>
            <a:r>
              <a:rPr/>
              <a:t>: physically separate; operational updates do not occur in the warehouse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vs Lake</a:t>
            </a:r>
          </a:p>
        </p:txBody>
      </p:sp>
      <p:pic>
        <p:nvPicPr>
          <p:cNvPr descr="../../diagrams/week04/week5_dwh_vs_lak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24400" y="1600200"/>
            <a:ext cx="3073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Write-time schema validation catches issues earlier</a:t>
            </a:r>
          </a:p>
          <a:p>
            <a:pPr lvl="0"/>
            <a:r>
              <a:rPr/>
              <a:t>Read-time schema validation supports source variability</a:t>
            </a:r>
          </a:p>
          <a:p>
            <a:pPr lvl="0"/>
            <a:r>
              <a:rPr/>
              <a:t>Schema-on-write reduces BI surprise and metric drift</a:t>
            </a:r>
          </a:p>
          <a:p>
            <a:pPr lvl="0"/>
            <a:r>
              <a:rPr/>
              <a:t>Schema-on-read speeds onboarding but needs stronger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 — Visual</a:t>
            </a:r>
          </a:p>
        </p:txBody>
      </p:sp>
      <p:pic>
        <p:nvPicPr>
          <p:cNvPr descr="../../diagrams/week04/week5_schema_on_read_vs_wr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600200"/>
            <a:ext cx="171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Modeling Context for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Facts carry measurable events (</a:t>
            </a:r>
            <a:r>
              <a:rPr>
                <a:latin typeface="Courier"/>
              </a:rPr>
              <a:t>amount</a:t>
            </a:r>
            <a:r>
              <a:rPr/>
              <a:t>, </a:t>
            </a:r>
            <a:r>
              <a:rPr>
                <a:latin typeface="Courier"/>
              </a:rPr>
              <a:t>qty</a:t>
            </a:r>
            <a:r>
              <a:rPr/>
              <a:t>, </a:t>
            </a:r>
            <a:r>
              <a:rPr>
                <a:latin typeface="Courier"/>
              </a:rPr>
              <a:t>views</a:t>
            </a:r>
            <a:r>
              <a:rPr/>
              <a:t>)</a:t>
            </a:r>
          </a:p>
          <a:p>
            <a:pPr lvl="0"/>
            <a:r>
              <a:rPr/>
              <a:t>Dimensions carry context (</a:t>
            </a:r>
            <a:r>
              <a:rPr>
                <a:latin typeface="Courier"/>
              </a:rPr>
              <a:t>customer</a:t>
            </a:r>
            <a:r>
              <a:rPr/>
              <a:t>, </a:t>
            </a:r>
            <a:r>
              <a:rPr>
                <a:latin typeface="Courier"/>
              </a:rPr>
              <a:t>product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)</a:t>
            </a:r>
          </a:p>
          <a:p>
            <a:pPr lvl="0"/>
            <a:r>
              <a:rPr/>
              <a:t>Ingestion must preserve keys, timestamps, and lineage</a:t>
            </a:r>
          </a:p>
          <a:p>
            <a:pPr lvl="0"/>
            <a:r>
              <a:rPr/>
              <a:t>Ingestion quality defects propagate to all downstream marts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 Schema Context</a:t>
            </a:r>
          </a:p>
        </p:txBody>
      </p:sp>
      <p:pic>
        <p:nvPicPr>
          <p:cNvPr descr="../../diagrams/week04/week5_star_sche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39900"/>
            <a:ext cx="106299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</a:t>
            </a:r>
            <a:r>
              <a:rPr/>
              <a:t>: transform then load curated target</a:t>
            </a:r>
          </a:p>
          <a:p>
            <a:pPr lvl="0"/>
            <a:r>
              <a:rPr b="1"/>
              <a:t>ELT</a:t>
            </a:r>
            <a:r>
              <a:rPr/>
              <a:t>: load raw first, transform in target compute engine</a:t>
            </a:r>
          </a:p>
          <a:p>
            <a:pPr lvl="0"/>
            <a:r>
              <a:rPr/>
              <a:t>ETL gives stronger pre-load control</a:t>
            </a:r>
          </a:p>
          <a:p>
            <a:pPr lvl="0"/>
            <a:r>
              <a:rPr/>
              <a:t>ELT gives better replay and faster iteration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— Visual</a:t>
            </a:r>
          </a:p>
        </p:txBody>
      </p:sp>
      <p:pic>
        <p:nvPicPr>
          <p:cNvPr descr="../../diagrams/week04/week4_etl_vs_el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19700" y="1600200"/>
            <a:ext cx="2057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Source-to-Target Mapping (STTM)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 and target schemas rarely match when moving data between systems</a:t>
            </a:r>
          </a:p>
          <a:p>
            <a:pPr lvl="0"/>
            <a:r>
              <a:rPr/>
              <a:t>STTM: a set of instructions defining how structure and content transfer from source to target</a:t>
            </a:r>
          </a:p>
          <a:p>
            <a:pPr lvl="0"/>
            <a:r>
              <a:rPr/>
              <a:t>Critical when integrating multiple sources with different schemas into a central warehouse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STTM: What It Covers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Multiple data types and encodings</a:t>
            </a:r>
          </a:p>
          <a:p>
            <a:pPr lvl="0"/>
            <a:r>
              <a:rPr/>
              <a:t>Unknown members and default values</a:t>
            </a:r>
          </a:p>
          <a:p>
            <a:pPr lvl="0"/>
            <a:r>
              <a:rPr/>
              <a:t>Foreign keys and referential integrity</a:t>
            </a:r>
          </a:p>
          <a:p>
            <a:pPr lvl="0"/>
            <a:r>
              <a:rPr/>
              <a:t>Metadata and lineage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STTM Mapping Flow</a:t>
            </a:r>
          </a:p>
        </p:txBody>
      </p:sp>
      <p:pic>
        <p:nvPicPr>
          <p:cNvPr descr="../../diagrams/week04/week4_sttm_mapping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27600" y="1600200"/>
            <a:ext cx="26543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STTM Process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Data Integration</a:t>
            </a:r>
            <a:r>
              <a:rPr/>
              <a:t>: operational sources -&gt; warehouse targets</a:t>
            </a:r>
          </a:p>
          <a:p>
            <a:pPr lvl="0"/>
            <a:r>
              <a:rPr b="1"/>
              <a:t>Data Migration</a:t>
            </a:r>
            <a:r>
              <a:rPr/>
              <a:t>: one-time movement between systems</a:t>
            </a:r>
          </a:p>
          <a:p>
            <a:pPr lvl="0"/>
            <a:r>
              <a:rPr b="1"/>
              <a:t>Data Transformation</a:t>
            </a:r>
            <a:r>
              <a:rPr/>
              <a:t>: convert formats, datatypes, and encodings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Decision Table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Strict regulatory filters before persistence → </a:t>
            </a:r>
            <a:r>
              <a:rPr b="1"/>
              <a:t>ETL</a:t>
            </a:r>
          </a:p>
          <a:p>
            <a:pPr lvl="0"/>
            <a:r>
              <a:rPr/>
              <a:t>Fast-changing source schema → </a:t>
            </a:r>
            <a:r>
              <a:rPr b="1"/>
              <a:t>ELT</a:t>
            </a:r>
            <a:r>
              <a:rPr/>
              <a:t> with raw bronze layer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Decision Table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Expensive source DB reads → </a:t>
            </a:r>
            <a:r>
              <a:rPr b="1"/>
              <a:t>ELT</a:t>
            </a:r>
            <a:r>
              <a:rPr/>
              <a:t> batched extracts</a:t>
            </a:r>
          </a:p>
          <a:p>
            <a:pPr lvl="0"/>
            <a:r>
              <a:rPr/>
              <a:t>Low tolerance for malformed curated rows → </a:t>
            </a:r>
            <a:r>
              <a:rPr b="1"/>
              <a:t>ETL</a:t>
            </a:r>
            <a:r>
              <a:rPr/>
              <a:t> gates + quarantine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CDC Options (How Changes Are Captured)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Full snapshot compare: simple, expensive at scale</a:t>
            </a:r>
          </a:p>
          <a:p>
            <a:pPr lvl="0"/>
            <a:r>
              <a:rPr/>
              <a:t>Timestamp/</a:t>
            </a:r>
            <a:r>
              <a:rPr>
                <a:latin typeface="Courier"/>
              </a:rPr>
              <a:t>updated_at</a:t>
            </a:r>
            <a:r>
              <a:rPr/>
              <a:t> filter: easy, misses hard deletes unless modeled</a:t>
            </a:r>
          </a:p>
          <a:p>
            <a:pPr lvl="0"/>
            <a:r>
              <a:rPr/>
              <a:t>Log-based CDC: best fidelity, higher operational complexity</a:t>
            </a:r>
          </a:p>
          <a:p>
            <a:pPr lvl="0"/>
            <a:r>
              <a:rPr/>
              <a:t>Trigger-based CDC: accurate but can burden source DB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CDC Options Comparison</a:t>
            </a:r>
          </a:p>
        </p:txBody>
      </p:sp>
      <p:pic>
        <p:nvPicPr>
          <p:cNvPr descr="../../diagrams/week04/week4_cdc_options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64200" y="1600200"/>
            <a:ext cx="1168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CDC Example: Orders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Inserts: new orders must appear once</a:t>
            </a:r>
          </a:p>
          <a:p>
            <a:pPr lvl="0"/>
            <a:r>
              <a:rPr/>
              <a:t>Updates: status changes from </a:t>
            </a:r>
            <a:r>
              <a:rPr>
                <a:latin typeface="Courier"/>
              </a:rPr>
              <a:t>PENDING</a:t>
            </a:r>
            <a:r>
              <a:rPr/>
              <a:t> to </a:t>
            </a:r>
            <a:r>
              <a:rPr>
                <a:latin typeface="Courier"/>
              </a:rPr>
              <a:t>PAID</a:t>
            </a:r>
          </a:p>
          <a:p>
            <a:pPr lvl="0"/>
            <a:r>
              <a:rPr/>
              <a:t>Deletes: canceled rows may need tombstone semantics</a:t>
            </a:r>
          </a:p>
          <a:p>
            <a:pPr lvl="0"/>
            <a:r>
              <a:rPr/>
              <a:t>Policy must specify how each change type maps to analytics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Back-End Tools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Extraction</a:t>
            </a:r>
            <a:r>
              <a:rPr/>
              <a:t>: get data from multiple, heterogeneous sources</a:t>
            </a:r>
          </a:p>
          <a:p>
            <a:pPr lvl="0"/>
            <a:r>
              <a:rPr b="1"/>
              <a:t>Cleaning</a:t>
            </a:r>
            <a:r>
              <a:rPr/>
              <a:t>: detect and rectify errors</a:t>
            </a:r>
          </a:p>
          <a:p>
            <a:pPr lvl="0"/>
            <a:r>
              <a:rPr b="1"/>
              <a:t>Transformation</a:t>
            </a:r>
            <a:r>
              <a:rPr/>
              <a:t>: convert from legacy/host format to warehouse format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Back-End Tools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Load</a:t>
            </a:r>
            <a:r>
              <a:rPr/>
              <a:t>: sort, summarize, consolidate, check integrity, build indices and partitions</a:t>
            </a:r>
          </a:p>
          <a:p>
            <a:pPr lvl="0"/>
            <a:r>
              <a:rPr b="1"/>
              <a:t>Refresh</a:t>
            </a:r>
            <a:r>
              <a:rPr/>
              <a:t>: propagate updates from sources to warehouse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Full refresh: easiest correctness, worst cost/latency at scale</a:t>
            </a:r>
          </a:p>
          <a:p>
            <a:pPr lvl="0"/>
            <a:r>
              <a:rPr/>
              <a:t>Incremental batch: standard for most BI pipelines</a:t>
            </a:r>
          </a:p>
          <a:p>
            <a:pPr lvl="0"/>
            <a:r>
              <a:rPr/>
              <a:t>Micro-batch: lower latency with bounded complexity</a:t>
            </a:r>
          </a:p>
          <a:p>
            <a:pPr lvl="0"/>
            <a:r>
              <a:rPr/>
              <a:t>Streaming: lowest latency, highest operational discipline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Watermark Mechanics (Precise)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Store </a:t>
            </a:r>
            <a:r>
              <a:rPr>
                <a:latin typeface="Courier"/>
              </a:rPr>
              <a:t>last_successful_watermark</a:t>
            </a:r>
            <a:r>
              <a:rPr/>
              <a:t> per job</a:t>
            </a:r>
          </a:p>
          <a:p>
            <a:pPr lvl="0"/>
            <a:r>
              <a:rPr/>
              <a:t>Compute </a:t>
            </a:r>
            <a:r>
              <a:rPr>
                <a:latin typeface="Courier"/>
              </a:rPr>
              <a:t>upper_bound = now() - safety_buffer</a:t>
            </a:r>
          </a:p>
          <a:p>
            <a:pPr lvl="0"/>
            <a:r>
              <a:rPr/>
              <a:t>Read </a:t>
            </a:r>
            <a:r>
              <a:rPr>
                <a:latin typeface="Courier"/>
              </a:rPr>
              <a:t>(watermark, upper_bound]</a:t>
            </a:r>
          </a:p>
          <a:p>
            <a:pPr lvl="0"/>
            <a:r>
              <a:rPr/>
              <a:t>Advance watermark only after successful target commit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Watermark Incremental — Visual</a:t>
            </a:r>
          </a:p>
        </p:txBody>
      </p:sp>
      <p:pic>
        <p:nvPicPr>
          <p:cNvPr descr="../../diagrams/week04/week4_watermark_incremen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00200"/>
            <a:ext cx="3213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Safety Buffer Is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 commits may arrive late relative to extractor clock</a:t>
            </a:r>
          </a:p>
          <a:p>
            <a:pPr lvl="0"/>
            <a:r>
              <a:rPr/>
              <a:t>Without buffer, late commits are skipped permanently</a:t>
            </a:r>
          </a:p>
          <a:p>
            <a:pPr lvl="0"/>
            <a:r>
              <a:rPr/>
              <a:t>Typical buffer: 5-15 minutes for OLTP sources</a:t>
            </a:r>
          </a:p>
          <a:p>
            <a:pPr lvl="0"/>
            <a:r>
              <a:rPr/>
              <a:t>Monitor late-arrival rate to tune buffer size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 Data Handling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accepted lateness (example: 48 hours)</a:t>
            </a:r>
          </a:p>
          <a:p>
            <a:pPr lvl="0"/>
            <a:r>
              <a:rPr/>
              <a:t>Late but accepted rows trigger targeted backfill</a:t>
            </a:r>
          </a:p>
          <a:p>
            <a:pPr lvl="0"/>
            <a:r>
              <a:rPr/>
              <a:t>Too-late rows go to quarantine with reason code</a:t>
            </a:r>
          </a:p>
          <a:p>
            <a:pPr lvl="0"/>
            <a:r>
              <a:rPr/>
              <a:t>Publish a freshness metric that includes late-adjustment delay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Rerun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Run #101 processes </a:t>
            </a:r>
            <a:r>
              <a:rPr>
                <a:latin typeface="Courier"/>
              </a:rPr>
              <a:t>10:00-11:00</a:t>
            </a:r>
            <a:r>
              <a:rPr/>
              <a:t>, fails before publish</a:t>
            </a:r>
          </a:p>
          <a:p>
            <a:pPr lvl="0"/>
            <a:r>
              <a:rPr/>
              <a:t>Run #102 retries same interval</a:t>
            </a:r>
          </a:p>
          <a:p>
            <a:pPr lvl="0"/>
            <a:r>
              <a:rPr/>
              <a:t>Final curated state must match exactly one successful run</a:t>
            </a:r>
          </a:p>
          <a:p>
            <a:pPr lvl="0"/>
            <a:r>
              <a:rPr/>
              <a:t>This requires deterministic dedup + idempotent merge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Rerun — Visual</a:t>
            </a:r>
          </a:p>
        </p:txBody>
      </p:sp>
      <p:pic>
        <p:nvPicPr>
          <p:cNvPr descr="../../diagrams/week04/week4_practice_slide18_incremental_reru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7400" y="1600200"/>
            <a:ext cx="3327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Idempotency Rule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hasCustomPrompt="1"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- Reprocessing same input cannot change final target state - Requires stable keys and deterministic transformation rules - Implement with conflict-safe </a:t>
                </a:r>
                <a:r>
                  <a:rPr>
                    <a:latin typeface="Courier"/>
                  </a:rPr>
                  <a:t>MERGE</a:t>
                </a:r>
                <a:r>
                  <a:rPr/>
                  <a:t>/upsert patterns</a:t>
                </a:r>
              </a:p>
            </p:txBody>
          </p:sp>
        </mc:Choice>
      </mc:AlternateContent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Idempotency — Visual</a:t>
            </a:r>
          </a:p>
        </p:txBody>
      </p:sp>
      <p:pic>
        <p:nvPicPr>
          <p:cNvPr descr="../../diagrams/week04/week4_idempotenc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19600" y="1600200"/>
            <a:ext cx="36703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Deterministic Dedup Rule (Example)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Business key: </a:t>
            </a:r>
            <a:r>
              <a:rPr>
                <a:latin typeface="Courier"/>
              </a:rPr>
              <a:t>event_id</a:t>
            </a:r>
          </a:p>
          <a:p>
            <a:pPr lvl="0"/>
            <a:r>
              <a:rPr/>
              <a:t>Tie-breaker: latest </a:t>
            </a:r>
            <a:r>
              <a:rPr>
                <a:latin typeface="Courier"/>
              </a:rPr>
              <a:t>ingest_ts</a:t>
            </a:r>
            <a:r>
              <a:rPr/>
              <a:t>, then highest </a:t>
            </a:r>
            <a:r>
              <a:rPr>
                <a:latin typeface="Courier"/>
              </a:rPr>
              <a:t>source_seq</a:t>
            </a:r>
          </a:p>
          <a:p>
            <a:pPr lvl="0"/>
            <a:r>
              <a:rPr/>
              <a:t>Exactly one survivor per key per run</a:t>
            </a:r>
          </a:p>
          <a:p>
            <a:pPr lvl="0"/>
            <a:r>
              <a:rPr/>
              <a:t>Persist dedup reason for auditability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Pattern: Dedup in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WITH</a:t>
            </a:r>
            <a:r>
              <a:rPr>
                <a:latin typeface="Courier"/>
              </a:rPr>
              <a:t> ranked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06287E"/>
                </a:solidFill>
                <a:latin typeface="Courier"/>
              </a:rPr>
              <a:t>ROW_NUMBER</a:t>
            </a:r>
            <a:r>
              <a:rPr>
                <a:latin typeface="Courier"/>
              </a:rPr>
              <a:t>()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       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event_id</a:t>
            </a:r>
            <a:br/>
            <a:r>
              <a:rPr>
                <a:latin typeface="Courier"/>
              </a:rPr>
              <a:t>          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ingest_ts </a:t>
            </a:r>
            <a:r>
              <a:rPr b="1">
                <a:solidFill>
                  <a:srgbClr val="007020"/>
                </a:solidFill>
                <a:latin typeface="Courier"/>
              </a:rPr>
              <a:t>DESC</a:t>
            </a:r>
            <a:r>
              <a:rPr>
                <a:latin typeface="Courier"/>
              </a:rPr>
              <a:t>, source_seq </a:t>
            </a:r>
            <a:r>
              <a:rPr b="1">
                <a:solidFill>
                  <a:srgbClr val="007020"/>
                </a:solidFill>
                <a:latin typeface="Courier"/>
              </a:rPr>
              <a:t>DESC</a:t>
            </a:r>
            <a:br/>
            <a:r>
              <a:rPr>
                <a:latin typeface="Courier"/>
              </a:rPr>
              <a:t>         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rn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stg_events</a:t>
            </a:r>
            <a:br/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ranked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WHERE</a:t>
            </a:r>
            <a:r>
              <a:rPr>
                <a:latin typeface="Courier"/>
              </a:rPr>
              <a:t> rn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Pattern: Idempotent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MERGE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INTO</a:t>
            </a:r>
            <a:r>
              <a:rPr>
                <a:latin typeface="Courier"/>
              </a:rPr>
              <a:t> events_clean t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USING</a:t>
            </a:r>
            <a:r>
              <a:rPr>
                <a:latin typeface="Courier"/>
              </a:rPr>
              <a:t> stg_events_dedup 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ON</a:t>
            </a:r>
            <a:r>
              <a:rPr>
                <a:latin typeface="Courier"/>
              </a:rPr>
              <a:t> t.event_id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s.event_id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WHEN</a:t>
            </a:r>
            <a:r>
              <a:rPr>
                <a:latin typeface="Courier"/>
              </a:rPr>
              <a:t> MATCHED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t.hash_diff </a:t>
            </a:r>
            <a:r>
              <a:rPr>
                <a:solidFill>
                  <a:srgbClr val="666666"/>
                </a:solidFill>
                <a:latin typeface="Courier"/>
              </a:rPr>
              <a:t>&lt;&gt;</a:t>
            </a:r>
            <a:r>
              <a:rPr>
                <a:latin typeface="Courier"/>
              </a:rPr>
              <a:t> s.hash_diff </a:t>
            </a:r>
            <a:r>
              <a:rPr b="1">
                <a:solidFill>
                  <a:srgbClr val="007020"/>
                </a:solidFill>
                <a:latin typeface="Courier"/>
              </a:rPr>
              <a:t>THEN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UPDATE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SET</a:t>
            </a:r>
            <a:r>
              <a:rPr>
                <a:latin typeface="Courier"/>
              </a:rPr>
              <a:t> event_type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s.event_type, event_time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s.event_time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MATCHED </a:t>
            </a:r>
            <a:r>
              <a:rPr b="1">
                <a:solidFill>
                  <a:srgbClr val="007020"/>
                </a:solidFill>
                <a:latin typeface="Courier"/>
              </a:rPr>
              <a:t>THEN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INSERT</a:t>
            </a:r>
            <a:r>
              <a:rPr>
                <a:latin typeface="Courier"/>
              </a:rPr>
              <a:t> (event_id, user_id, event_type, event_time)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VALUES</a:t>
            </a:r>
            <a:r>
              <a:rPr>
                <a:latin typeface="Courier"/>
              </a:rPr>
              <a:t> (s.event_id, s.user_id, s.event_type, s.event_time);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vs Partition Overwrite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MERGE</a:t>
            </a:r>
            <a:r>
              <a:rPr/>
              <a:t>: row-level precision, higher CPU and index pressure</a:t>
            </a:r>
          </a:p>
          <a:p>
            <a:pPr lvl="0"/>
            <a:r>
              <a:rPr/>
              <a:t>Overwrite partition: simple full-slice rebuild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MERGE</a:t>
            </a:r>
            <a:r>
              <a:rPr/>
              <a:t> for mixed insert/update streams</a:t>
            </a:r>
          </a:p>
          <a:p>
            <a:pPr lvl="0"/>
            <a:r>
              <a:rPr/>
              <a:t>Use overwrite for controlled historical backfills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vs Overwrite — Visual</a:t>
            </a:r>
          </a:p>
        </p:txBody>
      </p:sp>
      <p:pic>
        <p:nvPicPr>
          <p:cNvPr descr="../../diagrams/week04/week4_merge_vs_overwr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600200"/>
            <a:ext cx="6527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Pipeline Architecture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 → Extract → Stage → Validate → Transform → Load → Publish</a:t>
            </a:r>
          </a:p>
          <a:p>
            <a:pPr lvl="0"/>
            <a:r>
              <a:rPr/>
              <a:t>Staging isolates raw variability from curated contracts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Pipeline Architecture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Invalid records routed to DLQ, not analytics tables</a:t>
            </a:r>
          </a:p>
          <a:p>
            <a:pPr lvl="0"/>
            <a:r>
              <a:rPr/>
              <a:t>Control table captures run state and window boundaries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Overview</a:t>
            </a:r>
          </a:p>
        </p:txBody>
      </p:sp>
      <p:pic>
        <p:nvPicPr>
          <p:cNvPr descr="../../diagrams/week04/week4_lecture_slide13_pipeline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02300" y="1600200"/>
            <a:ext cx="1092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Execution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window by watermark and buffer</a:t>
            </a:r>
          </a:p>
          <a:p>
            <a:pPr lvl="0"/>
            <a:r>
              <a:rPr/>
              <a:t>Stage data with run metadata</a:t>
            </a:r>
          </a:p>
          <a:p>
            <a:pPr lvl="0"/>
            <a:r>
              <a:rPr/>
              <a:t>Validate schema, types, and business rules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Execution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Dedup and transform into curated shape</a:t>
            </a:r>
          </a:p>
          <a:p>
            <a:pPr lvl="0"/>
            <a:r>
              <a:rPr/>
              <a:t>Merge/publish and then checkpoint watermark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Execution Flow</a:t>
            </a:r>
          </a:p>
        </p:txBody>
      </p:sp>
      <p:pic>
        <p:nvPicPr>
          <p:cNvPr descr="../../diagrams/week04/week4_lecture_slide22_execution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40300" y="1600200"/>
            <a:ext cx="2616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Example: </a:t>
            </a:r>
            <a:r>
              <a:rPr>
                <a:latin typeface="Courier"/>
              </a:rPr>
              <a:t>raw_events</a:t>
            </a:r>
            <a:r>
              <a:rPr/>
              <a:t> -&gt; </a:t>
            </a:r>
            <a:r>
              <a:rPr>
                <a:latin typeface="Courier"/>
              </a:rPr>
              <a:t>events_clean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Volume: 120M rows/day</a:t>
            </a:r>
          </a:p>
          <a:p>
            <a:pPr lvl="0"/>
            <a:r>
              <a:rPr/>
              <a:t>Expected duplicate rate: ~0.7%</a:t>
            </a:r>
          </a:p>
          <a:p>
            <a:pPr lvl="0"/>
            <a:r>
              <a:rPr/>
              <a:t>SLA: publish by </a:t>
            </a:r>
            <a:r>
              <a:rPr>
                <a:latin typeface="Courier"/>
              </a:rPr>
              <a:t>HH:30</a:t>
            </a:r>
            <a:r>
              <a:rPr/>
              <a:t> every hour</a:t>
            </a:r>
          </a:p>
          <a:p>
            <a:pPr lvl="0"/>
            <a:r>
              <a:rPr/>
              <a:t>Late events accepted up to 24 hours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Quality Checks for the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Required fields: </a:t>
            </a:r>
            <a:r>
              <a:rPr>
                <a:latin typeface="Courier"/>
              </a:rPr>
              <a:t>event_id</a:t>
            </a:r>
            <a:r>
              <a:rPr/>
              <a:t>, </a:t>
            </a:r>
            <a:r>
              <a:rPr>
                <a:latin typeface="Courier"/>
              </a:rPr>
              <a:t>user_id</a:t>
            </a:r>
            <a:r>
              <a:rPr/>
              <a:t>, </a:t>
            </a:r>
            <a:r>
              <a:rPr>
                <a:latin typeface="Courier"/>
              </a:rPr>
              <a:t>event_type</a:t>
            </a:r>
            <a:r>
              <a:rPr/>
              <a:t>, </a:t>
            </a:r>
            <a:r>
              <a:rPr>
                <a:latin typeface="Courier"/>
              </a:rPr>
              <a:t>event_time</a:t>
            </a:r>
          </a:p>
          <a:p>
            <a:pPr lvl="0"/>
            <a:r>
              <a:rPr/>
              <a:t>Valid enum: </a:t>
            </a:r>
            <a:r>
              <a:rPr>
                <a:latin typeface="Courier"/>
              </a:rPr>
              <a:t>event_type</a:t>
            </a:r>
            <a:r>
              <a:rPr/>
              <a:t> in approved set</a:t>
            </a:r>
          </a:p>
          <a:p>
            <a:pPr lvl="0"/>
            <a:r>
              <a:rPr/>
              <a:t>Time sanity: </a:t>
            </a:r>
            <a:r>
              <a:rPr>
                <a:latin typeface="Courier"/>
              </a:rPr>
              <a:t>event_time &lt;= ingest_ts + 5m</a:t>
            </a:r>
          </a:p>
          <a:p>
            <a:pPr lvl="0"/>
            <a:r>
              <a:rPr/>
              <a:t>Uniqueness: post-dedup </a:t>
            </a:r>
            <a:r>
              <a:rPr>
                <a:latin typeface="Courier"/>
              </a:rPr>
              <a:t>event_id</a:t>
            </a:r>
            <a:r>
              <a:rPr/>
              <a:t> distinct count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Mode: Bad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 writes directly into curated target</a:t>
            </a:r>
          </a:p>
          <a:p>
            <a:pPr lvl="0"/>
            <a:r>
              <a:rPr/>
              <a:t>No stage, no quality gates, no replay boundary</a:t>
            </a:r>
          </a:p>
          <a:p>
            <a:pPr lvl="0"/>
            <a:r>
              <a:rPr/>
              <a:t>Mid-run failures leave partial visible state</a:t>
            </a:r>
          </a:p>
          <a:p>
            <a:pPr lvl="0"/>
            <a:r>
              <a:rPr/>
              <a:t>Reruns duplicate rows and break KPI 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Architecture — Visual</a:t>
            </a:r>
          </a:p>
        </p:txBody>
      </p:sp>
      <p:pic>
        <p:nvPicPr>
          <p:cNvPr descr="../../diagrams/week04/week4_lecture_bad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2781300"/>
            <a:ext cx="106299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Mode: Partial Rerun Duplication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P1/P2 loaded, P3 failed</a:t>
            </a:r>
          </a:p>
          <a:p>
            <a:pPr lvl="0"/>
            <a:r>
              <a:rPr/>
              <a:t>Full rerun reloads P1/P2</a:t>
            </a:r>
          </a:p>
          <a:p>
            <a:pPr lvl="0"/>
            <a:r>
              <a:rPr/>
              <a:t>KPI inflation may be silent</a:t>
            </a:r>
          </a:p>
          <a:p>
            <a:pPr lvl="0"/>
            <a:r>
              <a:rPr/>
              <a:t>Fix: partition-level checkpoint + idempotent load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Rerun — Visual</a:t>
            </a:r>
          </a:p>
        </p:txBody>
      </p:sp>
      <p:pic>
        <p:nvPicPr>
          <p:cNvPr descr="../../diagrams/week04/week4_lecture_slide38_failure_reru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2336800"/>
            <a:ext cx="106299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Mode: Bad Row Kills Batch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One malformed timestamp causes cast failure</a:t>
            </a:r>
          </a:p>
          <a:p>
            <a:pPr lvl="0"/>
            <a:r>
              <a:rPr/>
              <a:t>Entire batch misses freshness SLA</a:t>
            </a:r>
          </a:p>
          <a:p>
            <a:pPr lvl="0"/>
            <a:r>
              <a:rPr/>
              <a:t>Fix: staging validation and DLQ routing</a:t>
            </a:r>
          </a:p>
          <a:p>
            <a:pPr lvl="0"/>
            <a:r>
              <a:rPr/>
              <a:t>Alert on DLQ spikes by reason and source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DLQ Flow</a:t>
            </a:r>
          </a:p>
        </p:txBody>
      </p:sp>
      <p:pic>
        <p:nvPicPr>
          <p:cNvPr descr="../../diagrams/week04/week4_dlq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2800" y="1600200"/>
            <a:ext cx="32639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 Failure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 adds or renames columns unexpectedly</a:t>
            </a:r>
          </a:p>
          <a:p>
            <a:pPr lvl="0"/>
            <a:r>
              <a:rPr/>
              <a:t>Parser silently drops or mis-maps fields</a:t>
            </a:r>
          </a:p>
          <a:p>
            <a:pPr lvl="0"/>
            <a:r>
              <a:rPr/>
              <a:t>Downstream dimensions lose attributes</a:t>
            </a:r>
          </a:p>
          <a:p>
            <a:pPr lvl="0"/>
            <a:r>
              <a:rPr/>
              <a:t>Fix: schema registry or contract checks + explicit evolution policy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Table Design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Identity and bounds</a:t>
            </a:r>
            <a:r>
              <a:rPr/>
              <a:t>: </a:t>
            </a:r>
            <a:r>
              <a:rPr>
                <a:latin typeface="Courier"/>
              </a:rPr>
              <a:t>job_key</a:t>
            </a:r>
            <a:r>
              <a:rPr/>
              <a:t>, </a:t>
            </a:r>
            <a:r>
              <a:rPr>
                <a:latin typeface="Courier"/>
              </a:rPr>
              <a:t>run_id</a:t>
            </a:r>
            <a:r>
              <a:rPr/>
              <a:t>, </a:t>
            </a:r>
            <a:r>
              <a:rPr>
                <a:latin typeface="Courier"/>
              </a:rPr>
              <a:t>watermark</a:t>
            </a:r>
            <a:r>
              <a:rPr/>
              <a:t>, </a:t>
            </a:r>
            <a:r>
              <a:rPr>
                <a:latin typeface="Courier"/>
              </a:rPr>
              <a:t>upper_bound</a:t>
            </a:r>
          </a:p>
          <a:p>
            <a:pPr lvl="0"/>
            <a:r>
              <a:rPr b="1"/>
              <a:t>Status and counts</a:t>
            </a:r>
            <a:r>
              <a:rPr/>
              <a:t>: </a:t>
            </a:r>
            <a:r>
              <a:rPr>
                <a:latin typeface="Courier"/>
              </a:rPr>
              <a:t>status</a:t>
            </a:r>
            <a:r>
              <a:rPr/>
              <a:t>, </a:t>
            </a:r>
            <a:r>
              <a:rPr>
                <a:latin typeface="Courier"/>
              </a:rPr>
              <a:t>rows_read</a:t>
            </a:r>
            <a:r>
              <a:rPr/>
              <a:t>, </a:t>
            </a:r>
            <a:r>
              <a:rPr>
                <a:latin typeface="Courier"/>
              </a:rPr>
              <a:t>rows_loaded</a:t>
            </a:r>
            <a:r>
              <a:rPr/>
              <a:t>, </a:t>
            </a:r>
            <a:r>
              <a:rPr>
                <a:latin typeface="Courier"/>
              </a:rPr>
              <a:t>rows_dlq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Table Design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Timing and errors</a:t>
            </a:r>
            <a:r>
              <a:rPr/>
              <a:t>: </a:t>
            </a:r>
            <a:r>
              <a:rPr>
                <a:latin typeface="Courier"/>
              </a:rPr>
              <a:t>started_at</a:t>
            </a:r>
            <a:r>
              <a:rPr/>
              <a:t>, </a:t>
            </a:r>
            <a:r>
              <a:rPr>
                <a:latin typeface="Courier"/>
              </a:rPr>
              <a:t>finished_at</a:t>
            </a:r>
            <a:r>
              <a:rPr/>
              <a:t>, </a:t>
            </a:r>
            <a:r>
              <a:rPr>
                <a:latin typeface="Courier"/>
              </a:rPr>
              <a:t>error_code</a:t>
            </a:r>
          </a:p>
          <a:p>
            <a:pPr lvl="0"/>
            <a:r>
              <a:rPr/>
              <a:t>Optional: per-partition completion markers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Table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STARTED</a:t>
            </a:r>
            <a:r>
              <a:rPr/>
              <a:t> -&gt; </a:t>
            </a:r>
            <a:r>
              <a:rPr>
                <a:latin typeface="Courier"/>
              </a:rPr>
              <a:t>VALIDATED</a:t>
            </a:r>
            <a:r>
              <a:rPr/>
              <a:t> -&gt; </a:t>
            </a:r>
            <a:r>
              <a:rPr>
                <a:latin typeface="Courier"/>
              </a:rPr>
              <a:t>LOADED</a:t>
            </a:r>
            <a:r>
              <a:rPr/>
              <a:t> -&gt; </a:t>
            </a:r>
            <a:r>
              <a:rPr>
                <a:latin typeface="Courier"/>
              </a:rPr>
              <a:t>PUBLISHED</a:t>
            </a:r>
          </a:p>
          <a:p>
            <a:pPr lvl="0"/>
            <a:r>
              <a:rPr/>
              <a:t>Any failure transitions to </a:t>
            </a:r>
            <a:r>
              <a:rPr>
                <a:latin typeface="Courier"/>
              </a:rPr>
              <a:t>FAILED</a:t>
            </a:r>
          </a:p>
          <a:p>
            <a:pPr lvl="0"/>
            <a:r>
              <a:rPr/>
              <a:t>Restart reads last </a:t>
            </a:r>
            <a:r>
              <a:rPr>
                <a:latin typeface="Courier"/>
              </a:rPr>
              <a:t>PUBLISHED</a:t>
            </a:r>
            <a:r>
              <a:rPr/>
              <a:t> watermark only</a:t>
            </a:r>
          </a:p>
          <a:p>
            <a:pPr lvl="0"/>
            <a:r>
              <a:rPr/>
              <a:t>Avoid advancing watermark on partial success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Table State Machine — Visual</a:t>
            </a:r>
          </a:p>
        </p:txBody>
      </p:sp>
      <p:pic>
        <p:nvPicPr>
          <p:cNvPr descr="../../diagrams/week04/week4_control_table_state_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600200"/>
            <a:ext cx="52959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Monitoring and SLOs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Freshness lag (</a:t>
            </a:r>
            <a:r>
              <a:rPr>
                <a:latin typeface="Courier"/>
              </a:rPr>
              <a:t>now - published_watermark</a:t>
            </a:r>
            <a:r>
              <a:rPr/>
              <a:t>)</a:t>
            </a:r>
          </a:p>
          <a:p>
            <a:pPr lvl="0"/>
            <a:r>
              <a:rPr/>
              <a:t>Data quality pass rate and DLQ percentage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Monitoring and SLOs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Duplicate-key conflict rate</a:t>
            </a:r>
          </a:p>
          <a:p>
            <a:pPr lvl="0"/>
            <a:r>
              <a:rPr/>
              <a:t>Runtime p50/p95 and failure-retry counts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Production Runbook Checklist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Is late-data window documented and monitored?</a:t>
            </a:r>
          </a:p>
          <a:p>
            <a:pPr lvl="0"/>
            <a:r>
              <a:rPr/>
              <a:t>Is rerun path tested on same input window?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Production Runbook Checklist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Can you recover one failed partition without full reload?</a:t>
            </a:r>
          </a:p>
          <a:p>
            <a:pPr lvl="0"/>
            <a:r>
              <a:rPr/>
              <a:t>Are quality failures observable by reason code?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Reliable ingestion is contract-driven engineering</a:t>
            </a:r>
          </a:p>
          <a:p>
            <a:pPr lvl="0"/>
            <a:r>
              <a:rPr/>
              <a:t>Watermark + deterministic dedup + idempotent load are core controls</a:t>
            </a:r>
          </a:p>
          <a:p>
            <a:pPr lvl="0"/>
            <a:r>
              <a:rPr/>
              <a:t>DLQ and checkpointing make failure recoverable, not catastrophic</a:t>
            </a:r>
          </a:p>
          <a:p>
            <a:pPr lvl="0"/>
            <a:r>
              <a:rPr/>
              <a:t>Next: dimensional modeling and query-cost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2026-02-09T14:31:23Z</dcterms:created>
  <dcterms:modified xsi:type="dcterms:W3CDTF">2026-02-09T14:31:23Z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