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60" r:id="rId5"/>
    <p:sldId id="261" r:id="rId6"/>
    <p:sldId id="262" r:id="rId7"/>
    <p:sldId id="264" r:id="rId8"/>
    <p:sldId id="265" r:id="rId9"/>
    <p:sldId id="266" r:id="rId10"/>
    <p:sldId id="367" r:id="rId11"/>
    <p:sldId id="267" r:id="rId12"/>
    <p:sldId id="268" r:id="rId13"/>
    <p:sldId id="269" r:id="rId14"/>
    <p:sldId id="484" r:id="rId15"/>
    <p:sldId id="483" r:id="rId16"/>
    <p:sldId id="456" r:id="rId17"/>
    <p:sldId id="471" r:id="rId18"/>
    <p:sldId id="472" r:id="rId19"/>
    <p:sldId id="446" r:id="rId20"/>
    <p:sldId id="272" r:id="rId21"/>
    <p:sldId id="280" r:id="rId22"/>
    <p:sldId id="282" r:id="rId23"/>
    <p:sldId id="285" r:id="rId24"/>
    <p:sldId id="274" r:id="rId25"/>
    <p:sldId id="275" r:id="rId26"/>
    <p:sldId id="276" r:id="rId27"/>
    <p:sldId id="277" r:id="rId28"/>
    <p:sldId id="292" r:id="rId29"/>
    <p:sldId id="295" r:id="rId30"/>
    <p:sldId id="296" r:id="rId31"/>
    <p:sldId id="29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11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028"/>
    <p:restoredTop sz="94719"/>
  </p:normalViewPr>
  <p:slideViewPr>
    <p:cSldViewPr snapToGrid="0" snapToObjects="1">
      <p:cViewPr varScale="1">
        <p:scale>
          <a:sx n="148" d="100"/>
          <a:sy n="148" d="100"/>
        </p:scale>
        <p:origin x="1440" y="200"/>
      </p:cViewPr>
      <p:guideLst>
        <p:guide orient="horz" pos="2160"/>
        <p:guide pos="3840"/>
      </p:guideLst>
    </p:cSldViewPr>
  </p:slideViewPr>
  <p:notesTextViewPr>
    <p:cViewPr>
      <p:scale>
        <a:sx n="100" d="100"/>
        <a:sy n="100" d="100"/>
      </p:scale>
      <p:origin x="0" y="0"/>
    </p:cViewPr>
  </p:notesTextViewPr>
  <p:notesViewPr>
    <p:cSldViewPr snapToGrid="0" snapToObjects="1">
      <p:cViewPr varScale="1">
        <p:scale>
          <a:sx n="118" d="100"/>
          <a:sy n="118" d="100"/>
        </p:scale>
        <p:origin x="5160" y="21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94C10E31-8CF3-4843-8CA8-4D80C37B2FA3}" type="datetimeFigureOut">
              <a:rPr lang="he-IL" smtClean="0"/>
              <a:t>כ"ג.שבט.תשפ"ו</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0822AE0F-FD37-5247-80F6-04E68FF9E213}" type="slidenum">
              <a:rPr lang="he-IL" smtClean="0"/>
              <a:t>‹#›</a:t>
            </a:fld>
            <a:endParaRPr lang="he-IL"/>
          </a:p>
        </p:txBody>
      </p:sp>
    </p:spTree>
    <p:extLst>
      <p:ext uri="{BB962C8B-B14F-4D97-AF65-F5344CB8AC3E}">
        <p14:creationId xmlns:p14="http://schemas.microsoft.com/office/powerpoint/2010/main" val="3553985607"/>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863BE904-C2D6-AD48-82CD-0A04BB463602}"/>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0A4611F-B8C6-2245-8776-50D7EFD617F4}" type="slidenum">
              <a:rPr lang="en-US" altLang="en-GB" sz="1200"/>
              <a:pPr/>
              <a:t>15</a:t>
            </a:fld>
            <a:endParaRPr lang="en-US" altLang="en-GB" sz="1200"/>
          </a:p>
        </p:txBody>
      </p:sp>
      <p:sp>
        <p:nvSpPr>
          <p:cNvPr id="39939" name="Rectangle 2">
            <a:extLst>
              <a:ext uri="{FF2B5EF4-FFF2-40B4-BE49-F238E27FC236}">
                <a16:creationId xmlns:a16="http://schemas.microsoft.com/office/drawing/2014/main" id="{A4E5A814-829D-0A4E-86C6-6024EE0E0BF1}"/>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07646AC0-0704-9946-99EE-15CE856FDD35}"/>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15820069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863BE904-C2D6-AD48-82CD-0A04BB463602}"/>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0A4611F-B8C6-2245-8776-50D7EFD617F4}" type="slidenum">
              <a:rPr lang="en-US" altLang="en-GB" sz="1200"/>
              <a:pPr/>
              <a:t>16</a:t>
            </a:fld>
            <a:endParaRPr lang="en-US" altLang="en-GB" sz="1200"/>
          </a:p>
        </p:txBody>
      </p:sp>
      <p:sp>
        <p:nvSpPr>
          <p:cNvPr id="39939" name="Rectangle 2">
            <a:extLst>
              <a:ext uri="{FF2B5EF4-FFF2-40B4-BE49-F238E27FC236}">
                <a16:creationId xmlns:a16="http://schemas.microsoft.com/office/drawing/2014/main" id="{A4E5A814-829D-0A4E-86C6-6024EE0E0BF1}"/>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07646AC0-0704-9946-99EE-15CE856FDD35}"/>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25310211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863BE904-C2D6-AD48-82CD-0A04BB463602}"/>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0A4611F-B8C6-2245-8776-50D7EFD617F4}" type="slidenum">
              <a:rPr lang="en-US" altLang="en-GB" sz="1200"/>
              <a:pPr/>
              <a:t>17</a:t>
            </a:fld>
            <a:endParaRPr lang="en-US" altLang="en-GB" sz="1200"/>
          </a:p>
        </p:txBody>
      </p:sp>
      <p:sp>
        <p:nvSpPr>
          <p:cNvPr id="39939" name="Rectangle 2">
            <a:extLst>
              <a:ext uri="{FF2B5EF4-FFF2-40B4-BE49-F238E27FC236}">
                <a16:creationId xmlns:a16="http://schemas.microsoft.com/office/drawing/2014/main" id="{A4E5A814-829D-0A4E-86C6-6024EE0E0BF1}"/>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07646AC0-0704-9946-99EE-15CE856FDD35}"/>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3503603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863BE904-C2D6-AD48-82CD-0A04BB463602}"/>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0A4611F-B8C6-2245-8776-50D7EFD617F4}" type="slidenum">
              <a:rPr lang="en-US" altLang="en-GB" sz="1200"/>
              <a:pPr/>
              <a:t>18</a:t>
            </a:fld>
            <a:endParaRPr lang="en-US" altLang="en-GB" sz="1200"/>
          </a:p>
        </p:txBody>
      </p:sp>
      <p:sp>
        <p:nvSpPr>
          <p:cNvPr id="39939" name="Rectangle 2">
            <a:extLst>
              <a:ext uri="{FF2B5EF4-FFF2-40B4-BE49-F238E27FC236}">
                <a16:creationId xmlns:a16="http://schemas.microsoft.com/office/drawing/2014/main" id="{A4E5A814-829D-0A4E-86C6-6024EE0E0BF1}"/>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07646AC0-0704-9946-99EE-15CE856FDD35}"/>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39140337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863BE904-C2D6-AD48-82CD-0A04BB463602}"/>
              </a:ext>
            </a:extLst>
          </p:cNvPr>
          <p:cNvSpPr>
            <a:spLocks noGrp="1" noChangeArrowheads="1"/>
          </p:cNvSpPr>
          <p:nvPr>
            <p:ph type="sldNum" sz="quarter" idx="5"/>
          </p:nvPr>
        </p:nvSpPr>
        <p:spPr>
          <a:noFill/>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0A4611F-B8C6-2245-8776-50D7EFD617F4}" type="slidenum">
              <a:rPr lang="en-US" altLang="en-GB" sz="1200"/>
              <a:pPr/>
              <a:t>19</a:t>
            </a:fld>
            <a:endParaRPr lang="en-US" altLang="en-GB" sz="1200"/>
          </a:p>
        </p:txBody>
      </p:sp>
      <p:sp>
        <p:nvSpPr>
          <p:cNvPr id="39939" name="Rectangle 2">
            <a:extLst>
              <a:ext uri="{FF2B5EF4-FFF2-40B4-BE49-F238E27FC236}">
                <a16:creationId xmlns:a16="http://schemas.microsoft.com/office/drawing/2014/main" id="{A4E5A814-829D-0A4E-86C6-6024EE0E0BF1}"/>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07646AC0-0704-9946-99EE-15CE856FDD35}"/>
              </a:ext>
            </a:extLst>
          </p:cNvPr>
          <p:cNvSpPr>
            <a:spLocks noGrp="1" noChangeArrowheads="1"/>
          </p:cNvSpPr>
          <p:nvPr>
            <p:ph type="body" idx="1"/>
          </p:nvPr>
        </p:nvSpPr>
        <p:spPr>
          <a:noFill/>
        </p:spPr>
        <p:txBody>
          <a:bodyPr/>
          <a:lstStyle/>
          <a:p>
            <a:endParaRPr lang="en-IL" altLang="en-IL"/>
          </a:p>
        </p:txBody>
      </p:sp>
    </p:spTree>
    <p:extLst>
      <p:ext uri="{BB962C8B-B14F-4D97-AF65-F5344CB8AC3E}">
        <p14:creationId xmlns:p14="http://schemas.microsoft.com/office/powerpoint/2010/main" val="42856675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lstStyle>
            <a:lvl1pPr>
              <a:defRPr sz="4200"/>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A3964B5F-BAD9-9946-9D71-AB5C763DA70C}" type="datetime9">
              <a:rPr lang="he-IL" smtClean="0"/>
              <a:t>10 פברואר,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3400" b="1"/>
            </a:lvl1pPr>
          </a:lstStyle>
          <a:p>
            <a:r>
              <a:rPr lang="en-US" dirty="0"/>
              <a:t>Click to edit Master title style</a:t>
            </a:r>
          </a:p>
        </p:txBody>
      </p:sp>
      <p:sp>
        <p:nvSpPr>
          <p:cNvPr id="3" name="Content Placeholder 2"/>
          <p:cNvSpPr>
            <a:spLocks noGrp="1"/>
          </p:cNvSpPr>
          <p:nvPr>
            <p:ph idx="1" hasCustomPrompt="1"/>
          </p:nvPr>
        </p:nvSpPr>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9E1EEA0-9609-584F-90F2-46E4F93E52CD}" type="datetime9">
              <a:rPr lang="he-IL" smtClean="0"/>
              <a:t>10 פברואר,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DCA6A5E-CA21-6B4F-9DE7-1A275F321E49}" type="datetime9">
              <a:rPr lang="he-IL" smtClean="0"/>
              <a:t>10 פברואר,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3" name="Title 1">
            <a:extLst>
              <a:ext uri="{FF2B5EF4-FFF2-40B4-BE49-F238E27FC236}">
                <a16:creationId xmlns:a16="http://schemas.microsoft.com/office/drawing/2014/main" id="{129F15AE-737D-866E-3CF2-D0120AD833A4}"/>
              </a:ext>
            </a:extLst>
          </p:cNvPr>
          <p:cNvSpPr>
            <a:spLocks noGrp="1"/>
          </p:cNvSpPr>
          <p:nvPr>
            <p:ph type="ctrTitle" hasCustomPrompt="1"/>
          </p:nvPr>
        </p:nvSpPr>
        <p:spPr>
          <a:xfrm>
            <a:off x="914400" y="2130426"/>
            <a:ext cx="10363200" cy="1470025"/>
          </a:xfrm>
        </p:spPr>
        <p:txBody>
          <a:bodyPr/>
          <a:lstStyle>
            <a:lvl1pPr>
              <a:defRPr sz="4200"/>
            </a:lvl1pPr>
          </a:lstStyle>
          <a:p>
            <a:r>
              <a:rPr lang="en-US" dirty="0"/>
              <a:t>Click to edit Master title style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56840" y="1600201"/>
            <a:ext cx="660142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717894" y="2569580"/>
            <a:ext cx="5864506" cy="355658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AE3C6960-90E0-EA41-937B-E68D4C6A0841}" type="datetime9">
              <a:rPr lang="he-IL" smtClean="0"/>
              <a:t>10 פברואר,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8CAE1C8-A9FA-924F-80DA-3B96C0343AF4}" type="datetime9">
              <a:rPr lang="he-IL" smtClean="0"/>
              <a:t>10 פברואר, 2026</a:t>
            </a:fld>
            <a:endParaRPr lang="en-US"/>
          </a:p>
        </p:txBody>
      </p:sp>
      <p:sp>
        <p:nvSpPr>
          <p:cNvPr id="8" name="Footer Placeholder 7"/>
          <p:cNvSpPr>
            <a:spLocks noGrp="1"/>
          </p:cNvSpPr>
          <p:nvPr>
            <p:ph type="ftr" sz="quarter" idx="11"/>
          </p:nvPr>
        </p:nvSpPr>
        <p:spPr/>
        <p:txBody>
          <a:bodyPr/>
          <a:lstStyle/>
          <a:p>
            <a:r>
              <a:rPr lang="en-US"/>
              <a:t>Or Peretz</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C92AE4-510D-3C40-B9B0-AA6693EED883}" type="datetime9">
              <a:rPr lang="he-IL" smtClean="0"/>
              <a:t>10 פברואר, 2026</a:t>
            </a:fld>
            <a:endParaRPr lang="en-US"/>
          </a:p>
        </p:txBody>
      </p:sp>
      <p:sp>
        <p:nvSpPr>
          <p:cNvPr id="4" name="Footer Placeholder 3"/>
          <p:cNvSpPr>
            <a:spLocks noGrp="1"/>
          </p:cNvSpPr>
          <p:nvPr>
            <p:ph type="ftr" sz="quarter" idx="11"/>
          </p:nvPr>
        </p:nvSpPr>
        <p:spPr/>
        <p:txBody>
          <a:bodyPr/>
          <a:lstStyle/>
          <a:p>
            <a:r>
              <a:rPr lang="en-US"/>
              <a:t>Or Peretz</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6" name="Content Placeholder 2">
            <a:extLst>
              <a:ext uri="{FF2B5EF4-FFF2-40B4-BE49-F238E27FC236}">
                <a16:creationId xmlns:a16="http://schemas.microsoft.com/office/drawing/2014/main" id="{E1D8F28D-D1D2-34A5-D88A-549DD7AD701A}"/>
              </a:ext>
            </a:extLst>
          </p:cNvPr>
          <p:cNvSpPr>
            <a:spLocks noGrp="1"/>
          </p:cNvSpPr>
          <p:nvPr>
            <p:ph idx="1" hasCustomPrompt="1"/>
          </p:nvPr>
        </p:nvSpPr>
        <p:spPr>
          <a:xfrm>
            <a:off x="946768" y="1600201"/>
            <a:ext cx="10635632" cy="4525963"/>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C5D179-4B48-7641-AFA1-4656153FFCB8}" type="datetime9">
              <a:rPr lang="he-IL" smtClean="0"/>
              <a:t>10 פברואר, 2026</a:t>
            </a:fld>
            <a:endParaRPr lang="en-US"/>
          </a:p>
        </p:txBody>
      </p:sp>
      <p:sp>
        <p:nvSpPr>
          <p:cNvPr id="3" name="Footer Placeholder 2"/>
          <p:cNvSpPr>
            <a:spLocks noGrp="1"/>
          </p:cNvSpPr>
          <p:nvPr>
            <p:ph type="ftr" sz="quarter" idx="11"/>
          </p:nvPr>
        </p:nvSpPr>
        <p:spPr/>
        <p:txBody>
          <a:bodyPr/>
          <a:lstStyle/>
          <a:p>
            <a:r>
              <a:rPr lang="en-US"/>
              <a:t>Or Peretz</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5" name="Content Placeholder 2">
            <a:extLst>
              <a:ext uri="{FF2B5EF4-FFF2-40B4-BE49-F238E27FC236}">
                <a16:creationId xmlns:a16="http://schemas.microsoft.com/office/drawing/2014/main" id="{3F1439EE-8346-69C4-2D2A-C45C952E131C}"/>
              </a:ext>
            </a:extLst>
          </p:cNvPr>
          <p:cNvSpPr>
            <a:spLocks noGrp="1"/>
          </p:cNvSpPr>
          <p:nvPr>
            <p:ph idx="1" hasCustomPrompt="1"/>
          </p:nvPr>
        </p:nvSpPr>
        <p:spPr>
          <a:xfrm>
            <a:off x="946768" y="1600201"/>
            <a:ext cx="10635632" cy="4525963"/>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B2D96A8D-C7E4-194A-BF0A-D552B24EBF94}" type="datetime9">
              <a:rPr lang="he-IL" smtClean="0"/>
              <a:t>10 פברואר,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
        <p:nvSpPr>
          <p:cNvPr id="9" name="Title 1">
            <a:extLst>
              <a:ext uri="{FF2B5EF4-FFF2-40B4-BE49-F238E27FC236}">
                <a16:creationId xmlns:a16="http://schemas.microsoft.com/office/drawing/2014/main" id="{7F24627C-5938-5D06-969C-341161F72C9C}"/>
              </a:ext>
            </a:extLst>
          </p:cNvPr>
          <p:cNvSpPr>
            <a:spLocks noGrp="1"/>
          </p:cNvSpPr>
          <p:nvPr>
            <p:ph type="title"/>
          </p:nvPr>
        </p:nvSpPr>
        <p:spPr>
          <a:xfrm>
            <a:off x="609600" y="274638"/>
            <a:ext cx="10972800" cy="1143000"/>
          </a:xfrm>
        </p:spPr>
        <p:txBody>
          <a:bodyPr/>
          <a:lstStyle/>
          <a:p>
            <a:r>
              <a:rPr lang="en-US"/>
              <a:t>Click to edit Master title style</a:t>
            </a:r>
          </a:p>
        </p:txBody>
      </p:sp>
      <p:sp>
        <p:nvSpPr>
          <p:cNvPr id="2" name="Content Placeholder 2">
            <a:extLst>
              <a:ext uri="{FF2B5EF4-FFF2-40B4-BE49-F238E27FC236}">
                <a16:creationId xmlns:a16="http://schemas.microsoft.com/office/drawing/2014/main" id="{63E56AFE-36F7-8DA5-652B-89A25DA319A7}"/>
              </a:ext>
            </a:extLst>
          </p:cNvPr>
          <p:cNvSpPr>
            <a:spLocks noGrp="1"/>
          </p:cNvSpPr>
          <p:nvPr>
            <p:ph idx="1" hasCustomPrompt="1"/>
          </p:nvPr>
        </p:nvSpPr>
        <p:spPr>
          <a:xfrm>
            <a:off x="3957403" y="1417638"/>
            <a:ext cx="7624997" cy="4357028"/>
          </a:xfrm>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 Placeholder 3">
            <a:extLst>
              <a:ext uri="{FF2B5EF4-FFF2-40B4-BE49-F238E27FC236}">
                <a16:creationId xmlns:a16="http://schemas.microsoft.com/office/drawing/2014/main" id="{838FFFFD-68E9-C4E4-7764-523BAE32B83B}"/>
              </a:ext>
            </a:extLst>
          </p:cNvPr>
          <p:cNvSpPr>
            <a:spLocks noGrp="1"/>
          </p:cNvSpPr>
          <p:nvPr>
            <p:ph type="body" sz="half" idx="2" hasCustomPrompt="1"/>
          </p:nvPr>
        </p:nvSpPr>
        <p:spPr>
          <a:xfrm>
            <a:off x="965200" y="1417638"/>
            <a:ext cx="2844801" cy="4357028"/>
          </a:xfrm>
        </p:spPr>
        <p:txBody>
          <a:bodyPr/>
          <a:lstStyle>
            <a:lvl1pPr marL="0" indent="0">
              <a:buNone/>
              <a:defRPr sz="2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12B2D52-0D9F-F345-8384-0DCA30BF1F04}" type="datetime9">
              <a:rPr lang="he-IL" smtClean="0"/>
              <a:t>10 פברואר, 2026</a:t>
            </a:fld>
            <a:endParaRPr lang="en-US"/>
          </a:p>
        </p:txBody>
      </p:sp>
      <p:sp>
        <p:nvSpPr>
          <p:cNvPr id="6" name="Footer Placeholder 5"/>
          <p:cNvSpPr>
            <a:spLocks noGrp="1"/>
          </p:cNvSpPr>
          <p:nvPr>
            <p:ph type="ftr" sz="quarter" idx="11"/>
          </p:nvPr>
        </p:nvSpPr>
        <p:spPr/>
        <p:txBody>
          <a:bodyPr/>
          <a:lstStyle/>
          <a:p>
            <a:r>
              <a:rPr lang="en-US"/>
              <a:t>Or Peretz</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44ED6-1944-D14D-91B5-FC6036DE393D}" type="datetime9">
              <a:rPr lang="he-IL" smtClean="0"/>
              <a:t>10 פברואר,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268E4D-FFEC-474C-BD1C-299FD021CBA4}" type="datetime9">
              <a:rPr lang="he-IL" smtClean="0"/>
              <a:t>10 פברואר, 2026</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CF8A9-2FB1-463C-A055-7D8DEF623488}"/>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D4834B02-6F21-4BD3-9253-024380CFAB64}"/>
              </a:ext>
            </a:extLst>
          </p:cNvPr>
          <p:cNvSpPr>
            <a:spLocks noGrp="1"/>
          </p:cNvSpPr>
          <p:nvPr>
            <p:ph type="dt" sz="half" idx="10"/>
          </p:nvPr>
        </p:nvSpPr>
        <p:spPr/>
        <p:txBody>
          <a:bodyPr/>
          <a:lstStyle/>
          <a:p>
            <a:endParaRPr lang="en-IL"/>
          </a:p>
        </p:txBody>
      </p:sp>
      <p:sp>
        <p:nvSpPr>
          <p:cNvPr id="4" name="Footer Placeholder 3">
            <a:extLst>
              <a:ext uri="{FF2B5EF4-FFF2-40B4-BE49-F238E27FC236}">
                <a16:creationId xmlns:a16="http://schemas.microsoft.com/office/drawing/2014/main" id="{6E6109D8-60DE-4EAE-9FA4-4743AF1B53C8}"/>
              </a:ext>
            </a:extLst>
          </p:cNvPr>
          <p:cNvSpPr>
            <a:spLocks noGrp="1"/>
          </p:cNvSpPr>
          <p:nvPr>
            <p:ph type="ftr" sz="quarter" idx="11"/>
          </p:nvPr>
        </p:nvSpPr>
        <p:spPr/>
        <p:txBody>
          <a:bodyPr/>
          <a:lstStyle/>
          <a:p>
            <a:r>
              <a:rPr lang="en-US"/>
              <a:t>Or Peretz</a:t>
            </a:r>
            <a:endParaRPr lang="en-IL"/>
          </a:p>
        </p:txBody>
      </p:sp>
      <p:sp>
        <p:nvSpPr>
          <p:cNvPr id="5" name="Slide Number Placeholder 4">
            <a:extLst>
              <a:ext uri="{FF2B5EF4-FFF2-40B4-BE49-F238E27FC236}">
                <a16:creationId xmlns:a16="http://schemas.microsoft.com/office/drawing/2014/main" id="{5C2833B9-F0EF-4F2D-B1F5-59A0518ACC67}"/>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8968299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x">
  <p:cSld name="Title, Content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14DB5-C319-EF41-9B8F-A436AF5D3376}"/>
              </a:ext>
            </a:extLst>
          </p:cNvPr>
          <p:cNvSpPr>
            <a:spLocks noGrp="1"/>
          </p:cNvSpPr>
          <p:nvPr>
            <p:ph type="title"/>
          </p:nvPr>
        </p:nvSpPr>
        <p:spPr>
          <a:xfrm>
            <a:off x="1727200" y="0"/>
            <a:ext cx="10160000" cy="914400"/>
          </a:xfrm>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E3B9A124-8850-9E4F-BD09-A71A95B8D74E}"/>
              </a:ext>
            </a:extLst>
          </p:cNvPr>
          <p:cNvSpPr>
            <a:spLocks noGrp="1"/>
          </p:cNvSpPr>
          <p:nvPr>
            <p:ph sz="half" idx="1"/>
          </p:nvPr>
        </p:nvSpPr>
        <p:spPr>
          <a:xfrm>
            <a:off x="1727200" y="1295400"/>
            <a:ext cx="4978400" cy="4800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72C0A9C8-041F-5F48-A71C-C6E540591858}"/>
              </a:ext>
            </a:extLst>
          </p:cNvPr>
          <p:cNvSpPr>
            <a:spLocks noGrp="1"/>
          </p:cNvSpPr>
          <p:nvPr>
            <p:ph type="body" sz="half" idx="2"/>
          </p:nvPr>
        </p:nvSpPr>
        <p:spPr>
          <a:xfrm>
            <a:off x="6908800" y="1295400"/>
            <a:ext cx="4978400" cy="4800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Footer Placeholder 4">
            <a:extLst>
              <a:ext uri="{FF2B5EF4-FFF2-40B4-BE49-F238E27FC236}">
                <a16:creationId xmlns:a16="http://schemas.microsoft.com/office/drawing/2014/main" id="{E23439D7-70D0-9548-869A-6A40060A1A75}"/>
              </a:ext>
            </a:extLst>
          </p:cNvPr>
          <p:cNvSpPr>
            <a:spLocks noGrp="1"/>
          </p:cNvSpPr>
          <p:nvPr>
            <p:ph type="ftr" sz="quarter" idx="10"/>
          </p:nvPr>
        </p:nvSpPr>
        <p:spPr>
          <a:xfrm>
            <a:off x="1016000" y="6477000"/>
            <a:ext cx="3860800" cy="381000"/>
          </a:xfrm>
        </p:spPr>
        <p:txBody>
          <a:bodyPr/>
          <a:lstStyle>
            <a:lvl1pPr>
              <a:defRPr/>
            </a:lvl1pPr>
          </a:lstStyle>
          <a:p>
            <a:r>
              <a:rPr lang="en-US" altLang="en-US"/>
              <a:t>Or Peretz</a:t>
            </a:r>
          </a:p>
        </p:txBody>
      </p:sp>
      <p:sp>
        <p:nvSpPr>
          <p:cNvPr id="6" name="Slide Number Placeholder 5">
            <a:extLst>
              <a:ext uri="{FF2B5EF4-FFF2-40B4-BE49-F238E27FC236}">
                <a16:creationId xmlns:a16="http://schemas.microsoft.com/office/drawing/2014/main" id="{1FD563C8-AF6F-0E44-82C4-BCAC1D43B12F}"/>
              </a:ext>
            </a:extLst>
          </p:cNvPr>
          <p:cNvSpPr>
            <a:spLocks noGrp="1"/>
          </p:cNvSpPr>
          <p:nvPr>
            <p:ph type="sldNum" sz="quarter" idx="11"/>
          </p:nvPr>
        </p:nvSpPr>
        <p:spPr>
          <a:xfrm>
            <a:off x="10160000" y="6477000"/>
            <a:ext cx="2032000" cy="381000"/>
          </a:xfrm>
        </p:spPr>
        <p:txBody>
          <a:bodyPr/>
          <a:lstStyle>
            <a:lvl1pPr>
              <a:defRPr/>
            </a:lvl1pPr>
          </a:lstStyle>
          <a:p>
            <a:endParaRPr lang="en-US" altLang="en-US"/>
          </a:p>
        </p:txBody>
      </p:sp>
    </p:spTree>
    <p:extLst>
      <p:ext uri="{BB962C8B-B14F-4D97-AF65-F5344CB8AC3E}">
        <p14:creationId xmlns:p14="http://schemas.microsoft.com/office/powerpoint/2010/main" val="2668897951"/>
      </p:ext>
    </p:extLst>
  </p:cSld>
  <p:clrMapOvr>
    <a:masterClrMapping/>
  </p:clrMapOvr>
  <p:transition>
    <p:wipe dir="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oundRect">
            <a:avLst/>
          </a:prstGeom>
          <a:ln w="12700">
            <a:solidFill>
              <a:schemeClr val="accent2"/>
            </a:solidFill>
            <a:extLst>
              <a:ext uri="{C807C97D-BFC1-408E-A445-0C87EB9F89A2}">
                <ask:lineSketchStyleProps xmlns:ask="http://schemas.microsoft.com/office/drawing/2018/sketchyshapes" sd="1219033472">
                  <a:custGeom>
                    <a:avLst/>
                    <a:gdLst>
                      <a:gd name="csX0" fmla="*/ 0 w 10972800"/>
                      <a:gd name="csY0" fmla="*/ 0 h 1143000"/>
                      <a:gd name="csX1" fmla="*/ 10972800 w 10972800"/>
                      <a:gd name="csY1" fmla="*/ 0 h 1143000"/>
                      <a:gd name="csX2" fmla="*/ 10972800 w 10972800"/>
                      <a:gd name="csY2" fmla="*/ 1143000 h 1143000"/>
                      <a:gd name="csX3" fmla="*/ 0 w 10972800"/>
                      <a:gd name="csY3" fmla="*/ 1143000 h 1143000"/>
                      <a:gd name="csX4" fmla="*/ 0 w 10972800"/>
                      <a:gd name="csY4" fmla="*/ 0 h 1143000"/>
                    </a:gdLst>
                    <a:ahLst/>
                    <a:cxnLst>
                      <a:cxn ang="0">
                        <a:pos x="csX0" y="csY0"/>
                      </a:cxn>
                      <a:cxn ang="0">
                        <a:pos x="csX1" y="csY1"/>
                      </a:cxn>
                      <a:cxn ang="0">
                        <a:pos x="csX2" y="csY2"/>
                      </a:cxn>
                      <a:cxn ang="0">
                        <a:pos x="csX3" y="csY3"/>
                      </a:cxn>
                      <a:cxn ang="0">
                        <a:pos x="csX4" y="csY4"/>
                      </a:cxn>
                    </a:cxnLst>
                    <a:rect l="l" t="t" r="r" b="b"/>
                    <a:pathLst>
                      <a:path w="10972800" h="1143000" fill="none" extrusionOk="0">
                        <a:moveTo>
                          <a:pt x="0" y="0"/>
                        </a:moveTo>
                        <a:cubicBezTo>
                          <a:pt x="4674310" y="-49533"/>
                          <a:pt x="6929254" y="-14809"/>
                          <a:pt x="10972800" y="0"/>
                        </a:cubicBezTo>
                        <a:cubicBezTo>
                          <a:pt x="10969069" y="570730"/>
                          <a:pt x="11062171" y="914526"/>
                          <a:pt x="10972800" y="1143000"/>
                        </a:cubicBezTo>
                        <a:cubicBezTo>
                          <a:pt x="6482996" y="1094769"/>
                          <a:pt x="3552735" y="1227455"/>
                          <a:pt x="0" y="1143000"/>
                        </a:cubicBezTo>
                        <a:cubicBezTo>
                          <a:pt x="69309" y="672287"/>
                          <a:pt x="-28229" y="279082"/>
                          <a:pt x="0" y="0"/>
                        </a:cubicBezTo>
                        <a:close/>
                      </a:path>
                      <a:path w="10972800" h="1143000" stroke="0" extrusionOk="0">
                        <a:moveTo>
                          <a:pt x="0" y="0"/>
                        </a:moveTo>
                        <a:cubicBezTo>
                          <a:pt x="3528079" y="118645"/>
                          <a:pt x="9610931" y="116012"/>
                          <a:pt x="10972800" y="0"/>
                        </a:cubicBezTo>
                        <a:cubicBezTo>
                          <a:pt x="11055528" y="134374"/>
                          <a:pt x="10882381" y="1028043"/>
                          <a:pt x="10972800" y="1143000"/>
                        </a:cubicBezTo>
                        <a:cubicBezTo>
                          <a:pt x="8799093" y="1277600"/>
                          <a:pt x="3316512" y="985804"/>
                          <a:pt x="0" y="1143000"/>
                        </a:cubicBezTo>
                        <a:cubicBezTo>
                          <a:pt x="94203" y="956839"/>
                          <a:pt x="-18710" y="289479"/>
                          <a:pt x="0" y="0"/>
                        </a:cubicBezTo>
                        <a:close/>
                      </a:path>
                    </a:pathLst>
                  </a:custGeom>
                  <ask:type>
                    <ask:lineSketchNone/>
                  </ask:type>
                </ask:lineSketchStyleProps>
              </a:ext>
            </a:extLst>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946768" y="1600201"/>
            <a:ext cx="10635632"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AA9E24A-D52C-CB4E-85D6-C52415601A2A}" type="datetime9">
              <a:rPr lang="he-IL" smtClean="0"/>
              <a:t>10 פברואר, 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Or Peretz</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Freeform 6">
            <a:extLst>
              <a:ext uri="{FF2B5EF4-FFF2-40B4-BE49-F238E27FC236}">
                <a16:creationId xmlns:a16="http://schemas.microsoft.com/office/drawing/2014/main" id="{9E54F053-C5B3-FA53-FB24-F76EBC23E5F7}"/>
              </a:ext>
            </a:extLst>
          </p:cNvPr>
          <p:cNvSpPr/>
          <p:nvPr/>
        </p:nvSpPr>
        <p:spPr>
          <a:xfrm>
            <a:off x="10492509" y="-832013"/>
            <a:ext cx="5901557" cy="769001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57150" cap="sq">
            <a:solidFill>
              <a:srgbClr val="941100">
                <a:alpha val="44000"/>
              </a:srgbClr>
            </a:solidFill>
            <a:prstDash val="solid"/>
            <a:miter/>
          </a:ln>
        </p:spPr>
        <p:txBody>
          <a:bodyPr/>
          <a:lstStyle/>
          <a:p>
            <a:endParaRPr lang="en-IL"/>
          </a:p>
        </p:txBody>
      </p:sp>
      <p:sp>
        <p:nvSpPr>
          <p:cNvPr id="12" name="Freeform 20">
            <a:extLst>
              <a:ext uri="{FF2B5EF4-FFF2-40B4-BE49-F238E27FC236}">
                <a16:creationId xmlns:a16="http://schemas.microsoft.com/office/drawing/2014/main" id="{C6ADFD82-3296-8C7F-2ACC-D8399785AC79}"/>
              </a:ext>
            </a:extLst>
          </p:cNvPr>
          <p:cNvSpPr/>
          <p:nvPr/>
        </p:nvSpPr>
        <p:spPr>
          <a:xfrm>
            <a:off x="-6720016" y="-1088358"/>
            <a:ext cx="7329616" cy="732961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514350" cap="sq">
            <a:solidFill>
              <a:srgbClr val="941100">
                <a:alpha val="17929"/>
              </a:srgbClr>
            </a:solidFill>
            <a:prstDash val="solid"/>
            <a:miter/>
          </a:ln>
        </p:spPr>
        <p:txBody>
          <a:bodyPr/>
          <a:lstStyle/>
          <a:p>
            <a:endParaRPr lang="en-IL" sz="933"/>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dt="0"/>
  <p:txStyles>
    <p:titleStyle>
      <a:lvl1pPr algn="ctr" defTabSz="457200" rtl="0" eaLnBrk="1" latinLnBrk="0" hangingPunct="1">
        <a:spcBef>
          <a:spcPct val="0"/>
        </a:spcBef>
        <a:buNone/>
        <a:defRPr sz="3400" b="1" kern="1200">
          <a:solidFill>
            <a:schemeClr val="tx1"/>
          </a:solidFill>
          <a:latin typeface="+mj-lt"/>
          <a:ea typeface="+mj-ea"/>
          <a:cs typeface="+mj-cs"/>
        </a:defRPr>
      </a:lvl1pPr>
    </p:titleStyle>
    <p:bodyStyle>
      <a:lvl1pPr marL="342900" indent="-342900" algn="l" defTabSz="457200" rtl="0" eaLnBrk="1" latinLnBrk="0" hangingPunct="1">
        <a:lnSpc>
          <a:spcPct val="130000"/>
        </a:lnSpc>
        <a:spcBef>
          <a:spcPts val="0"/>
        </a:spcBef>
        <a:buFont typeface="Arial"/>
        <a:buChar char="•"/>
        <a:defRPr sz="2800" kern="1200">
          <a:solidFill>
            <a:schemeClr val="tx1"/>
          </a:solidFill>
          <a:latin typeface="+mn-lt"/>
          <a:ea typeface="+mn-ea"/>
          <a:cs typeface="+mn-cs"/>
        </a:defRPr>
      </a:lvl1pPr>
      <a:lvl2pPr marL="742950" indent="-285750" algn="l" defTabSz="457200" rtl="0" eaLnBrk="1" latinLnBrk="0" hangingPunct="1">
        <a:lnSpc>
          <a:spcPct val="130000"/>
        </a:lnSpc>
        <a:spcBef>
          <a:spcPts val="0"/>
        </a:spcBef>
        <a:buFont typeface="Arial"/>
        <a:buChar char="–"/>
        <a:defRPr sz="2400" kern="1200">
          <a:solidFill>
            <a:schemeClr val="tx1"/>
          </a:solidFill>
          <a:latin typeface="+mn-lt"/>
          <a:ea typeface="+mn-ea"/>
          <a:cs typeface="+mn-cs"/>
        </a:defRPr>
      </a:lvl2pPr>
      <a:lvl3pPr marL="1143000" indent="-228600" algn="l" defTabSz="457200" rtl="0" eaLnBrk="1" latinLnBrk="0" hangingPunct="1">
        <a:lnSpc>
          <a:spcPct val="130000"/>
        </a:lnSpc>
        <a:spcBef>
          <a:spcPts val="0"/>
        </a:spcBef>
        <a:buFont typeface="Arial"/>
        <a:buChar char="•"/>
        <a:defRPr sz="2000" kern="1200">
          <a:solidFill>
            <a:schemeClr val="tx1"/>
          </a:solidFill>
          <a:latin typeface="+mn-lt"/>
          <a:ea typeface="+mn-ea"/>
          <a:cs typeface="+mn-cs"/>
        </a:defRPr>
      </a:lvl3pPr>
      <a:lvl4pPr marL="1600200" indent="-228600" algn="l" defTabSz="457200" rtl="0" eaLnBrk="1" latinLnBrk="0" hangingPunct="1">
        <a:lnSpc>
          <a:spcPct val="130000"/>
        </a:lnSpc>
        <a:spcBef>
          <a:spcPts val="0"/>
        </a:spcBef>
        <a:buFont typeface="Arial"/>
        <a:buChar char="–"/>
        <a:defRPr sz="1800" kern="1200">
          <a:solidFill>
            <a:schemeClr val="tx1"/>
          </a:solidFill>
          <a:latin typeface="+mn-lt"/>
          <a:ea typeface="+mn-ea"/>
          <a:cs typeface="+mn-cs"/>
        </a:defRPr>
      </a:lvl4pPr>
      <a:lvl5pPr marL="2057400" indent="-228600" algn="l" defTabSz="457200" rtl="0" eaLnBrk="1" latinLnBrk="0" hangingPunct="1">
        <a:lnSpc>
          <a:spcPct val="130000"/>
        </a:lnSpc>
        <a:spcBef>
          <a:spcPts val="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29F15AE-737D-866E-3CF2-D0120AD833A4}"/>
              </a:ext>
            </a:extLst>
          </p:cNvPr>
          <p:cNvSpPr>
            <a:spLocks noGrp="1"/>
          </p:cNvSpPr>
          <p:nvPr>
            <p:ph type="ctrTitle" hasCustomPrompt="1"/>
          </p:nvPr>
        </p:nvSpPr>
        <p:spPr>
          <a:xfrm>
            <a:off x="914400" y="2130426"/>
            <a:ext cx="10363200" cy="1470025"/>
          </a:xfrm>
        </p:spPr>
        <p:txBody>
          <a:bodyPr/>
          <a:lstStyle/>
          <a:p>
            <a:pPr marL="0" lvl="0" indent="0">
              <a:buNone/>
            </a:pPr>
            <a:r>
              <a:t>Week 4: DWH + ETL (Part 1)</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Purpose</a:t>
            </a:r>
          </a:p>
        </p:txBody>
      </p:sp>
      <p:sp>
        <p:nvSpPr>
          <p:cNvPr id="3" name="Content Placeholder 2"/>
          <p:cNvSpPr>
            <a:spLocks noGrp="1"/>
          </p:cNvSpPr>
          <p:nvPr>
            <p:ph idx="1" hasCustomPrompt="1"/>
          </p:nvPr>
        </p:nvSpPr>
        <p:spPr/>
        <p:txBody>
          <a:bodyPr/>
          <a:lstStyle/>
          <a:p>
            <a:pPr lvl="0"/>
            <a:r>
              <a:t>Build ingestion pipelines that keep analytics trustworthy</a:t>
            </a:r>
          </a:p>
          <a:p>
            <a:pPr lvl="0"/>
            <a:r>
              <a:t>Connect ETL/ELT choices to DWH and lake architecture</a:t>
            </a:r>
          </a:p>
          <a:p>
            <a:pPr lvl="0"/>
            <a:r>
              <a:t>Design for retries, late data, and schema drift by default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Learning Objectives</a:t>
            </a:r>
          </a:p>
        </p:txBody>
      </p:sp>
      <p:sp>
        <p:nvSpPr>
          <p:cNvPr id="3" name="Content Placeholder 2"/>
          <p:cNvSpPr>
            <a:spLocks noGrp="1"/>
          </p:cNvSpPr>
          <p:nvPr>
            <p:ph idx="1" hasCustomPrompt="1"/>
          </p:nvPr>
        </p:nvSpPr>
        <p:spPr/>
        <p:txBody>
          <a:bodyPr/>
          <a:lstStyle/>
          <a:p>
            <a:pPr lvl="0"/>
            <a:r>
              <a:t>Choose ETL vs ELT using workload and governance constraints</a:t>
            </a:r>
          </a:p>
          <a:p>
            <a:pPr lvl="0"/>
            <a:r>
              <a:t>Design incremental pipelines with watermarks and control tables</a:t>
            </a:r>
          </a:p>
          <a:p>
            <a:pPr lvl="0"/>
            <a:r>
              <a:t>Implement deterministic deduplication and idempotent loads</a:t>
            </a:r>
          </a:p>
          <a:p>
            <a:pPr lvl="0"/>
            <a:r>
              <a:t>Handle late data, bad data, and reruns without KPI corruption</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Why This Topic Is Critical</a:t>
            </a:r>
          </a:p>
        </p:txBody>
      </p:sp>
      <p:sp>
        <p:nvSpPr>
          <p:cNvPr id="3" name="Content Placeholder 2"/>
          <p:cNvSpPr>
            <a:spLocks noGrp="1"/>
          </p:cNvSpPr>
          <p:nvPr>
            <p:ph idx="1" hasCustomPrompt="1"/>
          </p:nvPr>
        </p:nvSpPr>
        <p:spPr/>
        <p:txBody>
          <a:bodyPr/>
          <a:lstStyle/>
          <a:p>
            <a:pPr lvl="0"/>
            <a:r>
              <a:t>Most BI outages begin in ingestion, not dashboards</a:t>
            </a:r>
          </a:p>
          <a:p>
            <a:pPr lvl="0"/>
            <a:r>
              <a:t>Small ingestion bugs create silent KPI drift</a:t>
            </a:r>
          </a:p>
          <a:p>
            <a:pPr lvl="0"/>
            <a:r>
              <a:t>Source systems change faster than analytics models</a:t>
            </a:r>
          </a:p>
          <a:p>
            <a:pPr lvl="0"/>
            <a:r>
              <a:t>Reliability requires explicit policies, not assumptions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Incident: Revenue Doubled After Rerun</a:t>
            </a:r>
          </a:p>
        </p:txBody>
      </p:sp>
      <p:sp>
        <p:nvSpPr>
          <p:cNvPr id="3" name="Content Placeholder 2"/>
          <p:cNvSpPr>
            <a:spLocks noGrp="1"/>
          </p:cNvSpPr>
          <p:nvPr>
            <p:ph idx="1" hasCustomPrompt="1"/>
          </p:nvPr>
        </p:nvSpPr>
        <p:spPr/>
        <p:txBody>
          <a:bodyPr/>
          <a:lstStyle/>
          <a:p>
            <a:pPr lvl="0"/>
            <a:r>
              <a:t>Nightly pipeline failed at 02:10 after loading 2 of 3 partitions</a:t>
            </a:r>
          </a:p>
          <a:p>
            <a:pPr lvl="0"/>
            <a:r>
              <a:t>Operator reran full job with plain </a:t>
            </a:r>
            <a:r>
              <a:rPr>
                <a:latin typeface="Courier"/>
              </a:rPr>
              <a:t>INSERT</a:t>
            </a:r>
          </a:p>
          <a:p>
            <a:pPr lvl="0"/>
            <a:r>
              <a:t>Same transactions loaded again, revenue KPI jumped ~2x</a:t>
            </a:r>
          </a:p>
          <a:p>
            <a:pPr lvl="0"/>
            <a:r>
              <a:t>Root cause: no checkpoint + no idempotent target write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What a Reliable Ingestion Contract Includes</a:t>
            </a:r>
          </a:p>
        </p:txBody>
      </p:sp>
      <p:sp>
        <p:nvSpPr>
          <p:cNvPr id="3" name="Content Placeholder 2"/>
          <p:cNvSpPr>
            <a:spLocks noGrp="1"/>
          </p:cNvSpPr>
          <p:nvPr>
            <p:ph idx="1" hasCustomPrompt="1"/>
          </p:nvPr>
        </p:nvSpPr>
        <p:spPr/>
        <p:txBody>
          <a:bodyPr/>
          <a:lstStyle/>
          <a:p>
            <a:pPr lvl="0"/>
            <a:r>
              <a:t>Declared business key and event-time semantics</a:t>
            </a:r>
          </a:p>
          <a:p>
            <a:pPr lvl="0"/>
            <a:r>
              <a:t>Accepted lateness window (for example, 48 hours)</a:t>
            </a:r>
          </a:p>
          <a:p>
            <a:pPr lvl="0"/>
            <a:r>
              <a:t>Quality thresholds (null rate, type errors, duplicates)</a:t>
            </a:r>
          </a:p>
          <a:p>
            <a:pPr lvl="0"/>
            <a:r>
              <a:t>Recovery policy for rerun, backfill, and schema changes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rPr dirty="0"/>
              <a:t>Core Stores: Warehouse vs Lake</a:t>
            </a:r>
          </a:p>
        </p:txBody>
      </p:sp>
      <p:sp>
        <p:nvSpPr>
          <p:cNvPr id="3" name="Content Placeholder 2"/>
          <p:cNvSpPr>
            <a:spLocks noGrp="1"/>
          </p:cNvSpPr>
          <p:nvPr>
            <p:ph idx="1" hasCustomPrompt="1"/>
          </p:nvPr>
        </p:nvSpPr>
        <p:spPr/>
        <p:txBody>
          <a:bodyPr/>
          <a:lstStyle/>
          <a:p>
            <a:pPr lvl="0"/>
            <a:r>
              <a:rPr b="1"/>
              <a:t>Warehouse</a:t>
            </a:r>
            <a:r>
              <a:t>: curated, schema-on-write, BI-first</a:t>
            </a:r>
          </a:p>
          <a:p>
            <a:pPr lvl="0"/>
            <a:r>
              <a:rPr b="1"/>
              <a:t>Lake</a:t>
            </a:r>
            <a:r>
              <a:t>: raw + processed zones, schema flexibility</a:t>
            </a:r>
          </a:p>
          <a:p>
            <a:pPr lvl="0"/>
            <a:r>
              <a:t>Warehouse optimizes consistency and discoverability</a:t>
            </a:r>
          </a:p>
          <a:p>
            <a:pPr lvl="0"/>
            <a:r>
              <a:t>Lake optimizes ingestion agility and storage economics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7</a:t>
            </a:fld>
            <a:endParaRPr lang="en-US"/>
          </a:p>
        </p:txBody>
      </p:sp>
      <p:pic>
        <p:nvPicPr>
          <p:cNvPr id="4" name="תמונה 3" descr="Data Lake vs Data Warehouse : r/dataengineering">
            <a:extLst>
              <a:ext uri="{FF2B5EF4-FFF2-40B4-BE49-F238E27FC236}">
                <a16:creationId xmlns:a16="http://schemas.microsoft.com/office/drawing/2014/main" id="{FC60EA19-E9C6-5379-5DA3-80858E39E99F}"/>
              </a:ext>
            </a:extLst>
          </p:cNvPr>
          <p:cNvPicPr>
            <a:picLocks noChangeAspect="1"/>
          </p:cNvPicPr>
          <p:nvPr/>
        </p:nvPicPr>
        <p:blipFill>
          <a:blip r:embed="rId2"/>
          <a:srcRect b="8856"/>
          <a:stretch>
            <a:fillRect/>
          </a:stretch>
        </p:blipFill>
        <p:spPr>
          <a:xfrm>
            <a:off x="4240327" y="3863182"/>
            <a:ext cx="3711346" cy="252853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rPr dirty="0"/>
              <a:t>Data Warehouse Definition</a:t>
            </a:r>
          </a:p>
        </p:txBody>
      </p:sp>
      <p:sp>
        <p:nvSpPr>
          <p:cNvPr id="3" name="Content Placeholder 2"/>
          <p:cNvSpPr>
            <a:spLocks noGrp="1"/>
          </p:cNvSpPr>
          <p:nvPr>
            <p:ph idx="1" hasCustomPrompt="1"/>
          </p:nvPr>
        </p:nvSpPr>
        <p:spPr>
          <a:xfrm>
            <a:off x="946768" y="1600201"/>
            <a:ext cx="10635632" cy="4525963"/>
          </a:xfrm>
        </p:spPr>
        <p:txBody>
          <a:bodyPr/>
          <a:lstStyle/>
          <a:p>
            <a:pPr lvl="0"/>
            <a:r>
              <a:rPr lang="en-US" dirty="0"/>
              <a:t>A</a:t>
            </a:r>
            <a:r>
              <a:rPr dirty="0"/>
              <a:t> subject-oriented, integrated, time-variant, decision support</a:t>
            </a:r>
          </a:p>
          <a:p>
            <a:pPr lvl="0"/>
            <a:r>
              <a:rPr b="1" dirty="0"/>
              <a:t>Subject-oriented</a:t>
            </a:r>
            <a:endParaRPr lang="he-IL" b="1" dirty="0"/>
          </a:p>
          <a:p>
            <a:pPr marL="0" lvl="0" indent="0">
              <a:buNone/>
            </a:pPr>
            <a:r>
              <a:rPr lang="he-IL" dirty="0"/>
              <a:t>		</a:t>
            </a:r>
            <a:r>
              <a:rPr dirty="0"/>
              <a:t>organized around major subjects (customer, product, sales)</a:t>
            </a:r>
          </a:p>
          <a:p>
            <a:pPr lvl="0"/>
            <a:r>
              <a:rPr b="1" dirty="0"/>
              <a:t>Integrated</a:t>
            </a:r>
            <a:endParaRPr lang="he-IL" b="1" dirty="0"/>
          </a:p>
          <a:p>
            <a:pPr marL="0" lvl="0" indent="0">
              <a:buNone/>
            </a:pPr>
            <a:r>
              <a:rPr lang="he-IL" b="1" dirty="0"/>
              <a:t>		</a:t>
            </a:r>
            <a:r>
              <a:rPr dirty="0"/>
              <a:t>multiple heterogeneous sources, cleaned and consistent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rPr dirty="0"/>
              <a:t>Data Warehouse Definition</a:t>
            </a:r>
          </a:p>
        </p:txBody>
      </p:sp>
      <p:sp>
        <p:nvSpPr>
          <p:cNvPr id="3" name="Content Placeholder 2"/>
          <p:cNvSpPr>
            <a:spLocks noGrp="1"/>
          </p:cNvSpPr>
          <p:nvPr>
            <p:ph idx="1" hasCustomPrompt="1"/>
          </p:nvPr>
        </p:nvSpPr>
        <p:spPr/>
        <p:txBody>
          <a:bodyPr/>
          <a:lstStyle/>
          <a:p>
            <a:pPr lvl="0"/>
            <a:r>
              <a:rPr b="1" dirty="0"/>
              <a:t>Time-variant</a:t>
            </a:r>
            <a:endParaRPr lang="en-US" b="1" dirty="0"/>
          </a:p>
          <a:p>
            <a:pPr marL="0" lvl="0" indent="0">
              <a:buNone/>
            </a:pPr>
            <a:r>
              <a:rPr lang="en-US" b="1" dirty="0"/>
              <a:t>	</a:t>
            </a:r>
            <a:r>
              <a:rPr dirty="0"/>
              <a:t>historical perspective vs operational current-value data</a:t>
            </a:r>
          </a:p>
          <a:p>
            <a:pPr lvl="0"/>
            <a:r>
              <a:rPr b="1" dirty="0"/>
              <a:t>Nonvolatile</a:t>
            </a:r>
            <a:endParaRPr lang="en-US" b="1" dirty="0"/>
          </a:p>
          <a:p>
            <a:pPr marL="0" lvl="0" indent="0">
              <a:buNone/>
            </a:pPr>
            <a:r>
              <a:rPr lang="en-US" b="1" dirty="0"/>
              <a:t>	</a:t>
            </a:r>
            <a:r>
              <a:rPr dirty="0"/>
              <a:t>physically separate</a:t>
            </a:r>
            <a:r>
              <a:rPr lang="en-US" dirty="0"/>
              <a:t>, o</a:t>
            </a:r>
            <a:r>
              <a:rPr dirty="0"/>
              <a:t>perational updates do not occur in the warehouse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16B7378B-A255-C844-AECA-A1F29F18CAD5}"/>
              </a:ext>
            </a:extLst>
          </p:cNvPr>
          <p:cNvSpPr>
            <a:spLocks noGrp="1" noChangeArrowheads="1"/>
          </p:cNvSpPr>
          <p:nvPr>
            <p:ph type="title"/>
          </p:nvPr>
        </p:nvSpPr>
        <p:spPr>
          <a:xfrm>
            <a:off x="609600" y="274638"/>
            <a:ext cx="10972800" cy="1143000"/>
          </a:xfrm>
        </p:spPr>
        <p:txBody>
          <a:bodyPr>
            <a:normAutofit/>
          </a:bodyPr>
          <a:lstStyle/>
          <a:p>
            <a:r>
              <a:rPr lang="en-US" altLang="en-IL" dirty="0"/>
              <a:t>Why Separate Data Warehouse?</a:t>
            </a:r>
          </a:p>
        </p:txBody>
      </p:sp>
      <p:sp>
        <p:nvSpPr>
          <p:cNvPr id="50179" name="Rectangle 3">
            <a:extLst>
              <a:ext uri="{FF2B5EF4-FFF2-40B4-BE49-F238E27FC236}">
                <a16:creationId xmlns:a16="http://schemas.microsoft.com/office/drawing/2014/main" id="{78408E13-D42E-E94C-839D-EBCF0AD5D157}"/>
              </a:ext>
            </a:extLst>
          </p:cNvPr>
          <p:cNvSpPr>
            <a:spLocks noGrp="1" noChangeArrowheads="1"/>
          </p:cNvSpPr>
          <p:nvPr>
            <p:ph idx="1"/>
          </p:nvPr>
        </p:nvSpPr>
        <p:spPr>
          <a:xfrm>
            <a:off x="946768" y="1600201"/>
            <a:ext cx="10635632" cy="4525963"/>
          </a:xfrm>
        </p:spPr>
        <p:txBody>
          <a:bodyPr/>
          <a:lstStyle/>
          <a:p>
            <a:pPr lvl="1"/>
            <a:r>
              <a:rPr lang="en-US" altLang="en-IL" dirty="0"/>
              <a:t>missing data: Decision support requires historical data which operational DBs do not typically maintain.</a:t>
            </a:r>
          </a:p>
          <a:p>
            <a:pPr lvl="1"/>
            <a:r>
              <a:rPr lang="en-US" altLang="en-IL" dirty="0"/>
              <a:t>data consolidation:  DS requires consolidation (aggregation, summarization) of data from heterogeneous sources</a:t>
            </a:r>
          </a:p>
          <a:p>
            <a:pPr lvl="1"/>
            <a:r>
              <a:rPr lang="en-US" altLang="en-IL" dirty="0"/>
              <a:t>data quality: different sources typically use inconsistent data representations</a:t>
            </a:r>
          </a:p>
        </p:txBody>
      </p:sp>
      <p:sp>
        <p:nvSpPr>
          <p:cNvPr id="8" name="Footer Placeholder 4">
            <a:extLst>
              <a:ext uri="{FF2B5EF4-FFF2-40B4-BE49-F238E27FC236}">
                <a16:creationId xmlns:a16="http://schemas.microsoft.com/office/drawing/2014/main" id="{835F5063-E487-D143-925F-9B29C3C4F189}"/>
              </a:ext>
            </a:extLst>
          </p:cNvPr>
          <p:cNvSpPr>
            <a:spLocks noGrp="1"/>
          </p:cNvSpPr>
          <p:nvPr>
            <p:ph type="ftr" sz="quarter" idx="11"/>
          </p:nvPr>
        </p:nvSpPr>
        <p:spPr>
          <a:xfrm>
            <a:off x="4165600" y="6356351"/>
            <a:ext cx="3860800" cy="365125"/>
          </a:xfrm>
        </p:spPr>
        <p:txBody>
          <a:bodyPr/>
          <a:lstStyle/>
          <a:p>
            <a:r>
              <a:rPr lang="en-US"/>
              <a:t>Or Peretz</a:t>
            </a:r>
          </a:p>
        </p:txBody>
      </p:sp>
      <p:sp>
        <p:nvSpPr>
          <p:cNvPr id="9" name="Slide Number Placeholder 5">
            <a:extLst>
              <a:ext uri="{FF2B5EF4-FFF2-40B4-BE49-F238E27FC236}">
                <a16:creationId xmlns:a16="http://schemas.microsoft.com/office/drawing/2014/main" id="{A41A2CBA-D1E6-8137-2414-4AB59BE1477B}"/>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10</a:t>
            </a:fld>
            <a:endParaRPr lang="en-US"/>
          </a:p>
        </p:txBody>
      </p:sp>
    </p:spTree>
    <p:extLst>
      <p:ext uri="{BB962C8B-B14F-4D97-AF65-F5344CB8AC3E}">
        <p14:creationId xmlns:p14="http://schemas.microsoft.com/office/powerpoint/2010/main" val="29251031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DWH vs Lake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rPr dirty="0"/>
              <a:t>Schema-on-Write vs Schema-on-Read</a:t>
            </a:r>
          </a:p>
        </p:txBody>
      </p:sp>
      <p:sp>
        <p:nvSpPr>
          <p:cNvPr id="3" name="Content Placeholder 2"/>
          <p:cNvSpPr>
            <a:spLocks noGrp="1"/>
          </p:cNvSpPr>
          <p:nvPr>
            <p:ph idx="1" hasCustomPrompt="1"/>
          </p:nvPr>
        </p:nvSpPr>
        <p:spPr/>
        <p:txBody>
          <a:bodyPr/>
          <a:lstStyle/>
          <a:p>
            <a:pPr lvl="0"/>
            <a:r>
              <a:t>Write-time schema validation catches issues earlier</a:t>
            </a:r>
          </a:p>
          <a:p>
            <a:pPr lvl="0"/>
            <a:r>
              <a:t>Read-time schema validation supports source variability</a:t>
            </a:r>
          </a:p>
          <a:p>
            <a:pPr lvl="0"/>
            <a:r>
              <a:t>Schema-on-write reduces BI surprise and metric drift</a:t>
            </a:r>
          </a:p>
          <a:p>
            <a:pPr lvl="0"/>
            <a:r>
              <a:t>Schema-on-read speeds onboarding but needs stronger governance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rPr dirty="0"/>
              <a:t>Schema-on-Write vs Schema-on-Read</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Hybrid Architecture (Common Pattern)</a:t>
            </a:r>
          </a:p>
        </p:txBody>
      </p:sp>
      <p:sp>
        <p:nvSpPr>
          <p:cNvPr id="3" name="Content Placeholder 2"/>
          <p:cNvSpPr>
            <a:spLocks noGrp="1"/>
          </p:cNvSpPr>
          <p:nvPr>
            <p:ph idx="1"/>
          </p:nvPr>
        </p:nvSpPr>
        <p:spPr/>
        <p:txBody>
          <a:bodyPr/>
          <a:lstStyle/>
          <a:p>
            <a:r>
              <a:t>Raw events land in lake (bronze)</a:t>
            </a:r>
          </a:p>
          <a:p>
            <a:r>
              <a:t>Standardized cleaned layer (silver)</a:t>
            </a:r>
          </a:p>
          <a:p>
            <a:r>
              <a:t>Curated business marts/semantic models (gold)</a:t>
            </a:r>
          </a:p>
          <a:p>
            <a:r>
              <a:t>BI should query gold for consistent KPIs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a:extLst>
              <a:ext uri="{FF2B5EF4-FFF2-40B4-BE49-F238E27FC236}">
                <a16:creationId xmlns:a16="http://schemas.microsoft.com/office/drawing/2014/main" id="{56A64BC9-D68C-734E-9334-8FC25ACE397D}"/>
              </a:ext>
            </a:extLst>
          </p:cNvPr>
          <p:cNvSpPr>
            <a:spLocks noGrp="1" noChangeArrowheads="1"/>
          </p:cNvSpPr>
          <p:nvPr>
            <p:ph type="title"/>
          </p:nvPr>
        </p:nvSpPr>
        <p:spPr>
          <a:xfrm>
            <a:off x="1956438" y="238125"/>
            <a:ext cx="8458200" cy="914400"/>
          </a:xfrm>
          <a:noFill/>
        </p:spPr>
        <p:txBody>
          <a:bodyPr vert="horz" lIns="92075" tIns="46038" rIns="92075" bIns="46038" rtlCol="0" anchor="b">
            <a:normAutofit/>
          </a:bodyPr>
          <a:lstStyle/>
          <a:p>
            <a:pPr algn="ctr"/>
            <a:r>
              <a:rPr lang="en-US" altLang="en-GB" sz="3200" b="1" dirty="0">
                <a:latin typeface="+mn-lt"/>
              </a:rPr>
              <a:t>Extract, Transform, Load - ETL</a:t>
            </a:r>
          </a:p>
        </p:txBody>
      </p:sp>
      <p:sp>
        <p:nvSpPr>
          <p:cNvPr id="2053" name="Rectangle 3">
            <a:extLst>
              <a:ext uri="{FF2B5EF4-FFF2-40B4-BE49-F238E27FC236}">
                <a16:creationId xmlns:a16="http://schemas.microsoft.com/office/drawing/2014/main" id="{E7813529-51E1-3F47-898F-5B9F2EC30F9B}"/>
              </a:ext>
            </a:extLst>
          </p:cNvPr>
          <p:cNvSpPr>
            <a:spLocks noGrp="1" noChangeArrowheads="1"/>
          </p:cNvSpPr>
          <p:nvPr>
            <p:ph type="body" idx="1"/>
          </p:nvPr>
        </p:nvSpPr>
        <p:spPr>
          <a:xfrm>
            <a:off x="3005667" y="1659467"/>
            <a:ext cx="6942666" cy="3683000"/>
          </a:xfrm>
          <a:noFill/>
        </p:spPr>
        <p:txBody>
          <a:bodyPr vert="horz" lIns="92075" tIns="46038" rIns="92075" bIns="46038" rtlCol="0">
            <a:normAutofit/>
          </a:bodyPr>
          <a:lstStyle/>
          <a:p>
            <a:pPr marL="0" indent="0">
              <a:buNone/>
            </a:pPr>
            <a:r>
              <a:rPr lang="en-US" sz="2400" i="1" dirty="0">
                <a:solidFill>
                  <a:schemeClr val="accent1"/>
                </a:solidFill>
              </a:rPr>
              <a:t>ETL process uses the pipelining concept. In this concept, as soon as the data is extracted, it can be transformed, and during the period of transformation, new data can be obtained. And when the modified data is being loaded into the data warehouse, the already extracted data can be transformed.</a:t>
            </a:r>
            <a:endParaRPr lang="en-US" sz="2400" dirty="0">
              <a:solidFill>
                <a:schemeClr val="accent1"/>
              </a:solidFill>
            </a:endParaRPr>
          </a:p>
        </p:txBody>
      </p:sp>
      <p:sp>
        <p:nvSpPr>
          <p:cNvPr id="4" name="Footer Placeholder 4">
            <a:extLst>
              <a:ext uri="{FF2B5EF4-FFF2-40B4-BE49-F238E27FC236}">
                <a16:creationId xmlns:a16="http://schemas.microsoft.com/office/drawing/2014/main" id="{E742C07B-887A-CFA0-A331-42B194B6C9B1}"/>
              </a:ext>
            </a:extLst>
          </p:cNvPr>
          <p:cNvSpPr>
            <a:spLocks noGrp="1"/>
          </p:cNvSpPr>
          <p:nvPr>
            <p:ph type="ftr" sz="quarter" idx="11"/>
          </p:nvPr>
        </p:nvSpPr>
        <p:spPr>
          <a:xfrm>
            <a:off x="4165600" y="6356351"/>
            <a:ext cx="3860800" cy="365125"/>
          </a:xfrm>
        </p:spPr>
        <p:txBody>
          <a:bodyPr/>
          <a:lstStyle/>
          <a:p>
            <a:r>
              <a:rPr lang="en-US"/>
              <a:t>Or Peretz</a:t>
            </a:r>
          </a:p>
        </p:txBody>
      </p:sp>
      <p:sp>
        <p:nvSpPr>
          <p:cNvPr id="5" name="Slide Number Placeholder 5">
            <a:extLst>
              <a:ext uri="{FF2B5EF4-FFF2-40B4-BE49-F238E27FC236}">
                <a16:creationId xmlns:a16="http://schemas.microsoft.com/office/drawing/2014/main" id="{9A19459C-7E11-52E2-7AFE-604F2DAF0866}"/>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15</a:t>
            </a:fld>
            <a:endParaRPr lang="en-US"/>
          </a:p>
        </p:txBody>
      </p:sp>
    </p:spTree>
    <p:extLst>
      <p:ext uri="{BB962C8B-B14F-4D97-AF65-F5344CB8AC3E}">
        <p14:creationId xmlns:p14="http://schemas.microsoft.com/office/powerpoint/2010/main" val="15536641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a:extLst>
              <a:ext uri="{FF2B5EF4-FFF2-40B4-BE49-F238E27FC236}">
                <a16:creationId xmlns:a16="http://schemas.microsoft.com/office/drawing/2014/main" id="{56A64BC9-D68C-734E-9334-8FC25ACE397D}"/>
              </a:ext>
            </a:extLst>
          </p:cNvPr>
          <p:cNvSpPr>
            <a:spLocks noGrp="1" noChangeArrowheads="1"/>
          </p:cNvSpPr>
          <p:nvPr>
            <p:ph type="title"/>
          </p:nvPr>
        </p:nvSpPr>
        <p:spPr>
          <a:xfrm>
            <a:off x="1921932" y="0"/>
            <a:ext cx="8458200" cy="914400"/>
          </a:xfrm>
          <a:noFill/>
        </p:spPr>
        <p:txBody>
          <a:bodyPr vert="horz" lIns="92075" tIns="46038" rIns="92075" bIns="46038" rtlCol="0" anchor="b">
            <a:normAutofit/>
          </a:bodyPr>
          <a:lstStyle/>
          <a:p>
            <a:pPr algn="ctr"/>
            <a:r>
              <a:rPr lang="en-US" altLang="en-GB" sz="3200" b="1" dirty="0">
                <a:latin typeface="+mn-lt"/>
              </a:rPr>
              <a:t>Extraction</a:t>
            </a:r>
          </a:p>
        </p:txBody>
      </p:sp>
      <p:sp>
        <p:nvSpPr>
          <p:cNvPr id="2053" name="Rectangle 3">
            <a:extLst>
              <a:ext uri="{FF2B5EF4-FFF2-40B4-BE49-F238E27FC236}">
                <a16:creationId xmlns:a16="http://schemas.microsoft.com/office/drawing/2014/main" id="{E7813529-51E1-3F47-898F-5B9F2EC30F9B}"/>
              </a:ext>
            </a:extLst>
          </p:cNvPr>
          <p:cNvSpPr>
            <a:spLocks noGrp="1" noChangeArrowheads="1"/>
          </p:cNvSpPr>
          <p:nvPr>
            <p:ph type="body" idx="1"/>
          </p:nvPr>
        </p:nvSpPr>
        <p:spPr>
          <a:xfrm>
            <a:off x="304799" y="1143000"/>
            <a:ext cx="11692467" cy="5486400"/>
          </a:xfrm>
          <a:noFill/>
        </p:spPr>
        <p:txBody>
          <a:bodyPr vert="horz" lIns="92075" tIns="46038" rIns="92075" bIns="46038" rtlCol="0">
            <a:normAutofit/>
          </a:bodyPr>
          <a:lstStyle/>
          <a:p>
            <a:pPr marL="0" indent="0">
              <a:lnSpc>
                <a:spcPct val="150000"/>
              </a:lnSpc>
              <a:buNone/>
            </a:pPr>
            <a:r>
              <a:rPr lang="en-US" sz="2400" b="1" dirty="0"/>
              <a:t>Extraction</a:t>
            </a:r>
            <a:r>
              <a:rPr lang="en-US" sz="2400" dirty="0"/>
              <a:t> - </a:t>
            </a:r>
            <a:r>
              <a:rPr lang="en-US" dirty="0"/>
              <a:t>The main goal of extraction is to collect the data from the source system as fast as possible and less convenient for these source systems. It also states that the most applicable extraction method should be chosen for source date/time stamps, database log tables, hybrid depending on the situation.</a:t>
            </a:r>
            <a:endParaRPr lang="he-IL" dirty="0"/>
          </a:p>
        </p:txBody>
      </p:sp>
      <p:pic>
        <p:nvPicPr>
          <p:cNvPr id="126978" name="Picture 2" descr="ETL Architecture">
            <a:extLst>
              <a:ext uri="{FF2B5EF4-FFF2-40B4-BE49-F238E27FC236}">
                <a16:creationId xmlns:a16="http://schemas.microsoft.com/office/drawing/2014/main" id="{D8BF5171-22D7-2C45-97F7-D0AD328E94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5908"/>
          <a:stretch/>
        </p:blipFill>
        <p:spPr bwMode="auto">
          <a:xfrm>
            <a:off x="2908299" y="4191000"/>
            <a:ext cx="6248993" cy="1598081"/>
          </a:xfrm>
          <a:prstGeom prst="rect">
            <a:avLst/>
          </a:prstGeom>
          <a:noFill/>
          <a:extLst>
            <a:ext uri="{909E8E84-426E-40DD-AFC4-6F175D3DCCD1}">
              <a14:hiddenFill xmlns:a14="http://schemas.microsoft.com/office/drawing/2010/main">
                <a:solidFill>
                  <a:srgbClr val="FFFFFF"/>
                </a:solidFill>
              </a14:hiddenFill>
            </a:ext>
          </a:extLst>
        </p:spPr>
      </p:pic>
      <p:sp>
        <p:nvSpPr>
          <p:cNvPr id="4" name="Footer Placeholder 4">
            <a:extLst>
              <a:ext uri="{FF2B5EF4-FFF2-40B4-BE49-F238E27FC236}">
                <a16:creationId xmlns:a16="http://schemas.microsoft.com/office/drawing/2014/main" id="{07C431B6-C6B1-DFAD-C8FC-2F5671C822BB}"/>
              </a:ext>
            </a:extLst>
          </p:cNvPr>
          <p:cNvSpPr>
            <a:spLocks noGrp="1"/>
          </p:cNvSpPr>
          <p:nvPr>
            <p:ph type="ftr" sz="quarter" idx="11"/>
          </p:nvPr>
        </p:nvSpPr>
        <p:spPr>
          <a:xfrm>
            <a:off x="4165600" y="6356351"/>
            <a:ext cx="3860800" cy="365125"/>
          </a:xfrm>
        </p:spPr>
        <p:txBody>
          <a:bodyPr/>
          <a:lstStyle/>
          <a:p>
            <a:r>
              <a:rPr lang="en-US"/>
              <a:t>Or Peretz</a:t>
            </a:r>
          </a:p>
        </p:txBody>
      </p:sp>
      <p:sp>
        <p:nvSpPr>
          <p:cNvPr id="5" name="Slide Number Placeholder 5">
            <a:extLst>
              <a:ext uri="{FF2B5EF4-FFF2-40B4-BE49-F238E27FC236}">
                <a16:creationId xmlns:a16="http://schemas.microsoft.com/office/drawing/2014/main" id="{8F2BD81B-18A3-FF02-4810-8F99104B027A}"/>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16</a:t>
            </a:fld>
            <a:endParaRPr lang="en-US"/>
          </a:p>
        </p:txBody>
      </p:sp>
    </p:spTree>
    <p:extLst>
      <p:ext uri="{BB962C8B-B14F-4D97-AF65-F5344CB8AC3E}">
        <p14:creationId xmlns:p14="http://schemas.microsoft.com/office/powerpoint/2010/main" val="24500324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a:extLst>
              <a:ext uri="{FF2B5EF4-FFF2-40B4-BE49-F238E27FC236}">
                <a16:creationId xmlns:a16="http://schemas.microsoft.com/office/drawing/2014/main" id="{56A64BC9-D68C-734E-9334-8FC25ACE397D}"/>
              </a:ext>
            </a:extLst>
          </p:cNvPr>
          <p:cNvSpPr>
            <a:spLocks noGrp="1" noChangeArrowheads="1"/>
          </p:cNvSpPr>
          <p:nvPr>
            <p:ph type="title"/>
          </p:nvPr>
        </p:nvSpPr>
        <p:spPr>
          <a:xfrm>
            <a:off x="1921932" y="0"/>
            <a:ext cx="8458200" cy="914400"/>
          </a:xfrm>
          <a:noFill/>
        </p:spPr>
        <p:txBody>
          <a:bodyPr vert="horz" lIns="92075" tIns="46038" rIns="92075" bIns="46038" rtlCol="0" anchor="b">
            <a:normAutofit/>
          </a:bodyPr>
          <a:lstStyle/>
          <a:p>
            <a:pPr algn="ctr" defTabSz="914400" rtl="1" eaLnBrk="1" latinLnBrk="0" hangingPunct="1">
              <a:lnSpc>
                <a:spcPct val="90000"/>
              </a:lnSpc>
              <a:spcBef>
                <a:spcPct val="0"/>
              </a:spcBef>
              <a:buNone/>
            </a:pPr>
            <a:r>
              <a:rPr lang="en-US" altLang="en-GB" dirty="0"/>
              <a:t>Transformation</a:t>
            </a:r>
            <a:endParaRPr lang="en-US" altLang="en-GB" sz="3200" b="1" dirty="0">
              <a:latin typeface="+mn-lt"/>
            </a:endParaRPr>
          </a:p>
        </p:txBody>
      </p:sp>
      <p:sp>
        <p:nvSpPr>
          <p:cNvPr id="2053" name="Rectangle 3">
            <a:extLst>
              <a:ext uri="{FF2B5EF4-FFF2-40B4-BE49-F238E27FC236}">
                <a16:creationId xmlns:a16="http://schemas.microsoft.com/office/drawing/2014/main" id="{E7813529-51E1-3F47-898F-5B9F2EC30F9B}"/>
              </a:ext>
            </a:extLst>
          </p:cNvPr>
          <p:cNvSpPr>
            <a:spLocks noGrp="1" noChangeArrowheads="1"/>
          </p:cNvSpPr>
          <p:nvPr>
            <p:ph type="body" idx="1"/>
          </p:nvPr>
        </p:nvSpPr>
        <p:spPr>
          <a:xfrm>
            <a:off x="304799" y="1143000"/>
            <a:ext cx="11692467" cy="5486400"/>
          </a:xfrm>
          <a:noFill/>
        </p:spPr>
        <p:txBody>
          <a:bodyPr vert="horz" lIns="92075" tIns="46038" rIns="92075" bIns="46038" rtlCol="0">
            <a:normAutofit/>
          </a:bodyPr>
          <a:lstStyle/>
          <a:p>
            <a:pPr marL="0" indent="0">
              <a:buNone/>
            </a:pPr>
            <a:r>
              <a:rPr lang="en-US" dirty="0"/>
              <a:t>Transformation is the second step of the ETL process, where all the collected data has been transformed into the same format. It may involve the following tasks:</a:t>
            </a:r>
          </a:p>
          <a:p>
            <a:r>
              <a:rPr lang="en-US" b="1" dirty="0"/>
              <a:t>Filtering:</a:t>
            </a:r>
            <a:r>
              <a:rPr lang="en-US" dirty="0"/>
              <a:t> Only specific attributes are loading into the data warehouse.</a:t>
            </a:r>
          </a:p>
          <a:p>
            <a:r>
              <a:rPr lang="en-US" b="1" dirty="0"/>
              <a:t>Cleaning:</a:t>
            </a:r>
            <a:r>
              <a:rPr lang="en-US" dirty="0"/>
              <a:t> Filling up the null values with specific default values.</a:t>
            </a:r>
          </a:p>
          <a:p>
            <a:r>
              <a:rPr lang="en-US" b="1" dirty="0"/>
              <a:t>Joining:</a:t>
            </a:r>
            <a:r>
              <a:rPr lang="en-US" dirty="0"/>
              <a:t> Join the multiple attributes into the one.</a:t>
            </a:r>
          </a:p>
          <a:p>
            <a:r>
              <a:rPr lang="en-US" b="1" dirty="0"/>
              <a:t>Splitting:</a:t>
            </a:r>
            <a:r>
              <a:rPr lang="en-US" dirty="0"/>
              <a:t> Splitting the single attribute into multiple attributes.</a:t>
            </a:r>
          </a:p>
          <a:p>
            <a:r>
              <a:rPr lang="en-US" b="1" dirty="0"/>
              <a:t>Sorting:</a:t>
            </a:r>
            <a:r>
              <a:rPr lang="en-US" dirty="0"/>
              <a:t> Sort the tuples based on the attributes.</a:t>
            </a:r>
          </a:p>
        </p:txBody>
      </p:sp>
      <p:sp>
        <p:nvSpPr>
          <p:cNvPr id="4" name="Footer Placeholder 4">
            <a:extLst>
              <a:ext uri="{FF2B5EF4-FFF2-40B4-BE49-F238E27FC236}">
                <a16:creationId xmlns:a16="http://schemas.microsoft.com/office/drawing/2014/main" id="{AF491F38-C731-FE54-50FA-1EA9BE03F8CE}"/>
              </a:ext>
            </a:extLst>
          </p:cNvPr>
          <p:cNvSpPr>
            <a:spLocks noGrp="1"/>
          </p:cNvSpPr>
          <p:nvPr>
            <p:ph type="ftr" sz="quarter" idx="11"/>
          </p:nvPr>
        </p:nvSpPr>
        <p:spPr>
          <a:xfrm>
            <a:off x="4165600" y="6356351"/>
            <a:ext cx="3860800" cy="365125"/>
          </a:xfrm>
        </p:spPr>
        <p:txBody>
          <a:bodyPr/>
          <a:lstStyle/>
          <a:p>
            <a:r>
              <a:rPr lang="en-US"/>
              <a:t>Or Peretz</a:t>
            </a:r>
          </a:p>
        </p:txBody>
      </p:sp>
      <p:sp>
        <p:nvSpPr>
          <p:cNvPr id="5" name="Slide Number Placeholder 5">
            <a:extLst>
              <a:ext uri="{FF2B5EF4-FFF2-40B4-BE49-F238E27FC236}">
                <a16:creationId xmlns:a16="http://schemas.microsoft.com/office/drawing/2014/main" id="{9E7051C9-C2C0-D16E-F6A4-9B8C98775696}"/>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17</a:t>
            </a:fld>
            <a:endParaRPr lang="en-US"/>
          </a:p>
        </p:txBody>
      </p:sp>
    </p:spTree>
    <p:extLst>
      <p:ext uri="{BB962C8B-B14F-4D97-AF65-F5344CB8AC3E}">
        <p14:creationId xmlns:p14="http://schemas.microsoft.com/office/powerpoint/2010/main" val="13535593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a:extLst>
              <a:ext uri="{FF2B5EF4-FFF2-40B4-BE49-F238E27FC236}">
                <a16:creationId xmlns:a16="http://schemas.microsoft.com/office/drawing/2014/main" id="{56A64BC9-D68C-734E-9334-8FC25ACE397D}"/>
              </a:ext>
            </a:extLst>
          </p:cNvPr>
          <p:cNvSpPr>
            <a:spLocks noGrp="1" noChangeArrowheads="1"/>
          </p:cNvSpPr>
          <p:nvPr>
            <p:ph type="title"/>
          </p:nvPr>
        </p:nvSpPr>
        <p:spPr>
          <a:xfrm>
            <a:off x="1921932" y="0"/>
            <a:ext cx="8458200" cy="914400"/>
          </a:xfrm>
          <a:noFill/>
        </p:spPr>
        <p:txBody>
          <a:bodyPr vert="horz" lIns="92075" tIns="46038" rIns="92075" bIns="46038" rtlCol="0" anchor="b">
            <a:normAutofit/>
          </a:bodyPr>
          <a:lstStyle/>
          <a:p>
            <a:pPr algn="ctr" defTabSz="914400" rtl="1" eaLnBrk="1" latinLnBrk="0" hangingPunct="1">
              <a:lnSpc>
                <a:spcPct val="90000"/>
              </a:lnSpc>
              <a:spcBef>
                <a:spcPct val="0"/>
              </a:spcBef>
              <a:buNone/>
            </a:pPr>
            <a:r>
              <a:rPr lang="en-US" altLang="en-GB" dirty="0"/>
              <a:t>Loading</a:t>
            </a:r>
            <a:endParaRPr lang="en-US" altLang="en-GB" sz="3200" b="1" dirty="0">
              <a:latin typeface="+mn-lt"/>
            </a:endParaRPr>
          </a:p>
        </p:txBody>
      </p:sp>
      <p:sp>
        <p:nvSpPr>
          <p:cNvPr id="2053" name="Rectangle 3">
            <a:extLst>
              <a:ext uri="{FF2B5EF4-FFF2-40B4-BE49-F238E27FC236}">
                <a16:creationId xmlns:a16="http://schemas.microsoft.com/office/drawing/2014/main" id="{E7813529-51E1-3F47-898F-5B9F2EC30F9B}"/>
              </a:ext>
            </a:extLst>
          </p:cNvPr>
          <p:cNvSpPr>
            <a:spLocks noGrp="1" noChangeArrowheads="1"/>
          </p:cNvSpPr>
          <p:nvPr>
            <p:ph type="body" idx="1"/>
          </p:nvPr>
        </p:nvSpPr>
        <p:spPr>
          <a:xfrm>
            <a:off x="304799" y="1143000"/>
            <a:ext cx="11692467" cy="5486400"/>
          </a:xfrm>
          <a:noFill/>
        </p:spPr>
        <p:txBody>
          <a:bodyPr vert="horz" lIns="92075" tIns="46038" rIns="92075" bIns="46038" rtlCol="0">
            <a:normAutofit/>
          </a:bodyPr>
          <a:lstStyle/>
          <a:p>
            <a:pPr marL="0" indent="0">
              <a:buNone/>
            </a:pPr>
            <a:r>
              <a:rPr lang="en-US" dirty="0"/>
              <a:t>Loading is the final step of the ETL process. </a:t>
            </a:r>
          </a:p>
          <a:p>
            <a:pPr marL="0" indent="0">
              <a:buNone/>
            </a:pPr>
            <a:r>
              <a:rPr lang="en-US" dirty="0"/>
              <a:t>The big chunk of data is collected from various sources, transformed them, </a:t>
            </a:r>
          </a:p>
          <a:p>
            <a:pPr marL="0" indent="0">
              <a:buNone/>
            </a:pPr>
            <a:r>
              <a:rPr lang="en-US" dirty="0"/>
              <a:t>and finally loaded to the data warehouse.</a:t>
            </a:r>
          </a:p>
          <a:p>
            <a:pPr marL="0" indent="0">
              <a:buNone/>
            </a:pPr>
            <a:br>
              <a:rPr lang="en-US" dirty="0"/>
            </a:br>
            <a:endParaRPr lang="en-US" dirty="0"/>
          </a:p>
        </p:txBody>
      </p:sp>
      <p:pic>
        <p:nvPicPr>
          <p:cNvPr id="5122" name="Picture 2" descr="victory Icon - Download victory Icon 2714573 | Noun Project">
            <a:extLst>
              <a:ext uri="{FF2B5EF4-FFF2-40B4-BE49-F238E27FC236}">
                <a16:creationId xmlns:a16="http://schemas.microsoft.com/office/drawing/2014/main" id="{AAE60FEF-9B2B-E949-8BFB-97F2C6E04F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3400" y="3090333"/>
            <a:ext cx="2540000" cy="2540000"/>
          </a:xfrm>
          <a:prstGeom prst="rect">
            <a:avLst/>
          </a:prstGeom>
          <a:noFill/>
          <a:extLst>
            <a:ext uri="{909E8E84-426E-40DD-AFC4-6F175D3DCCD1}">
              <a14:hiddenFill xmlns:a14="http://schemas.microsoft.com/office/drawing/2010/main">
                <a:solidFill>
                  <a:srgbClr val="FFFFFF"/>
                </a:solidFill>
              </a14:hiddenFill>
            </a:ext>
          </a:extLst>
        </p:spPr>
      </p:pic>
      <p:sp>
        <p:nvSpPr>
          <p:cNvPr id="4" name="Footer Placeholder 4">
            <a:extLst>
              <a:ext uri="{FF2B5EF4-FFF2-40B4-BE49-F238E27FC236}">
                <a16:creationId xmlns:a16="http://schemas.microsoft.com/office/drawing/2014/main" id="{F75D4255-DFBC-70FE-61BA-32E3EB53E978}"/>
              </a:ext>
            </a:extLst>
          </p:cNvPr>
          <p:cNvSpPr>
            <a:spLocks noGrp="1"/>
          </p:cNvSpPr>
          <p:nvPr>
            <p:ph type="ftr" sz="quarter" idx="11"/>
          </p:nvPr>
        </p:nvSpPr>
        <p:spPr>
          <a:xfrm>
            <a:off x="4165600" y="6356351"/>
            <a:ext cx="3860800" cy="365125"/>
          </a:xfrm>
        </p:spPr>
        <p:txBody>
          <a:bodyPr/>
          <a:lstStyle/>
          <a:p>
            <a:r>
              <a:rPr lang="en-US"/>
              <a:t>Or Peretz</a:t>
            </a:r>
          </a:p>
        </p:txBody>
      </p:sp>
      <p:sp>
        <p:nvSpPr>
          <p:cNvPr id="5" name="Slide Number Placeholder 5">
            <a:extLst>
              <a:ext uri="{FF2B5EF4-FFF2-40B4-BE49-F238E27FC236}">
                <a16:creationId xmlns:a16="http://schemas.microsoft.com/office/drawing/2014/main" id="{8C2D6975-95CF-403D-7493-0D7E79A763C5}"/>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18</a:t>
            </a:fld>
            <a:endParaRPr lang="en-US"/>
          </a:p>
        </p:txBody>
      </p:sp>
    </p:spTree>
    <p:extLst>
      <p:ext uri="{BB962C8B-B14F-4D97-AF65-F5344CB8AC3E}">
        <p14:creationId xmlns:p14="http://schemas.microsoft.com/office/powerpoint/2010/main" val="8000961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a:extLst>
              <a:ext uri="{FF2B5EF4-FFF2-40B4-BE49-F238E27FC236}">
                <a16:creationId xmlns:a16="http://schemas.microsoft.com/office/drawing/2014/main" id="{56A64BC9-D68C-734E-9334-8FC25ACE397D}"/>
              </a:ext>
            </a:extLst>
          </p:cNvPr>
          <p:cNvSpPr>
            <a:spLocks noGrp="1" noChangeArrowheads="1"/>
          </p:cNvSpPr>
          <p:nvPr>
            <p:ph type="title"/>
          </p:nvPr>
        </p:nvSpPr>
        <p:spPr>
          <a:xfrm>
            <a:off x="1866900" y="136524"/>
            <a:ext cx="8458200" cy="914400"/>
          </a:xfrm>
          <a:noFill/>
        </p:spPr>
        <p:txBody>
          <a:bodyPr vert="horz" lIns="92075" tIns="46038" rIns="92075" bIns="46038" rtlCol="0" anchor="b">
            <a:normAutofit/>
          </a:bodyPr>
          <a:lstStyle/>
          <a:p>
            <a:pPr algn="ctr"/>
            <a:r>
              <a:rPr lang="en-US" altLang="en-GB" sz="3200" b="1" dirty="0">
                <a:latin typeface="+mn-lt"/>
              </a:rPr>
              <a:t>Extract, Load, Transform - ELT</a:t>
            </a:r>
          </a:p>
        </p:txBody>
      </p:sp>
      <p:sp>
        <p:nvSpPr>
          <p:cNvPr id="2053" name="Rectangle 3">
            <a:extLst>
              <a:ext uri="{FF2B5EF4-FFF2-40B4-BE49-F238E27FC236}">
                <a16:creationId xmlns:a16="http://schemas.microsoft.com/office/drawing/2014/main" id="{E7813529-51E1-3F47-898F-5B9F2EC30F9B}"/>
              </a:ext>
            </a:extLst>
          </p:cNvPr>
          <p:cNvSpPr>
            <a:spLocks noGrp="1" noChangeArrowheads="1"/>
          </p:cNvSpPr>
          <p:nvPr>
            <p:ph type="body" idx="1"/>
          </p:nvPr>
        </p:nvSpPr>
        <p:spPr>
          <a:xfrm>
            <a:off x="304799" y="1143000"/>
            <a:ext cx="11692467" cy="5486400"/>
          </a:xfrm>
          <a:noFill/>
        </p:spPr>
        <p:txBody>
          <a:bodyPr vert="horz" lIns="92075" tIns="46038" rIns="92075" bIns="46038" rtlCol="0">
            <a:normAutofit/>
          </a:bodyPr>
          <a:lstStyle/>
          <a:p>
            <a:pPr marL="0" indent="0">
              <a:lnSpc>
                <a:spcPct val="150000"/>
              </a:lnSpc>
              <a:buNone/>
            </a:pPr>
            <a:r>
              <a:rPr lang="en-US" sz="2400" dirty="0"/>
              <a:t>In the ELT approach, after extracting the data, we immediately start loading phase, moving all the data sources into a single, centralized data repository. With today's infrastructure technologies are using the cloud, and systems can now support large storage and scalable compute. </a:t>
            </a:r>
            <a:endParaRPr lang="en-US" altLang="en-GB" sz="2400" dirty="0"/>
          </a:p>
        </p:txBody>
      </p:sp>
      <p:pic>
        <p:nvPicPr>
          <p:cNvPr id="116738" name="Picture 2" descr="Difference between ETL and ELT">
            <a:extLst>
              <a:ext uri="{FF2B5EF4-FFF2-40B4-BE49-F238E27FC236}">
                <a16:creationId xmlns:a16="http://schemas.microsoft.com/office/drawing/2014/main" id="{E04BC032-62B8-614F-BA67-EC0BB777AD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0733" y="3429000"/>
            <a:ext cx="6815667" cy="2434167"/>
          </a:xfrm>
          <a:prstGeom prst="rect">
            <a:avLst/>
          </a:prstGeom>
          <a:noFill/>
          <a:extLst>
            <a:ext uri="{909E8E84-426E-40DD-AFC4-6F175D3DCCD1}">
              <a14:hiddenFill xmlns:a14="http://schemas.microsoft.com/office/drawing/2010/main">
                <a:solidFill>
                  <a:srgbClr val="FFFFFF"/>
                </a:solidFill>
              </a14:hiddenFill>
            </a:ext>
          </a:extLst>
        </p:spPr>
      </p:pic>
      <p:sp>
        <p:nvSpPr>
          <p:cNvPr id="4" name="Footer Placeholder 4">
            <a:extLst>
              <a:ext uri="{FF2B5EF4-FFF2-40B4-BE49-F238E27FC236}">
                <a16:creationId xmlns:a16="http://schemas.microsoft.com/office/drawing/2014/main" id="{FDD59AC5-42CD-AA49-7A95-0C6BE9BAE751}"/>
              </a:ext>
            </a:extLst>
          </p:cNvPr>
          <p:cNvSpPr>
            <a:spLocks noGrp="1"/>
          </p:cNvSpPr>
          <p:nvPr>
            <p:ph type="ftr" sz="quarter" idx="11"/>
          </p:nvPr>
        </p:nvSpPr>
        <p:spPr>
          <a:xfrm>
            <a:off x="4165600" y="6356351"/>
            <a:ext cx="3860800" cy="365125"/>
          </a:xfrm>
        </p:spPr>
        <p:txBody>
          <a:bodyPr/>
          <a:lstStyle/>
          <a:p>
            <a:r>
              <a:rPr lang="en-US"/>
              <a:t>Or Peretz</a:t>
            </a:r>
          </a:p>
        </p:txBody>
      </p:sp>
      <p:sp>
        <p:nvSpPr>
          <p:cNvPr id="5" name="Slide Number Placeholder 5">
            <a:extLst>
              <a:ext uri="{FF2B5EF4-FFF2-40B4-BE49-F238E27FC236}">
                <a16:creationId xmlns:a16="http://schemas.microsoft.com/office/drawing/2014/main" id="{E7EE9512-9FB1-5511-D29A-32FEA9FBB736}"/>
              </a:ext>
            </a:extLst>
          </p:cNvPr>
          <p:cNvSpPr>
            <a:spLocks noGrp="1"/>
          </p:cNvSpPr>
          <p:nvPr>
            <p:ph type="sldNum" sz="quarter" idx="12"/>
          </p:nvPr>
        </p:nvSpPr>
        <p:spPr>
          <a:xfrm>
            <a:off x="8737600" y="6356351"/>
            <a:ext cx="2844800" cy="365125"/>
          </a:xfrm>
        </p:spPr>
        <p:txBody>
          <a:bodyPr/>
          <a:lstStyle/>
          <a:p>
            <a:fld id="{C1FF6DA9-008F-8B48-92A6-B652298478BF}" type="slidenum">
              <a:rPr lang="en-US" smtClean="0"/>
              <a:t>19</a:t>
            </a:fld>
            <a:endParaRPr lang="en-US"/>
          </a:p>
        </p:txBody>
      </p:sp>
    </p:spTree>
    <p:extLst>
      <p:ext uri="{BB962C8B-B14F-4D97-AF65-F5344CB8AC3E}">
        <p14:creationId xmlns:p14="http://schemas.microsoft.com/office/powerpoint/2010/main" val="23850946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ETL vs ELT</a:t>
            </a:r>
          </a:p>
        </p:txBody>
      </p:sp>
      <p:sp>
        <p:nvSpPr>
          <p:cNvPr id="3" name="Content Placeholder 2"/>
          <p:cNvSpPr>
            <a:spLocks noGrp="1"/>
          </p:cNvSpPr>
          <p:nvPr>
            <p:ph idx="1" hasCustomPrompt="1"/>
          </p:nvPr>
        </p:nvSpPr>
        <p:spPr/>
        <p:txBody>
          <a:bodyPr/>
          <a:lstStyle/>
          <a:p>
            <a:pPr lvl="0"/>
            <a:r>
              <a:rPr b="1"/>
              <a:t>ETL</a:t>
            </a:r>
            <a:r>
              <a:t>: transform then load curated target</a:t>
            </a:r>
          </a:p>
          <a:p>
            <a:pPr lvl="0"/>
            <a:r>
              <a:rPr b="1"/>
              <a:t>ELT</a:t>
            </a:r>
            <a:r>
              <a:t>: load raw first, transform in target compute engine</a:t>
            </a:r>
          </a:p>
          <a:p>
            <a:pPr lvl="0"/>
            <a:r>
              <a:t>ETL gives stronger pre-load control</a:t>
            </a:r>
          </a:p>
          <a:p>
            <a:pPr lvl="0"/>
            <a:r>
              <a:t>ELT gives better replay and faster iteration</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CDC Options (How Changes Are Captured)</a:t>
            </a:r>
          </a:p>
        </p:txBody>
      </p:sp>
      <p:sp>
        <p:nvSpPr>
          <p:cNvPr id="3" name="Content Placeholder 2"/>
          <p:cNvSpPr>
            <a:spLocks noGrp="1"/>
          </p:cNvSpPr>
          <p:nvPr>
            <p:ph idx="1" hasCustomPrompt="1"/>
          </p:nvPr>
        </p:nvSpPr>
        <p:spPr/>
        <p:txBody>
          <a:bodyPr/>
          <a:lstStyle/>
          <a:p>
            <a:pPr lvl="0"/>
            <a:r>
              <a:t>Full snapshot compare: simple, expensive at scale</a:t>
            </a:r>
          </a:p>
          <a:p>
            <a:pPr lvl="0"/>
            <a:r>
              <a:t>Timestamp/</a:t>
            </a:r>
            <a:r>
              <a:rPr>
                <a:latin typeface="Courier"/>
              </a:rPr>
              <a:t>updated_at</a:t>
            </a:r>
            <a:r>
              <a:t> filter: easy, misses hard deletes unless modeled</a:t>
            </a:r>
          </a:p>
          <a:p>
            <a:pPr lvl="0"/>
            <a:r>
              <a:t>Log-based CDC: best fidelity, higher operational complexity</a:t>
            </a:r>
          </a:p>
          <a:p>
            <a:pPr lvl="0"/>
            <a:r>
              <a:t>Trigger-based CDC: accurate but can burden source DB</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CDC Example: Orders Table</a:t>
            </a:r>
          </a:p>
        </p:txBody>
      </p:sp>
      <p:sp>
        <p:nvSpPr>
          <p:cNvPr id="3" name="Content Placeholder 2"/>
          <p:cNvSpPr>
            <a:spLocks noGrp="1"/>
          </p:cNvSpPr>
          <p:nvPr>
            <p:ph idx="1" hasCustomPrompt="1"/>
          </p:nvPr>
        </p:nvSpPr>
        <p:spPr/>
        <p:txBody>
          <a:bodyPr/>
          <a:lstStyle/>
          <a:p>
            <a:pPr lvl="0"/>
            <a:r>
              <a:t>Inserts: new orders must appear once</a:t>
            </a:r>
          </a:p>
          <a:p>
            <a:pPr lvl="0"/>
            <a:r>
              <a:t>Updates: status changes from </a:t>
            </a:r>
            <a:r>
              <a:rPr>
                <a:latin typeface="Courier"/>
              </a:rPr>
              <a:t>PENDING</a:t>
            </a:r>
            <a:r>
              <a:t> to </a:t>
            </a:r>
            <a:r>
              <a:rPr>
                <a:latin typeface="Courier"/>
              </a:rPr>
              <a:t>PAID</a:t>
            </a:r>
          </a:p>
          <a:p>
            <a:pPr lvl="0"/>
            <a:r>
              <a:t>Deletes: canceled rows may need tombstone semantics</a:t>
            </a:r>
          </a:p>
          <a:p>
            <a:pPr lvl="0"/>
            <a:r>
              <a:t>Policy must specify how each change type maps to analytics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Ingestion Modes</a:t>
            </a:r>
          </a:p>
        </p:txBody>
      </p:sp>
      <p:sp>
        <p:nvSpPr>
          <p:cNvPr id="3" name="Content Placeholder 2"/>
          <p:cNvSpPr>
            <a:spLocks noGrp="1"/>
          </p:cNvSpPr>
          <p:nvPr>
            <p:ph idx="1" hasCustomPrompt="1"/>
          </p:nvPr>
        </p:nvSpPr>
        <p:spPr/>
        <p:txBody>
          <a:bodyPr/>
          <a:lstStyle/>
          <a:p>
            <a:pPr lvl="0"/>
            <a:r>
              <a:t>Full refresh: easiest correctness, worst cost/latency at scale</a:t>
            </a:r>
          </a:p>
          <a:p>
            <a:pPr lvl="0"/>
            <a:r>
              <a:t>Incremental batch: standard for most BI pipelines</a:t>
            </a:r>
          </a:p>
          <a:p>
            <a:pPr lvl="0"/>
            <a:r>
              <a:t>Micro-batch: lower latency with bounded complexity</a:t>
            </a:r>
          </a:p>
          <a:p>
            <a:pPr lvl="0"/>
            <a:r>
              <a:t>Streaming: lowest latency, highest operational discipline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Source-to-Target Mapping (STTM)</a:t>
            </a:r>
          </a:p>
        </p:txBody>
      </p:sp>
      <p:sp>
        <p:nvSpPr>
          <p:cNvPr id="3" name="Content Placeholder 2"/>
          <p:cNvSpPr>
            <a:spLocks noGrp="1"/>
          </p:cNvSpPr>
          <p:nvPr>
            <p:ph idx="1" hasCustomPrompt="1"/>
          </p:nvPr>
        </p:nvSpPr>
        <p:spPr/>
        <p:txBody>
          <a:bodyPr/>
          <a:lstStyle/>
          <a:p>
            <a:pPr lvl="0"/>
            <a:r>
              <a:t>Source and target schemas rarely match when moving data between systems</a:t>
            </a:r>
          </a:p>
          <a:p>
            <a:pPr lvl="0"/>
            <a:r>
              <a:t>STTM: a set of instructions defining how structure and content transfer from source to target</a:t>
            </a:r>
          </a:p>
          <a:p>
            <a:pPr lvl="0"/>
            <a:r>
              <a:t>Critical when integrating multiple sources with different schemas into a central warehouse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STTM: What It Covers</a:t>
            </a:r>
          </a:p>
        </p:txBody>
      </p:sp>
      <p:sp>
        <p:nvSpPr>
          <p:cNvPr id="3" name="Content Placeholder 2"/>
          <p:cNvSpPr>
            <a:spLocks noGrp="1"/>
          </p:cNvSpPr>
          <p:nvPr>
            <p:ph idx="1" hasCustomPrompt="1"/>
          </p:nvPr>
        </p:nvSpPr>
        <p:spPr/>
        <p:txBody>
          <a:bodyPr/>
          <a:lstStyle/>
          <a:p>
            <a:pPr lvl="0"/>
            <a:r>
              <a:t>Multiple data types and encodings</a:t>
            </a:r>
          </a:p>
          <a:p>
            <a:pPr lvl="0"/>
            <a:r>
              <a:t>Unknown members and default values</a:t>
            </a:r>
          </a:p>
          <a:p>
            <a:pPr lvl="0"/>
            <a:r>
              <a:t>Foreign keys and referential integrity</a:t>
            </a:r>
          </a:p>
          <a:p>
            <a:pPr lvl="0"/>
            <a:r>
              <a:t>Metadata and lineage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STTM Mapping Flow</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26</a:t>
            </a:fld>
            <a:endParaRPr lang="en-US"/>
          </a:p>
        </p:txBody>
      </p:sp>
      <p:pic>
        <p:nvPicPr>
          <p:cNvPr id="4" name="Picture 2" descr="Source to Target Mapping: 6 Easy Steps">
            <a:extLst>
              <a:ext uri="{FF2B5EF4-FFF2-40B4-BE49-F238E27FC236}">
                <a16:creationId xmlns:a16="http://schemas.microsoft.com/office/drawing/2014/main" id="{2C766BF5-AC97-2F7E-BEEE-237EB79D7EB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39" t="25775" r="-639" b="-2438"/>
          <a:stretch/>
        </p:blipFill>
        <p:spPr bwMode="auto">
          <a:xfrm>
            <a:off x="1264950" y="2019751"/>
            <a:ext cx="9662099" cy="373448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STTM Process Types</a:t>
            </a:r>
          </a:p>
        </p:txBody>
      </p:sp>
      <p:sp>
        <p:nvSpPr>
          <p:cNvPr id="3" name="Content Placeholder 2"/>
          <p:cNvSpPr>
            <a:spLocks noGrp="1"/>
          </p:cNvSpPr>
          <p:nvPr>
            <p:ph idx="1" hasCustomPrompt="1"/>
          </p:nvPr>
        </p:nvSpPr>
        <p:spPr/>
        <p:txBody>
          <a:bodyPr/>
          <a:lstStyle/>
          <a:p>
            <a:pPr lvl="0"/>
            <a:r>
              <a:rPr b="1"/>
              <a:t>Data Integration</a:t>
            </a:r>
            <a:r>
              <a:t>: operational sources -&gt; warehouse targets</a:t>
            </a:r>
          </a:p>
          <a:p>
            <a:pPr lvl="0"/>
            <a:r>
              <a:rPr b="1"/>
              <a:t>Data Migration</a:t>
            </a:r>
            <a:r>
              <a:t>: one-time movement between systems</a:t>
            </a:r>
          </a:p>
          <a:p>
            <a:pPr lvl="0"/>
            <a:r>
              <a:rPr b="1"/>
              <a:t>Data Transformation</a:t>
            </a:r>
            <a:r>
              <a:t>: convert formats, datatypes, and encodings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Idempotency Rule</a:t>
            </a:r>
          </a:p>
        </p:txBody>
      </p:sp>
      <mc:AlternateContent xmlns:mc="http://schemas.openxmlformats.org/markup-compatibility/2006">
        <mc:Choice xmlns:a14="http://schemas.microsoft.com/office/drawing/2010/main" Requires="a14">
          <p:sp>
            <p:nvSpPr>
              <p:cNvPr id="3" name="Content Placeholder 2"/>
              <p:cNvSpPr>
                <a:spLocks noGrp="1"/>
              </p:cNvSpPr>
              <p:nvPr>
                <p:ph idx="1" hasCustomPrompt="1"/>
              </p:nvPr>
            </p:nvSpPr>
            <p:spPr/>
            <p:txBody>
              <a:bodyPr/>
              <a:lstStyle/>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𝑓</m:t>
                      </m:r>
                      <m:r>
                        <a:rPr>
                          <a:latin typeface="Cambria Math" panose="02040503050406030204" pitchFamily="18" charset="0"/>
                        </a:rPr>
                        <m:t>(</m:t>
                      </m:r>
                      <m:r>
                        <a:rPr>
                          <a:latin typeface="Cambria Math" panose="02040503050406030204" pitchFamily="18" charset="0"/>
                        </a:rPr>
                        <m:t>𝑓</m:t>
                      </m:r>
                      <m:r>
                        <a:rPr>
                          <a:latin typeface="Cambria Math" panose="02040503050406030204" pitchFamily="18" charset="0"/>
                        </a:rPr>
                        <m:t>(</m:t>
                      </m:r>
                      <m:r>
                        <a:rPr>
                          <a:latin typeface="Cambria Math" panose="02040503050406030204" pitchFamily="18" charset="0"/>
                        </a:rPr>
                        <m:t>𝐷</m:t>
                      </m:r>
                      <m:r>
                        <a:rPr>
                          <a:latin typeface="Cambria Math" panose="02040503050406030204" pitchFamily="18" charset="0"/>
                        </a:rPr>
                        <m:t>))=</m:t>
                      </m:r>
                      <m:r>
                        <a:rPr>
                          <a:latin typeface="Cambria Math" panose="02040503050406030204" pitchFamily="18" charset="0"/>
                        </a:rPr>
                        <m:t>𝑓</m:t>
                      </m:r>
                      <m:r>
                        <a:rPr>
                          <a:latin typeface="Cambria Math" panose="02040503050406030204" pitchFamily="18" charset="0"/>
                        </a:rPr>
                        <m:t>(</m:t>
                      </m:r>
                      <m:r>
                        <a:rPr>
                          <a:latin typeface="Cambria Math" panose="02040503050406030204" pitchFamily="18" charset="0"/>
                        </a:rPr>
                        <m:t>𝐷</m:t>
                      </m:r>
                      <m:r>
                        <a:rPr>
                          <a:latin typeface="Cambria Math" panose="02040503050406030204" pitchFamily="18" charset="0"/>
                        </a:rPr>
                        <m:t>)</m:t>
                      </m:r>
                    </m:oMath>
                  </m:oMathPara>
                </a14:m>
                <a:endParaRPr dirty="0"/>
              </a:p>
              <a:p>
                <a:pPr marL="0" lvl="0" indent="0">
                  <a:buNone/>
                </a:pPr>
                <a:r>
                  <a:rPr dirty="0"/>
                  <a:t>- Reprocessing same input cannot change final target state - Requires stable keys and deterministic transformation rules - Implement with conflict-safe </a:t>
                </a:r>
                <a:r>
                  <a:rPr dirty="0">
                    <a:latin typeface="Courier"/>
                  </a:rPr>
                  <a:t>MERGE</a:t>
                </a:r>
                <a:r>
                  <a:rPr dirty="0"/>
                  <a:t>/</a:t>
                </a:r>
                <a:r>
                  <a:rPr dirty="0" err="1"/>
                  <a:t>upsert</a:t>
                </a:r>
                <a:r>
                  <a:rPr dirty="0"/>
                  <a:t> patterns</a:t>
                </a:r>
              </a:p>
            </p:txBody>
          </p:sp>
        </mc:Choice>
        <mc:Fallback>
          <p:sp>
            <p:nvSpPr>
              <p:cNvPr id="3" name="Content Placeholder 2"/>
              <p:cNvSpPr>
                <a:spLocks noGrp="1" noRot="1" noChangeAspect="1" noMove="1" noResize="1" noEditPoints="1" noAdjustHandles="1" noChangeArrowheads="1" noChangeShapeType="1" noTextEdit="1"/>
              </p:cNvSpPr>
              <p:nvPr>
                <p:ph idx="1" hasCustomPrompt="1"/>
              </p:nvPr>
            </p:nvSpPr>
            <p:spPr>
              <a:blipFill>
                <a:blip r:embed="rId2"/>
                <a:stretch>
                  <a:fillRect l="-1192"/>
                </a:stretch>
              </a:blipFill>
            </p:spPr>
            <p:txBody>
              <a:bodyPr/>
              <a:lstStyle/>
              <a:p>
                <a:r>
                  <a:rPr lang="he-IL">
                    <a:noFill/>
                  </a:rPr>
                  <a:t> </a:t>
                </a:r>
              </a:p>
            </p:txBody>
          </p:sp>
        </mc:Fallback>
      </mc:AlternateContent>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SQL Pattern: Dedup in Staging</a:t>
            </a:r>
          </a:p>
        </p:txBody>
      </p:sp>
      <p:sp>
        <p:nvSpPr>
          <p:cNvPr id="3" name="Content Placeholder 2"/>
          <p:cNvSpPr>
            <a:spLocks noGrp="1"/>
          </p:cNvSpPr>
          <p:nvPr>
            <p:ph idx="1" hasCustomPrompt="1"/>
          </p:nvPr>
        </p:nvSpPr>
        <p:spPr/>
        <p:txBody>
          <a:bodyPr>
            <a:normAutofit fontScale="85000" lnSpcReduction="20000"/>
          </a:bodyPr>
          <a:lstStyle/>
          <a:p>
            <a:pPr lvl="0" indent="0">
              <a:buNone/>
            </a:pPr>
            <a:r>
              <a:rPr b="1">
                <a:solidFill>
                  <a:srgbClr val="007020"/>
                </a:solidFill>
                <a:latin typeface="Courier"/>
              </a:rPr>
              <a:t>WITH</a:t>
            </a:r>
            <a:r>
              <a:rPr>
                <a:latin typeface="Courier"/>
              </a:rPr>
              <a:t> ranked </a:t>
            </a:r>
            <a:r>
              <a:rPr b="1">
                <a:solidFill>
                  <a:srgbClr val="007020"/>
                </a:solidFill>
                <a:latin typeface="Courier"/>
              </a:rPr>
              <a:t>AS</a:t>
            </a:r>
            <a:r>
              <a:rPr>
                <a:latin typeface="Courier"/>
              </a:rPr>
              <a:t> (</a:t>
            </a:r>
            <a:br/>
            <a:r>
              <a:rPr>
                <a:latin typeface="Courier"/>
              </a:rPr>
              <a:t>  </a:t>
            </a:r>
            <a:r>
              <a:rPr b="1">
                <a:solidFill>
                  <a:srgbClr val="007020"/>
                </a:solidFill>
                <a:latin typeface="Courier"/>
              </a:rPr>
              <a:t>SELECT</a:t>
            </a:r>
            <a:r>
              <a:rPr>
                <a:latin typeface="Courier"/>
              </a:rPr>
              <a:t> </a:t>
            </a:r>
            <a:r>
              <a:rPr>
                <a:solidFill>
                  <a:srgbClr val="666666"/>
                </a:solidFill>
                <a:latin typeface="Courier"/>
              </a:rPr>
              <a:t>*</a:t>
            </a:r>
            <a:r>
              <a:rPr>
                <a:latin typeface="Courier"/>
              </a:rPr>
              <a:t>,</a:t>
            </a:r>
            <a:br/>
            <a:r>
              <a:rPr>
                <a:latin typeface="Courier"/>
              </a:rPr>
              <a:t>         </a:t>
            </a:r>
            <a:r>
              <a:rPr>
                <a:solidFill>
                  <a:srgbClr val="06287E"/>
                </a:solidFill>
                <a:latin typeface="Courier"/>
              </a:rPr>
              <a:t>ROW_NUMBER</a:t>
            </a:r>
            <a:r>
              <a:rPr>
                <a:latin typeface="Courier"/>
              </a:rPr>
              <a:t>() </a:t>
            </a:r>
            <a:r>
              <a:rPr b="1">
                <a:solidFill>
                  <a:srgbClr val="007020"/>
                </a:solidFill>
                <a:latin typeface="Courier"/>
              </a:rPr>
              <a:t>OVER</a:t>
            </a:r>
            <a:r>
              <a:rPr>
                <a:latin typeface="Courier"/>
              </a:rPr>
              <a:t> (</a:t>
            </a:r>
            <a:br/>
            <a:r>
              <a:rPr>
                <a:latin typeface="Courier"/>
              </a:rPr>
              <a:t>           </a:t>
            </a:r>
            <a:r>
              <a:rPr b="1">
                <a:solidFill>
                  <a:srgbClr val="007020"/>
                </a:solidFill>
                <a:latin typeface="Courier"/>
              </a:rPr>
              <a:t>PARTITION</a:t>
            </a:r>
            <a:r>
              <a:rPr>
                <a:latin typeface="Courier"/>
              </a:rPr>
              <a:t> </a:t>
            </a:r>
            <a:r>
              <a:rPr b="1">
                <a:solidFill>
                  <a:srgbClr val="007020"/>
                </a:solidFill>
                <a:latin typeface="Courier"/>
              </a:rPr>
              <a:t>BY</a:t>
            </a:r>
            <a:r>
              <a:rPr>
                <a:latin typeface="Courier"/>
              </a:rPr>
              <a:t> event_id</a:t>
            </a:r>
            <a:br/>
            <a:r>
              <a:rPr>
                <a:latin typeface="Courier"/>
              </a:rPr>
              <a:t>           </a:t>
            </a:r>
            <a:r>
              <a:rPr b="1">
                <a:solidFill>
                  <a:srgbClr val="007020"/>
                </a:solidFill>
                <a:latin typeface="Courier"/>
              </a:rPr>
              <a:t>ORDER</a:t>
            </a:r>
            <a:r>
              <a:rPr>
                <a:latin typeface="Courier"/>
              </a:rPr>
              <a:t> </a:t>
            </a:r>
            <a:r>
              <a:rPr b="1">
                <a:solidFill>
                  <a:srgbClr val="007020"/>
                </a:solidFill>
                <a:latin typeface="Courier"/>
              </a:rPr>
              <a:t>BY</a:t>
            </a:r>
            <a:r>
              <a:rPr>
                <a:latin typeface="Courier"/>
              </a:rPr>
              <a:t> ingest_ts </a:t>
            </a:r>
            <a:r>
              <a:rPr b="1">
                <a:solidFill>
                  <a:srgbClr val="007020"/>
                </a:solidFill>
                <a:latin typeface="Courier"/>
              </a:rPr>
              <a:t>DESC</a:t>
            </a:r>
            <a:r>
              <a:rPr>
                <a:latin typeface="Courier"/>
              </a:rPr>
              <a:t>, source_seq </a:t>
            </a:r>
            <a:r>
              <a:rPr b="1">
                <a:solidFill>
                  <a:srgbClr val="007020"/>
                </a:solidFill>
                <a:latin typeface="Courier"/>
              </a:rPr>
              <a:t>DESC</a:t>
            </a:r>
            <a:br/>
            <a:r>
              <a:rPr>
                <a:latin typeface="Courier"/>
              </a:rPr>
              <a:t>         ) </a:t>
            </a:r>
            <a:r>
              <a:rPr b="1">
                <a:solidFill>
                  <a:srgbClr val="007020"/>
                </a:solidFill>
                <a:latin typeface="Courier"/>
              </a:rPr>
              <a:t>AS</a:t>
            </a:r>
            <a:r>
              <a:rPr>
                <a:latin typeface="Courier"/>
              </a:rPr>
              <a:t> rn</a:t>
            </a:r>
            <a:br/>
            <a:r>
              <a:rPr>
                <a:latin typeface="Courier"/>
              </a:rPr>
              <a:t>  </a:t>
            </a:r>
            <a:r>
              <a:rPr b="1">
                <a:solidFill>
                  <a:srgbClr val="007020"/>
                </a:solidFill>
                <a:latin typeface="Courier"/>
              </a:rPr>
              <a:t>FROM</a:t>
            </a:r>
            <a:r>
              <a:rPr>
                <a:latin typeface="Courier"/>
              </a:rPr>
              <a:t> stg_events</a:t>
            </a:r>
            <a:br/>
            <a:r>
              <a:rPr>
                <a:latin typeface="Courier"/>
              </a:rPr>
              <a:t>)</a:t>
            </a:r>
            <a:br/>
            <a:r>
              <a:rPr b="1">
                <a:solidFill>
                  <a:srgbClr val="007020"/>
                </a:solidFill>
                <a:latin typeface="Courier"/>
              </a:rPr>
              <a:t>SELECT</a:t>
            </a:r>
            <a:r>
              <a:rPr>
                <a:latin typeface="Courier"/>
              </a:rPr>
              <a:t> </a:t>
            </a:r>
            <a:r>
              <a:rPr>
                <a:solidFill>
                  <a:srgbClr val="666666"/>
                </a:solidFill>
                <a:latin typeface="Courier"/>
              </a:rPr>
              <a:t>*</a:t>
            </a:r>
            <a:br/>
            <a:r>
              <a:rPr b="1">
                <a:solidFill>
                  <a:srgbClr val="007020"/>
                </a:solidFill>
                <a:latin typeface="Courier"/>
              </a:rPr>
              <a:t>FROM</a:t>
            </a:r>
            <a:r>
              <a:rPr>
                <a:latin typeface="Courier"/>
              </a:rPr>
              <a:t> ranked</a:t>
            </a:r>
            <a:br/>
            <a:r>
              <a:rPr b="1">
                <a:solidFill>
                  <a:srgbClr val="007020"/>
                </a:solidFill>
                <a:latin typeface="Courier"/>
              </a:rPr>
              <a:t>WHERE</a:t>
            </a:r>
            <a:r>
              <a:rPr>
                <a:latin typeface="Courier"/>
              </a:rPr>
              <a:t> rn </a:t>
            </a:r>
            <a:r>
              <a:rPr>
                <a:solidFill>
                  <a:srgbClr val="666666"/>
                </a:solidFill>
                <a:latin typeface="Courier"/>
              </a:rPr>
              <a:t>=</a:t>
            </a:r>
            <a:r>
              <a:rPr>
                <a:latin typeface="Courier"/>
              </a:rPr>
              <a:t> </a:t>
            </a:r>
            <a:r>
              <a:rPr>
                <a:solidFill>
                  <a:srgbClr val="40A070"/>
                </a:solidFill>
                <a:latin typeface="Courier"/>
              </a:rPr>
              <a:t>1</a:t>
            </a:r>
            <a:r>
              <a:rPr>
                <a:latin typeface="Courier"/>
              </a:rPr>
              <a:t>;</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SQL Pattern: Idempotent MERGE</a:t>
            </a:r>
          </a:p>
        </p:txBody>
      </p:sp>
      <p:sp>
        <p:nvSpPr>
          <p:cNvPr id="3" name="Content Placeholder 2"/>
          <p:cNvSpPr>
            <a:spLocks noGrp="1"/>
          </p:cNvSpPr>
          <p:nvPr>
            <p:ph idx="1" hasCustomPrompt="1"/>
          </p:nvPr>
        </p:nvSpPr>
        <p:spPr/>
        <p:txBody>
          <a:bodyPr>
            <a:normAutofit fontScale="85000" lnSpcReduction="10000"/>
          </a:bodyPr>
          <a:lstStyle/>
          <a:p>
            <a:pPr lvl="0" indent="0">
              <a:buNone/>
            </a:pPr>
            <a:r>
              <a:rPr b="1">
                <a:solidFill>
                  <a:srgbClr val="007020"/>
                </a:solidFill>
                <a:latin typeface="Courier"/>
              </a:rPr>
              <a:t>MERGE</a:t>
            </a:r>
            <a:r>
              <a:rPr>
                <a:latin typeface="Courier"/>
              </a:rPr>
              <a:t> </a:t>
            </a:r>
            <a:r>
              <a:rPr b="1">
                <a:solidFill>
                  <a:srgbClr val="007020"/>
                </a:solidFill>
                <a:latin typeface="Courier"/>
              </a:rPr>
              <a:t>INTO</a:t>
            </a:r>
            <a:r>
              <a:rPr>
                <a:latin typeface="Courier"/>
              </a:rPr>
              <a:t> events_clean t</a:t>
            </a:r>
            <a:br/>
            <a:r>
              <a:rPr b="1">
                <a:solidFill>
                  <a:srgbClr val="007020"/>
                </a:solidFill>
                <a:latin typeface="Courier"/>
              </a:rPr>
              <a:t>USING</a:t>
            </a:r>
            <a:r>
              <a:rPr>
                <a:latin typeface="Courier"/>
              </a:rPr>
              <a:t> stg_events_dedup s</a:t>
            </a:r>
            <a:br/>
            <a:r>
              <a:rPr b="1">
                <a:solidFill>
                  <a:srgbClr val="007020"/>
                </a:solidFill>
                <a:latin typeface="Courier"/>
              </a:rPr>
              <a:t>ON</a:t>
            </a:r>
            <a:r>
              <a:rPr>
                <a:latin typeface="Courier"/>
              </a:rPr>
              <a:t> t.event_id </a:t>
            </a:r>
            <a:r>
              <a:rPr>
                <a:solidFill>
                  <a:srgbClr val="666666"/>
                </a:solidFill>
                <a:latin typeface="Courier"/>
              </a:rPr>
              <a:t>=</a:t>
            </a:r>
            <a:r>
              <a:rPr>
                <a:latin typeface="Courier"/>
              </a:rPr>
              <a:t> s.event_id</a:t>
            </a:r>
            <a:br/>
            <a:r>
              <a:rPr b="1">
                <a:solidFill>
                  <a:srgbClr val="007020"/>
                </a:solidFill>
                <a:latin typeface="Courier"/>
              </a:rPr>
              <a:t>WHEN</a:t>
            </a:r>
            <a:r>
              <a:rPr>
                <a:latin typeface="Courier"/>
              </a:rPr>
              <a:t> MATCHED </a:t>
            </a:r>
            <a:r>
              <a:rPr b="1">
                <a:solidFill>
                  <a:srgbClr val="007020"/>
                </a:solidFill>
                <a:latin typeface="Courier"/>
              </a:rPr>
              <a:t>AND</a:t>
            </a:r>
            <a:r>
              <a:rPr>
                <a:latin typeface="Courier"/>
              </a:rPr>
              <a:t> t.hash_diff </a:t>
            </a:r>
            <a:r>
              <a:rPr>
                <a:solidFill>
                  <a:srgbClr val="666666"/>
                </a:solidFill>
                <a:latin typeface="Courier"/>
              </a:rPr>
              <a:t>&lt;&gt;</a:t>
            </a:r>
            <a:r>
              <a:rPr>
                <a:latin typeface="Courier"/>
              </a:rPr>
              <a:t> s.hash_diff </a:t>
            </a:r>
            <a:r>
              <a:rPr b="1">
                <a:solidFill>
                  <a:srgbClr val="007020"/>
                </a:solidFill>
                <a:latin typeface="Courier"/>
              </a:rPr>
              <a:t>THEN</a:t>
            </a:r>
            <a:br/>
            <a:r>
              <a:rPr>
                <a:latin typeface="Courier"/>
              </a:rPr>
              <a:t>  </a:t>
            </a:r>
            <a:r>
              <a:rPr b="1">
                <a:solidFill>
                  <a:srgbClr val="007020"/>
                </a:solidFill>
                <a:latin typeface="Courier"/>
              </a:rPr>
              <a:t>UPDATE</a:t>
            </a:r>
            <a:r>
              <a:rPr>
                <a:latin typeface="Courier"/>
              </a:rPr>
              <a:t> </a:t>
            </a:r>
            <a:r>
              <a:rPr b="1">
                <a:solidFill>
                  <a:srgbClr val="007020"/>
                </a:solidFill>
                <a:latin typeface="Courier"/>
              </a:rPr>
              <a:t>SET</a:t>
            </a:r>
            <a:r>
              <a:rPr>
                <a:latin typeface="Courier"/>
              </a:rPr>
              <a:t> event_type </a:t>
            </a:r>
            <a:r>
              <a:rPr>
                <a:solidFill>
                  <a:srgbClr val="666666"/>
                </a:solidFill>
                <a:latin typeface="Courier"/>
              </a:rPr>
              <a:t>=</a:t>
            </a:r>
            <a:r>
              <a:rPr>
                <a:latin typeface="Courier"/>
              </a:rPr>
              <a:t> s.event_type, event_time </a:t>
            </a:r>
            <a:r>
              <a:rPr>
                <a:solidFill>
                  <a:srgbClr val="666666"/>
                </a:solidFill>
                <a:latin typeface="Courier"/>
              </a:rPr>
              <a:t>=</a:t>
            </a:r>
            <a:r>
              <a:rPr>
                <a:latin typeface="Courier"/>
              </a:rPr>
              <a:t> s.event_time</a:t>
            </a:r>
            <a:br/>
            <a:r>
              <a:rPr b="1">
                <a:solidFill>
                  <a:srgbClr val="007020"/>
                </a:solidFill>
                <a:latin typeface="Courier"/>
              </a:rPr>
              <a:t>WHEN</a:t>
            </a:r>
            <a:r>
              <a:rPr>
                <a:latin typeface="Courier"/>
              </a:rPr>
              <a:t> </a:t>
            </a:r>
            <a:r>
              <a:rPr b="1">
                <a:solidFill>
                  <a:srgbClr val="007020"/>
                </a:solidFill>
                <a:latin typeface="Courier"/>
              </a:rPr>
              <a:t>NOT</a:t>
            </a:r>
            <a:r>
              <a:rPr>
                <a:latin typeface="Courier"/>
              </a:rPr>
              <a:t> MATCHED </a:t>
            </a:r>
            <a:r>
              <a:rPr b="1">
                <a:solidFill>
                  <a:srgbClr val="007020"/>
                </a:solidFill>
                <a:latin typeface="Courier"/>
              </a:rPr>
              <a:t>THEN</a:t>
            </a:r>
            <a:br/>
            <a:r>
              <a:rPr>
                <a:latin typeface="Courier"/>
              </a:rPr>
              <a:t>  </a:t>
            </a:r>
            <a:r>
              <a:rPr b="1">
                <a:solidFill>
                  <a:srgbClr val="007020"/>
                </a:solidFill>
                <a:latin typeface="Courier"/>
              </a:rPr>
              <a:t>INSERT</a:t>
            </a:r>
            <a:r>
              <a:rPr>
                <a:latin typeface="Courier"/>
              </a:rPr>
              <a:t> (event_id, user_id, event_type, event_time)</a:t>
            </a:r>
            <a:br/>
            <a:r>
              <a:rPr>
                <a:latin typeface="Courier"/>
              </a:rPr>
              <a:t>  </a:t>
            </a:r>
            <a:r>
              <a:rPr b="1">
                <a:solidFill>
                  <a:srgbClr val="007020"/>
                </a:solidFill>
                <a:latin typeface="Courier"/>
              </a:rPr>
              <a:t>VALUES</a:t>
            </a:r>
            <a:r>
              <a:rPr>
                <a:latin typeface="Courier"/>
              </a:rPr>
              <a:t> (s.event_id, s.user_id, s.event_type, s.event_time);</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pPr marL="0" lvl="0" indent="0">
              <a:buNone/>
            </a:pPr>
            <a:r>
              <a:t>MERGE vs Partition Overwrite</a:t>
            </a:r>
          </a:p>
        </p:txBody>
      </p:sp>
      <p:sp>
        <p:nvSpPr>
          <p:cNvPr id="3" name="Content Placeholder 2"/>
          <p:cNvSpPr>
            <a:spLocks noGrp="1"/>
          </p:cNvSpPr>
          <p:nvPr>
            <p:ph idx="1" hasCustomPrompt="1"/>
          </p:nvPr>
        </p:nvSpPr>
        <p:spPr/>
        <p:txBody>
          <a:bodyPr/>
          <a:lstStyle/>
          <a:p>
            <a:pPr lvl="0"/>
            <a:r>
              <a:rPr>
                <a:latin typeface="Courier"/>
              </a:rPr>
              <a:t>MERGE</a:t>
            </a:r>
            <a:r>
              <a:t>: row-level precision, higher CPU and index pressure</a:t>
            </a:r>
          </a:p>
          <a:p>
            <a:pPr lvl="0"/>
            <a:r>
              <a:t>Overwrite partition: simple full-slice rebuild</a:t>
            </a:r>
          </a:p>
          <a:p>
            <a:pPr lvl="0"/>
            <a:r>
              <a:t>Use </a:t>
            </a:r>
            <a:r>
              <a:rPr>
                <a:latin typeface="Courier"/>
              </a:rPr>
              <a:t>MERGE</a:t>
            </a:r>
            <a:r>
              <a:t> for mixed insert/update streams</a:t>
            </a:r>
          </a:p>
          <a:p>
            <a:pPr lvl="0"/>
            <a:r>
              <a:t>Use overwrite for controlled historical backfills</a:t>
            </a:r>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1322</Words>
  <Application>Microsoft Macintosh PowerPoint</Application>
  <PresentationFormat>מסך רחב</PresentationFormat>
  <Paragraphs>186</Paragraphs>
  <Slides>31</Slides>
  <Notes>5</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31</vt:i4>
      </vt:variant>
    </vt:vector>
  </HeadingPairs>
  <TitlesOfParts>
    <vt:vector size="37" baseType="lpstr">
      <vt:lpstr>Aptos</vt:lpstr>
      <vt:lpstr>Arial</vt:lpstr>
      <vt:lpstr>Calibri</vt:lpstr>
      <vt:lpstr>Cambria Math</vt:lpstr>
      <vt:lpstr>Courier</vt:lpstr>
      <vt:lpstr>Office Theme</vt:lpstr>
      <vt:lpstr>Week 4: DWH + ETL (Part 1)</vt:lpstr>
      <vt:lpstr>Purpose</vt:lpstr>
      <vt:lpstr>Learning Objectives</vt:lpstr>
      <vt:lpstr>Why This Topic Is Critical</vt:lpstr>
      <vt:lpstr>Incident: Revenue Doubled After Rerun</vt:lpstr>
      <vt:lpstr>What a Reliable Ingestion Contract Includes</vt:lpstr>
      <vt:lpstr>Core Stores: Warehouse vs Lake</vt:lpstr>
      <vt:lpstr>Data Warehouse Definition</vt:lpstr>
      <vt:lpstr>Data Warehouse Definition</vt:lpstr>
      <vt:lpstr>Why Separate Data Warehouse?</vt:lpstr>
      <vt:lpstr>DWH vs Lake</vt:lpstr>
      <vt:lpstr>Schema-on-Write vs Schema-on-Read</vt:lpstr>
      <vt:lpstr>Schema-on-Write vs Schema-on-Read</vt:lpstr>
      <vt:lpstr>Hybrid Architecture (Common Pattern)</vt:lpstr>
      <vt:lpstr>Extract, Transform, Load - ETL</vt:lpstr>
      <vt:lpstr>Extraction</vt:lpstr>
      <vt:lpstr>Transformation</vt:lpstr>
      <vt:lpstr>Loading</vt:lpstr>
      <vt:lpstr>Extract, Load, Transform - ELT</vt:lpstr>
      <vt:lpstr>ETL vs ELT</vt:lpstr>
      <vt:lpstr>CDC Options (How Changes Are Captured)</vt:lpstr>
      <vt:lpstr>CDC Example: Orders Table</vt:lpstr>
      <vt:lpstr>Ingestion Modes</vt:lpstr>
      <vt:lpstr>Source-to-Target Mapping (STTM)</vt:lpstr>
      <vt:lpstr>STTM: What It Covers</vt:lpstr>
      <vt:lpstr>STTM Mapping Flow</vt:lpstr>
      <vt:lpstr>STTM Process Types</vt:lpstr>
      <vt:lpstr>Idempotency Rule</vt:lpstr>
      <vt:lpstr>SQL Pattern: Dedup in Staging</vt:lpstr>
      <vt:lpstr>SQL Pattern: Idempotent MERGE</vt:lpstr>
      <vt:lpstr>MERGE vs Partition Overwrite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emplate>Facet</Template>
  <TotalTime>12</TotalTime>
  <Words>18</Words>
  <Application>Microsoft Macintosh PowerPoint</Application>
  <PresentationFormat>מסך רחב</PresentationFormat>
  <Paragraphs>12</Paragraphs>
  <Slides>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6</vt:i4>
      </vt:variant>
    </vt:vector>
  </HeadingPairs>
  <TitlesOfParts>
    <vt:vector size="10" baseType="lpstr">
      <vt:lpstr>Aptos</vt:lpstr>
      <vt:lpstr>Arial</vt:lpstr>
      <vt:lpstr>Calibri</vt:lpstr>
      <vt:lpstr>Office Theme</vt:lpstr>
      <vt:lpstr>מצגת של PowerPoint‏</vt:lpstr>
      <vt:lpstr>מצגת של PowerPoint‏</vt:lpstr>
      <vt:lpstr>מצגת של PowerPoint‏</vt:lpstr>
      <vt:lpstr>מצגת של PowerPoint‏</vt:lpstr>
      <vt:lpstr>מצגת של PowerPoint‏</vt:lpstr>
      <vt:lpstr>מצגת של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Or Perets</cp:lastModifiedBy>
  <cp:revision>2</cp:revision>
  <dcterms:created xsi:type="dcterms:W3CDTF">2026-02-10T08:11:25Z</dcterms:created>
  <dcterms:modified xsi:type="dcterms:W3CDTF">2026-02-10T09:14:11Z</dcterms:modified>
</cp:coreProperties>
</file>