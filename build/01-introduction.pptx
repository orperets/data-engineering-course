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14"/>
    <p:restoredTop sz="94719"/>
  </p:normalViewPr>
  <p:slideViewPr>
    <p:cSldViewPr snapToGrid="0" snapToObjects="1">
      <p:cViewPr varScale="1">
        <p:scale>
          <a:sx d="100" n="158"/>
          <a:sy d="100" n="158"/>
        </p:scale>
        <p:origin x="440" y="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7" Type="http://schemas.openxmlformats.org/officeDocument/2006/relationships/tableStyles" Target="tableStyles.xml" /><Relationship Id="rId96" Type="http://schemas.openxmlformats.org/officeDocument/2006/relationships/theme" Target="theme/theme1.xml" /><Relationship Id="rId9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19200" y="2066925"/>
            <a:ext cx="10363200" cy="1362075"/>
          </a:xfrm>
        </p:spPr>
        <p:txBody>
          <a:bodyPr anchor="t"/>
          <a:lstStyle>
            <a:lvl1pPr algn="ctr">
              <a:defRPr sz="4000" b="1" cap="all"/>
            </a:lvl1pPr>
          </a:lstStyle>
          <a:p>
            <a:r>
              <a:rPr lang="en-US" dirty="0"/>
              <a:t>MASTER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>
          <a:xfrm>
            <a:off x="1219200" y="2066925"/>
            <a:ext cx="103632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data engineering vs data science vs analytics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in data systems</a:t>
            </a:r>
          </a:p>
          <a:p>
            <a:pPr lvl="0"/>
            <a:r>
              <a:rPr/>
              <a:t>Reason about trade-offs: batch vs streaming, SQL vs NoSQL</a:t>
            </a:r>
          </a:p>
          <a:p>
            <a:pPr lvl="0"/>
            <a:r>
              <a:rPr/>
              <a:t>Map business questions to data engineering solutions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Sources Used (Reference Only)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sources/Lecture 1.pptx</a:t>
            </a:r>
          </a:p>
          <a:p>
            <a:pPr lvl="0"/>
            <a:r>
              <a:rPr/>
              <a:t>sources/Introduction &amp; Recap.pdf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Building systems to collect, store, process data</a:t>
            </a:r>
          </a:p>
          <a:p>
            <a:pPr lvl="0"/>
            <a:r>
              <a:rPr/>
              <a:t>Focus: reliability, scale, cost, maintainability</a:t>
            </a:r>
          </a:p>
          <a:p>
            <a:pPr lvl="0"/>
            <a:r>
              <a:rPr/>
              <a:t>Output: clean, accessible data for consumers</a:t>
            </a:r>
          </a:p>
          <a:p>
            <a:pPr lvl="0"/>
            <a:r>
              <a:rPr/>
              <a:t>Not about: building ML models or dashboards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/>
              <a:t>Scale: millions of records, terabytes daily</a:t>
            </a:r>
          </a:p>
          <a:p>
            <a:pPr lvl="0"/>
            <a:r>
              <a:rPr/>
              <a:t>Time: batch (hours) vs real-time (seconds)</a:t>
            </a:r>
          </a:p>
          <a:p>
            <a:pPr lvl="0"/>
            <a:r>
              <a:rPr/>
              <a:t>Quality: missing, duplicate, inconsistent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large companies</a:t>
            </a:r>
          </a:p>
          <a:p>
            <a:pPr lvl="0"/>
            <a:r>
              <a:rPr/>
              <a:t>Growth: 10× every 5 years</a:t>
            </a:r>
          </a:p>
          <a:p>
            <a:pPr lvl="0"/>
            <a:r>
              <a:rPr/>
              <a:t>Single machine: insufficient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/>
              <a:t>Integration: complex, error-prone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 requirements: seconds to hours</a:t>
            </a:r>
          </a:p>
          <a:p>
            <a:pPr lvl="0"/>
            <a:r>
              <a:rPr/>
              <a:t>Throughput: 100K to 1M events/second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quality: missing, wrong, late</a:t>
            </a:r>
          </a:p>
          <a:p>
            <a:pPr lvl="0"/>
            <a:r>
              <a:rPr/>
              <a:t>System failures: nodes crash, network partitions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/>
              <a:t>Need: monitoring, alerting, recovery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Diagram: week1_lecture_slide12_lifecycle.puml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</a:t>
            </a:r>
          </a:p>
          <a:p>
            <a:pPr lvl="0"/>
            <a:r>
              <a:rPr/>
              <a:t>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/>
              <a:t>Failure: one step fails, pipeline stops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ETL: Extract, Transform, 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Extract: read from source</a:t>
            </a:r>
          </a:p>
          <a:p>
            <a:pPr lvl="0"/>
            <a:r>
              <a:rPr/>
              <a:t>Transform: clean, enrich, aggregate</a:t>
            </a:r>
          </a:p>
          <a:p>
            <a:pPr lvl="0"/>
            <a:r>
              <a:rPr/>
              <a:t>Load: write to destination</a:t>
            </a:r>
          </a:p>
          <a:p>
            <a:pPr lvl="0"/>
            <a:r>
              <a:rPr/>
              <a:t>Order: transform before load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ELT: Extract, Load, Transform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Extract: read from source</a:t>
            </a:r>
          </a:p>
          <a:p>
            <a:pPr lvl="0"/>
            <a:r>
              <a:rPr/>
              <a:t>Load: write raw to storage</a:t>
            </a:r>
          </a:p>
          <a:p>
            <a:pPr lvl="0"/>
            <a:r>
              <a:rPr/>
              <a:t>Transform: process in storage</a:t>
            </a:r>
          </a:p>
          <a:p>
            <a:pPr lvl="0"/>
            <a:r>
              <a:rPr/>
              <a:t>Order: load before transform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ETL: smaller storage, faster queries</a:t>
            </a:r>
          </a:p>
          <a:p>
            <a:pPr lvl="0"/>
            <a:r>
              <a:rPr/>
              <a:t>ELT: preserve raw data, flexible</a:t>
            </a:r>
          </a:p>
          <a:p>
            <a:pPr lvl="0"/>
            <a:r>
              <a:rPr/>
              <a:t>Cost: ETL = compute + storage</a:t>
            </a:r>
          </a:p>
          <a:p>
            <a:pPr lvl="0"/>
            <a:r>
              <a:rPr/>
              <a:t>Cost: ELT = storage + compute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(2/2)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Process data in chunks</a:t>
            </a:r>
          </a:p>
          <a:p>
            <a:pPr lvl="0"/>
            <a:r>
              <a:rPr/>
              <a:t>Frequency: hourly, daily, weekly</a:t>
            </a:r>
          </a:p>
          <a:p>
            <a:pPr lvl="0"/>
            <a:r>
              <a:rPr/>
              <a:t>Latency: minutes to hours</a:t>
            </a:r>
          </a:p>
          <a:p>
            <a:pPr lvl="0"/>
            <a:r>
              <a:rPr/>
              <a:t>Use case: reports, analytics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Streaming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Process data continuously</a:t>
            </a:r>
          </a:p>
          <a:p>
            <a:pPr lvl="0"/>
            <a:r>
              <a:rPr/>
              <a:t>Frequency: real-time, seconds</a:t>
            </a:r>
          </a:p>
          <a:p>
            <a:pPr lvl="0"/>
            <a:r>
              <a:rPr/>
              <a:t>Latency: milliseconds to seconds</a:t>
            </a:r>
          </a:p>
          <a:p>
            <a:pPr lvl="0"/>
            <a:r>
              <a:rPr/>
              <a:t>Use case: alerts, dashboards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simpler, cheaper, higher latency</a:t>
            </a:r>
          </a:p>
          <a:p>
            <a:pPr lvl="0"/>
            <a:r>
              <a:rPr/>
              <a:t>Streaming: complex, expensive, low latency</a:t>
            </a:r>
          </a:p>
          <a:p>
            <a:pPr lvl="0"/>
            <a:r>
              <a:rPr/>
              <a:t>Hybrid: batch for history, stream for recent</a:t>
            </a:r>
          </a:p>
          <a:p>
            <a:pPr lvl="0"/>
            <a:r>
              <a:rPr/>
              <a:t>Choose based on requirements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</a:t>
            </a:r>
          </a:p>
          <a:p>
            <a:pPr lvl="0"/>
            <a:r>
              <a:rPr/>
              <a:t>Schema-on-read: validate at query time</a:t>
            </a:r>
          </a:p>
          <a:p>
            <a:pPr lvl="0"/>
            <a:r>
              <a:rPr/>
              <a:t>Trade-off: flexibility vs performance</a:t>
            </a:r>
          </a:p>
          <a:p>
            <a:pPr lvl="0"/>
            <a:r>
              <a:rPr/>
              <a:t>Data warehouse: schema-on-write</a:t>
            </a:r>
          </a:p>
          <a:p>
            <a:pPr lvl="0"/>
            <a:r>
              <a:rPr/>
              <a:t>Data lake: schema-on-read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Scenario: E-commerce Clickstream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Diagram: week1_lecture_slide20_ingestion.puml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(2/3)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Diagram: week1_lecture_slide35_failure.puml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</a:t>
            </a:r>
          </a:p>
          <a:p>
            <a:pPr lvl="0"/>
            <a:r>
              <a:rPr/>
              <a:t>Who consumes the data?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/>
              <a:t>Don’t build pipelines without purpose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Never delete source data</a:t>
            </a:r>
          </a:p>
          <a:p>
            <a:pPr lvl="0"/>
            <a:r>
              <a:rPr/>
              <a:t>Raw data is immutable</a:t>
            </a:r>
          </a:p>
          <a:p>
            <a:pPr lvl="0"/>
            <a:r>
              <a:rPr/>
              <a:t>Enables reprocessing, debugging</a:t>
            </a:r>
          </a:p>
          <a:p>
            <a:pPr lvl="0"/>
            <a:r>
              <a:rPr/>
              <a:t>Cost: minimal with compression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Idempotent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Rerun pipeline: same output</a:t>
            </a:r>
          </a:p>
          <a:p>
            <a:pPr lvl="0"/>
            <a:r>
              <a:rPr/>
              <a:t>Use deterministic transformations</a:t>
            </a:r>
          </a:p>
          <a:p>
            <a:pPr lvl="0"/>
            <a:r>
              <a:rPr/>
              <a:t>Avoid time-dependent logic</a:t>
            </a:r>
          </a:p>
          <a:p>
            <a:pPr lvl="0"/>
            <a:r>
              <a:rPr/>
              <a:t>Test: run twice, compare outputs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 success/failure rates</a:t>
            </a:r>
          </a:p>
          <a:p>
            <a:pPr lvl="0"/>
            <a:r>
              <a:rPr/>
              <a:t>Data quality metrics</a:t>
            </a:r>
          </a:p>
          <a:p>
            <a:pPr lvl="0"/>
            <a:r>
              <a:rPr/>
              <a:t>Processing latency</a:t>
            </a:r>
          </a:p>
          <a:p>
            <a:pPr lvl="0"/>
            <a:r>
              <a:rPr/>
              <a:t>Cost per pipeline run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Version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Code: Git for pipeline code</a:t>
            </a:r>
          </a:p>
          <a:p>
            <a:pPr lvl="0"/>
            <a:r>
              <a:rPr/>
              <a:t>Schema: versioned schemas</a:t>
            </a:r>
          </a:p>
          <a:p>
            <a:pPr lvl="0"/>
            <a:r>
              <a:rPr/>
              <a:t>Data: timestamped outputs</a:t>
            </a:r>
          </a:p>
          <a:p>
            <a:pPr lvl="0"/>
            <a:r>
              <a:rPr/>
              <a:t>Enables rollback, debugging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Incrementally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Unit tests: individual functions</a:t>
            </a:r>
          </a:p>
          <a:p>
            <a:pPr lvl="0"/>
            <a:r>
              <a:rPr/>
              <a:t>Integration tests: full pipeline</a:t>
            </a:r>
          </a:p>
          <a:p>
            <a:pPr lvl="0"/>
            <a:r>
              <a:rPr/>
              <a:t>Data tests: validate outputs</a:t>
            </a:r>
          </a:p>
          <a:p>
            <a:pPr lvl="0"/>
            <a:r>
              <a:rPr/>
              <a:t>Failure tests: simulate errors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Assume components fail</a:t>
            </a:r>
          </a:p>
          <a:p>
            <a:pPr lvl="0"/>
            <a:r>
              <a:rPr/>
              <a:t>Build retry logic</a:t>
            </a:r>
          </a:p>
          <a:p>
            <a:pPr lvl="0"/>
            <a:r>
              <a:rPr/>
              <a:t>Use checkpoints</a:t>
            </a:r>
          </a:p>
          <a:p>
            <a:pPr lvl="0"/>
            <a:r>
              <a:rPr/>
              <a:t>Plan recovery procedures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sources and formats</a:t>
            </a:r>
          </a:p>
          <a:p>
            <a:pPr lvl="0"/>
            <a:r>
              <a:rPr/>
              <a:t>Business logic and rules</a:t>
            </a:r>
          </a:p>
          <a:p>
            <a:pPr lvl="0"/>
            <a:r>
              <a:rPr/>
              <a:t>Expected volumes and latencies</a:t>
            </a:r>
          </a:p>
          <a:p>
            <a:pPr lvl="0"/>
            <a:r>
              <a:rPr/>
              <a:t>Failure modes and mitigations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First: make it work</a:t>
            </a:r>
          </a:p>
          <a:p>
            <a:pPr lvl="0"/>
            <a:r>
              <a:rPr/>
              <a:t>Second: make it reliable</a:t>
            </a:r>
          </a:p>
          <a:p>
            <a:pPr lvl="0"/>
            <a:r>
              <a:rPr/>
              <a:t>Third: make it fast</a:t>
            </a:r>
          </a:p>
          <a:p>
            <a:pPr lvl="0"/>
            <a:r>
              <a:rPr/>
              <a:t>Premature optimization: waste time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Defined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systems for data at scale</a:t>
            </a:r>
          </a:p>
          <a:p>
            <a:pPr lvl="0"/>
            <a:r>
              <a:rPr/>
              <a:t>Focus: reliability, performance, cost</a:t>
            </a:r>
          </a:p>
          <a:p>
            <a:pPr lvl="0"/>
            <a:r>
              <a:rPr/>
              <a:t>Output: clean, accessible data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Pipelines: ETL vs ELT</a:t>
            </a:r>
          </a:p>
          <a:p>
            <a:pPr lvl="0"/>
            <a:r>
              <a:rPr/>
              <a:t>Processing: batch vs streaming</a:t>
            </a:r>
          </a:p>
          <a:p>
            <a:pPr lvl="0"/>
            <a:r>
              <a:rPr/>
              <a:t>Schema: on-write vs on-read</a:t>
            </a:r>
          </a:p>
          <a:p>
            <a:pPr lvl="0"/>
            <a:r>
              <a:rPr/>
              <a:t>Lifecycle: ingest → store → process → consume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costs and trade-offs</a:t>
            </a:r>
          </a:p>
          <a:p>
            <a:pPr lvl="0"/>
            <a:r>
              <a:rPr/>
              <a:t>Design for failure</a:t>
            </a:r>
          </a:p>
          <a:p>
            <a:pPr lvl="0"/>
            <a:r>
              <a:rPr/>
              <a:t>Monitor and measure</a:t>
            </a:r>
          </a:p>
          <a:p>
            <a:pPr lvl="0"/>
            <a:r>
              <a:rPr/>
              <a:t>Start simple, optimize later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2026-01-29T05:00:31Z</dcterms:created>
  <dcterms:modified xsi:type="dcterms:W3CDTF">2026-01-29T05:00:31Z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