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3003"/>
    <p:restoredTop sz="94719"/>
  </p:normalViewPr>
  <p:slideViewPr>
    <p:cSldViewPr snapToGrid="0" snapToObjects="1">
      <p:cViewPr>
        <p:scale>
          <a:sx d="100" n="123"/>
          <a:sy d="100" n="123"/>
        </p:scale>
        <p:origin x="2856" y="1184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handoutMaster" Target="handoutMasters/handoutMaster1.xml" /><Relationship Id="rId12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19" Type="http://schemas.openxmlformats.org/officeDocument/2006/relationships/theme" Target="theme/theme1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8358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methodologies and technologies transforming raw data</a:t>
            </a:r>
          </a:p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Benefits:</a:t>
            </a:r>
            <a:r>
              <a:rPr/>
              <a:t> handle large amounts of data efficiently</a:t>
            </a:r>
          </a:p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Data:</a:t>
            </a:r>
            <a:r>
              <a:rPr/>
              <a:t> raw facts describing event characteristics</a:t>
            </a:r>
          </a:p>
          <a:p>
            <a:pPr lvl="0"/>
            <a:r>
              <a:rPr/>
              <a:t>Example: 51, 77, 58, 82, 64, 70</a:t>
            </a:r>
          </a:p>
          <a:p>
            <a:pPr lvl="0"/>
            <a:r>
              <a:rPr b="1"/>
              <a:t>Information:</a:t>
            </a:r>
            <a:r>
              <a:rPr/>
              <a:t> data converted into meaningful insights</a:t>
            </a:r>
          </a:p>
          <a:p>
            <a:pPr lvl="0"/>
            <a:r>
              <a:rPr/>
              <a:t>Example: “Test scores; average is 67”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Knowledge:</a:t>
            </a:r>
            <a:r>
              <a:rPr/>
              <a:t> skills and experience coupled with information</a:t>
            </a:r>
          </a:p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computational process discovering patterns in data</a:t>
            </a:r>
          </a:p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classification, estimation, prediction</a:t>
            </a:r>
          </a:p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automatic extraction of hidden knowledge</a:t>
            </a:r>
          </a:p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Intersecting fields:</a:t>
            </a:r>
            <a:r>
              <a:rPr/>
              <a:t> databases, statistics, machine learning</a:t>
            </a:r>
          </a:p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Storage Sizing Warm-up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Compute raw storage for posts, interactions, users</a:t>
            </a:r>
          </a:p>
          <a:p>
            <a:pPr lvl="0"/>
            <a:r>
              <a:rPr/>
              <a:t>Compute Parquet size with 5× compression</a:t>
            </a:r>
          </a:p>
          <a:p>
            <a:pPr lvl="0"/>
            <a:r>
              <a:rPr/>
              <a:t>Compute 90-day raw retention storage</a:t>
            </a:r>
          </a:p>
          <a:p>
            <a:pPr lvl="0"/>
            <a:r>
              <a:rPr/>
              <a:t>Compute total with 3× replication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 raw: 500M × 2.1 KB ≈ 1,050 GB</a:t>
            </a:r>
          </a:p>
          <a:p>
            <a:pPr lvl="0"/>
            <a:r>
              <a:rPr/>
              <a:t>Interactions raw: 10B × 33 B ≈ 330 GB</a:t>
            </a:r>
          </a:p>
          <a:p>
            <a:pPr lvl="0"/>
            <a:r>
              <a:rPr/>
              <a:t>Users raw: 100M × 1.2 KB ≈ 120 GB</a:t>
            </a:r>
          </a:p>
          <a:p>
            <a:pPr lvl="0"/>
            <a:r>
              <a:rPr/>
              <a:t>Total raw ≈ 1,500 GB (1.5 TB)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Parquet 5×: 1,500 GB / 5 ≈ 300 GB</a:t>
            </a:r>
          </a:p>
          <a:p>
            <a:pPr lvl="0"/>
            <a:r>
              <a:rPr/>
              <a:t>90-day raw: 27.6 GB/day × 90 ≈ 2.5 TB</a:t>
            </a:r>
          </a:p>
          <a:p>
            <a:pPr lvl="0"/>
            <a:r>
              <a:rPr/>
              <a:t>Replication 3×: raw 7.5 TB; processed 0.9 TB</a:t>
            </a:r>
          </a:p>
          <a:p>
            <a:pPr lvl="0"/>
            <a:r>
              <a:rPr/>
              <a:t>Total with replicas ≈ 8.4 TB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sizing must include compression, retention, replication</a:t>
            </a:r>
          </a:p>
          <a:p>
            <a:pPr lvl="0"/>
            <a:r>
              <a:rPr/>
              <a:t>Raw and processed layers have very different footprints</a:t>
            </a:r>
          </a:p>
          <a:p>
            <a:pPr lvl="0"/>
            <a:r>
              <a:rPr/>
              <a:t>Early sizing prevents cost surprises later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600200"/>
            <a:ext cx="2717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(1/3)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ETL:</a:t>
            </a:r>
            <a:r>
              <a:rPr/>
              <a:t> Extract → Transform → Load</a:t>
            </a:r>
          </a:p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ETL cost:</a:t>
            </a:r>
            <a:r>
              <a:rPr/>
              <a:t> compute up front + less storage</a:t>
            </a:r>
          </a:p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(2/3)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Batch vs Streaming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Trending posts needed within 5 minutes</a:t>
            </a:r>
          </a:p>
          <a:p>
            <a:pPr lvl="0"/>
            <a:r>
              <a:rPr/>
              <a:t>Batch: run every 5 minutes; $0.10 per run</a:t>
            </a:r>
          </a:p>
          <a:p>
            <a:pPr lvl="0"/>
            <a:r>
              <a:rPr/>
              <a:t>Streaming: always on; $2.00 per hour</a:t>
            </a:r>
          </a:p>
          <a:p>
            <a:pPr lvl="0"/>
            <a:r>
              <a:rPr/>
              <a:t>Compute daily cost for batch vs streaming</a:t>
            </a:r>
          </a:p>
          <a:p>
            <a:pPr lvl="0"/>
            <a:r>
              <a:rPr/>
              <a:t>Decide approach if latency &lt; 1 minute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 daily cost: 288 runs × $0.10 = $28.80</a:t>
            </a:r>
          </a:p>
          <a:p>
            <a:pPr lvl="0"/>
            <a:r>
              <a:rPr/>
              <a:t>Streaming daily cost: 24 hours × $2.00 = $48.00</a:t>
            </a:r>
          </a:p>
          <a:p>
            <a:pPr lvl="0"/>
            <a:r>
              <a:rPr/>
              <a:t>Streaming costs $19.20 more per day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&lt; 1 minute: batch fails; streaming required</a:t>
            </a:r>
          </a:p>
          <a:p>
            <a:pPr lvl="0"/>
            <a:r>
              <a:rPr/>
              <a:t>If cost dominates: batch is cheaper</a:t>
            </a:r>
          </a:p>
          <a:p>
            <a:pPr lvl="0"/>
            <a:r>
              <a:rPr/>
              <a:t>Hybrid: stream recent, batch history for lower cost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targets can force streaming despite higher cost</a:t>
            </a:r>
          </a:p>
          <a:p>
            <a:pPr lvl="0"/>
            <a:r>
              <a:rPr/>
              <a:t>Cost math makes trade-offs explicit and defensible</a:t>
            </a:r>
          </a:p>
          <a:p>
            <a:pPr lvl="0"/>
            <a:r>
              <a:rPr/>
              <a:t>Hybrid designs often balance speed and budget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One clear choice per pipeline:</a:t>
            </a:r>
            <a:r>
              <a:rPr/>
              <a:t> ETL or ELT</a:t>
            </a:r>
          </a:p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“one script, one DB, run nightly”</a:t>
            </a:r>
          </a:p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Naïve:</a:t>
            </a:r>
            <a:r>
              <a:rPr/>
              <a:t> no raw layer — cannot reprocess on schema change</a:t>
            </a:r>
          </a:p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Scenario: E-commerce Clickstream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(1/4)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1: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92600" y="1600200"/>
            <a:ext cx="36068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(2/4)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2: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(3/4)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3: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 (4/4)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 4: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(1/3)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(2/3)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 (3/3)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(1/3)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(2/3)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Failure Impact &amp; Checkpointing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 processes 10,000 posts and 100,000 interactions</a:t>
            </a:r>
          </a:p>
          <a:p>
            <a:pPr lvl="0"/>
            <a:r>
              <a:rPr/>
              <a:t>Failure at 30 minutes; 50% processed, 50% lost</a:t>
            </a:r>
          </a:p>
          <a:p>
            <a:pPr lvl="0"/>
            <a:r>
              <a:rPr/>
              <a:t>Manual investigation + rerun takes 2 hours</a:t>
            </a:r>
          </a:p>
          <a:p>
            <a:pPr lvl="0"/>
            <a:r>
              <a:rPr/>
              <a:t>Add checkpoints every 10 minutes; recompute loss and recovery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loss: 5,000 posts and 50,000 interactions</a:t>
            </a:r>
          </a:p>
          <a:p>
            <a:pPr lvl="0"/>
            <a:r>
              <a:rPr/>
              <a:t>Recovery time: 30 min + 120 min + 60 min = 210 min</a:t>
            </a:r>
          </a:p>
          <a:p>
            <a:pPr lvl="0"/>
            <a:r>
              <a:rPr/>
              <a:t>Hourly cadence delays about 3–4 runs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 at 20 min: 10 minutes of data lost</a:t>
            </a:r>
          </a:p>
          <a:p>
            <a:pPr lvl="0"/>
            <a:r>
              <a:rPr/>
              <a:t>Loss with checkpoints: 1,667 posts; 16,667 interactions</a:t>
            </a:r>
          </a:p>
          <a:p>
            <a:pPr lvl="0"/>
            <a:r>
              <a:rPr/>
              <a:t>Recovery time: resume 40 minutes, no investigation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Checkpointing cuts loss and recovery time dramatically</a:t>
            </a:r>
          </a:p>
          <a:p>
            <a:pPr lvl="0"/>
            <a:r>
              <a:rPr/>
              <a:t>Failure math drives reliability investment decisions</a:t>
            </a:r>
          </a:p>
          <a:p>
            <a:pPr lvl="0"/>
            <a:r>
              <a:rPr/>
              <a:t>Design for recovery, not just success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3162300"/>
            <a:ext cx="109728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 (3/3)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(1/2)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 (2/2)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Cross-Industry Standard Process for Data Mining</a:t>
            </a:r>
          </a:p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preparation is often 60-80% of work</a:t>
            </a:r>
          </a:p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Engineering: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</TotalTime>
  <Words>0</Words>
  <Application>Microsoft Macintosh PowerPoint</Application>
  <PresentationFormat>מסך רחב</PresentationFormat>
  <Paragraphs>0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2026-01-29T11:32:47Z</dcterms:created>
  <dcterms:modified xsi:type="dcterms:W3CDTF">2026-01-29T11:32:47Z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