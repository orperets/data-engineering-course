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0862"/>
    <p:restoredTop sz="94719"/>
  </p:normalViewPr>
  <p:slideViewPr>
    <p:cSldViewPr snapToGrid="0" snapToObjects="1">
      <p:cViewPr varScale="1">
        <p:scale>
          <a:sx d="100" n="148"/>
          <a:sy d="100" n="148"/>
        </p:scale>
        <p:origin x="1528" y="192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6" Type="http://schemas.openxmlformats.org/officeDocument/2006/relationships/tableStyles" Target="tableStyles.xml" /><Relationship Id="rId9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94" Type="http://schemas.openxmlformats.org/officeDocument/2006/relationships/viewProps" Target="viewProps.xml" /><Relationship Id="rId93" Type="http://schemas.openxmlformats.org/officeDocument/2006/relationships/presProps" Target="presProps.xml" /><Relationship Id="rId92" Type="http://schemas.openxmlformats.org/officeDocument/2006/relationships/handoutMaster" Target="handoutMasters/handout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69621" y="1546412"/>
            <a:ext cx="6338761" cy="457975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01" y="1546412"/>
            <a:ext cx="5030548" cy="4579752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0266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  <p:pic>
        <p:nvPicPr>
          <p:cNvPr descr="../../diagrams/week01/week1_what_is_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616200"/>
            <a:ext cx="109728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Formal Volume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hasCustomPrompt="1"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(V_d) = daily raw volume (GB/day)</a:t>
                </a:r>
              </a:p>
              <a:p>
                <a:pPr lvl="0"/>
                <a:r>
                  <a:rPr/>
                  <a:t>Retention (R) days, compression factor (c), replication (r)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</m:num>
                        <m:den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Interpretation: total storage footprint across the cluster</a:t>
                </a:r>
              </a:p>
              <a:p>
                <a:pPr lvl="0"/>
                <a:r>
                  <a:rPr/>
                  <a:t>Engineering implication: cost scales linearly in volume and replication</a:t>
                </a:r>
              </a:p>
            </p:txBody>
          </p:sp>
        </mc:Choice>
      </mc:AlternateContent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  <p:pic>
        <p:nvPicPr>
          <p:cNvPr descr="../../diagrams/week01/week1_bi_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755900"/>
            <a:ext cx="109728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Definition:</a:t>
            </a:r>
            <a:r>
              <a:rPr/>
              <a:t> methodologies and technologies transforming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Benefits:</a:t>
            </a:r>
            <a:r>
              <a:rPr/>
              <a:t> handle large amounts of data efficiently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</a:t>
            </a:r>
          </a:p>
        </p:txBody>
      </p:sp>
      <p:pic>
        <p:nvPicPr>
          <p:cNvPr descr="../../diagrams/week01/week1_data_to_wisd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99100" y="1600200"/>
            <a:ext cx="1181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</a:t>
            </a:r>
            <a:r>
              <a:rPr b="1"/>
              <a:t>Data:</a:t>
            </a:r>
            <a:r>
              <a:rPr/>
              <a:t> raw facts describing event characteristics - Example: 51, 77, 58, 82, 64, 70 - </a:t>
            </a:r>
            <a:r>
              <a:rPr b="1"/>
              <a:t>Information:</a:t>
            </a:r>
            <a:r>
              <a:rPr/>
              <a:t> data converted into meaningful insights - Example: “Test scores; average is 67”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Pyramid- </a:t>
            </a:r>
            <a:r>
              <a:rPr b="1"/>
              <a:t>Knowledge:</a:t>
            </a:r>
            <a:r>
              <a:rPr/>
              <a:t> skills and experience coupled with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Definition:</a:t>
            </a:r>
            <a:r>
              <a:rPr/>
              <a:t> computational process discovering patterns in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Tasks:</a:t>
            </a:r>
            <a:r>
              <a:rPr/>
              <a:t> classification, estimation,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Definition:</a:t>
            </a:r>
            <a:r>
              <a:rPr/>
              <a:t> automatic extraction of hidden knowledge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Intersecting fields:</a:t>
            </a:r>
            <a:r>
              <a:rPr/>
              <a:t> databases, statistics,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  <p:pic>
        <p:nvPicPr>
          <p:cNvPr descr="../../diagrams/week01/week1_de_vs_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00200"/>
            <a:ext cx="2895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  <p:pic>
        <p:nvPicPr>
          <p:cNvPr descr="../../diagrams/week01/week1_de_vs_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35600" y="1600200"/>
            <a:ext cx="1320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  <p:pic>
        <p:nvPicPr>
          <p:cNvPr descr="../../diagrams/week01/week1_why_de_exis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84700" y="1600200"/>
            <a:ext cx="3022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  <p:pic>
        <p:nvPicPr>
          <p:cNvPr descr="../../diagrams/week01/week1_lifecycle_pha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603500"/>
            <a:ext cx="109728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600200"/>
            <a:ext cx="4749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data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638300"/>
            <a:ext cx="10972800" cy="445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ETL:</a:t>
            </a:r>
            <a:r>
              <a:rPr/>
              <a:t> Extract → Transform → 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 cost:</a:t>
            </a:r>
            <a:r>
              <a:rPr/>
              <a:t> compute up front + less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core_concept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1600200"/>
            <a:ext cx="3467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Concepts- </a:t>
            </a:r>
            <a:r>
              <a:rPr b="1"/>
              <a:t>One clear choice per pipeline:</a:t>
            </a:r>
            <a:r>
              <a:rPr/>
              <a:t> ETL or 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— What Goes Wrong Without Discipline- </a:t>
            </a:r>
            <a:r>
              <a:rPr b="1"/>
              <a:t>Naïve:</a:t>
            </a:r>
            <a:r>
              <a:rPr/>
              <a:t> “one script, one DB, run nightly”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Discipline- </a:t>
            </a:r>
            <a:r>
              <a:rPr b="1"/>
              <a:t>Naïve:</a:t>
            </a:r>
            <a:r>
              <a:rPr/>
              <a:t> no raw layer — cannot reprocess on schema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Goal: Scenario (E-commerce Clickstream)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05300" y="1600200"/>
            <a:ext cx="3594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59300" y="1600200"/>
            <a:ext cx="3086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CRISP-DM Methodology- </a:t>
            </a:r>
            <a:r>
              <a:rPr b="1"/>
              <a:t>Cross-Industry Standard Process for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Methodology- Data preparation is often 60-80%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Recap: Data Engineering —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Practice: Architecture</a:t>
            </a:r>
          </a:p>
        </p:txBody>
      </p:sp>
      <p:pic>
        <p:nvPicPr>
          <p:cNvPr descr="../../diagrams/week01/week1_practice_slide15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65800" y="1714500"/>
            <a:ext cx="6337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2026-02-01T05:50:36Z</dcterms:created>
  <dcterms:modified xsi:type="dcterms:W3CDTF">2026-02-01T05:50:36Z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