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64"/>
    <p:restoredTop sz="94811"/>
  </p:normalViewPr>
  <p:slideViewPr>
    <p:cSldViewPr snapToGrid="0" snapToObjects="1">
      <p:cViewPr varScale="1">
        <p:scale>
          <a:sx n="95" d="100"/>
          <a:sy n="95" d="100"/>
        </p:scale>
        <p:origin x="272" y="3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marL="0" lvl="0" indent="0">
              <a:buNone/>
            </a:pPr>
            <a:r>
              <a:t>Week 1: Introduction to Data Engineering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Course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dirty="0"/>
              <a:t>2 weekly hours</a:t>
            </a:r>
          </a:p>
          <a:p>
            <a:pPr lvl="0"/>
            <a:r>
              <a:rPr dirty="0"/>
              <a:t>15% assignments</a:t>
            </a:r>
          </a:p>
          <a:p>
            <a:pPr lvl="0"/>
            <a:r>
              <a:rPr dirty="0"/>
              <a:t>85% final exam</a:t>
            </a:r>
            <a:endParaRPr lang="en-US" dirty="0"/>
          </a:p>
          <a:p>
            <a:pPr lvl="0"/>
            <a:r>
              <a:rPr lang="en-US" dirty="0" err="1"/>
              <a:t>or.perets@shenkar.ac.il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SQL query design and implementation</a:t>
            </a:r>
          </a:p>
          <a:p>
            <a:pPr lvl="0"/>
            <a:r>
              <a:t>Basic data structures</a:t>
            </a:r>
          </a:p>
          <a:p>
            <a:pPr lvl="0"/>
            <a:r>
              <a:t>Complexity and running-time intuition</a:t>
            </a:r>
          </a:p>
          <a:p>
            <a:pPr lvl="0"/>
            <a:r>
              <a:t>Introductory probability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Explain core data engineering constraints</a:t>
            </a:r>
          </a:p>
          <a:p>
            <a:pPr lvl="0"/>
            <a:r>
              <a:t>Design a basic source-to-consumer pipeline</a:t>
            </a:r>
          </a:p>
          <a:p>
            <a:pPr lvl="0"/>
            <a:r>
              <a:t>Estimate storage, runtime, and network costs</a:t>
            </a:r>
          </a:p>
          <a:p>
            <a:pPr lvl="0"/>
            <a:r>
              <a:t>Identify failure modes and mitigation patterns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Modern systems generate data continuously</a:t>
            </a:r>
          </a:p>
          <a:p>
            <a:pPr lvl="0"/>
            <a:r>
              <a:t>Business decisions depend on trusted pipelines</a:t>
            </a:r>
          </a:p>
          <a:p>
            <a:pPr lvl="0"/>
            <a:r>
              <a:t>Scale, latency, and reliability create trade-offs</a:t>
            </a:r>
          </a:p>
          <a:p>
            <a:pPr lvl="0"/>
            <a:r>
              <a:t>Data engineering turns raw data into usable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Big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Data that exceeds traditional single-system processing</a:t>
            </a:r>
          </a:p>
          <a:p>
            <a:pPr lvl="0"/>
            <a:r>
              <a:t>Defined by scale, speed, and complexity</a:t>
            </a:r>
          </a:p>
          <a:p>
            <a:pPr lvl="0"/>
            <a:r>
              <a:t>Not a single tool or product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4" name="Picture 2" descr="On Hardware Deployment to Cloud - TAG Cyber">
            <a:extLst>
              <a:ext uri="{FF2B5EF4-FFF2-40B4-BE49-F238E27FC236}">
                <a16:creationId xmlns:a16="http://schemas.microsoft.com/office/drawing/2014/main" id="{90F1A2B9-88D8-19AD-C158-AF43143C8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3833" y="3643711"/>
            <a:ext cx="5884333" cy="248245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Big Data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User behavior tracking</a:t>
            </a:r>
          </a:p>
          <a:p>
            <a:pPr lvl="0"/>
            <a:r>
              <a:t>Mobile and web application logs</a:t>
            </a:r>
          </a:p>
          <a:p>
            <a:pPr lvl="0"/>
            <a:r>
              <a:t>IoT and sensor streams</a:t>
            </a:r>
          </a:p>
          <a:p>
            <a:pPr lvl="0"/>
            <a:r>
              <a:t>Media and social network content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marL="0" lvl="0" indent="0">
              <a:buNone/>
            </a:pPr>
            <a:r>
              <a:t>Sources of Big Data</a:t>
            </a:r>
          </a:p>
        </p:txBody>
      </p:sp>
      <p:pic>
        <p:nvPicPr>
          <p:cNvPr id="2" name="Picture 1" descr="../../diagrams/week01/week1_sources_categori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90832" y="2273299"/>
            <a:ext cx="10778868" cy="298215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3Vs of Big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Velocity</a:t>
            </a:r>
            <a:r>
              <a:t>: data arrives continuously and quickly</a:t>
            </a:r>
          </a:p>
          <a:p>
            <a:pPr lvl="0"/>
            <a:r>
              <a:rPr b="1"/>
              <a:t>Variety</a:t>
            </a:r>
            <a:r>
              <a:t>: structured, semi-structured, unstructured</a:t>
            </a:r>
          </a:p>
          <a:p>
            <a:pPr lvl="0"/>
            <a:r>
              <a:rPr b="1"/>
              <a:t>Volume</a:t>
            </a:r>
            <a:r>
              <a:t>: very large scale (TB to PB)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Cloud Service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SaaS</a:t>
            </a:r>
            <a:r>
              <a:t>: ready-to-use applications</a:t>
            </a:r>
          </a:p>
          <a:p>
            <a:pPr lvl="0"/>
            <a:r>
              <a:rPr b="1"/>
              <a:t>PaaS</a:t>
            </a:r>
            <a:r>
              <a:t>: managed platform for development</a:t>
            </a:r>
          </a:p>
          <a:p>
            <a:pPr lvl="0"/>
            <a:r>
              <a:rPr b="1"/>
              <a:t>IaaS</a:t>
            </a:r>
            <a:r>
              <a:t>: virtual compute, storage, networking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pic>
        <p:nvPicPr>
          <p:cNvPr id="4" name="Picture 2" descr="SaaS, IaaS, PaaS? Tell me your cloud computing flavor and I&amp;#39;ll tell you who  you">
            <a:extLst>
              <a:ext uri="{FF2B5EF4-FFF2-40B4-BE49-F238E27FC236}">
                <a16:creationId xmlns:a16="http://schemas.microsoft.com/office/drawing/2014/main" id="{4B70B890-FEBC-080A-840F-30C280C88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4789" y="3640391"/>
            <a:ext cx="3616878" cy="2715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Scientist vs Data Engineer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Data scientists create models and insights</a:t>
            </a:r>
          </a:p>
          <a:p>
            <a:pPr lvl="0"/>
            <a:r>
              <a:t>Data engineers build reliable data platforms</a:t>
            </a:r>
          </a:p>
          <a:p>
            <a:pPr lvl="0"/>
            <a:r>
              <a:t>Both roles are interdependent in production systems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Engineer: Core Responsibility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Build and maintain the data platform</a:t>
            </a:r>
          </a:p>
          <a:p>
            <a:pPr lvl="0"/>
            <a:r>
              <a:t>Ensure reliable ingestion and transformation</a:t>
            </a:r>
          </a:p>
          <a:p>
            <a:pPr lvl="0"/>
            <a:r>
              <a:t>Deliver trusted datasets for analytics and ML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Engineer: Daily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Monitor jobs, freshness, and quality</a:t>
            </a:r>
          </a:p>
          <a:p>
            <a:pPr lvl="0"/>
            <a:r>
              <a:t>Handle failures, retries, and reruns</a:t>
            </a:r>
          </a:p>
          <a:p>
            <a:pPr lvl="0"/>
            <a:r>
              <a:t>Improve cost-performance over time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Data Engineering?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Design systems that move and transform data</a:t>
            </a:r>
          </a:p>
          <a:p>
            <a:pPr lvl="0"/>
            <a:r>
              <a:t>Serve dependable data for analytics, apps, and ML</a:t>
            </a:r>
          </a:p>
          <a:p>
            <a:pPr lvl="0"/>
            <a:r>
              <a:t>Optimize for correctness, latency, and stability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Engineering Is Constraint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Sources are fragmented and heterogeneous</a:t>
            </a:r>
          </a:p>
          <a:p>
            <a:pPr lvl="0"/>
            <a:r>
              <a:t>Data volume outgrows single-node capacity</a:t>
            </a:r>
          </a:p>
          <a:p>
            <a:pPr lvl="0"/>
            <a:r>
              <a:t>Pipelines fail and must recover safely</a:t>
            </a:r>
          </a:p>
          <a:p>
            <a:pPr lvl="0"/>
            <a:r>
              <a:t>Cost, latency, and reliability must be balanced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Many producers, one consistent data view</a:t>
            </a:r>
          </a:p>
          <a:p>
            <a:pPr lvl="0"/>
            <a:r>
              <a:t>Fresh data with clear quality guarantees</a:t>
            </a:r>
          </a:p>
          <a:p>
            <a:pPr lvl="0"/>
            <a:r>
              <a:t>Scalable architecture without uncontrolled costs</a:t>
            </a:r>
          </a:p>
          <a:p>
            <a:pPr lvl="0"/>
            <a:r>
              <a:t>Repeatable pipelines instead of ad-hoc scripts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Why Single Scripts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Runtime grows with data size</a:t>
            </a:r>
          </a:p>
          <a:p>
            <a:pPr lvl="0"/>
            <a:r>
              <a:t>Limited observability slows incident response</a:t>
            </a:r>
          </a:p>
          <a:p>
            <a:pPr lvl="0"/>
            <a:r>
              <a:t>Missing raw layer blocks safe replay</a:t>
            </a:r>
          </a:p>
          <a:p>
            <a:pPr lvl="0"/>
            <a:r>
              <a:t>Non-idempotent writes corrupt outputs on rerun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Storage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Pick format by workload (e.g., Parquet for analytics)</a:t>
            </a:r>
          </a:p>
          <a:p>
            <a:pPr lvl="0"/>
            <a:r>
              <a:t>Partition by date or high-value keys</a:t>
            </a:r>
          </a:p>
          <a:p>
            <a:pPr lvl="0"/>
            <a:r>
              <a:t>Replicate for durability and availability</a:t>
            </a:r>
          </a:p>
          <a:p>
            <a:pPr lvl="0"/>
            <a:r>
              <a:t>Model hot vs cold storage costs explicitly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Clean, deduplicate, standardize</a:t>
            </a:r>
          </a:p>
          <a:p>
            <a:pPr lvl="0"/>
            <a:r>
              <a:t>Enrich with reference dimensions</a:t>
            </a:r>
          </a:p>
          <a:p>
            <a:pPr lvl="0"/>
            <a:r>
              <a:t>Apply deterministic business rules</a:t>
            </a:r>
          </a:p>
          <a:p>
            <a:pPr lvl="0"/>
            <a:r>
              <a:t>Preserve auditable intermediate outputs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Publish tables for BI and dashboards</a:t>
            </a:r>
          </a:p>
          <a:p>
            <a:pPr lvl="0"/>
            <a:r>
              <a:t>Expose data products and APIs</a:t>
            </a:r>
          </a:p>
          <a:p>
            <a:pPr lvl="0"/>
            <a:r>
              <a:t>Feed ML feature pipelines</a:t>
            </a:r>
          </a:p>
          <a:p>
            <a:pPr lvl="0"/>
            <a:r>
              <a:t>Track freshness and data-quality SLAs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ETL vs ELT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 dirty="0"/>
              <a:t>ETL</a:t>
            </a:r>
            <a:r>
              <a:rPr dirty="0"/>
              <a:t>: transform before load</a:t>
            </a:r>
          </a:p>
          <a:p>
            <a:pPr lvl="0"/>
            <a:r>
              <a:rPr b="1" dirty="0"/>
              <a:t>ELT</a:t>
            </a:r>
            <a:r>
              <a:rPr dirty="0"/>
              <a:t>: load raw, transform downstream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Batch</a:t>
            </a:r>
            <a:r>
              <a:t>: simpler, cheaper, higher latency</a:t>
            </a:r>
          </a:p>
          <a:p>
            <a:pPr lvl="0"/>
            <a:r>
              <a:rPr b="1"/>
              <a:t>Streaming</a:t>
            </a:r>
            <a:r>
              <a:t>: lower latency, higher complexity</a:t>
            </a:r>
          </a:p>
          <a:p>
            <a:pPr lvl="0"/>
            <a:r>
              <a:t>Hybrid is common in production</a:t>
            </a:r>
          </a:p>
          <a:p>
            <a:pPr lvl="0"/>
            <a:r>
              <a:t>Decision should follow business SLA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Schema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Schema-on-write</a:t>
            </a:r>
            <a:r>
              <a:t> catches errors early</a:t>
            </a:r>
          </a:p>
          <a:p>
            <a:pPr lvl="0"/>
            <a:r>
              <a:rPr b="1"/>
              <a:t>Schema-on-read</a:t>
            </a:r>
            <a:r>
              <a:t> speeds source onboarding</a:t>
            </a:r>
          </a:p>
          <a:p>
            <a:pPr lvl="0"/>
            <a:r>
              <a:t>Strict mode improves trust</a:t>
            </a:r>
          </a:p>
          <a:p>
            <a:pPr lvl="0"/>
            <a:r>
              <a:t>Flexible mode improves agility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Running Example: E-Commerce Clickstream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Input: 10M events/day (~500 bytes each)</a:t>
            </a:r>
          </a:p>
          <a:p>
            <a:pPr lvl="0"/>
            <a:r>
              <a:t>Goal: daily product page-view aggregates</a:t>
            </a:r>
          </a:p>
          <a:p>
            <a:pPr lvl="0"/>
            <a:r>
              <a:t>SLA: data available within 1 hour</a:t>
            </a:r>
          </a:p>
          <a:p>
            <a:pPr lvl="0"/>
            <a:r>
              <a:t>Reliability target: 99.9% successful runs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Step 1: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Read and parse raw event logs</a:t>
            </a:r>
          </a:p>
          <a:p>
            <a:pPr lvl="0"/>
            <a:r>
              <a:t>Validate required fields</a:t>
            </a:r>
          </a:p>
          <a:p>
            <a:pPr lvl="0"/>
            <a:r>
              <a:t>Write immutable partitioned raw data</a:t>
            </a:r>
          </a:p>
          <a:p>
            <a:pPr lvl="0"/>
            <a:r>
              <a:t>Record accepted/rejected counts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Step 2: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Keep only </a:t>
            </a:r>
            <a:r>
              <a:rPr>
                <a:latin typeface="Courier"/>
              </a:rPr>
              <a:t>page_view</a:t>
            </a:r>
            <a:r>
              <a:t> events</a:t>
            </a:r>
          </a:p>
          <a:p>
            <a:pPr lvl="0"/>
            <a:r>
              <a:t>Extract </a:t>
            </a:r>
            <a:r>
              <a:rPr>
                <a:latin typeface="Courier"/>
              </a:rPr>
              <a:t>product_id</a:t>
            </a:r>
            <a:r>
              <a:t> from URL</a:t>
            </a:r>
          </a:p>
          <a:p>
            <a:pPr lvl="0"/>
            <a:r>
              <a:t>Drop invalid records with reason codes</a:t>
            </a:r>
          </a:p>
          <a:p>
            <a:pPr lvl="0"/>
            <a:r>
              <a:t>Produce normalized event dataset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Step 3: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Group by </a:t>
            </a:r>
            <a:r>
              <a:rPr>
                <a:latin typeface="Courier"/>
              </a:rPr>
              <a:t>(event_date, product_id)</a:t>
            </a:r>
          </a:p>
          <a:p>
            <a:pPr lvl="0"/>
            <a:r>
              <a:t>Compute </a:t>
            </a:r>
            <a:r>
              <a:rPr>
                <a:latin typeface="Courier"/>
              </a:rPr>
              <a:t>view_count</a:t>
            </a:r>
          </a:p>
          <a:p>
            <a:pPr lvl="0"/>
            <a:r>
              <a:t>Persist daily aggregates</a:t>
            </a:r>
          </a:p>
          <a:p>
            <a:pPr lvl="0"/>
            <a:r>
              <a:t>Keep lineage to raw source partitions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713</Words>
  <Application>Microsoft Macintosh PowerPoint</Application>
  <PresentationFormat>מסך רחב</PresentationFormat>
  <Paragraphs>172</Paragraphs>
  <Slides>27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27</vt:i4>
      </vt:variant>
    </vt:vector>
  </HeadingPairs>
  <TitlesOfParts>
    <vt:vector size="31" baseType="lpstr">
      <vt:lpstr>Arial</vt:lpstr>
      <vt:lpstr>Calibri</vt:lpstr>
      <vt:lpstr>Courier</vt:lpstr>
      <vt:lpstr>Office Theme</vt:lpstr>
      <vt:lpstr>Week 1: Introduction to Data Engineering</vt:lpstr>
      <vt:lpstr>Course Logistics</vt:lpstr>
      <vt:lpstr>Prerequisites</vt:lpstr>
      <vt:lpstr>Learning Outcomes</vt:lpstr>
      <vt:lpstr>Why This Course Matters</vt:lpstr>
      <vt:lpstr>What Is Big Data?</vt:lpstr>
      <vt:lpstr>Big Data in Practice</vt:lpstr>
      <vt:lpstr>Sources of Big Data</vt:lpstr>
      <vt:lpstr>The 3Vs of Big Data</vt:lpstr>
      <vt:lpstr>Cloud Service Models</vt:lpstr>
      <vt:lpstr>Data Scientist vs Data Engineer</vt:lpstr>
      <vt:lpstr>Data Engineer: Core Responsibility</vt:lpstr>
      <vt:lpstr>Data Engineer: Daily Operations</vt:lpstr>
      <vt:lpstr>What Is Data Engineering?</vt:lpstr>
      <vt:lpstr>Data Engineering Is Constraint Management</vt:lpstr>
      <vt:lpstr>Core Problem Statement</vt:lpstr>
      <vt:lpstr>Why Single Scripts Break</vt:lpstr>
      <vt:lpstr>Storage Design</vt:lpstr>
      <vt:lpstr>Processing</vt:lpstr>
      <vt:lpstr>Consumption</vt:lpstr>
      <vt:lpstr>ETL vs ELT</vt:lpstr>
      <vt:lpstr>Batch vs Streaming</vt:lpstr>
      <vt:lpstr>Schema Strategies</vt:lpstr>
      <vt:lpstr>Running Example: E-Commerce Clickstream</vt:lpstr>
      <vt:lpstr>Example Step 1: Ingestion</vt:lpstr>
      <vt:lpstr>Example Step 2: Transformation</vt:lpstr>
      <vt:lpstr>Example Step 3: Aggregation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Or Perets</cp:lastModifiedBy>
  <cp:revision>1</cp:revision>
  <dcterms:created xsi:type="dcterms:W3CDTF">2026-02-08T06:06:28Z</dcterms:created>
  <dcterms:modified xsi:type="dcterms:W3CDTF">2026-02-08T06:09:37Z</dcterms:modified>
</cp:coreProperties>
</file>