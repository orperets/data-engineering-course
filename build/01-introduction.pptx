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3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</p:sldIdLst>
  <p:sldSz cx="12192000" cy="6858000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11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0862"/>
    <p:restoredTop sz="94719"/>
  </p:normalViewPr>
  <p:slideViewPr>
    <p:cSldViewPr snapToGrid="0" snapToObjects="1">
      <p:cViewPr varScale="1">
        <p:scale>
          <a:sx d="100" n="148"/>
          <a:sy d="100" n="148"/>
        </p:scale>
        <p:origin x="1528" y="192"/>
      </p:cViewPr>
      <p:guideLst>
        <p:guide orient="horz" pos="2160"/>
        <p:guide pos="3840"/>
      </p:guideLst>
    </p:cSldViewPr>
  </p:slideViewPr>
  <p:notesTextViewPr>
    <p:cViewPr>
      <p:scale>
        <a:sx d="100" n="100"/>
        <a:sy d="100" n="100"/>
      </p:scale>
      <p:origin x="0" y="0"/>
    </p:cViewPr>
  </p:notesTextViewPr>
  <p:notesViewPr>
    <p:cSldViewPr snapToGrid="0" snapToObjects="1">
      <p:cViewPr varScale="1">
        <p:scale>
          <a:sx d="100" n="118"/>
          <a:sy d="100" n="118"/>
        </p:scale>
        <p:origin x="5160" y="216"/>
      </p:cViewPr>
      <p:guideLst/>
    </p:cSldViewPr>
  </p:notes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slide" Target="slides/slide54.xml" /><Relationship Id="rId56" Type="http://schemas.openxmlformats.org/officeDocument/2006/relationships/slide" Target="slides/slide55.xml" /><Relationship Id="rId57" Type="http://schemas.openxmlformats.org/officeDocument/2006/relationships/slide" Target="slides/slide56.xml" /><Relationship Id="rId58" Type="http://schemas.openxmlformats.org/officeDocument/2006/relationships/slide" Target="slides/slide57.xml" /><Relationship Id="rId59" Type="http://schemas.openxmlformats.org/officeDocument/2006/relationships/slide" Target="slides/slide58.xml" /><Relationship Id="rId60" Type="http://schemas.openxmlformats.org/officeDocument/2006/relationships/slide" Target="slides/slide59.xml" /><Relationship Id="rId61" Type="http://schemas.openxmlformats.org/officeDocument/2006/relationships/slide" Target="slides/slide60.xml" /><Relationship Id="rId62" Type="http://schemas.openxmlformats.org/officeDocument/2006/relationships/slide" Target="slides/slide61.xml" /><Relationship Id="rId63" Type="http://schemas.openxmlformats.org/officeDocument/2006/relationships/slide" Target="slides/slide62.xml" /><Relationship Id="rId64" Type="http://schemas.openxmlformats.org/officeDocument/2006/relationships/slide" Target="slides/slide63.xml" /><Relationship Id="rId65" Type="http://schemas.openxmlformats.org/officeDocument/2006/relationships/slide" Target="slides/slide64.xml" /><Relationship Id="rId66" Type="http://schemas.openxmlformats.org/officeDocument/2006/relationships/slide" Target="slides/slide65.xml" /><Relationship Id="rId67" Type="http://schemas.openxmlformats.org/officeDocument/2006/relationships/slide" Target="slides/slide66.xml" /><Relationship Id="rId68" Type="http://schemas.openxmlformats.org/officeDocument/2006/relationships/slide" Target="slides/slide67.xml" /><Relationship Id="rId69" Type="http://schemas.openxmlformats.org/officeDocument/2006/relationships/slide" Target="slides/slide68.xml" /><Relationship Id="rId70" Type="http://schemas.openxmlformats.org/officeDocument/2006/relationships/slide" Target="slides/slide69.xml" /><Relationship Id="rId71" Type="http://schemas.openxmlformats.org/officeDocument/2006/relationships/slide" Target="slides/slide70.xml" /><Relationship Id="rId72" Type="http://schemas.openxmlformats.org/officeDocument/2006/relationships/slide" Target="slides/slide71.xml" /><Relationship Id="rId73" Type="http://schemas.openxmlformats.org/officeDocument/2006/relationships/slide" Target="slides/slide72.xml" /><Relationship Id="rId74" Type="http://schemas.openxmlformats.org/officeDocument/2006/relationships/slide" Target="slides/slide73.xml" /><Relationship Id="rId75" Type="http://schemas.openxmlformats.org/officeDocument/2006/relationships/slide" Target="slides/slide74.xml" /><Relationship Id="rId76" Type="http://schemas.openxmlformats.org/officeDocument/2006/relationships/slide" Target="slides/slide75.xml" /><Relationship Id="rId77" Type="http://schemas.openxmlformats.org/officeDocument/2006/relationships/slide" Target="slides/slide76.xml" /><Relationship Id="rId78" Type="http://schemas.openxmlformats.org/officeDocument/2006/relationships/slide" Target="slides/slide77.xml" /><Relationship Id="rId79" Type="http://schemas.openxmlformats.org/officeDocument/2006/relationships/slide" Target="slides/slide78.xml" /><Relationship Id="rId80" Type="http://schemas.openxmlformats.org/officeDocument/2006/relationships/slide" Target="slides/slide79.xml" /><Relationship Id="rId81" Type="http://schemas.openxmlformats.org/officeDocument/2006/relationships/slide" Target="slides/slide80.xml" /><Relationship Id="rId82" Type="http://schemas.openxmlformats.org/officeDocument/2006/relationships/slide" Target="slides/slide81.xml" /><Relationship Id="rId83" Type="http://schemas.openxmlformats.org/officeDocument/2006/relationships/slide" Target="slides/slide82.xml" /><Relationship Id="rId84" Type="http://schemas.openxmlformats.org/officeDocument/2006/relationships/slide" Target="slides/slide83.xml" /><Relationship Id="rId85" Type="http://schemas.openxmlformats.org/officeDocument/2006/relationships/slide" Target="slides/slide84.xml" /><Relationship Id="rId86" Type="http://schemas.openxmlformats.org/officeDocument/2006/relationships/slide" Target="slides/slide85.xml" /><Relationship Id="rId87" Type="http://schemas.openxmlformats.org/officeDocument/2006/relationships/slide" Target="slides/slide86.xml" /><Relationship Id="rId88" Type="http://schemas.openxmlformats.org/officeDocument/2006/relationships/slide" Target="slides/slide87.xml" /><Relationship Id="rId89" Type="http://schemas.openxmlformats.org/officeDocument/2006/relationships/slide" Target="slides/slide88.xml" /><Relationship Id="rId90" Type="http://schemas.openxmlformats.org/officeDocument/2006/relationships/slide" Target="slides/slide89.xml" /><Relationship Id="rId91" Type="http://schemas.openxmlformats.org/officeDocument/2006/relationships/slide" Target="slides/slide90.xml" /><Relationship Id="rId92" Type="http://schemas.openxmlformats.org/officeDocument/2006/relationships/slide" Target="slides/slide91.xml" /><Relationship Id="rId93" Type="http://schemas.openxmlformats.org/officeDocument/2006/relationships/slide" Target="slides/slide92.xml" /><Relationship Id="rId94" Type="http://schemas.openxmlformats.org/officeDocument/2006/relationships/slide" Target="slides/slide93.xml" /><Relationship Id="rId95" Type="http://schemas.openxmlformats.org/officeDocument/2006/relationships/slide" Target="slides/slide94.xml" /><Relationship Id="rId96" Type="http://schemas.openxmlformats.org/officeDocument/2006/relationships/slide" Target="slides/slide95.xml" /><Relationship Id="rId97" Type="http://schemas.openxmlformats.org/officeDocument/2006/relationships/slide" Target="slides/slide96.xml" /><Relationship Id="rId98" Type="http://schemas.openxmlformats.org/officeDocument/2006/relationships/slide" Target="slides/slide97.xml" /><Relationship Id="rId99" Type="http://schemas.openxmlformats.org/officeDocument/2006/relationships/slide" Target="slides/slide98.xml" /><Relationship Id="rId100" Type="http://schemas.openxmlformats.org/officeDocument/2006/relationships/slide" Target="slides/slide99.xml" /><Relationship Id="rId101" Type="http://schemas.openxmlformats.org/officeDocument/2006/relationships/slide" Target="slides/slide100.xml" /><Relationship Id="rId102" Type="http://schemas.openxmlformats.org/officeDocument/2006/relationships/slide" Target="slides/slide101.xml" /><Relationship Id="rId103" Type="http://schemas.openxmlformats.org/officeDocument/2006/relationships/slide" Target="slides/slide102.xml" /><Relationship Id="rId108" Type="http://schemas.openxmlformats.org/officeDocument/2006/relationships/tableStyles" Target="tableStyles.xml" /><Relationship Id="rId107" Type="http://schemas.openxmlformats.org/officeDocument/2006/relationships/theme" Target="theme/theme1.xml" /><Relationship Id="rId1" Type="http://schemas.openxmlformats.org/officeDocument/2006/relationships/slideMaster" Target="slideMasters/slideMaster1.xml" /><Relationship Id="rId106" Type="http://schemas.openxmlformats.org/officeDocument/2006/relationships/viewProps" Target="viewProps.xml" /><Relationship Id="rId105" Type="http://schemas.openxmlformats.org/officeDocument/2006/relationships/presProps" Target="presProps.xml" /><Relationship Id="rId104" Type="http://schemas.openxmlformats.org/officeDocument/2006/relationships/handoutMaster" Target="handoutMasters/handoutMaster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964B5F-BAD9-9946-9D71-AB5C763DA70C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 sz="3400" b="1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hasCustomPrompt="1"/>
          </p:nvPr>
        </p:nvSpPr>
        <p:spPr/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9E1EEA0-9609-584F-90F2-46E4F93E52CD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A6A5E-CA21-6B4F-9DE7-1A275F321E49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914400" y="2130426"/>
            <a:ext cx="10363200" cy="1470025"/>
          </a:xfrm>
        </p:spPr>
        <p:txBody>
          <a:bodyPr/>
          <a:lstStyle>
            <a:lvl1pPr>
              <a:defRPr sz="42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3C6960-90E0-EA41-937B-E68D4C6A0841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CAE1C8-A9FA-924F-80DA-3B96C0343AF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C92AE4-510D-3C40-B9B0-AA6693EED883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5D179-4B48-7641-AFA1-4656153FFCB8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69621" y="1546412"/>
            <a:ext cx="6338761" cy="457975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 hasCustomPrompt="1"/>
          </p:nvPr>
        </p:nvSpPr>
        <p:spPr>
          <a:xfrm>
            <a:off x="609601" y="1546412"/>
            <a:ext cx="5030548" cy="4579752"/>
          </a:xfrm>
        </p:spPr>
        <p:txBody>
          <a:bodyPr/>
          <a:lstStyle>
            <a:lvl1pPr marL="0" indent="0">
              <a:lnSpc>
                <a:spcPct val="150000"/>
              </a:lnSpc>
              <a:buNone/>
              <a:defRPr sz="2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D96A8D-C7E4-194A-BF0A-D552B24EBF9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2B2D52-0D9F-F345-8384-0DCA30BF1F0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744ED6-1944-D14D-91B5-FC6036DE393D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39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39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268E4D-FFEC-474C-BD1C-299FD021CBA4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oundRect">
            <a:avLst/>
          </a:prstGeom>
          <a:ln w="12700">
            <a:solidFill>
              <a:schemeClr val="accent2"/>
            </a:solidFill>
            <a:extLst>
              <a:ext uri="{C807C97D-BFC1-408E-A445-0C87EB9F89A2}">
                <ask:lineSketchStyleProps xmlns:ask="http://schemas.microsoft.com/office/drawing/2018/sketchyshapes" sd="1219033472">
                  <a:custGeom>
                    <a:avLst/>
                    <a:gdLst>
                      <a:gd fmla="*/ 0 w 10972800" name="csX0"/>
                      <a:gd fmla="*/ 0 h 1143000" name="csY0"/>
                      <a:gd fmla="*/ 10972800 w 10972800" name="csX1"/>
                      <a:gd fmla="*/ 0 h 1143000" name="csY1"/>
                      <a:gd fmla="*/ 10972800 w 10972800" name="csX2"/>
                      <a:gd fmla="*/ 1143000 h 1143000" name="csY2"/>
                      <a:gd fmla="*/ 0 w 10972800" name="csX3"/>
                      <a:gd fmla="*/ 1143000 h 1143000" name="csY3"/>
                      <a:gd fmla="*/ 0 w 10972800" name="csX4"/>
                      <a:gd fmla="*/ 0 h 1143000" name="csY4"/>
                    </a:gdLst>
                    <a:ahLst/>
                    <a:cxnLst>
                      <a:cxn ang="0">
                        <a:pos x="csX0" y="csY0"/>
                      </a:cxn>
                      <a:cxn ang="0">
                        <a:pos x="csX1" y="csY1"/>
                      </a:cxn>
                      <a:cxn ang="0">
                        <a:pos x="csX2" y="csY2"/>
                      </a:cxn>
                      <a:cxn ang="0">
                        <a:pos x="csX3" y="csY3"/>
                      </a:cxn>
                      <a:cxn ang="0">
                        <a:pos x="csX4" y="csY4"/>
                      </a:cxn>
                    </a:cxnLst>
                    <a:rect b="b" l="l" r="r" t="t"/>
                    <a:pathLst>
                      <a:path extrusionOk="0" fill="none" h="1143000" w="10972800">
                        <a:moveTo>
                          <a:pt x="0" y="0"/>
                        </a:moveTo>
                        <a:cubicBezTo>
                          <a:pt x="4674310" y="-49533"/>
                          <a:pt x="6929254" y="-14809"/>
                          <a:pt x="10972800" y="0"/>
                        </a:cubicBezTo>
                        <a:cubicBezTo>
                          <a:pt x="10969069" y="570730"/>
                          <a:pt x="11062171" y="914526"/>
                          <a:pt x="10972800" y="1143000"/>
                        </a:cubicBezTo>
                        <a:cubicBezTo>
                          <a:pt x="6482996" y="1094769"/>
                          <a:pt x="3552735" y="1227455"/>
                          <a:pt x="0" y="1143000"/>
                        </a:cubicBezTo>
                        <a:cubicBezTo>
                          <a:pt x="69309" y="672287"/>
                          <a:pt x="-28229" y="279082"/>
                          <a:pt x="0" y="0"/>
                        </a:cubicBezTo>
                        <a:close/>
                      </a:path>
                      <a:path extrusionOk="0" h="1143000" stroke="0" w="10972800">
                        <a:moveTo>
                          <a:pt x="0" y="0"/>
                        </a:moveTo>
                        <a:cubicBezTo>
                          <a:pt x="3528079" y="118645"/>
                          <a:pt x="9610931" y="116012"/>
                          <a:pt x="10972800" y="0"/>
                        </a:cubicBezTo>
                        <a:cubicBezTo>
                          <a:pt x="11055528" y="134374"/>
                          <a:pt x="10882381" y="1028043"/>
                          <a:pt x="10972800" y="1143000"/>
                        </a:cubicBezTo>
                        <a:cubicBezTo>
                          <a:pt x="8799093" y="1277600"/>
                          <a:pt x="3316512" y="985804"/>
                          <a:pt x="0" y="1143000"/>
                        </a:cubicBezTo>
                        <a:cubicBezTo>
                          <a:pt x="94203" y="956839"/>
                          <a:pt x="-18710" y="289479"/>
                          <a:pt x="0" y="0"/>
                        </a:cubicBezTo>
                        <a:close/>
                      </a:path>
                    </a:pathLst>
                  </a:custGeom>
                  <ask:type>
                    <ask:lineSketchNone/>
                  </ask:type>
                </ask:lineSketchStyleProps>
              </a:ext>
            </a:extLst>
          </a:ln>
        </p:spPr>
        <p:style>
          <a:lnRef idx="2">
            <a:schemeClr val="accent2"/>
          </a:lnRef>
          <a:fillRef idx="1">
            <a:schemeClr val="lt1"/>
          </a:fillRef>
          <a:effectRef idx="0">
            <a:schemeClr val="accent2"/>
          </a:effectRef>
          <a:fontRef idx="minor">
            <a:schemeClr val="dk1"/>
          </a:fontRef>
        </p:style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609600" y="1600201"/>
            <a:ext cx="109728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609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A9E24A-D52C-CB4E-85D6-C52415601A2A}" type="datetime9">
              <a:rPr lang="he-IL" smtClean="0"/>
              <a:t>31 ינואר, 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4165600" y="6356351"/>
            <a:ext cx="3860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8737600" y="6356351"/>
            <a:ext cx="284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Freeform 6">
            <a:extLst>
              <a:ext uri="{FF2B5EF4-FFF2-40B4-BE49-F238E27FC236}">
                <a16:creationId xmlns:a16="http://schemas.microsoft.com/office/drawing/2014/main" id="{9E54F053-C5B3-FA53-FB24-F76EBC23E5F7}"/>
              </a:ext>
            </a:extLst>
          </p:cNvPr>
          <p:cNvSpPr/>
          <p:nvPr/>
        </p:nvSpPr>
        <p:spPr>
          <a:xfrm>
            <a:off x="10492509" y="-832013"/>
            <a:ext cx="5901557" cy="7690013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7150">
            <a:solidFill>
              <a:srgbClr val="941100">
                <a:alpha val="44000"/>
              </a:srgbClr>
            </a:solidFill>
            <a:prstDash val="solid"/>
            <a:miter/>
          </a:ln>
        </p:spPr>
        <p:txBody>
          <a:bodyPr/>
          <a:lstStyle/>
          <a:p>
            <a:endParaRPr lang="en-IL"/>
          </a:p>
        </p:txBody>
      </p:sp>
      <p:sp>
        <p:nvSpPr>
          <p:cNvPr id="12" name="Freeform 20">
            <a:extLst>
              <a:ext uri="{FF2B5EF4-FFF2-40B4-BE49-F238E27FC236}">
                <a16:creationId xmlns:a16="http://schemas.microsoft.com/office/drawing/2014/main" id="{C6ADFD82-3296-8C7F-2ACC-D8399785AC79}"/>
              </a:ext>
            </a:extLst>
          </p:cNvPr>
          <p:cNvSpPr/>
          <p:nvPr/>
        </p:nvSpPr>
        <p:spPr>
          <a:xfrm>
            <a:off x="-6457700" y="-1080266"/>
            <a:ext cx="7329616" cy="7329616"/>
          </a:xfrm>
          <a:custGeom>
            <a:avLst/>
            <a:gdLst/>
            <a:ahLst/>
            <a:cxnLst/>
            <a:rect b="b" l="l" r="r" t="t"/>
            <a:pathLst>
              <a:path h="812800" w="81280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cap="sq" w="514350">
            <a:solidFill>
              <a:srgbClr val="941100">
                <a:alpha val="17929"/>
              </a:srgbClr>
            </a:solidFill>
            <a:prstDash val="solid"/>
            <a:miter/>
          </a:ln>
        </p:spPr>
        <p:txBody>
          <a:bodyPr/>
          <a:lstStyle/>
          <a:p>
            <a:endParaRPr lang="en-IL" sz="933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hdr="0"/>
  <p:txStyles>
    <p:titleStyle>
      <a:lvl1pPr algn="ctr" defTabSz="457200" eaLnBrk="1" hangingPunct="1" latinLnBrk="0" rtl="0">
        <a:spcBef>
          <a:spcPct val="0"/>
        </a:spcBef>
        <a:buNone/>
        <a:defRPr b="1" kern="1200" sz="3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457200" eaLnBrk="1" hangingPunct="1" indent="-342900" latinLnBrk="0" marL="342900" rtl="0">
        <a:lnSpc>
          <a:spcPct val="130000"/>
        </a:lnSpc>
        <a:spcBef>
          <a:spcPts val="0"/>
        </a:spcBef>
        <a:buFont typeface="Arial"/>
        <a:buChar char="•"/>
        <a:defRPr kern="1200" sz="2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indent="-285750" latinLnBrk="0" marL="742950" rtl="0">
        <a:lnSpc>
          <a:spcPct val="130000"/>
        </a:lnSpc>
        <a:spcBef>
          <a:spcPts val="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indent="-228600" latinLnBrk="0" marL="1143000" rtl="0">
        <a:lnSpc>
          <a:spcPct val="130000"/>
        </a:lnSpc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indent="-228600" latinLnBrk="0" marL="1600200" rtl="0">
        <a:lnSpc>
          <a:spcPct val="130000"/>
        </a:lnSpc>
        <a:spcBef>
          <a:spcPts val="0"/>
        </a:spcBef>
        <a:buFont typeface="Arial"/>
        <a:buChar char="–"/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indent="-228600" latinLnBrk="0" marL="2057400" rtl="0">
        <a:lnSpc>
          <a:spcPct val="130000"/>
        </a:lnSpc>
        <a:spcBef>
          <a:spcPts val="0"/>
        </a:spcBef>
        <a:buFont typeface="Arial"/>
        <a:buChar char="»"/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indent="-228600" latinLnBrk="0" marL="25146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indent="-228600" latinLnBrk="0" marL="29718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indent="-228600" latinLnBrk="0" marL="34290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indent="-228600" latinLnBrk="0" marL="3886200" rtl="0">
        <a:spcBef>
          <a:spcPct val="2000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4572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4572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4572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4572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4572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4572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4572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4572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4572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8.png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6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2.png" /></Relationships>
</file>

<file path=ppt/slides/_rels/slide8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2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129F15AE-737D-866E-3CF2-D0120AD833A4}"/>
              </a:ext>
            </a:extLst>
          </p:cNvPr>
          <p:cNvSpPr>
            <a:spLocks noGrp="1"/>
          </p:cNvSpPr>
          <p:nvPr>
            <p:ph hasCustomPrompt="1" type="ctrTitle"/>
          </p:nvPr>
        </p:nvSpPr>
        <p:spPr>
          <a:xfrm>
            <a:off x="914400" y="2130426"/>
            <a:ext cx="10363200" cy="1470025"/>
          </a:xfrm>
        </p:spPr>
        <p:txBody>
          <a:bodyPr/>
          <a:lstStyle/>
          <a:p>
            <a:pPr lvl="0" indent="0" marL="0">
              <a:buNone/>
            </a:pPr>
            <a:r>
              <a:rPr/>
              <a:t>Week 1: Introduction to Data Engineering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Purpose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Why data engineering matters in modern systems</a:t>
            </a:r>
          </a:p>
          <a:p>
            <a:pPr lvl="0"/>
            <a:r>
              <a:rPr/>
              <a:t>Engineering problems that require data engineering</a:t>
            </a:r>
          </a:p>
          <a:p>
            <a:pPr lvl="0"/>
            <a:r>
              <a:rPr/>
              <a:t>Scale, reliability, and cost as first-class concerns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Learning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Frame</a:t>
            </a:r>
            <a:r>
              <a:rPr/>
              <a:t> data engineering as constraints (scale, reliability, cost)</a:t>
            </a:r>
          </a:p>
          <a:p>
            <a:pPr lvl="0"/>
            <a:r>
              <a:rPr/>
              <a:t>Calculate data volume growth and storage requirements</a:t>
            </a:r>
          </a:p>
          <a:p>
            <a:pPr lvl="0"/>
            <a:r>
              <a:rPr/>
              <a:t>Design basic data pipeline architectures</a:t>
            </a:r>
          </a:p>
          <a:p>
            <a:pPr lvl="0"/>
            <a:r>
              <a:rPr/>
              <a:t>Estimate pipeline costs (time, storage, network)</a:t>
            </a:r>
          </a:p>
          <a:p>
            <a:pPr lvl="0"/>
            <a:r>
              <a:rPr/>
              <a:t>Identify failure modes and why systems break</a:t>
            </a:r>
          </a:p>
          <a:p>
            <a:pPr lvl="0"/>
            <a:r>
              <a:rPr/>
              <a:t>Reason about trade-offs: batch vs streaming, SQL vs NoSQL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Data Engineering?</a:t>
            </a:r>
          </a:p>
        </p:txBody>
      </p:sp>
      <p:pic>
        <p:nvPicPr>
          <p:cNvPr descr="../../diagrams/week01/week1_what_is_d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971800"/>
            <a:ext cx="10972800" cy="1778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Constraint:</a:t>
            </a:r>
            <a:r>
              <a:rPr/>
              <a:t> data lives in many systems; consumers need one place</a:t>
            </a:r>
          </a:p>
          <a:p>
            <a:pPr lvl="0"/>
            <a:r>
              <a:rPr b="1"/>
              <a:t>Constraint:</a:t>
            </a:r>
            <a:r>
              <a:rPr/>
              <a:t> volume and velocity grow; single machines break</a:t>
            </a:r>
          </a:p>
          <a:p>
            <a:pPr lvl="0"/>
            <a:r>
              <a:rPr b="1"/>
              <a:t>Constraint:</a:t>
            </a:r>
            <a:r>
              <a:rPr/>
              <a:t> failures happen; pipelines must be rerunnable</a:t>
            </a:r>
          </a:p>
          <a:p>
            <a:pPr lvl="0"/>
            <a:r>
              <a:rPr b="1"/>
              <a:t>Output:</a:t>
            </a:r>
            <a:r>
              <a:rPr/>
              <a:t> clean, queryable data at the right latency and cost</a:t>
            </a:r>
          </a:p>
          <a:p>
            <a:pPr lvl="0"/>
            <a:r>
              <a:rPr b="1"/>
              <a:t>Not:</a:t>
            </a:r>
            <a:r>
              <a:rPr/>
              <a:t> building ML models or dashboards — we build plumbing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exists in many sources (databases, APIs, files)</a:t>
            </a:r>
          </a:p>
          <a:p>
            <a:pPr lvl="0"/>
            <a:r>
              <a:rPr/>
              <a:t>Consumers need unified, reliable access</a:t>
            </a:r>
          </a:p>
          <a:p>
            <a:pPr lvl="0"/>
            <a:r>
              <a:rPr b="1"/>
              <a:t>Scale:</a:t>
            </a:r>
            <a:r>
              <a:rPr/>
              <a:t> millions of records, terabytes daily</a:t>
            </a:r>
          </a:p>
          <a:p>
            <a:pPr lvl="0"/>
            <a:r>
              <a:rPr b="1"/>
              <a:t>Time:</a:t>
            </a:r>
            <a:r>
              <a:rPr/>
              <a:t> batch (hours) vs real-time (seconds)</a:t>
            </a:r>
          </a:p>
          <a:p>
            <a:pPr lvl="0"/>
            <a:r>
              <a:rPr b="1"/>
              <a:t>Quality:</a:t>
            </a:r>
            <a:r>
              <a:rPr/>
              <a:t> missing, duplicate, inconsistent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Formal Volume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hasCustomPrompt="1" idx="1"/>
              </p:nvPr>
            </p:nvSpPr>
            <p:spPr/>
            <p:txBody>
              <a:bodyPr/>
              <a:lstStyle/>
              <a:p>
                <a:pPr lvl="0"/>
                <a:r>
                  <a:rPr/>
                  <a:t>Let (V_d) = daily raw volume (GB/day)</a:t>
                </a:r>
              </a:p>
              <a:p>
                <a:pPr lvl="0"/>
                <a:r>
                  <a:rPr/>
                  <a:t>Retention (R) days, compression factor (c), replication (r)</a:t>
                </a:r>
              </a:p>
              <a:p>
                <a:pPr lvl="0"/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S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sSub>
                            <m:e>
                              <m:r>
                                <m:t>V</m:t>
                              </m:r>
                            </m:e>
                            <m:sub>
                              <m:r>
                                <m:t>d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  <m:r>
                            <m:rPr>
                              <m:sty m:val="p"/>
                            </m:rPr>
                            <m:t>⋅</m:t>
                          </m:r>
                          <m:r>
                            <m:t>r</m:t>
                          </m:r>
                        </m:num>
                        <m:den>
                          <m:r>
                            <m:t>c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Interpretation: total storage footprint across the cluster</a:t>
                </a:r>
              </a:p>
              <a:p>
                <a:pPr lvl="0"/>
                <a:r>
                  <a:rPr/>
                  <a:t>Engineering implication: cost scales linearly in volume and replication</a:t>
                </a:r>
              </a:p>
            </p:txBody>
          </p:sp>
        </mc:Choice>
      </mc:AlternateContent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Business Intelligence Context</a:t>
            </a:r>
          </a:p>
        </p:txBody>
      </p:sp>
      <p:pic>
        <p:nvPicPr>
          <p:cNvPr descr="../../diagrams/week01/week1_bi_contex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3086100"/>
            <a:ext cx="10972800" cy="1536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Intelligence?- </a:t>
            </a:r>
            <a:r>
              <a:rPr b="1"/>
              <a:t>Definition:</a:t>
            </a:r>
            <a:r>
              <a:rPr/>
              <a:t> methodologies and technologies transforming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Converts raw data into significant business information</a:t>
            </a:r>
          </a:p>
          <a:p>
            <a:pPr lvl="0"/>
            <a:r>
              <a:rPr/>
              <a:t>Enables decision-making, not replaces it</a:t>
            </a:r>
          </a:p>
          <a:p>
            <a:pPr lvl="0"/>
            <a:r>
              <a:rPr/>
              <a:t>Use technology as a tool for business purpose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Business Intelligence?- </a:t>
            </a:r>
            <a:r>
              <a:rPr b="1"/>
              <a:t>Benefits:</a:t>
            </a:r>
            <a:r>
              <a:rPr/>
              <a:t> handle large amounts of data efficiently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Identify and evolve new opportunities</a:t>
            </a:r>
          </a:p>
          <a:p>
            <a:pPr lvl="0"/>
            <a:r>
              <a:rPr/>
              <a:t>Provide comparable market benefit and long-term stability</a:t>
            </a:r>
          </a:p>
          <a:p>
            <a:pPr lvl="0"/>
            <a:r>
              <a:rPr/>
              <a:t>Enable data-driven decision making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</a:t>
            </a:r>
          </a:p>
        </p:txBody>
      </p:sp>
      <p:pic>
        <p:nvPicPr>
          <p:cNvPr descr="../../diagrams/week01/week1_data_to_wisdom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84800" y="1600200"/>
            <a:ext cx="1435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 - </a:t>
            </a:r>
            <a:r>
              <a:rPr b="1"/>
              <a:t>Data:</a:t>
            </a:r>
            <a:r>
              <a:rPr/>
              <a:t> raw facts describing event characteristics - Example: 51, 77, 58, 82, 64, 70 - </a:t>
            </a:r>
            <a:r>
              <a:rPr b="1"/>
              <a:t>Information:</a:t>
            </a:r>
            <a:r>
              <a:rPr/>
              <a:t> data converted into meaningful insights - Example: “Test scores; average is 67”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to Wisdom Pyramid- </a:t>
            </a:r>
            <a:r>
              <a:rPr b="1"/>
              <a:t>Knowledge:</a:t>
            </a:r>
            <a:r>
              <a:rPr/>
              <a:t> skills and experience coupled with information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Creates intellectual resources from information</a:t>
            </a:r>
          </a:p>
          <a:p>
            <a:pPr lvl="0"/>
            <a:r>
              <a:rPr b="1"/>
              <a:t>Wisdom:</a:t>
            </a:r>
            <a:r>
              <a:rPr/>
              <a:t> applied knowledge — knowing what to do</a:t>
            </a:r>
          </a:p>
          <a:p>
            <a:pPr lvl="0"/>
            <a:r>
              <a:rPr/>
              <a:t>Example: “I better stop the car!” at red light</a:t>
            </a:r>
          </a:p>
          <a:p>
            <a:pPr lvl="0"/>
            <a:r>
              <a:rPr b="1"/>
              <a:t>DE builds:</a:t>
            </a:r>
            <a:r>
              <a:rPr/>
              <a:t> pipeline from raw data to information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Engineering- </a:t>
            </a:r>
            <a:r>
              <a:rPr b="1"/>
              <a:t>Definition:</a:t>
            </a:r>
            <a:r>
              <a:rPr/>
              <a:t> computational process discovering patterns in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Uses AI, ML, statistics, and database systems</a:t>
            </a:r>
          </a:p>
          <a:p>
            <a:pPr lvl="0"/>
            <a:r>
              <a:rPr/>
              <a:t>Operates on large data sets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Mining in Data Engineering- </a:t>
            </a:r>
            <a:r>
              <a:rPr b="1"/>
              <a:t>Tasks:</a:t>
            </a:r>
            <a:r>
              <a:rPr/>
              <a:t> classification, estimation,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Tasks:</a:t>
            </a:r>
            <a:r>
              <a:rPr/>
              <a:t> affinity grouping, description (finding patterns)</a:t>
            </a:r>
          </a:p>
          <a:p>
            <a:pPr lvl="0"/>
            <a:r>
              <a:rPr b="1"/>
              <a:t>Techniques:</a:t>
            </a:r>
            <a:r>
              <a:rPr/>
              <a:t> market basket, clustering, PCA, decision trees</a:t>
            </a:r>
          </a:p>
          <a:p>
            <a:pPr lvl="0"/>
            <a:r>
              <a:rPr b="1"/>
              <a:t>Role in DE:</a:t>
            </a:r>
            <a:r>
              <a:rPr/>
              <a:t> provides clean data that mining consumes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Databases- </a:t>
            </a:r>
            <a:r>
              <a:rPr b="1"/>
              <a:t>Definition:</a:t>
            </a:r>
            <a:r>
              <a:rPr/>
              <a:t> automatic extraction of hidden knowledge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Extracts non-obvious patterns from large data volumes</a:t>
            </a:r>
          </a:p>
          <a:p>
            <a:pPr lvl="0"/>
            <a:r>
              <a:rPr b="1"/>
              <a:t>Process:</a:t>
            </a:r>
            <a:r>
              <a:rPr/>
              <a:t> Cleaning → Integration → Selection → Mining → Evaluation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Knowledge Discovery in Databases- </a:t>
            </a:r>
            <a:r>
              <a:rPr b="1"/>
              <a:t>Intersecting fields:</a:t>
            </a:r>
            <a:r>
              <a:rPr/>
              <a:t> databases, statistics, machine learning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Databases store and provide access</a:t>
            </a:r>
          </a:p>
          <a:p>
            <a:pPr lvl="0"/>
            <a:r>
              <a:rPr/>
              <a:t>Statistics infer information from samples</a:t>
            </a:r>
          </a:p>
          <a:p>
            <a:pPr lvl="0"/>
            <a:r>
              <a:rPr/>
              <a:t>ML provides algorithms that improve through experience</a:t>
            </a:r>
          </a:p>
          <a:p>
            <a:pPr lvl="0"/>
            <a:r>
              <a:rPr b="1"/>
              <a:t>DWH role:</a:t>
            </a:r>
            <a:r>
              <a:rPr/>
              <a:t> integrated data; OLAP enables KDD at scale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Data Science</a:t>
            </a:r>
          </a:p>
        </p:txBody>
      </p:sp>
      <p:pic>
        <p:nvPicPr>
          <p:cNvPr descr="../../diagrams/week01/week1_de_vs_d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1600200"/>
            <a:ext cx="34671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Science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predictive models</a:t>
            </a:r>
          </a:p>
          <a:p>
            <a:pPr lvl="0"/>
            <a:r>
              <a:rPr/>
              <a:t>Statistical analysis</a:t>
            </a:r>
          </a:p>
          <a:p>
            <a:pPr lvl="0"/>
            <a:r>
              <a:rPr/>
              <a:t>Experimentation</a:t>
            </a:r>
          </a:p>
          <a:p>
            <a:pPr lvl="0"/>
            <a:r>
              <a:rPr/>
              <a:t>Output: insights, predictions, recommendations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Build data pipelines</a:t>
            </a:r>
          </a:p>
          <a:p>
            <a:pPr lvl="0"/>
            <a:r>
              <a:rPr/>
              <a:t>Infrastructure and reliability</a:t>
            </a:r>
          </a:p>
          <a:p>
            <a:pPr lvl="0"/>
            <a:r>
              <a:rPr/>
              <a:t>Scale and performance</a:t>
            </a:r>
          </a:p>
          <a:p>
            <a:pPr lvl="0"/>
            <a:r>
              <a:rPr/>
              <a:t>Output: datasets, APIs, data products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Overlap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Both need clean data</a:t>
            </a:r>
          </a:p>
          <a:p>
            <a:pPr lvl="0"/>
            <a:r>
              <a:rPr/>
              <a:t>Both work with large datasets</a:t>
            </a:r>
          </a:p>
          <a:p>
            <a:pPr lvl="0"/>
            <a:r>
              <a:rPr/>
              <a:t>Engineering enables science</a:t>
            </a:r>
          </a:p>
          <a:p>
            <a:pPr lvl="0"/>
            <a:r>
              <a:rPr/>
              <a:t>Science informs engineering requirements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vs Analytics</a:t>
            </a:r>
          </a:p>
        </p:txBody>
      </p:sp>
      <p:pic>
        <p:nvPicPr>
          <p:cNvPr descr="../../diagrams/week01/week1_de_vs_analytic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422900" y="1600200"/>
            <a:ext cx="1346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Analytics Focus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Answer business questions</a:t>
            </a:r>
          </a:p>
          <a:p>
            <a:pPr lvl="0"/>
            <a:r>
              <a:rPr/>
              <a:t>Create reports and dashboards</a:t>
            </a:r>
          </a:p>
          <a:p>
            <a:pPr lvl="0"/>
            <a:r>
              <a:rPr/>
              <a:t>Ad-hoc exploration</a:t>
            </a:r>
          </a:p>
          <a:p>
            <a:pPr lvl="0"/>
            <a:r>
              <a:rPr/>
              <a:t>Output: charts, tables, insights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Focus (Analytics Context)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Make analytics possible</a:t>
            </a:r>
          </a:p>
          <a:p>
            <a:pPr lvl="0"/>
            <a:r>
              <a:rPr/>
              <a:t>Provide reliable data infrastructure</a:t>
            </a:r>
          </a:p>
          <a:p>
            <a:pPr lvl="0"/>
            <a:r>
              <a:rPr/>
              <a:t>Automate data preparation</a:t>
            </a:r>
          </a:p>
          <a:p>
            <a:pPr lvl="0"/>
            <a:r>
              <a:rPr/>
              <a:t>Output: data platforms, pipelines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Relationship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Analytics consumes engineering output</a:t>
            </a:r>
          </a:p>
          <a:p>
            <a:pPr lvl="0"/>
            <a:r>
              <a:rPr/>
              <a:t>Engineering builds what analytics needs</a:t>
            </a:r>
          </a:p>
          <a:p>
            <a:pPr lvl="0"/>
            <a:r>
              <a:rPr/>
              <a:t>Both serve business stakeholders</a:t>
            </a:r>
          </a:p>
          <a:p>
            <a:pPr lvl="0"/>
            <a:r>
              <a:rPr/>
              <a:t>Clear separation of concerns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Data Engineering Exists</a:t>
            </a:r>
          </a:p>
        </p:txBody>
      </p:sp>
      <p:pic>
        <p:nvPicPr>
          <p:cNvPr descr="../../diagrams/week01/week1_why_de_exis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432300" y="1600200"/>
            <a:ext cx="33274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Scale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2010: 1 TB/day typical company</a:t>
            </a:r>
          </a:p>
          <a:p>
            <a:pPr lvl="0"/>
            <a:r>
              <a:rPr/>
              <a:t>2020: 1 PB/day at scale</a:t>
            </a:r>
          </a:p>
          <a:p>
            <a:pPr lvl="0"/>
            <a:r>
              <a:rPr/>
              <a:t>Growth: ~10× every 5 years</a:t>
            </a:r>
          </a:p>
          <a:p>
            <a:pPr lvl="0"/>
            <a:r>
              <a:rPr/>
              <a:t>Linear scripts and single-node DBs hit a wall</a:t>
            </a:r>
          </a:p>
          <a:p>
            <a:pPr lvl="0"/>
            <a:r>
              <a:rPr b="1"/>
              <a:t>Cost of naïveté:</a:t>
            </a:r>
            <a:r>
              <a:rPr/>
              <a:t> 20-hour runs, then failures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Variety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Sources: databases, APIs, logs, files</a:t>
            </a:r>
          </a:p>
          <a:p>
            <a:pPr lvl="0"/>
            <a:r>
              <a:rPr/>
              <a:t>Formats: JSON, CSV, Parquet, Avro</a:t>
            </a:r>
          </a:p>
          <a:p>
            <a:pPr lvl="0"/>
            <a:r>
              <a:rPr/>
              <a:t>Schemas: structured, semi-structured, unstructured</a:t>
            </a:r>
          </a:p>
          <a:p>
            <a:pPr lvl="0"/>
            <a:r>
              <a:rPr b="1"/>
              <a:t>Constraint:</a:t>
            </a:r>
            <a:r>
              <a:rPr/>
              <a:t> integration is complex and error-prone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Velocity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Batch: process once per day</a:t>
            </a:r>
          </a:p>
          <a:p>
            <a:pPr lvl="0"/>
            <a:r>
              <a:rPr/>
              <a:t>Streaming: process in real-time</a:t>
            </a:r>
          </a:p>
          <a:p>
            <a:pPr lvl="0"/>
            <a:r>
              <a:rPr/>
              <a:t>Latency: seconds to hours; throughput: 100K–1M events/sec</a:t>
            </a:r>
          </a:p>
          <a:p>
            <a:pPr lvl="0"/>
            <a:r>
              <a:rPr b="1"/>
              <a:t>Trade-off:</a:t>
            </a:r>
            <a:r>
              <a:rPr/>
              <a:t> lower latency ⇒ more complexity and cost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Reliability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Data: missing, wrong, late</a:t>
            </a:r>
          </a:p>
          <a:p>
            <a:pPr lvl="0"/>
            <a:r>
              <a:rPr/>
              <a:t>Systems: nodes crash, network partitions</a:t>
            </a:r>
          </a:p>
          <a:p>
            <a:pPr lvl="0"/>
            <a:r>
              <a:rPr b="1"/>
              <a:t>Production reality:</a:t>
            </a:r>
            <a:r>
              <a:rPr/>
              <a:t> pipelines fail</a:t>
            </a:r>
          </a:p>
          <a:p>
            <a:pPr lvl="0"/>
            <a:r>
              <a:rPr/>
              <a:t>Business impact: wrong decisions, lost revenue</a:t>
            </a:r>
          </a:p>
          <a:p>
            <a:pPr lvl="0"/>
            <a:r>
              <a:rPr b="1"/>
              <a:t>Design for failure from day one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Engineering Lifecycle</a:t>
            </a:r>
          </a:p>
        </p:txBody>
      </p:sp>
      <p:pic>
        <p:nvPicPr>
          <p:cNvPr descr="../../diagrams/week01/week1_lifecycle_phase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959100"/>
            <a:ext cx="10972800" cy="1790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Extract data from sources</a:t>
            </a:r>
          </a:p>
          <a:p>
            <a:pPr lvl="0"/>
            <a:r>
              <a:rPr/>
              <a:t>Handle failures and retries</a:t>
            </a:r>
          </a:p>
          <a:p>
            <a:pPr lvl="0"/>
            <a:r>
              <a:rPr/>
              <a:t>Validate basic structure</a:t>
            </a:r>
          </a:p>
          <a:p>
            <a:pPr lvl="0"/>
            <a:r>
              <a:rPr/>
              <a:t>Store raw data (immutable)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storage format</a:t>
            </a:r>
          </a:p>
          <a:p>
            <a:pPr lvl="0"/>
            <a:r>
              <a:rPr/>
              <a:t>Partition by time/keys</a:t>
            </a:r>
          </a:p>
          <a:p>
            <a:pPr lvl="0"/>
            <a:r>
              <a:rPr/>
              <a:t>Replicate for availability</a:t>
            </a:r>
          </a:p>
          <a:p>
            <a:pPr lvl="0"/>
            <a:r>
              <a:rPr/>
              <a:t>Optimize for access patterns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Context: Social Media Platform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Posts: 500M rows; 2.1 KB/row</a:t>
            </a:r>
          </a:p>
          <a:p>
            <a:pPr lvl="0"/>
            <a:r>
              <a:rPr/>
              <a:t>Interactions: 10B rows; 33 bytes/row</a:t>
            </a:r>
          </a:p>
          <a:p>
            <a:pPr lvl="0"/>
            <a:r>
              <a:rPr/>
              <a:t>Users: 100M rows; 1.2 KB/row</a:t>
            </a:r>
          </a:p>
          <a:p>
            <a:pPr lvl="0"/>
            <a:r>
              <a:rPr/>
              <a:t>Raw: JSON; Processed: Parquet (5× compression)</a:t>
            </a:r>
          </a:p>
          <a:p>
            <a:pPr lvl="0"/>
            <a:r>
              <a:rPr/>
              <a:t>Retention: 90 days raw; 365 days processed</a:t>
            </a:r>
          </a:p>
          <a:p>
            <a:pPr lvl="0"/>
            <a:r>
              <a:rPr/>
              <a:t>Replication: 3×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Storage Sizing Warm-up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Compute raw storage for posts, interactions, users</a:t>
            </a:r>
          </a:p>
          <a:p>
            <a:pPr lvl="0"/>
            <a:r>
              <a:rPr/>
              <a:t>Compute Parquet size with 5× compression</a:t>
            </a:r>
          </a:p>
          <a:p>
            <a:pPr lvl="0"/>
            <a:r>
              <a:rPr/>
              <a:t>Compute 90-day raw retention storage</a:t>
            </a:r>
          </a:p>
          <a:p>
            <a:pPr lvl="0"/>
            <a:r>
              <a:rPr/>
              <a:t>Compute total with 3× replication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Solution- Posts raw: 500M × 2.1 KB ≈ 1,050 GB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Interactions raw: 10B × 33 B ≈ 330 GB</a:t>
            </a:r>
          </a:p>
          <a:p>
            <a:pPr lvl="0"/>
            <a:r>
              <a:rPr/>
              <a:t>Users raw: 100M × 1.2 KB ≈ 120 GB</a:t>
            </a:r>
          </a:p>
          <a:p>
            <a:pPr lvl="0"/>
            <a:r>
              <a:rPr/>
              <a:t>Total raw ≈ 1,500 GB (1.5 TB)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Solution- Parquet 5×: 1,500 GB / 5 ≈ 300 GB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90-day raw: 27.6 GB/day × 90 ≈ 2.5 TB</a:t>
            </a:r>
          </a:p>
          <a:p>
            <a:pPr lvl="0"/>
            <a:r>
              <a:rPr/>
              <a:t>Replication 3×: raw 7.5 TB; processed 0.9 TB</a:t>
            </a:r>
          </a:p>
          <a:p>
            <a:pPr lvl="0"/>
            <a:r>
              <a:rPr/>
              <a:t>Total with replicas ≈ 8.4 TB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1: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 sizing must include compression, retention, replication</a:t>
            </a:r>
          </a:p>
          <a:p>
            <a:pPr lvl="0"/>
            <a:r>
              <a:rPr/>
              <a:t>Raw and processed layers have very different footprints</a:t>
            </a:r>
          </a:p>
          <a:p>
            <a:pPr lvl="0"/>
            <a:r>
              <a:rPr/>
              <a:t>Early sizing prevents cost surprises later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Processing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raw to processed</a:t>
            </a:r>
          </a:p>
          <a:p>
            <a:pPr lvl="0"/>
            <a:r>
              <a:rPr/>
              <a:t>Clean, deduplicate, enrich</a:t>
            </a:r>
          </a:p>
          <a:p>
            <a:pPr lvl="0"/>
            <a:r>
              <a:rPr/>
              <a:t>Aggregate and join</a:t>
            </a:r>
          </a:p>
          <a:p>
            <a:pPr lvl="0"/>
            <a:r>
              <a:rPr/>
              <a:t>Apply business logic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Consumption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Serve to analytics tools</a:t>
            </a:r>
          </a:p>
          <a:p>
            <a:pPr lvl="0"/>
            <a:r>
              <a:rPr/>
              <a:t>Provide APIs for applications</a:t>
            </a:r>
          </a:p>
          <a:p>
            <a:pPr lvl="0"/>
            <a:r>
              <a:rPr/>
              <a:t>Generate reports</a:t>
            </a:r>
          </a:p>
          <a:p>
            <a:pPr lvl="0"/>
            <a:r>
              <a:rPr/>
              <a:t>Feed ML models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Lifecycle Diagram</a:t>
            </a:r>
          </a:p>
        </p:txBody>
      </p:sp>
      <p:pic>
        <p:nvPicPr>
          <p:cNvPr descr="../../diagrams/week01/week1_lecture_slide12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835400" y="1600200"/>
            <a:ext cx="4508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</a:t>
            </a:r>
          </a:p>
        </p:txBody>
      </p:sp>
      <p:pic>
        <p:nvPicPr>
          <p:cNvPr descr="../../diagrams/week01/week1_data_pipelin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9600" y="2260600"/>
            <a:ext cx="10972800" cy="3187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Sequence of processing steps: Input → Transform → Output</a:t>
            </a:r>
          </a:p>
          <a:p>
            <a:pPr lvl="0"/>
            <a:r>
              <a:rPr/>
              <a:t>Each step: independent, testable</a:t>
            </a:r>
          </a:p>
          <a:p>
            <a:pPr lvl="0"/>
            <a:r>
              <a:rPr b="1"/>
              <a:t>Failure in one step must not leave partial state</a:t>
            </a:r>
          </a:p>
          <a:p>
            <a:pPr lvl="0"/>
            <a:r>
              <a:rPr b="1"/>
              <a:t>Constraint:</a:t>
            </a:r>
            <a:r>
              <a:rPr/>
              <a:t> design so reruns produce same result (idempotency)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ELT- </a:t>
            </a:r>
            <a:r>
              <a:rPr b="1"/>
              <a:t>ETL:</a:t>
            </a:r>
            <a:r>
              <a:rPr/>
              <a:t> Extract → Transform → Load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Transform before load; smaller storage, faster queries</a:t>
            </a:r>
          </a:p>
          <a:p>
            <a:pPr lvl="0"/>
            <a:r>
              <a:rPr b="1"/>
              <a:t>ELT:</a:t>
            </a:r>
            <a:r>
              <a:rPr/>
              <a:t> Extract → Load → Transform</a:t>
            </a:r>
          </a:p>
          <a:p>
            <a:pPr lvl="0"/>
            <a:r>
              <a:rPr/>
              <a:t>Load raw first; preserve raw data, flexible analytics later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ETL vs ELT- </a:t>
            </a:r>
            <a:r>
              <a:rPr b="1"/>
              <a:t>ETL cost:</a:t>
            </a:r>
            <a:r>
              <a:rPr/>
              <a:t> compute up front + less storage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ELT cost:</a:t>
            </a:r>
            <a:r>
              <a:rPr/>
              <a:t> more storage + compute on demand</a:t>
            </a:r>
          </a:p>
          <a:p>
            <a:pPr lvl="0"/>
            <a:r>
              <a:rPr/>
              <a:t>ETL: good when schema and consumers are stable</a:t>
            </a:r>
          </a:p>
          <a:p>
            <a:pPr lvl="0"/>
            <a:r>
              <a:rPr/>
              <a:t>ELT: good when requirements change</a:t>
            </a:r>
          </a:p>
          <a:p>
            <a:pPr lvl="0"/>
            <a:r>
              <a:rPr b="1"/>
              <a:t>Opinion:</a:t>
            </a:r>
            <a:r>
              <a:rPr/>
              <a:t> keep raw immutable; prefer ELT-style raw layer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</a:t>
            </a:r>
          </a:p>
        </p:txBody>
      </p:sp>
      <p:pic>
        <p:nvPicPr>
          <p:cNvPr descr="../../diagrams/week01/week1_core_concept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025900" y="1600200"/>
            <a:ext cx="41275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Batch vs Streaming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Batch:</a:t>
            </a:r>
            <a:r>
              <a:rPr/>
              <a:t> chunks; hourly/daily; latency minutes–hours</a:t>
            </a:r>
          </a:p>
          <a:p>
            <a:pPr lvl="0"/>
            <a:r>
              <a:rPr/>
              <a:t>Simpler, cheaper; </a:t>
            </a:r>
            <a:r>
              <a:rPr b="1"/>
              <a:t>breaks when</a:t>
            </a:r>
            <a:r>
              <a:rPr/>
              <a:t> latency drops to seconds</a:t>
            </a:r>
          </a:p>
          <a:p>
            <a:pPr lvl="0"/>
            <a:r>
              <a:rPr b="1"/>
              <a:t>Streaming:</a:t>
            </a:r>
            <a:r>
              <a:rPr/>
              <a:t> continuous; real-time; latency ms–sec</a:t>
            </a:r>
          </a:p>
          <a:p>
            <a:pPr lvl="0"/>
            <a:r>
              <a:rPr/>
              <a:t>Complex, expensive; </a:t>
            </a:r>
            <a:r>
              <a:rPr b="1"/>
              <a:t>breaks when</a:t>
            </a:r>
            <a:r>
              <a:rPr/>
              <a:t> throughput spikes</a:t>
            </a:r>
          </a:p>
          <a:p>
            <a:pPr lvl="0"/>
            <a:r>
              <a:rPr b="1"/>
              <a:t>Hybrid:</a:t>
            </a:r>
            <a:r>
              <a:rPr/>
              <a:t> batch for history, stream for recent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Batch vs Streaming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Trending posts needed within 5 minutes</a:t>
            </a:r>
          </a:p>
          <a:p>
            <a:pPr lvl="0"/>
            <a:r>
              <a:rPr/>
              <a:t>Batch: run every 5 minutes; $0.10 per run</a:t>
            </a:r>
          </a:p>
          <a:p>
            <a:pPr lvl="0"/>
            <a:r>
              <a:rPr/>
              <a:t>Streaming: always on; $2.00 per hour</a:t>
            </a:r>
          </a:p>
          <a:p>
            <a:pPr lvl="0"/>
            <a:r>
              <a:rPr/>
              <a:t>Compute daily cost for batch vs streaming</a:t>
            </a:r>
          </a:p>
          <a:p>
            <a:pPr lvl="0"/>
            <a:r>
              <a:rPr/>
              <a:t>Decide approach if latency &lt; 1 minute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Solution- Batch daily cost: 288 runs × $0.10 = $28.80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Streaming daily cost: 24 hours × $2.00 = $48.00</a:t>
            </a:r>
          </a:p>
          <a:p>
            <a:pPr lvl="0"/>
            <a:r>
              <a:rPr/>
              <a:t>Streaming costs $19.20 more per day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Solution- Latency &lt; 1 minute: batch fails; streaming required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If cost dominates: batch is cheaper</a:t>
            </a:r>
          </a:p>
          <a:p>
            <a:pPr lvl="0"/>
            <a:r>
              <a:rPr/>
              <a:t>Hybrid: stream recent, batch history for lower cost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2: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Latency targets can force streaming despite higher cost</a:t>
            </a:r>
          </a:p>
          <a:p>
            <a:pPr lvl="0"/>
            <a:r>
              <a:rPr/>
              <a:t>Cost math makes trade-offs explicit and defensible</a:t>
            </a:r>
          </a:p>
          <a:p>
            <a:pPr lvl="0"/>
            <a:r>
              <a:rPr/>
              <a:t>Hybrid designs often balance speed and budget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Schema-on-Write vs Schema-on-Read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Schema-on-write: validate at ingestion (warehouse)</a:t>
            </a:r>
          </a:p>
          <a:p>
            <a:pPr lvl="0"/>
            <a:r>
              <a:rPr b="1"/>
              <a:t>Fails fast</a:t>
            </a:r>
            <a:r>
              <a:rPr/>
              <a:t>, rigid</a:t>
            </a:r>
          </a:p>
          <a:p>
            <a:pPr lvl="0"/>
            <a:r>
              <a:rPr/>
              <a:t>Schema-on-read: validate at query time (lake)</a:t>
            </a:r>
          </a:p>
          <a:p>
            <a:pPr lvl="0"/>
            <a:r>
              <a:rPr b="1"/>
              <a:t>Flexible</a:t>
            </a:r>
            <a:r>
              <a:rPr/>
              <a:t>, risk of garbage-in</a:t>
            </a:r>
          </a:p>
          <a:p>
            <a:pPr lvl="0"/>
            <a:r>
              <a:rPr b="1"/>
              <a:t>Trade-off:</a:t>
            </a:r>
            <a:r>
              <a:rPr/>
              <a:t> strict schema vs agility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Core Concepts- </a:t>
            </a:r>
            <a:r>
              <a:rPr b="1"/>
              <a:t>One clear choice per pipeline:</a:t>
            </a:r>
            <a:r>
              <a:rPr/>
              <a:t> ETL or ELT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Choose batch or stream; schema-on-write or -read</a:t>
            </a:r>
          </a:p>
          <a:p>
            <a:pPr lvl="0"/>
            <a:r>
              <a:rPr/>
              <a:t>Mixing without boundaries leads to cost overruns</a:t>
            </a:r>
          </a:p>
          <a:p>
            <a:pPr lvl="0"/>
            <a:r>
              <a:rPr/>
              <a:t>Results in unmaintainable pipelines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of Naïve Design — What Goes Wrong Without Discipline- </a:t>
            </a:r>
            <a:r>
              <a:rPr b="1"/>
              <a:t>Naïve:</a:t>
            </a:r>
            <a:r>
              <a:rPr/>
              <a:t> “one script, one DB, run nightly”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Works until volume doubles; then 20-hour runs</a:t>
            </a:r>
          </a:p>
          <a:p>
            <a:pPr lvl="0"/>
            <a:r>
              <a:rPr/>
              <a:t>Timeouts, no observability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Goes Wrong Without Discipline- </a:t>
            </a:r>
            <a:r>
              <a:rPr b="1"/>
              <a:t>Naïve:</a:t>
            </a:r>
            <a:r>
              <a:rPr/>
              <a:t> no raw layer — cannot reprocess on schema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Cost:</a:t>
            </a:r>
            <a:r>
              <a:rPr/>
              <a:t> full re-ingestion or lost history</a:t>
            </a:r>
          </a:p>
          <a:p>
            <a:pPr lvl="0"/>
            <a:r>
              <a:rPr b="1"/>
              <a:t>Naïve:</a:t>
            </a:r>
            <a:r>
              <a:rPr/>
              <a:t> no idempotency — rerun doubles counts</a:t>
            </a:r>
          </a:p>
          <a:p>
            <a:pPr lvl="0"/>
            <a:r>
              <a:rPr b="1"/>
              <a:t>Takeaway:</a:t>
            </a:r>
            <a:r>
              <a:rPr/>
              <a:t> constraints force pipeline design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Data &amp; Goal: Scenario (E-commerce Clickstream)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Source: web server logs</a:t>
            </a:r>
          </a:p>
          <a:p>
            <a:pPr lvl="0"/>
            <a:r>
              <a:rPr/>
              <a:t>Volume: 10M events/day</a:t>
            </a:r>
          </a:p>
          <a:p>
            <a:pPr lvl="0"/>
            <a:r>
              <a:rPr/>
              <a:t>Format: JSON, 500 bytes/event</a:t>
            </a:r>
          </a:p>
          <a:p>
            <a:pPr lvl="0"/>
            <a:r>
              <a:rPr/>
              <a:t>Content: user_id, page, timestamp, action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daily page views per product</a:t>
            </a:r>
          </a:p>
          <a:p>
            <a:pPr lvl="0"/>
            <a:r>
              <a:rPr/>
              <a:t>Serve to analytics dashboard</a:t>
            </a:r>
          </a:p>
          <a:p>
            <a:pPr lvl="0"/>
            <a:r>
              <a:rPr/>
              <a:t>Latency: data available within 1 hour</a:t>
            </a:r>
          </a:p>
          <a:p>
            <a:pPr lvl="0"/>
            <a:r>
              <a:rPr/>
              <a:t>Reliability: 99.9% success rate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Constraints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Storage: 5 GB/day raw logs</a:t>
            </a:r>
          </a:p>
          <a:p>
            <a:pPr lvl="0"/>
            <a:r>
              <a:rPr/>
              <a:t>Processing: 1 hour window acceptable</a:t>
            </a:r>
          </a:p>
          <a:p>
            <a:pPr lvl="0"/>
            <a:r>
              <a:rPr/>
              <a:t>Cost: minimize compute hours</a:t>
            </a:r>
          </a:p>
          <a:p>
            <a:pPr lvl="0"/>
            <a:r>
              <a:rPr/>
              <a:t>Quality: handle missing user_ids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Ingestion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Read log files from S3</a:t>
            </a:r>
          </a:p>
          <a:p>
            <a:pPr lvl="0"/>
            <a:r>
              <a:rPr/>
              <a:t>Parse JSON events</a:t>
            </a:r>
          </a:p>
          <a:p>
            <a:pPr lvl="0"/>
            <a:r>
              <a:rPr/>
              <a:t>Validate: timestamp, page present</a:t>
            </a:r>
          </a:p>
          <a:p>
            <a:pPr lvl="0"/>
            <a:r>
              <a:rPr/>
              <a:t>Write to raw storage (Parquet)</a:t>
            </a:r>
          </a:p>
          <a:p>
            <a:pPr lvl="0"/>
            <a:r>
              <a:rPr/>
              <a:t>Output: 10M events, 5 GB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Ingestion Diagram</a:t>
            </a:r>
          </a:p>
        </p:txBody>
      </p:sp>
      <p:pic>
        <p:nvPicPr>
          <p:cNvPr descr="../../diagrams/week01/week1_lecture_slide20_inges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65400" y="1600200"/>
            <a:ext cx="70612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Transformation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Filter: only “page_view” events</a:t>
            </a:r>
          </a:p>
          <a:p>
            <a:pPr lvl="0"/>
            <a:r>
              <a:rPr/>
              <a:t>Extract: product_id from page URL</a:t>
            </a:r>
          </a:p>
          <a:p>
            <a:pPr lvl="0"/>
            <a:r>
              <a:rPr/>
              <a:t>Clean: remove invalid product_ids</a:t>
            </a:r>
          </a:p>
          <a:p>
            <a:pPr lvl="0"/>
            <a:r>
              <a:rPr/>
              <a:t>Group: by (date, product_id)</a:t>
            </a:r>
          </a:p>
          <a:p>
            <a:pPr lvl="0"/>
            <a:r>
              <a:rPr/>
              <a:t>Count: events per group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Transformation Logic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Input: {user_id, page, timestamp, action}
Filter: action == "page_view"
Extract: product_id = parse(page)
Group: (date(timestamp), product_id)
Output: (date, product_id, view_count)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Aggregation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Input: filtered events (8M after filter)</a:t>
            </a:r>
          </a:p>
          <a:p>
            <a:pPr lvl="0"/>
            <a:r>
              <a:rPr/>
              <a:t>Group by: (date, product_id)</a:t>
            </a:r>
          </a:p>
          <a:p>
            <a:pPr lvl="0"/>
            <a:r>
              <a:rPr/>
              <a:t>Aggregate: count(*) as views</a:t>
            </a:r>
          </a:p>
          <a:p>
            <a:pPr lvl="0"/>
            <a:r>
              <a:rPr/>
              <a:t>Output: 50K products × 1 day = 50K rows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Aggregation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Raw: 8M page_view events
Group: by (2024-01-15, product_123)
Result: 1,250 views for product_123
Output row: (2024-01-15, product_123, 1250)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Running Example — Step-by-Step: Load to Analytics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Write aggregated results</a:t>
            </a:r>
          </a:p>
          <a:p>
            <a:pPr lvl="0"/>
            <a:r>
              <a:rPr/>
              <a:t>Format: Parquet, partitioned by date</a:t>
            </a:r>
          </a:p>
          <a:p>
            <a:pPr lvl="0"/>
            <a:r>
              <a:rPr/>
              <a:t>Destination: data warehouse</a:t>
            </a:r>
          </a:p>
          <a:p>
            <a:pPr lvl="0"/>
            <a:r>
              <a:rPr/>
              <a:t>Size: 50K rows × 100 bytes = 5 MB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Reduction: 5 GB → 5 MB (1000×)</a:t>
            </a:r>
          </a:p>
          <a:p>
            <a:pPr lvl="0"/>
            <a:r>
              <a:rPr/>
              <a:t>Latency: 45 minutes end-to-end</a:t>
            </a:r>
          </a:p>
          <a:p>
            <a:pPr lvl="0"/>
            <a:r>
              <a:rPr/>
              <a:t>Cost: $0.50 per day (compute)</a:t>
            </a:r>
          </a:p>
          <a:p>
            <a:pPr lvl="0"/>
            <a:r>
              <a:rPr/>
              <a:t>Reliability: 99.95% success rate</a:t>
            </a:r>
          </a:p>
          <a:p>
            <a:pPr lvl="0"/>
            <a:r>
              <a:rPr/>
              <a:t>Trade-off: 1-hour delay acceptable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Time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10 minutes (I/O bound)</a:t>
            </a:r>
          </a:p>
          <a:p>
            <a:pPr lvl="0"/>
            <a:r>
              <a:rPr/>
              <a:t>Transformation: 20 minutes (CPU bound)</a:t>
            </a:r>
          </a:p>
          <a:p>
            <a:pPr lvl="0"/>
            <a:r>
              <a:rPr/>
              <a:t>Aggregation: 10 minutes (CPU bound)</a:t>
            </a:r>
          </a:p>
          <a:p>
            <a:pPr lvl="0"/>
            <a:r>
              <a:rPr/>
              <a:t>Load: 5 minutes (I/O bound)</a:t>
            </a:r>
          </a:p>
          <a:p>
            <a:pPr lvl="0"/>
            <a:r>
              <a:rPr/>
              <a:t>Total: 45 minutes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Scaling 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2× data: 90 minutes (linear)</a:t>
            </a:r>
          </a:p>
          <a:p>
            <a:pPr lvl="0"/>
            <a:r>
              <a:rPr/>
              <a:t>10× data: 7.5 hours (linear)</a:t>
            </a:r>
          </a:p>
          <a:p>
            <a:pPr lvl="0"/>
            <a:r>
              <a:rPr/>
              <a:t>Parallelization: divide by N workers</a:t>
            </a:r>
          </a:p>
          <a:p>
            <a:pPr lvl="0"/>
            <a:r>
              <a:rPr/>
              <a:t>Example: 10 workers → 4.5 minutes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Time Cost Formula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T_total = T_ingest + T_transform + T_aggregate + T_load
T_parallel = T_sequential / N_workers
Bottleneck: max(T_ingest, T_transform, T_aggregate, T_load)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Memory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 data: 5 GB (compressed)</a:t>
            </a:r>
          </a:p>
          <a:p>
            <a:pPr lvl="0"/>
            <a:r>
              <a:rPr/>
              <a:t>Intermediate: 2 GB (after filter)</a:t>
            </a:r>
          </a:p>
          <a:p>
            <a:pPr lvl="0"/>
            <a:r>
              <a:rPr/>
              <a:t>Final output: 5 MB (aggregated)</a:t>
            </a:r>
          </a:p>
          <a:p>
            <a:pPr lvl="0"/>
            <a:r>
              <a:rPr/>
              <a:t>Peak memory: 5 GB (during ingestion)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Raw: 5 GB/day × 30 days = 150 GB/month</a:t>
            </a:r>
          </a:p>
          <a:p>
            <a:pPr lvl="0"/>
            <a:r>
              <a:rPr/>
              <a:t>Processed: 5 MB/day × 30 days = 150 MB/month</a:t>
            </a:r>
          </a:p>
          <a:p>
            <a:pPr lvl="0"/>
            <a:r>
              <a:rPr/>
              <a:t>Retention: 90 days raw, 365 days processed</a:t>
            </a:r>
          </a:p>
          <a:p>
            <a:pPr lvl="0"/>
            <a:r>
              <a:rPr/>
              <a:t>Cost: $0.023/GB/month = $3.45/month raw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Storage Scaling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10× volume: 1.5 TB/month raw</a:t>
            </a:r>
          </a:p>
          <a:p>
            <a:pPr lvl="0"/>
            <a:r>
              <a:rPr/>
              <a:t>Cost: $34.50/month</a:t>
            </a:r>
          </a:p>
          <a:p>
            <a:pPr lvl="0"/>
            <a:r>
              <a:rPr/>
              <a:t>Compression: 5× reduction possible</a:t>
            </a:r>
          </a:p>
          <a:p>
            <a:pPr lvl="0"/>
            <a:r>
              <a:rPr/>
              <a:t>Compressed: $6.90/month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&amp; Scaling Analysis: Network Model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Ingestion: 5 GB from source</a:t>
            </a:r>
          </a:p>
          <a:p>
            <a:pPr lvl="0"/>
            <a:r>
              <a:rPr/>
              <a:t>Processing: 0 GB (local)</a:t>
            </a:r>
          </a:p>
          <a:p>
            <a:pPr lvl="0"/>
            <a:r>
              <a:rPr/>
              <a:t>Output: 5 MB to warehouse</a:t>
            </a:r>
          </a:p>
          <a:p>
            <a:pPr lvl="0"/>
            <a:r>
              <a:rPr/>
              <a:t>Total: 5.005 GB transferred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Network Cost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Ingress: $0.00 (free)</a:t>
            </a:r>
          </a:p>
          <a:p>
            <a:pPr lvl="0"/>
            <a:r>
              <a:rPr/>
              <a:t>Egress: $0.09/GB = $0.45/day</a:t>
            </a:r>
          </a:p>
          <a:p>
            <a:pPr lvl="0"/>
            <a:r>
              <a:rPr/>
              <a:t>Monthly: $13.50</a:t>
            </a:r>
          </a:p>
          <a:p>
            <a:pPr lvl="0"/>
            <a:r>
              <a:rPr/>
              <a:t>Scaling: 10× volume = $135/month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Throughput Limits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Network: 1 Gbps = 125 MB/s</a:t>
            </a:r>
          </a:p>
          <a:p>
            <a:pPr lvl="0"/>
            <a:r>
              <a:rPr/>
              <a:t>Transfer time: 5 GB / 125 MB/s = 40s</a:t>
            </a:r>
          </a:p>
          <a:p>
            <a:pPr lvl="0"/>
            <a:r>
              <a:rPr/>
              <a:t>Bottleneck: network if &gt; 1 Gbps needed</a:t>
            </a:r>
          </a:p>
          <a:p>
            <a:pPr lvl="0"/>
            <a:r>
              <a:rPr/>
              <a:t>Solution: parallel transfers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user_id null in 5% of events</a:t>
            </a:r>
          </a:p>
          <a:p>
            <a:pPr lvl="0"/>
            <a:r>
              <a:rPr/>
              <a:t>Impact: undercounted page views</a:t>
            </a:r>
          </a:p>
          <a:p>
            <a:pPr lvl="0"/>
            <a:r>
              <a:rPr/>
              <a:t>Detection: count nulls, alert if &gt; 1%</a:t>
            </a:r>
          </a:p>
          <a:p>
            <a:pPr lvl="0"/>
            <a:r>
              <a:rPr/>
              <a:t>Mitigation: use session_id as fallback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Duplicate Events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same event processed twice</a:t>
            </a:r>
          </a:p>
          <a:p>
            <a:pPr lvl="0"/>
            <a:r>
              <a:rPr/>
              <a:t>Impact: double-counted views</a:t>
            </a:r>
          </a:p>
          <a:p>
            <a:pPr lvl="0"/>
            <a:r>
              <a:rPr/>
              <a:t>Detection: check event_id uniqueness</a:t>
            </a:r>
          </a:p>
          <a:p>
            <a:pPr lvl="0"/>
            <a:r>
              <a:rPr/>
              <a:t>Mitigation: deduplicate by (event_id, timestamp)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Schema Drift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new field added to logs</a:t>
            </a:r>
          </a:p>
          <a:p>
            <a:pPr lvl="0"/>
            <a:r>
              <a:rPr/>
              <a:t>Impact: pipeline fails or ignores field</a:t>
            </a:r>
          </a:p>
          <a:p>
            <a:pPr lvl="0"/>
            <a:r>
              <a:rPr/>
              <a:t>Detection: schema validation errors</a:t>
            </a:r>
          </a:p>
          <a:p>
            <a:pPr lvl="0"/>
            <a:r>
              <a:rPr/>
              <a:t>Mitigation: schema evolution, versioning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Pipeline Failure Scenario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Step 1 (ingestion): succeeds</a:t>
            </a:r>
          </a:p>
          <a:p>
            <a:pPr lvl="0"/>
            <a:r>
              <a:rPr/>
              <a:t>Step 2 (transform): fails at 50%</a:t>
            </a:r>
          </a:p>
          <a:p>
            <a:pPr lvl="0"/>
            <a:r>
              <a:rPr/>
              <a:t>Step 3 (aggregate): never runs</a:t>
            </a:r>
          </a:p>
          <a:p>
            <a:pPr lvl="0"/>
            <a:r>
              <a:rPr/>
              <a:t>Step 4 (load): never runs</a:t>
            </a:r>
          </a:p>
          <a:p>
            <a:pPr lvl="0"/>
            <a:r>
              <a:rPr/>
              <a:t>Result: partial data, inconsistent state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Failure Impact &amp; Checkpointing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Pipeline processes 10,000 posts and 100,000 interactions</a:t>
            </a:r>
          </a:p>
          <a:p>
            <a:pPr lvl="0"/>
            <a:r>
              <a:rPr/>
              <a:t>Failure at 30 minutes; 50% processed, 50% lost</a:t>
            </a:r>
          </a:p>
          <a:p>
            <a:pPr lvl="0"/>
            <a:r>
              <a:rPr/>
              <a:t>Manual investigation + rerun takes 2 hours</a:t>
            </a:r>
          </a:p>
          <a:p>
            <a:pPr lvl="0"/>
            <a:r>
              <a:rPr/>
              <a:t>Add checkpoints every 10 minutes; recompute loss and recovery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Solution- Data loss: 5,000 posts and 50,000 interactions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Recovery time: 30 min + 120 min + 60 min = 210 min</a:t>
            </a:r>
          </a:p>
          <a:p>
            <a:pPr lvl="0"/>
            <a:r>
              <a:rPr/>
              <a:t>Hourly cadence delays about 3–4 runs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Solution- Checkpoint at 20 min: 10 minutes of data lost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Loss with checkpoints: 1,667 posts; 16,667 interactions</a:t>
            </a:r>
          </a:p>
          <a:p>
            <a:pPr lvl="0"/>
            <a:r>
              <a:rPr/>
              <a:t>Recovery time: resume 40 minutes, no investigation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In-Lecture Exercise 3: Takeaway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Checkpointing cuts loss and recovery time dramatically</a:t>
            </a:r>
          </a:p>
          <a:p>
            <a:pPr lvl="0"/>
            <a:r>
              <a:rPr/>
              <a:t>Failure math drives reliability investment decisions</a:t>
            </a:r>
          </a:p>
          <a:p>
            <a:pPr lvl="0"/>
            <a:r>
              <a:rPr/>
              <a:t>Design for recovery, not just success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Propagation Diagram</a:t>
            </a:r>
          </a:p>
        </p:txBody>
      </p:sp>
      <p:pic>
        <p:nvPicPr>
          <p:cNvPr descr="../../diagrams/week01/week1_lecture_slide35_fail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38700" y="1600200"/>
            <a:ext cx="2527300" cy="452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Recovery Strategies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Retry: automatic, 3 attempts</a:t>
            </a:r>
          </a:p>
          <a:p>
            <a:pPr lvl="0"/>
            <a:r>
              <a:rPr/>
              <a:t>Checkpoint: save state after each step</a:t>
            </a:r>
          </a:p>
          <a:p>
            <a:pPr lvl="0"/>
            <a:r>
              <a:rPr/>
              <a:t>Rollback: delete partial outputs</a:t>
            </a:r>
          </a:p>
          <a:p>
            <a:pPr lvl="0"/>
            <a:r>
              <a:rPr/>
              <a:t>Manual: investigate, fix, rerun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Pitfalls &amp; Failure Modes: Late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events arrive 2 hours late</a:t>
            </a:r>
          </a:p>
          <a:p>
            <a:pPr lvl="0"/>
            <a:r>
              <a:rPr/>
              <a:t>Impact: yesterday’s report incomplete</a:t>
            </a:r>
          </a:p>
          <a:p>
            <a:pPr lvl="0"/>
            <a:r>
              <a:rPr/>
              <a:t>Detection: watermark, late event metrics</a:t>
            </a:r>
          </a:p>
          <a:p>
            <a:pPr lvl="0"/>
            <a:r>
              <a:rPr/>
              <a:t>Mitigation: reprocess window, alert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Resource Exhaustion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memory full during aggregation</a:t>
            </a:r>
          </a:p>
          <a:p>
            <a:pPr lvl="0"/>
            <a:r>
              <a:rPr/>
              <a:t>Impact: pipeline crashes, no output</a:t>
            </a:r>
          </a:p>
          <a:p>
            <a:pPr lvl="0"/>
            <a:r>
              <a:rPr/>
              <a:t>Detection: OOM errors, monitoring</a:t>
            </a:r>
          </a:p>
          <a:p>
            <a:pPr lvl="0"/>
            <a:r>
              <a:rPr/>
              <a:t>Mitigation: increase memory, partition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 Overruns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Problem: 10× data volume, 10× cost</a:t>
            </a:r>
          </a:p>
          <a:p>
            <a:pPr lvl="0"/>
            <a:r>
              <a:rPr/>
              <a:t>Impact: budget exceeded</a:t>
            </a:r>
          </a:p>
          <a:p>
            <a:pPr lvl="0"/>
            <a:r>
              <a:rPr/>
              <a:t>Detection: cost alerts, daily reports</a:t>
            </a:r>
          </a:p>
          <a:p>
            <a:pPr lvl="0"/>
            <a:r>
              <a:rPr/>
              <a:t>Mitigation: optimize queries, compress data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Practices: Start with Business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What decisions need data? Who consumes it?</a:t>
            </a:r>
          </a:p>
          <a:p>
            <a:pPr lvl="0"/>
            <a:r>
              <a:rPr/>
              <a:t>What latency is acceptable?</a:t>
            </a:r>
          </a:p>
          <a:p>
            <a:pPr lvl="0"/>
            <a:r>
              <a:rPr b="1"/>
              <a:t>Don’t build pipelines without purpose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Store Raw Data &amp; Idempotency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Raw data:</a:t>
            </a:r>
            <a:r>
              <a:rPr/>
              <a:t> never delete; immutable; enables reprocessing</a:t>
            </a:r>
          </a:p>
          <a:p>
            <a:pPr lvl="0"/>
            <a:r>
              <a:rPr/>
              <a:t>Keep cost low with compression</a:t>
            </a:r>
          </a:p>
          <a:p>
            <a:pPr lvl="0"/>
            <a:r>
              <a:rPr b="1"/>
              <a:t>Idempotent operations:</a:t>
            </a:r>
            <a:r>
              <a:rPr/>
              <a:t> rerun ⇒ same output</a:t>
            </a:r>
          </a:p>
          <a:p>
            <a:pPr lvl="0"/>
            <a:r>
              <a:rPr/>
              <a:t>Deterministic transforms; avoid time-dependent logic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Monitor &amp; 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Monitor:</a:t>
            </a:r>
            <a:r>
              <a:rPr/>
              <a:t> success/failure, data quality, latency, cost</a:t>
            </a:r>
          </a:p>
          <a:p>
            <a:pPr lvl="0"/>
            <a:r>
              <a:rPr b="1"/>
              <a:t>You can’t fix what you don’t measure</a:t>
            </a:r>
          </a:p>
          <a:p>
            <a:pPr lvl="0"/>
            <a:r>
              <a:rPr b="1"/>
              <a:t>Version:</a:t>
            </a:r>
            <a:r>
              <a:rPr/>
              <a:t> code (Git), schema (versioned), data (timestamped)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Best Practices: CRISP-DM Methodology- </a:t>
            </a:r>
            <a:r>
              <a:rPr b="1"/>
              <a:t>Cross-Industry Standard Process for Data Mining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Most widely-used analytics model</a:t>
            </a:r>
          </a:p>
          <a:p>
            <a:pPr lvl="0"/>
            <a:r>
              <a:rPr b="1"/>
              <a:t>Six phases:</a:t>
            </a:r>
            <a:r>
              <a:rPr/>
              <a:t> Business → Data Understanding → Preparation</a:t>
            </a:r>
          </a:p>
          <a:p>
            <a:pPr lvl="0"/>
            <a:r>
              <a:rPr/>
              <a:t>Continues: Modeling → Evaluation → Deployment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CRISP-DM Methodology- Data preparation is often 60-80% of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Data engineering enables all phases</a:t>
            </a:r>
          </a:p>
          <a:p>
            <a:pPr lvl="0"/>
            <a:r>
              <a:rPr b="1"/>
              <a:t>Iterative nature:</a:t>
            </a:r>
            <a:r>
              <a:rPr/>
              <a:t> phases cycle back</a:t>
            </a:r>
          </a:p>
          <a:p>
            <a:pPr lvl="0"/>
            <a:r>
              <a:rPr/>
              <a:t>Pipelines must support reprocessing and iteration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Proof of Concept (POC)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Definition:</a:t>
            </a:r>
            <a:r>
              <a:rPr/>
              <a:t> realization demonstrating feasibility</a:t>
            </a:r>
          </a:p>
          <a:p>
            <a:pPr lvl="0"/>
            <a:r>
              <a:rPr/>
              <a:t>Small and may not be complete</a:t>
            </a:r>
          </a:p>
          <a:p>
            <a:pPr lvl="0"/>
            <a:r>
              <a:rPr/>
              <a:t>Test feasibility of business concepts</a:t>
            </a:r>
          </a:p>
          <a:p>
            <a:pPr lvl="0"/>
            <a:r>
              <a:rPr/>
              <a:t>Accelerate business innovation goals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POC Tips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Use your own data — external data proves nothing</a:t>
            </a:r>
          </a:p>
          <a:p>
            <a:pPr lvl="0"/>
            <a:r>
              <a:rPr/>
              <a:t>Limit scope of data sources; use samples</a:t>
            </a:r>
          </a:p>
          <a:p>
            <a:pPr lvl="0"/>
            <a:r>
              <a:rPr/>
              <a:t>Don’t get distracted by pretty visuals</a:t>
            </a:r>
          </a:p>
          <a:p>
            <a:pPr lvl="0"/>
            <a:r>
              <a:rPr/>
              <a:t>Address future and present requirements</a:t>
            </a:r>
          </a:p>
          <a:p>
            <a:pPr lvl="0"/>
            <a:r>
              <a:rPr/>
              <a:t>Demand one solid report before financial commitment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Test &amp; Design for Failure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Test:</a:t>
            </a:r>
            <a:r>
              <a:rPr/>
              <a:t> unit (functions), integration (pipeline), data (outputs)</a:t>
            </a:r>
          </a:p>
          <a:p>
            <a:pPr lvl="0"/>
            <a:r>
              <a:rPr/>
              <a:t>Simulate failure scenarios</a:t>
            </a:r>
          </a:p>
          <a:p>
            <a:pPr lvl="0"/>
            <a:r>
              <a:rPr b="1"/>
              <a:t>Design for failure:</a:t>
            </a:r>
            <a:r>
              <a:rPr/>
              <a:t> assume components fail</a:t>
            </a:r>
          </a:p>
          <a:p>
            <a:pPr lvl="0"/>
            <a:r>
              <a:rPr/>
              <a:t>Retry, checkpoints, recovery procedures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Document Assumptions &amp; Optimize Last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Document:</a:t>
            </a:r>
            <a:r>
              <a:rPr/>
              <a:t> sources, formats, business rules</a:t>
            </a:r>
          </a:p>
          <a:p>
            <a:pPr lvl="0"/>
            <a:r>
              <a:rPr/>
              <a:t>Include expected volumes/latencies, failure modes</a:t>
            </a:r>
          </a:p>
          <a:p>
            <a:pPr lvl="0"/>
            <a:r>
              <a:rPr b="1"/>
              <a:t>Optimize last:</a:t>
            </a:r>
            <a:r>
              <a:rPr/>
              <a:t> first make it work, then reliable, then fast</a:t>
            </a:r>
          </a:p>
          <a:p>
            <a:pPr lvl="0"/>
            <a:r>
              <a:rPr b="1"/>
              <a:t>Premature optimization wastes time and hides bugs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Recap: Data Engineering — Constraints, Not Definitions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Constraints:</a:t>
            </a:r>
            <a:r>
              <a:rPr/>
              <a:t> scale, reliability, cost</a:t>
            </a:r>
          </a:p>
          <a:p>
            <a:pPr lvl="0"/>
            <a:r>
              <a:rPr b="1"/>
              <a:t>Output:</a:t>
            </a:r>
            <a:r>
              <a:rPr/>
              <a:t> clean, accessible data at the right latency</a:t>
            </a:r>
          </a:p>
          <a:p>
            <a:pPr lvl="0"/>
            <a:r>
              <a:rPr b="1"/>
              <a:t>Judgment:</a:t>
            </a:r>
            <a:r>
              <a:rPr/>
              <a:t> ETL vs ELT, batch vs stream</a:t>
            </a:r>
          </a:p>
          <a:p>
            <a:pPr lvl="0"/>
            <a:r>
              <a:rPr/>
              <a:t>Each choice has cost and failure modes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Engineering Mindset (Non-Negotiable)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 b="1"/>
              <a:t>Calculate</a:t>
            </a:r>
            <a:r>
              <a:rPr/>
              <a:t> costs and trade-offs before scaling</a:t>
            </a:r>
          </a:p>
          <a:p>
            <a:pPr lvl="0"/>
            <a:r>
              <a:rPr b="1"/>
              <a:t>Design for failure</a:t>
            </a:r>
            <a:r>
              <a:rPr/>
              <a:t> — pipelines and nodes will break</a:t>
            </a:r>
          </a:p>
          <a:p>
            <a:pPr lvl="0"/>
            <a:r>
              <a:rPr b="1"/>
              <a:t>Monitor and measure</a:t>
            </a:r>
            <a:r>
              <a:rPr/>
              <a:t> — no blind spots</a:t>
            </a:r>
          </a:p>
          <a:p>
            <a:pPr lvl="0"/>
            <a:r>
              <a:rPr b="1"/>
              <a:t>Start simple, optimize later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What’s Next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Distributed databases (Week 2)</a:t>
            </a:r>
          </a:p>
          <a:p>
            <a:pPr lvl="0"/>
            <a:r>
              <a:rPr/>
              <a:t>Parallel processing (Week 3)</a:t>
            </a:r>
          </a:p>
          <a:p>
            <a:pPr lvl="0"/>
            <a:r>
              <a:rPr/>
              <a:t>ETL pipelines (Week 4)</a:t>
            </a:r>
          </a:p>
          <a:p>
            <a:pPr lvl="0"/>
            <a:r>
              <a:rPr/>
              <a:t>Data warehousing (Week 5)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hasCustomPrompt="1"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Pointers to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hasCustomPrompt="1" idx="1"/>
          </p:nvPr>
        </p:nvSpPr>
        <p:spPr/>
        <p:txBody>
          <a:bodyPr/>
          <a:lstStyle/>
          <a:p>
            <a:pPr lvl="0"/>
            <a:r>
              <a:rPr/>
              <a:t>Calculate pipeline costs from volumes</a:t>
            </a:r>
          </a:p>
          <a:p>
            <a:pPr lvl="0"/>
            <a:r>
              <a:rPr/>
              <a:t>Design pipeline for given requirements</a:t>
            </a:r>
          </a:p>
          <a:p>
            <a:pPr lvl="0"/>
            <a:r>
              <a:rPr/>
              <a:t>Identify failure modes and mitigations</a:t>
            </a:r>
          </a:p>
          <a:p>
            <a:pPr lvl="0"/>
            <a:r>
              <a:rPr/>
              <a:t>Choose batch vs streaming based on latency</a:t>
            </a:r>
          </a:p>
          <a:p>
            <a:pPr lvl="0"/>
            <a:r>
              <a:rPr/>
              <a:t>Estimate storage and network costs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7F24627C-5938-5D06-969C-341161F72C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Diagrams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hasCustomPrompt="1"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Practice: Architecture</a:t>
            </a:r>
          </a:p>
        </p:txBody>
      </p:sp>
      <p:pic>
        <p:nvPicPr>
          <p:cNvPr descr="../../diagrams/week01/week1_practice_slide15_architectu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816600" y="1536700"/>
            <a:ext cx="6248400" cy="4572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6" name="Footer Placeholder 5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r>
              <a:rPr lang="en-US"/>
              <a:t>Or Peretz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ערכת נושא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11</TotalTime>
  <Words>18</Words>
  <Application>Microsoft Macintosh PowerPoint</Application>
  <PresentationFormat>מסך רחב</PresentationFormat>
  <Paragraphs>12</Paragraphs>
  <Slides>6</Slides>
  <Notes>0</Notes>
  <HiddenSlides>0</HiddenSlides>
  <MMClips>0</MMClips>
  <ScaleCrop>false</ScaleCrop>
  <HeadingPairs>
    <vt:vector size="6" baseType="variant">
      <vt:variant>
        <vt:lpstr>גופנים בשימוש</vt:lpstr>
      </vt:variant>
      <vt:variant>
        <vt:i4>3</vt:i4>
      </vt:variant>
      <vt:variant>
        <vt:lpstr>ערכת נושא</vt:lpstr>
      </vt:variant>
      <vt:variant>
        <vt:i4>1</vt:i4>
      </vt:variant>
      <vt:variant>
        <vt:lpstr>כותרות שקופיות</vt:lpstr>
      </vt:variant>
      <vt:variant>
        <vt:i4>6</vt:i4>
      </vt:variant>
    </vt:vector>
  </HeadingPairs>
  <TitlesOfParts>
    <vt:vector size="10" baseType="lpstr">
      <vt:lpstr>Aptos</vt:lpstr>
      <vt:lpstr>Arial</vt:lpstr>
      <vt:lpstr>Calibri</vt:lpstr>
      <vt:lpstr>Office Theme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  <vt:lpstr>מצגת של PowerPoint‏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2026-01-31T06:34:29Z</dcterms:created>
  <dcterms:modified xsi:type="dcterms:W3CDTF">2026-01-31T06:34:29Z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