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package/2006/relationships/metadata/extended-properties" Target="docProps/app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4" r:id="rId8"/>
    <p:sldId id="265" r:id="rId9"/>
    <p:sldId id="266" r:id="rId10"/>
    <p:sldId id="267" r:id="rId11"/>
    <p:sldId id="269" r:id="rId12"/>
    <p:sldId id="270" r:id="rId13"/>
    <p:sldId id="271" r:id="rId14"/>
    <p:sldId id="272" r:id="rId15"/>
    <p:sldId id="275" r:id="rId16"/>
    <p:sldId id="281" r:id="rId17"/>
    <p:sldId id="289" r:id="rId18"/>
    <p:sldId id="290" r:id="rId19"/>
    <p:sldId id="291" r:id="rId20"/>
    <p:sldId id="292" r:id="rId21"/>
    <p:sldId id="293" r:id="rId22"/>
    <p:sldId id="294" r:id="rId23"/>
    <p:sldId id="282" r:id="rId24"/>
    <p:sldId id="283" r:id="rId25"/>
    <p:sldId id="260" r:id="rId26"/>
    <p:sldId id="284" r:id="rId27"/>
    <p:sldId id="263" r:id="rId28"/>
    <p:sldId id="285" r:id="rId29"/>
    <p:sldId id="286" r:id="rId30"/>
    <p:sldId id="268" r:id="rId31"/>
    <p:sldId id="287" r:id="rId32"/>
    <p:sldId id="288" r:id="rId33"/>
    <p:sldId id="273" r:id="rId34"/>
    <p:sldId id="276" r:id="rId35"/>
    <p:sldId id="277" r:id="rId36"/>
    <p:sldId id="278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1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/>
    <p:restoredTop sz="94831"/>
  </p:normalViewPr>
  <p:slideViewPr>
    <p:cSldViewPr snapToGrid="0" snapToObjects="1">
      <p:cViewPr varScale="1">
        <p:scale>
          <a:sx n="145" d="100"/>
          <a:sy n="145" d="100"/>
        </p:scale>
        <p:origin x="176" y="25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64B5F-BAD9-9946-9D71-AB5C763DA70C}" type="datetime9">
              <a:rPr lang="he-IL" smtClean="0"/>
              <a:t>26 מרץ,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1EEA0-9609-584F-90F2-46E4F93E52CD}" type="datetime9">
              <a:rPr lang="he-IL" smtClean="0"/>
              <a:t>26 מרץ,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A6A5E-CA21-6B4F-9DE7-1A275F321E49}" type="datetime9">
              <a:rPr lang="he-IL" smtClean="0"/>
              <a:t>26 מרץ,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56840" y="1600201"/>
            <a:ext cx="6601428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717894" y="2569580"/>
            <a:ext cx="5864506" cy="355658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C6960-90E0-EA41-937B-E68D4C6A0841}" type="datetime9">
              <a:rPr lang="he-IL" smtClean="0"/>
              <a:t>26 מרץ,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AE1C8-A9FA-924F-80DA-3B96C0343AF4}" type="datetime9">
              <a:rPr lang="he-IL" smtClean="0"/>
              <a:t>26 מרץ,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92AE4-510D-3C40-B9B0-AA6693EED883}" type="datetime9">
              <a:rPr lang="he-IL" smtClean="0"/>
              <a:t>26 מרץ,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5D179-4B48-7641-AFA1-4656153FFCB8}" type="datetime9">
              <a:rPr lang="he-IL" smtClean="0"/>
              <a:t>26 מרץ,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6A8D-C7E4-194A-BF0A-D552B24EBF94}" type="datetime9">
              <a:rPr lang="he-IL" smtClean="0"/>
              <a:t>26 מרץ,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F24627C-5938-5D06-969C-341161F72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3E56AFE-36F7-8DA5-652B-89A25DA319A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957403" y="1417638"/>
            <a:ext cx="7624997" cy="4357028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38FFFFD-68E9-C4E4-7764-523BAE32B83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965200" y="1417638"/>
            <a:ext cx="2844801" cy="4357028"/>
          </a:xfrm>
        </p:spPr>
        <p:txBody>
          <a:bodyPr/>
          <a:lstStyle>
            <a:lvl1pPr marL="0" indent="0">
              <a:buNone/>
              <a:defRPr sz="2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B2D52-0D9F-F345-8384-0DCA30BF1F04}" type="datetime9">
              <a:rPr lang="he-IL" smtClean="0"/>
              <a:t>26 מרץ,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44ED6-1944-D14D-91B5-FC6036DE393D}" type="datetime9">
              <a:rPr lang="he-IL" smtClean="0"/>
              <a:t>26 מרץ,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68E4D-FFEC-474C-BD1C-299FD021CBA4}" type="datetime9">
              <a:rPr lang="he-IL" smtClean="0"/>
              <a:t>26 מרץ,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oundRect">
            <a:avLst/>
          </a:prstGeom>
          <a:ln w="12700">
            <a:solidFill>
              <a:schemeClr val="accent2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10972800"/>
                      <a:gd name="csY0" fmla="*/ 0 h 1143000"/>
                      <a:gd name="csX1" fmla="*/ 10972800 w 10972800"/>
                      <a:gd name="csY1" fmla="*/ 0 h 1143000"/>
                      <a:gd name="csX2" fmla="*/ 10972800 w 10972800"/>
                      <a:gd name="csY2" fmla="*/ 1143000 h 1143000"/>
                      <a:gd name="csX3" fmla="*/ 0 w 10972800"/>
                      <a:gd name="csY3" fmla="*/ 1143000 h 1143000"/>
                      <a:gd name="csX4" fmla="*/ 0 w 10972800"/>
                      <a:gd name="csY4" fmla="*/ 0 h 11430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0972800" h="1143000" fill="none" extrusionOk="0">
                        <a:moveTo>
                          <a:pt x="0" y="0"/>
                        </a:moveTo>
                        <a:cubicBezTo>
                          <a:pt x="4674310" y="-49533"/>
                          <a:pt x="6929254" y="-14809"/>
                          <a:pt x="10972800" y="0"/>
                        </a:cubicBezTo>
                        <a:cubicBezTo>
                          <a:pt x="10969069" y="570730"/>
                          <a:pt x="11062171" y="914526"/>
                          <a:pt x="10972800" y="1143000"/>
                        </a:cubicBezTo>
                        <a:cubicBezTo>
                          <a:pt x="6482996" y="1094769"/>
                          <a:pt x="3552735" y="1227455"/>
                          <a:pt x="0" y="1143000"/>
                        </a:cubicBezTo>
                        <a:cubicBezTo>
                          <a:pt x="69309" y="672287"/>
                          <a:pt x="-28229" y="279082"/>
                          <a:pt x="0" y="0"/>
                        </a:cubicBezTo>
                        <a:close/>
                      </a:path>
                      <a:path w="10972800" h="1143000" stroke="0" extrusionOk="0">
                        <a:moveTo>
                          <a:pt x="0" y="0"/>
                        </a:moveTo>
                        <a:cubicBezTo>
                          <a:pt x="3528079" y="118645"/>
                          <a:pt x="9610931" y="116012"/>
                          <a:pt x="10972800" y="0"/>
                        </a:cubicBezTo>
                        <a:cubicBezTo>
                          <a:pt x="11055528" y="134374"/>
                          <a:pt x="10882381" y="1028043"/>
                          <a:pt x="10972800" y="1143000"/>
                        </a:cubicBezTo>
                        <a:cubicBezTo>
                          <a:pt x="8799093" y="1277600"/>
                          <a:pt x="3316512" y="985804"/>
                          <a:pt x="0" y="1143000"/>
                        </a:cubicBezTo>
                        <a:cubicBezTo>
                          <a:pt x="94203" y="956839"/>
                          <a:pt x="-18710" y="28947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768" y="1600201"/>
            <a:ext cx="10635632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A9E24A-D52C-CB4E-85D6-C52415601A2A}" type="datetime9">
              <a:rPr lang="he-IL" smtClean="0"/>
              <a:t>26 מרץ,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reeform 6">
            <a:extLst>
              <a:ext uri="{FF2B5EF4-FFF2-40B4-BE49-F238E27FC236}">
                <a16:creationId xmlns:a16="http://schemas.microsoft.com/office/drawing/2014/main" id="{9E54F053-C5B3-FA53-FB24-F76EBC23E5F7}"/>
              </a:ext>
            </a:extLst>
          </p:cNvPr>
          <p:cNvSpPr/>
          <p:nvPr/>
        </p:nvSpPr>
        <p:spPr>
          <a:xfrm>
            <a:off x="10492509" y="-832013"/>
            <a:ext cx="5901557" cy="769001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 cap="sq">
            <a:solidFill>
              <a:srgbClr val="941100">
                <a:alpha val="44000"/>
              </a:srgbClr>
            </a:solidFill>
            <a:prstDash val="solid"/>
            <a:miter/>
          </a:ln>
        </p:spPr>
        <p:txBody>
          <a:bodyPr/>
          <a:lstStyle/>
          <a:p>
            <a:endParaRPr lang="en-IL"/>
          </a:p>
        </p:txBody>
      </p:sp>
      <p:sp>
        <p:nvSpPr>
          <p:cNvPr id="12" name="Freeform 20">
            <a:extLst>
              <a:ext uri="{FF2B5EF4-FFF2-40B4-BE49-F238E27FC236}">
                <a16:creationId xmlns:a16="http://schemas.microsoft.com/office/drawing/2014/main" id="{C6ADFD82-3296-8C7F-2ACC-D8399785AC79}"/>
              </a:ext>
            </a:extLst>
          </p:cNvPr>
          <p:cNvSpPr/>
          <p:nvPr/>
        </p:nvSpPr>
        <p:spPr>
          <a:xfrm>
            <a:off x="-6720016" y="-1088358"/>
            <a:ext cx="7329616" cy="7329616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14350" cap="sq">
            <a:solidFill>
              <a:srgbClr val="941100">
                <a:alpha val="17929"/>
              </a:srgbClr>
            </a:solidFill>
            <a:prstDash val="solid"/>
            <a:miter/>
          </a:ln>
        </p:spPr>
        <p:txBody>
          <a:bodyPr/>
          <a:lstStyle/>
          <a:p>
            <a:endParaRPr lang="en-IL" sz="933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3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pPr marL="0" lvl="0" indent="0">
              <a:buNone/>
            </a:pPr>
            <a:r>
              <a:t>Week 1: Introduction to Data Engineering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Course Logistics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dirty="0"/>
              <a:t>2 weekly hours</a:t>
            </a:r>
          </a:p>
          <a:p>
            <a:pPr lvl="0"/>
            <a:r>
              <a:rPr dirty="0"/>
              <a:t>15% assignments</a:t>
            </a:r>
          </a:p>
          <a:p>
            <a:pPr lvl="0"/>
            <a:r>
              <a:rPr dirty="0"/>
              <a:t>85% final exam</a:t>
            </a:r>
            <a:endParaRPr lang="en-US" dirty="0"/>
          </a:p>
          <a:p>
            <a:pPr lvl="0"/>
            <a:r>
              <a:rPr lang="en-US" dirty="0" err="1"/>
              <a:t>or.perets@shenkar.ac.il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>
              <a:lnSpc>
                <a:spcPct val="200000"/>
              </a:lnSpc>
            </a:pPr>
            <a:r>
              <a:rPr dirty="0"/>
              <a:t>SQL query design and implementation</a:t>
            </a:r>
          </a:p>
          <a:p>
            <a:pPr lvl="0">
              <a:lnSpc>
                <a:spcPct val="200000"/>
              </a:lnSpc>
            </a:pPr>
            <a:r>
              <a:rPr dirty="0"/>
              <a:t>Basic data structures</a:t>
            </a:r>
          </a:p>
          <a:p>
            <a:pPr lvl="0">
              <a:lnSpc>
                <a:spcPct val="200000"/>
              </a:lnSpc>
            </a:pPr>
            <a:r>
              <a:rPr dirty="0"/>
              <a:t>Complexity and running-time intuition</a:t>
            </a:r>
          </a:p>
          <a:p>
            <a:pPr lvl="0">
              <a:lnSpc>
                <a:spcPct val="200000"/>
              </a:lnSpc>
            </a:pPr>
            <a:r>
              <a:rPr lang="en-US" dirty="0"/>
              <a:t>P</a:t>
            </a:r>
            <a:r>
              <a:rPr dirty="0"/>
              <a:t>robability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Learning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>
              <a:lnSpc>
                <a:spcPct val="200000"/>
              </a:lnSpc>
            </a:pPr>
            <a:r>
              <a:rPr lang="en-US" dirty="0"/>
              <a:t>C</a:t>
            </a:r>
            <a:r>
              <a:rPr dirty="0"/>
              <a:t>ore </a:t>
            </a:r>
            <a:r>
              <a:rPr b="1" dirty="0"/>
              <a:t>data engineering </a:t>
            </a:r>
            <a:r>
              <a:rPr dirty="0"/>
              <a:t>constraints</a:t>
            </a:r>
          </a:p>
          <a:p>
            <a:pPr lvl="0">
              <a:lnSpc>
                <a:spcPct val="200000"/>
              </a:lnSpc>
            </a:pPr>
            <a:r>
              <a:rPr dirty="0"/>
              <a:t>Design a basic source-to-consumer pipeline</a:t>
            </a:r>
          </a:p>
          <a:p>
            <a:pPr lvl="0">
              <a:lnSpc>
                <a:spcPct val="200000"/>
              </a:lnSpc>
            </a:pPr>
            <a:r>
              <a:rPr lang="en-US" dirty="0"/>
              <a:t>Data engineer skills: DWH design, maintenance, ETL</a:t>
            </a:r>
          </a:p>
          <a:p>
            <a:pPr lvl="0">
              <a:lnSpc>
                <a:spcPct val="200000"/>
              </a:lnSpc>
            </a:pPr>
            <a:r>
              <a:rPr lang="en-US" dirty="0"/>
              <a:t>Storage and performance optimization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Big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Data that exceeds traditional single-system processing</a:t>
            </a:r>
          </a:p>
          <a:p>
            <a:pPr lvl="0"/>
            <a:r>
              <a:t>Defined by scale, speed, and complexity</a:t>
            </a:r>
          </a:p>
          <a:p>
            <a:pPr lvl="0"/>
            <a:r>
              <a:t>Not a single tool or product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  <p:pic>
        <p:nvPicPr>
          <p:cNvPr id="4" name="Picture 2" descr="On Hardware Deployment to Cloud - TAG Cyber">
            <a:extLst>
              <a:ext uri="{FF2B5EF4-FFF2-40B4-BE49-F238E27FC236}">
                <a16:creationId xmlns:a16="http://schemas.microsoft.com/office/drawing/2014/main" id="{90F1A2B9-88D8-19AD-C158-AF43143C8C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3833" y="3643711"/>
            <a:ext cx="5884333" cy="248245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Big Data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>
              <a:lnSpc>
                <a:spcPct val="200000"/>
              </a:lnSpc>
            </a:pPr>
            <a:r>
              <a:rPr dirty="0"/>
              <a:t>User behavior tracking</a:t>
            </a:r>
          </a:p>
          <a:p>
            <a:pPr lvl="0">
              <a:lnSpc>
                <a:spcPct val="200000"/>
              </a:lnSpc>
            </a:pPr>
            <a:r>
              <a:rPr dirty="0"/>
              <a:t>Mobile and web application logs</a:t>
            </a:r>
          </a:p>
          <a:p>
            <a:pPr lvl="0">
              <a:lnSpc>
                <a:spcPct val="200000"/>
              </a:lnSpc>
            </a:pPr>
            <a:r>
              <a:rPr dirty="0"/>
              <a:t>IoT and sensor streams</a:t>
            </a:r>
          </a:p>
          <a:p>
            <a:pPr lvl="0">
              <a:lnSpc>
                <a:spcPct val="200000"/>
              </a:lnSpc>
            </a:pPr>
            <a:r>
              <a:rPr dirty="0"/>
              <a:t>Media and social network content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 3Vs of Big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>
              <a:lnSpc>
                <a:spcPct val="200000"/>
              </a:lnSpc>
            </a:pPr>
            <a:r>
              <a:rPr b="1" dirty="0"/>
              <a:t>Velocity</a:t>
            </a:r>
            <a:r>
              <a:rPr dirty="0"/>
              <a:t>: data arrives continuously and quickly</a:t>
            </a:r>
          </a:p>
          <a:p>
            <a:pPr lvl="0">
              <a:lnSpc>
                <a:spcPct val="200000"/>
              </a:lnSpc>
            </a:pPr>
            <a:r>
              <a:rPr b="1" dirty="0"/>
              <a:t>Variety</a:t>
            </a:r>
            <a:r>
              <a:rPr dirty="0"/>
              <a:t>: structured, semi-structured, unstructured</a:t>
            </a:r>
          </a:p>
          <a:p>
            <a:pPr lvl="0">
              <a:lnSpc>
                <a:spcPct val="200000"/>
              </a:lnSpc>
            </a:pPr>
            <a:r>
              <a:rPr b="1" dirty="0"/>
              <a:t>Volume</a:t>
            </a:r>
            <a:r>
              <a:rPr dirty="0"/>
              <a:t>: very large scale (TB to PB)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80AAA07F-8053-F6F8-DAAC-4D4BB8A333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5288" y="3450541"/>
            <a:ext cx="2684712" cy="285818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Cloud Service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b="1"/>
              <a:t>SaaS</a:t>
            </a:r>
            <a:r>
              <a:t>: ready-to-use applications</a:t>
            </a:r>
          </a:p>
          <a:p>
            <a:pPr lvl="0"/>
            <a:r>
              <a:rPr b="1"/>
              <a:t>PaaS</a:t>
            </a:r>
            <a:r>
              <a:t>: managed platform for development</a:t>
            </a:r>
          </a:p>
          <a:p>
            <a:pPr lvl="0"/>
            <a:r>
              <a:rPr b="1"/>
              <a:t>IaaS</a:t>
            </a:r>
            <a:r>
              <a:t>: virtual compute, storage, networking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  <p:pic>
        <p:nvPicPr>
          <p:cNvPr id="4" name="Picture 2" descr="SaaS, IaaS, PaaS? Tell me your cloud computing flavor and I&amp;#39;ll tell you who  you">
            <a:extLst>
              <a:ext uri="{FF2B5EF4-FFF2-40B4-BE49-F238E27FC236}">
                <a16:creationId xmlns:a16="http://schemas.microsoft.com/office/drawing/2014/main" id="{4B70B890-FEBC-080A-840F-30C280C88B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4789" y="3640391"/>
            <a:ext cx="3616878" cy="2715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Data Scientist vs Data Engineer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>
              <a:lnSpc>
                <a:spcPct val="200000"/>
              </a:lnSpc>
            </a:pPr>
            <a:r>
              <a:rPr dirty="0"/>
              <a:t>Data scientists create models and insights</a:t>
            </a:r>
          </a:p>
          <a:p>
            <a:pPr lvl="0">
              <a:lnSpc>
                <a:spcPct val="200000"/>
              </a:lnSpc>
            </a:pPr>
            <a:r>
              <a:rPr dirty="0"/>
              <a:t>Data engineers build reliable data platforms</a:t>
            </a:r>
          </a:p>
          <a:p>
            <a:pPr lvl="0">
              <a:lnSpc>
                <a:spcPct val="200000"/>
              </a:lnSpc>
            </a:pPr>
            <a:r>
              <a:rPr dirty="0"/>
              <a:t>Both roles are interdependent in production systems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Data Engineer: Core Responsibility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>
              <a:lnSpc>
                <a:spcPct val="200000"/>
              </a:lnSpc>
            </a:pPr>
            <a:r>
              <a:rPr dirty="0"/>
              <a:t>Build and maintain the data platform</a:t>
            </a:r>
          </a:p>
          <a:p>
            <a:pPr lvl="0">
              <a:lnSpc>
                <a:spcPct val="200000"/>
              </a:lnSpc>
            </a:pPr>
            <a:r>
              <a:rPr dirty="0"/>
              <a:t>Ensure reliable ingestion and transformation</a:t>
            </a:r>
          </a:p>
          <a:p>
            <a:pPr lvl="0">
              <a:lnSpc>
                <a:spcPct val="200000"/>
              </a:lnSpc>
            </a:pPr>
            <a:r>
              <a:rPr dirty="0"/>
              <a:t>Deliver trusted datasets for analytics and ML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Data Engineering?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>
              <a:lnSpc>
                <a:spcPct val="200000"/>
              </a:lnSpc>
            </a:pPr>
            <a:r>
              <a:rPr dirty="0"/>
              <a:t>Design systems that move and transform data</a:t>
            </a:r>
          </a:p>
          <a:p>
            <a:pPr lvl="0">
              <a:lnSpc>
                <a:spcPct val="200000"/>
              </a:lnSpc>
            </a:pPr>
            <a:r>
              <a:rPr dirty="0"/>
              <a:t>Serve dependable data for analytics, apps, and ML</a:t>
            </a:r>
          </a:p>
          <a:p>
            <a:pPr lvl="0">
              <a:lnSpc>
                <a:spcPct val="200000"/>
              </a:lnSpc>
            </a:pPr>
            <a:r>
              <a:rPr dirty="0"/>
              <a:t>Optimize for correctness, latency, and stability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  <p:pic>
        <p:nvPicPr>
          <p:cNvPr id="4" name="תמונה 3" descr="Everything You Need to Know About ETL: Extract, Transform and Load">
            <a:extLst>
              <a:ext uri="{FF2B5EF4-FFF2-40B4-BE49-F238E27FC236}">
                <a16:creationId xmlns:a16="http://schemas.microsoft.com/office/drawing/2014/main" id="{2A2DA3C3-504F-2CF7-CF96-305E8842A8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3891349" y="4317137"/>
            <a:ext cx="4409301" cy="19060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Data Engineering Is Constraint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>
              <a:lnSpc>
                <a:spcPct val="200000"/>
              </a:lnSpc>
            </a:pPr>
            <a:r>
              <a:rPr dirty="0"/>
              <a:t>Sources are fragmented and heterogeneous</a:t>
            </a:r>
          </a:p>
          <a:p>
            <a:pPr lvl="0">
              <a:lnSpc>
                <a:spcPct val="200000"/>
              </a:lnSpc>
            </a:pPr>
            <a:r>
              <a:rPr dirty="0"/>
              <a:t>Data volume outgrows single-node capacity</a:t>
            </a:r>
          </a:p>
          <a:p>
            <a:pPr lvl="0">
              <a:lnSpc>
                <a:spcPct val="200000"/>
              </a:lnSpc>
            </a:pPr>
            <a:r>
              <a:rPr dirty="0"/>
              <a:t>Pipelines fail and must recover safely</a:t>
            </a:r>
          </a:p>
          <a:p>
            <a:pPr lvl="0">
              <a:lnSpc>
                <a:spcPct val="200000"/>
              </a:lnSpc>
            </a:pPr>
            <a:r>
              <a:rPr dirty="0"/>
              <a:t>Cost, latency, and reliability must be balanced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Core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>
              <a:lnSpc>
                <a:spcPct val="200000"/>
              </a:lnSpc>
            </a:pPr>
            <a:r>
              <a:rPr dirty="0"/>
              <a:t>Many producers, one consistent data view</a:t>
            </a:r>
          </a:p>
          <a:p>
            <a:pPr lvl="0">
              <a:lnSpc>
                <a:spcPct val="200000"/>
              </a:lnSpc>
            </a:pPr>
            <a:r>
              <a:rPr dirty="0"/>
              <a:t>Fresh data with clear quality guarantees</a:t>
            </a:r>
          </a:p>
          <a:p>
            <a:pPr lvl="0">
              <a:lnSpc>
                <a:spcPct val="200000"/>
              </a:lnSpc>
            </a:pPr>
            <a:r>
              <a:rPr dirty="0"/>
              <a:t>Scalable architecture without uncontrolled costs</a:t>
            </a:r>
          </a:p>
          <a:p>
            <a:pPr lvl="0">
              <a:lnSpc>
                <a:spcPct val="200000"/>
              </a:lnSpc>
            </a:pPr>
            <a:r>
              <a:rPr dirty="0"/>
              <a:t>Repeatable pipelines 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Why Single Scripts Break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>
              <a:lnSpc>
                <a:spcPct val="200000"/>
              </a:lnSpc>
            </a:pPr>
            <a:r>
              <a:rPr dirty="0"/>
              <a:t>Runtime grows with data size</a:t>
            </a:r>
          </a:p>
          <a:p>
            <a:pPr lvl="0">
              <a:lnSpc>
                <a:spcPct val="200000"/>
              </a:lnSpc>
            </a:pPr>
            <a:r>
              <a:rPr dirty="0"/>
              <a:t>Limited observability slows incident response</a:t>
            </a:r>
          </a:p>
          <a:p>
            <a:pPr lvl="0">
              <a:lnSpc>
                <a:spcPct val="200000"/>
              </a:lnSpc>
            </a:pPr>
            <a:r>
              <a:rPr dirty="0"/>
              <a:t>Missing raw layer blocks safe replay</a:t>
            </a:r>
          </a:p>
          <a:p>
            <a:pPr lvl="0">
              <a:lnSpc>
                <a:spcPct val="200000"/>
              </a:lnSpc>
            </a:pPr>
            <a:r>
              <a:rPr dirty="0"/>
              <a:t>Non-idempotent writes corrupt outputs on rerun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Storage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>
              <a:lnSpc>
                <a:spcPct val="200000"/>
              </a:lnSpc>
            </a:pPr>
            <a:r>
              <a:rPr b="1" dirty="0"/>
              <a:t>Partition</a:t>
            </a:r>
            <a:r>
              <a:rPr dirty="0"/>
              <a:t> by date or high-value keys</a:t>
            </a:r>
          </a:p>
          <a:p>
            <a:pPr lvl="0">
              <a:lnSpc>
                <a:spcPct val="200000"/>
              </a:lnSpc>
            </a:pPr>
            <a:r>
              <a:rPr b="1" dirty="0"/>
              <a:t>Replicate</a:t>
            </a:r>
            <a:r>
              <a:rPr dirty="0"/>
              <a:t> for durability and availability</a:t>
            </a:r>
          </a:p>
          <a:p>
            <a:pPr lvl="0">
              <a:lnSpc>
                <a:spcPct val="200000"/>
              </a:lnSpc>
            </a:pPr>
            <a:r>
              <a:rPr b="1" dirty="0"/>
              <a:t>Model</a:t>
            </a:r>
            <a:r>
              <a:rPr dirty="0"/>
              <a:t> hot vs cold storage costs explicitly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E-Commerce Clickstream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dirty="0"/>
              <a:t>Input: </a:t>
            </a:r>
            <a:r>
              <a:rPr lang="en-US" dirty="0"/>
              <a:t>2</a:t>
            </a:r>
            <a:r>
              <a:rPr dirty="0"/>
              <a:t>0M events/day</a:t>
            </a:r>
          </a:p>
          <a:p>
            <a:pPr lvl="0"/>
            <a:r>
              <a:rPr dirty="0"/>
              <a:t>Goal: daily product page-view aggregates</a:t>
            </a:r>
          </a:p>
          <a:p>
            <a:pPr lvl="0"/>
            <a:r>
              <a:rPr lang="en-US" dirty="0"/>
              <a:t>D</a:t>
            </a:r>
            <a:r>
              <a:rPr dirty="0"/>
              <a:t>ata</a:t>
            </a:r>
            <a:r>
              <a:rPr lang="en-US" dirty="0"/>
              <a:t> need to be</a:t>
            </a:r>
            <a:r>
              <a:rPr dirty="0"/>
              <a:t> available within 1 hour</a:t>
            </a:r>
          </a:p>
          <a:p>
            <a:pPr lvl="0"/>
            <a:r>
              <a:rPr dirty="0"/>
              <a:t>Reliability target: 99.9% successful runs</a:t>
            </a:r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marL="0" lvl="0" indent="0">
              <a:buNone/>
            </a:pPr>
            <a:r>
              <a:rPr lang="en-US" dirty="0"/>
              <a:t>Good luck for “regular” techniques….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2C34D-99CF-9544-4F0C-279E4906F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47137-66E7-522D-FB27-962DE48475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Course Overview: SQL Optimization</a:t>
            </a:r>
            <a:endParaRPr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762E8C-C6C6-9158-F927-75578170A0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3AA470-4660-EC32-FADC-D7DAF0F7D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  <p:sp>
        <p:nvSpPr>
          <p:cNvPr id="7" name="מציין מיקום תוכן 6">
            <a:extLst>
              <a:ext uri="{FF2B5EF4-FFF2-40B4-BE49-F238E27FC236}">
                <a16:creationId xmlns:a16="http://schemas.microsoft.com/office/drawing/2014/main" id="{64438540-A3E8-8F8A-4917-C446C0BCB2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/>
              <a:t>Window functions 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/>
              <a:t>CTEs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/>
              <a:t>Sub-queries </a:t>
            </a:r>
            <a:endParaRPr lang="he-IL" dirty="0"/>
          </a:p>
        </p:txBody>
      </p:sp>
      <p:pic>
        <p:nvPicPr>
          <p:cNvPr id="1026" name="Picture 2" descr="SQL Server Monitoring and Performance Management with Instana | IBM">
            <a:extLst>
              <a:ext uri="{FF2B5EF4-FFF2-40B4-BE49-F238E27FC236}">
                <a16:creationId xmlns:a16="http://schemas.microsoft.com/office/drawing/2014/main" id="{D739DFD5-6413-0C83-B601-4D86A2607D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7158" y="1364251"/>
            <a:ext cx="6312842" cy="4761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76494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11BF3-F005-C78B-83EA-AF3BCF505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53008-37B4-1ACE-4F48-9AD20E831C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4638"/>
            <a:ext cx="10972800" cy="1143000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dirty="0"/>
              <a:t>Course Overview: Distributed Computing</a:t>
            </a:r>
            <a:endParaRPr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CF120C-66E1-0549-F214-61C140B99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Or Peretz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D0C12-8879-E326-9483-D9F3E36CF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1FF6DA9-008F-8B48-92A6-B652298478BF}" type="slidenum">
              <a:rPr lang="en-US" smtClean="0"/>
              <a:pPr>
                <a:spcAft>
                  <a:spcPts val="600"/>
                </a:spcAft>
              </a:pPr>
              <a:t>18</a:t>
            </a:fld>
            <a:endParaRPr lang="en-US"/>
          </a:p>
        </p:txBody>
      </p:sp>
      <p:pic>
        <p:nvPicPr>
          <p:cNvPr id="3" name="תמונה 2" descr="תמונה שמכילה טקסט, תרשים, צילום מסך, עיצו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7DEDE0FC-6EEC-322D-809B-2D2E62EE4B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723633"/>
            <a:ext cx="7772400" cy="4326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1194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D8943-0D08-EEF6-C90C-5CE09D9F5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5188E-DB9F-9DD7-D6A0-CAB61AE7AB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Course Overview: Data Warehouse, Data Lake, ETL</a:t>
            </a:r>
            <a:endParaRPr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CAAB17-42CB-9778-F95C-E7ED1CCB4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9E1086-933D-1D02-2333-3C572E09A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  <p:pic>
        <p:nvPicPr>
          <p:cNvPr id="3074" name="Picture 2" descr="What Is ETL And How the ETL process works?">
            <a:extLst>
              <a:ext uri="{FF2B5EF4-FFF2-40B4-BE49-F238E27FC236}">
                <a16:creationId xmlns:a16="http://schemas.microsoft.com/office/drawing/2014/main" id="{A8B60ED4-A5CD-36FF-1190-2B6853CD1A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2850" y="2236574"/>
            <a:ext cx="7046299" cy="3063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24781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24AA7-8FEB-D4B2-3229-07391ECFE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FF445-46CC-2089-364E-0386C96BCE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Course Overview: Map Reduce</a:t>
            </a:r>
            <a:endParaRPr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6FCBC2-B7F8-A131-8E0E-9E2B98293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29FFA2-2557-ABEB-89AD-D2FCF58F4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  <p:pic>
        <p:nvPicPr>
          <p:cNvPr id="3" name="תמונה 2">
            <a:extLst>
              <a:ext uri="{FF2B5EF4-FFF2-40B4-BE49-F238E27FC236}">
                <a16:creationId xmlns:a16="http://schemas.microsoft.com/office/drawing/2014/main" id="{3C951E60-D93D-2B50-65F0-65550B185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543" y="1721737"/>
            <a:ext cx="7772400" cy="4330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24364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30306-115A-4F01-115F-8737FCB3D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E79A6-6CE1-5ED4-2EBD-605482C41C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Course Overview: TF-IDF</a:t>
            </a:r>
            <a:endParaRPr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360425-5FB9-3BDE-D7AE-8478BC659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C8BB4-58BE-7CAC-424B-2A05DEF4F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  <p:pic>
        <p:nvPicPr>
          <p:cNvPr id="10" name="תמונה 9">
            <a:extLst>
              <a:ext uri="{FF2B5EF4-FFF2-40B4-BE49-F238E27FC236}">
                <a16:creationId xmlns:a16="http://schemas.microsoft.com/office/drawing/2014/main" id="{83B66338-B7D9-0534-1303-7FBD5545FB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936" y="2074141"/>
            <a:ext cx="7570919" cy="3495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3388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E378D0-CA79-FB47-D283-54E0C7AC0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A5C3A-0A95-E4A5-BAF7-5FD2179DEC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1650856"/>
            <a:ext cx="10972800" cy="114300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Course Overview: Text Processing for LLMs</a:t>
            </a:r>
            <a:endParaRPr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E636E-C3CD-D3A1-25C3-45D111CF1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56986D-CF0A-3BF9-5947-C5E909B50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C38497A-29D8-B6EF-7CD6-B0CA9E4713CF}"/>
              </a:ext>
            </a:extLst>
          </p:cNvPr>
          <p:cNvSpPr txBox="1">
            <a:spLocks/>
          </p:cNvSpPr>
          <p:nvPr/>
        </p:nvSpPr>
        <p:spPr>
          <a:xfrm>
            <a:off x="609600" y="3161002"/>
            <a:ext cx="10972800" cy="1143000"/>
          </a:xfrm>
          <a:prstGeom prst="roundRect">
            <a:avLst/>
          </a:prstGeom>
          <a:solidFill>
            <a:schemeClr val="lt1"/>
          </a:solidFill>
          <a:ln w="12700" cap="flat" cmpd="sng" algn="ctr">
            <a:solidFill>
              <a:schemeClr val="accent2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10972800"/>
                      <a:gd name="csY0" fmla="*/ 0 h 1143000"/>
                      <a:gd name="csX1" fmla="*/ 10972800 w 10972800"/>
                      <a:gd name="csY1" fmla="*/ 0 h 1143000"/>
                      <a:gd name="csX2" fmla="*/ 10972800 w 10972800"/>
                      <a:gd name="csY2" fmla="*/ 1143000 h 1143000"/>
                      <a:gd name="csX3" fmla="*/ 0 w 10972800"/>
                      <a:gd name="csY3" fmla="*/ 1143000 h 1143000"/>
                      <a:gd name="csX4" fmla="*/ 0 w 10972800"/>
                      <a:gd name="csY4" fmla="*/ 0 h 11430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0972800" h="1143000" fill="none" extrusionOk="0">
                        <a:moveTo>
                          <a:pt x="0" y="0"/>
                        </a:moveTo>
                        <a:cubicBezTo>
                          <a:pt x="4674310" y="-49533"/>
                          <a:pt x="6929254" y="-14809"/>
                          <a:pt x="10972800" y="0"/>
                        </a:cubicBezTo>
                        <a:cubicBezTo>
                          <a:pt x="10969069" y="570730"/>
                          <a:pt x="11062171" y="914526"/>
                          <a:pt x="10972800" y="1143000"/>
                        </a:cubicBezTo>
                        <a:cubicBezTo>
                          <a:pt x="6482996" y="1094769"/>
                          <a:pt x="3552735" y="1227455"/>
                          <a:pt x="0" y="1143000"/>
                        </a:cubicBezTo>
                        <a:cubicBezTo>
                          <a:pt x="69309" y="672287"/>
                          <a:pt x="-28229" y="279082"/>
                          <a:pt x="0" y="0"/>
                        </a:cubicBezTo>
                        <a:close/>
                      </a:path>
                      <a:path w="10972800" h="1143000" stroke="0" extrusionOk="0">
                        <a:moveTo>
                          <a:pt x="0" y="0"/>
                        </a:moveTo>
                        <a:cubicBezTo>
                          <a:pt x="3528079" y="118645"/>
                          <a:pt x="9610931" y="116012"/>
                          <a:pt x="10972800" y="0"/>
                        </a:cubicBezTo>
                        <a:cubicBezTo>
                          <a:pt x="11055528" y="134374"/>
                          <a:pt x="10882381" y="1028043"/>
                          <a:pt x="10972800" y="1143000"/>
                        </a:cubicBezTo>
                        <a:cubicBezTo>
                          <a:pt x="8799093" y="1277600"/>
                          <a:pt x="3316512" y="985804"/>
                          <a:pt x="0" y="1143000"/>
                        </a:cubicBezTo>
                        <a:cubicBezTo>
                          <a:pt x="94203" y="956839"/>
                          <a:pt x="-18710" y="28947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400" b="1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Overview: Streaming Data</a:t>
            </a:r>
          </a:p>
        </p:txBody>
      </p:sp>
    </p:spTree>
    <p:extLst>
      <p:ext uri="{BB962C8B-B14F-4D97-AF65-F5344CB8AC3E}">
        <p14:creationId xmlns:p14="http://schemas.microsoft.com/office/powerpoint/2010/main" val="24216490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SQL </a:t>
            </a:r>
            <a:r>
              <a:rPr lang="en-US" dirty="0"/>
              <a:t>– Recap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Recap SQL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dirty="0"/>
              <a:t>Differentiate SQL DML vs. DDL and apply each correctly</a:t>
            </a:r>
          </a:p>
          <a:p>
            <a:pPr lvl="0"/>
            <a:r>
              <a:rPr dirty="0"/>
              <a:t>Choose the right join type and understand NULL results</a:t>
            </a:r>
          </a:p>
          <a:p>
            <a:pPr lvl="0"/>
            <a:r>
              <a:rPr dirty="0"/>
              <a:t>Use subqueries with </a:t>
            </a:r>
            <a:r>
              <a:rPr dirty="0">
                <a:latin typeface="Courier"/>
              </a:rPr>
              <a:t>ALL</a:t>
            </a:r>
            <a:r>
              <a:rPr dirty="0"/>
              <a:t>, </a:t>
            </a:r>
            <a:r>
              <a:rPr dirty="0">
                <a:latin typeface="Courier"/>
              </a:rPr>
              <a:t>IN</a:t>
            </a:r>
            <a:r>
              <a:rPr dirty="0"/>
              <a:t>, and </a:t>
            </a:r>
            <a:r>
              <a:rPr dirty="0">
                <a:latin typeface="Courier"/>
              </a:rPr>
              <a:t>EXISTS</a:t>
            </a:r>
          </a:p>
          <a:p>
            <a:pPr lvl="0"/>
            <a:r>
              <a:rPr dirty="0"/>
              <a:t>Apply window functions for aggregation, ranking, and value navigation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600" y="6365143"/>
            <a:ext cx="3860800" cy="365125"/>
          </a:xfrm>
        </p:spPr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SQL Foundations (DML vs. DDL)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b="1" dirty="0"/>
              <a:t>SQL</a:t>
            </a:r>
            <a:r>
              <a:rPr dirty="0"/>
              <a:t> is a query language that is table-oriented </a:t>
            </a:r>
            <a:br>
              <a:rPr lang="en-US" dirty="0"/>
            </a:br>
            <a:r>
              <a:rPr dirty="0"/>
              <a:t>and optimized for fast access to data.</a:t>
            </a:r>
          </a:p>
          <a:p>
            <a:pPr lvl="0"/>
            <a:r>
              <a:rPr b="1" dirty="0"/>
              <a:t>CRUD</a:t>
            </a:r>
            <a:r>
              <a:rPr dirty="0"/>
              <a:t> operations: Create, Read, Update, Delete.</a:t>
            </a:r>
          </a:p>
          <a:p>
            <a:pPr lvl="0"/>
            <a:r>
              <a:rPr b="1" dirty="0"/>
              <a:t>DML</a:t>
            </a:r>
            <a:r>
              <a:rPr lang="en-US" b="1" dirty="0"/>
              <a:t>: </a:t>
            </a:r>
            <a:r>
              <a:rPr dirty="0">
                <a:latin typeface="Courier"/>
              </a:rPr>
              <a:t>SELECT</a:t>
            </a:r>
            <a:r>
              <a:rPr dirty="0"/>
              <a:t>, </a:t>
            </a:r>
            <a:r>
              <a:rPr dirty="0">
                <a:latin typeface="Courier"/>
              </a:rPr>
              <a:t>INSERT</a:t>
            </a:r>
            <a:r>
              <a:rPr dirty="0"/>
              <a:t>, </a:t>
            </a:r>
            <a:r>
              <a:rPr dirty="0">
                <a:latin typeface="Courier"/>
              </a:rPr>
              <a:t>UPDATE</a:t>
            </a:r>
            <a:r>
              <a:rPr dirty="0"/>
              <a:t>, </a:t>
            </a:r>
            <a:r>
              <a:rPr dirty="0">
                <a:latin typeface="Courier"/>
              </a:rPr>
              <a:t>DELETE</a:t>
            </a:r>
          </a:p>
          <a:p>
            <a:pPr lvl="0"/>
            <a:r>
              <a:rPr b="1" dirty="0"/>
              <a:t>DDL:</a:t>
            </a:r>
            <a:r>
              <a:rPr dirty="0"/>
              <a:t> </a:t>
            </a:r>
            <a:r>
              <a:rPr dirty="0">
                <a:latin typeface="Courier"/>
              </a:rPr>
              <a:t>CREATE</a:t>
            </a:r>
            <a:r>
              <a:rPr dirty="0"/>
              <a:t>, </a:t>
            </a:r>
            <a:r>
              <a:rPr dirty="0">
                <a:latin typeface="Courier"/>
              </a:rPr>
              <a:t>DROP</a:t>
            </a:r>
            <a:r>
              <a:rPr dirty="0"/>
              <a:t>, </a:t>
            </a:r>
            <a:r>
              <a:rPr dirty="0">
                <a:latin typeface="Courier"/>
              </a:rPr>
              <a:t>ALTER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Create + Insert + Verify (Example)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Autofit/>
          </a:bodyPr>
          <a:lstStyle/>
          <a:p>
            <a:pPr lvl="0" indent="0">
              <a:buNone/>
            </a:pPr>
            <a:r>
              <a:rPr sz="2000" b="1" dirty="0">
                <a:solidFill>
                  <a:srgbClr val="007020"/>
                </a:solidFill>
                <a:latin typeface="Courier"/>
              </a:rPr>
              <a:t>CREATE</a:t>
            </a:r>
            <a:r>
              <a:rPr sz="2000" dirty="0">
                <a:latin typeface="Courier"/>
              </a:rPr>
              <a:t> </a:t>
            </a:r>
            <a:r>
              <a:rPr sz="2000" b="1" dirty="0">
                <a:solidFill>
                  <a:srgbClr val="007020"/>
                </a:solidFill>
                <a:latin typeface="Courier"/>
              </a:rPr>
              <a:t>TABLE</a:t>
            </a:r>
            <a:r>
              <a:rPr sz="2000" dirty="0">
                <a:latin typeface="Courier"/>
              </a:rPr>
              <a:t> Students (</a:t>
            </a:r>
            <a:br>
              <a:rPr sz="2000" dirty="0"/>
            </a:br>
            <a:r>
              <a:rPr sz="2000" dirty="0">
                <a:latin typeface="Courier"/>
              </a:rPr>
              <a:t>  </a:t>
            </a:r>
            <a:r>
              <a:rPr sz="2000" b="1" dirty="0">
                <a:solidFill>
                  <a:srgbClr val="007020"/>
                </a:solidFill>
                <a:latin typeface="Courier"/>
              </a:rPr>
              <a:t>Id</a:t>
            </a:r>
            <a:r>
              <a:rPr sz="2000" dirty="0">
                <a:latin typeface="Courier"/>
              </a:rPr>
              <a:t> </a:t>
            </a:r>
            <a:r>
              <a:rPr sz="2000" dirty="0">
                <a:solidFill>
                  <a:srgbClr val="902000"/>
                </a:solidFill>
                <a:latin typeface="Courier"/>
              </a:rPr>
              <a:t>int</a:t>
            </a:r>
            <a:r>
              <a:rPr sz="2000" dirty="0">
                <a:latin typeface="Courier"/>
              </a:rPr>
              <a:t> </a:t>
            </a:r>
            <a:r>
              <a:rPr sz="2000" b="1" dirty="0">
                <a:solidFill>
                  <a:srgbClr val="007020"/>
                </a:solidFill>
                <a:latin typeface="Courier"/>
              </a:rPr>
              <a:t>NOT</a:t>
            </a:r>
            <a:r>
              <a:rPr sz="2000" dirty="0">
                <a:latin typeface="Courier"/>
              </a:rPr>
              <a:t> </a:t>
            </a:r>
            <a:r>
              <a:rPr sz="2000" b="1" dirty="0">
                <a:solidFill>
                  <a:srgbClr val="007020"/>
                </a:solidFill>
                <a:latin typeface="Courier"/>
              </a:rPr>
              <a:t>NULL</a:t>
            </a:r>
            <a:r>
              <a:rPr sz="2000" dirty="0">
                <a:latin typeface="Courier"/>
              </a:rPr>
              <a:t>,</a:t>
            </a:r>
            <a:br>
              <a:rPr sz="2000" dirty="0"/>
            </a:br>
            <a:r>
              <a:rPr sz="2000" dirty="0">
                <a:latin typeface="Courier"/>
              </a:rPr>
              <a:t>  </a:t>
            </a:r>
            <a:r>
              <a:rPr sz="2000" dirty="0" err="1">
                <a:latin typeface="Courier"/>
              </a:rPr>
              <a:t>First_Name</a:t>
            </a:r>
            <a:r>
              <a:rPr sz="2000" dirty="0">
                <a:latin typeface="Courier"/>
              </a:rPr>
              <a:t> text,</a:t>
            </a:r>
            <a:br>
              <a:rPr sz="2000" dirty="0"/>
            </a:br>
            <a:r>
              <a:rPr sz="2000" dirty="0">
                <a:latin typeface="Courier"/>
              </a:rPr>
              <a:t>  </a:t>
            </a:r>
            <a:r>
              <a:rPr sz="2000" dirty="0" err="1">
                <a:latin typeface="Courier"/>
              </a:rPr>
              <a:t>Last_Name</a:t>
            </a:r>
            <a:r>
              <a:rPr sz="2000" dirty="0">
                <a:latin typeface="Courier"/>
              </a:rPr>
              <a:t> text,</a:t>
            </a:r>
            <a:br>
              <a:rPr sz="2000" dirty="0"/>
            </a:br>
            <a:r>
              <a:rPr sz="2000" dirty="0">
                <a:latin typeface="Courier"/>
              </a:rPr>
              <a:t>  </a:t>
            </a:r>
            <a:r>
              <a:rPr sz="2000" dirty="0" err="1">
                <a:latin typeface="Courier"/>
              </a:rPr>
              <a:t>Birth_Date</a:t>
            </a:r>
            <a:r>
              <a:rPr sz="2000" dirty="0">
                <a:latin typeface="Courier"/>
              </a:rPr>
              <a:t> </a:t>
            </a:r>
            <a:r>
              <a:rPr sz="2000" dirty="0">
                <a:solidFill>
                  <a:srgbClr val="902000"/>
                </a:solidFill>
                <a:latin typeface="Courier"/>
              </a:rPr>
              <a:t>date</a:t>
            </a:r>
            <a:r>
              <a:rPr sz="2000" dirty="0">
                <a:latin typeface="Courier"/>
              </a:rPr>
              <a:t>,</a:t>
            </a:r>
            <a:br>
              <a:rPr sz="2000" dirty="0"/>
            </a:br>
            <a:r>
              <a:rPr sz="2000" dirty="0">
                <a:latin typeface="Courier"/>
              </a:rPr>
              <a:t>  </a:t>
            </a:r>
            <a:r>
              <a:rPr sz="2000" dirty="0" err="1">
                <a:latin typeface="Courier"/>
              </a:rPr>
              <a:t>Hour_Salary</a:t>
            </a:r>
            <a:r>
              <a:rPr sz="2000" dirty="0">
                <a:latin typeface="Courier"/>
              </a:rPr>
              <a:t> </a:t>
            </a:r>
            <a:r>
              <a:rPr sz="2000" dirty="0">
                <a:solidFill>
                  <a:srgbClr val="902000"/>
                </a:solidFill>
                <a:latin typeface="Courier"/>
              </a:rPr>
              <a:t>float</a:t>
            </a:r>
            <a:br>
              <a:rPr sz="2000" dirty="0"/>
            </a:br>
            <a:r>
              <a:rPr sz="2000" dirty="0">
                <a:latin typeface="Courier"/>
              </a:rPr>
              <a:t>);</a:t>
            </a:r>
            <a:br>
              <a:rPr sz="2000" dirty="0"/>
            </a:br>
            <a:br>
              <a:rPr sz="2000" dirty="0"/>
            </a:br>
            <a:r>
              <a:rPr sz="2000" b="1" dirty="0">
                <a:solidFill>
                  <a:srgbClr val="007020"/>
                </a:solidFill>
                <a:latin typeface="Courier"/>
              </a:rPr>
              <a:t>INSERT</a:t>
            </a:r>
            <a:r>
              <a:rPr sz="2000" dirty="0">
                <a:latin typeface="Courier"/>
              </a:rPr>
              <a:t> </a:t>
            </a:r>
            <a:r>
              <a:rPr sz="2000" b="1" dirty="0">
                <a:solidFill>
                  <a:srgbClr val="007020"/>
                </a:solidFill>
                <a:latin typeface="Courier"/>
              </a:rPr>
              <a:t>INTO</a:t>
            </a:r>
            <a:r>
              <a:rPr sz="2000" dirty="0">
                <a:latin typeface="Courier"/>
              </a:rPr>
              <a:t> Students</a:t>
            </a:r>
            <a:br>
              <a:rPr sz="2000" dirty="0"/>
            </a:br>
            <a:r>
              <a:rPr sz="2000" b="1" dirty="0">
                <a:solidFill>
                  <a:srgbClr val="007020"/>
                </a:solidFill>
                <a:latin typeface="Courier"/>
              </a:rPr>
              <a:t>VALUES</a:t>
            </a:r>
            <a:r>
              <a:rPr sz="2000" dirty="0">
                <a:latin typeface="Courier"/>
              </a:rPr>
              <a:t> (</a:t>
            </a:r>
            <a:r>
              <a:rPr sz="2000" dirty="0">
                <a:solidFill>
                  <a:srgbClr val="40A070"/>
                </a:solidFill>
                <a:latin typeface="Courier"/>
              </a:rPr>
              <a:t>123456789</a:t>
            </a:r>
            <a:r>
              <a:rPr sz="2000" dirty="0">
                <a:latin typeface="Courier"/>
              </a:rPr>
              <a:t>, </a:t>
            </a:r>
            <a:r>
              <a:rPr sz="2000" dirty="0">
                <a:solidFill>
                  <a:srgbClr val="4070A0"/>
                </a:solidFill>
                <a:latin typeface="Courier"/>
              </a:rPr>
              <a:t>'Israel'</a:t>
            </a:r>
            <a:r>
              <a:rPr sz="2000" dirty="0">
                <a:latin typeface="Courier"/>
              </a:rPr>
              <a:t>, </a:t>
            </a:r>
            <a:r>
              <a:rPr sz="2000" dirty="0">
                <a:solidFill>
                  <a:srgbClr val="4070A0"/>
                </a:solidFill>
                <a:latin typeface="Courier"/>
              </a:rPr>
              <a:t>'Israeli'</a:t>
            </a:r>
            <a:r>
              <a:rPr sz="2000" dirty="0">
                <a:latin typeface="Courier"/>
              </a:rPr>
              <a:t>, </a:t>
            </a:r>
            <a:r>
              <a:rPr sz="2000" dirty="0">
                <a:solidFill>
                  <a:srgbClr val="4070A0"/>
                </a:solidFill>
                <a:latin typeface="Courier"/>
              </a:rPr>
              <a:t>'1980-03-20'</a:t>
            </a:r>
            <a:r>
              <a:rPr sz="2000" dirty="0">
                <a:latin typeface="Courier"/>
              </a:rPr>
              <a:t>, </a:t>
            </a:r>
            <a:r>
              <a:rPr sz="2000" dirty="0">
                <a:solidFill>
                  <a:srgbClr val="40A070"/>
                </a:solidFill>
                <a:latin typeface="Courier"/>
              </a:rPr>
              <a:t>120.40</a:t>
            </a:r>
            <a:r>
              <a:rPr sz="2000" dirty="0">
                <a:latin typeface="Courier"/>
              </a:rPr>
              <a:t>);</a:t>
            </a:r>
            <a:br>
              <a:rPr sz="2000" dirty="0"/>
            </a:br>
            <a:endParaRPr sz="2000" dirty="0">
              <a:latin typeface="Courier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Example: Students</a:t>
            </a:r>
            <a:r>
              <a:rPr lang="en-US" dirty="0"/>
              <a:t> and Courses</a:t>
            </a:r>
            <a:r>
              <a:rPr dirty="0"/>
              <a:t> Table</a:t>
            </a:r>
            <a:r>
              <a:rPr lang="en-US" dirty="0"/>
              <a:t>s</a:t>
            </a:r>
            <a:endParaRPr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196624" y="1782247"/>
          <a:ext cx="6103551" cy="14630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034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4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4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452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dirty="0"/>
                        <a:t>FirstName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dirty="0"/>
                        <a:t>LastName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StudentID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452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Avi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dirty="0"/>
                        <a:t>Cohen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452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Dan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Israeli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222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452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Ofer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Bar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dirty="0"/>
                        <a:t>333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27</a:t>
            </a:fld>
            <a:endParaRPr lang="en-US"/>
          </a:p>
        </p:txBody>
      </p:sp>
      <p:graphicFrame>
        <p:nvGraphicFramePr>
          <p:cNvPr id="4" name="Content Placeholder 5">
            <a:extLst>
              <a:ext uri="{FF2B5EF4-FFF2-40B4-BE49-F238E27FC236}">
                <a16:creationId xmlns:a16="http://schemas.microsoft.com/office/drawing/2014/main" id="{1AA4E079-1080-4846-CFA0-5B71428E24B2}"/>
              </a:ext>
            </a:extLst>
          </p:cNvPr>
          <p:cNvGraphicFramePr>
            <a:graphicFrameLocks/>
          </p:cNvGraphicFramePr>
          <p:nvPr/>
        </p:nvGraphicFramePr>
        <p:xfrm>
          <a:off x="2299043" y="3794760"/>
          <a:ext cx="7957064" cy="156807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892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92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92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892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2018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StudentID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CourseNumber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CourseName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dirty="0"/>
                        <a:t>Grade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2018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dirty="0"/>
                        <a:t>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289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dirty="0"/>
                        <a:t>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2018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dirty="0"/>
                        <a:t>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281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Algo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85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2018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281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Algo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dirty="0"/>
                        <a:t>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תיבת טקסט 9">
            <a:extLst>
              <a:ext uri="{FF2B5EF4-FFF2-40B4-BE49-F238E27FC236}">
                <a16:creationId xmlns:a16="http://schemas.microsoft.com/office/drawing/2014/main" id="{AA15901B-7CD9-78FF-9D25-C9E4B80904D0}"/>
              </a:ext>
            </a:extLst>
          </p:cNvPr>
          <p:cNvSpPr txBox="1"/>
          <p:nvPr/>
        </p:nvSpPr>
        <p:spPr>
          <a:xfrm>
            <a:off x="2798805" y="5622409"/>
            <a:ext cx="117018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b="1" dirty="0"/>
              <a:t>Primary Key:</a:t>
            </a:r>
            <a:r>
              <a:rPr lang="en" dirty="0"/>
              <a:t> </a:t>
            </a:r>
            <a:r>
              <a:rPr lang="en" dirty="0" err="1"/>
              <a:t>StudentID</a:t>
            </a:r>
            <a:r>
              <a:rPr lang="en" dirty="0"/>
              <a:t> in Students, </a:t>
            </a:r>
            <a:r>
              <a:rPr lang="en" b="1" dirty="0"/>
              <a:t>Foreign Key:</a:t>
            </a:r>
            <a:r>
              <a:rPr lang="en" dirty="0"/>
              <a:t> </a:t>
            </a:r>
            <a:r>
              <a:rPr lang="en" dirty="0" err="1"/>
              <a:t>StudentID</a:t>
            </a:r>
            <a:r>
              <a:rPr lang="en" dirty="0"/>
              <a:t> in Courses</a:t>
            </a:r>
            <a:endParaRPr lang="he-IL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How to Merge Two Tables? </a:t>
            </a:r>
            <a:r>
              <a:rPr lang="en-US" dirty="0"/>
              <a:t>-</a:t>
            </a:r>
            <a:r>
              <a:rPr dirty="0"/>
              <a:t> Option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 FirstName, CourseName, Grade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Students </a:t>
            </a:r>
            <a:r>
              <a:rPr b="1">
                <a:solidFill>
                  <a:srgbClr val="00702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S, Courses </a:t>
            </a:r>
            <a:r>
              <a:rPr b="1">
                <a:solidFill>
                  <a:srgbClr val="00702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C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WHERE</a:t>
            </a:r>
            <a:r>
              <a:rPr>
                <a:latin typeface="Courier"/>
              </a:rPr>
              <a:t> (S.StudentID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C.StudentID)</a:t>
            </a:r>
            <a:br/>
            <a:r>
              <a:rPr>
                <a:latin typeface="Courier"/>
              </a:rPr>
              <a:t>  </a:t>
            </a:r>
            <a:r>
              <a:rPr b="1">
                <a:solidFill>
                  <a:srgbClr val="007020"/>
                </a:solidFill>
                <a:latin typeface="Courier"/>
              </a:rPr>
              <a:t>AND</a:t>
            </a:r>
            <a:r>
              <a:rPr>
                <a:latin typeface="Courier"/>
              </a:rPr>
              <a:t> (C.CourseName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'Algo'</a:t>
            </a:r>
            <a:r>
              <a:rPr>
                <a:latin typeface="Courier"/>
              </a:rPr>
              <a:t>);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Option 2 (Explicit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 indent="0">
              <a:buNone/>
            </a:pPr>
            <a:r>
              <a:rPr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dirty="0">
                <a:latin typeface="Courier"/>
              </a:rPr>
              <a:t> FirstName, </a:t>
            </a:r>
            <a:r>
              <a:rPr dirty="0" err="1">
                <a:latin typeface="Courier"/>
              </a:rPr>
              <a:t>CourseName</a:t>
            </a:r>
            <a:r>
              <a:rPr dirty="0">
                <a:latin typeface="Courier"/>
              </a:rPr>
              <a:t>, Grade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dirty="0">
                <a:latin typeface="Courier"/>
              </a:rPr>
              <a:t> Students </a:t>
            </a:r>
            <a:r>
              <a:rPr b="1" dirty="0">
                <a:solidFill>
                  <a:srgbClr val="007020"/>
                </a:solidFill>
                <a:latin typeface="Courier"/>
              </a:rPr>
              <a:t>AS</a:t>
            </a:r>
            <a:r>
              <a:rPr dirty="0">
                <a:latin typeface="Courier"/>
              </a:rPr>
              <a:t> S</a:t>
            </a:r>
            <a:r>
              <a:rPr lang="en-US" dirty="0">
                <a:latin typeface="Courier"/>
              </a:rPr>
              <a:t> </a:t>
            </a:r>
            <a:r>
              <a:rPr b="1" dirty="0">
                <a:solidFill>
                  <a:srgbClr val="007020"/>
                </a:solidFill>
                <a:latin typeface="Courier"/>
              </a:rPr>
              <a:t>JOIN</a:t>
            </a:r>
            <a:r>
              <a:rPr dirty="0">
                <a:latin typeface="Courier"/>
              </a:rPr>
              <a:t> Courses </a:t>
            </a:r>
            <a:r>
              <a:rPr b="1" dirty="0">
                <a:solidFill>
                  <a:srgbClr val="007020"/>
                </a:solidFill>
                <a:latin typeface="Courier"/>
              </a:rPr>
              <a:t>AS</a:t>
            </a:r>
            <a:r>
              <a:rPr dirty="0">
                <a:latin typeface="Courier"/>
              </a:rPr>
              <a:t> C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b="1" dirty="0">
                <a:solidFill>
                  <a:srgbClr val="007020"/>
                </a:solidFill>
                <a:latin typeface="Courier"/>
              </a:rPr>
              <a:t>ON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S.StudentID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C.StudentID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Courier"/>
              </a:rPr>
              <a:t>WHERE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C.CourseName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4070A0"/>
                </a:solidFill>
                <a:latin typeface="Courier"/>
              </a:rPr>
              <a:t>'Algo'</a:t>
            </a:r>
            <a:r>
              <a:rPr dirty="0">
                <a:latin typeface="Courier"/>
              </a:rPr>
              <a:t>;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ON vs. USING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Use </a:t>
            </a:r>
            <a:r>
              <a:rPr b="1">
                <a:latin typeface="Courier"/>
              </a:rPr>
              <a:t>ON</a:t>
            </a:r>
            <a:r>
              <a:t> when join column names differ.</a:t>
            </a:r>
          </a:p>
          <a:p>
            <a:pPr lvl="0"/>
            <a:r>
              <a:t>Use </a:t>
            </a:r>
            <a:r>
              <a:rPr b="1">
                <a:latin typeface="Courier"/>
              </a:rPr>
              <a:t>USING</a:t>
            </a:r>
            <a:r>
              <a:t> when column names are the same.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30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C3DE0A4-3342-E2A7-9F6B-C4DC8FCB0EE8}"/>
              </a:ext>
            </a:extLst>
          </p:cNvPr>
          <p:cNvSpPr txBox="1">
            <a:spLocks/>
          </p:cNvSpPr>
          <p:nvPr/>
        </p:nvSpPr>
        <p:spPr>
          <a:xfrm>
            <a:off x="1074454" y="3185984"/>
            <a:ext cx="10635632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lnSpc>
                <a:spcPct val="130000"/>
              </a:lnSpc>
              <a:spcBef>
                <a:spcPts val="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lnSpc>
                <a:spcPct val="130000"/>
              </a:lnSpc>
              <a:spcBef>
                <a:spcPts val="0"/>
              </a:spcBef>
              <a:buFont typeface="Arial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lnSpc>
                <a:spcPct val="130000"/>
              </a:lnSpc>
              <a:spcBef>
                <a:spcPts val="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lnSpc>
                <a:spcPct val="130000"/>
              </a:lnSpc>
              <a:spcBef>
                <a:spcPts val="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lnSpc>
                <a:spcPct val="130000"/>
              </a:lnSpc>
              <a:spcBef>
                <a:spcPts val="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Font typeface="Arial"/>
              <a:buNone/>
            </a:pPr>
            <a:r>
              <a:rPr lang="en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lang="en" dirty="0">
                <a:latin typeface="Courier"/>
              </a:rPr>
              <a:t> FirstName, </a:t>
            </a:r>
            <a:r>
              <a:rPr lang="en" dirty="0" err="1">
                <a:latin typeface="Courier"/>
              </a:rPr>
              <a:t>CourseName</a:t>
            </a:r>
            <a:r>
              <a:rPr lang="en" dirty="0">
                <a:latin typeface="Courier"/>
              </a:rPr>
              <a:t>, Grade</a:t>
            </a:r>
            <a:br>
              <a:rPr lang="en" dirty="0"/>
            </a:br>
            <a:r>
              <a:rPr lang="en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lang="en" dirty="0">
                <a:latin typeface="Courier"/>
              </a:rPr>
              <a:t> Students</a:t>
            </a:r>
            <a:br>
              <a:rPr lang="en" dirty="0"/>
            </a:br>
            <a:r>
              <a:rPr lang="en" b="1" dirty="0">
                <a:solidFill>
                  <a:srgbClr val="007020"/>
                </a:solidFill>
                <a:latin typeface="Courier"/>
              </a:rPr>
              <a:t>JOIN</a:t>
            </a:r>
            <a:r>
              <a:rPr lang="en" dirty="0">
                <a:latin typeface="Courier"/>
              </a:rPr>
              <a:t> Courses </a:t>
            </a:r>
            <a:r>
              <a:rPr lang="en" b="1" dirty="0">
                <a:solidFill>
                  <a:srgbClr val="007020"/>
                </a:solidFill>
                <a:latin typeface="Courier"/>
              </a:rPr>
              <a:t>USING</a:t>
            </a:r>
            <a:r>
              <a:rPr lang="en" dirty="0">
                <a:latin typeface="Courier"/>
              </a:rPr>
              <a:t> (</a:t>
            </a:r>
            <a:r>
              <a:rPr lang="en" dirty="0" err="1">
                <a:latin typeface="Courier"/>
              </a:rPr>
              <a:t>StudentID</a:t>
            </a:r>
            <a:r>
              <a:rPr lang="en" dirty="0">
                <a:latin typeface="Courier"/>
              </a:rPr>
              <a:t>)</a:t>
            </a:r>
            <a:br>
              <a:rPr lang="en" dirty="0"/>
            </a:br>
            <a:r>
              <a:rPr lang="en" b="1" dirty="0">
                <a:solidFill>
                  <a:srgbClr val="007020"/>
                </a:solidFill>
                <a:latin typeface="Courier"/>
              </a:rPr>
              <a:t>WHERE</a:t>
            </a:r>
            <a:r>
              <a:rPr lang="en" dirty="0">
                <a:latin typeface="Courier"/>
              </a:rPr>
              <a:t> </a:t>
            </a:r>
            <a:r>
              <a:rPr lang="en" dirty="0" err="1">
                <a:latin typeface="Courier"/>
              </a:rPr>
              <a:t>CourseName</a:t>
            </a:r>
            <a:r>
              <a:rPr lang="en" dirty="0">
                <a:latin typeface="Courier"/>
              </a:rPr>
              <a:t> </a:t>
            </a:r>
            <a:r>
              <a:rPr lang="en" dirty="0">
                <a:solidFill>
                  <a:srgbClr val="666666"/>
                </a:solidFill>
                <a:latin typeface="Courier"/>
              </a:rPr>
              <a:t>=</a:t>
            </a:r>
            <a:r>
              <a:rPr lang="en" dirty="0">
                <a:latin typeface="Courier"/>
              </a:rPr>
              <a:t> </a:t>
            </a:r>
            <a:r>
              <a:rPr lang="en" dirty="0">
                <a:solidFill>
                  <a:srgbClr val="4070A0"/>
                </a:solidFill>
                <a:latin typeface="Courier"/>
              </a:rPr>
              <a:t>'Algo'</a:t>
            </a:r>
            <a:r>
              <a:rPr lang="en" dirty="0">
                <a:latin typeface="Courier"/>
              </a:rPr>
              <a:t>;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Join Types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31</a:t>
            </a:fld>
            <a:endParaRPr lang="en-US"/>
          </a:p>
        </p:txBody>
      </p:sp>
      <p:pic>
        <p:nvPicPr>
          <p:cNvPr id="8" name="תמונה 7" descr="SQL Joins Explained In &lt;5 Minutes [4 Step-by-Step Examples]">
            <a:extLst>
              <a:ext uri="{FF2B5EF4-FFF2-40B4-BE49-F238E27FC236}">
                <a16:creationId xmlns:a16="http://schemas.microsoft.com/office/drawing/2014/main" id="{199E0DA5-8E1A-B74B-FEAC-06E4101FA4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346" y="1817684"/>
            <a:ext cx="5204254" cy="4138621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Handling NULL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NULL values can come from:</a:t>
            </a:r>
          </a:p>
          <a:p>
            <a:pPr lvl="1"/>
            <a:r>
              <a:t>Left/Right/Full outer joins</a:t>
            </a:r>
          </a:p>
          <a:p>
            <a:pPr lvl="1"/>
            <a:r>
              <a:t>Missing data during inserts</a:t>
            </a:r>
          </a:p>
          <a:p>
            <a:pPr lvl="1"/>
            <a:r>
              <a:t>Other data quality issues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Example: Find Rows with Missing Course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 indent="0">
              <a:buNone/>
            </a:pPr>
            <a:r>
              <a:rPr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dirty="0">
                <a:latin typeface="Courier"/>
              </a:rPr>
              <a:t> FirstName, LastName, </a:t>
            </a:r>
            <a:r>
              <a:rPr dirty="0" err="1">
                <a:latin typeface="Courier"/>
              </a:rPr>
              <a:t>CourseNumber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dirty="0">
                <a:latin typeface="Courier"/>
              </a:rPr>
              <a:t> Student</a:t>
            </a:r>
            <a:r>
              <a:rPr lang="en-US" dirty="0">
                <a:latin typeface="Courier"/>
              </a:rPr>
              <a:t> </a:t>
            </a:r>
            <a:r>
              <a:rPr b="1" dirty="0">
                <a:solidFill>
                  <a:srgbClr val="007020"/>
                </a:solidFill>
                <a:latin typeface="Courier"/>
              </a:rPr>
              <a:t>LEFT</a:t>
            </a:r>
            <a:r>
              <a:rPr dirty="0">
                <a:latin typeface="Courier"/>
              </a:rPr>
              <a:t> </a:t>
            </a:r>
            <a:r>
              <a:rPr b="1" dirty="0">
                <a:solidFill>
                  <a:srgbClr val="007020"/>
                </a:solidFill>
                <a:latin typeface="Courier"/>
              </a:rPr>
              <a:t>OUTER</a:t>
            </a:r>
            <a:r>
              <a:rPr dirty="0">
                <a:latin typeface="Courier"/>
              </a:rPr>
              <a:t> </a:t>
            </a:r>
            <a:r>
              <a:rPr b="1" dirty="0">
                <a:solidFill>
                  <a:srgbClr val="007020"/>
                </a:solidFill>
                <a:latin typeface="Courier"/>
              </a:rPr>
              <a:t>JOIN</a:t>
            </a:r>
            <a:r>
              <a:rPr dirty="0">
                <a:latin typeface="Courier"/>
              </a:rPr>
              <a:t> Courses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Courier"/>
              </a:rPr>
              <a:t>USING</a:t>
            </a:r>
            <a:r>
              <a:rPr dirty="0">
                <a:latin typeface="Courier"/>
              </a:rPr>
              <a:t> (StudentID)</a:t>
            </a:r>
            <a:endParaRPr lang="en-US" dirty="0">
              <a:latin typeface="Courier"/>
            </a:endParaRPr>
          </a:p>
          <a:p>
            <a:pPr lvl="0" indent="0">
              <a:buNone/>
            </a:pPr>
            <a:r>
              <a:rPr lang="en" b="1" dirty="0">
                <a:solidFill>
                  <a:srgbClr val="007020"/>
                </a:solidFill>
                <a:latin typeface="Courier"/>
              </a:rPr>
              <a:t>WHERE</a:t>
            </a:r>
            <a:r>
              <a:rPr lang="en" dirty="0">
                <a:latin typeface="Courier"/>
              </a:rPr>
              <a:t> </a:t>
            </a:r>
            <a:r>
              <a:rPr lang="en" dirty="0" err="1">
                <a:latin typeface="Courier"/>
              </a:rPr>
              <a:t>CourseNumber</a:t>
            </a:r>
            <a:r>
              <a:rPr lang="en" dirty="0">
                <a:latin typeface="Courier"/>
              </a:rPr>
              <a:t> </a:t>
            </a:r>
            <a:r>
              <a:rPr lang="en" b="1" dirty="0">
                <a:solidFill>
                  <a:srgbClr val="007020"/>
                </a:solidFill>
                <a:latin typeface="Courier"/>
              </a:rPr>
              <a:t>IS</a:t>
            </a:r>
            <a:r>
              <a:rPr lang="en" dirty="0">
                <a:latin typeface="Courier"/>
              </a:rPr>
              <a:t> </a:t>
            </a:r>
            <a:r>
              <a:rPr lang="en" b="1" dirty="0">
                <a:solidFill>
                  <a:srgbClr val="007020"/>
                </a:solidFill>
                <a:latin typeface="Courier"/>
              </a:rPr>
              <a:t>NULL</a:t>
            </a:r>
            <a:endParaRPr dirty="0">
              <a:latin typeface="Courier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33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B4410AC-A411-2B21-6A1B-A8BEB9D68E54}"/>
              </a:ext>
            </a:extLst>
          </p:cNvPr>
          <p:cNvSpPr txBox="1">
            <a:spLocks/>
          </p:cNvSpPr>
          <p:nvPr/>
        </p:nvSpPr>
        <p:spPr>
          <a:xfrm>
            <a:off x="1136238" y="4595018"/>
            <a:ext cx="10635632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lnSpc>
                <a:spcPct val="130000"/>
              </a:lnSpc>
              <a:spcBef>
                <a:spcPts val="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lnSpc>
                <a:spcPct val="130000"/>
              </a:lnSpc>
              <a:spcBef>
                <a:spcPts val="0"/>
              </a:spcBef>
              <a:buFont typeface="Arial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lnSpc>
                <a:spcPct val="130000"/>
              </a:lnSpc>
              <a:spcBef>
                <a:spcPts val="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lnSpc>
                <a:spcPct val="130000"/>
              </a:lnSpc>
              <a:spcBef>
                <a:spcPts val="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lnSpc>
                <a:spcPct val="130000"/>
              </a:lnSpc>
              <a:spcBef>
                <a:spcPts val="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dirty="0"/>
              <a:t>Use </a:t>
            </a:r>
            <a:r>
              <a:rPr lang="en" dirty="0">
                <a:latin typeface="Courier"/>
              </a:rPr>
              <a:t>IS NULL</a:t>
            </a:r>
            <a:r>
              <a:rPr lang="en" dirty="0"/>
              <a:t> / </a:t>
            </a:r>
            <a:r>
              <a:rPr lang="en" dirty="0">
                <a:latin typeface="Courier"/>
              </a:rPr>
              <a:t>IS NOT NULL</a:t>
            </a:r>
            <a:r>
              <a:rPr lang="en" dirty="0"/>
              <a:t>.</a:t>
            </a:r>
          </a:p>
          <a:p>
            <a:r>
              <a:rPr lang="en" dirty="0"/>
              <a:t>Wrong usage: </a:t>
            </a:r>
            <a:r>
              <a:rPr lang="en" dirty="0">
                <a:latin typeface="Courier"/>
              </a:rPr>
              <a:t>FirstName = 'NULL’</a:t>
            </a:r>
            <a:r>
              <a:rPr lang="en" dirty="0"/>
              <a:t>  </a:t>
            </a:r>
            <a:br>
              <a:rPr lang="en" dirty="0"/>
            </a:br>
            <a:r>
              <a:rPr lang="en" b="1" dirty="0"/>
              <a:t>NULL is not a string.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Subqueries: 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Find the city whose average amount is greater than or equal to all city averages:</a:t>
            </a:r>
          </a:p>
          <a:p>
            <a:pPr lvl="0" indent="0">
              <a:buNone/>
            </a:pPr>
            <a:r>
              <a:rPr sz="26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sz="2600" dirty="0">
                <a:latin typeface="Courier"/>
              </a:rPr>
              <a:t> </a:t>
            </a:r>
            <a:r>
              <a:rPr lang="en-US" sz="2600" dirty="0" err="1">
                <a:latin typeface="Courier"/>
              </a:rPr>
              <a:t>S.FirstName</a:t>
            </a:r>
            <a:br>
              <a:rPr sz="2600" dirty="0"/>
            </a:br>
            <a:r>
              <a:rPr sz="26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sz="2600" dirty="0">
                <a:latin typeface="Courier"/>
              </a:rPr>
              <a:t> Students</a:t>
            </a:r>
            <a:r>
              <a:rPr lang="en-US" sz="2600" dirty="0">
                <a:latin typeface="Courier"/>
              </a:rPr>
              <a:t> S </a:t>
            </a:r>
            <a:r>
              <a:rPr lang="en" sz="2600" b="1" dirty="0">
                <a:solidFill>
                  <a:srgbClr val="007020"/>
                </a:solidFill>
                <a:latin typeface="Courier"/>
              </a:rPr>
              <a:t>JOIN </a:t>
            </a:r>
            <a:r>
              <a:rPr lang="en" sz="2600" dirty="0">
                <a:latin typeface="Courier"/>
              </a:rPr>
              <a:t>Courses C</a:t>
            </a:r>
          </a:p>
          <a:p>
            <a:pPr lvl="0" indent="0">
              <a:buNone/>
            </a:pPr>
            <a:r>
              <a:rPr lang="en" sz="2600" b="1" dirty="0">
                <a:solidFill>
                  <a:srgbClr val="007020"/>
                </a:solidFill>
                <a:latin typeface="Courier"/>
              </a:rPr>
              <a:t>ON </a:t>
            </a:r>
            <a:r>
              <a:rPr lang="en-US" sz="2600" dirty="0" err="1">
                <a:latin typeface="Courier"/>
              </a:rPr>
              <a:t>S.StudentID</a:t>
            </a:r>
            <a:r>
              <a:rPr lang="en-US" sz="2600" dirty="0">
                <a:latin typeface="Courier"/>
              </a:rPr>
              <a:t> = </a:t>
            </a:r>
            <a:r>
              <a:rPr lang="en-US" sz="2600" dirty="0" err="1">
                <a:latin typeface="Courier"/>
              </a:rPr>
              <a:t>C.StudentID</a:t>
            </a:r>
            <a:br>
              <a:rPr sz="2600" dirty="0"/>
            </a:br>
            <a:r>
              <a:rPr sz="2600" b="1" dirty="0">
                <a:solidFill>
                  <a:srgbClr val="007020"/>
                </a:solidFill>
                <a:latin typeface="Courier"/>
              </a:rPr>
              <a:t>GROUP</a:t>
            </a:r>
            <a:r>
              <a:rPr sz="2600" dirty="0">
                <a:latin typeface="Courier"/>
              </a:rPr>
              <a:t> </a:t>
            </a:r>
            <a:r>
              <a:rPr sz="2600" b="1" dirty="0">
                <a:solidFill>
                  <a:srgbClr val="007020"/>
                </a:solidFill>
                <a:latin typeface="Courier"/>
              </a:rPr>
              <a:t>BY</a:t>
            </a:r>
            <a:r>
              <a:rPr sz="2600" dirty="0">
                <a:latin typeface="Courier"/>
              </a:rPr>
              <a:t> </a:t>
            </a:r>
            <a:r>
              <a:rPr lang="en-US" sz="2600" dirty="0" err="1">
                <a:latin typeface="Courier"/>
              </a:rPr>
              <a:t>S.StudentID</a:t>
            </a:r>
            <a:br>
              <a:rPr sz="2600" dirty="0"/>
            </a:br>
            <a:r>
              <a:rPr sz="2600" b="1" dirty="0">
                <a:solidFill>
                  <a:srgbClr val="007020"/>
                </a:solidFill>
                <a:latin typeface="Courier"/>
              </a:rPr>
              <a:t>HAVING</a:t>
            </a:r>
            <a:r>
              <a:rPr sz="2600" dirty="0">
                <a:latin typeface="Courier"/>
              </a:rPr>
              <a:t> </a:t>
            </a:r>
            <a:r>
              <a:rPr sz="2600" dirty="0">
                <a:solidFill>
                  <a:srgbClr val="06287E"/>
                </a:solidFill>
                <a:latin typeface="Courier"/>
              </a:rPr>
              <a:t>AVG</a:t>
            </a:r>
            <a:r>
              <a:rPr sz="2600" dirty="0">
                <a:latin typeface="Courier"/>
              </a:rPr>
              <a:t>(</a:t>
            </a:r>
            <a:r>
              <a:rPr lang="en-US" sz="2600" dirty="0" err="1">
                <a:latin typeface="Courier"/>
              </a:rPr>
              <a:t>C.Grade</a:t>
            </a:r>
            <a:r>
              <a:rPr sz="2600" dirty="0">
                <a:latin typeface="Courier"/>
              </a:rPr>
              <a:t>) </a:t>
            </a:r>
            <a:r>
              <a:rPr sz="2600" dirty="0">
                <a:solidFill>
                  <a:srgbClr val="666666"/>
                </a:solidFill>
                <a:latin typeface="Courier"/>
              </a:rPr>
              <a:t>&gt;=</a:t>
            </a:r>
            <a:r>
              <a:rPr sz="2600" dirty="0">
                <a:latin typeface="Courier"/>
              </a:rPr>
              <a:t> </a:t>
            </a:r>
            <a:r>
              <a:rPr sz="2600" b="1" dirty="0">
                <a:solidFill>
                  <a:srgbClr val="007020"/>
                </a:solidFill>
                <a:latin typeface="Courier"/>
              </a:rPr>
              <a:t>ALL</a:t>
            </a:r>
            <a:r>
              <a:rPr sz="2600" dirty="0">
                <a:latin typeface="Courier"/>
              </a:rPr>
              <a:t> (</a:t>
            </a:r>
            <a:br>
              <a:rPr sz="2600" dirty="0"/>
            </a:br>
            <a:r>
              <a:rPr sz="2600" dirty="0">
                <a:latin typeface="Courier"/>
              </a:rPr>
              <a:t>  </a:t>
            </a:r>
            <a:r>
              <a:rPr sz="26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sz="2600" dirty="0">
                <a:latin typeface="Courier"/>
              </a:rPr>
              <a:t> </a:t>
            </a:r>
            <a:r>
              <a:rPr sz="2600" dirty="0">
                <a:solidFill>
                  <a:srgbClr val="06287E"/>
                </a:solidFill>
                <a:latin typeface="Courier"/>
              </a:rPr>
              <a:t>AVG</a:t>
            </a:r>
            <a:r>
              <a:rPr sz="2600" dirty="0">
                <a:latin typeface="Courier"/>
              </a:rPr>
              <a:t>(</a:t>
            </a:r>
            <a:r>
              <a:rPr lang="en-US" sz="2600" dirty="0">
                <a:latin typeface="Courier"/>
              </a:rPr>
              <a:t>Grade</a:t>
            </a:r>
            <a:r>
              <a:rPr sz="2600" dirty="0">
                <a:latin typeface="Courier"/>
              </a:rPr>
              <a:t>)</a:t>
            </a:r>
            <a:br>
              <a:rPr sz="2600" dirty="0"/>
            </a:br>
            <a:r>
              <a:rPr sz="2600" dirty="0">
                <a:latin typeface="Courier"/>
              </a:rPr>
              <a:t>  </a:t>
            </a:r>
            <a:r>
              <a:rPr sz="26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sz="2600" dirty="0">
                <a:latin typeface="Courier"/>
              </a:rPr>
              <a:t> </a:t>
            </a:r>
            <a:r>
              <a:rPr lang="en-US" sz="2600" dirty="0">
                <a:latin typeface="Courier"/>
              </a:rPr>
              <a:t>Courses</a:t>
            </a:r>
            <a:br>
              <a:rPr sz="2600" dirty="0"/>
            </a:br>
            <a:r>
              <a:rPr sz="2600" dirty="0">
                <a:latin typeface="Courier"/>
              </a:rPr>
              <a:t>  </a:t>
            </a:r>
            <a:r>
              <a:rPr sz="2600" b="1" dirty="0">
                <a:solidFill>
                  <a:srgbClr val="007020"/>
                </a:solidFill>
                <a:latin typeface="Courier"/>
              </a:rPr>
              <a:t>GROUP</a:t>
            </a:r>
            <a:r>
              <a:rPr sz="2600" dirty="0">
                <a:latin typeface="Courier"/>
              </a:rPr>
              <a:t> </a:t>
            </a:r>
            <a:r>
              <a:rPr sz="2600" b="1" dirty="0">
                <a:solidFill>
                  <a:srgbClr val="007020"/>
                </a:solidFill>
                <a:latin typeface="Courier"/>
              </a:rPr>
              <a:t>BY</a:t>
            </a:r>
            <a:r>
              <a:rPr sz="2600" dirty="0">
                <a:latin typeface="Courier"/>
              </a:rPr>
              <a:t> </a:t>
            </a:r>
            <a:r>
              <a:rPr lang="en-US" sz="2600" dirty="0">
                <a:latin typeface="Courier"/>
              </a:rPr>
              <a:t>StudentID</a:t>
            </a:r>
            <a:br>
              <a:rPr sz="2600" dirty="0"/>
            </a:br>
            <a:r>
              <a:rPr sz="2600" dirty="0">
                <a:latin typeface="Courier"/>
              </a:rPr>
              <a:t>);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Subqueries: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Find all names living in specific cities:</a:t>
            </a:r>
          </a:p>
          <a:p>
            <a:pPr lvl="0" indent="0">
              <a:buNone/>
            </a:pPr>
            <a:r>
              <a:rPr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dirty="0">
                <a:latin typeface="Courier"/>
              </a:rPr>
              <a:t> </a:t>
            </a:r>
            <a:r>
              <a:rPr lang="en-US" dirty="0">
                <a:latin typeface="Courier"/>
              </a:rPr>
              <a:t>LastName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dirty="0">
                <a:latin typeface="Courier"/>
              </a:rPr>
              <a:t> Students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Courier"/>
              </a:rPr>
              <a:t>WHERE</a:t>
            </a:r>
            <a:r>
              <a:rPr dirty="0">
                <a:latin typeface="Courier"/>
              </a:rPr>
              <a:t> </a:t>
            </a:r>
            <a:r>
              <a:rPr lang="en-US" dirty="0">
                <a:latin typeface="Courier"/>
              </a:rPr>
              <a:t>FirstName</a:t>
            </a:r>
            <a:r>
              <a:rPr dirty="0">
                <a:latin typeface="Courier"/>
              </a:rPr>
              <a:t> </a:t>
            </a:r>
            <a:r>
              <a:rPr b="1" dirty="0">
                <a:solidFill>
                  <a:srgbClr val="007020"/>
                </a:solidFill>
                <a:latin typeface="Courier"/>
              </a:rPr>
              <a:t>IN</a:t>
            </a:r>
            <a:r>
              <a:rPr dirty="0">
                <a:latin typeface="Courier"/>
              </a:rPr>
              <a:t> (</a:t>
            </a:r>
            <a:r>
              <a:rPr dirty="0">
                <a:solidFill>
                  <a:srgbClr val="4070A0"/>
                </a:solidFill>
                <a:latin typeface="Courier"/>
              </a:rPr>
              <a:t>‘</a:t>
            </a:r>
            <a:r>
              <a:rPr lang="en-US" dirty="0" err="1">
                <a:solidFill>
                  <a:srgbClr val="4070A0"/>
                </a:solidFill>
                <a:latin typeface="Courier"/>
              </a:rPr>
              <a:t>AVi</a:t>
            </a:r>
            <a:r>
              <a:rPr dirty="0">
                <a:solidFill>
                  <a:srgbClr val="4070A0"/>
                </a:solidFill>
                <a:latin typeface="Courier"/>
              </a:rPr>
              <a:t>’</a:t>
            </a:r>
            <a:r>
              <a:rPr dirty="0">
                <a:latin typeface="Courier"/>
              </a:rPr>
              <a:t>, </a:t>
            </a:r>
            <a:r>
              <a:rPr dirty="0">
                <a:solidFill>
                  <a:srgbClr val="4070A0"/>
                </a:solidFill>
                <a:latin typeface="Courier"/>
              </a:rPr>
              <a:t>‘</a:t>
            </a:r>
            <a:r>
              <a:rPr lang="en-US" dirty="0">
                <a:solidFill>
                  <a:srgbClr val="4070A0"/>
                </a:solidFill>
                <a:latin typeface="Courier"/>
              </a:rPr>
              <a:t>Ofer</a:t>
            </a:r>
            <a:r>
              <a:rPr dirty="0">
                <a:solidFill>
                  <a:srgbClr val="4070A0"/>
                </a:solidFill>
                <a:latin typeface="Courier"/>
              </a:rPr>
              <a:t>’</a:t>
            </a:r>
            <a:r>
              <a:rPr lang="en-US" dirty="0">
                <a:latin typeface="Courier"/>
              </a:rPr>
              <a:t>);</a:t>
            </a:r>
            <a:endParaRPr dirty="0">
              <a:latin typeface="Courier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Subqueries: EXISTS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 indent="0">
              <a:buNone/>
            </a:pPr>
            <a:r>
              <a:rPr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dirty="0">
                <a:latin typeface="Courier"/>
              </a:rPr>
              <a:t> </a:t>
            </a:r>
            <a:r>
              <a:rPr lang="en" dirty="0" err="1">
                <a:latin typeface="Courier"/>
              </a:rPr>
              <a:t>S.FirstName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dirty="0">
                <a:latin typeface="Courier"/>
              </a:rPr>
              <a:t> Students</a:t>
            </a:r>
            <a:r>
              <a:rPr lang="en-US" dirty="0">
                <a:latin typeface="Courier"/>
              </a:rPr>
              <a:t> S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Courier"/>
              </a:rPr>
              <a:t>WHERE</a:t>
            </a:r>
            <a:r>
              <a:rPr dirty="0">
                <a:latin typeface="Courier"/>
              </a:rPr>
              <a:t> </a:t>
            </a:r>
            <a:r>
              <a:rPr b="1" dirty="0">
                <a:solidFill>
                  <a:srgbClr val="007020"/>
                </a:solidFill>
                <a:latin typeface="Courier"/>
              </a:rPr>
              <a:t>EXISTS</a:t>
            </a:r>
            <a:r>
              <a:rPr dirty="0">
                <a:latin typeface="Courier"/>
              </a:rPr>
              <a:t> (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*</a:t>
            </a:r>
            <a:br>
              <a:rPr dirty="0"/>
            </a:br>
            <a:r>
              <a:rPr dirty="0">
                <a:latin typeface="Courier"/>
              </a:rPr>
              <a:t>  </a:t>
            </a:r>
            <a:r>
              <a:rPr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dirty="0">
                <a:latin typeface="Courier"/>
              </a:rPr>
              <a:t> </a:t>
            </a:r>
            <a:r>
              <a:rPr lang="en-US" dirty="0">
                <a:latin typeface="Courier"/>
              </a:rPr>
              <a:t>Courses C</a:t>
            </a:r>
            <a:r>
              <a:rPr dirty="0">
                <a:latin typeface="Courier"/>
              </a:rPr>
              <a:t> </a:t>
            </a:r>
            <a:endParaRPr lang="en-US" dirty="0">
              <a:latin typeface="Courier"/>
            </a:endParaRPr>
          </a:p>
          <a:p>
            <a:pPr lvl="0" indent="0">
              <a:buNone/>
            </a:pPr>
            <a:r>
              <a:rPr lang="en-US" b="1" dirty="0">
                <a:solidFill>
                  <a:srgbClr val="007020"/>
                </a:solidFill>
                <a:latin typeface="Courier"/>
              </a:rPr>
              <a:t>  </a:t>
            </a:r>
            <a:r>
              <a:rPr b="1" dirty="0">
                <a:solidFill>
                  <a:srgbClr val="007020"/>
                </a:solidFill>
                <a:latin typeface="Courier"/>
              </a:rPr>
              <a:t>WHERE</a:t>
            </a:r>
            <a:r>
              <a:rPr dirty="0">
                <a:latin typeface="Courier"/>
              </a:rPr>
              <a:t> </a:t>
            </a:r>
            <a:r>
              <a:rPr lang="en-US" dirty="0" err="1">
                <a:latin typeface="Courier"/>
              </a:rPr>
              <a:t>C.StudentID</a:t>
            </a:r>
            <a:r>
              <a:rPr lang="en-US" dirty="0">
                <a:latin typeface="Courier"/>
              </a:rPr>
              <a:t> = </a:t>
            </a:r>
            <a:r>
              <a:rPr lang="en-US" dirty="0" err="1">
                <a:latin typeface="Courier"/>
              </a:rPr>
              <a:t>S.StudentID</a:t>
            </a:r>
            <a:br>
              <a:rPr dirty="0"/>
            </a:br>
            <a:r>
              <a:rPr dirty="0">
                <a:latin typeface="Courier"/>
              </a:rPr>
              <a:t>);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1084</Words>
  <Application>Microsoft Macintosh PowerPoint</Application>
  <PresentationFormat>מסך רחב</PresentationFormat>
  <Paragraphs>226</Paragraphs>
  <Slides>36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36</vt:i4>
      </vt:variant>
    </vt:vector>
  </HeadingPairs>
  <TitlesOfParts>
    <vt:vector size="40" baseType="lpstr">
      <vt:lpstr>Arial</vt:lpstr>
      <vt:lpstr>Calibri</vt:lpstr>
      <vt:lpstr>Courier</vt:lpstr>
      <vt:lpstr>Office Theme</vt:lpstr>
      <vt:lpstr>Week 1: Introduction to Data Engineering</vt:lpstr>
      <vt:lpstr>Course Logistics</vt:lpstr>
      <vt:lpstr>Prerequisites</vt:lpstr>
      <vt:lpstr>Learning Outcomes</vt:lpstr>
      <vt:lpstr>What Is Big Data?</vt:lpstr>
      <vt:lpstr>Big Data in Practice</vt:lpstr>
      <vt:lpstr>The 3Vs of Big Data</vt:lpstr>
      <vt:lpstr>Cloud Service Models</vt:lpstr>
      <vt:lpstr>Data Scientist vs Data Engineer</vt:lpstr>
      <vt:lpstr>Data Engineer: Core Responsibility</vt:lpstr>
      <vt:lpstr>What Is Data Engineering?</vt:lpstr>
      <vt:lpstr>Data Engineering Is Constraint Management</vt:lpstr>
      <vt:lpstr>Core Problem Statement</vt:lpstr>
      <vt:lpstr>Why Single Scripts Break</vt:lpstr>
      <vt:lpstr>Storage Design</vt:lpstr>
      <vt:lpstr>E-Commerce Clickstream</vt:lpstr>
      <vt:lpstr>Course Overview: SQL Optimization</vt:lpstr>
      <vt:lpstr>Course Overview: Distributed Computing</vt:lpstr>
      <vt:lpstr>Course Overview: Data Warehouse, Data Lake, ETL</vt:lpstr>
      <vt:lpstr>Course Overview: Map Reduce</vt:lpstr>
      <vt:lpstr>Course Overview: TF-IDF</vt:lpstr>
      <vt:lpstr>Course Overview: Text Processing for LLMs</vt:lpstr>
      <vt:lpstr>SQL – Recap</vt:lpstr>
      <vt:lpstr>Recap SQL</vt:lpstr>
      <vt:lpstr>SQL Foundations (DML vs. DDL)</vt:lpstr>
      <vt:lpstr>Create + Insert + Verify (Example)</vt:lpstr>
      <vt:lpstr>Example: Students and Courses Tables</vt:lpstr>
      <vt:lpstr>How to Merge Two Tables? - Option 1</vt:lpstr>
      <vt:lpstr>Option 2 (Explicit JOIN)</vt:lpstr>
      <vt:lpstr>ON vs. USING</vt:lpstr>
      <vt:lpstr>Join Types</vt:lpstr>
      <vt:lpstr>Handling NULL Values</vt:lpstr>
      <vt:lpstr>Example: Find Rows with Missing Course Data</vt:lpstr>
      <vt:lpstr>Subqueries: ALL</vt:lpstr>
      <vt:lpstr>Subqueries: IN</vt:lpstr>
      <vt:lpstr>Subqueries: EXISTS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emplate>Facet</Template>
  <TotalTime>12</TotalTime>
  <Words>18</Words>
  <Application>Microsoft Macintosh PowerPoint</Application>
  <PresentationFormat>מסך רחב</PresentationFormat>
  <Paragraphs>12</Paragraphs>
  <Slides>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10" baseType="lpstr">
      <vt:lpstr>Aptos</vt:lpstr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>Or Perets</cp:lastModifiedBy>
  <cp:revision>6</cp:revision>
  <dcterms:created xsi:type="dcterms:W3CDTF">2026-02-08T06:06:28Z</dcterms:created>
  <dcterms:modified xsi:type="dcterms:W3CDTF">2026-03-26T12:56:54Z</dcterms:modified>
</cp:coreProperties>
</file>