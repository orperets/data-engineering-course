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0862"/>
    <p:restoredTop sz="94719"/>
  </p:normalViewPr>
  <p:slideViewPr>
    <p:cSldViewPr snapToGrid="0" snapToObjects="1">
      <p:cViewPr varScale="1">
        <p:scale>
          <a:sx d="100" n="148"/>
          <a:sy d="100" n="148"/>
        </p:scale>
        <p:origin x="1528" y="192"/>
      </p:cViewPr>
      <p:guideLst>
        <p:guide orient="horz" pos="2160"/>
        <p:guide pos="3840"/>
      </p:guideLst>
    </p:cSldViewPr>
  </p:slideViewPr>
  <p:notesTextViewPr>
    <p:cViewPr>
      <p:scale>
        <a:sx d="100" n="100"/>
        <a:sy d="100" n="100"/>
      </p:scale>
      <p:origin x="0" y="0"/>
    </p:cViewPr>
  </p:notesTextViewPr>
  <p:notesViewPr>
    <p:cSldViewPr snapToGrid="0" snapToObjects="1">
      <p:cViewPr varScale="1">
        <p:scale>
          <a:sx d="100" n="118"/>
          <a:sy d="100" n="118"/>
        </p:scale>
        <p:origin x="5160" y="21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6" Type="http://schemas.openxmlformats.org/officeDocument/2006/relationships/tableStyles" Target="tableStyles.xml" /><Relationship Id="rId9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94" Type="http://schemas.openxmlformats.org/officeDocument/2006/relationships/viewProps" Target="viewProps.xml" /><Relationship Id="rId93" Type="http://schemas.openxmlformats.org/officeDocument/2006/relationships/presProps" Target="presProps.xml" /><Relationship Id="rId92" Type="http://schemas.openxmlformats.org/officeDocument/2006/relationships/handoutMaster" Target="handoutMasters/handoutMaster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9621" y="1546412"/>
            <a:ext cx="6338761" cy="4579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1546412"/>
            <a:ext cx="5030548" cy="457975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fmla="*/ 0 w 10972800" name="csX0"/>
                      <a:gd fmla="*/ 0 h 1143000" name="csY0"/>
                      <a:gd fmla="*/ 10972800 w 10972800" name="csX1"/>
                      <a:gd fmla="*/ 0 h 1143000" name="csY1"/>
                      <a:gd fmla="*/ 10972800 w 10972800" name="csX2"/>
                      <a:gd fmla="*/ 1143000 h 1143000" name="csY2"/>
                      <a:gd fmla="*/ 0 w 10972800" name="csX3"/>
                      <a:gd fmla="*/ 1143000 h 1143000" name="csY3"/>
                      <a:gd fmla="*/ 0 w 10972800" name="csX4"/>
                      <a:gd fmla="*/ 0 h 1143000" name="csY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b="b" l="l" r="r" t="t"/>
                    <a:pathLst>
                      <a:path extrusionOk="0" fill="none" h="1143000" w="1097280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extrusionOk="0" h="1143000" stroke="0" w="1097280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31 ינואר,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7150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457700" y="-1080266"/>
            <a:ext cx="7329616" cy="7329616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14350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hdr="0"/>
  <p:txStyles>
    <p:titleStyle>
      <a:lvl1pPr algn="ctr" defTabSz="457200" eaLnBrk="1" hangingPunct="1" latinLnBrk="0" rtl="0">
        <a:spcBef>
          <a:spcPct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lnSpc>
          <a:spcPct val="130000"/>
        </a:lnSpc>
        <a:spcBef>
          <a:spcPts val="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lnSpc>
          <a:spcPct val="130000"/>
        </a:lnSpc>
        <a:spcBef>
          <a:spcPts val="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lnSpc>
          <a:spcPct val="130000"/>
        </a:lnSpc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lnSpc>
          <a:spcPct val="130000"/>
        </a:lnSpc>
        <a:spcBef>
          <a:spcPts val="0"/>
        </a:spcBef>
        <a:buFont typeface="Arial"/>
        <a:buChar char="–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lnSpc>
          <a:spcPct val="130000"/>
        </a:lnSpc>
        <a:spcBef>
          <a:spcPts val="0"/>
        </a:spcBef>
        <a:buFont typeface="Arial"/>
        <a:buChar char="»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hasCustomPrompt="1"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1: Introduction to Data Engineering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Why data engineering matters in modern systems</a:t>
            </a:r>
          </a:p>
          <a:p>
            <a:pPr lvl="0"/>
            <a:r>
              <a:rPr/>
              <a:t>Engineering problems that require data engineering</a:t>
            </a:r>
          </a:p>
          <a:p>
            <a:pPr lvl="0"/>
            <a:r>
              <a:rPr/>
              <a:t>Scale, reliability, and cost as first-class concerns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Frame</a:t>
            </a:r>
            <a:r>
              <a:rPr/>
              <a:t> data engineering as constraints (scale, reliability, cost)</a:t>
            </a:r>
          </a:p>
          <a:p>
            <a:pPr lvl="0"/>
            <a:r>
              <a:rPr/>
              <a:t>Calculate data volume growth and storage requirements</a:t>
            </a:r>
          </a:p>
          <a:p>
            <a:pPr lvl="0"/>
            <a:r>
              <a:rPr/>
              <a:t>Design basic data pipeline architectures</a:t>
            </a:r>
          </a:p>
          <a:p>
            <a:pPr lvl="0"/>
            <a:r>
              <a:rPr/>
              <a:t>Estimate pipeline costs (time, storage, network)</a:t>
            </a:r>
          </a:p>
          <a:p>
            <a:pPr lvl="0"/>
            <a:r>
              <a:rPr/>
              <a:t>Identify failure modes and why systems break</a:t>
            </a:r>
          </a:p>
          <a:p>
            <a:pPr lvl="0"/>
            <a:r>
              <a:rPr/>
              <a:t>Reason about trade-offs: batch vs streaming, SQL vs NoSQL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Data Engineering?</a:t>
            </a:r>
          </a:p>
        </p:txBody>
      </p:sp>
      <p:pic>
        <p:nvPicPr>
          <p:cNvPr descr="../../diagrams/week01/week1_what_is_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2616200"/>
            <a:ext cx="109728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Constraints, Not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Constraint:</a:t>
            </a:r>
            <a:r>
              <a:rPr/>
              <a:t> data lives in many systems; consumers need one place</a:t>
            </a:r>
          </a:p>
          <a:p>
            <a:pPr lvl="0"/>
            <a:r>
              <a:rPr b="1"/>
              <a:t>Constraint:</a:t>
            </a:r>
            <a:r>
              <a:rPr/>
              <a:t> volume and velocity grow; single machines break</a:t>
            </a:r>
          </a:p>
          <a:p>
            <a:pPr lvl="0"/>
            <a:r>
              <a:rPr b="1"/>
              <a:t>Constraint:</a:t>
            </a:r>
            <a:r>
              <a:rPr/>
              <a:t> failures happen; pipelines must be rerunnable</a:t>
            </a:r>
          </a:p>
          <a:p>
            <a:pPr lvl="0"/>
            <a:r>
              <a:rPr b="1"/>
              <a:t>Output:</a:t>
            </a:r>
            <a:r>
              <a:rPr/>
              <a:t> clean, queryable data at the right latency and cost</a:t>
            </a:r>
          </a:p>
          <a:p>
            <a:pPr lvl="0"/>
            <a:r>
              <a:rPr b="1"/>
              <a:t>Not:</a:t>
            </a:r>
            <a:r>
              <a:rPr/>
              <a:t> building ML models or dashboards — we build plumbing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Data exists in many sources (databases, APIs, files)</a:t>
            </a:r>
          </a:p>
          <a:p>
            <a:pPr lvl="0"/>
            <a:r>
              <a:rPr/>
              <a:t>Consumers need unified, reliable access</a:t>
            </a:r>
          </a:p>
          <a:p>
            <a:pPr lvl="0"/>
            <a:r>
              <a:rPr b="1"/>
              <a:t>Scale:</a:t>
            </a:r>
            <a:r>
              <a:rPr/>
              <a:t> millions of records, terabytes daily</a:t>
            </a:r>
          </a:p>
          <a:p>
            <a:pPr lvl="0"/>
            <a:r>
              <a:rPr b="1"/>
              <a:t>Time:</a:t>
            </a:r>
            <a:r>
              <a:rPr/>
              <a:t> batch (hours) vs real-time (seconds)</a:t>
            </a:r>
          </a:p>
          <a:p>
            <a:pPr lvl="0"/>
            <a:r>
              <a:rPr b="1"/>
              <a:t>Quality:</a:t>
            </a:r>
            <a:r>
              <a:rPr/>
              <a:t> missing, duplicate, inconsistent data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Formal Volume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Let (V_d) = daily raw volume (GB/day)</a:t>
                </a:r>
              </a:p>
              <a:p>
                <a:pPr lvl="0"/>
                <a:r>
                  <a:rPr/>
                  <a:t>Retention (R) days, compression factor (c), replication (r)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t>R</m:t>
                          </m:r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t>r</m:t>
                          </m:r>
                        </m:num>
                        <m:den>
                          <m:r>
                            <m:t>c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Interpretation: total storage footprint across the cluster</a:t>
                </a:r>
              </a:p>
              <a:p>
                <a:pPr lvl="0"/>
                <a:r>
                  <a:rPr/>
                  <a:t>Engineering implication: cost scales linearly in volume and replication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Intelligence Context</a:t>
            </a:r>
          </a:p>
        </p:txBody>
      </p:sp>
      <p:pic>
        <p:nvPicPr>
          <p:cNvPr descr="../../diagrams/week01/week1_bi_contex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2755900"/>
            <a:ext cx="10972800" cy="219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Business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Definition:</a:t>
            </a:r>
            <a:r>
              <a:rPr/>
              <a:t> methodologies and technologies transforming raw data</a:t>
            </a:r>
          </a:p>
          <a:p>
            <a:pPr lvl="0"/>
            <a:r>
              <a:rPr/>
              <a:t>Converts raw data into significant business information</a:t>
            </a:r>
          </a:p>
          <a:p>
            <a:pPr lvl="0"/>
            <a:r>
              <a:rPr/>
              <a:t>Enables decision-making, not replaces it</a:t>
            </a:r>
          </a:p>
          <a:p>
            <a:pPr lvl="0"/>
            <a:r>
              <a:rPr/>
              <a:t>Use technology as a tool for business purpose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Business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Benefits:</a:t>
            </a:r>
            <a:r>
              <a:rPr/>
              <a:t> handle large amounts of data efficiently</a:t>
            </a:r>
          </a:p>
          <a:p>
            <a:pPr lvl="0"/>
            <a:r>
              <a:rPr/>
              <a:t>Identify and evolve new opportunities</a:t>
            </a:r>
          </a:p>
          <a:p>
            <a:pPr lvl="0"/>
            <a:r>
              <a:rPr/>
              <a:t>Provide comparable market benefit and long-term stability</a:t>
            </a:r>
          </a:p>
          <a:p>
            <a:pPr lvl="0"/>
            <a:r>
              <a:rPr/>
              <a:t>Enable data-driven decision making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to Wisdom Pyramid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Data:</a:t>
            </a:r>
            <a:r>
              <a:rPr/>
              <a:t> raw facts describing event characteristics</a:t>
            </a:r>
          </a:p>
          <a:p>
            <a:pPr lvl="0"/>
            <a:r>
              <a:rPr/>
              <a:t>Example: 51, 77, 58, 82, 64, 70</a:t>
            </a:r>
          </a:p>
          <a:p>
            <a:pPr lvl="0"/>
            <a:r>
              <a:rPr b="1"/>
              <a:t>Information:</a:t>
            </a:r>
            <a:r>
              <a:rPr/>
              <a:t> data converted into meaningful insights</a:t>
            </a:r>
          </a:p>
          <a:p>
            <a:pPr lvl="0"/>
            <a:r>
              <a:rPr/>
              <a:t>Example: “Test scores; average is 67”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to Wisdom Pyramid</a:t>
            </a:r>
          </a:p>
        </p:txBody>
      </p:sp>
      <p:pic>
        <p:nvPicPr>
          <p:cNvPr descr="../../diagrams/week01/week1_data_to_wisdo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99100" y="1600200"/>
            <a:ext cx="1181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to Wisdom Pyramid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Knowledge:</a:t>
            </a:r>
            <a:r>
              <a:rPr/>
              <a:t> skills and experience coupled with information</a:t>
            </a:r>
          </a:p>
          <a:p>
            <a:pPr lvl="0"/>
            <a:r>
              <a:rPr/>
              <a:t>Creates intellectual resources from information</a:t>
            </a:r>
          </a:p>
          <a:p>
            <a:pPr lvl="0"/>
            <a:r>
              <a:rPr b="1"/>
              <a:t>Wisdom:</a:t>
            </a:r>
            <a:r>
              <a:rPr/>
              <a:t> applied knowledge — knowing what to do</a:t>
            </a:r>
          </a:p>
          <a:p>
            <a:pPr lvl="0"/>
            <a:r>
              <a:rPr/>
              <a:t>Example: “I better stop the car!” at red light</a:t>
            </a:r>
          </a:p>
          <a:p>
            <a:pPr lvl="0"/>
            <a:r>
              <a:rPr b="1"/>
              <a:t>DE builds:</a:t>
            </a:r>
            <a:r>
              <a:rPr/>
              <a:t> pipeline from raw data to information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Mining in 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Definition:</a:t>
            </a:r>
            <a:r>
              <a:rPr/>
              <a:t> computational process discovering patterns in data</a:t>
            </a:r>
          </a:p>
          <a:p>
            <a:pPr lvl="0"/>
            <a:r>
              <a:rPr/>
              <a:t>Uses AI, ML, statistics, and database systems</a:t>
            </a:r>
          </a:p>
          <a:p>
            <a:pPr lvl="0"/>
            <a:r>
              <a:rPr/>
              <a:t>Operates on large data sets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Mining in 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Tasks:</a:t>
            </a:r>
            <a:r>
              <a:rPr/>
              <a:t> classification, estimation, prediction</a:t>
            </a:r>
          </a:p>
          <a:p>
            <a:pPr lvl="0"/>
            <a:r>
              <a:rPr b="1"/>
              <a:t>Tasks:</a:t>
            </a:r>
            <a:r>
              <a:rPr/>
              <a:t> affinity grouping, description (finding patterns)</a:t>
            </a:r>
          </a:p>
          <a:p>
            <a:pPr lvl="0"/>
            <a:r>
              <a:rPr b="1"/>
              <a:t>Techniques:</a:t>
            </a:r>
            <a:r>
              <a:rPr/>
              <a:t> market basket, clustering, PCA, decision trees</a:t>
            </a:r>
          </a:p>
          <a:p>
            <a:pPr lvl="0"/>
            <a:r>
              <a:rPr b="1"/>
              <a:t>Role in DE:</a:t>
            </a:r>
            <a:r>
              <a:rPr/>
              <a:t> provides clean data that mining consumes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Knowledge Discovery in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Definition:</a:t>
            </a:r>
            <a:r>
              <a:rPr/>
              <a:t> automatic extraction of hidden knowledge</a:t>
            </a:r>
          </a:p>
          <a:p>
            <a:pPr lvl="0"/>
            <a:r>
              <a:rPr/>
              <a:t>Extracts non-obvious patterns from large data volumes</a:t>
            </a:r>
          </a:p>
          <a:p>
            <a:pPr lvl="0"/>
            <a:r>
              <a:rPr b="1"/>
              <a:t>Process:</a:t>
            </a:r>
            <a:r>
              <a:rPr/>
              <a:t> Cleaning → Integration → Selection → Mining → Evaluation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Knowledge Discovery in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Intersecting fields:</a:t>
            </a:r>
            <a:r>
              <a:rPr/>
              <a:t> databases, statistics, machine learning</a:t>
            </a:r>
          </a:p>
          <a:p>
            <a:pPr lvl="0"/>
            <a:r>
              <a:rPr/>
              <a:t>Databases store and provide access</a:t>
            </a:r>
          </a:p>
          <a:p>
            <a:pPr lvl="0"/>
            <a:r>
              <a:rPr/>
              <a:t>Statistics infer information from samples</a:t>
            </a:r>
          </a:p>
          <a:p>
            <a:pPr lvl="0"/>
            <a:r>
              <a:rPr/>
              <a:t>ML provides algorithms that improve through experience</a:t>
            </a:r>
          </a:p>
          <a:p>
            <a:pPr lvl="0"/>
            <a:r>
              <a:rPr b="1"/>
              <a:t>DWH role:</a:t>
            </a:r>
            <a:r>
              <a:rPr/>
              <a:t> integrated data; OLAP enables KDD at scale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Engineering vs Data Science</a:t>
            </a:r>
          </a:p>
        </p:txBody>
      </p:sp>
      <p:pic>
        <p:nvPicPr>
          <p:cNvPr descr="../../diagrams/week01/week1_de_vs_d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00200"/>
            <a:ext cx="28956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Science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Build predictive models</a:t>
            </a:r>
          </a:p>
          <a:p>
            <a:pPr lvl="0"/>
            <a:r>
              <a:rPr/>
              <a:t>Statistical analysis</a:t>
            </a:r>
          </a:p>
          <a:p>
            <a:pPr lvl="0"/>
            <a:r>
              <a:rPr/>
              <a:t>Experimentation</a:t>
            </a:r>
          </a:p>
          <a:p>
            <a:pPr lvl="0"/>
            <a:r>
              <a:rPr/>
              <a:t>Output: insights, predictions, recommendations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Engineering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Build data pipelines</a:t>
            </a:r>
          </a:p>
          <a:p>
            <a:pPr lvl="0"/>
            <a:r>
              <a:rPr/>
              <a:t>Infrastructure and reliability</a:t>
            </a:r>
          </a:p>
          <a:p>
            <a:pPr lvl="0"/>
            <a:r>
              <a:rPr/>
              <a:t>Scale and performance</a:t>
            </a:r>
          </a:p>
          <a:p>
            <a:pPr lvl="0"/>
            <a:r>
              <a:rPr/>
              <a:t>Output: datasets, APIs, data products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Both need clean data</a:t>
            </a:r>
          </a:p>
          <a:p>
            <a:pPr lvl="0"/>
            <a:r>
              <a:rPr/>
              <a:t>Both work with large datasets</a:t>
            </a:r>
          </a:p>
          <a:p>
            <a:pPr lvl="0"/>
            <a:r>
              <a:rPr/>
              <a:t>Engineering enables science</a:t>
            </a:r>
          </a:p>
          <a:p>
            <a:pPr lvl="0"/>
            <a:r>
              <a:rPr/>
              <a:t>Science informs engineering requirements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Engineering vs Analytics</a:t>
            </a:r>
          </a:p>
        </p:txBody>
      </p:sp>
      <p:pic>
        <p:nvPicPr>
          <p:cNvPr descr="../../diagrams/week01/week1_de_vs_analyt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35600" y="1600200"/>
            <a:ext cx="13208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Analytics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Answer business questions</a:t>
            </a:r>
          </a:p>
          <a:p>
            <a:pPr lvl="0"/>
            <a:r>
              <a:rPr/>
              <a:t>Create reports and dashboards</a:t>
            </a:r>
          </a:p>
          <a:p>
            <a:pPr lvl="0"/>
            <a:r>
              <a:rPr/>
              <a:t>Ad-hoc exploration</a:t>
            </a:r>
          </a:p>
          <a:p>
            <a:pPr lvl="0"/>
            <a:r>
              <a:rPr/>
              <a:t>Output: charts, tables, insights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Engineering Focus (Analytics 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Make analytics possible</a:t>
            </a:r>
          </a:p>
          <a:p>
            <a:pPr lvl="0"/>
            <a:r>
              <a:rPr/>
              <a:t>Provide reliable data infrastructure</a:t>
            </a:r>
          </a:p>
          <a:p>
            <a:pPr lvl="0"/>
            <a:r>
              <a:rPr/>
              <a:t>Automate data preparation</a:t>
            </a:r>
          </a:p>
          <a:p>
            <a:pPr lvl="0"/>
            <a:r>
              <a:rPr/>
              <a:t>Output: data platforms, pipelines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Analytics consumes engineering output</a:t>
            </a:r>
          </a:p>
          <a:p>
            <a:pPr lvl="0"/>
            <a:r>
              <a:rPr/>
              <a:t>Engineering builds what analytics needs</a:t>
            </a:r>
          </a:p>
          <a:p>
            <a:pPr lvl="0"/>
            <a:r>
              <a:rPr/>
              <a:t>Both serve business stakeholders</a:t>
            </a:r>
          </a:p>
          <a:p>
            <a:pPr lvl="0"/>
            <a:r>
              <a:rPr/>
              <a:t>Clear separation of concerns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Data Engineering Exists</a:t>
            </a:r>
          </a:p>
        </p:txBody>
      </p:sp>
      <p:pic>
        <p:nvPicPr>
          <p:cNvPr descr="../../diagrams/week01/week1_why_de_exis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84700" y="1600200"/>
            <a:ext cx="30226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Scale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2010: 1 TB/day typical company</a:t>
            </a:r>
          </a:p>
          <a:p>
            <a:pPr lvl="0"/>
            <a:r>
              <a:rPr/>
              <a:t>2020: 1 PB/day at scale</a:t>
            </a:r>
          </a:p>
          <a:p>
            <a:pPr lvl="0"/>
            <a:r>
              <a:rPr/>
              <a:t>Growth: ~10× every 5 years</a:t>
            </a:r>
          </a:p>
          <a:p>
            <a:pPr lvl="0"/>
            <a:r>
              <a:rPr/>
              <a:t>Linear scripts and single-node DBs hit a wall</a:t>
            </a:r>
          </a:p>
          <a:p>
            <a:pPr lvl="0"/>
            <a:r>
              <a:rPr b="1"/>
              <a:t>Cost of naïveté:</a:t>
            </a:r>
            <a:r>
              <a:rPr/>
              <a:t> 20-hour runs, then failures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Variety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Sources: databases, APIs, logs, files</a:t>
            </a:r>
          </a:p>
          <a:p>
            <a:pPr lvl="0"/>
            <a:r>
              <a:rPr/>
              <a:t>Formats: JSON, CSV, Parquet, Avro</a:t>
            </a:r>
          </a:p>
          <a:p>
            <a:pPr lvl="0"/>
            <a:r>
              <a:rPr/>
              <a:t>Schemas: structured, semi-structured, unstructured</a:t>
            </a:r>
          </a:p>
          <a:p>
            <a:pPr lvl="0"/>
            <a:r>
              <a:rPr b="1"/>
              <a:t>Constraint:</a:t>
            </a:r>
            <a:r>
              <a:rPr/>
              <a:t> integration is complex and error-prone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Velocity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Batch: process once per day</a:t>
            </a:r>
          </a:p>
          <a:p>
            <a:pPr lvl="0"/>
            <a:r>
              <a:rPr/>
              <a:t>Streaming: process in real-time</a:t>
            </a:r>
          </a:p>
          <a:p>
            <a:pPr lvl="0"/>
            <a:r>
              <a:rPr/>
              <a:t>Latency: seconds to hours; throughput: 100K–1M events/sec</a:t>
            </a:r>
          </a:p>
          <a:p>
            <a:pPr lvl="0"/>
            <a:r>
              <a:rPr b="1"/>
              <a:t>Trade-off:</a:t>
            </a:r>
            <a:r>
              <a:rPr/>
              <a:t> lower latency ⇒ more complexity and cost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Reliability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Data: missing, wrong, late</a:t>
            </a:r>
          </a:p>
          <a:p>
            <a:pPr lvl="0"/>
            <a:r>
              <a:rPr/>
              <a:t>Systems: nodes crash, network partitions</a:t>
            </a:r>
          </a:p>
          <a:p>
            <a:pPr lvl="0"/>
            <a:r>
              <a:rPr b="1"/>
              <a:t>Production reality:</a:t>
            </a:r>
            <a:r>
              <a:rPr/>
              <a:t> pipelines fail</a:t>
            </a:r>
          </a:p>
          <a:p>
            <a:pPr lvl="0"/>
            <a:r>
              <a:rPr/>
              <a:t>Business impact: wrong decisions, lost revenue</a:t>
            </a:r>
          </a:p>
          <a:p>
            <a:pPr lvl="0"/>
            <a:r>
              <a:rPr b="1"/>
              <a:t>Design for failure from day one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Engineering Lifecycle</a:t>
            </a:r>
          </a:p>
        </p:txBody>
      </p:sp>
      <p:pic>
        <p:nvPicPr>
          <p:cNvPr descr="../../diagrams/week01/week1_lifecycle_phas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2603500"/>
            <a:ext cx="109728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Extract data from sources</a:t>
            </a:r>
          </a:p>
          <a:p>
            <a:pPr lvl="0"/>
            <a:r>
              <a:rPr/>
              <a:t>Handle failures and retries</a:t>
            </a:r>
          </a:p>
          <a:p>
            <a:pPr lvl="0"/>
            <a:r>
              <a:rPr/>
              <a:t>Validate basic structure</a:t>
            </a:r>
          </a:p>
          <a:p>
            <a:pPr lvl="0"/>
            <a:r>
              <a:rPr/>
              <a:t>Store raw data (immutable)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Choose storage format</a:t>
            </a:r>
          </a:p>
          <a:p>
            <a:pPr lvl="0"/>
            <a:r>
              <a:rPr/>
              <a:t>Partition by time/keys</a:t>
            </a:r>
          </a:p>
          <a:p>
            <a:pPr lvl="0"/>
            <a:r>
              <a:rPr/>
              <a:t>Replicate for availability</a:t>
            </a:r>
          </a:p>
          <a:p>
            <a:pPr lvl="0"/>
            <a:r>
              <a:rPr/>
              <a:t>Optimize for access patterns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Context: Social Media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Posts: 500M rows; 2.1 KB/row</a:t>
            </a:r>
          </a:p>
          <a:p>
            <a:pPr lvl="0"/>
            <a:r>
              <a:rPr/>
              <a:t>Interactions: 10B rows; 33 bytes/row</a:t>
            </a:r>
          </a:p>
          <a:p>
            <a:pPr lvl="0"/>
            <a:r>
              <a:rPr/>
              <a:t>Users: 100M rows; 1.2 KB/row</a:t>
            </a:r>
          </a:p>
          <a:p>
            <a:pPr lvl="0"/>
            <a:r>
              <a:rPr/>
              <a:t>Raw: JSON; Processed: Parquet (5× compression)</a:t>
            </a:r>
          </a:p>
          <a:p>
            <a:pPr lvl="0"/>
            <a:r>
              <a:rPr/>
              <a:t>Retention: 90 days raw; 365 days processed</a:t>
            </a:r>
          </a:p>
          <a:p>
            <a:pPr lvl="0"/>
            <a:r>
              <a:rPr/>
              <a:t>Replication: 3×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Transform raw to processed</a:t>
            </a:r>
          </a:p>
          <a:p>
            <a:pPr lvl="0"/>
            <a:r>
              <a:rPr/>
              <a:t>Clean, deduplicate, enrich</a:t>
            </a:r>
          </a:p>
          <a:p>
            <a:pPr lvl="0"/>
            <a:r>
              <a:rPr/>
              <a:t>Aggregate and join</a:t>
            </a:r>
          </a:p>
          <a:p>
            <a:pPr lvl="0"/>
            <a:r>
              <a:rPr/>
              <a:t>Apply business logic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Serve to analytics tools</a:t>
            </a:r>
          </a:p>
          <a:p>
            <a:pPr lvl="0"/>
            <a:r>
              <a:rPr/>
              <a:t>Provide APIs for applications</a:t>
            </a:r>
          </a:p>
          <a:p>
            <a:pPr lvl="0"/>
            <a:r>
              <a:rPr/>
              <a:t>Generate reports</a:t>
            </a:r>
          </a:p>
          <a:p>
            <a:pPr lvl="0"/>
            <a:r>
              <a:rPr/>
              <a:t>Feed ML models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Lifecycle Diagram</a:t>
            </a:r>
          </a:p>
        </p:txBody>
      </p:sp>
      <p:pic>
        <p:nvPicPr>
          <p:cNvPr descr="../../diagrams/week01/week1_lecture_slide12_lifecyc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21100" y="1600200"/>
            <a:ext cx="47498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</a:t>
            </a:r>
          </a:p>
        </p:txBody>
      </p:sp>
      <p:pic>
        <p:nvPicPr>
          <p:cNvPr descr="../../diagrams/week01/week1_data_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638300"/>
            <a:ext cx="10972800" cy="445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Sequence of processing steps: Input → Transform → Output</a:t>
            </a:r>
          </a:p>
          <a:p>
            <a:pPr lvl="0"/>
            <a:r>
              <a:rPr/>
              <a:t>Each step: independent, testable</a:t>
            </a:r>
          </a:p>
          <a:p>
            <a:pPr lvl="0"/>
            <a:r>
              <a:rPr b="1"/>
              <a:t>Failure in one step must not leave partial state</a:t>
            </a:r>
          </a:p>
          <a:p>
            <a:pPr lvl="0"/>
            <a:r>
              <a:rPr b="1"/>
              <a:t>Constraint:</a:t>
            </a:r>
            <a:r>
              <a:rPr/>
              <a:t> design so reruns produce same result (idempotency)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ETL vs ELT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ETL:</a:t>
            </a:r>
            <a:r>
              <a:rPr/>
              <a:t> Extract → Transform → Load - Transform before load; smaller storage, faster queries - </a:t>
            </a:r>
            <a:r>
              <a:rPr b="1"/>
              <a:t>ELT:</a:t>
            </a:r>
            <a:r>
              <a:rPr/>
              <a:t> Extract → Load → Transform - Load raw first; preserve raw data, flexible analytics later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ETL vs ELT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ETL cost:</a:t>
            </a:r>
            <a:r>
              <a:rPr/>
              <a:t> compute up front + less storage - </a:t>
            </a:r>
            <a:r>
              <a:rPr b="1"/>
              <a:t>ELT cost:</a:t>
            </a:r>
            <a:r>
              <a:rPr/>
              <a:t> more storage + compute on demand - ETL: good when schema and consumers are stable - ELT: good when requirements change - </a:t>
            </a:r>
            <a:r>
              <a:rPr b="1"/>
              <a:t>Opinion:</a:t>
            </a:r>
            <a:r>
              <a:rPr/>
              <a:t> keep raw immutable; prefer ELT-style raw layer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</a:t>
            </a:r>
          </a:p>
        </p:txBody>
      </p:sp>
      <p:pic>
        <p:nvPicPr>
          <p:cNvPr descr="../../diagrams/week01/week1_core_concepts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68800" y="1600200"/>
            <a:ext cx="3467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Batch vs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Batch:</a:t>
            </a:r>
            <a:r>
              <a:rPr/>
              <a:t> chunks; hourly/daily; latency minutes–hours</a:t>
            </a:r>
          </a:p>
          <a:p>
            <a:pPr lvl="0"/>
            <a:r>
              <a:rPr/>
              <a:t>Simpler, cheaper; </a:t>
            </a:r>
            <a:r>
              <a:rPr b="1"/>
              <a:t>breaks when</a:t>
            </a:r>
            <a:r>
              <a:rPr/>
              <a:t> latency drops to seconds</a:t>
            </a:r>
          </a:p>
          <a:p>
            <a:pPr lvl="0"/>
            <a:r>
              <a:rPr b="1"/>
              <a:t>Streaming:</a:t>
            </a:r>
            <a:r>
              <a:rPr/>
              <a:t> continuous; real-time; latency ms–sec</a:t>
            </a:r>
          </a:p>
          <a:p>
            <a:pPr lvl="0"/>
            <a:r>
              <a:rPr/>
              <a:t>Complex, expensive; </a:t>
            </a:r>
            <a:r>
              <a:rPr b="1"/>
              <a:t>breaks when</a:t>
            </a:r>
            <a:r>
              <a:rPr/>
              <a:t> throughput spikes</a:t>
            </a:r>
          </a:p>
          <a:p>
            <a:pPr lvl="0"/>
            <a:r>
              <a:rPr b="1"/>
              <a:t>Hybrid:</a:t>
            </a:r>
            <a:r>
              <a:rPr/>
              <a:t> batch for history, stream for recent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Schema-on-Write vs Schema-on-Read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Schema-on-write: validate at ingestion (warehouse)</a:t>
            </a:r>
          </a:p>
          <a:p>
            <a:pPr lvl="0"/>
            <a:r>
              <a:rPr b="1"/>
              <a:t>Fails fast</a:t>
            </a:r>
            <a:r>
              <a:rPr/>
              <a:t>, rigid</a:t>
            </a:r>
          </a:p>
          <a:p>
            <a:pPr lvl="0"/>
            <a:r>
              <a:rPr/>
              <a:t>Schema-on-read: validate at query time (lake)</a:t>
            </a:r>
          </a:p>
          <a:p>
            <a:pPr lvl="0"/>
            <a:r>
              <a:rPr b="1"/>
              <a:t>Flexible</a:t>
            </a:r>
            <a:r>
              <a:rPr/>
              <a:t>, risk of garbage-in</a:t>
            </a:r>
          </a:p>
          <a:p>
            <a:pPr lvl="0"/>
            <a:r>
              <a:rPr b="1"/>
              <a:t>Trade-off:</a:t>
            </a:r>
            <a:r>
              <a:rPr/>
              <a:t> strict schema vs agility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One clear choice per pipeline:</a:t>
            </a:r>
            <a:r>
              <a:rPr/>
              <a:t> ETL or ELT</a:t>
            </a:r>
          </a:p>
          <a:p>
            <a:pPr lvl="0"/>
            <a:r>
              <a:rPr/>
              <a:t>Choose batch or stream; schema-on-write or -read</a:t>
            </a:r>
          </a:p>
          <a:p>
            <a:pPr lvl="0"/>
            <a:r>
              <a:rPr/>
              <a:t>Mixing without boundaries leads to cost overruns</a:t>
            </a:r>
          </a:p>
          <a:p>
            <a:pPr lvl="0"/>
            <a:r>
              <a:rPr/>
              <a:t>Results in unmaintainable pipelines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of Naïve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What Goes Wrong Without Discipline- </a:t>
            </a:r>
            <a:r>
              <a:rPr b="1"/>
              <a:t>Naïve:</a:t>
            </a:r>
            <a:r>
              <a:rPr/>
              <a:t> “one script, one DB, run nightly”</a:t>
            </a:r>
          </a:p>
          <a:p>
            <a:pPr lvl="0"/>
            <a:r>
              <a:rPr/>
              <a:t>Works until volume doubles; then 20-hour runs</a:t>
            </a:r>
          </a:p>
          <a:p>
            <a:pPr lvl="0"/>
            <a:r>
              <a:rPr/>
              <a:t>Timeouts, no observability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Goes Wrong Without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Naïve:</a:t>
            </a:r>
            <a:r>
              <a:rPr/>
              <a:t> no raw layer — cannot reprocess on schema change</a:t>
            </a:r>
          </a:p>
          <a:p>
            <a:pPr lvl="0"/>
            <a:r>
              <a:rPr b="1"/>
              <a:t>Cost:</a:t>
            </a:r>
            <a:r>
              <a:rPr/>
              <a:t> full re-ingestion or lost history</a:t>
            </a:r>
          </a:p>
          <a:p>
            <a:pPr lvl="0"/>
            <a:r>
              <a:rPr b="1"/>
              <a:t>Naïve:</a:t>
            </a:r>
            <a:r>
              <a:rPr/>
              <a:t> no idempotency — rerun doubles counts</a:t>
            </a:r>
          </a:p>
          <a:p>
            <a:pPr lvl="0"/>
            <a:r>
              <a:rPr b="1"/>
              <a:t>Takeaway:</a:t>
            </a:r>
            <a:r>
              <a:rPr/>
              <a:t> constraints force pipeline design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Data &amp; Goal: Scenario (E-commerce Clickstream)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Source: web server logs</a:t>
            </a:r>
          </a:p>
          <a:p>
            <a:pPr lvl="0"/>
            <a:r>
              <a:rPr/>
              <a:t>Volume: 10M events/day</a:t>
            </a:r>
          </a:p>
          <a:p>
            <a:pPr lvl="0"/>
            <a:r>
              <a:rPr/>
              <a:t>Format: JSON, 500 bytes/event</a:t>
            </a:r>
          </a:p>
          <a:p>
            <a:pPr lvl="0"/>
            <a:r>
              <a:rPr/>
              <a:t>Content: user_id, page, timestamp, action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Calculate daily page views per product</a:t>
            </a:r>
          </a:p>
          <a:p>
            <a:pPr lvl="0"/>
            <a:r>
              <a:rPr/>
              <a:t>Serve to analytics dashboard</a:t>
            </a:r>
          </a:p>
          <a:p>
            <a:pPr lvl="0"/>
            <a:r>
              <a:rPr/>
              <a:t>Latency: data available within 1 hour</a:t>
            </a:r>
          </a:p>
          <a:p>
            <a:pPr lvl="0"/>
            <a:r>
              <a:rPr/>
              <a:t>Reliability: 99.9% success rate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Storage: 5 GB/day raw logs</a:t>
            </a:r>
          </a:p>
          <a:p>
            <a:pPr lvl="0"/>
            <a:r>
              <a:rPr/>
              <a:t>Processing: 1 hour window acceptable</a:t>
            </a:r>
          </a:p>
          <a:p>
            <a:pPr lvl="0"/>
            <a:r>
              <a:rPr/>
              <a:t>Cost: minimize compute hours</a:t>
            </a:r>
          </a:p>
          <a:p>
            <a:pPr lvl="0"/>
            <a:r>
              <a:rPr/>
              <a:t>Quality: handle missing user_ids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Step-by-Step: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Read log files from S3</a:t>
            </a:r>
          </a:p>
          <a:p>
            <a:pPr lvl="0"/>
            <a:r>
              <a:rPr/>
              <a:t>Parse JSON events</a:t>
            </a:r>
          </a:p>
          <a:p>
            <a:pPr lvl="0"/>
            <a:r>
              <a:rPr/>
              <a:t>Validate: timestamp, page present</a:t>
            </a:r>
          </a:p>
          <a:p>
            <a:pPr lvl="0"/>
            <a:r>
              <a:rPr/>
              <a:t>Write to raw storage (Parquet)</a:t>
            </a:r>
          </a:p>
          <a:p>
            <a:pPr lvl="0"/>
            <a:r>
              <a:rPr/>
              <a:t>Output: 10M events, 5 GB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Ingestion Diagram</a:t>
            </a:r>
          </a:p>
        </p:txBody>
      </p:sp>
      <p:pic>
        <p:nvPicPr>
          <p:cNvPr descr="../../diagrams/week01/week1_lecture_slide20_inges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05300" y="1600200"/>
            <a:ext cx="3594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Step-by-Step: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Filter: only “page_view” events</a:t>
            </a:r>
          </a:p>
          <a:p>
            <a:pPr lvl="0"/>
            <a:r>
              <a:rPr/>
              <a:t>Extract: product_id from page URL</a:t>
            </a:r>
          </a:p>
          <a:p>
            <a:pPr lvl="0"/>
            <a:r>
              <a:rPr/>
              <a:t>Clean: remove invalid product_ids</a:t>
            </a:r>
          </a:p>
          <a:p>
            <a:pPr lvl="0"/>
            <a:r>
              <a:rPr/>
              <a:t>Group: by (date, product_id)</a:t>
            </a:r>
          </a:p>
          <a:p>
            <a:pPr lvl="0"/>
            <a:r>
              <a:rPr/>
              <a:t>Count: events per group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Input: {user_id, page, timestamp, action}
Filter: action == "page_view"
Extract: product_id = parse(page)
Group: (date(timestamp), product_id)
Output: (date, product_id, view_count)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Step-by-Step: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Input: filtered events (8M after filter)</a:t>
            </a:r>
          </a:p>
          <a:p>
            <a:pPr lvl="0"/>
            <a:r>
              <a:rPr/>
              <a:t>Group by: (date, product_id)</a:t>
            </a:r>
          </a:p>
          <a:p>
            <a:pPr lvl="0"/>
            <a:r>
              <a:rPr/>
              <a:t>Aggregate: count(*) as views</a:t>
            </a:r>
          </a:p>
          <a:p>
            <a:pPr lvl="0"/>
            <a:r>
              <a:rPr/>
              <a:t>Output: 50K products × 1 day = 50K rows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Aggregation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Raw: 8M page_view events
Group: by (2024-01-15, product_123)
Result: 1,250 views for product_123
Output row: (2024-01-15, product_123, 1250)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Step-by-Step: Load to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Write aggregated results</a:t>
            </a:r>
          </a:p>
          <a:p>
            <a:pPr lvl="0"/>
            <a:r>
              <a:rPr/>
              <a:t>Format: Parquet, partitioned by date</a:t>
            </a:r>
          </a:p>
          <a:p>
            <a:pPr lvl="0"/>
            <a:r>
              <a:rPr/>
              <a:t>Destination: data warehouse</a:t>
            </a:r>
          </a:p>
          <a:p>
            <a:pPr lvl="0"/>
            <a:r>
              <a:rPr/>
              <a:t>Size: 50K rows × 100 bytes = 5 MB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Engineering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Reduction: 5 GB → 5 MB (1000×)</a:t>
            </a:r>
          </a:p>
          <a:p>
            <a:pPr lvl="0"/>
            <a:r>
              <a:rPr/>
              <a:t>Latency: 45 minutes end-to-end</a:t>
            </a:r>
          </a:p>
          <a:p>
            <a:pPr lvl="0"/>
            <a:r>
              <a:rPr/>
              <a:t>Cost: $0.50 per day (compute)</a:t>
            </a:r>
          </a:p>
          <a:p>
            <a:pPr lvl="0"/>
            <a:r>
              <a:rPr/>
              <a:t>Reliability: 99.95% success rate</a:t>
            </a:r>
          </a:p>
          <a:p>
            <a:pPr lvl="0"/>
            <a:r>
              <a:rPr/>
              <a:t>Trade-off: 1-hour delay acceptable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Analysis: 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Ingestion: 10 minutes (I/O bound)</a:t>
            </a:r>
          </a:p>
          <a:p>
            <a:pPr lvl="0"/>
            <a:r>
              <a:rPr/>
              <a:t>Transformation: 20 minutes (CPU bound)</a:t>
            </a:r>
          </a:p>
          <a:p>
            <a:pPr lvl="0"/>
            <a:r>
              <a:rPr/>
              <a:t>Aggregation: 10 minutes (CPU bound)</a:t>
            </a:r>
          </a:p>
          <a:p>
            <a:pPr lvl="0"/>
            <a:r>
              <a:rPr/>
              <a:t>Load: 5 minutes (I/O bound)</a:t>
            </a:r>
          </a:p>
          <a:p>
            <a:pPr lvl="0"/>
            <a:r>
              <a:rPr/>
              <a:t>Total: 45 minutes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2× data: 90 minutes (linear)</a:t>
            </a:r>
          </a:p>
          <a:p>
            <a:pPr lvl="0"/>
            <a:r>
              <a:rPr/>
              <a:t>10× data: 7.5 hours (linear)</a:t>
            </a:r>
          </a:p>
          <a:p>
            <a:pPr lvl="0"/>
            <a:r>
              <a:rPr/>
              <a:t>Parallelization: divide by N workers</a:t>
            </a:r>
          </a:p>
          <a:p>
            <a:pPr lvl="0"/>
            <a:r>
              <a:rPr/>
              <a:t>Example: 10 workers → 4.5 minutes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Cost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T_total = T_ingest + T_transform + T_aggregate + T_load
T_parallel = T_sequential / N_workers
Bottleneck: max(T_ingest, T_transform, T_aggregate, T_load)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Analysis: Memory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Raw data: 5 GB (compressed)</a:t>
            </a:r>
          </a:p>
          <a:p>
            <a:pPr lvl="0"/>
            <a:r>
              <a:rPr/>
              <a:t>Intermediate: 2 GB (after filter)</a:t>
            </a:r>
          </a:p>
          <a:p>
            <a:pPr lvl="0"/>
            <a:r>
              <a:rPr/>
              <a:t>Final output: 5 MB (aggregated)</a:t>
            </a:r>
          </a:p>
          <a:p>
            <a:pPr lvl="0"/>
            <a:r>
              <a:rPr/>
              <a:t>Peak memory: 5 GB (during ingestion)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Storage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Raw: 5 GB/day × 30 days = 150 GB/month</a:t>
            </a:r>
          </a:p>
          <a:p>
            <a:pPr lvl="0"/>
            <a:r>
              <a:rPr/>
              <a:t>Processed: 5 MB/day × 30 days = 150 MB/month</a:t>
            </a:r>
          </a:p>
          <a:p>
            <a:pPr lvl="0"/>
            <a:r>
              <a:rPr/>
              <a:t>Retention: 90 days raw, 365 days processed</a:t>
            </a:r>
          </a:p>
          <a:p>
            <a:pPr lvl="0"/>
            <a:r>
              <a:rPr/>
              <a:t>Cost: $0.023/GB/month = $3.45/month raw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Storage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10× volume: 1.5 TB/month raw</a:t>
            </a:r>
          </a:p>
          <a:p>
            <a:pPr lvl="0"/>
            <a:r>
              <a:rPr/>
              <a:t>Cost: $34.50/month</a:t>
            </a:r>
          </a:p>
          <a:p>
            <a:pPr lvl="0"/>
            <a:r>
              <a:rPr/>
              <a:t>Compression: 5× reduction possible</a:t>
            </a:r>
          </a:p>
          <a:p>
            <a:pPr lvl="0"/>
            <a:r>
              <a:rPr/>
              <a:t>Compressed: $6.90/month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Analysis: Network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Ingestion: 5 GB from source</a:t>
            </a:r>
          </a:p>
          <a:p>
            <a:pPr lvl="0"/>
            <a:r>
              <a:rPr/>
              <a:t>Processing: 0 GB (local)</a:t>
            </a:r>
          </a:p>
          <a:p>
            <a:pPr lvl="0"/>
            <a:r>
              <a:rPr/>
              <a:t>Output: 5 MB to warehouse</a:t>
            </a:r>
          </a:p>
          <a:p>
            <a:pPr lvl="0"/>
            <a:r>
              <a:rPr/>
              <a:t>Total: 5.005 GB transferred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Ingress: $0.00 (free)</a:t>
            </a:r>
          </a:p>
          <a:p>
            <a:pPr lvl="0"/>
            <a:r>
              <a:rPr/>
              <a:t>Egress: $0.09/GB = $0.45/day</a:t>
            </a:r>
          </a:p>
          <a:p>
            <a:pPr lvl="0"/>
            <a:r>
              <a:rPr/>
              <a:t>Monthly: $13.50</a:t>
            </a:r>
          </a:p>
          <a:p>
            <a:pPr lvl="0"/>
            <a:r>
              <a:rPr/>
              <a:t>Scaling: 10× volume = $135/month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Throughput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Network: 1 Gbps = 125 MB/s</a:t>
            </a:r>
          </a:p>
          <a:p>
            <a:pPr lvl="0"/>
            <a:r>
              <a:rPr/>
              <a:t>Transfer time: 5 GB / 125 MB/s = 40s</a:t>
            </a:r>
          </a:p>
          <a:p>
            <a:pPr lvl="0"/>
            <a:r>
              <a:rPr/>
              <a:t>Bottleneck: network if &gt; 1 Gbps needed</a:t>
            </a:r>
          </a:p>
          <a:p>
            <a:pPr lvl="0"/>
            <a:r>
              <a:rPr/>
              <a:t>Solution: parallel transfers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Modes: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Problem: user_id null in 5% of events</a:t>
            </a:r>
          </a:p>
          <a:p>
            <a:pPr lvl="0"/>
            <a:r>
              <a:rPr/>
              <a:t>Impact: undercounted page views</a:t>
            </a:r>
          </a:p>
          <a:p>
            <a:pPr lvl="0"/>
            <a:r>
              <a:rPr/>
              <a:t>Detection: count nulls, alert if &gt; 1%</a:t>
            </a:r>
          </a:p>
          <a:p>
            <a:pPr lvl="0"/>
            <a:r>
              <a:rPr/>
              <a:t>Mitigation: use session_id as fallback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Duplicate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Problem: same event processed twice</a:t>
            </a:r>
          </a:p>
          <a:p>
            <a:pPr lvl="0"/>
            <a:r>
              <a:rPr/>
              <a:t>Impact: double-counted views</a:t>
            </a:r>
          </a:p>
          <a:p>
            <a:pPr lvl="0"/>
            <a:r>
              <a:rPr/>
              <a:t>Detection: check event_id uniqueness</a:t>
            </a:r>
          </a:p>
          <a:p>
            <a:pPr lvl="0"/>
            <a:r>
              <a:rPr/>
              <a:t>Mitigation: deduplicate by (event_id, timestamp)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Schema Drift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Problem: new field added to logs</a:t>
            </a:r>
          </a:p>
          <a:p>
            <a:pPr lvl="0"/>
            <a:r>
              <a:rPr/>
              <a:t>Impact: pipeline fails or ignores field</a:t>
            </a:r>
          </a:p>
          <a:p>
            <a:pPr lvl="0"/>
            <a:r>
              <a:rPr/>
              <a:t>Detection: schema validation errors</a:t>
            </a:r>
          </a:p>
          <a:p>
            <a:pPr lvl="0"/>
            <a:r>
              <a:rPr/>
              <a:t>Mitigation: schema evolution, versioning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Modes: Pipeline Failure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Step 1 (ingestion): succeeds</a:t>
            </a:r>
          </a:p>
          <a:p>
            <a:pPr lvl="0"/>
            <a:r>
              <a:rPr/>
              <a:t>Step 2 (transform): fails at 50%</a:t>
            </a:r>
          </a:p>
          <a:p>
            <a:pPr lvl="0"/>
            <a:r>
              <a:rPr/>
              <a:t>Step 3 (aggregate): never runs</a:t>
            </a:r>
          </a:p>
          <a:p>
            <a:pPr lvl="0"/>
            <a:r>
              <a:rPr/>
              <a:t>Step 4 (load): never runs</a:t>
            </a:r>
          </a:p>
          <a:p>
            <a:pPr lvl="0"/>
            <a:r>
              <a:rPr/>
              <a:t>Result: partial data, inconsistent state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Propagation Diagram</a:t>
            </a:r>
          </a:p>
        </p:txBody>
      </p:sp>
      <p:pic>
        <p:nvPicPr>
          <p:cNvPr descr="../../diagrams/week01/week1_lecture_slide35_fail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59300" y="1600200"/>
            <a:ext cx="3086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Recovery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Retry: automatic, 3 attempts</a:t>
            </a:r>
          </a:p>
          <a:p>
            <a:pPr lvl="0"/>
            <a:r>
              <a:rPr/>
              <a:t>Checkpoint: save state after each step</a:t>
            </a:r>
          </a:p>
          <a:p>
            <a:pPr lvl="0"/>
            <a:r>
              <a:rPr/>
              <a:t>Rollback: delete partial outputs</a:t>
            </a:r>
          </a:p>
          <a:p>
            <a:pPr lvl="0"/>
            <a:r>
              <a:rPr/>
              <a:t>Manual: investigate, fix, rerun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Modes: Late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Problem: events arrive 2 hours late</a:t>
            </a:r>
          </a:p>
          <a:p>
            <a:pPr lvl="0"/>
            <a:r>
              <a:rPr/>
              <a:t>Impact: yesterday’s report incomplete</a:t>
            </a:r>
          </a:p>
          <a:p>
            <a:pPr lvl="0"/>
            <a:r>
              <a:rPr/>
              <a:t>Detection: watermark, late event metrics</a:t>
            </a:r>
          </a:p>
          <a:p>
            <a:pPr lvl="0"/>
            <a:r>
              <a:rPr/>
              <a:t>Mitigation: reprocess window, alert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 Exhaustion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Problem: memory full during aggregation</a:t>
            </a:r>
          </a:p>
          <a:p>
            <a:pPr lvl="0"/>
            <a:r>
              <a:rPr/>
              <a:t>Impact: pipeline crashes, no output</a:t>
            </a:r>
          </a:p>
          <a:p>
            <a:pPr lvl="0"/>
            <a:r>
              <a:rPr/>
              <a:t>Detection: OOM errors, monitoring</a:t>
            </a:r>
          </a:p>
          <a:p>
            <a:pPr lvl="0"/>
            <a:r>
              <a:rPr/>
              <a:t>Mitigation: increase memory, partition data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Overruns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Problem: 10× data volume, 10× cost</a:t>
            </a:r>
          </a:p>
          <a:p>
            <a:pPr lvl="0"/>
            <a:r>
              <a:rPr/>
              <a:t>Impact: budget exceeded</a:t>
            </a:r>
          </a:p>
          <a:p>
            <a:pPr lvl="0"/>
            <a:r>
              <a:rPr/>
              <a:t>Detection: cost alerts, daily reports</a:t>
            </a:r>
          </a:p>
          <a:p>
            <a:pPr lvl="0"/>
            <a:r>
              <a:rPr/>
              <a:t>Mitigation: optimize queries, compress data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Practices: Start with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What decisions need data? Who consumes it?</a:t>
            </a:r>
          </a:p>
          <a:p>
            <a:pPr lvl="0"/>
            <a:r>
              <a:rPr/>
              <a:t>What latency is acceptable?</a:t>
            </a:r>
          </a:p>
          <a:p>
            <a:pPr lvl="0"/>
            <a:r>
              <a:rPr b="1"/>
              <a:t>Don’t build pipelines without purpose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Store Raw Data &amp; Idempotency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Raw data:</a:t>
            </a:r>
            <a:r>
              <a:rPr/>
              <a:t> never delete; immutable; enables reprocessing</a:t>
            </a:r>
          </a:p>
          <a:p>
            <a:pPr lvl="0"/>
            <a:r>
              <a:rPr/>
              <a:t>Keep cost low with compression</a:t>
            </a:r>
          </a:p>
          <a:p>
            <a:pPr lvl="0"/>
            <a:r>
              <a:rPr b="1"/>
              <a:t>Idempotent operations:</a:t>
            </a:r>
            <a:r>
              <a:rPr/>
              <a:t> rerun ⇒ same output</a:t>
            </a:r>
          </a:p>
          <a:p>
            <a:pPr lvl="0"/>
            <a:r>
              <a:rPr/>
              <a:t>Deterministic transforms; avoid time-dependent logic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Monitor &amp;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Monitor:</a:t>
            </a:r>
            <a:r>
              <a:rPr/>
              <a:t> success/failure, data quality, latency, cost</a:t>
            </a:r>
          </a:p>
          <a:p>
            <a:pPr lvl="0"/>
            <a:r>
              <a:rPr b="1"/>
              <a:t>You can’t fix what you don’t measure</a:t>
            </a:r>
          </a:p>
          <a:p>
            <a:pPr lvl="0"/>
            <a:r>
              <a:rPr b="1"/>
              <a:t>Version:</a:t>
            </a:r>
            <a:r>
              <a:rPr/>
              <a:t> code (Git), schema (versioned), data (timestamped)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Practices: CRISP-DM Methodology- </a:t>
            </a:r>
            <a:r>
              <a:rPr b="1"/>
              <a:t>Cross-Industry Standard Process for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Most widely-used analytics model</a:t>
            </a:r>
          </a:p>
          <a:p>
            <a:pPr lvl="0"/>
            <a:r>
              <a:rPr b="1"/>
              <a:t>Six phases:</a:t>
            </a:r>
            <a:r>
              <a:rPr/>
              <a:t> Business → Data Understanding → Preparation</a:t>
            </a:r>
          </a:p>
          <a:p>
            <a:pPr lvl="0"/>
            <a:r>
              <a:rPr/>
              <a:t>Continues: Modeling → Evaluation → Deployment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CRISP-DM Methodology- Data preparation is often 60-80%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Data engineering enables all phases</a:t>
            </a:r>
          </a:p>
          <a:p>
            <a:pPr lvl="0"/>
            <a:r>
              <a:rPr b="1"/>
              <a:t>Iterative nature:</a:t>
            </a:r>
            <a:r>
              <a:rPr/>
              <a:t> phases cycle back</a:t>
            </a:r>
          </a:p>
          <a:p>
            <a:pPr lvl="0"/>
            <a:r>
              <a:rPr/>
              <a:t>Pipelines must support reprocessing and iteration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Proof of Concept (POC)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Definition:</a:t>
            </a:r>
            <a:r>
              <a:rPr/>
              <a:t> realization demonstrating feasibility</a:t>
            </a:r>
          </a:p>
          <a:p>
            <a:pPr lvl="0"/>
            <a:r>
              <a:rPr/>
              <a:t>Small and may not be complete</a:t>
            </a:r>
          </a:p>
          <a:p>
            <a:pPr lvl="0"/>
            <a:r>
              <a:rPr/>
              <a:t>Test feasibility of business concepts</a:t>
            </a:r>
          </a:p>
          <a:p>
            <a:pPr lvl="0"/>
            <a:r>
              <a:rPr/>
              <a:t>Accelerate business innovation goals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POC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Use your own data — external data proves nothing</a:t>
            </a:r>
          </a:p>
          <a:p>
            <a:pPr lvl="0"/>
            <a:r>
              <a:rPr/>
              <a:t>Limit scope of data sources; use samples</a:t>
            </a:r>
          </a:p>
          <a:p>
            <a:pPr lvl="0"/>
            <a:r>
              <a:rPr/>
              <a:t>Don’t get distracted by pretty visuals</a:t>
            </a:r>
          </a:p>
          <a:p>
            <a:pPr lvl="0"/>
            <a:r>
              <a:rPr/>
              <a:t>Address future and present requirements</a:t>
            </a:r>
          </a:p>
          <a:p>
            <a:pPr lvl="0"/>
            <a:r>
              <a:rPr/>
              <a:t>Demand one solid report before financial commitment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&amp; Design for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Test:</a:t>
            </a:r>
            <a:r>
              <a:rPr/>
              <a:t> unit (functions), integration (pipeline), data (outputs)</a:t>
            </a:r>
          </a:p>
          <a:p>
            <a:pPr lvl="0"/>
            <a:r>
              <a:rPr/>
              <a:t>Simulate failure scenarios</a:t>
            </a:r>
          </a:p>
          <a:p>
            <a:pPr lvl="0"/>
            <a:r>
              <a:rPr b="1"/>
              <a:t>Design for failure:</a:t>
            </a:r>
            <a:r>
              <a:rPr/>
              <a:t> assume components fail</a:t>
            </a:r>
          </a:p>
          <a:p>
            <a:pPr lvl="0"/>
            <a:r>
              <a:rPr/>
              <a:t>Retry, checkpoints, recovery procedures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 Assumptions &amp; Optimize Last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Document:</a:t>
            </a:r>
            <a:r>
              <a:rPr/>
              <a:t> sources, formats, business rules</a:t>
            </a:r>
          </a:p>
          <a:p>
            <a:pPr lvl="0"/>
            <a:r>
              <a:rPr/>
              <a:t>Include expected volumes/latencies, failure modes</a:t>
            </a:r>
          </a:p>
          <a:p>
            <a:pPr lvl="0"/>
            <a:r>
              <a:rPr b="1"/>
              <a:t>Optimize last:</a:t>
            </a:r>
            <a:r>
              <a:rPr/>
              <a:t> first make it work, then reliable, then fast</a:t>
            </a:r>
          </a:p>
          <a:p>
            <a:pPr lvl="0"/>
            <a:r>
              <a:rPr b="1"/>
              <a:t>Premature optimization wastes time and hides bugs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Recap: Data Engineering — Constraints, Not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Constraints:</a:t>
            </a:r>
            <a:r>
              <a:rPr/>
              <a:t> scale, reliability, cost</a:t>
            </a:r>
          </a:p>
          <a:p>
            <a:pPr lvl="0"/>
            <a:r>
              <a:rPr b="1"/>
              <a:t>Output:</a:t>
            </a:r>
            <a:r>
              <a:rPr/>
              <a:t> clean, accessible data at the right latency</a:t>
            </a:r>
          </a:p>
          <a:p>
            <a:pPr lvl="0"/>
            <a:r>
              <a:rPr b="1"/>
              <a:t>Judgment:</a:t>
            </a:r>
            <a:r>
              <a:rPr/>
              <a:t> ETL vs ELT, batch vs stream</a:t>
            </a:r>
          </a:p>
          <a:p>
            <a:pPr lvl="0"/>
            <a:r>
              <a:rPr/>
              <a:t>Each choice has cost and failure modes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Engineering Mindset (Non-Negotiable)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Calculate</a:t>
            </a:r>
            <a:r>
              <a:rPr/>
              <a:t> costs and trade-offs before scaling</a:t>
            </a:r>
          </a:p>
          <a:p>
            <a:pPr lvl="0"/>
            <a:r>
              <a:rPr b="1"/>
              <a:t>Design for failure</a:t>
            </a:r>
            <a:r>
              <a:rPr/>
              <a:t> — pipelines and nodes will break</a:t>
            </a:r>
          </a:p>
          <a:p>
            <a:pPr lvl="0"/>
            <a:r>
              <a:rPr b="1"/>
              <a:t>Monitor and measure</a:t>
            </a:r>
            <a:r>
              <a:rPr/>
              <a:t> — no blind spots</a:t>
            </a:r>
          </a:p>
          <a:p>
            <a:pPr lvl="0"/>
            <a:r>
              <a:rPr b="1"/>
              <a:t>Start simple, optimize later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Distributed databases (Week 2)</a:t>
            </a:r>
          </a:p>
          <a:p>
            <a:pPr lvl="0"/>
            <a:r>
              <a:rPr/>
              <a:t>Parallel processing (Week 3)</a:t>
            </a:r>
          </a:p>
          <a:p>
            <a:pPr lvl="0"/>
            <a:r>
              <a:rPr/>
              <a:t>ETL pipelines (Week 4)</a:t>
            </a:r>
          </a:p>
          <a:p>
            <a:pPr lvl="0"/>
            <a:r>
              <a:rPr/>
              <a:t>Data warehousing (Week 5)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Pointers to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Calculate pipeline costs from volumes</a:t>
            </a:r>
          </a:p>
          <a:p>
            <a:pPr lvl="0"/>
            <a:r>
              <a:rPr/>
              <a:t>Design pipeline for given requirements</a:t>
            </a:r>
          </a:p>
          <a:p>
            <a:pPr lvl="0"/>
            <a:r>
              <a:rPr/>
              <a:t>Identify failure modes and mitigations</a:t>
            </a:r>
          </a:p>
          <a:p>
            <a:pPr lvl="0"/>
            <a:r>
              <a:rPr/>
              <a:t>Choose batch vs streaming based on latency</a:t>
            </a:r>
          </a:p>
          <a:p>
            <a:pPr lvl="0"/>
            <a:r>
              <a:rPr/>
              <a:t>Estimate storage and network costs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Diagrams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Practice: Architecture</a:t>
            </a:r>
          </a:p>
        </p:txBody>
      </p:sp>
      <p:pic>
        <p:nvPicPr>
          <p:cNvPr descr="../../diagrams/week01/week1_practice_slide15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65800" y="1714500"/>
            <a:ext cx="6337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18</Words>
  <Application>Microsoft Macintosh PowerPoint</Application>
  <PresentationFormat>מסך רחב</PresentationFormat>
  <Paragraphs>12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2026-02-01T18:11:53Z</dcterms:created>
  <dcterms:modified xsi:type="dcterms:W3CDTF">2026-02-01T18:11:53Z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