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10"/>
    <p:restoredTop sz="94646"/>
  </p:normalViewPr>
  <p:slideViewPr>
    <p:cSldViewPr snapToGrid="0" snapToObjects="1">
      <p:cViewPr varScale="1">
        <p:scale>
          <a:sx d="100" n="111"/>
          <a:sy d="100" n="111"/>
        </p:scale>
        <p:origin x="1680" y="19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presProps" Target="presProps.xml" /><Relationship Id="rId4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9" Type="http://schemas.openxmlformats.org/officeDocument/2006/relationships/theme" Target="theme/theme1.xml" /><Relationship Id="rId38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z="240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240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/>
              <a:t>Click to edit Master text styles</a:t>
            </a:r>
          </a:p>
          <a:p>
            <a:pPr lvl="1"/>
            <a:r>
              <a:rPr lang="en-US" sz="2400" dirty="0"/>
              <a:t>Second level</a:t>
            </a:r>
          </a:p>
          <a:p>
            <a:pPr lvl="2"/>
            <a:r>
              <a:rPr lang="en-US" sz="2400" dirty="0"/>
              <a:t>Third level</a:t>
            </a:r>
          </a:p>
          <a:p>
            <a:pPr lvl="3"/>
            <a:r>
              <a:rPr lang="en-US" sz="2400" dirty="0"/>
              <a:t>Fourth level</a:t>
            </a:r>
          </a:p>
          <a:p>
            <a:pPr lvl="4"/>
            <a:r>
              <a:rPr lang="en-US" sz="240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z="240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240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240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z="240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z="240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z="320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b="1" kern="1200" sz="3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1: Introduction to Data Engineering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engineering enables reliable data-driven decisions</a:t>
            </a:r>
          </a:p>
          <a:p>
            <a:pPr lvl="0"/>
            <a:r>
              <a:rPr/>
              <a:t>Transforms raw data into analytical-ready systems</a:t>
            </a:r>
          </a:p>
          <a:p>
            <a:pPr lvl="0"/>
            <a:r>
              <a:rPr/>
              <a:t>Scales beyond single-machine limits</a:t>
            </a:r>
          </a:p>
          <a:p>
            <a:pPr lvl="0"/>
            <a:r>
              <a:rPr/>
              <a:t>Bridges business questions and technical infrastructure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Define data engineering vs data science vs analytics</a:t>
            </a:r>
          </a:p>
          <a:p>
            <a:pPr lvl="0"/>
            <a:r>
              <a:rPr/>
              <a:t>Identify when centralized vs distributed systems apply</a:t>
            </a:r>
          </a:p>
          <a:p>
            <a:pPr lvl="0"/>
            <a:r>
              <a:rPr/>
              <a:t>Calculate data volume and processing requirements</a:t>
            </a:r>
          </a:p>
          <a:p>
            <a:pPr lvl="0"/>
            <a:r>
              <a:rPr/>
              <a:t>Understand data flow: source → raw → processed → consumer</a:t>
            </a:r>
          </a:p>
          <a:p>
            <a:pPr lvl="0"/>
            <a:r>
              <a:rPr/>
              <a:t>Analyze trade-offs: consistency, availability, latency, cost</a:t>
            </a:r>
          </a:p>
          <a:p>
            <a:pPr lvl="0"/>
            <a:r>
              <a:rPr/>
              <a:t>Recognize scaling bottlenecks and failure modes</a:t>
            </a:r>
          </a:p>
          <a:p>
            <a:pPr lvl="0"/>
            <a:r>
              <a:rPr/>
              <a:t>Apply engineering principles to data pipeline design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Sources Used (Reference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sources/Lecture 1.pptx</a:t>
            </a:r>
          </a:p>
          <a:p>
            <a:pPr lvl="0"/>
            <a:r>
              <a:rPr/>
              <a:t>sources/Introduction &amp; Recap.pdf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Data Engineering</a:t>
            </a:r>
            <a:r>
              <a:rPr/>
              <a:t>: Building systems for data collection, storage, processing, access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Concepts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Data Science</a:t>
            </a:r>
            <a:r>
              <a:rPr/>
              <a:t>: Analysis, modeling, insights from prepared data</a:t>
            </a:r>
          </a:p>
          <a:p>
            <a:pPr lvl="0"/>
            <a:r>
              <a:rPr b="1"/>
              <a:t>Data Analytics</a:t>
            </a:r>
            <a:r>
              <a:rPr/>
              <a:t>: Querying, reporting, visualization of processed data</a:t>
            </a:r>
          </a:p>
          <a:p>
            <a:pPr lvl="0"/>
            <a:r>
              <a:rPr b="1"/>
              <a:t>Key Distinction</a:t>
            </a:r>
            <a:r>
              <a:rPr/>
              <a:t>: Engineering builds infrastructure; science/analytics use it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Centralized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Single machine or tightly-coupled cluster</a:t>
            </a:r>
          </a:p>
          <a:p>
            <a:pPr lvl="0"/>
            <a:r>
              <a:rPr/>
              <a:t>Shared memory and storage</a:t>
            </a:r>
          </a:p>
          <a:p>
            <a:pPr lvl="0"/>
            <a:r>
              <a:rPr/>
              <a:t>Consistent state guarantees</a:t>
            </a:r>
          </a:p>
          <a:p>
            <a:pPr lvl="0"/>
            <a:r>
              <a:rPr/>
              <a:t>Limited by vertical scaling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Distributed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Multiple independent nodes</a:t>
            </a:r>
          </a:p>
          <a:p>
            <a:pPr lvl="0"/>
            <a:r>
              <a:rPr/>
              <a:t>Network communication required</a:t>
            </a:r>
          </a:p>
          <a:p>
            <a:pPr lvl="0"/>
            <a:r>
              <a:rPr/>
              <a:t>Must handle partial failures</a:t>
            </a:r>
          </a:p>
          <a:p>
            <a:pPr lvl="0"/>
            <a:r>
              <a:rPr/>
              <a:t>Scales horizontally (add nodes)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to Distribute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volume exceeds single-machine capacity</a:t>
            </a:r>
          </a:p>
          <a:p>
            <a:pPr lvl="0"/>
            <a:r>
              <a:rPr/>
              <a:t>Processing time exceeds acceptable latency</a:t>
            </a:r>
          </a:p>
          <a:p>
            <a:pPr lvl="0"/>
            <a:r>
              <a:rPr/>
              <a:t>Fault tolerance requirements (no single point of failure)</a:t>
            </a:r>
          </a:p>
          <a:p>
            <a:pPr lvl="0"/>
            <a:r>
              <a:rPr/>
              <a:t>Geographic distribution needed</a:t>
            </a:r>
          </a:p>
          <a:p>
            <a:pPr lvl="0"/>
            <a:r>
              <a:rPr/>
              <a:t>Cost: horizontal scaling cheaper than vertical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NoSQL: Why and When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Why</a:t>
            </a:r>
            <a:r>
              <a:rPr/>
              <a:t>: Schema flexibility, horizontal scaling, specialized access patterns</a:t>
            </a:r>
          </a:p>
          <a:p>
            <a:pPr lvl="0"/>
            <a:r>
              <a:rPr b="1"/>
              <a:t>When</a:t>
            </a:r>
            <a:r>
              <a:rPr/>
              <a:t>: High write throughput, document/graph structures, eventual consistency acceptable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SQL vs NoSQL: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SQL: Strong consistency, complex queries, ACID transactions</a:t>
            </a:r>
          </a:p>
          <a:p>
            <a:pPr lvl="0"/>
            <a:r>
              <a:rPr/>
              <a:t>NoSQL: Horizontal scaling, schema flexibility, performance optimization</a:t>
            </a:r>
          </a:p>
          <a:p>
            <a:pPr lvl="0"/>
            <a:r>
              <a:rPr b="1"/>
              <a:t>Not binary</a:t>
            </a:r>
            <a:r>
              <a:rPr/>
              <a:t>: Modern systems often use both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Engineer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Designs and builds data pipelines</a:t>
            </a:r>
          </a:p>
          <a:p>
            <a:pPr lvl="0"/>
            <a:r>
              <a:rPr/>
              <a:t>Ensures data quality and reliability</a:t>
            </a:r>
          </a:p>
          <a:p>
            <a:pPr lvl="0"/>
            <a:r>
              <a:rPr/>
              <a:t>Optimizes for performance and cost</a:t>
            </a:r>
          </a:p>
          <a:p>
            <a:pPr lvl="0"/>
            <a:r>
              <a:rPr/>
              <a:t>Maintains infrastructure at scale</a:t>
            </a:r>
          </a:p>
          <a:p>
            <a:pPr lvl="0"/>
            <a:r>
              <a:rPr/>
              <a:t>Collaborates with analysts, scientists, product teams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Example: E-commerce Clickstream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Source: Web application generates 100 events/second</a:t>
            </a:r>
          </a:p>
          <a:p>
            <a:pPr lvl="0"/>
            <a:r>
              <a:rPr/>
              <a:t>Raw: Each event 500 bytes (user_id, timestamp, action, product_id)</a:t>
            </a:r>
          </a:p>
          <a:p>
            <a:pPr lvl="0"/>
            <a:r>
              <a:rPr/>
              <a:t>Processed: Aggregated into hourly sessions, revenue calculations</a:t>
            </a:r>
          </a:p>
          <a:p>
            <a:pPr lvl="0"/>
            <a:r>
              <a:rPr/>
              <a:t>Consumer: BI dashboard, recommendation engine, fraud detection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Example: Volume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Input rate: 100 events/sec × 500 bytes = 50 KB/sec</a:t>
            </a:r>
          </a:p>
          <a:p>
            <a:pPr lvl="0"/>
            <a:r>
              <a:rPr/>
              <a:t>Daily volume: 50 KB/sec × 86,400 sec = 4.32 GB/day</a:t>
            </a:r>
          </a:p>
          <a:p>
            <a:pPr lvl="0"/>
            <a:r>
              <a:rPr/>
              <a:t>Monthly: 4.32 GB × 30 ≈ 130 GB/month</a:t>
            </a:r>
          </a:p>
          <a:p>
            <a:pPr lvl="0"/>
            <a:r>
              <a:rPr b="1"/>
              <a:t>Single machine limit</a:t>
            </a:r>
            <a:r>
              <a:rPr/>
              <a:t>: ~10 TB storage practical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Example: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Step 1: Collect raw events to distributed storage</a:t>
            </a:r>
          </a:p>
          <a:p>
            <a:pPr lvl="0"/>
            <a:r>
              <a:rPr/>
              <a:t>Step 2: Validate and clean (remove duplicates, bad timestamps)</a:t>
            </a:r>
          </a:p>
          <a:p>
            <a:pPr lvl="0"/>
            <a:r>
              <a:rPr/>
              <a:t>Step 3: Enrich with user profile data (JOIN operation)</a:t>
            </a:r>
          </a:p>
          <a:p>
            <a:pPr lvl="0"/>
            <a:r>
              <a:rPr/>
              <a:t>Step 4: Aggregate by hour (GROUP BY timestamp, user_id)</a:t>
            </a:r>
          </a:p>
          <a:p>
            <a:pPr lvl="0"/>
            <a:r>
              <a:rPr/>
              <a:t>Step 5: Load to data warehouse for queries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Analysis: Data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Model</a:t>
            </a:r>
            <a:r>
              <a:rPr/>
              <a:t>: Volume = Events/sec × Bytes/event × Time</a:t>
            </a:r>
          </a:p>
          <a:p>
            <a:pPr lvl="0"/>
            <a:r>
              <a:rPr/>
              <a:t>Growth: Linear in rate, linear in time</a:t>
            </a:r>
          </a:p>
          <a:p>
            <a:pPr lvl="0"/>
            <a:r>
              <a:rPr/>
              <a:t>Storage cost: $0.023/GB/month (cloud storage example)</a:t>
            </a:r>
          </a:p>
          <a:p>
            <a:pPr lvl="0"/>
            <a:r>
              <a:rPr/>
              <a:t>130 GB/month ≈ $3/month storage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Analysis: Processing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Sequential</a:t>
            </a:r>
            <a:r>
              <a:rPr/>
              <a:t>: Time = (Records × Processing_time_per_record) / Workers</a:t>
            </a:r>
          </a:p>
          <a:p>
            <a:pPr lvl="0"/>
            <a:r>
              <a:rPr b="1"/>
              <a:t>Parallel</a:t>
            </a:r>
            <a:r>
              <a:rPr/>
              <a:t>: Time = (Records × Processing_time_per_record) / Workers + Overhead</a:t>
            </a:r>
          </a:p>
          <a:p>
            <a:pPr lvl="0"/>
            <a:r>
              <a:rPr/>
              <a:t>Overhead: Network shuffle, coordination, failures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Analysis: Network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Shuffle cost</a:t>
            </a:r>
            <a:r>
              <a:rPr/>
              <a:t>: Data moved between nodes for JOIN/aggregation</a:t>
            </a:r>
          </a:p>
          <a:p>
            <a:pPr lvl="0"/>
            <a:r>
              <a:rPr/>
              <a:t>Example: 100M records, 1 KB each = 100 GB shuffle</a:t>
            </a:r>
          </a:p>
          <a:p>
            <a:pPr lvl="0"/>
            <a:r>
              <a:rPr/>
              <a:t>Network bandwidth: 10 Gbps = 1.25 GB/sec</a:t>
            </a:r>
          </a:p>
          <a:p>
            <a:pPr lvl="0"/>
            <a:r>
              <a:rPr/>
              <a:t>Shuffle time: 100 GB / 1.25 GB/sec ≈ 80 seconds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Analysis: Throughput vs Latency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Throughput</a:t>
            </a:r>
            <a:r>
              <a:rPr/>
              <a:t>: Events processed per second</a:t>
            </a:r>
          </a:p>
          <a:p>
            <a:pPr lvl="0"/>
            <a:r>
              <a:rPr b="1"/>
              <a:t>Latency</a:t>
            </a:r>
            <a:r>
              <a:rPr/>
              <a:t>: Time from event creation to availability</a:t>
            </a:r>
          </a:p>
          <a:p>
            <a:pPr lvl="0"/>
            <a:r>
              <a:rPr/>
              <a:t>Trade-off: Higher throughput often means higher latency (batching)</a:t>
            </a:r>
          </a:p>
          <a:p>
            <a:pPr lvl="0"/>
            <a:r>
              <a:rPr/>
              <a:t>Real-time: Low latency, lower throughput</a:t>
            </a:r>
          </a:p>
          <a:p>
            <a:pPr lvl="0"/>
            <a:r>
              <a:rPr/>
              <a:t>Batch: High throughput, higher latency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Scaling Limits: Amdahl’s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Speedup = 1 / (S + P/N)</a:t>
            </a:r>
          </a:p>
          <a:p>
            <a:pPr lvl="0"/>
            <a:r>
              <a:rPr/>
              <a:t>S = sequential fraction, P = parallel fraction, N = workers</a:t>
            </a:r>
          </a:p>
          <a:p>
            <a:pPr lvl="0"/>
            <a:r>
              <a:rPr b="1"/>
              <a:t>Bottleneck</a:t>
            </a:r>
            <a:r>
              <a:rPr/>
              <a:t>: If 10% sequential, max 10× speedup regardless of workers</a:t>
            </a:r>
          </a:p>
          <a:p>
            <a:pPr lvl="0"/>
            <a:r>
              <a:rPr/>
              <a:t>Data engineering: JOIN operations often sequential bottlenecks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Modes: Data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Cause</a:t>
            </a:r>
            <a:r>
              <a:rPr/>
              <a:t>: Failed writes, storage corruption, accidental deletion</a:t>
            </a:r>
          </a:p>
          <a:p>
            <a:pPr lvl="0"/>
            <a:r>
              <a:rPr b="1"/>
              <a:t>Detection</a:t>
            </a:r>
            <a:r>
              <a:rPr/>
              <a:t>: Checksums, replication, audit logs</a:t>
            </a:r>
          </a:p>
          <a:p>
            <a:pPr lvl="0"/>
            <a:r>
              <a:rPr b="1"/>
              <a:t>Prevention</a:t>
            </a:r>
            <a:r>
              <a:rPr/>
              <a:t>: Idempotent operations, backups, versioning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Modes: Data Skew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Cause</a:t>
            </a:r>
            <a:r>
              <a:rPr/>
              <a:t>: Uneven distribution (e.g., 80% of users in one country)</a:t>
            </a:r>
          </a:p>
          <a:p>
            <a:pPr lvl="0"/>
            <a:r>
              <a:rPr b="1"/>
              <a:t>Detection</a:t>
            </a:r>
            <a:r>
              <a:rPr/>
              <a:t>: Monitor partition sizes, processing times vary</a:t>
            </a:r>
          </a:p>
          <a:p>
            <a:pPr lvl="0"/>
            <a:r>
              <a:rPr b="1"/>
              <a:t>Impact</a:t>
            </a:r>
            <a:r>
              <a:rPr/>
              <a:t>: One slow task blocks entire job</a:t>
            </a:r>
          </a:p>
          <a:p>
            <a:pPr lvl="0"/>
            <a:r>
              <a:rPr b="1"/>
              <a:t>Solution</a:t>
            </a:r>
            <a:r>
              <a:rPr/>
              <a:t>: Repartition, use salting for keys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Modes: Schema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Cause</a:t>
            </a:r>
            <a:r>
              <a:rPr/>
              <a:t>: Source systems change schema without coordination</a:t>
            </a:r>
          </a:p>
          <a:p>
            <a:pPr lvl="0"/>
            <a:r>
              <a:rPr b="1"/>
              <a:t>Detection</a:t>
            </a:r>
            <a:r>
              <a:rPr/>
              <a:t>: Queries fail, missing/null columns appear</a:t>
            </a:r>
          </a:p>
          <a:p>
            <a:pPr lvl="0"/>
            <a:r>
              <a:rPr b="1"/>
              <a:t>Impact</a:t>
            </a:r>
            <a:r>
              <a:rPr/>
              <a:t>: Broken pipelines, incorrect analytics</a:t>
            </a:r>
          </a:p>
          <a:p>
            <a:pPr lvl="0"/>
            <a:r>
              <a:rPr b="1"/>
              <a:t>Solution</a:t>
            </a:r>
            <a:r>
              <a:rPr/>
              <a:t>: Schema registry, versioning, backward compatibility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Modes: Resource Exhaustion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Cause</a:t>
            </a:r>
            <a:r>
              <a:rPr/>
              <a:t>: Unbounded data growth, memory leaks, inefficient queries</a:t>
            </a:r>
          </a:p>
          <a:p>
            <a:pPr lvl="0"/>
            <a:r>
              <a:rPr b="1"/>
              <a:t>Detection</a:t>
            </a:r>
            <a:r>
              <a:rPr/>
              <a:t>: Monitoring memory, CPU, disk usage</a:t>
            </a:r>
          </a:p>
          <a:p>
            <a:pPr lvl="0"/>
            <a:r>
              <a:rPr b="1"/>
              <a:t>Impact</a:t>
            </a:r>
            <a:r>
              <a:rPr/>
              <a:t>: System crashes, slow processing</a:t>
            </a:r>
          </a:p>
          <a:p>
            <a:pPr lvl="0"/>
            <a:r>
              <a:rPr b="1"/>
              <a:t>Solution</a:t>
            </a:r>
            <a:r>
              <a:rPr/>
              <a:t>: Limits, quotas, query optimization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Practices: Start with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Understand what decisions need data</a:t>
            </a:r>
          </a:p>
          <a:p>
            <a:pPr lvl="0"/>
            <a:r>
              <a:rPr/>
              <a:t>Identify data consumers and their needs</a:t>
            </a:r>
          </a:p>
          <a:p>
            <a:pPr lvl="0"/>
            <a:r>
              <a:rPr/>
              <a:t>Design for query patterns, not all possible queries</a:t>
            </a:r>
          </a:p>
          <a:p>
            <a:pPr lvl="0"/>
            <a:r>
              <a:rPr/>
              <a:t>Avoid premature optimization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Practices: Store Raw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Never delete original data</a:t>
            </a:r>
          </a:p>
          <a:p>
            <a:pPr lvl="0"/>
            <a:r>
              <a:rPr/>
              <a:t>Processed data can be regenerated</a:t>
            </a:r>
          </a:p>
          <a:p>
            <a:pPr lvl="0"/>
            <a:r>
              <a:rPr/>
              <a:t>Enables debugging and new analyses</a:t>
            </a:r>
          </a:p>
          <a:p>
            <a:pPr lvl="0"/>
            <a:r>
              <a:rPr/>
              <a:t>Cost: Storage is cheap compared to data loss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Practices: Make Pipelines Idempotent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Rerunning pipeline produces same result</a:t>
            </a:r>
          </a:p>
          <a:p>
            <a:pPr lvl="0"/>
            <a:r>
              <a:rPr/>
              <a:t>Enables safe retries on failures</a:t>
            </a:r>
          </a:p>
          <a:p>
            <a:pPr lvl="0"/>
            <a:r>
              <a:rPr/>
              <a:t>Use deterministic transformations</a:t>
            </a:r>
          </a:p>
          <a:p>
            <a:pPr lvl="0"/>
            <a:r>
              <a:rPr/>
              <a:t>Avoid time-dependent logic without bounds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Practices: Monitor and Alert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Track data volume, freshness, quality metrics</a:t>
            </a:r>
          </a:p>
          <a:p>
            <a:pPr lvl="0"/>
            <a:r>
              <a:rPr/>
              <a:t>Set alerts for anomalies (volume drops, latency spikes)</a:t>
            </a:r>
          </a:p>
          <a:p>
            <a:pPr lvl="0"/>
            <a:r>
              <a:rPr/>
              <a:t>Monitor pipeline execution time and resource usage</a:t>
            </a:r>
          </a:p>
          <a:p>
            <a:pPr lvl="0"/>
            <a:r>
              <a:rPr/>
              <a:t>Log failures with context for debugging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Practices: Design for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Assume components will fail</a:t>
            </a:r>
          </a:p>
          <a:p>
            <a:pPr lvl="0"/>
            <a:r>
              <a:rPr/>
              <a:t>Use replication for fault tolerance</a:t>
            </a:r>
          </a:p>
          <a:p>
            <a:pPr lvl="0"/>
            <a:r>
              <a:rPr/>
              <a:t>Implement retry logic with exponential backoff</a:t>
            </a:r>
          </a:p>
          <a:p>
            <a:pPr lvl="0"/>
            <a:r>
              <a:rPr/>
              <a:t>Plan for partial failures and recovery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Practices: Optimize for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Calculate storage, compute, network costs</a:t>
            </a:r>
          </a:p>
          <a:p>
            <a:pPr lvl="0"/>
            <a:r>
              <a:rPr/>
              <a:t>Use compression (3–10× reduction typical)</a:t>
            </a:r>
          </a:p>
          <a:p>
            <a:pPr lvl="0"/>
            <a:r>
              <a:rPr/>
              <a:t>Delete old data or archive to cheaper storage</a:t>
            </a:r>
          </a:p>
          <a:p>
            <a:pPr lvl="0"/>
            <a:r>
              <a:rPr/>
              <a:t>Choose right storage tier (hot vs cold)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Practices: Document 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lineage: source → transformations → destination</a:t>
            </a:r>
          </a:p>
          <a:p>
            <a:pPr lvl="0"/>
            <a:r>
              <a:rPr/>
              <a:t>Schema definitions and evolution history</a:t>
            </a:r>
          </a:p>
          <a:p>
            <a:pPr lvl="0"/>
            <a:r>
              <a:rPr/>
              <a:t>Pipeline dependencies and execution order</a:t>
            </a:r>
          </a:p>
          <a:p>
            <a:pPr lvl="0"/>
            <a:r>
              <a:rPr/>
              <a:t>Runbooks for common operations and failures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Practices: Test with Production-like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anonymized production data for testing</a:t>
            </a:r>
          </a:p>
          <a:p>
            <a:pPr lvl="0"/>
            <a:r>
              <a:rPr/>
              <a:t>Test at scale (volume, velocity, variety)</a:t>
            </a:r>
          </a:p>
          <a:p>
            <a:pPr lvl="0"/>
            <a:r>
              <a:rPr/>
              <a:t>Test failure scenarios (network issues, data corruption)</a:t>
            </a:r>
          </a:p>
          <a:p>
            <a:pPr lvl="0"/>
            <a:r>
              <a:rPr/>
              <a:t>Validate data quality before production deployment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engineering builds reliable, scalable data infrastructure</a:t>
            </a:r>
          </a:p>
          <a:p>
            <a:pPr lvl="0"/>
            <a:r>
              <a:rPr/>
              <a:t>Distributed systems needed when volume/latency exceed single-machine limits</a:t>
            </a:r>
          </a:p>
          <a:p>
            <a:pPr lvl="0"/>
            <a:r>
              <a:rPr/>
              <a:t>Trade-offs: consistency, availability, latency, cost</a:t>
            </a:r>
          </a:p>
          <a:p>
            <a:pPr lvl="0"/>
            <a:r>
              <a:rPr/>
              <a:t>Design for failure, monitor everything, optimize for cost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Pipelines: source → raw → processed → consumer</a:t>
            </a:r>
          </a:p>
          <a:p>
            <a:pPr lvl="0"/>
            <a:r>
              <a:rPr/>
              <a:t>Scaling limited by sequential bottlenecks (Amdahl’s Law)</a:t>
            </a:r>
          </a:p>
          <a:p>
            <a:pPr lvl="0"/>
            <a:r>
              <a:rPr/>
              <a:t>Common failures: data loss, skew, schema changes, resource exhaustion</a:t>
            </a:r>
          </a:p>
          <a:p>
            <a:pPr lvl="0"/>
            <a:r>
              <a:rPr/>
              <a:t>Best practices: idempotency, monitoring, documentation, testing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Pointers to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Calculate data volumes and processing requirements</a:t>
            </a:r>
          </a:p>
          <a:p>
            <a:pPr lvl="0"/>
            <a:r>
              <a:rPr/>
              <a:t>Analyze when distributed systems are necessary</a:t>
            </a:r>
          </a:p>
          <a:p>
            <a:pPr lvl="0"/>
            <a:r>
              <a:rPr/>
              <a:t>Estimate network shuffle costs for JOIN operations</a:t>
            </a:r>
          </a:p>
          <a:p>
            <a:pPr lvl="0"/>
            <a:r>
              <a:rPr/>
              <a:t>Identify bottlenecks and failure modes in scenarios</a:t>
            </a:r>
          </a:p>
          <a:p>
            <a:pPr lvl="0"/>
            <a:r>
              <a:rPr/>
              <a:t>Design idempotent pipeline transformations</a:t>
            </a:r>
          </a:p>
          <a:p>
            <a:pPr lvl="0"/>
            <a:r>
              <a:rPr/>
              <a:t>Calculate storage costs and optimization trade-offs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</Words>
  <Application>Microsoft Macintosh PowerPoint</Application>
  <PresentationFormat>‫הצגה על המסך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2026-01-21T10:21:43Z</dcterms:created>
  <dcterms:modified xsi:type="dcterms:W3CDTF">2026-01-21T10:21:43Z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