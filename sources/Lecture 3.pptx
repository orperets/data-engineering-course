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57" r:id="rId2"/>
    <p:sldId id="381" r:id="rId3"/>
    <p:sldId id="393" r:id="rId4"/>
    <p:sldId id="311" r:id="rId5"/>
    <p:sldId id="469" r:id="rId6"/>
    <p:sldId id="478" r:id="rId7"/>
    <p:sldId id="367" r:id="rId8"/>
    <p:sldId id="356" r:id="rId9"/>
    <p:sldId id="488" r:id="rId10"/>
    <p:sldId id="357" r:id="rId11"/>
    <p:sldId id="358" r:id="rId12"/>
    <p:sldId id="353" r:id="rId13"/>
    <p:sldId id="331" r:id="rId14"/>
    <p:sldId id="480" r:id="rId15"/>
    <p:sldId id="486" r:id="rId16"/>
    <p:sldId id="481" r:id="rId17"/>
    <p:sldId id="359" r:id="rId18"/>
    <p:sldId id="364" r:id="rId19"/>
    <p:sldId id="482" r:id="rId20"/>
    <p:sldId id="372" r:id="rId21"/>
    <p:sldId id="324" r:id="rId22"/>
    <p:sldId id="373" r:id="rId23"/>
    <p:sldId id="374" r:id="rId24"/>
    <p:sldId id="487" r:id="rId25"/>
    <p:sldId id="365" r:id="rId26"/>
    <p:sldId id="325" r:id="rId27"/>
    <p:sldId id="369" r:id="rId28"/>
    <p:sldId id="399" r:id="rId29"/>
    <p:sldId id="483" r:id="rId30"/>
    <p:sldId id="444" r:id="rId31"/>
    <p:sldId id="456" r:id="rId32"/>
    <p:sldId id="471" r:id="rId33"/>
    <p:sldId id="472" r:id="rId34"/>
    <p:sldId id="446" r:id="rId35"/>
    <p:sldId id="447" r:id="rId36"/>
    <p:sldId id="448" r:id="rId37"/>
    <p:sldId id="449" r:id="rId38"/>
    <p:sldId id="450" r:id="rId39"/>
    <p:sldId id="451" r:id="rId40"/>
    <p:sldId id="458" r:id="rId41"/>
    <p:sldId id="484" r:id="rId42"/>
    <p:sldId id="473" r:id="rId43"/>
    <p:sldId id="474" r:id="rId44"/>
    <p:sldId id="475" r:id="rId45"/>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70" autoAdjust="0"/>
    <p:restoredTop sz="94558"/>
  </p:normalViewPr>
  <p:slideViewPr>
    <p:cSldViewPr snapToGrid="0">
      <p:cViewPr varScale="1">
        <p:scale>
          <a:sx n="121" d="100"/>
          <a:sy n="121" d="100"/>
        </p:scale>
        <p:origin x="200" y="16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B63F32-7DA3-4013-BE26-9191402E55C8}" type="datetimeFigureOut">
              <a:rPr lang="en-IL" smtClean="0"/>
              <a:t>15/02/2023</a:t>
            </a:fld>
            <a:endParaRPr lang="en-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08866D-0BA4-4B03-8FA8-A96EE1FB39D0}" type="slidenum">
              <a:rPr lang="en-IL" smtClean="0"/>
              <a:t>‹#›</a:t>
            </a:fld>
            <a:endParaRPr lang="en-IL"/>
          </a:p>
        </p:txBody>
      </p:sp>
    </p:spTree>
    <p:extLst>
      <p:ext uri="{BB962C8B-B14F-4D97-AF65-F5344CB8AC3E}">
        <p14:creationId xmlns:p14="http://schemas.microsoft.com/office/powerpoint/2010/main" val="24211533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a:t>
            </a:fld>
            <a:endParaRPr lang="en-IL"/>
          </a:p>
        </p:txBody>
      </p:sp>
    </p:spTree>
    <p:extLst>
      <p:ext uri="{BB962C8B-B14F-4D97-AF65-F5344CB8AC3E}">
        <p14:creationId xmlns:p14="http://schemas.microsoft.com/office/powerpoint/2010/main" val="6959297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3</a:t>
            </a:fld>
            <a:endParaRPr lang="en-IL"/>
          </a:p>
        </p:txBody>
      </p:sp>
    </p:spTree>
    <p:extLst>
      <p:ext uri="{BB962C8B-B14F-4D97-AF65-F5344CB8AC3E}">
        <p14:creationId xmlns:p14="http://schemas.microsoft.com/office/powerpoint/2010/main" val="22029478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a:extLst>
              <a:ext uri="{FF2B5EF4-FFF2-40B4-BE49-F238E27FC236}">
                <a16:creationId xmlns:a16="http://schemas.microsoft.com/office/drawing/2014/main" id="{F7BEDFDE-6E14-484F-9E1C-969E014A2B77}"/>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20468EE-A1EE-C241-AFC6-7915AE0CA6CF}" type="slidenum">
              <a:rPr lang="en-US" altLang="en-IL"/>
              <a:pPr/>
              <a:t>4</a:t>
            </a:fld>
            <a:endParaRPr lang="en-US" altLang="en-IL"/>
          </a:p>
        </p:txBody>
      </p:sp>
    </p:spTree>
    <p:extLst>
      <p:ext uri="{BB962C8B-B14F-4D97-AF65-F5344CB8AC3E}">
        <p14:creationId xmlns:p14="http://schemas.microsoft.com/office/powerpoint/2010/main" val="21266603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1C32149F-00F5-144A-991C-07D90D139D9E}"/>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31521B7D-4582-264D-ACBA-3FE1645DA94C}" type="slidenum">
              <a:rPr lang="en-US" altLang="en-GB" sz="1200"/>
              <a:pPr/>
              <a:t>10</a:t>
            </a:fld>
            <a:endParaRPr lang="en-US" altLang="en-GB" sz="1200"/>
          </a:p>
        </p:txBody>
      </p:sp>
      <p:sp>
        <p:nvSpPr>
          <p:cNvPr id="43011" name="Rectangle 2">
            <a:extLst>
              <a:ext uri="{FF2B5EF4-FFF2-40B4-BE49-F238E27FC236}">
                <a16:creationId xmlns:a16="http://schemas.microsoft.com/office/drawing/2014/main" id="{62860EA0-FEF5-5045-B3BE-2F5E31830D1D}"/>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891407FC-F1E1-FF48-9261-B4F63185F903}"/>
              </a:ext>
            </a:extLst>
          </p:cNvPr>
          <p:cNvSpPr>
            <a:spLocks noGrp="1" noChangeArrowheads="1"/>
          </p:cNvSpPr>
          <p:nvPr>
            <p:ph type="body" idx="1"/>
          </p:nvPr>
        </p:nvSpPr>
        <p:spPr>
          <a:noFill/>
        </p:spPr>
        <p:txBody>
          <a:bodyPr/>
          <a:lstStyle/>
          <a:p>
            <a:endParaRPr lang="en-IL" altLang="en-IL"/>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0763450D-99CE-C24A-8D8D-B8CA56C5CC4E}"/>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8E1D7C4A-BC49-1A48-BD91-C46D6C619243}" type="slidenum">
              <a:rPr lang="en-US" altLang="en-GB" sz="1200"/>
              <a:pPr/>
              <a:t>11</a:t>
            </a:fld>
            <a:endParaRPr lang="en-US" altLang="en-GB" sz="1200"/>
          </a:p>
        </p:txBody>
      </p:sp>
      <p:sp>
        <p:nvSpPr>
          <p:cNvPr id="41987" name="Rectangle 2">
            <a:extLst>
              <a:ext uri="{FF2B5EF4-FFF2-40B4-BE49-F238E27FC236}">
                <a16:creationId xmlns:a16="http://schemas.microsoft.com/office/drawing/2014/main" id="{03FBB1CD-983F-A146-BC0C-9A9AC7F59C98}"/>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EB98BAC9-F51A-D245-8B1F-7F8D533450FA}"/>
              </a:ext>
            </a:extLst>
          </p:cNvPr>
          <p:cNvSpPr>
            <a:spLocks noGrp="1" noChangeArrowheads="1"/>
          </p:cNvSpPr>
          <p:nvPr>
            <p:ph type="body" idx="1"/>
          </p:nvPr>
        </p:nvSpPr>
        <p:spPr>
          <a:noFill/>
        </p:spPr>
        <p:txBody>
          <a:bodyPr/>
          <a:lstStyle/>
          <a:p>
            <a:endParaRPr lang="en-IL" altLang="en-IL"/>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94298DF5-F7A9-D548-A1AD-F7F07AFC4A50}"/>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50EBF4B6-2F2D-F74A-A95D-51E194C16FF9}" type="slidenum">
              <a:rPr lang="en-US" altLang="en-GB" sz="1200"/>
              <a:pPr/>
              <a:t>12</a:t>
            </a:fld>
            <a:endParaRPr lang="en-US" altLang="en-GB" sz="1200"/>
          </a:p>
        </p:txBody>
      </p:sp>
      <p:sp>
        <p:nvSpPr>
          <p:cNvPr id="44035" name="Rectangle 2">
            <a:extLst>
              <a:ext uri="{FF2B5EF4-FFF2-40B4-BE49-F238E27FC236}">
                <a16:creationId xmlns:a16="http://schemas.microsoft.com/office/drawing/2014/main" id="{561F36E8-F8FA-4045-800D-B491CE196EAC}"/>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38266394-61EA-2442-9EFD-EF422C450F19}"/>
              </a:ext>
            </a:extLst>
          </p:cNvPr>
          <p:cNvSpPr>
            <a:spLocks noGrp="1" noChangeArrowheads="1"/>
          </p:cNvSpPr>
          <p:nvPr>
            <p:ph type="body" idx="1"/>
          </p:nvPr>
        </p:nvSpPr>
        <p:spPr>
          <a:noFill/>
        </p:spPr>
        <p:txBody>
          <a:bodyPr/>
          <a:lstStyle/>
          <a:p>
            <a:endParaRPr lang="en-IL" altLang="en-IL"/>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14</a:t>
            </a:fld>
            <a:endParaRPr lang="en-IL"/>
          </a:p>
        </p:txBody>
      </p:sp>
    </p:spTree>
    <p:extLst>
      <p:ext uri="{BB962C8B-B14F-4D97-AF65-F5344CB8AC3E}">
        <p14:creationId xmlns:p14="http://schemas.microsoft.com/office/powerpoint/2010/main" val="33220358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C1CDFDA5-DCFC-4A4A-8BCA-ABB491A4B42F}"/>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A3AB671E-96EA-4049-B2E5-E68D970123E5}" type="slidenum">
              <a:rPr lang="en-US" altLang="en-GB" sz="1200"/>
              <a:pPr/>
              <a:t>15</a:t>
            </a:fld>
            <a:endParaRPr lang="en-US" altLang="en-GB" sz="1200"/>
          </a:p>
        </p:txBody>
      </p:sp>
      <p:sp>
        <p:nvSpPr>
          <p:cNvPr id="50179" name="Rectangle 2">
            <a:extLst>
              <a:ext uri="{FF2B5EF4-FFF2-40B4-BE49-F238E27FC236}">
                <a16:creationId xmlns:a16="http://schemas.microsoft.com/office/drawing/2014/main" id="{6EBC1370-E741-ED4E-A2ED-E7CE70C705F9}"/>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50180" name="Rectangle 3">
            <a:extLst>
              <a:ext uri="{FF2B5EF4-FFF2-40B4-BE49-F238E27FC236}">
                <a16:creationId xmlns:a16="http://schemas.microsoft.com/office/drawing/2014/main" id="{D4769A82-938F-774E-B9E5-B29BB970C6CA}"/>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GB" sz="1000" i="1"/>
              <a:t>7</a:t>
            </a:r>
          </a:p>
        </p:txBody>
      </p:sp>
      <p:sp>
        <p:nvSpPr>
          <p:cNvPr id="50181" name="Rectangle 4">
            <a:extLst>
              <a:ext uri="{FF2B5EF4-FFF2-40B4-BE49-F238E27FC236}">
                <a16:creationId xmlns:a16="http://schemas.microsoft.com/office/drawing/2014/main" id="{6947D6EA-40E8-0142-B9D4-7038C98C4ED1}"/>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50182" name="Rectangle 5">
            <a:extLst>
              <a:ext uri="{FF2B5EF4-FFF2-40B4-BE49-F238E27FC236}">
                <a16:creationId xmlns:a16="http://schemas.microsoft.com/office/drawing/2014/main" id="{759CD8AB-77B5-E949-83BF-6E2171C6CB04}"/>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50183" name="Rectangle 6">
            <a:extLst>
              <a:ext uri="{FF2B5EF4-FFF2-40B4-BE49-F238E27FC236}">
                <a16:creationId xmlns:a16="http://schemas.microsoft.com/office/drawing/2014/main" id="{E691DAB9-D0DC-9D48-BE83-7A083766C85E}"/>
              </a:ext>
            </a:extLst>
          </p:cNvPr>
          <p:cNvSpPr>
            <a:spLocks noGrp="1" noChangeArrowheads="1"/>
          </p:cNvSpPr>
          <p:nvPr>
            <p:ph type="body" idx="1"/>
          </p:nvPr>
        </p:nvSpPr>
        <p:spPr>
          <a:noFill/>
        </p:spPr>
        <p:txBody>
          <a:bodyPr lIns="92075" tIns="46037" rIns="92075" bIns="46037"/>
          <a:lstStyle/>
          <a:p>
            <a:r>
              <a:rPr lang="en-GB" altLang="en-GB"/>
              <a:t>The Star is built for simplicity and speed. Forget everything you learned about designing relational databases. The Star Schema makes no excuses for the rules it breaks. The assumption behind it is that the database is static or ìquiet,î meaning that no updates are performed on-line. </a:t>
            </a:r>
          </a:p>
          <a:p>
            <a:r>
              <a:rPr lang="en-GB" altLang="en-GB"/>
              <a:t>Remember that most of the rules of relational database design are derived from the need to maintain atomicity, consistency and integrity (the ìACIDî test) in an On-Line Transaction Processing (OLTP) environment. Since the data warehouse is quiet, these constraints can be relaxed.</a:t>
            </a:r>
          </a:p>
          <a:p>
            <a:endParaRPr lang="en-GB" altLang="en-GB"/>
          </a:p>
          <a:p>
            <a:r>
              <a:rPr lang="en-GB" altLang="en-GB"/>
              <a:t> </a:t>
            </a:r>
          </a:p>
        </p:txBody>
      </p:sp>
      <p:sp>
        <p:nvSpPr>
          <p:cNvPr id="50184" name="Rectangle 7">
            <a:extLst>
              <a:ext uri="{FF2B5EF4-FFF2-40B4-BE49-F238E27FC236}">
                <a16:creationId xmlns:a16="http://schemas.microsoft.com/office/drawing/2014/main" id="{28AADC1E-C967-8346-8A95-4564CE9DFF2E}"/>
              </a:ext>
            </a:extLst>
          </p:cNvPr>
          <p:cNvSpPr>
            <a:spLocks noGrp="1" noRot="1" noChangeAspect="1" noChangeArrowheads="1" noTextEdit="1"/>
          </p:cNvSpPr>
          <p:nvPr>
            <p:ph type="sldImg"/>
          </p:nvPr>
        </p:nvSpPr>
        <p:spPr>
          <a:ln w="12700" cap="flat">
            <a:solidFill>
              <a:schemeClr val="tx1"/>
            </a:solidFill>
          </a:ln>
        </p:spPr>
      </p:sp>
    </p:spTree>
    <p:extLst>
      <p:ext uri="{BB962C8B-B14F-4D97-AF65-F5344CB8AC3E}">
        <p14:creationId xmlns:p14="http://schemas.microsoft.com/office/powerpoint/2010/main" val="39859605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C1CDFDA5-DCFC-4A4A-8BCA-ABB491A4B42F}"/>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A3AB671E-96EA-4049-B2E5-E68D970123E5}" type="slidenum">
              <a:rPr lang="en-US" altLang="en-GB" sz="1200"/>
              <a:pPr/>
              <a:t>16</a:t>
            </a:fld>
            <a:endParaRPr lang="en-US" altLang="en-GB" sz="1200"/>
          </a:p>
        </p:txBody>
      </p:sp>
      <p:sp>
        <p:nvSpPr>
          <p:cNvPr id="50179" name="Rectangle 2">
            <a:extLst>
              <a:ext uri="{FF2B5EF4-FFF2-40B4-BE49-F238E27FC236}">
                <a16:creationId xmlns:a16="http://schemas.microsoft.com/office/drawing/2014/main" id="{6EBC1370-E741-ED4E-A2ED-E7CE70C705F9}"/>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50180" name="Rectangle 3">
            <a:extLst>
              <a:ext uri="{FF2B5EF4-FFF2-40B4-BE49-F238E27FC236}">
                <a16:creationId xmlns:a16="http://schemas.microsoft.com/office/drawing/2014/main" id="{D4769A82-938F-774E-B9E5-B29BB970C6CA}"/>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GB" sz="1000" i="1"/>
              <a:t>7</a:t>
            </a:r>
          </a:p>
        </p:txBody>
      </p:sp>
      <p:sp>
        <p:nvSpPr>
          <p:cNvPr id="50181" name="Rectangle 4">
            <a:extLst>
              <a:ext uri="{FF2B5EF4-FFF2-40B4-BE49-F238E27FC236}">
                <a16:creationId xmlns:a16="http://schemas.microsoft.com/office/drawing/2014/main" id="{6947D6EA-40E8-0142-B9D4-7038C98C4ED1}"/>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50182" name="Rectangle 5">
            <a:extLst>
              <a:ext uri="{FF2B5EF4-FFF2-40B4-BE49-F238E27FC236}">
                <a16:creationId xmlns:a16="http://schemas.microsoft.com/office/drawing/2014/main" id="{759CD8AB-77B5-E949-83BF-6E2171C6CB04}"/>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50183" name="Rectangle 6">
            <a:extLst>
              <a:ext uri="{FF2B5EF4-FFF2-40B4-BE49-F238E27FC236}">
                <a16:creationId xmlns:a16="http://schemas.microsoft.com/office/drawing/2014/main" id="{E691DAB9-D0DC-9D48-BE83-7A083766C85E}"/>
              </a:ext>
            </a:extLst>
          </p:cNvPr>
          <p:cNvSpPr>
            <a:spLocks noGrp="1" noChangeArrowheads="1"/>
          </p:cNvSpPr>
          <p:nvPr>
            <p:ph type="body" idx="1"/>
          </p:nvPr>
        </p:nvSpPr>
        <p:spPr>
          <a:noFill/>
        </p:spPr>
        <p:txBody>
          <a:bodyPr lIns="92075" tIns="46037" rIns="92075" bIns="46037"/>
          <a:lstStyle/>
          <a:p>
            <a:r>
              <a:rPr lang="en-GB" altLang="en-GB"/>
              <a:t>The Star is built for simplicity and speed. Forget everything you learned about designing relational databases. The Star Schema makes no excuses for the rules it breaks. The assumption behind it is that the database is static or ìquiet,î meaning that no updates are performed on-line. </a:t>
            </a:r>
          </a:p>
          <a:p>
            <a:r>
              <a:rPr lang="en-GB" altLang="en-GB"/>
              <a:t>Remember that most of the rules of relational database design are derived from the need to maintain atomicity, consistency and integrity (the ìACIDî test) in an On-Line Transaction Processing (OLTP) environment. Since the data warehouse is quiet, these constraints can be relaxed.</a:t>
            </a:r>
          </a:p>
          <a:p>
            <a:endParaRPr lang="en-GB" altLang="en-GB"/>
          </a:p>
          <a:p>
            <a:r>
              <a:rPr lang="en-GB" altLang="en-GB"/>
              <a:t> </a:t>
            </a:r>
          </a:p>
        </p:txBody>
      </p:sp>
      <p:sp>
        <p:nvSpPr>
          <p:cNvPr id="50184" name="Rectangle 7">
            <a:extLst>
              <a:ext uri="{FF2B5EF4-FFF2-40B4-BE49-F238E27FC236}">
                <a16:creationId xmlns:a16="http://schemas.microsoft.com/office/drawing/2014/main" id="{28AADC1E-C967-8346-8A95-4564CE9DFF2E}"/>
              </a:ext>
            </a:extLst>
          </p:cNvPr>
          <p:cNvSpPr>
            <a:spLocks noGrp="1" noRot="1" noChangeAspect="1" noChangeArrowheads="1" noTextEdit="1"/>
          </p:cNvSpPr>
          <p:nvPr>
            <p:ph type="sldImg"/>
          </p:nvPr>
        </p:nvSpPr>
        <p:spPr>
          <a:ln w="12700" cap="flat">
            <a:solidFill>
              <a:schemeClr val="tx1"/>
            </a:solidFill>
          </a:ln>
        </p:spPr>
      </p:sp>
    </p:spTree>
    <p:extLst>
      <p:ext uri="{BB962C8B-B14F-4D97-AF65-F5344CB8AC3E}">
        <p14:creationId xmlns:p14="http://schemas.microsoft.com/office/powerpoint/2010/main" val="38967978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032AC369-D692-6E4D-96C2-85436DEC3507}"/>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8F21BF5D-87B3-3E4E-947D-F9E440D535CD}" type="slidenum">
              <a:rPr lang="en-US" altLang="en-GB" sz="1200"/>
              <a:pPr/>
              <a:t>17</a:t>
            </a:fld>
            <a:endParaRPr lang="en-US" altLang="en-GB" sz="1200"/>
          </a:p>
        </p:txBody>
      </p:sp>
      <p:sp>
        <p:nvSpPr>
          <p:cNvPr id="46083" name="Rectangle 2">
            <a:extLst>
              <a:ext uri="{FF2B5EF4-FFF2-40B4-BE49-F238E27FC236}">
                <a16:creationId xmlns:a16="http://schemas.microsoft.com/office/drawing/2014/main" id="{006D33AB-5A8D-C142-A6E1-F0132412B617}"/>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8F94CF5F-9239-F444-ACA1-98CB1C12A6F3}"/>
              </a:ext>
            </a:extLst>
          </p:cNvPr>
          <p:cNvSpPr>
            <a:spLocks noGrp="1" noChangeArrowheads="1"/>
          </p:cNvSpPr>
          <p:nvPr>
            <p:ph type="body" idx="1"/>
          </p:nvPr>
        </p:nvSpPr>
        <p:spPr>
          <a:noFill/>
        </p:spPr>
        <p:txBody>
          <a:bodyPr/>
          <a:lstStyle/>
          <a:p>
            <a:endParaRPr lang="en-IL" altLang="en-IL"/>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75E94783-0253-6B44-8EF5-1BD85077CAC1}"/>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5DC6BDE6-F7D4-B447-A50C-FFFB3DDBDEDE}" type="slidenum">
              <a:rPr lang="en-US" altLang="en-GB" sz="1200"/>
              <a:pPr/>
              <a:t>18</a:t>
            </a:fld>
            <a:endParaRPr lang="en-US" altLang="en-GB" sz="1200"/>
          </a:p>
        </p:txBody>
      </p:sp>
      <p:sp>
        <p:nvSpPr>
          <p:cNvPr id="55299" name="Rectangle 2">
            <a:extLst>
              <a:ext uri="{FF2B5EF4-FFF2-40B4-BE49-F238E27FC236}">
                <a16:creationId xmlns:a16="http://schemas.microsoft.com/office/drawing/2014/main" id="{5BEE6E16-CD42-6F48-8962-4C5B17CCF16E}"/>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6E3CC294-49DE-DB48-B7C7-350030AC7FA6}"/>
              </a:ext>
            </a:extLst>
          </p:cNvPr>
          <p:cNvSpPr>
            <a:spLocks noGrp="1" noChangeArrowheads="1"/>
          </p:cNvSpPr>
          <p:nvPr>
            <p:ph type="body" idx="1"/>
          </p:nvPr>
        </p:nvSpPr>
        <p:spPr>
          <a:noFill/>
        </p:spPr>
        <p:txBody>
          <a:bodyPr/>
          <a:lstStyle/>
          <a:p>
            <a:endParaRPr lang="en-IL" altLang="en-IL"/>
          </a:p>
        </p:txBody>
      </p:sp>
    </p:spTree>
    <p:extLst>
      <p:ext uri="{BB962C8B-B14F-4D97-AF65-F5344CB8AC3E}">
        <p14:creationId xmlns:p14="http://schemas.microsoft.com/office/powerpoint/2010/main" val="32239219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C1CDFDA5-DCFC-4A4A-8BCA-ABB491A4B42F}"/>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A3AB671E-96EA-4049-B2E5-E68D970123E5}" type="slidenum">
              <a:rPr lang="en-US" altLang="en-GB" sz="1200"/>
              <a:pPr/>
              <a:t>19</a:t>
            </a:fld>
            <a:endParaRPr lang="en-US" altLang="en-GB" sz="1200"/>
          </a:p>
        </p:txBody>
      </p:sp>
      <p:sp>
        <p:nvSpPr>
          <p:cNvPr id="50179" name="Rectangle 2">
            <a:extLst>
              <a:ext uri="{FF2B5EF4-FFF2-40B4-BE49-F238E27FC236}">
                <a16:creationId xmlns:a16="http://schemas.microsoft.com/office/drawing/2014/main" id="{6EBC1370-E741-ED4E-A2ED-E7CE70C705F9}"/>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50180" name="Rectangle 3">
            <a:extLst>
              <a:ext uri="{FF2B5EF4-FFF2-40B4-BE49-F238E27FC236}">
                <a16:creationId xmlns:a16="http://schemas.microsoft.com/office/drawing/2014/main" id="{D4769A82-938F-774E-B9E5-B29BB970C6CA}"/>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GB" sz="1000" i="1"/>
              <a:t>7</a:t>
            </a:r>
          </a:p>
        </p:txBody>
      </p:sp>
      <p:sp>
        <p:nvSpPr>
          <p:cNvPr id="50181" name="Rectangle 4">
            <a:extLst>
              <a:ext uri="{FF2B5EF4-FFF2-40B4-BE49-F238E27FC236}">
                <a16:creationId xmlns:a16="http://schemas.microsoft.com/office/drawing/2014/main" id="{6947D6EA-40E8-0142-B9D4-7038C98C4ED1}"/>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50182" name="Rectangle 5">
            <a:extLst>
              <a:ext uri="{FF2B5EF4-FFF2-40B4-BE49-F238E27FC236}">
                <a16:creationId xmlns:a16="http://schemas.microsoft.com/office/drawing/2014/main" id="{759CD8AB-77B5-E949-83BF-6E2171C6CB04}"/>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50183" name="Rectangle 6">
            <a:extLst>
              <a:ext uri="{FF2B5EF4-FFF2-40B4-BE49-F238E27FC236}">
                <a16:creationId xmlns:a16="http://schemas.microsoft.com/office/drawing/2014/main" id="{E691DAB9-D0DC-9D48-BE83-7A083766C85E}"/>
              </a:ext>
            </a:extLst>
          </p:cNvPr>
          <p:cNvSpPr>
            <a:spLocks noGrp="1" noChangeArrowheads="1"/>
          </p:cNvSpPr>
          <p:nvPr>
            <p:ph type="body" idx="1"/>
          </p:nvPr>
        </p:nvSpPr>
        <p:spPr>
          <a:noFill/>
        </p:spPr>
        <p:txBody>
          <a:bodyPr lIns="92075" tIns="46037" rIns="92075" bIns="46037"/>
          <a:lstStyle/>
          <a:p>
            <a:r>
              <a:rPr lang="en-GB" altLang="en-GB"/>
              <a:t>The Star is built for simplicity and speed. Forget everything you learned about designing relational databases. The Star Schema makes no excuses for the rules it breaks. The assumption behind it is that the database is static or ìquiet,î meaning that no updates are performed on-line. </a:t>
            </a:r>
          </a:p>
          <a:p>
            <a:r>
              <a:rPr lang="en-GB" altLang="en-GB"/>
              <a:t>Remember that most of the rules of relational database design are derived from the need to maintain atomicity, consistency and integrity (the ìACIDî test) in an On-Line Transaction Processing (OLTP) environment. Since the data warehouse is quiet, these constraints can be relaxed.</a:t>
            </a:r>
          </a:p>
          <a:p>
            <a:endParaRPr lang="en-GB" altLang="en-GB"/>
          </a:p>
          <a:p>
            <a:r>
              <a:rPr lang="en-GB" altLang="en-GB"/>
              <a:t> </a:t>
            </a:r>
          </a:p>
        </p:txBody>
      </p:sp>
      <p:sp>
        <p:nvSpPr>
          <p:cNvPr id="50184" name="Rectangle 7">
            <a:extLst>
              <a:ext uri="{FF2B5EF4-FFF2-40B4-BE49-F238E27FC236}">
                <a16:creationId xmlns:a16="http://schemas.microsoft.com/office/drawing/2014/main" id="{28AADC1E-C967-8346-8A95-4564CE9DFF2E}"/>
              </a:ext>
            </a:extLst>
          </p:cNvPr>
          <p:cNvSpPr>
            <a:spLocks noGrp="1" noRot="1" noChangeAspect="1" noChangeArrowheads="1" noTextEdit="1"/>
          </p:cNvSpPr>
          <p:nvPr>
            <p:ph type="sldImg"/>
          </p:nvPr>
        </p:nvSpPr>
        <p:spPr>
          <a:ln w="12700" cap="flat">
            <a:solidFill>
              <a:schemeClr val="tx1"/>
            </a:solidFill>
          </a:ln>
        </p:spPr>
      </p:sp>
    </p:spTree>
    <p:extLst>
      <p:ext uri="{BB962C8B-B14F-4D97-AF65-F5344CB8AC3E}">
        <p14:creationId xmlns:p14="http://schemas.microsoft.com/office/powerpoint/2010/main" val="37611147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0264EBC8-64C4-524C-8295-6DF8A9DA0EF9}"/>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B1CCC9D1-262D-6944-A51C-27747F684BC7}" type="slidenum">
              <a:rPr lang="en-US" altLang="en-GB" sz="1200"/>
              <a:pPr/>
              <a:t>20</a:t>
            </a:fld>
            <a:endParaRPr lang="en-US" altLang="en-GB" sz="1200"/>
          </a:p>
        </p:txBody>
      </p:sp>
      <p:sp>
        <p:nvSpPr>
          <p:cNvPr id="57347" name="Rectangle 2">
            <a:extLst>
              <a:ext uri="{FF2B5EF4-FFF2-40B4-BE49-F238E27FC236}">
                <a16:creationId xmlns:a16="http://schemas.microsoft.com/office/drawing/2014/main" id="{F9096E6D-03EF-3F49-8E29-2ED62C5D6CFE}"/>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D8FED176-4817-5446-B6A4-438A37FB2A1F}"/>
              </a:ext>
            </a:extLst>
          </p:cNvPr>
          <p:cNvSpPr>
            <a:spLocks noGrp="1" noChangeArrowheads="1"/>
          </p:cNvSpPr>
          <p:nvPr>
            <p:ph type="body" idx="1"/>
          </p:nvPr>
        </p:nvSpPr>
        <p:spPr>
          <a:noFill/>
        </p:spPr>
        <p:txBody>
          <a:bodyPr/>
          <a:lstStyle/>
          <a:p>
            <a:endParaRPr lang="en-IL" altLang="en-IL"/>
          </a:p>
        </p:txBody>
      </p:sp>
    </p:spTree>
    <p:extLst>
      <p:ext uri="{BB962C8B-B14F-4D97-AF65-F5344CB8AC3E}">
        <p14:creationId xmlns:p14="http://schemas.microsoft.com/office/powerpoint/2010/main" val="3370420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6FAEADCC-AC9C-7748-B87A-F70A2B3AED25}"/>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45E2680B-58F3-2747-9061-778F0121826A}" type="slidenum">
              <a:rPr lang="en-US" altLang="en-GB" sz="1200"/>
              <a:pPr/>
              <a:t>22</a:t>
            </a:fld>
            <a:endParaRPr lang="en-US" altLang="en-GB" sz="1200"/>
          </a:p>
        </p:txBody>
      </p:sp>
      <p:sp>
        <p:nvSpPr>
          <p:cNvPr id="58371" name="Rectangle 2">
            <a:extLst>
              <a:ext uri="{FF2B5EF4-FFF2-40B4-BE49-F238E27FC236}">
                <a16:creationId xmlns:a16="http://schemas.microsoft.com/office/drawing/2014/main" id="{E6B1D164-0948-CC4C-908B-3A909A5E25AD}"/>
              </a:ext>
            </a:extLst>
          </p:cNvPr>
          <p:cNvSpPr>
            <a:spLocks noGrp="1" noRot="1" noChangeAspect="1" noChangeArrowheads="1" noTextEdit="1"/>
          </p:cNvSpPr>
          <p:nvPr>
            <p:ph type="sldImg"/>
          </p:nvPr>
        </p:nvSpPr>
        <p:spPr>
          <a:ln/>
        </p:spPr>
      </p:sp>
      <p:sp>
        <p:nvSpPr>
          <p:cNvPr id="58372" name="Rectangle 3">
            <a:extLst>
              <a:ext uri="{FF2B5EF4-FFF2-40B4-BE49-F238E27FC236}">
                <a16:creationId xmlns:a16="http://schemas.microsoft.com/office/drawing/2014/main" id="{3B198510-6FA9-D641-B385-1075C01C0BFD}"/>
              </a:ext>
            </a:extLst>
          </p:cNvPr>
          <p:cNvSpPr>
            <a:spLocks noGrp="1" noChangeArrowheads="1"/>
          </p:cNvSpPr>
          <p:nvPr>
            <p:ph type="body" idx="1"/>
          </p:nvPr>
        </p:nvSpPr>
        <p:spPr>
          <a:noFill/>
        </p:spPr>
        <p:txBody>
          <a:bodyPr/>
          <a:lstStyle/>
          <a:p>
            <a:endParaRPr lang="en-IL" altLang="en-IL"/>
          </a:p>
        </p:txBody>
      </p:sp>
    </p:spTree>
    <p:extLst>
      <p:ext uri="{BB962C8B-B14F-4D97-AF65-F5344CB8AC3E}">
        <p14:creationId xmlns:p14="http://schemas.microsoft.com/office/powerpoint/2010/main" val="38881046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5DEFC395-B1F5-0340-8161-73EFA9E6FD90}"/>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9DD08727-A71C-4B45-9A28-8FF1E13B1885}" type="slidenum">
              <a:rPr lang="en-US" altLang="en-GB" sz="1200"/>
              <a:pPr/>
              <a:t>23</a:t>
            </a:fld>
            <a:endParaRPr lang="en-US" altLang="en-GB" sz="1200"/>
          </a:p>
        </p:txBody>
      </p:sp>
      <p:sp>
        <p:nvSpPr>
          <p:cNvPr id="59395" name="Rectangle 2">
            <a:extLst>
              <a:ext uri="{FF2B5EF4-FFF2-40B4-BE49-F238E27FC236}">
                <a16:creationId xmlns:a16="http://schemas.microsoft.com/office/drawing/2014/main" id="{038636F4-E93F-AE49-A4CD-729BF5B73CDE}"/>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9BD2C819-ED82-504E-ABC0-865D95324AD8}"/>
              </a:ext>
            </a:extLst>
          </p:cNvPr>
          <p:cNvSpPr>
            <a:spLocks noGrp="1" noChangeArrowheads="1"/>
          </p:cNvSpPr>
          <p:nvPr>
            <p:ph type="body" idx="1"/>
          </p:nvPr>
        </p:nvSpPr>
        <p:spPr>
          <a:noFill/>
        </p:spPr>
        <p:txBody>
          <a:bodyPr/>
          <a:lstStyle/>
          <a:p>
            <a:endParaRPr lang="en-IL" altLang="en-IL"/>
          </a:p>
        </p:txBody>
      </p:sp>
    </p:spTree>
    <p:extLst>
      <p:ext uri="{BB962C8B-B14F-4D97-AF65-F5344CB8AC3E}">
        <p14:creationId xmlns:p14="http://schemas.microsoft.com/office/powerpoint/2010/main" val="25537897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C1CDFDA5-DCFC-4A4A-8BCA-ABB491A4B42F}"/>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A3AB671E-96EA-4049-B2E5-E68D970123E5}" type="slidenum">
              <a:rPr lang="en-US" altLang="en-GB" sz="1200"/>
              <a:pPr/>
              <a:t>24</a:t>
            </a:fld>
            <a:endParaRPr lang="en-US" altLang="en-GB" sz="1200"/>
          </a:p>
        </p:txBody>
      </p:sp>
      <p:sp>
        <p:nvSpPr>
          <p:cNvPr id="50179" name="Rectangle 2">
            <a:extLst>
              <a:ext uri="{FF2B5EF4-FFF2-40B4-BE49-F238E27FC236}">
                <a16:creationId xmlns:a16="http://schemas.microsoft.com/office/drawing/2014/main" id="{6EBC1370-E741-ED4E-A2ED-E7CE70C705F9}"/>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50180" name="Rectangle 3">
            <a:extLst>
              <a:ext uri="{FF2B5EF4-FFF2-40B4-BE49-F238E27FC236}">
                <a16:creationId xmlns:a16="http://schemas.microsoft.com/office/drawing/2014/main" id="{D4769A82-938F-774E-B9E5-B29BB970C6CA}"/>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GB" sz="1000" i="1"/>
              <a:t>7</a:t>
            </a:r>
          </a:p>
        </p:txBody>
      </p:sp>
      <p:sp>
        <p:nvSpPr>
          <p:cNvPr id="50181" name="Rectangle 4">
            <a:extLst>
              <a:ext uri="{FF2B5EF4-FFF2-40B4-BE49-F238E27FC236}">
                <a16:creationId xmlns:a16="http://schemas.microsoft.com/office/drawing/2014/main" id="{6947D6EA-40E8-0142-B9D4-7038C98C4ED1}"/>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50182" name="Rectangle 5">
            <a:extLst>
              <a:ext uri="{FF2B5EF4-FFF2-40B4-BE49-F238E27FC236}">
                <a16:creationId xmlns:a16="http://schemas.microsoft.com/office/drawing/2014/main" id="{759CD8AB-77B5-E949-83BF-6E2171C6CB04}"/>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50183" name="Rectangle 6">
            <a:extLst>
              <a:ext uri="{FF2B5EF4-FFF2-40B4-BE49-F238E27FC236}">
                <a16:creationId xmlns:a16="http://schemas.microsoft.com/office/drawing/2014/main" id="{E691DAB9-D0DC-9D48-BE83-7A083766C85E}"/>
              </a:ext>
            </a:extLst>
          </p:cNvPr>
          <p:cNvSpPr>
            <a:spLocks noGrp="1" noChangeArrowheads="1"/>
          </p:cNvSpPr>
          <p:nvPr>
            <p:ph type="body" idx="1"/>
          </p:nvPr>
        </p:nvSpPr>
        <p:spPr>
          <a:noFill/>
        </p:spPr>
        <p:txBody>
          <a:bodyPr lIns="92075" tIns="46037" rIns="92075" bIns="46037"/>
          <a:lstStyle/>
          <a:p>
            <a:r>
              <a:rPr lang="en-GB" altLang="en-GB"/>
              <a:t>The Star is built for simplicity and speed. Forget everything you learned about designing relational databases. The Star Schema makes no excuses for the rules it breaks. The assumption behind it is that the database is static or ìquiet,î meaning that no updates are performed on-line. </a:t>
            </a:r>
          </a:p>
          <a:p>
            <a:r>
              <a:rPr lang="en-GB" altLang="en-GB"/>
              <a:t>Remember that most of the rules of relational database design are derived from the need to maintain atomicity, consistency and integrity (the ìACIDî test) in an On-Line Transaction Processing (OLTP) environment. Since the data warehouse is quiet, these constraints can be relaxed.</a:t>
            </a:r>
          </a:p>
          <a:p>
            <a:endParaRPr lang="en-GB" altLang="en-GB"/>
          </a:p>
          <a:p>
            <a:r>
              <a:rPr lang="en-GB" altLang="en-GB"/>
              <a:t> </a:t>
            </a:r>
          </a:p>
        </p:txBody>
      </p:sp>
      <p:sp>
        <p:nvSpPr>
          <p:cNvPr id="50184" name="Rectangle 7">
            <a:extLst>
              <a:ext uri="{FF2B5EF4-FFF2-40B4-BE49-F238E27FC236}">
                <a16:creationId xmlns:a16="http://schemas.microsoft.com/office/drawing/2014/main" id="{28AADC1E-C967-8346-8A95-4564CE9DFF2E}"/>
              </a:ext>
            </a:extLst>
          </p:cNvPr>
          <p:cNvSpPr>
            <a:spLocks noGrp="1" noRot="1" noChangeAspect="1" noChangeArrowheads="1" noTextEdit="1"/>
          </p:cNvSpPr>
          <p:nvPr>
            <p:ph type="sldImg"/>
          </p:nvPr>
        </p:nvSpPr>
        <p:spPr>
          <a:ln w="12700" cap="flat">
            <a:solidFill>
              <a:schemeClr val="tx1"/>
            </a:solidFill>
          </a:ln>
        </p:spPr>
      </p:sp>
    </p:spTree>
    <p:extLst>
      <p:ext uri="{BB962C8B-B14F-4D97-AF65-F5344CB8AC3E}">
        <p14:creationId xmlns:p14="http://schemas.microsoft.com/office/powerpoint/2010/main" val="9908582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2CA03022-73B3-AB4B-9C4C-2ECAA907AF60}"/>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6F603355-6AE8-7B4A-8194-3A9F9F386DB5}" type="slidenum">
              <a:rPr lang="en-US" altLang="en-GB" sz="1200"/>
              <a:pPr/>
              <a:t>25</a:t>
            </a:fld>
            <a:endParaRPr lang="en-US" altLang="en-GB" sz="1200"/>
          </a:p>
        </p:txBody>
      </p:sp>
      <p:sp>
        <p:nvSpPr>
          <p:cNvPr id="53251" name="Rectangle 2">
            <a:extLst>
              <a:ext uri="{FF2B5EF4-FFF2-40B4-BE49-F238E27FC236}">
                <a16:creationId xmlns:a16="http://schemas.microsoft.com/office/drawing/2014/main" id="{C41F3CAE-FA98-204B-9860-D2CCB5DE7534}"/>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53252" name="Rectangle 3">
            <a:extLst>
              <a:ext uri="{FF2B5EF4-FFF2-40B4-BE49-F238E27FC236}">
                <a16:creationId xmlns:a16="http://schemas.microsoft.com/office/drawing/2014/main" id="{9CC41B94-72FE-5745-A8B7-A04B0889C94E}"/>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GB" sz="1000" i="1"/>
              <a:t>10</a:t>
            </a:r>
          </a:p>
        </p:txBody>
      </p:sp>
      <p:sp>
        <p:nvSpPr>
          <p:cNvPr id="53253" name="Rectangle 4">
            <a:extLst>
              <a:ext uri="{FF2B5EF4-FFF2-40B4-BE49-F238E27FC236}">
                <a16:creationId xmlns:a16="http://schemas.microsoft.com/office/drawing/2014/main" id="{7008877D-9D20-A749-87D4-65E9F8295CB0}"/>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53254" name="Rectangle 5">
            <a:extLst>
              <a:ext uri="{FF2B5EF4-FFF2-40B4-BE49-F238E27FC236}">
                <a16:creationId xmlns:a16="http://schemas.microsoft.com/office/drawing/2014/main" id="{72151D76-76C5-964C-B5CB-F3E1E4D1BE95}"/>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53255" name="Rectangle 6">
            <a:extLst>
              <a:ext uri="{FF2B5EF4-FFF2-40B4-BE49-F238E27FC236}">
                <a16:creationId xmlns:a16="http://schemas.microsoft.com/office/drawing/2014/main" id="{DDF36288-5010-3D4F-A810-AE6EC369B5B6}"/>
              </a:ext>
            </a:extLst>
          </p:cNvPr>
          <p:cNvSpPr>
            <a:spLocks noGrp="1" noChangeArrowheads="1"/>
          </p:cNvSpPr>
          <p:nvPr>
            <p:ph type="body" idx="1"/>
          </p:nvPr>
        </p:nvSpPr>
        <p:spPr>
          <a:noFill/>
        </p:spPr>
        <p:txBody>
          <a:bodyPr lIns="92075" tIns="46037" rIns="92075" bIns="46037"/>
          <a:lstStyle/>
          <a:p>
            <a:r>
              <a:rPr lang="en-GB" altLang="en-GB"/>
              <a:t>The chart above is composed of all of the tables from the Classic Star, plus aggregated fact tables. For example, the Store dimension is formed of a hierarchy of store-&gt; district -&gt; region. The base fact table contains detail data by store. The District fact table contains ONLY data aggregated by district, therefor there are no records in the table with STORE_KEY matching any record for the Store dimension at the store level. Therefor, when we scan the Store dimension table, and select keys that have district = ìTexas,î they will only match STORE_KEY in the District fact table when the record is aggregated for stores in the Texas district. No double (or triple, etc.) counting is possible and the Level indicator is not needed. </a:t>
            </a:r>
          </a:p>
          <a:p>
            <a:endParaRPr lang="en-GB" altLang="en-GB"/>
          </a:p>
          <a:p>
            <a:r>
              <a:rPr lang="en-GB" altLang="en-GB"/>
              <a:t>These aggregated fact tables can get very complicated, though. For example, we need a District and Region fact table, but what level of detail will they contain about the product dimension? All of the following:</a:t>
            </a:r>
          </a:p>
          <a:p>
            <a:r>
              <a:rPr lang="en-GB" altLang="en-GB"/>
              <a:t>STORE/PROD	DISTRICT/PROD	REGION/PROD</a:t>
            </a:r>
          </a:p>
          <a:p>
            <a:r>
              <a:rPr lang="en-GB" altLang="en-GB"/>
              <a:t>STORE/BRAND	DISTRICT/BRAND	REGION/BRAND</a:t>
            </a:r>
          </a:p>
          <a:p>
            <a:r>
              <a:rPr lang="en-GB" altLang="en-GB"/>
              <a:t>STORE/MANUF	DISTRICT/MANUF	REGION/MANUF</a:t>
            </a:r>
          </a:p>
          <a:p>
            <a:endParaRPr lang="en-GB" altLang="en-GB"/>
          </a:p>
          <a:p>
            <a:r>
              <a:rPr lang="en-GB" altLang="en-GB"/>
              <a:t>And these are just the combinations from two dimensions!</a:t>
            </a:r>
          </a:p>
        </p:txBody>
      </p:sp>
      <p:sp>
        <p:nvSpPr>
          <p:cNvPr id="53256" name="Rectangle 7">
            <a:extLst>
              <a:ext uri="{FF2B5EF4-FFF2-40B4-BE49-F238E27FC236}">
                <a16:creationId xmlns:a16="http://schemas.microsoft.com/office/drawing/2014/main" id="{41EE41A8-DA6E-3141-8FC5-D4A018434945}"/>
              </a:ext>
            </a:extLst>
          </p:cNvPr>
          <p:cNvSpPr>
            <a:spLocks noGrp="1" noRot="1" noChangeAspect="1" noChangeArrowheads="1" noTextEdit="1"/>
          </p:cNvSpPr>
          <p:nvPr>
            <p:ph type="sldImg"/>
          </p:nvPr>
        </p:nvSpPr>
        <p:spPr>
          <a:ln w="12700" cap="flat">
            <a:solidFill>
              <a:schemeClr val="tx1"/>
            </a:solidFill>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2B56BFA3-86C5-BA4D-828B-2CCD6EE53277}"/>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0C07B1CD-97C7-3845-9345-16733496A846}" type="slidenum">
              <a:rPr lang="en-US" altLang="en-GB" sz="1200"/>
              <a:pPr/>
              <a:t>27</a:t>
            </a:fld>
            <a:endParaRPr lang="en-US" altLang="en-GB" sz="1200"/>
          </a:p>
        </p:txBody>
      </p:sp>
      <p:sp>
        <p:nvSpPr>
          <p:cNvPr id="60419" name="Rectangle 2">
            <a:extLst>
              <a:ext uri="{FF2B5EF4-FFF2-40B4-BE49-F238E27FC236}">
                <a16:creationId xmlns:a16="http://schemas.microsoft.com/office/drawing/2014/main" id="{9087015E-18DE-C742-8ADD-7579ACC89747}"/>
              </a:ext>
            </a:extLst>
          </p:cNvPr>
          <p:cNvSpPr>
            <a:spLocks noGrp="1" noRot="1" noChangeAspect="1" noChangeArrowheads="1" noTextEdit="1"/>
          </p:cNvSpPr>
          <p:nvPr>
            <p:ph type="sldImg"/>
          </p:nvPr>
        </p:nvSpPr>
        <p:spPr>
          <a:ln/>
        </p:spPr>
      </p:sp>
      <p:sp>
        <p:nvSpPr>
          <p:cNvPr id="60420" name="Rectangle 3">
            <a:extLst>
              <a:ext uri="{FF2B5EF4-FFF2-40B4-BE49-F238E27FC236}">
                <a16:creationId xmlns:a16="http://schemas.microsoft.com/office/drawing/2014/main" id="{B599109E-36C1-2643-AF62-65E97E98ED21}"/>
              </a:ext>
            </a:extLst>
          </p:cNvPr>
          <p:cNvSpPr>
            <a:spLocks noGrp="1" noChangeArrowheads="1"/>
          </p:cNvSpPr>
          <p:nvPr>
            <p:ph type="body" idx="1"/>
          </p:nvPr>
        </p:nvSpPr>
        <p:spPr>
          <a:noFill/>
        </p:spPr>
        <p:txBody>
          <a:bodyPr/>
          <a:lstStyle/>
          <a:p>
            <a:endParaRPr lang="en-IL" altLang="en-IL"/>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28</a:t>
            </a:fld>
            <a:endParaRPr lang="en-IL"/>
          </a:p>
        </p:txBody>
      </p:sp>
    </p:spTree>
    <p:extLst>
      <p:ext uri="{BB962C8B-B14F-4D97-AF65-F5344CB8AC3E}">
        <p14:creationId xmlns:p14="http://schemas.microsoft.com/office/powerpoint/2010/main" val="12823763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863BE904-C2D6-AD48-82CD-0A04BB463602}"/>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30A4611F-B8C6-2245-8776-50D7EFD617F4}" type="slidenum">
              <a:rPr lang="en-US" altLang="en-GB" sz="1200"/>
              <a:pPr/>
              <a:t>29</a:t>
            </a:fld>
            <a:endParaRPr lang="en-US" altLang="en-GB" sz="1200"/>
          </a:p>
        </p:txBody>
      </p:sp>
      <p:sp>
        <p:nvSpPr>
          <p:cNvPr id="39939" name="Rectangle 2">
            <a:extLst>
              <a:ext uri="{FF2B5EF4-FFF2-40B4-BE49-F238E27FC236}">
                <a16:creationId xmlns:a16="http://schemas.microsoft.com/office/drawing/2014/main" id="{A4E5A814-829D-0A4E-86C6-6024EE0E0BF1}"/>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07646AC0-0704-9946-99EE-15CE856FDD35}"/>
              </a:ext>
            </a:extLst>
          </p:cNvPr>
          <p:cNvSpPr>
            <a:spLocks noGrp="1" noChangeArrowheads="1"/>
          </p:cNvSpPr>
          <p:nvPr>
            <p:ph type="body" idx="1"/>
          </p:nvPr>
        </p:nvSpPr>
        <p:spPr>
          <a:noFill/>
        </p:spPr>
        <p:txBody>
          <a:bodyPr/>
          <a:lstStyle/>
          <a:p>
            <a:endParaRPr lang="en-IL" altLang="en-IL"/>
          </a:p>
        </p:txBody>
      </p:sp>
    </p:spTree>
    <p:extLst>
      <p:ext uri="{BB962C8B-B14F-4D97-AF65-F5344CB8AC3E}">
        <p14:creationId xmlns:p14="http://schemas.microsoft.com/office/powerpoint/2010/main" val="15820069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863BE904-C2D6-AD48-82CD-0A04BB463602}"/>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30A4611F-B8C6-2245-8776-50D7EFD617F4}" type="slidenum">
              <a:rPr lang="en-US" altLang="en-GB" sz="1200"/>
              <a:pPr/>
              <a:t>30</a:t>
            </a:fld>
            <a:endParaRPr lang="en-US" altLang="en-GB" sz="1200"/>
          </a:p>
        </p:txBody>
      </p:sp>
      <p:sp>
        <p:nvSpPr>
          <p:cNvPr id="39939" name="Rectangle 2">
            <a:extLst>
              <a:ext uri="{FF2B5EF4-FFF2-40B4-BE49-F238E27FC236}">
                <a16:creationId xmlns:a16="http://schemas.microsoft.com/office/drawing/2014/main" id="{A4E5A814-829D-0A4E-86C6-6024EE0E0BF1}"/>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07646AC0-0704-9946-99EE-15CE856FDD35}"/>
              </a:ext>
            </a:extLst>
          </p:cNvPr>
          <p:cNvSpPr>
            <a:spLocks noGrp="1" noChangeArrowheads="1"/>
          </p:cNvSpPr>
          <p:nvPr>
            <p:ph type="body" idx="1"/>
          </p:nvPr>
        </p:nvSpPr>
        <p:spPr>
          <a:noFill/>
        </p:spPr>
        <p:txBody>
          <a:bodyPr/>
          <a:lstStyle/>
          <a:p>
            <a:endParaRPr lang="en-IL" altLang="en-IL"/>
          </a:p>
        </p:txBody>
      </p:sp>
    </p:spTree>
    <p:extLst>
      <p:ext uri="{BB962C8B-B14F-4D97-AF65-F5344CB8AC3E}">
        <p14:creationId xmlns:p14="http://schemas.microsoft.com/office/powerpoint/2010/main" val="27501420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863BE904-C2D6-AD48-82CD-0A04BB463602}"/>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30A4611F-B8C6-2245-8776-50D7EFD617F4}" type="slidenum">
              <a:rPr lang="en-US" altLang="en-GB" sz="1200"/>
              <a:pPr/>
              <a:t>31</a:t>
            </a:fld>
            <a:endParaRPr lang="en-US" altLang="en-GB" sz="1200"/>
          </a:p>
        </p:txBody>
      </p:sp>
      <p:sp>
        <p:nvSpPr>
          <p:cNvPr id="39939" name="Rectangle 2">
            <a:extLst>
              <a:ext uri="{FF2B5EF4-FFF2-40B4-BE49-F238E27FC236}">
                <a16:creationId xmlns:a16="http://schemas.microsoft.com/office/drawing/2014/main" id="{A4E5A814-829D-0A4E-86C6-6024EE0E0BF1}"/>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07646AC0-0704-9946-99EE-15CE856FDD35}"/>
              </a:ext>
            </a:extLst>
          </p:cNvPr>
          <p:cNvSpPr>
            <a:spLocks noGrp="1" noChangeArrowheads="1"/>
          </p:cNvSpPr>
          <p:nvPr>
            <p:ph type="body" idx="1"/>
          </p:nvPr>
        </p:nvSpPr>
        <p:spPr>
          <a:noFill/>
        </p:spPr>
        <p:txBody>
          <a:bodyPr/>
          <a:lstStyle/>
          <a:p>
            <a:endParaRPr lang="en-IL" altLang="en-IL"/>
          </a:p>
        </p:txBody>
      </p:sp>
    </p:spTree>
    <p:extLst>
      <p:ext uri="{BB962C8B-B14F-4D97-AF65-F5344CB8AC3E}">
        <p14:creationId xmlns:p14="http://schemas.microsoft.com/office/powerpoint/2010/main" val="197690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863BE904-C2D6-AD48-82CD-0A04BB463602}"/>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30A4611F-B8C6-2245-8776-50D7EFD617F4}" type="slidenum">
              <a:rPr lang="en-US" altLang="en-GB" sz="1200"/>
              <a:pPr/>
              <a:t>32</a:t>
            </a:fld>
            <a:endParaRPr lang="en-US" altLang="en-GB" sz="1200"/>
          </a:p>
        </p:txBody>
      </p:sp>
      <p:sp>
        <p:nvSpPr>
          <p:cNvPr id="39939" name="Rectangle 2">
            <a:extLst>
              <a:ext uri="{FF2B5EF4-FFF2-40B4-BE49-F238E27FC236}">
                <a16:creationId xmlns:a16="http://schemas.microsoft.com/office/drawing/2014/main" id="{A4E5A814-829D-0A4E-86C6-6024EE0E0BF1}"/>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07646AC0-0704-9946-99EE-15CE856FDD35}"/>
              </a:ext>
            </a:extLst>
          </p:cNvPr>
          <p:cNvSpPr>
            <a:spLocks noGrp="1" noChangeArrowheads="1"/>
          </p:cNvSpPr>
          <p:nvPr>
            <p:ph type="body" idx="1"/>
          </p:nvPr>
        </p:nvSpPr>
        <p:spPr>
          <a:noFill/>
        </p:spPr>
        <p:txBody>
          <a:bodyPr/>
          <a:lstStyle/>
          <a:p>
            <a:endParaRPr lang="en-IL" altLang="en-IL"/>
          </a:p>
        </p:txBody>
      </p:sp>
    </p:spTree>
    <p:extLst>
      <p:ext uri="{BB962C8B-B14F-4D97-AF65-F5344CB8AC3E}">
        <p14:creationId xmlns:p14="http://schemas.microsoft.com/office/powerpoint/2010/main" val="22345597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863BE904-C2D6-AD48-82CD-0A04BB463602}"/>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30A4611F-B8C6-2245-8776-50D7EFD617F4}" type="slidenum">
              <a:rPr lang="en-US" altLang="en-GB" sz="1200"/>
              <a:pPr/>
              <a:t>33</a:t>
            </a:fld>
            <a:endParaRPr lang="en-US" altLang="en-GB" sz="1200"/>
          </a:p>
        </p:txBody>
      </p:sp>
      <p:sp>
        <p:nvSpPr>
          <p:cNvPr id="39939" name="Rectangle 2">
            <a:extLst>
              <a:ext uri="{FF2B5EF4-FFF2-40B4-BE49-F238E27FC236}">
                <a16:creationId xmlns:a16="http://schemas.microsoft.com/office/drawing/2014/main" id="{A4E5A814-829D-0A4E-86C6-6024EE0E0BF1}"/>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07646AC0-0704-9946-99EE-15CE856FDD35}"/>
              </a:ext>
            </a:extLst>
          </p:cNvPr>
          <p:cNvSpPr>
            <a:spLocks noGrp="1" noChangeArrowheads="1"/>
          </p:cNvSpPr>
          <p:nvPr>
            <p:ph type="body" idx="1"/>
          </p:nvPr>
        </p:nvSpPr>
        <p:spPr>
          <a:noFill/>
        </p:spPr>
        <p:txBody>
          <a:bodyPr/>
          <a:lstStyle/>
          <a:p>
            <a:endParaRPr lang="en-IL" altLang="en-IL"/>
          </a:p>
        </p:txBody>
      </p:sp>
    </p:spTree>
    <p:extLst>
      <p:ext uri="{BB962C8B-B14F-4D97-AF65-F5344CB8AC3E}">
        <p14:creationId xmlns:p14="http://schemas.microsoft.com/office/powerpoint/2010/main" val="9441802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863BE904-C2D6-AD48-82CD-0A04BB463602}"/>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30A4611F-B8C6-2245-8776-50D7EFD617F4}" type="slidenum">
              <a:rPr lang="en-US" altLang="en-GB" sz="1200"/>
              <a:pPr/>
              <a:t>34</a:t>
            </a:fld>
            <a:endParaRPr lang="en-US" altLang="en-GB" sz="1200"/>
          </a:p>
        </p:txBody>
      </p:sp>
      <p:sp>
        <p:nvSpPr>
          <p:cNvPr id="39939" name="Rectangle 2">
            <a:extLst>
              <a:ext uri="{FF2B5EF4-FFF2-40B4-BE49-F238E27FC236}">
                <a16:creationId xmlns:a16="http://schemas.microsoft.com/office/drawing/2014/main" id="{A4E5A814-829D-0A4E-86C6-6024EE0E0BF1}"/>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07646AC0-0704-9946-99EE-15CE856FDD35}"/>
              </a:ext>
            </a:extLst>
          </p:cNvPr>
          <p:cNvSpPr>
            <a:spLocks noGrp="1" noChangeArrowheads="1"/>
          </p:cNvSpPr>
          <p:nvPr>
            <p:ph type="body" idx="1"/>
          </p:nvPr>
        </p:nvSpPr>
        <p:spPr>
          <a:noFill/>
        </p:spPr>
        <p:txBody>
          <a:bodyPr/>
          <a:lstStyle/>
          <a:p>
            <a:endParaRPr lang="en-IL" altLang="en-IL"/>
          </a:p>
        </p:txBody>
      </p:sp>
    </p:spTree>
    <p:extLst>
      <p:ext uri="{BB962C8B-B14F-4D97-AF65-F5344CB8AC3E}">
        <p14:creationId xmlns:p14="http://schemas.microsoft.com/office/powerpoint/2010/main" val="17885658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863BE904-C2D6-AD48-82CD-0A04BB463602}"/>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30A4611F-B8C6-2245-8776-50D7EFD617F4}" type="slidenum">
              <a:rPr lang="en-US" altLang="en-GB" sz="1200"/>
              <a:pPr/>
              <a:t>35</a:t>
            </a:fld>
            <a:endParaRPr lang="en-US" altLang="en-GB" sz="1200"/>
          </a:p>
        </p:txBody>
      </p:sp>
      <p:sp>
        <p:nvSpPr>
          <p:cNvPr id="39939" name="Rectangle 2">
            <a:extLst>
              <a:ext uri="{FF2B5EF4-FFF2-40B4-BE49-F238E27FC236}">
                <a16:creationId xmlns:a16="http://schemas.microsoft.com/office/drawing/2014/main" id="{A4E5A814-829D-0A4E-86C6-6024EE0E0BF1}"/>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07646AC0-0704-9946-99EE-15CE856FDD35}"/>
              </a:ext>
            </a:extLst>
          </p:cNvPr>
          <p:cNvSpPr>
            <a:spLocks noGrp="1" noChangeArrowheads="1"/>
          </p:cNvSpPr>
          <p:nvPr>
            <p:ph type="body" idx="1"/>
          </p:nvPr>
        </p:nvSpPr>
        <p:spPr>
          <a:noFill/>
        </p:spPr>
        <p:txBody>
          <a:bodyPr/>
          <a:lstStyle/>
          <a:p>
            <a:endParaRPr lang="en-IL" altLang="en-IL"/>
          </a:p>
        </p:txBody>
      </p:sp>
    </p:spTree>
    <p:extLst>
      <p:ext uri="{BB962C8B-B14F-4D97-AF65-F5344CB8AC3E}">
        <p14:creationId xmlns:p14="http://schemas.microsoft.com/office/powerpoint/2010/main" val="18442460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863BE904-C2D6-AD48-82CD-0A04BB463602}"/>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30A4611F-B8C6-2245-8776-50D7EFD617F4}" type="slidenum">
              <a:rPr lang="en-US" altLang="en-GB" sz="1200"/>
              <a:pPr/>
              <a:t>36</a:t>
            </a:fld>
            <a:endParaRPr lang="en-US" altLang="en-GB" sz="1200"/>
          </a:p>
        </p:txBody>
      </p:sp>
      <p:sp>
        <p:nvSpPr>
          <p:cNvPr id="39939" name="Rectangle 2">
            <a:extLst>
              <a:ext uri="{FF2B5EF4-FFF2-40B4-BE49-F238E27FC236}">
                <a16:creationId xmlns:a16="http://schemas.microsoft.com/office/drawing/2014/main" id="{A4E5A814-829D-0A4E-86C6-6024EE0E0BF1}"/>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07646AC0-0704-9946-99EE-15CE856FDD35}"/>
              </a:ext>
            </a:extLst>
          </p:cNvPr>
          <p:cNvSpPr>
            <a:spLocks noGrp="1" noChangeArrowheads="1"/>
          </p:cNvSpPr>
          <p:nvPr>
            <p:ph type="body" idx="1"/>
          </p:nvPr>
        </p:nvSpPr>
        <p:spPr>
          <a:noFill/>
        </p:spPr>
        <p:txBody>
          <a:bodyPr/>
          <a:lstStyle/>
          <a:p>
            <a:endParaRPr lang="en-IL" altLang="en-IL"/>
          </a:p>
        </p:txBody>
      </p:sp>
    </p:spTree>
    <p:extLst>
      <p:ext uri="{BB962C8B-B14F-4D97-AF65-F5344CB8AC3E}">
        <p14:creationId xmlns:p14="http://schemas.microsoft.com/office/powerpoint/2010/main" val="34174624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863BE904-C2D6-AD48-82CD-0A04BB463602}"/>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30A4611F-B8C6-2245-8776-50D7EFD617F4}" type="slidenum">
              <a:rPr lang="en-US" altLang="en-GB" sz="1200"/>
              <a:pPr/>
              <a:t>37</a:t>
            </a:fld>
            <a:endParaRPr lang="en-US" altLang="en-GB" sz="1200"/>
          </a:p>
        </p:txBody>
      </p:sp>
      <p:sp>
        <p:nvSpPr>
          <p:cNvPr id="39939" name="Rectangle 2">
            <a:extLst>
              <a:ext uri="{FF2B5EF4-FFF2-40B4-BE49-F238E27FC236}">
                <a16:creationId xmlns:a16="http://schemas.microsoft.com/office/drawing/2014/main" id="{A4E5A814-829D-0A4E-86C6-6024EE0E0BF1}"/>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07646AC0-0704-9946-99EE-15CE856FDD35}"/>
              </a:ext>
            </a:extLst>
          </p:cNvPr>
          <p:cNvSpPr>
            <a:spLocks noGrp="1" noChangeArrowheads="1"/>
          </p:cNvSpPr>
          <p:nvPr>
            <p:ph type="body" idx="1"/>
          </p:nvPr>
        </p:nvSpPr>
        <p:spPr>
          <a:noFill/>
        </p:spPr>
        <p:txBody>
          <a:bodyPr/>
          <a:lstStyle/>
          <a:p>
            <a:endParaRPr lang="en-IL" altLang="en-IL"/>
          </a:p>
        </p:txBody>
      </p:sp>
    </p:spTree>
    <p:extLst>
      <p:ext uri="{BB962C8B-B14F-4D97-AF65-F5344CB8AC3E}">
        <p14:creationId xmlns:p14="http://schemas.microsoft.com/office/powerpoint/2010/main" val="40572658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863BE904-C2D6-AD48-82CD-0A04BB463602}"/>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30A4611F-B8C6-2245-8776-50D7EFD617F4}" type="slidenum">
              <a:rPr lang="en-US" altLang="en-GB" sz="1200"/>
              <a:pPr/>
              <a:t>38</a:t>
            </a:fld>
            <a:endParaRPr lang="en-US" altLang="en-GB" sz="1200"/>
          </a:p>
        </p:txBody>
      </p:sp>
      <p:sp>
        <p:nvSpPr>
          <p:cNvPr id="39939" name="Rectangle 2">
            <a:extLst>
              <a:ext uri="{FF2B5EF4-FFF2-40B4-BE49-F238E27FC236}">
                <a16:creationId xmlns:a16="http://schemas.microsoft.com/office/drawing/2014/main" id="{A4E5A814-829D-0A4E-86C6-6024EE0E0BF1}"/>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07646AC0-0704-9946-99EE-15CE856FDD35}"/>
              </a:ext>
            </a:extLst>
          </p:cNvPr>
          <p:cNvSpPr>
            <a:spLocks noGrp="1" noChangeArrowheads="1"/>
          </p:cNvSpPr>
          <p:nvPr>
            <p:ph type="body" idx="1"/>
          </p:nvPr>
        </p:nvSpPr>
        <p:spPr>
          <a:noFill/>
        </p:spPr>
        <p:txBody>
          <a:bodyPr/>
          <a:lstStyle/>
          <a:p>
            <a:endParaRPr lang="en-IL" altLang="en-IL" dirty="0"/>
          </a:p>
        </p:txBody>
      </p:sp>
    </p:spTree>
    <p:extLst>
      <p:ext uri="{BB962C8B-B14F-4D97-AF65-F5344CB8AC3E}">
        <p14:creationId xmlns:p14="http://schemas.microsoft.com/office/powerpoint/2010/main" val="30252678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863BE904-C2D6-AD48-82CD-0A04BB463602}"/>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30A4611F-B8C6-2245-8776-50D7EFD617F4}" type="slidenum">
              <a:rPr lang="en-US" altLang="en-GB" sz="1200"/>
              <a:pPr/>
              <a:t>39</a:t>
            </a:fld>
            <a:endParaRPr lang="en-US" altLang="en-GB" sz="1200"/>
          </a:p>
        </p:txBody>
      </p:sp>
      <p:sp>
        <p:nvSpPr>
          <p:cNvPr id="39939" name="Rectangle 2">
            <a:extLst>
              <a:ext uri="{FF2B5EF4-FFF2-40B4-BE49-F238E27FC236}">
                <a16:creationId xmlns:a16="http://schemas.microsoft.com/office/drawing/2014/main" id="{A4E5A814-829D-0A4E-86C6-6024EE0E0BF1}"/>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07646AC0-0704-9946-99EE-15CE856FDD35}"/>
              </a:ext>
            </a:extLst>
          </p:cNvPr>
          <p:cNvSpPr>
            <a:spLocks noGrp="1" noChangeArrowheads="1"/>
          </p:cNvSpPr>
          <p:nvPr>
            <p:ph type="body" idx="1"/>
          </p:nvPr>
        </p:nvSpPr>
        <p:spPr>
          <a:noFill/>
        </p:spPr>
        <p:txBody>
          <a:bodyPr/>
          <a:lstStyle/>
          <a:p>
            <a:endParaRPr lang="en-IL" altLang="en-IL"/>
          </a:p>
        </p:txBody>
      </p:sp>
    </p:spTree>
    <p:extLst>
      <p:ext uri="{BB962C8B-B14F-4D97-AF65-F5344CB8AC3E}">
        <p14:creationId xmlns:p14="http://schemas.microsoft.com/office/powerpoint/2010/main" val="4274088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863BE904-C2D6-AD48-82CD-0A04BB463602}"/>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30A4611F-B8C6-2245-8776-50D7EFD617F4}" type="slidenum">
              <a:rPr lang="en-US" altLang="en-GB" sz="1200"/>
              <a:pPr/>
              <a:t>40</a:t>
            </a:fld>
            <a:endParaRPr lang="en-US" altLang="en-GB" sz="1200"/>
          </a:p>
        </p:txBody>
      </p:sp>
      <p:sp>
        <p:nvSpPr>
          <p:cNvPr id="39939" name="Rectangle 2">
            <a:extLst>
              <a:ext uri="{FF2B5EF4-FFF2-40B4-BE49-F238E27FC236}">
                <a16:creationId xmlns:a16="http://schemas.microsoft.com/office/drawing/2014/main" id="{A4E5A814-829D-0A4E-86C6-6024EE0E0BF1}"/>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07646AC0-0704-9946-99EE-15CE856FDD35}"/>
              </a:ext>
            </a:extLst>
          </p:cNvPr>
          <p:cNvSpPr>
            <a:spLocks noGrp="1" noChangeArrowheads="1"/>
          </p:cNvSpPr>
          <p:nvPr>
            <p:ph type="body" idx="1"/>
          </p:nvPr>
        </p:nvSpPr>
        <p:spPr>
          <a:noFill/>
        </p:spPr>
        <p:txBody>
          <a:bodyPr/>
          <a:lstStyle/>
          <a:p>
            <a:endParaRPr lang="en-IL" altLang="en-IL"/>
          </a:p>
        </p:txBody>
      </p:sp>
    </p:spTree>
    <p:extLst>
      <p:ext uri="{BB962C8B-B14F-4D97-AF65-F5344CB8AC3E}">
        <p14:creationId xmlns:p14="http://schemas.microsoft.com/office/powerpoint/2010/main" val="253241512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863BE904-C2D6-AD48-82CD-0A04BB463602}"/>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30A4611F-B8C6-2245-8776-50D7EFD617F4}" type="slidenum">
              <a:rPr lang="en-US" altLang="en-GB" sz="1200"/>
              <a:pPr/>
              <a:t>41</a:t>
            </a:fld>
            <a:endParaRPr lang="en-US" altLang="en-GB" sz="1200"/>
          </a:p>
        </p:txBody>
      </p:sp>
      <p:sp>
        <p:nvSpPr>
          <p:cNvPr id="39939" name="Rectangle 2">
            <a:extLst>
              <a:ext uri="{FF2B5EF4-FFF2-40B4-BE49-F238E27FC236}">
                <a16:creationId xmlns:a16="http://schemas.microsoft.com/office/drawing/2014/main" id="{A4E5A814-829D-0A4E-86C6-6024EE0E0BF1}"/>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07646AC0-0704-9946-99EE-15CE856FDD35}"/>
              </a:ext>
            </a:extLst>
          </p:cNvPr>
          <p:cNvSpPr>
            <a:spLocks noGrp="1" noChangeArrowheads="1"/>
          </p:cNvSpPr>
          <p:nvPr>
            <p:ph type="body" idx="1"/>
          </p:nvPr>
        </p:nvSpPr>
        <p:spPr>
          <a:noFill/>
        </p:spPr>
        <p:txBody>
          <a:bodyPr/>
          <a:lstStyle/>
          <a:p>
            <a:endParaRPr lang="en-IL" altLang="en-IL"/>
          </a:p>
        </p:txBody>
      </p:sp>
    </p:spTree>
    <p:extLst>
      <p:ext uri="{BB962C8B-B14F-4D97-AF65-F5344CB8AC3E}">
        <p14:creationId xmlns:p14="http://schemas.microsoft.com/office/powerpoint/2010/main" val="39800501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863BE904-C2D6-AD48-82CD-0A04BB463602}"/>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30A4611F-B8C6-2245-8776-50D7EFD617F4}" type="slidenum">
              <a:rPr lang="en-US" altLang="en-GB" sz="1200"/>
              <a:pPr/>
              <a:t>42</a:t>
            </a:fld>
            <a:endParaRPr lang="en-US" altLang="en-GB" sz="1200"/>
          </a:p>
        </p:txBody>
      </p:sp>
      <p:sp>
        <p:nvSpPr>
          <p:cNvPr id="39939" name="Rectangle 2">
            <a:extLst>
              <a:ext uri="{FF2B5EF4-FFF2-40B4-BE49-F238E27FC236}">
                <a16:creationId xmlns:a16="http://schemas.microsoft.com/office/drawing/2014/main" id="{A4E5A814-829D-0A4E-86C6-6024EE0E0BF1}"/>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07646AC0-0704-9946-99EE-15CE856FDD35}"/>
              </a:ext>
            </a:extLst>
          </p:cNvPr>
          <p:cNvSpPr>
            <a:spLocks noGrp="1" noChangeArrowheads="1"/>
          </p:cNvSpPr>
          <p:nvPr>
            <p:ph type="body" idx="1"/>
          </p:nvPr>
        </p:nvSpPr>
        <p:spPr>
          <a:noFill/>
        </p:spPr>
        <p:txBody>
          <a:bodyPr/>
          <a:lstStyle/>
          <a:p>
            <a:endParaRPr lang="en-IL" altLang="en-IL"/>
          </a:p>
        </p:txBody>
      </p:sp>
    </p:spTree>
    <p:extLst>
      <p:ext uri="{BB962C8B-B14F-4D97-AF65-F5344CB8AC3E}">
        <p14:creationId xmlns:p14="http://schemas.microsoft.com/office/powerpoint/2010/main" val="176613863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863BE904-C2D6-AD48-82CD-0A04BB463602}"/>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30A4611F-B8C6-2245-8776-50D7EFD617F4}" type="slidenum">
              <a:rPr lang="en-US" altLang="en-GB" sz="1200"/>
              <a:pPr/>
              <a:t>43</a:t>
            </a:fld>
            <a:endParaRPr lang="en-US" altLang="en-GB" sz="1200"/>
          </a:p>
        </p:txBody>
      </p:sp>
      <p:sp>
        <p:nvSpPr>
          <p:cNvPr id="39939" name="Rectangle 2">
            <a:extLst>
              <a:ext uri="{FF2B5EF4-FFF2-40B4-BE49-F238E27FC236}">
                <a16:creationId xmlns:a16="http://schemas.microsoft.com/office/drawing/2014/main" id="{A4E5A814-829D-0A4E-86C6-6024EE0E0BF1}"/>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07646AC0-0704-9946-99EE-15CE856FDD35}"/>
              </a:ext>
            </a:extLst>
          </p:cNvPr>
          <p:cNvSpPr>
            <a:spLocks noGrp="1" noChangeArrowheads="1"/>
          </p:cNvSpPr>
          <p:nvPr>
            <p:ph type="body" idx="1"/>
          </p:nvPr>
        </p:nvSpPr>
        <p:spPr>
          <a:noFill/>
        </p:spPr>
        <p:txBody>
          <a:bodyPr/>
          <a:lstStyle/>
          <a:p>
            <a:endParaRPr lang="en-IL" altLang="en-IL"/>
          </a:p>
        </p:txBody>
      </p:sp>
    </p:spTree>
    <p:extLst>
      <p:ext uri="{BB962C8B-B14F-4D97-AF65-F5344CB8AC3E}">
        <p14:creationId xmlns:p14="http://schemas.microsoft.com/office/powerpoint/2010/main" val="197722020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863BE904-C2D6-AD48-82CD-0A04BB463602}"/>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30A4611F-B8C6-2245-8776-50D7EFD617F4}" type="slidenum">
              <a:rPr lang="en-US" altLang="en-GB" sz="1200"/>
              <a:pPr/>
              <a:t>44</a:t>
            </a:fld>
            <a:endParaRPr lang="en-US" altLang="en-GB" sz="1200"/>
          </a:p>
        </p:txBody>
      </p:sp>
      <p:sp>
        <p:nvSpPr>
          <p:cNvPr id="39939" name="Rectangle 2">
            <a:extLst>
              <a:ext uri="{FF2B5EF4-FFF2-40B4-BE49-F238E27FC236}">
                <a16:creationId xmlns:a16="http://schemas.microsoft.com/office/drawing/2014/main" id="{A4E5A814-829D-0A4E-86C6-6024EE0E0BF1}"/>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07646AC0-0704-9946-99EE-15CE856FDD35}"/>
              </a:ext>
            </a:extLst>
          </p:cNvPr>
          <p:cNvSpPr>
            <a:spLocks noGrp="1" noChangeArrowheads="1"/>
          </p:cNvSpPr>
          <p:nvPr>
            <p:ph type="body" idx="1"/>
          </p:nvPr>
        </p:nvSpPr>
        <p:spPr>
          <a:noFill/>
        </p:spPr>
        <p:txBody>
          <a:bodyPr/>
          <a:lstStyle/>
          <a:p>
            <a:endParaRPr lang="en-IL" altLang="en-IL"/>
          </a:p>
        </p:txBody>
      </p:sp>
    </p:spTree>
    <p:extLst>
      <p:ext uri="{BB962C8B-B14F-4D97-AF65-F5344CB8AC3E}">
        <p14:creationId xmlns:p14="http://schemas.microsoft.com/office/powerpoint/2010/main" val="11526467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553BB-FAA3-46ED-8326-AD7EE26F78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06B615E8-3C95-4096-8039-02C1046EA5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95CE2517-A02E-4027-BA2C-117CE149DB30}"/>
              </a:ext>
            </a:extLst>
          </p:cNvPr>
          <p:cNvSpPr>
            <a:spLocks noGrp="1"/>
          </p:cNvSpPr>
          <p:nvPr>
            <p:ph type="dt" sz="half" idx="10"/>
          </p:nvPr>
        </p:nvSpPr>
        <p:spPr/>
        <p:txBody>
          <a:bodyPr/>
          <a:lstStyle/>
          <a:p>
            <a:endParaRPr lang="en-IL"/>
          </a:p>
        </p:txBody>
      </p:sp>
      <p:sp>
        <p:nvSpPr>
          <p:cNvPr id="5" name="Footer Placeholder 4">
            <a:extLst>
              <a:ext uri="{FF2B5EF4-FFF2-40B4-BE49-F238E27FC236}">
                <a16:creationId xmlns:a16="http://schemas.microsoft.com/office/drawing/2014/main" id="{C6E5C8B8-C77F-4E96-831A-FC160B4AF490}"/>
              </a:ext>
            </a:extLst>
          </p:cNvPr>
          <p:cNvSpPr>
            <a:spLocks noGrp="1"/>
          </p:cNvSpPr>
          <p:nvPr>
            <p:ph type="ftr" sz="quarter" idx="11"/>
          </p:nvPr>
        </p:nvSpPr>
        <p:spPr/>
        <p:txBody>
          <a:bodyPr/>
          <a:lstStyle/>
          <a:p>
            <a:r>
              <a:rPr lang="en-US"/>
              <a:t>Or Peretz</a:t>
            </a:r>
            <a:endParaRPr lang="en-IL"/>
          </a:p>
        </p:txBody>
      </p:sp>
      <p:sp>
        <p:nvSpPr>
          <p:cNvPr id="6" name="Slide Number Placeholder 5">
            <a:extLst>
              <a:ext uri="{FF2B5EF4-FFF2-40B4-BE49-F238E27FC236}">
                <a16:creationId xmlns:a16="http://schemas.microsoft.com/office/drawing/2014/main" id="{6A7E7471-5067-4CA0-9D60-D86D047E9514}"/>
              </a:ext>
            </a:extLst>
          </p:cNvPr>
          <p:cNvSpPr>
            <a:spLocks noGrp="1"/>
          </p:cNvSpPr>
          <p:nvPr>
            <p:ph type="sldNum" sz="quarter" idx="12"/>
          </p:nvPr>
        </p:nvSpPr>
        <p:spPr/>
        <p:txBody>
          <a:bodyPr/>
          <a:lstStyle>
            <a:lvl1pPr>
              <a:defRPr sz="1800"/>
            </a:lvl1pPr>
          </a:lstStyle>
          <a:p>
            <a:fld id="{B62643F8-DFCD-4B5F-9519-933435FA18FB}" type="slidenum">
              <a:rPr lang="en-IL" smtClean="0"/>
              <a:pPr/>
              <a:t>‹#›</a:t>
            </a:fld>
            <a:endParaRPr lang="en-IL" dirty="0"/>
          </a:p>
        </p:txBody>
      </p:sp>
    </p:spTree>
    <p:extLst>
      <p:ext uri="{BB962C8B-B14F-4D97-AF65-F5344CB8AC3E}">
        <p14:creationId xmlns:p14="http://schemas.microsoft.com/office/powerpoint/2010/main" val="272014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8257D3F8-87F0-4DF5-8F98-66DFD99EE7B2}"/>
              </a:ext>
            </a:extLst>
          </p:cNvPr>
          <p:cNvSpPr>
            <a:spLocks noGrp="1"/>
          </p:cNvSpPr>
          <p:nvPr>
            <p:ph idx="1"/>
          </p:nvPr>
        </p:nvSpPr>
        <p:spPr>
          <a:xfrm>
            <a:off x="838200" y="583474"/>
            <a:ext cx="10515600" cy="5593489"/>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L" dirty="0"/>
          </a:p>
        </p:txBody>
      </p:sp>
      <p:sp>
        <p:nvSpPr>
          <p:cNvPr id="13" name="Date Placeholder 3">
            <a:extLst>
              <a:ext uri="{FF2B5EF4-FFF2-40B4-BE49-F238E27FC236}">
                <a16:creationId xmlns:a16="http://schemas.microsoft.com/office/drawing/2014/main" id="{BCDE1D59-793A-43B8-B383-259A90AD5274}"/>
              </a:ext>
            </a:extLst>
          </p:cNvPr>
          <p:cNvSpPr>
            <a:spLocks noGrp="1"/>
          </p:cNvSpPr>
          <p:nvPr>
            <p:ph type="dt" sz="half" idx="10"/>
          </p:nvPr>
        </p:nvSpPr>
        <p:spPr>
          <a:xfrm>
            <a:off x="838200" y="6356350"/>
            <a:ext cx="2743200" cy="365125"/>
          </a:xfrm>
        </p:spPr>
        <p:txBody>
          <a:bodyPr/>
          <a:lstStyle/>
          <a:p>
            <a:endParaRPr lang="en-IL"/>
          </a:p>
        </p:txBody>
      </p:sp>
      <p:sp>
        <p:nvSpPr>
          <p:cNvPr id="14" name="Footer Placeholder 4">
            <a:extLst>
              <a:ext uri="{FF2B5EF4-FFF2-40B4-BE49-F238E27FC236}">
                <a16:creationId xmlns:a16="http://schemas.microsoft.com/office/drawing/2014/main" id="{AA69F713-2159-4167-B614-5042E8DE4D6E}"/>
              </a:ext>
            </a:extLst>
          </p:cNvPr>
          <p:cNvSpPr>
            <a:spLocks noGrp="1"/>
          </p:cNvSpPr>
          <p:nvPr>
            <p:ph type="ftr" sz="quarter" idx="11"/>
          </p:nvPr>
        </p:nvSpPr>
        <p:spPr>
          <a:xfrm>
            <a:off x="4038600" y="6356350"/>
            <a:ext cx="4114800" cy="365125"/>
          </a:xfrm>
        </p:spPr>
        <p:txBody>
          <a:bodyPr/>
          <a:lstStyle/>
          <a:p>
            <a:r>
              <a:rPr lang="en-US"/>
              <a:t>Or Peretz</a:t>
            </a:r>
            <a:endParaRPr lang="en-IL"/>
          </a:p>
        </p:txBody>
      </p:sp>
      <p:sp>
        <p:nvSpPr>
          <p:cNvPr id="15" name="Slide Number Placeholder 5">
            <a:extLst>
              <a:ext uri="{FF2B5EF4-FFF2-40B4-BE49-F238E27FC236}">
                <a16:creationId xmlns:a16="http://schemas.microsoft.com/office/drawing/2014/main" id="{5F40A595-FC21-4942-AC1C-EC8D0EE8F289}"/>
              </a:ext>
            </a:extLst>
          </p:cNvPr>
          <p:cNvSpPr>
            <a:spLocks noGrp="1"/>
          </p:cNvSpPr>
          <p:nvPr>
            <p:ph type="sldNum" sz="quarter" idx="12"/>
          </p:nvPr>
        </p:nvSpPr>
        <p:spPr>
          <a:xfrm>
            <a:off x="8610600" y="6356350"/>
            <a:ext cx="2743200" cy="365125"/>
          </a:xfrm>
        </p:spPr>
        <p:txBody>
          <a:bodyPr/>
          <a:lstStyle>
            <a:lvl1pPr>
              <a:defRPr sz="1800"/>
            </a:lvl1pPr>
          </a:lstStyle>
          <a:p>
            <a:fld id="{C9D69B18-316A-457F-86C2-CFE4F951EE27}" type="slidenum">
              <a:rPr lang="en-IL" smtClean="0"/>
              <a:pPr/>
              <a:t>‹#›</a:t>
            </a:fld>
            <a:endParaRPr lang="en-IL" dirty="0"/>
          </a:p>
        </p:txBody>
      </p:sp>
    </p:spTree>
    <p:extLst>
      <p:ext uri="{BB962C8B-B14F-4D97-AF65-F5344CB8AC3E}">
        <p14:creationId xmlns:p14="http://schemas.microsoft.com/office/powerpoint/2010/main" val="3395765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tmplLst>
          <p:tmpl lvl="1">
            <p:tnLst>
              <p:par>
                <p:cTn presetID="1" presetClass="entr" presetSubtype="0" fill="hold" nodeType="with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6DB71-F16A-411E-A1F0-229842FF42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55FEC0A3-903B-4C81-96AA-FA5FE787958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621F274-0FDC-4FF1-AD1D-E33CBC0B8BE3}"/>
              </a:ext>
            </a:extLst>
          </p:cNvPr>
          <p:cNvSpPr>
            <a:spLocks noGrp="1"/>
          </p:cNvSpPr>
          <p:nvPr>
            <p:ph type="dt" sz="half" idx="10"/>
          </p:nvPr>
        </p:nvSpPr>
        <p:spPr/>
        <p:txBody>
          <a:bodyPr/>
          <a:lstStyle/>
          <a:p>
            <a:endParaRPr lang="en-IL"/>
          </a:p>
        </p:txBody>
      </p:sp>
      <p:sp>
        <p:nvSpPr>
          <p:cNvPr id="5" name="Footer Placeholder 4">
            <a:extLst>
              <a:ext uri="{FF2B5EF4-FFF2-40B4-BE49-F238E27FC236}">
                <a16:creationId xmlns:a16="http://schemas.microsoft.com/office/drawing/2014/main" id="{C5317186-B90F-456C-A210-0CD662FC94AE}"/>
              </a:ext>
            </a:extLst>
          </p:cNvPr>
          <p:cNvSpPr>
            <a:spLocks noGrp="1"/>
          </p:cNvSpPr>
          <p:nvPr>
            <p:ph type="ftr" sz="quarter" idx="11"/>
          </p:nvPr>
        </p:nvSpPr>
        <p:spPr/>
        <p:txBody>
          <a:bodyPr/>
          <a:lstStyle/>
          <a:p>
            <a:r>
              <a:rPr lang="en-US"/>
              <a:t>Or Peretz</a:t>
            </a:r>
            <a:endParaRPr lang="en-IL"/>
          </a:p>
        </p:txBody>
      </p:sp>
      <p:sp>
        <p:nvSpPr>
          <p:cNvPr id="6" name="Slide Number Placeholder 5">
            <a:extLst>
              <a:ext uri="{FF2B5EF4-FFF2-40B4-BE49-F238E27FC236}">
                <a16:creationId xmlns:a16="http://schemas.microsoft.com/office/drawing/2014/main" id="{44DCF8B6-F957-4C26-89F8-62EE0895ACBC}"/>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3999782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BCB62-2976-4F72-B0D1-D7D5CC8DFE10}"/>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0E570335-BA28-442F-B929-834D11AFBB7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443D0261-93E1-42EC-B45C-7A9C69E6DB7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8ED1B8B7-4BAF-485E-8E14-0A3937A2E61B}"/>
              </a:ext>
            </a:extLst>
          </p:cNvPr>
          <p:cNvSpPr>
            <a:spLocks noGrp="1"/>
          </p:cNvSpPr>
          <p:nvPr>
            <p:ph type="dt" sz="half" idx="10"/>
          </p:nvPr>
        </p:nvSpPr>
        <p:spPr/>
        <p:txBody>
          <a:bodyPr/>
          <a:lstStyle/>
          <a:p>
            <a:endParaRPr lang="en-IL"/>
          </a:p>
        </p:txBody>
      </p:sp>
      <p:sp>
        <p:nvSpPr>
          <p:cNvPr id="6" name="Footer Placeholder 5">
            <a:extLst>
              <a:ext uri="{FF2B5EF4-FFF2-40B4-BE49-F238E27FC236}">
                <a16:creationId xmlns:a16="http://schemas.microsoft.com/office/drawing/2014/main" id="{5FD101D7-C282-4291-A047-A469118DB9AC}"/>
              </a:ext>
            </a:extLst>
          </p:cNvPr>
          <p:cNvSpPr>
            <a:spLocks noGrp="1"/>
          </p:cNvSpPr>
          <p:nvPr>
            <p:ph type="ftr" sz="quarter" idx="11"/>
          </p:nvPr>
        </p:nvSpPr>
        <p:spPr/>
        <p:txBody>
          <a:bodyPr/>
          <a:lstStyle/>
          <a:p>
            <a:r>
              <a:rPr lang="en-US"/>
              <a:t>Or Peretz</a:t>
            </a:r>
            <a:endParaRPr lang="en-IL"/>
          </a:p>
        </p:txBody>
      </p:sp>
      <p:sp>
        <p:nvSpPr>
          <p:cNvPr id="7" name="Slide Number Placeholder 6">
            <a:extLst>
              <a:ext uri="{FF2B5EF4-FFF2-40B4-BE49-F238E27FC236}">
                <a16:creationId xmlns:a16="http://schemas.microsoft.com/office/drawing/2014/main" id="{54E3ACF7-1919-4005-8D18-C065FE37BAF5}"/>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1158286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25D40-5A05-454B-BF8D-2ADD226269A0}"/>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F1CDEE7E-1856-4D6C-95E1-B25F3B5CF8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B6B7349D-B192-40B0-A682-C3914DCE58B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0C86D532-BD26-45AE-91E7-2BCEE71DE7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F139C4E2-6DDF-4BCE-9E96-2FEA03A91951}"/>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F371B11A-C4F8-4F85-A0D5-34A703DD1683}"/>
              </a:ext>
            </a:extLst>
          </p:cNvPr>
          <p:cNvSpPr>
            <a:spLocks noGrp="1"/>
          </p:cNvSpPr>
          <p:nvPr>
            <p:ph type="dt" sz="half" idx="10"/>
          </p:nvPr>
        </p:nvSpPr>
        <p:spPr/>
        <p:txBody>
          <a:bodyPr/>
          <a:lstStyle/>
          <a:p>
            <a:endParaRPr lang="en-IL"/>
          </a:p>
        </p:txBody>
      </p:sp>
      <p:sp>
        <p:nvSpPr>
          <p:cNvPr id="8" name="Footer Placeholder 7">
            <a:extLst>
              <a:ext uri="{FF2B5EF4-FFF2-40B4-BE49-F238E27FC236}">
                <a16:creationId xmlns:a16="http://schemas.microsoft.com/office/drawing/2014/main" id="{3CF8E969-DC51-428E-A40E-10E237847C2B}"/>
              </a:ext>
            </a:extLst>
          </p:cNvPr>
          <p:cNvSpPr>
            <a:spLocks noGrp="1"/>
          </p:cNvSpPr>
          <p:nvPr>
            <p:ph type="ftr" sz="quarter" idx="11"/>
          </p:nvPr>
        </p:nvSpPr>
        <p:spPr/>
        <p:txBody>
          <a:bodyPr/>
          <a:lstStyle/>
          <a:p>
            <a:r>
              <a:rPr lang="en-US"/>
              <a:t>Or Peretz</a:t>
            </a:r>
            <a:endParaRPr lang="en-IL"/>
          </a:p>
        </p:txBody>
      </p:sp>
      <p:sp>
        <p:nvSpPr>
          <p:cNvPr id="9" name="Slide Number Placeholder 8">
            <a:extLst>
              <a:ext uri="{FF2B5EF4-FFF2-40B4-BE49-F238E27FC236}">
                <a16:creationId xmlns:a16="http://schemas.microsoft.com/office/drawing/2014/main" id="{3AF4C0B3-7D21-431B-8C06-6364026C9DAB}"/>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17300049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CF8A9-2FB1-463C-A055-7D8DEF623488}"/>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D4834B02-6F21-4BD3-9253-024380CFAB64}"/>
              </a:ext>
            </a:extLst>
          </p:cNvPr>
          <p:cNvSpPr>
            <a:spLocks noGrp="1"/>
          </p:cNvSpPr>
          <p:nvPr>
            <p:ph type="dt" sz="half" idx="10"/>
          </p:nvPr>
        </p:nvSpPr>
        <p:spPr/>
        <p:txBody>
          <a:bodyPr/>
          <a:lstStyle/>
          <a:p>
            <a:endParaRPr lang="en-IL"/>
          </a:p>
        </p:txBody>
      </p:sp>
      <p:sp>
        <p:nvSpPr>
          <p:cNvPr id="4" name="Footer Placeholder 3">
            <a:extLst>
              <a:ext uri="{FF2B5EF4-FFF2-40B4-BE49-F238E27FC236}">
                <a16:creationId xmlns:a16="http://schemas.microsoft.com/office/drawing/2014/main" id="{6E6109D8-60DE-4EAE-9FA4-4743AF1B53C8}"/>
              </a:ext>
            </a:extLst>
          </p:cNvPr>
          <p:cNvSpPr>
            <a:spLocks noGrp="1"/>
          </p:cNvSpPr>
          <p:nvPr>
            <p:ph type="ftr" sz="quarter" idx="11"/>
          </p:nvPr>
        </p:nvSpPr>
        <p:spPr/>
        <p:txBody>
          <a:bodyPr/>
          <a:lstStyle/>
          <a:p>
            <a:r>
              <a:rPr lang="en-US"/>
              <a:t>Or Peretz</a:t>
            </a:r>
            <a:endParaRPr lang="en-IL"/>
          </a:p>
        </p:txBody>
      </p:sp>
      <p:sp>
        <p:nvSpPr>
          <p:cNvPr id="5" name="Slide Number Placeholder 4">
            <a:extLst>
              <a:ext uri="{FF2B5EF4-FFF2-40B4-BE49-F238E27FC236}">
                <a16:creationId xmlns:a16="http://schemas.microsoft.com/office/drawing/2014/main" id="{5C2833B9-F0EF-4F2D-B1F5-59A0518ACC67}"/>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40470482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F94F9A-B863-4CA1-A3D9-2612454CB5E8}"/>
              </a:ext>
            </a:extLst>
          </p:cNvPr>
          <p:cNvSpPr>
            <a:spLocks noGrp="1"/>
          </p:cNvSpPr>
          <p:nvPr>
            <p:ph type="dt" sz="half" idx="10"/>
          </p:nvPr>
        </p:nvSpPr>
        <p:spPr/>
        <p:txBody>
          <a:bodyPr/>
          <a:lstStyle/>
          <a:p>
            <a:endParaRPr lang="en-IL"/>
          </a:p>
        </p:txBody>
      </p:sp>
      <p:sp>
        <p:nvSpPr>
          <p:cNvPr id="3" name="Footer Placeholder 2">
            <a:extLst>
              <a:ext uri="{FF2B5EF4-FFF2-40B4-BE49-F238E27FC236}">
                <a16:creationId xmlns:a16="http://schemas.microsoft.com/office/drawing/2014/main" id="{05856BA7-0F82-4B54-82BF-04EC0B081685}"/>
              </a:ext>
            </a:extLst>
          </p:cNvPr>
          <p:cNvSpPr>
            <a:spLocks noGrp="1"/>
          </p:cNvSpPr>
          <p:nvPr>
            <p:ph type="ftr" sz="quarter" idx="11"/>
          </p:nvPr>
        </p:nvSpPr>
        <p:spPr/>
        <p:txBody>
          <a:bodyPr/>
          <a:lstStyle/>
          <a:p>
            <a:r>
              <a:rPr lang="en-US"/>
              <a:t>Or Peretz</a:t>
            </a:r>
            <a:endParaRPr lang="en-IL"/>
          </a:p>
        </p:txBody>
      </p:sp>
      <p:sp>
        <p:nvSpPr>
          <p:cNvPr id="4" name="Slide Number Placeholder 3">
            <a:extLst>
              <a:ext uri="{FF2B5EF4-FFF2-40B4-BE49-F238E27FC236}">
                <a16:creationId xmlns:a16="http://schemas.microsoft.com/office/drawing/2014/main" id="{026A46C4-110C-4F16-A55B-2CA103D5BC69}"/>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3290415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DF8D4-37EB-4208-8EBF-A36DA15D5A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F119644F-4231-4135-985A-E35BB7DF79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DDAC084D-8409-4F23-A4F3-946B11E92E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857D6E5-0ADE-47F1-BF75-064C0FC0B6AA}"/>
              </a:ext>
            </a:extLst>
          </p:cNvPr>
          <p:cNvSpPr>
            <a:spLocks noGrp="1"/>
          </p:cNvSpPr>
          <p:nvPr>
            <p:ph type="dt" sz="half" idx="10"/>
          </p:nvPr>
        </p:nvSpPr>
        <p:spPr/>
        <p:txBody>
          <a:bodyPr/>
          <a:lstStyle/>
          <a:p>
            <a:endParaRPr lang="en-IL"/>
          </a:p>
        </p:txBody>
      </p:sp>
      <p:sp>
        <p:nvSpPr>
          <p:cNvPr id="6" name="Footer Placeholder 5">
            <a:extLst>
              <a:ext uri="{FF2B5EF4-FFF2-40B4-BE49-F238E27FC236}">
                <a16:creationId xmlns:a16="http://schemas.microsoft.com/office/drawing/2014/main" id="{E3A95BE5-8107-4C77-A0C7-320528011EF6}"/>
              </a:ext>
            </a:extLst>
          </p:cNvPr>
          <p:cNvSpPr>
            <a:spLocks noGrp="1"/>
          </p:cNvSpPr>
          <p:nvPr>
            <p:ph type="ftr" sz="quarter" idx="11"/>
          </p:nvPr>
        </p:nvSpPr>
        <p:spPr/>
        <p:txBody>
          <a:bodyPr/>
          <a:lstStyle/>
          <a:p>
            <a:r>
              <a:rPr lang="en-US"/>
              <a:t>Or Peretz</a:t>
            </a:r>
            <a:endParaRPr lang="en-IL"/>
          </a:p>
        </p:txBody>
      </p:sp>
      <p:sp>
        <p:nvSpPr>
          <p:cNvPr id="7" name="Slide Number Placeholder 6">
            <a:extLst>
              <a:ext uri="{FF2B5EF4-FFF2-40B4-BE49-F238E27FC236}">
                <a16:creationId xmlns:a16="http://schemas.microsoft.com/office/drawing/2014/main" id="{D2B29687-8674-4B44-BCA8-CA55A7F66AEE}"/>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5355129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DDB8B-F360-41C1-9E59-41BC175C2C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6329284B-956D-4A04-AA87-11920CE3AB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6CDA7EC3-09A8-4251-B03C-6044FAB1E4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8F06FFE-DADD-4559-BD8F-E4090E8513DA}"/>
              </a:ext>
            </a:extLst>
          </p:cNvPr>
          <p:cNvSpPr>
            <a:spLocks noGrp="1"/>
          </p:cNvSpPr>
          <p:nvPr>
            <p:ph type="dt" sz="half" idx="10"/>
          </p:nvPr>
        </p:nvSpPr>
        <p:spPr/>
        <p:txBody>
          <a:bodyPr/>
          <a:lstStyle/>
          <a:p>
            <a:endParaRPr lang="en-IL"/>
          </a:p>
        </p:txBody>
      </p:sp>
      <p:sp>
        <p:nvSpPr>
          <p:cNvPr id="6" name="Footer Placeholder 5">
            <a:extLst>
              <a:ext uri="{FF2B5EF4-FFF2-40B4-BE49-F238E27FC236}">
                <a16:creationId xmlns:a16="http://schemas.microsoft.com/office/drawing/2014/main" id="{487A7321-97EB-4815-A837-E4FF27362FFC}"/>
              </a:ext>
            </a:extLst>
          </p:cNvPr>
          <p:cNvSpPr>
            <a:spLocks noGrp="1"/>
          </p:cNvSpPr>
          <p:nvPr>
            <p:ph type="ftr" sz="quarter" idx="11"/>
          </p:nvPr>
        </p:nvSpPr>
        <p:spPr/>
        <p:txBody>
          <a:bodyPr/>
          <a:lstStyle/>
          <a:p>
            <a:r>
              <a:rPr lang="en-US"/>
              <a:t>Or Peretz</a:t>
            </a:r>
            <a:endParaRPr lang="en-IL"/>
          </a:p>
        </p:txBody>
      </p:sp>
      <p:sp>
        <p:nvSpPr>
          <p:cNvPr id="7" name="Slide Number Placeholder 6">
            <a:extLst>
              <a:ext uri="{FF2B5EF4-FFF2-40B4-BE49-F238E27FC236}">
                <a16:creationId xmlns:a16="http://schemas.microsoft.com/office/drawing/2014/main" id="{BAA3595F-1D61-441A-9A46-FC01E1605B5C}"/>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38291920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6D421-C27E-4305-9BA4-ABDBC270E32E}"/>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D369482A-BFEA-4A85-973C-0414EA508578}"/>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D2DCE6C9-3B2C-4E59-B407-9DEAA5194AB0}"/>
              </a:ext>
            </a:extLst>
          </p:cNvPr>
          <p:cNvSpPr>
            <a:spLocks noGrp="1"/>
          </p:cNvSpPr>
          <p:nvPr>
            <p:ph type="dt" sz="half" idx="10"/>
          </p:nvPr>
        </p:nvSpPr>
        <p:spPr/>
        <p:txBody>
          <a:bodyPr/>
          <a:lstStyle/>
          <a:p>
            <a:endParaRPr lang="en-IL"/>
          </a:p>
        </p:txBody>
      </p:sp>
      <p:sp>
        <p:nvSpPr>
          <p:cNvPr id="5" name="Footer Placeholder 4">
            <a:extLst>
              <a:ext uri="{FF2B5EF4-FFF2-40B4-BE49-F238E27FC236}">
                <a16:creationId xmlns:a16="http://schemas.microsoft.com/office/drawing/2014/main" id="{157B3FA1-84D5-4374-B090-8EED7F0EE76B}"/>
              </a:ext>
            </a:extLst>
          </p:cNvPr>
          <p:cNvSpPr>
            <a:spLocks noGrp="1"/>
          </p:cNvSpPr>
          <p:nvPr>
            <p:ph type="ftr" sz="quarter" idx="11"/>
          </p:nvPr>
        </p:nvSpPr>
        <p:spPr/>
        <p:txBody>
          <a:bodyPr/>
          <a:lstStyle/>
          <a:p>
            <a:r>
              <a:rPr lang="en-US"/>
              <a:t>Or Peretz</a:t>
            </a:r>
            <a:endParaRPr lang="en-IL"/>
          </a:p>
        </p:txBody>
      </p:sp>
      <p:sp>
        <p:nvSpPr>
          <p:cNvPr id="6" name="Slide Number Placeholder 5">
            <a:extLst>
              <a:ext uri="{FF2B5EF4-FFF2-40B4-BE49-F238E27FC236}">
                <a16:creationId xmlns:a16="http://schemas.microsoft.com/office/drawing/2014/main" id="{0BB37D06-0BF6-4041-954F-C1D4B14F038F}"/>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506217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A0116A-EF9A-40BC-BE26-84DF8D33F6D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E3EB09AB-DE01-41A1-8BED-34FC1B482ADA}"/>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46A0832B-4F28-4DE3-AF6D-37975A09FE91}"/>
              </a:ext>
            </a:extLst>
          </p:cNvPr>
          <p:cNvSpPr>
            <a:spLocks noGrp="1"/>
          </p:cNvSpPr>
          <p:nvPr>
            <p:ph type="dt" sz="half" idx="10"/>
          </p:nvPr>
        </p:nvSpPr>
        <p:spPr/>
        <p:txBody>
          <a:bodyPr/>
          <a:lstStyle/>
          <a:p>
            <a:endParaRPr lang="en-IL"/>
          </a:p>
        </p:txBody>
      </p:sp>
      <p:sp>
        <p:nvSpPr>
          <p:cNvPr id="5" name="Footer Placeholder 4">
            <a:extLst>
              <a:ext uri="{FF2B5EF4-FFF2-40B4-BE49-F238E27FC236}">
                <a16:creationId xmlns:a16="http://schemas.microsoft.com/office/drawing/2014/main" id="{18F064A4-73D9-4140-BB4B-47A62F8CBA11}"/>
              </a:ext>
            </a:extLst>
          </p:cNvPr>
          <p:cNvSpPr>
            <a:spLocks noGrp="1"/>
          </p:cNvSpPr>
          <p:nvPr>
            <p:ph type="ftr" sz="quarter" idx="11"/>
          </p:nvPr>
        </p:nvSpPr>
        <p:spPr/>
        <p:txBody>
          <a:bodyPr/>
          <a:lstStyle/>
          <a:p>
            <a:r>
              <a:rPr lang="en-US"/>
              <a:t>Or Peretz</a:t>
            </a:r>
            <a:endParaRPr lang="en-IL"/>
          </a:p>
        </p:txBody>
      </p:sp>
      <p:sp>
        <p:nvSpPr>
          <p:cNvPr id="6" name="Slide Number Placeholder 5">
            <a:extLst>
              <a:ext uri="{FF2B5EF4-FFF2-40B4-BE49-F238E27FC236}">
                <a16:creationId xmlns:a16="http://schemas.microsoft.com/office/drawing/2014/main" id="{2241DA01-1032-4191-848B-F8A71F653C29}"/>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24741138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FCF5D-2955-AD42-BCC3-C30F65C7B2DC}"/>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A4727EF5-C155-B348-A37D-F7777F1990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Footer Placeholder 3">
            <a:extLst>
              <a:ext uri="{FF2B5EF4-FFF2-40B4-BE49-F238E27FC236}">
                <a16:creationId xmlns:a16="http://schemas.microsoft.com/office/drawing/2014/main" id="{5B124686-E01E-AC4A-B40C-62FBAD39B08F}"/>
              </a:ext>
            </a:extLst>
          </p:cNvPr>
          <p:cNvSpPr>
            <a:spLocks noGrp="1"/>
          </p:cNvSpPr>
          <p:nvPr>
            <p:ph type="ftr" sz="quarter" idx="10"/>
          </p:nvPr>
        </p:nvSpPr>
        <p:spPr/>
        <p:txBody>
          <a:bodyPr/>
          <a:lstStyle>
            <a:lvl1pPr>
              <a:defRPr/>
            </a:lvl1pPr>
          </a:lstStyle>
          <a:p>
            <a:r>
              <a:rPr lang="en-US" altLang="en-US"/>
              <a:t>Or Peretz</a:t>
            </a:r>
          </a:p>
        </p:txBody>
      </p:sp>
      <p:sp>
        <p:nvSpPr>
          <p:cNvPr id="5" name="Slide Number Placeholder 4">
            <a:extLst>
              <a:ext uri="{FF2B5EF4-FFF2-40B4-BE49-F238E27FC236}">
                <a16:creationId xmlns:a16="http://schemas.microsoft.com/office/drawing/2014/main" id="{4D140E12-3C8B-894D-83A5-B462312C5956}"/>
              </a:ext>
            </a:extLst>
          </p:cNvPr>
          <p:cNvSpPr>
            <a:spLocks noGrp="1"/>
          </p:cNvSpPr>
          <p:nvPr>
            <p:ph type="sldNum" sz="quarter" idx="11"/>
          </p:nvPr>
        </p:nvSpPr>
        <p:spPr/>
        <p:txBody>
          <a:bodyPr/>
          <a:lstStyle>
            <a:lvl1pPr>
              <a:defRPr/>
            </a:lvl1pPr>
          </a:lstStyle>
          <a:p>
            <a:endParaRPr lang="en-US" altLang="en-US"/>
          </a:p>
        </p:txBody>
      </p:sp>
    </p:spTree>
    <p:extLst>
      <p:ext uri="{BB962C8B-B14F-4D97-AF65-F5344CB8AC3E}">
        <p14:creationId xmlns:p14="http://schemas.microsoft.com/office/powerpoint/2010/main" val="3209838472"/>
      </p:ext>
    </p:extLst>
  </p:cSld>
  <p:clrMapOvr>
    <a:masterClrMapping/>
  </p:clrMapOvr>
  <p:transition>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14DB5-C319-EF41-9B8F-A436AF5D3376}"/>
              </a:ext>
            </a:extLst>
          </p:cNvPr>
          <p:cNvSpPr>
            <a:spLocks noGrp="1"/>
          </p:cNvSpPr>
          <p:nvPr>
            <p:ph type="title"/>
          </p:nvPr>
        </p:nvSpPr>
        <p:spPr>
          <a:xfrm>
            <a:off x="1727200" y="0"/>
            <a:ext cx="10160000" cy="914400"/>
          </a:xfrm>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E3B9A124-8850-9E4F-BD09-A71A95B8D74E}"/>
              </a:ext>
            </a:extLst>
          </p:cNvPr>
          <p:cNvSpPr>
            <a:spLocks noGrp="1"/>
          </p:cNvSpPr>
          <p:nvPr>
            <p:ph sz="half" idx="1"/>
          </p:nvPr>
        </p:nvSpPr>
        <p:spPr>
          <a:xfrm>
            <a:off x="1727200" y="1295400"/>
            <a:ext cx="4978400" cy="480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72C0A9C8-041F-5F48-A71C-C6E540591858}"/>
              </a:ext>
            </a:extLst>
          </p:cNvPr>
          <p:cNvSpPr>
            <a:spLocks noGrp="1"/>
          </p:cNvSpPr>
          <p:nvPr>
            <p:ph type="body" sz="half" idx="2"/>
          </p:nvPr>
        </p:nvSpPr>
        <p:spPr>
          <a:xfrm>
            <a:off x="6908800" y="1295400"/>
            <a:ext cx="4978400" cy="480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Footer Placeholder 4">
            <a:extLst>
              <a:ext uri="{FF2B5EF4-FFF2-40B4-BE49-F238E27FC236}">
                <a16:creationId xmlns:a16="http://schemas.microsoft.com/office/drawing/2014/main" id="{E23439D7-70D0-9548-869A-6A40060A1A75}"/>
              </a:ext>
            </a:extLst>
          </p:cNvPr>
          <p:cNvSpPr>
            <a:spLocks noGrp="1"/>
          </p:cNvSpPr>
          <p:nvPr>
            <p:ph type="ftr" sz="quarter" idx="10"/>
          </p:nvPr>
        </p:nvSpPr>
        <p:spPr>
          <a:xfrm>
            <a:off x="1016000" y="6477000"/>
            <a:ext cx="3860800" cy="381000"/>
          </a:xfrm>
        </p:spPr>
        <p:txBody>
          <a:bodyPr/>
          <a:lstStyle>
            <a:lvl1pPr>
              <a:defRPr/>
            </a:lvl1pPr>
          </a:lstStyle>
          <a:p>
            <a:r>
              <a:rPr lang="en-US" altLang="en-US"/>
              <a:t>Or Peretz</a:t>
            </a:r>
          </a:p>
        </p:txBody>
      </p:sp>
      <p:sp>
        <p:nvSpPr>
          <p:cNvPr id="6" name="Slide Number Placeholder 5">
            <a:extLst>
              <a:ext uri="{FF2B5EF4-FFF2-40B4-BE49-F238E27FC236}">
                <a16:creationId xmlns:a16="http://schemas.microsoft.com/office/drawing/2014/main" id="{1FD563C8-AF6F-0E44-82C4-BCAC1D43B12F}"/>
              </a:ext>
            </a:extLst>
          </p:cNvPr>
          <p:cNvSpPr>
            <a:spLocks noGrp="1"/>
          </p:cNvSpPr>
          <p:nvPr>
            <p:ph type="sldNum" sz="quarter" idx="11"/>
          </p:nvPr>
        </p:nvSpPr>
        <p:spPr>
          <a:xfrm>
            <a:off x="10160000" y="6477000"/>
            <a:ext cx="2032000" cy="381000"/>
          </a:xfrm>
        </p:spPr>
        <p:txBody>
          <a:bodyPr/>
          <a:lstStyle>
            <a:lvl1pPr>
              <a:defRPr/>
            </a:lvl1pPr>
          </a:lstStyle>
          <a:p>
            <a:endParaRPr lang="en-US" altLang="en-US"/>
          </a:p>
        </p:txBody>
      </p:sp>
    </p:spTree>
    <p:extLst>
      <p:ext uri="{BB962C8B-B14F-4D97-AF65-F5344CB8AC3E}">
        <p14:creationId xmlns:p14="http://schemas.microsoft.com/office/powerpoint/2010/main" val="4148944135"/>
      </p:ext>
    </p:extLst>
  </p:cSld>
  <p:clrMapOvr>
    <a:masterClrMapping/>
  </p:clrMapOvr>
  <p:transition>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508000" y="0"/>
            <a:ext cx="11379200" cy="1143000"/>
          </a:xfrm>
        </p:spPr>
        <p:txBody>
          <a:bodyPr/>
          <a:lstStyle/>
          <a:p>
            <a:r>
              <a:rPr lang="en-US"/>
              <a:t>Click to edit Master title style</a:t>
            </a:r>
          </a:p>
        </p:txBody>
      </p:sp>
      <p:sp>
        <p:nvSpPr>
          <p:cNvPr id="3" name="SmartArt Placeholder 2"/>
          <p:cNvSpPr>
            <a:spLocks noGrp="1"/>
          </p:cNvSpPr>
          <p:nvPr>
            <p:ph type="dgm" idx="1"/>
          </p:nvPr>
        </p:nvSpPr>
        <p:spPr>
          <a:xfrm>
            <a:off x="914400" y="1524000"/>
            <a:ext cx="10363200" cy="4495800"/>
          </a:xfrm>
        </p:spPr>
        <p:txBody>
          <a:bodyPr/>
          <a:lstStyle/>
          <a:p>
            <a:pPr lvl="0"/>
            <a:endParaRPr lang="en-US" noProof="0"/>
          </a:p>
        </p:txBody>
      </p:sp>
      <p:sp>
        <p:nvSpPr>
          <p:cNvPr id="4" name="Rectangle 4">
            <a:extLst>
              <a:ext uri="{FF2B5EF4-FFF2-40B4-BE49-F238E27FC236}">
                <a16:creationId xmlns:a16="http://schemas.microsoft.com/office/drawing/2014/main" id="{151B3265-4930-F149-B498-89DBFE4F93A7}"/>
              </a:ext>
            </a:extLst>
          </p:cNvPr>
          <p:cNvSpPr>
            <a:spLocks noGrp="1" noChangeArrowheads="1"/>
          </p:cNvSpPr>
          <p:nvPr>
            <p:ph type="dt" sz="half" idx="10"/>
          </p:nvPr>
        </p:nvSpPr>
        <p:spPr>
          <a:ln/>
        </p:spPr>
        <p:txBody>
          <a:bodyPr/>
          <a:lstStyle>
            <a:lvl1pPr>
              <a:defRPr/>
            </a:lvl1pPr>
          </a:lstStyle>
          <a:p>
            <a:pPr>
              <a:defRPr/>
            </a:pPr>
            <a:endParaRPr lang="en-US" altLang="en-GB"/>
          </a:p>
        </p:txBody>
      </p:sp>
      <p:sp>
        <p:nvSpPr>
          <p:cNvPr id="5" name="Rectangle 5">
            <a:extLst>
              <a:ext uri="{FF2B5EF4-FFF2-40B4-BE49-F238E27FC236}">
                <a16:creationId xmlns:a16="http://schemas.microsoft.com/office/drawing/2014/main" id="{2AFC7C78-1A3A-5343-8D09-CEF0F331E819}"/>
              </a:ext>
            </a:extLst>
          </p:cNvPr>
          <p:cNvSpPr>
            <a:spLocks noGrp="1" noChangeArrowheads="1"/>
          </p:cNvSpPr>
          <p:nvPr>
            <p:ph type="ftr" sz="quarter" idx="11"/>
          </p:nvPr>
        </p:nvSpPr>
        <p:spPr>
          <a:ln/>
        </p:spPr>
        <p:txBody>
          <a:bodyPr/>
          <a:lstStyle>
            <a:lvl1pPr>
              <a:defRPr/>
            </a:lvl1pPr>
          </a:lstStyle>
          <a:p>
            <a:pPr>
              <a:defRPr/>
            </a:pPr>
            <a:r>
              <a:rPr lang="en-US" altLang="en-GB"/>
              <a:t>Or Peretz</a:t>
            </a:r>
          </a:p>
        </p:txBody>
      </p:sp>
      <p:sp>
        <p:nvSpPr>
          <p:cNvPr id="6" name="Rectangle 6">
            <a:extLst>
              <a:ext uri="{FF2B5EF4-FFF2-40B4-BE49-F238E27FC236}">
                <a16:creationId xmlns:a16="http://schemas.microsoft.com/office/drawing/2014/main" id="{FBD7AB9E-82BC-B44C-8144-476B937C3A22}"/>
              </a:ext>
            </a:extLst>
          </p:cNvPr>
          <p:cNvSpPr>
            <a:spLocks noGrp="1" noChangeArrowheads="1"/>
          </p:cNvSpPr>
          <p:nvPr>
            <p:ph type="sldNum" sz="quarter" idx="12"/>
          </p:nvPr>
        </p:nvSpPr>
        <p:spPr>
          <a:ln/>
        </p:spPr>
        <p:txBody>
          <a:bodyPr/>
          <a:lstStyle>
            <a:lvl1pPr>
              <a:defRPr/>
            </a:lvl1pPr>
          </a:lstStyle>
          <a:p>
            <a:fld id="{5789425C-8CF6-004B-B42E-9AAF7325E1A7}" type="slidenum">
              <a:rPr lang="en-US" altLang="en-GB"/>
              <a:pPr/>
              <a:t>‹#›</a:t>
            </a:fld>
            <a:endParaRPr lang="en-US" altLang="en-GB"/>
          </a:p>
        </p:txBody>
      </p:sp>
    </p:spTree>
    <p:extLst>
      <p:ext uri="{BB962C8B-B14F-4D97-AF65-F5344CB8AC3E}">
        <p14:creationId xmlns:p14="http://schemas.microsoft.com/office/powerpoint/2010/main" val="105354307"/>
      </p:ext>
    </p:extLst>
  </p:cSld>
  <p:clrMapOvr>
    <a:masterClrMapping/>
  </p:clrMapOvr>
  <p:transition>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D5FF43-15EB-48BF-9377-EC78CBDCCB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L" dirty="0"/>
          </a:p>
        </p:txBody>
      </p:sp>
      <p:sp>
        <p:nvSpPr>
          <p:cNvPr id="3" name="Text Placeholder 2">
            <a:extLst>
              <a:ext uri="{FF2B5EF4-FFF2-40B4-BE49-F238E27FC236}">
                <a16:creationId xmlns:a16="http://schemas.microsoft.com/office/drawing/2014/main" id="{548A9A9A-96AC-434D-8596-80E7719973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L" dirty="0"/>
          </a:p>
        </p:txBody>
      </p:sp>
      <p:sp>
        <p:nvSpPr>
          <p:cNvPr id="4" name="Date Placeholder 3">
            <a:extLst>
              <a:ext uri="{FF2B5EF4-FFF2-40B4-BE49-F238E27FC236}">
                <a16:creationId xmlns:a16="http://schemas.microsoft.com/office/drawing/2014/main" id="{0477151C-500A-4CAF-8B1B-C429EEE2CD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L"/>
          </a:p>
        </p:txBody>
      </p:sp>
      <p:sp>
        <p:nvSpPr>
          <p:cNvPr id="5" name="Footer Placeholder 4">
            <a:extLst>
              <a:ext uri="{FF2B5EF4-FFF2-40B4-BE49-F238E27FC236}">
                <a16:creationId xmlns:a16="http://schemas.microsoft.com/office/drawing/2014/main" id="{481936C9-3550-4463-A834-A8233EB9F3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Or Peretz</a:t>
            </a:r>
            <a:endParaRPr lang="en-IL"/>
          </a:p>
        </p:txBody>
      </p:sp>
      <p:sp>
        <p:nvSpPr>
          <p:cNvPr id="6" name="Slide Number Placeholder 5">
            <a:extLst>
              <a:ext uri="{FF2B5EF4-FFF2-40B4-BE49-F238E27FC236}">
                <a16:creationId xmlns:a16="http://schemas.microsoft.com/office/drawing/2014/main" id="{77370A5C-A380-420D-86FA-95B4F828D7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2643F8-DFCD-4B5F-9519-933435FA18FB}" type="slidenum">
              <a:rPr lang="en-IL" smtClean="0"/>
              <a:t>‹#›</a:t>
            </a:fld>
            <a:endParaRPr lang="en-IL"/>
          </a:p>
        </p:txBody>
      </p:sp>
    </p:spTree>
    <p:extLst>
      <p:ext uri="{BB962C8B-B14F-4D97-AF65-F5344CB8AC3E}">
        <p14:creationId xmlns:p14="http://schemas.microsoft.com/office/powerpoint/2010/main" val="20044710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3" r:id="rId13"/>
    <p:sldLayoutId id="2147483666" r:id="rId14"/>
  </p:sldLayoutIdLst>
  <p:hf hdr="0" dt="0"/>
  <p:txStyles>
    <p:titleStyle>
      <a:lvl1pPr algn="ctr" defTabSz="914400" rtl="0" eaLnBrk="1" latinLnBrk="0" hangingPunct="1">
        <a:lnSpc>
          <a:spcPct val="90000"/>
        </a:lnSpc>
        <a:spcBef>
          <a:spcPct val="0"/>
        </a:spcBef>
        <a:buNone/>
        <a:defRPr sz="3200" b="1" kern="1200">
          <a:solidFill>
            <a:schemeClr val="tx1"/>
          </a:solidFill>
          <a:latin typeface="+mn-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2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2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2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BF07A-A6B2-4AA3-9FB3-FF93725B9B74}"/>
              </a:ext>
            </a:extLst>
          </p:cNvPr>
          <p:cNvSpPr>
            <a:spLocks noGrp="1"/>
          </p:cNvSpPr>
          <p:nvPr>
            <p:ph type="ctrTitle"/>
          </p:nvPr>
        </p:nvSpPr>
        <p:spPr>
          <a:xfrm>
            <a:off x="185352" y="395416"/>
            <a:ext cx="11794982" cy="3409557"/>
          </a:xfrm>
        </p:spPr>
        <p:txBody>
          <a:bodyPr>
            <a:normAutofit/>
          </a:bodyPr>
          <a:lstStyle/>
          <a:p>
            <a:pPr algn="ctr" defTabSz="914400" rtl="0" eaLnBrk="1" latinLnBrk="0" hangingPunct="1">
              <a:lnSpc>
                <a:spcPct val="90000"/>
              </a:lnSpc>
              <a:spcBef>
                <a:spcPct val="0"/>
              </a:spcBef>
              <a:buNone/>
            </a:pPr>
            <a:r>
              <a:rPr lang="en-US" u="sng" dirty="0">
                <a:cs typeface="+mn-cs"/>
              </a:rPr>
              <a:t>Business Intelligence</a:t>
            </a:r>
            <a:endParaRPr lang="en-IL" u="sng" dirty="0">
              <a:cs typeface="+mn-cs"/>
            </a:endParaRPr>
          </a:p>
        </p:txBody>
      </p:sp>
      <p:sp>
        <p:nvSpPr>
          <p:cNvPr id="3" name="Subtitle 2">
            <a:extLst>
              <a:ext uri="{FF2B5EF4-FFF2-40B4-BE49-F238E27FC236}">
                <a16:creationId xmlns:a16="http://schemas.microsoft.com/office/drawing/2014/main" id="{E954BFDD-2D28-4F88-A89F-35EB6574CAC6}"/>
              </a:ext>
            </a:extLst>
          </p:cNvPr>
          <p:cNvSpPr>
            <a:spLocks noGrp="1"/>
          </p:cNvSpPr>
          <p:nvPr>
            <p:ph type="subTitle" idx="1"/>
          </p:nvPr>
        </p:nvSpPr>
        <p:spPr>
          <a:xfrm>
            <a:off x="1510843" y="4276585"/>
            <a:ext cx="9144000" cy="1655762"/>
          </a:xfrm>
        </p:spPr>
        <p:txBody>
          <a:bodyPr>
            <a:normAutofit/>
          </a:bodyPr>
          <a:lstStyle/>
          <a:p>
            <a:pPr marL="0" indent="0" algn="ctr" defTabSz="914400" rtl="1" eaLnBrk="1" latinLnBrk="0" hangingPunct="1">
              <a:lnSpc>
                <a:spcPct val="90000"/>
              </a:lnSpc>
              <a:spcBef>
                <a:spcPts val="1000"/>
              </a:spcBef>
              <a:buFont typeface="Arial" panose="020B0604020202020204" pitchFamily="34" charset="0"/>
              <a:buNone/>
            </a:pPr>
            <a:r>
              <a:rPr lang="en-US" sz="3600" dirty="0"/>
              <a:t>Lecture 3</a:t>
            </a:r>
            <a:endParaRPr lang="en-IL" sz="3600" dirty="0"/>
          </a:p>
        </p:txBody>
      </p:sp>
      <p:sp>
        <p:nvSpPr>
          <p:cNvPr id="4" name="Slide Number Placeholder 3">
            <a:extLst>
              <a:ext uri="{FF2B5EF4-FFF2-40B4-BE49-F238E27FC236}">
                <a16:creationId xmlns:a16="http://schemas.microsoft.com/office/drawing/2014/main" id="{CAD7C810-8880-4D05-860C-4E520C91B935}"/>
              </a:ext>
            </a:extLst>
          </p:cNvPr>
          <p:cNvSpPr>
            <a:spLocks noGrp="1"/>
          </p:cNvSpPr>
          <p:nvPr>
            <p:ph type="sldNum" sz="quarter" idx="12"/>
          </p:nvPr>
        </p:nvSpPr>
        <p:spPr/>
        <p:txBody>
          <a:bodyPr/>
          <a:lstStyle/>
          <a:p>
            <a:fld id="{B62643F8-DFCD-4B5F-9519-933435FA18FB}" type="slidenum">
              <a:rPr lang="en-IL" smtClean="0"/>
              <a:t>1</a:t>
            </a:fld>
            <a:endParaRPr lang="en-IL"/>
          </a:p>
        </p:txBody>
      </p:sp>
      <p:sp>
        <p:nvSpPr>
          <p:cNvPr id="5" name="Footer Placeholder 4">
            <a:extLst>
              <a:ext uri="{FF2B5EF4-FFF2-40B4-BE49-F238E27FC236}">
                <a16:creationId xmlns:a16="http://schemas.microsoft.com/office/drawing/2014/main" id="{B708135C-5A11-DB47-A5FC-BE38DE9D9770}"/>
              </a:ext>
            </a:extLst>
          </p:cNvPr>
          <p:cNvSpPr>
            <a:spLocks noGrp="1"/>
          </p:cNvSpPr>
          <p:nvPr>
            <p:ph type="ftr" sz="quarter" idx="11"/>
          </p:nvPr>
        </p:nvSpPr>
        <p:spPr/>
        <p:txBody>
          <a:bodyPr/>
          <a:lstStyle/>
          <a:p>
            <a:r>
              <a:rPr lang="en-US" dirty="0"/>
              <a:t>Or </a:t>
            </a:r>
            <a:r>
              <a:rPr lang="en-US" dirty="0" err="1"/>
              <a:t>Peretz</a:t>
            </a:r>
            <a:endParaRPr lang="en-US" dirty="0"/>
          </a:p>
        </p:txBody>
      </p:sp>
    </p:spTree>
    <p:extLst>
      <p:ext uri="{BB962C8B-B14F-4D97-AF65-F5344CB8AC3E}">
        <p14:creationId xmlns:p14="http://schemas.microsoft.com/office/powerpoint/2010/main" val="30173087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Lecture Agenda</a:t>
            </a:r>
          </a:p>
          <a:p>
            <a:pPr marL="342900" indent="-342900">
              <a:lnSpc>
                <a:spcPct val="150000"/>
              </a:lnSpc>
              <a:buFontTx/>
              <a:buChar char="-"/>
            </a:pPr>
            <a:r>
              <a:rPr lang="en-US" sz="2400" dirty="0"/>
              <a:t>Data Warehouse</a:t>
            </a:r>
          </a:p>
          <a:p>
            <a:pPr marL="342900" indent="-342900">
              <a:lnSpc>
                <a:spcPct val="150000"/>
              </a:lnSpc>
              <a:buFontTx/>
              <a:buChar char="-"/>
            </a:pPr>
            <a:r>
              <a:rPr lang="en-US" sz="2400" dirty="0"/>
              <a:t>Multidimensional analysis</a:t>
            </a:r>
          </a:p>
          <a:p>
            <a:pPr marL="342900" indent="-342900">
              <a:lnSpc>
                <a:spcPct val="150000"/>
              </a:lnSpc>
              <a:buFontTx/>
              <a:buChar char="-"/>
            </a:pPr>
            <a:r>
              <a:rPr lang="en-US" sz="2400" dirty="0"/>
              <a:t>Schemas: Star, Snowflake, Galaxy</a:t>
            </a:r>
          </a:p>
          <a:p>
            <a:pPr marL="342900" indent="-342900">
              <a:lnSpc>
                <a:spcPct val="150000"/>
              </a:lnSpc>
              <a:buFontTx/>
              <a:buChar char="-"/>
            </a:pPr>
            <a:r>
              <a:rPr lang="en-US" sz="2400" dirty="0"/>
              <a:t>ETL</a:t>
            </a:r>
          </a:p>
          <a:p>
            <a:pPr marL="342900" indent="-342900">
              <a:lnSpc>
                <a:spcPct val="150000"/>
              </a:lnSpc>
              <a:buFontTx/>
              <a:buChar char="-"/>
            </a:pPr>
            <a:r>
              <a:rPr lang="en-US" sz="2400" dirty="0"/>
              <a:t>ELT </a:t>
            </a:r>
          </a:p>
          <a:p>
            <a:pPr marL="342900" indent="-342900">
              <a:lnSpc>
                <a:spcPct val="150000"/>
              </a:lnSpc>
              <a:buFontTx/>
              <a:buChar char="-"/>
            </a:pPr>
            <a:r>
              <a:rPr lang="en-US" sz="2400" dirty="0"/>
              <a:t>Batch Processing</a:t>
            </a:r>
          </a:p>
          <a:p>
            <a:pPr marL="342900" indent="-342900">
              <a:lnSpc>
                <a:spcPct val="150000"/>
              </a:lnSpc>
              <a:buFontTx/>
              <a:buChar char="-"/>
            </a:pP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2</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4198038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2">
                                            <p:txEl>
                                              <p:pRg st="6" end="6"/>
                                            </p:txEl>
                                          </p:spTgt>
                                        </p:tgtEl>
                                        <p:attrNameLst>
                                          <p:attrName>style.visibility</p:attrName>
                                        </p:attrNameLst>
                                      </p:cBhvr>
                                      <p:to>
                                        <p:strVal val="visible"/>
                                      </p:to>
                                    </p:set>
                                    <p:anim calcmode="lin" valueType="num">
                                      <p:cBhvr additive="base">
                                        <p:cTn id="43"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3</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3" name="Rectangle 2">
            <a:extLst>
              <a:ext uri="{FF2B5EF4-FFF2-40B4-BE49-F238E27FC236}">
                <a16:creationId xmlns:a16="http://schemas.microsoft.com/office/drawing/2014/main" id="{26DA11A2-B510-D84C-9ADC-C9D0389EDA81}"/>
              </a:ext>
            </a:extLst>
          </p:cNvPr>
          <p:cNvSpPr/>
          <p:nvPr/>
        </p:nvSpPr>
        <p:spPr>
          <a:xfrm>
            <a:off x="334433" y="2590799"/>
            <a:ext cx="11523133" cy="770467"/>
          </a:xfrm>
          <a:prstGeom prst="rect">
            <a:avLst/>
          </a:prstGeom>
          <a:solidFill>
            <a:schemeClr val="accent2">
              <a:lumMod val="40000"/>
              <a:lumOff val="6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sz="2400" dirty="0">
                <a:solidFill>
                  <a:schemeClr val="tx1"/>
                </a:solidFill>
              </a:rPr>
              <a:t>Data Warehouse and Multidimensional Analysis</a:t>
            </a:r>
          </a:p>
        </p:txBody>
      </p:sp>
    </p:spTree>
    <p:extLst>
      <p:ext uri="{BB962C8B-B14F-4D97-AF65-F5344CB8AC3E}">
        <p14:creationId xmlns:p14="http://schemas.microsoft.com/office/powerpoint/2010/main" val="4038580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EBFFA62B-F3AC-C742-8F1A-DD39A1958EB0}"/>
              </a:ext>
            </a:extLst>
          </p:cNvPr>
          <p:cNvSpPr>
            <a:spLocks noGrp="1" noChangeArrowheads="1"/>
          </p:cNvSpPr>
          <p:nvPr>
            <p:ph type="title"/>
          </p:nvPr>
        </p:nvSpPr>
        <p:spPr>
          <a:xfrm>
            <a:off x="1905000" y="304800"/>
            <a:ext cx="8915400" cy="685800"/>
          </a:xfrm>
          <a:noFill/>
        </p:spPr>
        <p:txBody>
          <a:bodyPr vert="horz" lIns="92075" tIns="46038" rIns="92075" bIns="46038" rtlCol="0" anchor="ctr">
            <a:normAutofit/>
          </a:bodyPr>
          <a:lstStyle/>
          <a:p>
            <a:pPr eaLnBrk="1" hangingPunct="1"/>
            <a:r>
              <a:rPr lang="en-US" altLang="en-IL" sz="3600" dirty="0"/>
              <a:t>What is </a:t>
            </a:r>
            <a:r>
              <a:rPr lang="en-US" altLang="en-IL" sz="3600" dirty="0">
                <a:solidFill>
                  <a:schemeClr val="accent1"/>
                </a:solidFill>
              </a:rPr>
              <a:t>Data Warehouse?</a:t>
            </a:r>
          </a:p>
        </p:txBody>
      </p:sp>
      <p:sp>
        <p:nvSpPr>
          <p:cNvPr id="40963" name="Rectangle 3">
            <a:extLst>
              <a:ext uri="{FF2B5EF4-FFF2-40B4-BE49-F238E27FC236}">
                <a16:creationId xmlns:a16="http://schemas.microsoft.com/office/drawing/2014/main" id="{FB4C723C-BE1C-A048-ADD7-EFD1BABCC9B9}"/>
              </a:ext>
            </a:extLst>
          </p:cNvPr>
          <p:cNvSpPr>
            <a:spLocks noGrp="1" noChangeArrowheads="1"/>
          </p:cNvSpPr>
          <p:nvPr>
            <p:ph idx="1"/>
          </p:nvPr>
        </p:nvSpPr>
        <p:spPr>
          <a:xfrm>
            <a:off x="584200" y="1134532"/>
            <a:ext cx="11125200" cy="5249335"/>
          </a:xfrm>
        </p:spPr>
        <p:txBody>
          <a:bodyPr vert="horz" lIns="92075" tIns="46038" rIns="92075" bIns="46038" rtlCol="0">
            <a:normAutofit/>
          </a:bodyPr>
          <a:lstStyle/>
          <a:p>
            <a:pPr marL="0" indent="0">
              <a:buNone/>
            </a:pPr>
            <a:r>
              <a:rPr lang="en-US" altLang="en-IL" sz="2400" dirty="0"/>
              <a:t>“A data warehouse is a </a:t>
            </a:r>
            <a:r>
              <a:rPr lang="en-US" altLang="en-IL" sz="2400" dirty="0">
                <a:solidFill>
                  <a:schemeClr val="accent1"/>
                </a:solidFill>
              </a:rPr>
              <a:t>subject-oriented, integrated, time-variant,</a:t>
            </a:r>
            <a:r>
              <a:rPr lang="en-US" altLang="en-IL" sz="2400" dirty="0"/>
              <a:t> and </a:t>
            </a:r>
            <a:r>
              <a:rPr lang="en-US" altLang="en-IL" sz="2400" dirty="0">
                <a:solidFill>
                  <a:schemeClr val="accent1"/>
                </a:solidFill>
              </a:rPr>
              <a:t>nonvolatile</a:t>
            </a:r>
            <a:r>
              <a:rPr lang="en-US" altLang="en-IL" sz="2400" dirty="0">
                <a:solidFill>
                  <a:srgbClr val="FF0000"/>
                </a:solidFill>
              </a:rPr>
              <a:t> </a:t>
            </a:r>
            <a:r>
              <a:rPr lang="en-US" altLang="en-IL" sz="2400" dirty="0"/>
              <a:t>collection of data in support of management’s decision-making process.”</a:t>
            </a:r>
          </a:p>
          <a:p>
            <a:pPr marL="0" indent="0" eaLnBrk="1" hangingPunct="1">
              <a:buNone/>
            </a:pPr>
            <a:r>
              <a:rPr lang="en-US" altLang="en-IL" sz="2400" dirty="0">
                <a:solidFill>
                  <a:schemeClr val="accent1"/>
                </a:solidFill>
              </a:rPr>
              <a:t>Data warehousing: </a:t>
            </a:r>
            <a:r>
              <a:rPr lang="en-US" altLang="en-IL" sz="2400" dirty="0"/>
              <a:t>The process of constructing and using data warehouses</a:t>
            </a:r>
          </a:p>
        </p:txBody>
      </p:sp>
      <p:pic>
        <p:nvPicPr>
          <p:cNvPr id="93186" name="Picture 2" descr="Best Data Warehouse Courses Online | Data Warehouse Courses">
            <a:extLst>
              <a:ext uri="{FF2B5EF4-FFF2-40B4-BE49-F238E27FC236}">
                <a16:creationId xmlns:a16="http://schemas.microsoft.com/office/drawing/2014/main" id="{F1B65084-ED4F-2845-8410-07D1381E60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5600" y="3429000"/>
            <a:ext cx="3994727" cy="2563283"/>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41728151-26D1-534A-AF50-0F787E3351C7}"/>
              </a:ext>
            </a:extLst>
          </p:cNvPr>
          <p:cNvSpPr>
            <a:spLocks noGrp="1"/>
          </p:cNvSpPr>
          <p:nvPr>
            <p:ph type="ftr" sz="quarter" idx="10"/>
          </p:nvPr>
        </p:nvSpPr>
        <p:spPr/>
        <p:txBody>
          <a:bodyPr/>
          <a:lstStyle/>
          <a:p>
            <a:r>
              <a:rPr lang="en-US" altLang="en-US"/>
              <a:t>Or Peretz</a:t>
            </a:r>
          </a:p>
        </p:txBody>
      </p:sp>
    </p:spTree>
    <p:extLst>
      <p:ext uri="{BB962C8B-B14F-4D97-AF65-F5344CB8AC3E}">
        <p14:creationId xmlns:p14="http://schemas.microsoft.com/office/powerpoint/2010/main" val="3967869964"/>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C2044B93-596E-6D4E-A942-6AA2474A309B}"/>
              </a:ext>
            </a:extLst>
          </p:cNvPr>
          <p:cNvSpPr>
            <a:spLocks noGrp="1" noChangeArrowheads="1"/>
          </p:cNvSpPr>
          <p:nvPr>
            <p:ph type="title"/>
          </p:nvPr>
        </p:nvSpPr>
        <p:spPr>
          <a:xfrm>
            <a:off x="838200" y="0"/>
            <a:ext cx="10515600" cy="1325563"/>
          </a:xfrm>
          <a:noFill/>
        </p:spPr>
        <p:txBody>
          <a:bodyPr vert="horz" lIns="92075" tIns="46038" rIns="92075" bIns="46038" rtlCol="0" anchor="b">
            <a:normAutofit/>
          </a:bodyPr>
          <a:lstStyle/>
          <a:p>
            <a:pPr eaLnBrk="1" hangingPunct="1"/>
            <a:r>
              <a:rPr lang="en-US" altLang="en-IL" dirty="0"/>
              <a:t>Data Warehouse</a:t>
            </a:r>
            <a:endParaRPr lang="en-US" altLang="en-IL" dirty="0">
              <a:solidFill>
                <a:schemeClr val="accent1"/>
              </a:solidFill>
            </a:endParaRPr>
          </a:p>
        </p:txBody>
      </p:sp>
      <p:sp>
        <p:nvSpPr>
          <p:cNvPr id="41987" name="Rectangle 3">
            <a:extLst>
              <a:ext uri="{FF2B5EF4-FFF2-40B4-BE49-F238E27FC236}">
                <a16:creationId xmlns:a16="http://schemas.microsoft.com/office/drawing/2014/main" id="{09604DA7-B50F-854C-BDC0-D4E1C9F91D7D}"/>
              </a:ext>
            </a:extLst>
          </p:cNvPr>
          <p:cNvSpPr>
            <a:spLocks noGrp="1" noChangeArrowheads="1"/>
          </p:cNvSpPr>
          <p:nvPr>
            <p:ph idx="1"/>
          </p:nvPr>
        </p:nvSpPr>
        <p:spPr>
          <a:xfrm>
            <a:off x="347133" y="1325563"/>
            <a:ext cx="11362267" cy="4787370"/>
          </a:xfrm>
        </p:spPr>
        <p:txBody>
          <a:bodyPr vert="horz" lIns="92075" tIns="46038" rIns="92075" bIns="46038" rtlCol="0">
            <a:normAutofit/>
          </a:bodyPr>
          <a:lstStyle/>
          <a:p>
            <a:pPr marL="0" indent="0" eaLnBrk="1" hangingPunct="1">
              <a:lnSpc>
                <a:spcPct val="130000"/>
              </a:lnSpc>
              <a:buNone/>
            </a:pPr>
            <a:r>
              <a:rPr lang="en-US" altLang="en-IL" sz="2400" b="1" dirty="0"/>
              <a:t>Subject Oriented</a:t>
            </a:r>
          </a:p>
          <a:p>
            <a:pPr lvl="1">
              <a:lnSpc>
                <a:spcPct val="130000"/>
              </a:lnSpc>
            </a:pPr>
            <a:r>
              <a:rPr lang="en-US" altLang="en-IL" sz="2400" dirty="0"/>
              <a:t>Organized around major subjects, such as customer, product, sales.</a:t>
            </a:r>
          </a:p>
          <a:p>
            <a:pPr lvl="1">
              <a:lnSpc>
                <a:spcPct val="130000"/>
              </a:lnSpc>
            </a:pPr>
            <a:r>
              <a:rPr lang="en-US" altLang="en-IL" sz="2400" dirty="0"/>
              <a:t>Focusing on the modeling and analysis of data for decision makers.</a:t>
            </a:r>
          </a:p>
          <a:p>
            <a:pPr marL="0" indent="0">
              <a:lnSpc>
                <a:spcPct val="130000"/>
              </a:lnSpc>
              <a:buNone/>
            </a:pPr>
            <a:r>
              <a:rPr lang="en-US" altLang="en-IL" sz="2400" b="1" dirty="0"/>
              <a:t>Time Variant</a:t>
            </a:r>
          </a:p>
          <a:p>
            <a:pPr lvl="1">
              <a:lnSpc>
                <a:spcPct val="120000"/>
              </a:lnSpc>
              <a:defRPr/>
            </a:pPr>
            <a:r>
              <a:rPr lang="en-US" sz="2400" dirty="0"/>
              <a:t>Operational database: current value data</a:t>
            </a:r>
          </a:p>
          <a:p>
            <a:pPr lvl="1">
              <a:lnSpc>
                <a:spcPct val="120000"/>
              </a:lnSpc>
              <a:defRPr/>
            </a:pPr>
            <a:r>
              <a:rPr lang="en-US" sz="2400" dirty="0"/>
              <a:t>Data warehouse data: provide information from a historical perspective </a:t>
            </a:r>
          </a:p>
          <a:p>
            <a:pPr marL="457200" lvl="1" indent="0">
              <a:lnSpc>
                <a:spcPct val="120000"/>
              </a:lnSpc>
              <a:buNone/>
              <a:defRPr/>
            </a:pPr>
            <a:r>
              <a:rPr lang="en-US" sz="2400" dirty="0"/>
              <a:t>(e.g., past 5-10 years)</a:t>
            </a:r>
          </a:p>
          <a:p>
            <a:pPr lvl="1">
              <a:lnSpc>
                <a:spcPct val="130000"/>
              </a:lnSpc>
            </a:pPr>
            <a:endParaRPr lang="en-US" altLang="en-IL" sz="2400" dirty="0"/>
          </a:p>
          <a:p>
            <a:pPr lvl="1">
              <a:lnSpc>
                <a:spcPct val="130000"/>
              </a:lnSpc>
            </a:pPr>
            <a:endParaRPr lang="en-US" altLang="en-IL" sz="2400" dirty="0"/>
          </a:p>
          <a:p>
            <a:pPr>
              <a:lnSpc>
                <a:spcPct val="130000"/>
              </a:lnSpc>
            </a:pPr>
            <a:endParaRPr lang="en-US" altLang="en-IL" sz="2400" dirty="0"/>
          </a:p>
        </p:txBody>
      </p:sp>
      <p:sp>
        <p:nvSpPr>
          <p:cNvPr id="2" name="Footer Placeholder 1">
            <a:extLst>
              <a:ext uri="{FF2B5EF4-FFF2-40B4-BE49-F238E27FC236}">
                <a16:creationId xmlns:a16="http://schemas.microsoft.com/office/drawing/2014/main" id="{5FB193FD-4B5F-4F4C-B712-34A0429FC9BD}"/>
              </a:ext>
            </a:extLst>
          </p:cNvPr>
          <p:cNvSpPr>
            <a:spLocks noGrp="1"/>
          </p:cNvSpPr>
          <p:nvPr>
            <p:ph type="ftr" sz="quarter" idx="10"/>
          </p:nvPr>
        </p:nvSpPr>
        <p:spPr/>
        <p:txBody>
          <a:bodyPr/>
          <a:lstStyle/>
          <a:p>
            <a:r>
              <a:rPr lang="en-US" altLang="en-US"/>
              <a:t>Or Peretz</a:t>
            </a:r>
          </a:p>
        </p:txBody>
      </p:sp>
    </p:spTree>
    <p:extLst>
      <p:ext uri="{BB962C8B-B14F-4D97-AF65-F5344CB8AC3E}">
        <p14:creationId xmlns:p14="http://schemas.microsoft.com/office/powerpoint/2010/main" val="4103530409"/>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C2044B93-596E-6D4E-A942-6AA2474A309B}"/>
              </a:ext>
            </a:extLst>
          </p:cNvPr>
          <p:cNvSpPr>
            <a:spLocks noGrp="1" noChangeArrowheads="1"/>
          </p:cNvSpPr>
          <p:nvPr>
            <p:ph type="title"/>
          </p:nvPr>
        </p:nvSpPr>
        <p:spPr>
          <a:xfrm>
            <a:off x="838200" y="0"/>
            <a:ext cx="10515600" cy="1325563"/>
          </a:xfrm>
          <a:noFill/>
        </p:spPr>
        <p:txBody>
          <a:bodyPr vert="horz" lIns="92075" tIns="46038" rIns="92075" bIns="46038" rtlCol="0" anchor="b">
            <a:normAutofit/>
          </a:bodyPr>
          <a:lstStyle/>
          <a:p>
            <a:pPr eaLnBrk="1" hangingPunct="1"/>
            <a:r>
              <a:rPr lang="en-US" altLang="en-IL" dirty="0"/>
              <a:t>Data Warehouse</a:t>
            </a:r>
            <a:endParaRPr lang="en-US" altLang="en-IL" dirty="0">
              <a:solidFill>
                <a:schemeClr val="accent1"/>
              </a:solidFill>
            </a:endParaRPr>
          </a:p>
        </p:txBody>
      </p:sp>
      <p:sp>
        <p:nvSpPr>
          <p:cNvPr id="41987" name="Rectangle 3">
            <a:extLst>
              <a:ext uri="{FF2B5EF4-FFF2-40B4-BE49-F238E27FC236}">
                <a16:creationId xmlns:a16="http://schemas.microsoft.com/office/drawing/2014/main" id="{09604DA7-B50F-854C-BDC0-D4E1C9F91D7D}"/>
              </a:ext>
            </a:extLst>
          </p:cNvPr>
          <p:cNvSpPr>
            <a:spLocks noGrp="1" noChangeArrowheads="1"/>
          </p:cNvSpPr>
          <p:nvPr>
            <p:ph idx="1"/>
          </p:nvPr>
        </p:nvSpPr>
        <p:spPr>
          <a:xfrm>
            <a:off x="347133" y="1325563"/>
            <a:ext cx="11362267" cy="4787370"/>
          </a:xfrm>
        </p:spPr>
        <p:txBody>
          <a:bodyPr vert="horz" lIns="92075" tIns="46038" rIns="92075" bIns="46038" rtlCol="0">
            <a:normAutofit/>
          </a:bodyPr>
          <a:lstStyle/>
          <a:p>
            <a:pPr marL="0" indent="0" eaLnBrk="1" hangingPunct="1">
              <a:lnSpc>
                <a:spcPct val="130000"/>
              </a:lnSpc>
              <a:buNone/>
            </a:pPr>
            <a:r>
              <a:rPr lang="en-US" altLang="en-IL" sz="2400" b="1" dirty="0"/>
              <a:t>Integrated</a:t>
            </a:r>
          </a:p>
          <a:p>
            <a:pPr lvl="1">
              <a:lnSpc>
                <a:spcPct val="130000"/>
              </a:lnSpc>
            </a:pPr>
            <a:r>
              <a:rPr lang="en-US" altLang="en-IL" dirty="0"/>
              <a:t>Constructed by integrating multiple, heterogeneous data sources:</a:t>
            </a:r>
          </a:p>
          <a:p>
            <a:pPr marL="914400" lvl="2" indent="0">
              <a:lnSpc>
                <a:spcPct val="130000"/>
              </a:lnSpc>
              <a:buNone/>
            </a:pPr>
            <a:r>
              <a:rPr lang="en-US" altLang="en-IL" dirty="0"/>
              <a:t>relational databases, flat files, on-line transaction records</a:t>
            </a:r>
          </a:p>
          <a:p>
            <a:pPr lvl="1"/>
            <a:r>
              <a:rPr lang="en-US" altLang="en-IL" dirty="0"/>
              <a:t>Data cleaning and data integration techniques are applied.</a:t>
            </a:r>
          </a:p>
          <a:p>
            <a:pPr lvl="1"/>
            <a:r>
              <a:rPr lang="en-US" altLang="en-IL" dirty="0"/>
              <a:t>Ensure </a:t>
            </a:r>
            <a:r>
              <a:rPr lang="en-US" altLang="en-IL" b="1" dirty="0"/>
              <a:t>consistency</a:t>
            </a:r>
            <a:r>
              <a:rPr lang="en-US" altLang="en-IL" dirty="0"/>
              <a:t> in naming conventions, encoding structures, attribute measures, etc.</a:t>
            </a:r>
          </a:p>
          <a:p>
            <a:pPr marL="0" indent="0">
              <a:buNone/>
            </a:pPr>
            <a:r>
              <a:rPr lang="en-US" altLang="en-IL" b="1" dirty="0"/>
              <a:t>Non-Volatile</a:t>
            </a:r>
          </a:p>
          <a:p>
            <a:pPr lvl="1"/>
            <a:r>
              <a:rPr lang="en-US" dirty="0"/>
              <a:t>A physically separate store of data transformed from the operational environment.</a:t>
            </a:r>
          </a:p>
          <a:p>
            <a:pPr lvl="1"/>
            <a:r>
              <a:rPr lang="en-US" dirty="0"/>
              <a:t>Operational update of data does not occur in the data warehouse environment.</a:t>
            </a:r>
          </a:p>
          <a:p>
            <a:pPr marL="457200" lvl="1" indent="0">
              <a:lnSpc>
                <a:spcPct val="130000"/>
              </a:lnSpc>
              <a:buNone/>
            </a:pPr>
            <a:endParaRPr lang="en-US" altLang="en-IL" sz="2400" dirty="0"/>
          </a:p>
          <a:p>
            <a:pPr lvl="1">
              <a:lnSpc>
                <a:spcPct val="130000"/>
              </a:lnSpc>
            </a:pPr>
            <a:endParaRPr lang="en-US" altLang="en-IL" sz="2400" dirty="0"/>
          </a:p>
          <a:p>
            <a:pPr>
              <a:lnSpc>
                <a:spcPct val="130000"/>
              </a:lnSpc>
            </a:pPr>
            <a:endParaRPr lang="en-US" altLang="en-IL" sz="2400" dirty="0"/>
          </a:p>
        </p:txBody>
      </p:sp>
      <p:sp>
        <p:nvSpPr>
          <p:cNvPr id="2" name="Footer Placeholder 1">
            <a:extLst>
              <a:ext uri="{FF2B5EF4-FFF2-40B4-BE49-F238E27FC236}">
                <a16:creationId xmlns:a16="http://schemas.microsoft.com/office/drawing/2014/main" id="{464AADD7-633C-EE49-A443-5E6B1E16232A}"/>
              </a:ext>
            </a:extLst>
          </p:cNvPr>
          <p:cNvSpPr>
            <a:spLocks noGrp="1"/>
          </p:cNvSpPr>
          <p:nvPr>
            <p:ph type="ftr" sz="quarter" idx="10"/>
          </p:nvPr>
        </p:nvSpPr>
        <p:spPr/>
        <p:txBody>
          <a:bodyPr/>
          <a:lstStyle/>
          <a:p>
            <a:r>
              <a:rPr lang="en-US" altLang="en-US"/>
              <a:t>Or Peretz</a:t>
            </a:r>
          </a:p>
        </p:txBody>
      </p:sp>
    </p:spTree>
    <p:extLst>
      <p:ext uri="{BB962C8B-B14F-4D97-AF65-F5344CB8AC3E}">
        <p14:creationId xmlns:p14="http://schemas.microsoft.com/office/powerpoint/2010/main" val="1557285122"/>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16B7378B-A255-C844-AECA-A1F29F18CAD5}"/>
              </a:ext>
            </a:extLst>
          </p:cNvPr>
          <p:cNvSpPr>
            <a:spLocks noGrp="1" noChangeArrowheads="1"/>
          </p:cNvSpPr>
          <p:nvPr>
            <p:ph type="title"/>
          </p:nvPr>
        </p:nvSpPr>
        <p:spPr/>
        <p:txBody>
          <a:bodyPr>
            <a:normAutofit/>
          </a:bodyPr>
          <a:lstStyle/>
          <a:p>
            <a:pPr eaLnBrk="1" hangingPunct="1"/>
            <a:r>
              <a:rPr lang="en-US" altLang="en-IL" dirty="0"/>
              <a:t>Why </a:t>
            </a:r>
            <a:r>
              <a:rPr lang="en-US" altLang="en-IL" dirty="0">
                <a:solidFill>
                  <a:schemeClr val="accent1"/>
                </a:solidFill>
              </a:rPr>
              <a:t>Separate</a:t>
            </a:r>
            <a:r>
              <a:rPr lang="en-US" altLang="en-IL" dirty="0"/>
              <a:t> Data Warehouse?</a:t>
            </a:r>
          </a:p>
        </p:txBody>
      </p:sp>
      <p:sp>
        <p:nvSpPr>
          <p:cNvPr id="50179" name="Rectangle 3">
            <a:extLst>
              <a:ext uri="{FF2B5EF4-FFF2-40B4-BE49-F238E27FC236}">
                <a16:creationId xmlns:a16="http://schemas.microsoft.com/office/drawing/2014/main" id="{78408E13-D42E-E94C-839D-EBCF0AD5D157}"/>
              </a:ext>
            </a:extLst>
          </p:cNvPr>
          <p:cNvSpPr>
            <a:spLocks noGrp="1" noChangeArrowheads="1"/>
          </p:cNvSpPr>
          <p:nvPr>
            <p:ph idx="1"/>
          </p:nvPr>
        </p:nvSpPr>
        <p:spPr>
          <a:xfrm>
            <a:off x="601133" y="1405467"/>
            <a:ext cx="10752667" cy="4771496"/>
          </a:xfrm>
        </p:spPr>
        <p:txBody>
          <a:bodyPr/>
          <a:lstStyle/>
          <a:p>
            <a:pPr marL="0" indent="0" eaLnBrk="1" hangingPunct="1">
              <a:buNone/>
            </a:pPr>
            <a:r>
              <a:rPr lang="en-US" altLang="en-IL" dirty="0"/>
              <a:t>Different functions and different data:</a:t>
            </a:r>
          </a:p>
          <a:p>
            <a:pPr lvl="1" eaLnBrk="1" hangingPunct="1"/>
            <a:r>
              <a:rPr lang="en-US" altLang="en-IL" dirty="0">
                <a:solidFill>
                  <a:srgbClr val="0070C0"/>
                </a:solidFill>
              </a:rPr>
              <a:t>missing data</a:t>
            </a:r>
            <a:r>
              <a:rPr lang="en-US" altLang="en-IL" dirty="0"/>
              <a:t>: Decision support requires historical data which operational DBs do not typically maintain.</a:t>
            </a:r>
          </a:p>
          <a:p>
            <a:pPr lvl="1" eaLnBrk="1" hangingPunct="1"/>
            <a:r>
              <a:rPr lang="en-US" altLang="en-IL" dirty="0">
                <a:solidFill>
                  <a:srgbClr val="0070C0"/>
                </a:solidFill>
              </a:rPr>
              <a:t>data consolidation</a:t>
            </a:r>
            <a:r>
              <a:rPr lang="en-US" altLang="en-IL" dirty="0"/>
              <a:t>:  DS requires consolidation (aggregation, summarization) of data from heterogeneous sources</a:t>
            </a:r>
          </a:p>
          <a:p>
            <a:pPr lvl="1" eaLnBrk="1" hangingPunct="1"/>
            <a:r>
              <a:rPr lang="en-US" altLang="en-IL" dirty="0">
                <a:solidFill>
                  <a:srgbClr val="0070C0"/>
                </a:solidFill>
              </a:rPr>
              <a:t>data quality</a:t>
            </a:r>
            <a:r>
              <a:rPr lang="en-US" altLang="en-IL" dirty="0"/>
              <a:t>: different sources typically use inconsistent data representations</a:t>
            </a:r>
          </a:p>
        </p:txBody>
      </p:sp>
      <p:sp>
        <p:nvSpPr>
          <p:cNvPr id="2" name="Footer Placeholder 1">
            <a:extLst>
              <a:ext uri="{FF2B5EF4-FFF2-40B4-BE49-F238E27FC236}">
                <a16:creationId xmlns:a16="http://schemas.microsoft.com/office/drawing/2014/main" id="{D5FDCF91-85D5-9047-B3CB-28236DA0C19A}"/>
              </a:ext>
            </a:extLst>
          </p:cNvPr>
          <p:cNvSpPr>
            <a:spLocks noGrp="1"/>
          </p:cNvSpPr>
          <p:nvPr>
            <p:ph type="ftr" sz="quarter" idx="10"/>
          </p:nvPr>
        </p:nvSpPr>
        <p:spPr/>
        <p:txBody>
          <a:bodyPr/>
          <a:lstStyle/>
          <a:p>
            <a:r>
              <a:rPr lang="en-US" altLang="en-US"/>
              <a:t>Or Peretz</a:t>
            </a:r>
          </a:p>
        </p:txBody>
      </p:sp>
    </p:spTree>
    <p:extLst>
      <p:ext uri="{BB962C8B-B14F-4D97-AF65-F5344CB8AC3E}">
        <p14:creationId xmlns:p14="http://schemas.microsoft.com/office/powerpoint/2010/main" val="2925103178"/>
      </p:ext>
    </p:extLst>
  </p:cSld>
  <p:clrMapOvr>
    <a:masterClrMapping/>
  </p:clrMapOvr>
  <p:transition>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D34DAE85-8020-344F-BEFE-4D272658D76A}"/>
              </a:ext>
            </a:extLst>
          </p:cNvPr>
          <p:cNvSpPr>
            <a:spLocks noGrp="1" noChangeArrowheads="1"/>
          </p:cNvSpPr>
          <p:nvPr>
            <p:ph type="title"/>
          </p:nvPr>
        </p:nvSpPr>
        <p:spPr>
          <a:xfrm>
            <a:off x="2379134" y="457200"/>
            <a:ext cx="8229600" cy="639762"/>
          </a:xfrm>
        </p:spPr>
        <p:txBody>
          <a:bodyPr/>
          <a:lstStyle/>
          <a:p>
            <a:pPr algn="l" eaLnBrk="1" hangingPunct="1"/>
            <a:r>
              <a:rPr lang="en-US" altLang="en-IL" sz="2800" dirty="0"/>
              <a:t>Data Warehouse Back-End Tools and Utilities</a:t>
            </a:r>
          </a:p>
        </p:txBody>
      </p:sp>
      <p:sp>
        <p:nvSpPr>
          <p:cNvPr id="80899" name="Rectangle 3">
            <a:extLst>
              <a:ext uri="{FF2B5EF4-FFF2-40B4-BE49-F238E27FC236}">
                <a16:creationId xmlns:a16="http://schemas.microsoft.com/office/drawing/2014/main" id="{EED69B2B-330E-4043-9E80-0F5A7BFE9B58}"/>
              </a:ext>
            </a:extLst>
          </p:cNvPr>
          <p:cNvSpPr>
            <a:spLocks noGrp="1" noChangeArrowheads="1"/>
          </p:cNvSpPr>
          <p:nvPr>
            <p:ph idx="1"/>
          </p:nvPr>
        </p:nvSpPr>
        <p:spPr>
          <a:xfrm>
            <a:off x="499533" y="1219200"/>
            <a:ext cx="10964334" cy="5181600"/>
          </a:xfrm>
        </p:spPr>
        <p:txBody>
          <a:bodyPr>
            <a:normAutofit/>
          </a:bodyPr>
          <a:lstStyle/>
          <a:p>
            <a:pPr eaLnBrk="1" hangingPunct="1"/>
            <a:r>
              <a:rPr lang="en-US" altLang="en-IL" sz="2400" b="1" dirty="0"/>
              <a:t>Data extraction</a:t>
            </a:r>
            <a:r>
              <a:rPr lang="en-US" altLang="en-IL" sz="2400" dirty="0"/>
              <a:t>: get data from multiple, heterogeneous, and external sources</a:t>
            </a:r>
          </a:p>
          <a:p>
            <a:pPr eaLnBrk="1" hangingPunct="1"/>
            <a:r>
              <a:rPr lang="en-US" altLang="en-IL" sz="2400" b="1" dirty="0"/>
              <a:t>Data cleaning</a:t>
            </a:r>
            <a:r>
              <a:rPr lang="en-US" altLang="en-IL" sz="2400" dirty="0"/>
              <a:t>: detect errors in the data and rectify them when possible</a:t>
            </a:r>
          </a:p>
          <a:p>
            <a:pPr eaLnBrk="1" hangingPunct="1"/>
            <a:r>
              <a:rPr lang="en-US" altLang="en-IL" sz="2400" b="1" dirty="0"/>
              <a:t>Data transformation</a:t>
            </a:r>
            <a:r>
              <a:rPr lang="en-US" altLang="en-IL" sz="2400" dirty="0"/>
              <a:t>: convert data from legacy or host format to warehouse format</a:t>
            </a:r>
          </a:p>
          <a:p>
            <a:pPr eaLnBrk="1" hangingPunct="1"/>
            <a:r>
              <a:rPr lang="en-US" altLang="en-IL" sz="2400" b="1" dirty="0"/>
              <a:t>Load</a:t>
            </a:r>
            <a:r>
              <a:rPr lang="en-US" altLang="en-IL" sz="2400" dirty="0"/>
              <a:t>: sort, summarize, consolidate, compute views, check integrity, and build indices and partitions</a:t>
            </a:r>
          </a:p>
          <a:p>
            <a:pPr eaLnBrk="1" hangingPunct="1"/>
            <a:r>
              <a:rPr lang="en-US" altLang="en-IL" sz="2400" b="1" dirty="0"/>
              <a:t>Refresh</a:t>
            </a:r>
            <a:r>
              <a:rPr lang="en-US" altLang="en-IL" sz="2400" dirty="0"/>
              <a:t>: propagate the updates from the data sources to the warehouse</a:t>
            </a:r>
          </a:p>
        </p:txBody>
      </p:sp>
      <p:sp>
        <p:nvSpPr>
          <p:cNvPr id="2" name="Footer Placeholder 1">
            <a:extLst>
              <a:ext uri="{FF2B5EF4-FFF2-40B4-BE49-F238E27FC236}">
                <a16:creationId xmlns:a16="http://schemas.microsoft.com/office/drawing/2014/main" id="{76559B6E-C498-A64D-8CD8-61EB4FB45E9A}"/>
              </a:ext>
            </a:extLst>
          </p:cNvPr>
          <p:cNvSpPr>
            <a:spLocks noGrp="1"/>
          </p:cNvSpPr>
          <p:nvPr>
            <p:ph type="ftr" sz="quarter" idx="10"/>
          </p:nvPr>
        </p:nvSpPr>
        <p:spPr/>
        <p:txBody>
          <a:bodyPr/>
          <a:lstStyle/>
          <a:p>
            <a:r>
              <a:rPr lang="en-US" altLang="en-US"/>
              <a:t>Or Peretz</a:t>
            </a:r>
          </a:p>
        </p:txBody>
      </p:sp>
    </p:spTree>
    <p:extLst>
      <p:ext uri="{BB962C8B-B14F-4D97-AF65-F5344CB8AC3E}">
        <p14:creationId xmlns:p14="http://schemas.microsoft.com/office/powerpoint/2010/main" val="3098922412"/>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D34DAE85-8020-344F-BEFE-4D272658D76A}"/>
              </a:ext>
            </a:extLst>
          </p:cNvPr>
          <p:cNvSpPr>
            <a:spLocks noGrp="1" noChangeArrowheads="1"/>
          </p:cNvSpPr>
          <p:nvPr>
            <p:ph type="title"/>
          </p:nvPr>
        </p:nvSpPr>
        <p:spPr>
          <a:xfrm>
            <a:off x="2709334" y="457200"/>
            <a:ext cx="8229600" cy="639762"/>
          </a:xfrm>
        </p:spPr>
        <p:txBody>
          <a:bodyPr/>
          <a:lstStyle/>
          <a:p>
            <a:pPr algn="l" eaLnBrk="1" hangingPunct="1"/>
            <a:r>
              <a:rPr lang="en-US" altLang="en-IL" sz="2800" dirty="0"/>
              <a:t>Data Warehouse Process Architecture</a:t>
            </a:r>
          </a:p>
        </p:txBody>
      </p:sp>
      <p:sp>
        <p:nvSpPr>
          <p:cNvPr id="80899" name="Rectangle 3">
            <a:extLst>
              <a:ext uri="{FF2B5EF4-FFF2-40B4-BE49-F238E27FC236}">
                <a16:creationId xmlns:a16="http://schemas.microsoft.com/office/drawing/2014/main" id="{EED69B2B-330E-4043-9E80-0F5A7BFE9B58}"/>
              </a:ext>
            </a:extLst>
          </p:cNvPr>
          <p:cNvSpPr>
            <a:spLocks noGrp="1" noChangeArrowheads="1"/>
          </p:cNvSpPr>
          <p:nvPr>
            <p:ph idx="1"/>
          </p:nvPr>
        </p:nvSpPr>
        <p:spPr>
          <a:xfrm>
            <a:off x="499533" y="1219200"/>
            <a:ext cx="10964334" cy="5181600"/>
          </a:xfrm>
        </p:spPr>
        <p:txBody>
          <a:bodyPr>
            <a:normAutofit/>
          </a:bodyPr>
          <a:lstStyle/>
          <a:p>
            <a:pPr marL="0" indent="0">
              <a:buNone/>
            </a:pPr>
            <a:r>
              <a:rPr lang="en-US" sz="2400" b="1" dirty="0"/>
              <a:t>Centralized Process Architecture </a:t>
            </a:r>
            <a:r>
              <a:rPr lang="en-US" sz="2400" dirty="0"/>
              <a:t>- the data is collected into single centralized storage and processed upon completion by a single machine with a huge structure in terms of memory, processor, and storage.</a:t>
            </a:r>
          </a:p>
          <a:p>
            <a:pPr marL="0" indent="0">
              <a:buNone/>
            </a:pPr>
            <a:r>
              <a:rPr lang="en-US" sz="2400" b="1" dirty="0"/>
              <a:t>Distributed Process Architecture </a:t>
            </a:r>
            <a:r>
              <a:rPr lang="en-US" sz="2400" dirty="0"/>
              <a:t>-  information and its processing are allocated across data centers, and its processing is distributed across data centers, and processing of data is localized with the group of the results into centralized storage.</a:t>
            </a:r>
            <a:endParaRPr lang="en-US" altLang="en-IL" sz="2400" dirty="0"/>
          </a:p>
        </p:txBody>
      </p:sp>
      <p:sp>
        <p:nvSpPr>
          <p:cNvPr id="2" name="Footer Placeholder 1">
            <a:extLst>
              <a:ext uri="{FF2B5EF4-FFF2-40B4-BE49-F238E27FC236}">
                <a16:creationId xmlns:a16="http://schemas.microsoft.com/office/drawing/2014/main" id="{76559B6E-C498-A64D-8CD8-61EB4FB45E9A}"/>
              </a:ext>
            </a:extLst>
          </p:cNvPr>
          <p:cNvSpPr>
            <a:spLocks noGrp="1"/>
          </p:cNvSpPr>
          <p:nvPr>
            <p:ph type="ftr" sz="quarter" idx="10"/>
          </p:nvPr>
        </p:nvSpPr>
        <p:spPr/>
        <p:txBody>
          <a:bodyPr/>
          <a:lstStyle/>
          <a:p>
            <a:r>
              <a:rPr lang="en-US" altLang="en-US"/>
              <a:t>Or Peretz</a:t>
            </a:r>
          </a:p>
        </p:txBody>
      </p:sp>
    </p:spTree>
    <p:extLst>
      <p:ext uri="{BB962C8B-B14F-4D97-AF65-F5344CB8AC3E}">
        <p14:creationId xmlns:p14="http://schemas.microsoft.com/office/powerpoint/2010/main" val="2010344152"/>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a:extLst>
              <a:ext uri="{FF2B5EF4-FFF2-40B4-BE49-F238E27FC236}">
                <a16:creationId xmlns:a16="http://schemas.microsoft.com/office/drawing/2014/main" id="{C8D84388-3BB2-4E4C-AB75-BB3EABC0C93D}"/>
              </a:ext>
            </a:extLst>
          </p:cNvPr>
          <p:cNvSpPr>
            <a:spLocks noGrp="1" noChangeArrowheads="1"/>
          </p:cNvSpPr>
          <p:nvPr>
            <p:ph type="title"/>
          </p:nvPr>
        </p:nvSpPr>
        <p:spPr/>
        <p:txBody>
          <a:bodyPr>
            <a:normAutofit/>
          </a:bodyPr>
          <a:lstStyle/>
          <a:p>
            <a:pPr algn="ctr"/>
            <a:r>
              <a:rPr lang="en-US" altLang="en-IL" sz="3200" b="1" dirty="0">
                <a:latin typeface="+mn-lt"/>
              </a:rPr>
              <a:t>Multidimensional Modeling</a:t>
            </a:r>
          </a:p>
        </p:txBody>
      </p:sp>
      <p:sp>
        <p:nvSpPr>
          <p:cNvPr id="5125" name="Rectangle 3">
            <a:extLst>
              <a:ext uri="{FF2B5EF4-FFF2-40B4-BE49-F238E27FC236}">
                <a16:creationId xmlns:a16="http://schemas.microsoft.com/office/drawing/2014/main" id="{FB28E632-3C6A-B54D-8034-C3ED47E1ABFD}"/>
              </a:ext>
            </a:extLst>
          </p:cNvPr>
          <p:cNvSpPr>
            <a:spLocks noGrp="1" noChangeArrowheads="1"/>
          </p:cNvSpPr>
          <p:nvPr>
            <p:ph type="body" idx="1"/>
          </p:nvPr>
        </p:nvSpPr>
        <p:spPr>
          <a:xfrm>
            <a:off x="474133" y="1490133"/>
            <a:ext cx="10879667" cy="4407430"/>
          </a:xfrm>
        </p:spPr>
        <p:txBody>
          <a:bodyPr/>
          <a:lstStyle/>
          <a:p>
            <a:pPr marL="0" indent="0">
              <a:buNone/>
            </a:pPr>
            <a:r>
              <a:rPr lang="en-US" altLang="en-GB" dirty="0"/>
              <a:t>A technique for structuring data around the business concepts.</a:t>
            </a:r>
          </a:p>
          <a:p>
            <a:r>
              <a:rPr lang="en-US" altLang="en-GB" i="1" dirty="0"/>
              <a:t>ER</a:t>
            </a:r>
            <a:r>
              <a:rPr lang="en-US" altLang="en-GB" dirty="0"/>
              <a:t> models describe </a:t>
            </a:r>
            <a:r>
              <a:rPr lang="en-US" altLang="en-GB" b="1" dirty="0"/>
              <a:t>entities</a:t>
            </a:r>
            <a:r>
              <a:rPr lang="en-US" altLang="en-GB" dirty="0"/>
              <a:t> and </a:t>
            </a:r>
            <a:r>
              <a:rPr lang="en-US" altLang="en-GB" b="1" dirty="0"/>
              <a:t>relationships</a:t>
            </a:r>
          </a:p>
          <a:p>
            <a:r>
              <a:rPr lang="en-GB" altLang="en-GB" i="1" dirty="0"/>
              <a:t>Multi-</a:t>
            </a:r>
            <a:r>
              <a:rPr lang="en-US" altLang="en-GB" i="1" dirty="0"/>
              <a:t>dimensional </a:t>
            </a:r>
            <a:r>
              <a:rPr lang="en-US" altLang="en-GB" dirty="0"/>
              <a:t>models describe </a:t>
            </a:r>
            <a:r>
              <a:rPr lang="en-US" altLang="en-GB" b="1" dirty="0"/>
              <a:t>measures</a:t>
            </a:r>
            <a:r>
              <a:rPr lang="en-US" altLang="en-GB" dirty="0"/>
              <a:t> and </a:t>
            </a:r>
            <a:r>
              <a:rPr lang="en-US" altLang="en-GB" b="1" dirty="0"/>
              <a:t>dimensions</a:t>
            </a:r>
          </a:p>
          <a:p>
            <a:pPr lvl="1"/>
            <a:r>
              <a:rPr lang="en-US" altLang="en-GB" b="1" u="sng" dirty="0"/>
              <a:t>Measures</a:t>
            </a:r>
            <a:r>
              <a:rPr lang="en-US" altLang="en-GB" dirty="0"/>
              <a:t> - numerical data being tracked in business, can be analyzed a</a:t>
            </a:r>
            <a:r>
              <a:rPr lang="en-GB" altLang="en-GB" dirty="0" err="1"/>
              <a:t>nd</a:t>
            </a:r>
            <a:r>
              <a:rPr lang="en-GB" altLang="en-GB" dirty="0"/>
              <a:t> examined</a:t>
            </a:r>
            <a:endParaRPr lang="en-US" altLang="en-GB" dirty="0"/>
          </a:p>
          <a:p>
            <a:pPr lvl="1"/>
            <a:r>
              <a:rPr lang="en-US" altLang="en-GB" b="1" u="sng" dirty="0"/>
              <a:t>Dimensions</a:t>
            </a:r>
            <a:r>
              <a:rPr lang="en-US" altLang="en-GB" dirty="0"/>
              <a:t> - business parameters that define a transaction</a:t>
            </a:r>
          </a:p>
          <a:p>
            <a:endParaRPr lang="en-US" altLang="en-IL" dirty="0"/>
          </a:p>
        </p:txBody>
      </p:sp>
      <p:sp>
        <p:nvSpPr>
          <p:cNvPr id="2" name="Footer Placeholder 1">
            <a:extLst>
              <a:ext uri="{FF2B5EF4-FFF2-40B4-BE49-F238E27FC236}">
                <a16:creationId xmlns:a16="http://schemas.microsoft.com/office/drawing/2014/main" id="{C62354E2-7EDD-124D-B1BE-3C8DDFEEAA7D}"/>
              </a:ext>
            </a:extLst>
          </p:cNvPr>
          <p:cNvSpPr>
            <a:spLocks noGrp="1"/>
          </p:cNvSpPr>
          <p:nvPr>
            <p:ph type="ftr" sz="quarter" idx="10"/>
          </p:nvPr>
        </p:nvSpPr>
        <p:spPr/>
        <p:txBody>
          <a:bodyPr/>
          <a:lstStyle/>
          <a:p>
            <a:r>
              <a:rPr lang="en-US" altLang="en-US"/>
              <a:t>Or Peretz</a:t>
            </a:r>
          </a:p>
        </p:txBody>
      </p:sp>
    </p:spTree>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a:extLst>
              <a:ext uri="{FF2B5EF4-FFF2-40B4-BE49-F238E27FC236}">
                <a16:creationId xmlns:a16="http://schemas.microsoft.com/office/drawing/2014/main" id="{B38943B0-975E-5F47-A0B8-A0569D48BFBB}"/>
              </a:ext>
            </a:extLst>
          </p:cNvPr>
          <p:cNvSpPr>
            <a:spLocks noGrp="1" noChangeArrowheads="1"/>
          </p:cNvSpPr>
          <p:nvPr>
            <p:ph type="title"/>
          </p:nvPr>
        </p:nvSpPr>
        <p:spPr/>
        <p:txBody>
          <a:bodyPr>
            <a:normAutofit/>
          </a:bodyPr>
          <a:lstStyle/>
          <a:p>
            <a:pPr algn="ctr"/>
            <a:r>
              <a:rPr lang="en-US" altLang="en-GB" sz="3200" b="1" dirty="0">
                <a:latin typeface="+mn-lt"/>
              </a:rPr>
              <a:t>The Multi-Dimensional Model</a:t>
            </a:r>
          </a:p>
        </p:txBody>
      </p:sp>
      <p:sp>
        <p:nvSpPr>
          <p:cNvPr id="4102" name="Rectangle 4">
            <a:extLst>
              <a:ext uri="{FF2B5EF4-FFF2-40B4-BE49-F238E27FC236}">
                <a16:creationId xmlns:a16="http://schemas.microsoft.com/office/drawing/2014/main" id="{38FE7E56-CAC9-D14A-B945-6783C0FD84CF}"/>
              </a:ext>
            </a:extLst>
          </p:cNvPr>
          <p:cNvSpPr>
            <a:spLocks noChangeArrowheads="1"/>
          </p:cNvSpPr>
          <p:nvPr/>
        </p:nvSpPr>
        <p:spPr bwMode="auto">
          <a:xfrm>
            <a:off x="4572000" y="2785532"/>
            <a:ext cx="4191000" cy="144780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4103" name="Text Box 5">
            <a:extLst>
              <a:ext uri="{FF2B5EF4-FFF2-40B4-BE49-F238E27FC236}">
                <a16:creationId xmlns:a16="http://schemas.microsoft.com/office/drawing/2014/main" id="{74FD915F-47AF-A641-8580-A745443BFD87}"/>
              </a:ext>
            </a:extLst>
          </p:cNvPr>
          <p:cNvSpPr txBox="1">
            <a:spLocks noChangeArrowheads="1"/>
          </p:cNvSpPr>
          <p:nvPr/>
        </p:nvSpPr>
        <p:spPr bwMode="auto">
          <a:xfrm>
            <a:off x="4572000" y="2785532"/>
            <a:ext cx="47561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GB" sz="1400"/>
              <a:t>Prod Code	Time Code 	Store Code	 Sales	Qty	</a:t>
            </a:r>
            <a:endParaRPr lang="en-US" altLang="en-GB"/>
          </a:p>
        </p:txBody>
      </p:sp>
      <p:sp>
        <p:nvSpPr>
          <p:cNvPr id="4104" name="Line 6">
            <a:extLst>
              <a:ext uri="{FF2B5EF4-FFF2-40B4-BE49-F238E27FC236}">
                <a16:creationId xmlns:a16="http://schemas.microsoft.com/office/drawing/2014/main" id="{D552DB62-3A4C-F143-870E-697AB749AE7B}"/>
              </a:ext>
            </a:extLst>
          </p:cNvPr>
          <p:cNvSpPr>
            <a:spLocks noChangeShapeType="1"/>
          </p:cNvSpPr>
          <p:nvPr/>
        </p:nvSpPr>
        <p:spPr bwMode="auto">
          <a:xfrm>
            <a:off x="4572000" y="3166532"/>
            <a:ext cx="4191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05" name="Line 7">
            <a:extLst>
              <a:ext uri="{FF2B5EF4-FFF2-40B4-BE49-F238E27FC236}">
                <a16:creationId xmlns:a16="http://schemas.microsoft.com/office/drawing/2014/main" id="{1D7858C2-AE37-454F-B3CD-572572ADC1B6}"/>
              </a:ext>
            </a:extLst>
          </p:cNvPr>
          <p:cNvSpPr>
            <a:spLocks noChangeShapeType="1"/>
          </p:cNvSpPr>
          <p:nvPr/>
        </p:nvSpPr>
        <p:spPr bwMode="auto">
          <a:xfrm>
            <a:off x="5486400" y="2785532"/>
            <a:ext cx="0" cy="1447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06" name="Line 8">
            <a:extLst>
              <a:ext uri="{FF2B5EF4-FFF2-40B4-BE49-F238E27FC236}">
                <a16:creationId xmlns:a16="http://schemas.microsoft.com/office/drawing/2014/main" id="{F95C00CB-F790-4C42-B22C-BEB7A1EB7A65}"/>
              </a:ext>
            </a:extLst>
          </p:cNvPr>
          <p:cNvSpPr>
            <a:spLocks noChangeShapeType="1"/>
          </p:cNvSpPr>
          <p:nvPr/>
        </p:nvSpPr>
        <p:spPr bwMode="auto">
          <a:xfrm>
            <a:off x="6400800" y="2785532"/>
            <a:ext cx="0" cy="1447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07" name="Line 9">
            <a:extLst>
              <a:ext uri="{FF2B5EF4-FFF2-40B4-BE49-F238E27FC236}">
                <a16:creationId xmlns:a16="http://schemas.microsoft.com/office/drawing/2014/main" id="{66BBFC74-9048-1643-A879-5B490814AE91}"/>
              </a:ext>
            </a:extLst>
          </p:cNvPr>
          <p:cNvSpPr>
            <a:spLocks noChangeShapeType="1"/>
          </p:cNvSpPr>
          <p:nvPr/>
        </p:nvSpPr>
        <p:spPr bwMode="auto">
          <a:xfrm>
            <a:off x="7315200" y="2785532"/>
            <a:ext cx="0" cy="1447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08" name="Line 10">
            <a:extLst>
              <a:ext uri="{FF2B5EF4-FFF2-40B4-BE49-F238E27FC236}">
                <a16:creationId xmlns:a16="http://schemas.microsoft.com/office/drawing/2014/main" id="{CE606625-BC34-1D48-9CBF-252B62C7F67A}"/>
              </a:ext>
            </a:extLst>
          </p:cNvPr>
          <p:cNvSpPr>
            <a:spLocks noChangeShapeType="1"/>
          </p:cNvSpPr>
          <p:nvPr/>
        </p:nvSpPr>
        <p:spPr bwMode="auto">
          <a:xfrm>
            <a:off x="8077200" y="2785532"/>
            <a:ext cx="0" cy="1447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09" name="Rectangle 11">
            <a:extLst>
              <a:ext uri="{FF2B5EF4-FFF2-40B4-BE49-F238E27FC236}">
                <a16:creationId xmlns:a16="http://schemas.microsoft.com/office/drawing/2014/main" id="{7E4162FA-1850-DF47-A1C0-FE9183F65978}"/>
              </a:ext>
            </a:extLst>
          </p:cNvPr>
          <p:cNvSpPr>
            <a:spLocks noChangeArrowheads="1"/>
          </p:cNvSpPr>
          <p:nvPr/>
        </p:nvSpPr>
        <p:spPr bwMode="auto">
          <a:xfrm>
            <a:off x="2438400" y="1871132"/>
            <a:ext cx="1295400" cy="1066800"/>
          </a:xfrm>
          <a:prstGeom prst="rect">
            <a:avLst/>
          </a:prstGeom>
          <a:noFill/>
          <a:ln w="19050">
            <a:solidFill>
              <a:schemeClr val="tx1"/>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GB" altLang="en-GB"/>
          </a:p>
        </p:txBody>
      </p:sp>
      <p:sp>
        <p:nvSpPr>
          <p:cNvPr id="4110" name="Text Box 12">
            <a:extLst>
              <a:ext uri="{FF2B5EF4-FFF2-40B4-BE49-F238E27FC236}">
                <a16:creationId xmlns:a16="http://schemas.microsoft.com/office/drawing/2014/main" id="{28FE381C-DBA7-2242-A6CF-628A9BBEE66F}"/>
              </a:ext>
            </a:extLst>
          </p:cNvPr>
          <p:cNvSpPr txBox="1">
            <a:spLocks noChangeArrowheads="1"/>
          </p:cNvSpPr>
          <p:nvPr/>
        </p:nvSpPr>
        <p:spPr bwMode="auto">
          <a:xfrm>
            <a:off x="2514601" y="1871132"/>
            <a:ext cx="8985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GB" sz="1400"/>
              <a:t>Store Info</a:t>
            </a:r>
            <a:endParaRPr lang="en-US" altLang="en-GB"/>
          </a:p>
        </p:txBody>
      </p:sp>
      <p:sp>
        <p:nvSpPr>
          <p:cNvPr id="4111" name="Rectangle 13">
            <a:extLst>
              <a:ext uri="{FF2B5EF4-FFF2-40B4-BE49-F238E27FC236}">
                <a16:creationId xmlns:a16="http://schemas.microsoft.com/office/drawing/2014/main" id="{922BBA25-DC16-3945-91B9-1C8BAB69994C}"/>
              </a:ext>
            </a:extLst>
          </p:cNvPr>
          <p:cNvSpPr>
            <a:spLocks noChangeArrowheads="1"/>
          </p:cNvSpPr>
          <p:nvPr/>
        </p:nvSpPr>
        <p:spPr bwMode="auto">
          <a:xfrm>
            <a:off x="1828800" y="3318932"/>
            <a:ext cx="1295400" cy="1066800"/>
          </a:xfrm>
          <a:prstGeom prst="rect">
            <a:avLst/>
          </a:prstGeom>
          <a:noFill/>
          <a:ln w="19050">
            <a:solidFill>
              <a:schemeClr val="tx1"/>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4112" name="Text Box 14">
            <a:extLst>
              <a:ext uri="{FF2B5EF4-FFF2-40B4-BE49-F238E27FC236}">
                <a16:creationId xmlns:a16="http://schemas.microsoft.com/office/drawing/2014/main" id="{C6B135E8-6C34-D34C-85F3-A0CAFE4ED8C4}"/>
              </a:ext>
            </a:extLst>
          </p:cNvPr>
          <p:cNvSpPr txBox="1">
            <a:spLocks noChangeArrowheads="1"/>
          </p:cNvSpPr>
          <p:nvPr/>
        </p:nvSpPr>
        <p:spPr bwMode="auto">
          <a:xfrm>
            <a:off x="1905001" y="3318932"/>
            <a:ext cx="10763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GB" sz="1400"/>
              <a:t>Product Info</a:t>
            </a:r>
            <a:endParaRPr lang="en-US" altLang="en-GB"/>
          </a:p>
        </p:txBody>
      </p:sp>
      <p:sp>
        <p:nvSpPr>
          <p:cNvPr id="4113" name="Rectangle 15">
            <a:extLst>
              <a:ext uri="{FF2B5EF4-FFF2-40B4-BE49-F238E27FC236}">
                <a16:creationId xmlns:a16="http://schemas.microsoft.com/office/drawing/2014/main" id="{EF75846C-1D80-F944-91E9-84D3A25D4063}"/>
              </a:ext>
            </a:extLst>
          </p:cNvPr>
          <p:cNvSpPr>
            <a:spLocks noChangeArrowheads="1"/>
          </p:cNvSpPr>
          <p:nvPr/>
        </p:nvSpPr>
        <p:spPr bwMode="auto">
          <a:xfrm>
            <a:off x="3581400" y="4766732"/>
            <a:ext cx="1295400" cy="1066800"/>
          </a:xfrm>
          <a:prstGeom prst="rect">
            <a:avLst/>
          </a:prstGeom>
          <a:noFill/>
          <a:ln w="19050">
            <a:solidFill>
              <a:schemeClr val="tx1"/>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4114" name="Text Box 16">
            <a:extLst>
              <a:ext uri="{FF2B5EF4-FFF2-40B4-BE49-F238E27FC236}">
                <a16:creationId xmlns:a16="http://schemas.microsoft.com/office/drawing/2014/main" id="{F31E0279-904F-6340-AB7C-032DB7D50429}"/>
              </a:ext>
            </a:extLst>
          </p:cNvPr>
          <p:cNvSpPr txBox="1">
            <a:spLocks noChangeArrowheads="1"/>
          </p:cNvSpPr>
          <p:nvPr/>
        </p:nvSpPr>
        <p:spPr bwMode="auto">
          <a:xfrm>
            <a:off x="3810001" y="4766732"/>
            <a:ext cx="8985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GB" sz="1400"/>
              <a:t>Time Info</a:t>
            </a:r>
            <a:endParaRPr lang="en-US" altLang="en-GB"/>
          </a:p>
        </p:txBody>
      </p:sp>
      <p:sp>
        <p:nvSpPr>
          <p:cNvPr id="4116" name="Text Box 18">
            <a:extLst>
              <a:ext uri="{FF2B5EF4-FFF2-40B4-BE49-F238E27FC236}">
                <a16:creationId xmlns:a16="http://schemas.microsoft.com/office/drawing/2014/main" id="{E08C5709-7029-BA45-92FB-574C679C1E17}"/>
              </a:ext>
            </a:extLst>
          </p:cNvPr>
          <p:cNvSpPr txBox="1">
            <a:spLocks noChangeArrowheads="1"/>
          </p:cNvSpPr>
          <p:nvPr/>
        </p:nvSpPr>
        <p:spPr bwMode="auto">
          <a:xfrm>
            <a:off x="7315201" y="2023532"/>
            <a:ext cx="18764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GB" sz="1600"/>
              <a:t>Numerical Measures</a:t>
            </a:r>
            <a:endParaRPr lang="en-US" altLang="en-GB"/>
          </a:p>
        </p:txBody>
      </p:sp>
      <p:sp>
        <p:nvSpPr>
          <p:cNvPr id="4117" name="Line 19">
            <a:extLst>
              <a:ext uri="{FF2B5EF4-FFF2-40B4-BE49-F238E27FC236}">
                <a16:creationId xmlns:a16="http://schemas.microsoft.com/office/drawing/2014/main" id="{BC96A399-DB7B-2D41-B21D-69046B7B9C09}"/>
              </a:ext>
            </a:extLst>
          </p:cNvPr>
          <p:cNvSpPr>
            <a:spLocks noChangeShapeType="1"/>
          </p:cNvSpPr>
          <p:nvPr/>
        </p:nvSpPr>
        <p:spPr bwMode="auto">
          <a:xfrm flipH="1">
            <a:off x="7696200" y="2328332"/>
            <a:ext cx="3810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18" name="Line 20">
            <a:extLst>
              <a:ext uri="{FF2B5EF4-FFF2-40B4-BE49-F238E27FC236}">
                <a16:creationId xmlns:a16="http://schemas.microsoft.com/office/drawing/2014/main" id="{01BE0F24-75C2-F74D-8B1D-AD3397C42836}"/>
              </a:ext>
            </a:extLst>
          </p:cNvPr>
          <p:cNvSpPr>
            <a:spLocks noChangeShapeType="1"/>
          </p:cNvSpPr>
          <p:nvPr/>
        </p:nvSpPr>
        <p:spPr bwMode="auto">
          <a:xfrm>
            <a:off x="8153400" y="2328332"/>
            <a:ext cx="30480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19" name="Text Box 21">
            <a:extLst>
              <a:ext uri="{FF2B5EF4-FFF2-40B4-BE49-F238E27FC236}">
                <a16:creationId xmlns:a16="http://schemas.microsoft.com/office/drawing/2014/main" id="{9F7C093C-102A-C14E-A5AB-119868358C8F}"/>
              </a:ext>
            </a:extLst>
          </p:cNvPr>
          <p:cNvSpPr txBox="1">
            <a:spLocks noChangeArrowheads="1"/>
          </p:cNvSpPr>
          <p:nvPr/>
        </p:nvSpPr>
        <p:spPr bwMode="auto">
          <a:xfrm>
            <a:off x="4721226" y="1871133"/>
            <a:ext cx="2697163"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GB" sz="1600"/>
              <a:t>Key columns joining fact table</a:t>
            </a:r>
          </a:p>
          <a:p>
            <a:pPr algn="ctr"/>
            <a:r>
              <a:rPr lang="en-US" altLang="en-GB" sz="1600"/>
              <a:t>to dimension tables</a:t>
            </a:r>
            <a:endParaRPr lang="en-US" altLang="en-GB"/>
          </a:p>
        </p:txBody>
      </p:sp>
      <p:sp>
        <p:nvSpPr>
          <p:cNvPr id="4120" name="Line 22">
            <a:extLst>
              <a:ext uri="{FF2B5EF4-FFF2-40B4-BE49-F238E27FC236}">
                <a16:creationId xmlns:a16="http://schemas.microsoft.com/office/drawing/2014/main" id="{B3D2F552-69DC-C448-8988-66CD648370C9}"/>
              </a:ext>
            </a:extLst>
          </p:cNvPr>
          <p:cNvSpPr>
            <a:spLocks noChangeShapeType="1"/>
          </p:cNvSpPr>
          <p:nvPr/>
        </p:nvSpPr>
        <p:spPr bwMode="auto">
          <a:xfrm flipH="1">
            <a:off x="5029200" y="2404532"/>
            <a:ext cx="7620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21" name="Line 23">
            <a:extLst>
              <a:ext uri="{FF2B5EF4-FFF2-40B4-BE49-F238E27FC236}">
                <a16:creationId xmlns:a16="http://schemas.microsoft.com/office/drawing/2014/main" id="{0FDF37E6-9256-C94D-84A6-AD230E35DD1C}"/>
              </a:ext>
            </a:extLst>
          </p:cNvPr>
          <p:cNvSpPr>
            <a:spLocks noChangeShapeType="1"/>
          </p:cNvSpPr>
          <p:nvPr/>
        </p:nvSpPr>
        <p:spPr bwMode="auto">
          <a:xfrm>
            <a:off x="6019800" y="2404532"/>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22" name="Line 24">
            <a:extLst>
              <a:ext uri="{FF2B5EF4-FFF2-40B4-BE49-F238E27FC236}">
                <a16:creationId xmlns:a16="http://schemas.microsoft.com/office/drawing/2014/main" id="{A3C890C5-B49E-C34D-A63E-633BBD302F74}"/>
              </a:ext>
            </a:extLst>
          </p:cNvPr>
          <p:cNvSpPr>
            <a:spLocks noChangeShapeType="1"/>
          </p:cNvSpPr>
          <p:nvPr/>
        </p:nvSpPr>
        <p:spPr bwMode="auto">
          <a:xfrm>
            <a:off x="6324600" y="2404532"/>
            <a:ext cx="5334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23" name="Text Box 25">
            <a:extLst>
              <a:ext uri="{FF2B5EF4-FFF2-40B4-BE49-F238E27FC236}">
                <a16:creationId xmlns:a16="http://schemas.microsoft.com/office/drawing/2014/main" id="{5C512341-F5A8-F74F-842D-C32D87883F82}"/>
              </a:ext>
            </a:extLst>
          </p:cNvPr>
          <p:cNvSpPr txBox="1">
            <a:spLocks noChangeArrowheads="1"/>
          </p:cNvSpPr>
          <p:nvPr/>
        </p:nvSpPr>
        <p:spPr bwMode="auto">
          <a:xfrm>
            <a:off x="8763000" y="3115732"/>
            <a:ext cx="1581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GB" sz="1800">
                <a:latin typeface="Arial" panose="020B0604020202020204" pitchFamily="34" charset="0"/>
              </a:rPr>
              <a:t>Fact table for </a:t>
            </a:r>
          </a:p>
          <a:p>
            <a:r>
              <a:rPr lang="en-US" altLang="en-GB" sz="1800">
                <a:latin typeface="Arial" panose="020B0604020202020204" pitchFamily="34" charset="0"/>
              </a:rPr>
              <a:t>measures</a:t>
            </a:r>
            <a:endParaRPr lang="en-US" altLang="en-GB"/>
          </a:p>
        </p:txBody>
      </p:sp>
      <p:sp>
        <p:nvSpPr>
          <p:cNvPr id="4124" name="Line 26">
            <a:extLst>
              <a:ext uri="{FF2B5EF4-FFF2-40B4-BE49-F238E27FC236}">
                <a16:creationId xmlns:a16="http://schemas.microsoft.com/office/drawing/2014/main" id="{59E4C600-71F9-EC45-9E31-018C5368FF91}"/>
              </a:ext>
            </a:extLst>
          </p:cNvPr>
          <p:cNvSpPr>
            <a:spLocks noChangeShapeType="1"/>
          </p:cNvSpPr>
          <p:nvPr/>
        </p:nvSpPr>
        <p:spPr bwMode="auto">
          <a:xfrm>
            <a:off x="2438400" y="2175932"/>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25" name="Line 27">
            <a:extLst>
              <a:ext uri="{FF2B5EF4-FFF2-40B4-BE49-F238E27FC236}">
                <a16:creationId xmlns:a16="http://schemas.microsoft.com/office/drawing/2014/main" id="{27E0D534-D6BE-D14C-AE3F-E9C8468DDE15}"/>
              </a:ext>
            </a:extLst>
          </p:cNvPr>
          <p:cNvSpPr>
            <a:spLocks noChangeShapeType="1"/>
          </p:cNvSpPr>
          <p:nvPr/>
        </p:nvSpPr>
        <p:spPr bwMode="auto">
          <a:xfrm>
            <a:off x="1828800" y="3623732"/>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26" name="Line 28">
            <a:extLst>
              <a:ext uri="{FF2B5EF4-FFF2-40B4-BE49-F238E27FC236}">
                <a16:creationId xmlns:a16="http://schemas.microsoft.com/office/drawing/2014/main" id="{35DD8D22-502C-DD4E-915F-43D29361BEF8}"/>
              </a:ext>
            </a:extLst>
          </p:cNvPr>
          <p:cNvSpPr>
            <a:spLocks noChangeShapeType="1"/>
          </p:cNvSpPr>
          <p:nvPr/>
        </p:nvSpPr>
        <p:spPr bwMode="auto">
          <a:xfrm>
            <a:off x="3581400" y="5071532"/>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27" name="Line 29">
            <a:extLst>
              <a:ext uri="{FF2B5EF4-FFF2-40B4-BE49-F238E27FC236}">
                <a16:creationId xmlns:a16="http://schemas.microsoft.com/office/drawing/2014/main" id="{5D3CB2E5-4FCE-7C48-A6F8-ACD745B9E1DB}"/>
              </a:ext>
            </a:extLst>
          </p:cNvPr>
          <p:cNvSpPr>
            <a:spLocks noChangeShapeType="1"/>
          </p:cNvSpPr>
          <p:nvPr/>
        </p:nvSpPr>
        <p:spPr bwMode="auto">
          <a:xfrm>
            <a:off x="3810000" y="2480732"/>
            <a:ext cx="6096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28" name="Line 30">
            <a:extLst>
              <a:ext uri="{FF2B5EF4-FFF2-40B4-BE49-F238E27FC236}">
                <a16:creationId xmlns:a16="http://schemas.microsoft.com/office/drawing/2014/main" id="{080588E7-C281-304C-9A61-4FD1BD410AB3}"/>
              </a:ext>
            </a:extLst>
          </p:cNvPr>
          <p:cNvSpPr>
            <a:spLocks noChangeShapeType="1"/>
          </p:cNvSpPr>
          <p:nvPr/>
        </p:nvSpPr>
        <p:spPr bwMode="auto">
          <a:xfrm flipV="1">
            <a:off x="3352800" y="3471332"/>
            <a:ext cx="9144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29" name="Line 31">
            <a:extLst>
              <a:ext uri="{FF2B5EF4-FFF2-40B4-BE49-F238E27FC236}">
                <a16:creationId xmlns:a16="http://schemas.microsoft.com/office/drawing/2014/main" id="{E55C15C7-8B2F-4E48-B9DD-D4CD0BEAB263}"/>
              </a:ext>
            </a:extLst>
          </p:cNvPr>
          <p:cNvSpPr>
            <a:spLocks noChangeShapeType="1"/>
          </p:cNvSpPr>
          <p:nvPr/>
        </p:nvSpPr>
        <p:spPr bwMode="auto">
          <a:xfrm flipV="1">
            <a:off x="4038600" y="4004732"/>
            <a:ext cx="3810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4130" name="Text Box 32">
            <a:extLst>
              <a:ext uri="{FF2B5EF4-FFF2-40B4-BE49-F238E27FC236}">
                <a16:creationId xmlns:a16="http://schemas.microsoft.com/office/drawing/2014/main" id="{BE7BC731-F382-544E-B574-FEDF980504E1}"/>
              </a:ext>
            </a:extLst>
          </p:cNvPr>
          <p:cNvSpPr txBox="1">
            <a:spLocks noChangeArrowheads="1"/>
          </p:cNvSpPr>
          <p:nvPr/>
        </p:nvSpPr>
        <p:spPr bwMode="auto">
          <a:xfrm>
            <a:off x="1524000" y="4614333"/>
            <a:ext cx="1936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GB" sz="1800">
                <a:latin typeface="Arial" panose="020B0604020202020204" pitchFamily="34" charset="0"/>
              </a:rPr>
              <a:t>Dimension tables</a:t>
            </a:r>
            <a:endParaRPr lang="en-US" altLang="en-GB"/>
          </a:p>
        </p:txBody>
      </p:sp>
      <p:sp>
        <p:nvSpPr>
          <p:cNvPr id="2" name="Footer Placeholder 1">
            <a:extLst>
              <a:ext uri="{FF2B5EF4-FFF2-40B4-BE49-F238E27FC236}">
                <a16:creationId xmlns:a16="http://schemas.microsoft.com/office/drawing/2014/main" id="{7C2A4356-E613-A34A-B118-169155E8210C}"/>
              </a:ext>
            </a:extLst>
          </p:cNvPr>
          <p:cNvSpPr>
            <a:spLocks noGrp="1"/>
          </p:cNvSpPr>
          <p:nvPr>
            <p:ph type="ftr" sz="quarter" idx="11"/>
          </p:nvPr>
        </p:nvSpPr>
        <p:spPr/>
        <p:txBody>
          <a:bodyPr/>
          <a:lstStyle/>
          <a:p>
            <a:r>
              <a:rPr lang="en-US"/>
              <a:t>Or Peretz</a:t>
            </a:r>
            <a:endParaRPr lang="en-IL"/>
          </a:p>
        </p:txBody>
      </p:sp>
      <p:sp>
        <p:nvSpPr>
          <p:cNvPr id="3" name="Slide Number Placeholder 2">
            <a:extLst>
              <a:ext uri="{FF2B5EF4-FFF2-40B4-BE49-F238E27FC236}">
                <a16:creationId xmlns:a16="http://schemas.microsoft.com/office/drawing/2014/main" id="{05F9BB05-9A23-1C43-A0F0-3ECB4E5CDAEF}"/>
              </a:ext>
            </a:extLst>
          </p:cNvPr>
          <p:cNvSpPr>
            <a:spLocks noGrp="1"/>
          </p:cNvSpPr>
          <p:nvPr>
            <p:ph type="sldNum" sz="quarter" idx="12"/>
          </p:nvPr>
        </p:nvSpPr>
        <p:spPr/>
        <p:txBody>
          <a:bodyPr/>
          <a:lstStyle/>
          <a:p>
            <a:fld id="{B62643F8-DFCD-4B5F-9519-933435FA18FB}" type="slidenum">
              <a:rPr lang="en-IL" smtClean="0"/>
              <a:t>11</a:t>
            </a:fld>
            <a:endParaRPr lang="en-IL"/>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2">
            <a:extLst>
              <a:ext uri="{FF2B5EF4-FFF2-40B4-BE49-F238E27FC236}">
                <a16:creationId xmlns:a16="http://schemas.microsoft.com/office/drawing/2014/main" id="{21D90797-729A-0045-8871-C1183921C696}"/>
              </a:ext>
            </a:extLst>
          </p:cNvPr>
          <p:cNvSpPr>
            <a:spLocks noGrp="1" noChangeArrowheads="1"/>
          </p:cNvSpPr>
          <p:nvPr>
            <p:ph type="title"/>
          </p:nvPr>
        </p:nvSpPr>
        <p:spPr>
          <a:xfrm>
            <a:off x="1981200" y="152400"/>
            <a:ext cx="8001000" cy="914400"/>
          </a:xfrm>
        </p:spPr>
        <p:txBody>
          <a:bodyPr>
            <a:normAutofit/>
          </a:bodyPr>
          <a:lstStyle/>
          <a:p>
            <a:pPr algn="ctr"/>
            <a:r>
              <a:rPr lang="en-US" altLang="en-GB" sz="3200" b="1" dirty="0">
                <a:latin typeface="+mn-lt"/>
              </a:rPr>
              <a:t>Dimensional Modeling</a:t>
            </a:r>
          </a:p>
        </p:txBody>
      </p:sp>
      <p:sp>
        <p:nvSpPr>
          <p:cNvPr id="6149" name="Rectangle 3">
            <a:extLst>
              <a:ext uri="{FF2B5EF4-FFF2-40B4-BE49-F238E27FC236}">
                <a16:creationId xmlns:a16="http://schemas.microsoft.com/office/drawing/2014/main" id="{A216099D-772B-5A4F-B931-3F2F6C666776}"/>
              </a:ext>
            </a:extLst>
          </p:cNvPr>
          <p:cNvSpPr>
            <a:spLocks noGrp="1" noChangeArrowheads="1"/>
          </p:cNvSpPr>
          <p:nvPr>
            <p:ph type="body" idx="4294967295"/>
          </p:nvPr>
        </p:nvSpPr>
        <p:spPr>
          <a:xfrm>
            <a:off x="609600" y="1066800"/>
            <a:ext cx="9448800" cy="5257800"/>
          </a:xfrm>
        </p:spPr>
        <p:txBody>
          <a:bodyPr/>
          <a:lstStyle/>
          <a:p>
            <a:r>
              <a:rPr lang="en-US" altLang="en-GB" dirty="0"/>
              <a:t>Dimensions are organized into hierarchies</a:t>
            </a:r>
          </a:p>
          <a:p>
            <a:pPr lvl="1"/>
            <a:r>
              <a:rPr lang="en-US" altLang="en-GB" dirty="0"/>
              <a:t>E.g., Time dimension: days </a:t>
            </a:r>
            <a:r>
              <a:rPr lang="en-US" altLang="en-GB" dirty="0">
                <a:sym typeface="Symbol" pitchFamily="2" charset="2"/>
              </a:rPr>
              <a:t></a:t>
            </a:r>
            <a:r>
              <a:rPr lang="en-US" altLang="en-GB" dirty="0"/>
              <a:t> weeks </a:t>
            </a:r>
            <a:r>
              <a:rPr lang="en-US" altLang="en-GB" dirty="0">
                <a:sym typeface="Symbol" pitchFamily="2" charset="2"/>
              </a:rPr>
              <a:t></a:t>
            </a:r>
            <a:r>
              <a:rPr lang="en-US" altLang="en-GB" dirty="0"/>
              <a:t> quarters</a:t>
            </a:r>
          </a:p>
          <a:p>
            <a:pPr lvl="1"/>
            <a:r>
              <a:rPr lang="en-US" altLang="en-GB" dirty="0"/>
              <a:t>E.g., Product dimension: product </a:t>
            </a:r>
            <a:r>
              <a:rPr lang="en-US" altLang="en-GB" dirty="0">
                <a:sym typeface="Symbol" pitchFamily="2" charset="2"/>
              </a:rPr>
              <a:t> product line  brand</a:t>
            </a:r>
          </a:p>
          <a:p>
            <a:r>
              <a:rPr lang="en-US" altLang="en-GB" dirty="0"/>
              <a:t>Dimensions have attributes</a:t>
            </a:r>
          </a:p>
          <a:p>
            <a:pPr lvl="1"/>
            <a:r>
              <a:rPr lang="en-US" altLang="en-GB" dirty="0"/>
              <a:t>E.g., Time dimension: date, month, year</a:t>
            </a:r>
          </a:p>
          <a:p>
            <a:pPr lvl="1"/>
            <a:r>
              <a:rPr lang="en-US" altLang="en-GB" dirty="0"/>
              <a:t>E.g., Store dimension: id, city, state, country</a:t>
            </a:r>
          </a:p>
          <a:p>
            <a:pPr>
              <a:buFont typeface="Symbol" pitchFamily="2" charset="2"/>
              <a:buNone/>
            </a:pPr>
            <a:r>
              <a:rPr lang="en-US" altLang="en-GB" i="1" dirty="0"/>
              <a:t>         </a:t>
            </a:r>
          </a:p>
        </p:txBody>
      </p:sp>
      <p:sp>
        <p:nvSpPr>
          <p:cNvPr id="6152" name="Rectangle 9">
            <a:extLst>
              <a:ext uri="{FF2B5EF4-FFF2-40B4-BE49-F238E27FC236}">
                <a16:creationId xmlns:a16="http://schemas.microsoft.com/office/drawing/2014/main" id="{046B59CD-CC0F-FE4E-B5CC-BEF27603B288}"/>
              </a:ext>
            </a:extLst>
          </p:cNvPr>
          <p:cNvSpPr>
            <a:spLocks noChangeArrowheads="1"/>
          </p:cNvSpPr>
          <p:nvPr/>
        </p:nvSpPr>
        <p:spPr bwMode="auto">
          <a:xfrm>
            <a:off x="7373938" y="6022975"/>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2" name="Footer Placeholder 1">
            <a:extLst>
              <a:ext uri="{FF2B5EF4-FFF2-40B4-BE49-F238E27FC236}">
                <a16:creationId xmlns:a16="http://schemas.microsoft.com/office/drawing/2014/main" id="{E4232098-CE90-3E4E-B701-CC9863B74290}"/>
              </a:ext>
            </a:extLst>
          </p:cNvPr>
          <p:cNvSpPr>
            <a:spLocks noGrp="1"/>
          </p:cNvSpPr>
          <p:nvPr>
            <p:ph type="ftr" sz="quarter" idx="11"/>
          </p:nvPr>
        </p:nvSpPr>
        <p:spPr/>
        <p:txBody>
          <a:bodyPr/>
          <a:lstStyle/>
          <a:p>
            <a:r>
              <a:rPr lang="en-US"/>
              <a:t>Or Peretz</a:t>
            </a:r>
            <a:endParaRPr lang="en-IL"/>
          </a:p>
        </p:txBody>
      </p:sp>
      <p:sp>
        <p:nvSpPr>
          <p:cNvPr id="3" name="Slide Number Placeholder 2">
            <a:extLst>
              <a:ext uri="{FF2B5EF4-FFF2-40B4-BE49-F238E27FC236}">
                <a16:creationId xmlns:a16="http://schemas.microsoft.com/office/drawing/2014/main" id="{CBAF315A-EA2D-4D4A-AFC1-5625C954D217}"/>
              </a:ext>
            </a:extLst>
          </p:cNvPr>
          <p:cNvSpPr>
            <a:spLocks noGrp="1"/>
          </p:cNvSpPr>
          <p:nvPr>
            <p:ph type="sldNum" sz="quarter" idx="12"/>
          </p:nvPr>
        </p:nvSpPr>
        <p:spPr/>
        <p:txBody>
          <a:bodyPr/>
          <a:lstStyle/>
          <a:p>
            <a:fld id="{B62643F8-DFCD-4B5F-9519-933435FA18FB}" type="slidenum">
              <a:rPr lang="en-IL" smtClean="0"/>
              <a:t>12</a:t>
            </a:fld>
            <a:endParaRPr lang="en-IL"/>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852F53E2-4D3B-BC42-AE45-483F6CD6E3CD}"/>
              </a:ext>
            </a:extLst>
          </p:cNvPr>
          <p:cNvSpPr>
            <a:spLocks noGrp="1" noChangeArrowheads="1"/>
          </p:cNvSpPr>
          <p:nvPr>
            <p:ph type="title"/>
          </p:nvPr>
        </p:nvSpPr>
        <p:spPr>
          <a:xfrm>
            <a:off x="2070100" y="457200"/>
            <a:ext cx="8001000" cy="609600"/>
          </a:xfrm>
        </p:spPr>
        <p:txBody>
          <a:bodyPr/>
          <a:lstStyle/>
          <a:p>
            <a:pPr eaLnBrk="1" hangingPunct="1"/>
            <a:r>
              <a:rPr lang="en-US" altLang="en-IL" sz="3200" dirty="0"/>
              <a:t>A</a:t>
            </a:r>
            <a:r>
              <a:rPr lang="en-US" altLang="en-IL" sz="3200" dirty="0">
                <a:solidFill>
                  <a:srgbClr val="FF0000"/>
                </a:solidFill>
              </a:rPr>
              <a:t> </a:t>
            </a:r>
            <a:r>
              <a:rPr lang="en-US" altLang="en-IL" sz="3200" dirty="0">
                <a:solidFill>
                  <a:schemeClr val="accent1"/>
                </a:solidFill>
              </a:rPr>
              <a:t>Concept Hierarchy</a:t>
            </a:r>
            <a:r>
              <a:rPr lang="en-US" altLang="en-IL" sz="3200" dirty="0"/>
              <a:t>: Dimension (location)</a:t>
            </a:r>
          </a:p>
        </p:txBody>
      </p:sp>
      <p:sp>
        <p:nvSpPr>
          <p:cNvPr id="66563" name="Text Box 3">
            <a:extLst>
              <a:ext uri="{FF2B5EF4-FFF2-40B4-BE49-F238E27FC236}">
                <a16:creationId xmlns:a16="http://schemas.microsoft.com/office/drawing/2014/main" id="{D661D559-C2C8-4642-8AA3-8DC35B8DEF1D}"/>
              </a:ext>
            </a:extLst>
          </p:cNvPr>
          <p:cNvSpPr txBox="1">
            <a:spLocks noChangeArrowheads="1"/>
          </p:cNvSpPr>
          <p:nvPr/>
        </p:nvSpPr>
        <p:spPr bwMode="auto">
          <a:xfrm>
            <a:off x="6400801" y="1447800"/>
            <a:ext cx="4873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all</a:t>
            </a:r>
          </a:p>
        </p:txBody>
      </p:sp>
      <p:sp>
        <p:nvSpPr>
          <p:cNvPr id="66564" name="Text Box 4">
            <a:extLst>
              <a:ext uri="{FF2B5EF4-FFF2-40B4-BE49-F238E27FC236}">
                <a16:creationId xmlns:a16="http://schemas.microsoft.com/office/drawing/2014/main" id="{D880A331-F813-404C-9EEC-8A805F556F4B}"/>
              </a:ext>
            </a:extLst>
          </p:cNvPr>
          <p:cNvSpPr txBox="1">
            <a:spLocks noChangeArrowheads="1"/>
          </p:cNvSpPr>
          <p:nvPr/>
        </p:nvSpPr>
        <p:spPr bwMode="auto">
          <a:xfrm>
            <a:off x="4876801" y="2438400"/>
            <a:ext cx="1063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Europe</a:t>
            </a:r>
          </a:p>
        </p:txBody>
      </p:sp>
      <p:sp>
        <p:nvSpPr>
          <p:cNvPr id="66565" name="Text Box 5">
            <a:extLst>
              <a:ext uri="{FF2B5EF4-FFF2-40B4-BE49-F238E27FC236}">
                <a16:creationId xmlns:a16="http://schemas.microsoft.com/office/drawing/2014/main" id="{3C582C8A-1E77-3744-AEBB-897F22684AA6}"/>
              </a:ext>
            </a:extLst>
          </p:cNvPr>
          <p:cNvSpPr txBox="1">
            <a:spLocks noChangeArrowheads="1"/>
          </p:cNvSpPr>
          <p:nvPr/>
        </p:nvSpPr>
        <p:spPr bwMode="auto">
          <a:xfrm>
            <a:off x="7924800" y="2438400"/>
            <a:ext cx="2095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North_America</a:t>
            </a:r>
          </a:p>
        </p:txBody>
      </p:sp>
      <p:sp>
        <p:nvSpPr>
          <p:cNvPr id="66566" name="Text Box 6">
            <a:extLst>
              <a:ext uri="{FF2B5EF4-FFF2-40B4-BE49-F238E27FC236}">
                <a16:creationId xmlns:a16="http://schemas.microsoft.com/office/drawing/2014/main" id="{E90FEC38-CEB2-944A-A968-338191EA5554}"/>
              </a:ext>
            </a:extLst>
          </p:cNvPr>
          <p:cNvSpPr txBox="1">
            <a:spLocks noChangeArrowheads="1"/>
          </p:cNvSpPr>
          <p:nvPr/>
        </p:nvSpPr>
        <p:spPr bwMode="auto">
          <a:xfrm>
            <a:off x="9553576" y="3505200"/>
            <a:ext cx="1114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Mexico</a:t>
            </a:r>
          </a:p>
        </p:txBody>
      </p:sp>
      <p:sp>
        <p:nvSpPr>
          <p:cNvPr id="66567" name="Text Box 7">
            <a:extLst>
              <a:ext uri="{FF2B5EF4-FFF2-40B4-BE49-F238E27FC236}">
                <a16:creationId xmlns:a16="http://schemas.microsoft.com/office/drawing/2014/main" id="{DC480BB9-7E0A-7D4D-BDD6-1351AB24FD47}"/>
              </a:ext>
            </a:extLst>
          </p:cNvPr>
          <p:cNvSpPr txBox="1">
            <a:spLocks noChangeArrowheads="1"/>
          </p:cNvSpPr>
          <p:nvPr/>
        </p:nvSpPr>
        <p:spPr bwMode="auto">
          <a:xfrm>
            <a:off x="7467601" y="3505200"/>
            <a:ext cx="10969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Canada</a:t>
            </a:r>
          </a:p>
        </p:txBody>
      </p:sp>
      <p:sp>
        <p:nvSpPr>
          <p:cNvPr id="66568" name="Text Box 8">
            <a:extLst>
              <a:ext uri="{FF2B5EF4-FFF2-40B4-BE49-F238E27FC236}">
                <a16:creationId xmlns:a16="http://schemas.microsoft.com/office/drawing/2014/main" id="{652103C1-C236-7246-AE4E-16D7C7890E44}"/>
              </a:ext>
            </a:extLst>
          </p:cNvPr>
          <p:cNvSpPr txBox="1">
            <a:spLocks noChangeArrowheads="1"/>
          </p:cNvSpPr>
          <p:nvPr/>
        </p:nvSpPr>
        <p:spPr bwMode="auto">
          <a:xfrm>
            <a:off x="5751514" y="3505200"/>
            <a:ext cx="8778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Spain</a:t>
            </a:r>
          </a:p>
        </p:txBody>
      </p:sp>
      <p:sp>
        <p:nvSpPr>
          <p:cNvPr id="66569" name="Text Box 9">
            <a:extLst>
              <a:ext uri="{FF2B5EF4-FFF2-40B4-BE49-F238E27FC236}">
                <a16:creationId xmlns:a16="http://schemas.microsoft.com/office/drawing/2014/main" id="{DE679913-466A-5647-AFCB-4E41D766C82D}"/>
              </a:ext>
            </a:extLst>
          </p:cNvPr>
          <p:cNvSpPr txBox="1">
            <a:spLocks noChangeArrowheads="1"/>
          </p:cNvSpPr>
          <p:nvPr/>
        </p:nvSpPr>
        <p:spPr bwMode="auto">
          <a:xfrm>
            <a:off x="3733801" y="3505200"/>
            <a:ext cx="1317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Germany</a:t>
            </a:r>
          </a:p>
        </p:txBody>
      </p:sp>
      <p:sp>
        <p:nvSpPr>
          <p:cNvPr id="66570" name="Text Box 10">
            <a:extLst>
              <a:ext uri="{FF2B5EF4-FFF2-40B4-BE49-F238E27FC236}">
                <a16:creationId xmlns:a16="http://schemas.microsoft.com/office/drawing/2014/main" id="{D3FD3549-31C8-6949-8EE5-D0E5C51616A6}"/>
              </a:ext>
            </a:extLst>
          </p:cNvPr>
          <p:cNvSpPr txBox="1">
            <a:spLocks noChangeArrowheads="1"/>
          </p:cNvSpPr>
          <p:nvPr/>
        </p:nvSpPr>
        <p:spPr bwMode="auto">
          <a:xfrm>
            <a:off x="6400801" y="4572000"/>
            <a:ext cx="1520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Vancouver</a:t>
            </a:r>
          </a:p>
        </p:txBody>
      </p:sp>
      <p:sp>
        <p:nvSpPr>
          <p:cNvPr id="66571" name="Text Box 11">
            <a:extLst>
              <a:ext uri="{FF2B5EF4-FFF2-40B4-BE49-F238E27FC236}">
                <a16:creationId xmlns:a16="http://schemas.microsoft.com/office/drawing/2014/main" id="{1F70F901-7990-0540-9DC1-A56AAFCC7B35}"/>
              </a:ext>
            </a:extLst>
          </p:cNvPr>
          <p:cNvSpPr txBox="1">
            <a:spLocks noChangeArrowheads="1"/>
          </p:cNvSpPr>
          <p:nvPr/>
        </p:nvSpPr>
        <p:spPr bwMode="auto">
          <a:xfrm>
            <a:off x="7543800" y="5562600"/>
            <a:ext cx="1284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M. Wind</a:t>
            </a:r>
          </a:p>
        </p:txBody>
      </p:sp>
      <p:sp>
        <p:nvSpPr>
          <p:cNvPr id="66572" name="Text Box 12">
            <a:extLst>
              <a:ext uri="{FF2B5EF4-FFF2-40B4-BE49-F238E27FC236}">
                <a16:creationId xmlns:a16="http://schemas.microsoft.com/office/drawing/2014/main" id="{0DF70A75-6FD1-214B-9D58-2EE2F5DF7740}"/>
              </a:ext>
            </a:extLst>
          </p:cNvPr>
          <p:cNvSpPr txBox="1">
            <a:spLocks noChangeArrowheads="1"/>
          </p:cNvSpPr>
          <p:nvPr/>
        </p:nvSpPr>
        <p:spPr bwMode="auto">
          <a:xfrm>
            <a:off x="5715001" y="5562600"/>
            <a:ext cx="1165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L. Chan</a:t>
            </a:r>
          </a:p>
        </p:txBody>
      </p:sp>
      <p:sp>
        <p:nvSpPr>
          <p:cNvPr id="66573" name="Text Box 13">
            <a:extLst>
              <a:ext uri="{FF2B5EF4-FFF2-40B4-BE49-F238E27FC236}">
                <a16:creationId xmlns:a16="http://schemas.microsoft.com/office/drawing/2014/main" id="{53B6CB5A-334C-824D-A63F-7853D1289969}"/>
              </a:ext>
            </a:extLst>
          </p:cNvPr>
          <p:cNvSpPr txBox="1">
            <a:spLocks noChangeArrowheads="1"/>
          </p:cNvSpPr>
          <p:nvPr/>
        </p:nvSpPr>
        <p:spPr bwMode="auto">
          <a:xfrm>
            <a:off x="6858000" y="2438400"/>
            <a:ext cx="412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a:t>
            </a:r>
          </a:p>
        </p:txBody>
      </p:sp>
      <p:sp>
        <p:nvSpPr>
          <p:cNvPr id="66574" name="Text Box 14">
            <a:extLst>
              <a:ext uri="{FF2B5EF4-FFF2-40B4-BE49-F238E27FC236}">
                <a16:creationId xmlns:a16="http://schemas.microsoft.com/office/drawing/2014/main" id="{824B3FE5-AFB7-774D-9EB9-4ACAE95B5606}"/>
              </a:ext>
            </a:extLst>
          </p:cNvPr>
          <p:cNvSpPr txBox="1">
            <a:spLocks noChangeArrowheads="1"/>
          </p:cNvSpPr>
          <p:nvPr/>
        </p:nvSpPr>
        <p:spPr bwMode="auto">
          <a:xfrm>
            <a:off x="8915400" y="3505200"/>
            <a:ext cx="412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a:t>
            </a:r>
          </a:p>
        </p:txBody>
      </p:sp>
      <p:sp>
        <p:nvSpPr>
          <p:cNvPr id="66575" name="Text Box 15">
            <a:extLst>
              <a:ext uri="{FF2B5EF4-FFF2-40B4-BE49-F238E27FC236}">
                <a16:creationId xmlns:a16="http://schemas.microsoft.com/office/drawing/2014/main" id="{E173470D-7E3C-EB41-A53B-E0510C59E64C}"/>
              </a:ext>
            </a:extLst>
          </p:cNvPr>
          <p:cNvSpPr txBox="1">
            <a:spLocks noChangeArrowheads="1"/>
          </p:cNvSpPr>
          <p:nvPr/>
        </p:nvSpPr>
        <p:spPr bwMode="auto">
          <a:xfrm>
            <a:off x="5181600" y="3505200"/>
            <a:ext cx="412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a:t>
            </a:r>
          </a:p>
        </p:txBody>
      </p:sp>
      <p:sp>
        <p:nvSpPr>
          <p:cNvPr id="66576" name="Text Box 16">
            <a:extLst>
              <a:ext uri="{FF2B5EF4-FFF2-40B4-BE49-F238E27FC236}">
                <a16:creationId xmlns:a16="http://schemas.microsoft.com/office/drawing/2014/main" id="{19E109BF-1DFE-6C4A-B1DB-C104401EAD70}"/>
              </a:ext>
            </a:extLst>
          </p:cNvPr>
          <p:cNvSpPr txBox="1">
            <a:spLocks noChangeArrowheads="1"/>
          </p:cNvSpPr>
          <p:nvPr/>
        </p:nvSpPr>
        <p:spPr bwMode="auto">
          <a:xfrm>
            <a:off x="4953000" y="4648200"/>
            <a:ext cx="412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a:t>
            </a:r>
          </a:p>
        </p:txBody>
      </p:sp>
      <p:sp>
        <p:nvSpPr>
          <p:cNvPr id="66577" name="Text Box 17">
            <a:extLst>
              <a:ext uri="{FF2B5EF4-FFF2-40B4-BE49-F238E27FC236}">
                <a16:creationId xmlns:a16="http://schemas.microsoft.com/office/drawing/2014/main" id="{37BD98FE-539E-544C-BC48-27322E9599B7}"/>
              </a:ext>
            </a:extLst>
          </p:cNvPr>
          <p:cNvSpPr txBox="1">
            <a:spLocks noChangeArrowheads="1"/>
          </p:cNvSpPr>
          <p:nvPr/>
        </p:nvSpPr>
        <p:spPr bwMode="auto">
          <a:xfrm>
            <a:off x="8001000" y="4572000"/>
            <a:ext cx="412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a:t>
            </a:r>
          </a:p>
        </p:txBody>
      </p:sp>
      <p:sp>
        <p:nvSpPr>
          <p:cNvPr id="66578" name="Text Box 18">
            <a:extLst>
              <a:ext uri="{FF2B5EF4-FFF2-40B4-BE49-F238E27FC236}">
                <a16:creationId xmlns:a16="http://schemas.microsoft.com/office/drawing/2014/main" id="{CDB23A13-C6BE-A74D-A3BA-1814244FB31C}"/>
              </a:ext>
            </a:extLst>
          </p:cNvPr>
          <p:cNvSpPr txBox="1">
            <a:spLocks noChangeArrowheads="1"/>
          </p:cNvSpPr>
          <p:nvPr/>
        </p:nvSpPr>
        <p:spPr bwMode="auto">
          <a:xfrm>
            <a:off x="7010400" y="5562600"/>
            <a:ext cx="412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a:t>
            </a:r>
          </a:p>
        </p:txBody>
      </p:sp>
      <p:sp>
        <p:nvSpPr>
          <p:cNvPr id="66579" name="Line 19">
            <a:extLst>
              <a:ext uri="{FF2B5EF4-FFF2-40B4-BE49-F238E27FC236}">
                <a16:creationId xmlns:a16="http://schemas.microsoft.com/office/drawing/2014/main" id="{0FFAD120-3D38-6E42-9EDA-EED8C2B42037}"/>
              </a:ext>
            </a:extLst>
          </p:cNvPr>
          <p:cNvSpPr>
            <a:spLocks noChangeShapeType="1"/>
          </p:cNvSpPr>
          <p:nvPr/>
        </p:nvSpPr>
        <p:spPr bwMode="auto">
          <a:xfrm flipH="1">
            <a:off x="5410200" y="1828800"/>
            <a:ext cx="12192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80" name="Line 20">
            <a:extLst>
              <a:ext uri="{FF2B5EF4-FFF2-40B4-BE49-F238E27FC236}">
                <a16:creationId xmlns:a16="http://schemas.microsoft.com/office/drawing/2014/main" id="{DED569FE-059C-DF49-910A-7807F012D750}"/>
              </a:ext>
            </a:extLst>
          </p:cNvPr>
          <p:cNvSpPr>
            <a:spLocks noChangeShapeType="1"/>
          </p:cNvSpPr>
          <p:nvPr/>
        </p:nvSpPr>
        <p:spPr bwMode="auto">
          <a:xfrm>
            <a:off x="6629400" y="1828800"/>
            <a:ext cx="2209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81" name="Line 21">
            <a:extLst>
              <a:ext uri="{FF2B5EF4-FFF2-40B4-BE49-F238E27FC236}">
                <a16:creationId xmlns:a16="http://schemas.microsoft.com/office/drawing/2014/main" id="{8C75EBE8-6EA5-E948-AE77-068298EDE2D5}"/>
              </a:ext>
            </a:extLst>
          </p:cNvPr>
          <p:cNvSpPr>
            <a:spLocks noChangeShapeType="1"/>
          </p:cNvSpPr>
          <p:nvPr/>
        </p:nvSpPr>
        <p:spPr bwMode="auto">
          <a:xfrm flipH="1">
            <a:off x="4343400" y="2819400"/>
            <a:ext cx="9906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82" name="Line 22">
            <a:extLst>
              <a:ext uri="{FF2B5EF4-FFF2-40B4-BE49-F238E27FC236}">
                <a16:creationId xmlns:a16="http://schemas.microsoft.com/office/drawing/2014/main" id="{72D9F352-3B2B-4C49-8D67-179D604EBB99}"/>
              </a:ext>
            </a:extLst>
          </p:cNvPr>
          <p:cNvSpPr>
            <a:spLocks noChangeShapeType="1"/>
          </p:cNvSpPr>
          <p:nvPr/>
        </p:nvSpPr>
        <p:spPr bwMode="auto">
          <a:xfrm>
            <a:off x="5334000" y="2819400"/>
            <a:ext cx="8382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83" name="Line 23">
            <a:extLst>
              <a:ext uri="{FF2B5EF4-FFF2-40B4-BE49-F238E27FC236}">
                <a16:creationId xmlns:a16="http://schemas.microsoft.com/office/drawing/2014/main" id="{316BDBDF-7E4C-5D4A-852B-82AAE5CD783B}"/>
              </a:ext>
            </a:extLst>
          </p:cNvPr>
          <p:cNvSpPr>
            <a:spLocks noChangeShapeType="1"/>
          </p:cNvSpPr>
          <p:nvPr/>
        </p:nvSpPr>
        <p:spPr bwMode="auto">
          <a:xfrm flipH="1">
            <a:off x="8001000" y="2819400"/>
            <a:ext cx="9906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84" name="Line 24">
            <a:extLst>
              <a:ext uri="{FF2B5EF4-FFF2-40B4-BE49-F238E27FC236}">
                <a16:creationId xmlns:a16="http://schemas.microsoft.com/office/drawing/2014/main" id="{DC50D689-BB10-994D-8CC4-F3DAEEB4140F}"/>
              </a:ext>
            </a:extLst>
          </p:cNvPr>
          <p:cNvSpPr>
            <a:spLocks noChangeShapeType="1"/>
          </p:cNvSpPr>
          <p:nvPr/>
        </p:nvSpPr>
        <p:spPr bwMode="auto">
          <a:xfrm>
            <a:off x="8991600" y="2819400"/>
            <a:ext cx="11430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85" name="Line 25">
            <a:extLst>
              <a:ext uri="{FF2B5EF4-FFF2-40B4-BE49-F238E27FC236}">
                <a16:creationId xmlns:a16="http://schemas.microsoft.com/office/drawing/2014/main" id="{B947085E-521C-1847-B7ED-E94CC8053B9C}"/>
              </a:ext>
            </a:extLst>
          </p:cNvPr>
          <p:cNvSpPr>
            <a:spLocks noChangeShapeType="1"/>
          </p:cNvSpPr>
          <p:nvPr/>
        </p:nvSpPr>
        <p:spPr bwMode="auto">
          <a:xfrm flipH="1">
            <a:off x="3886200" y="3886200"/>
            <a:ext cx="5334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86" name="Line 26">
            <a:extLst>
              <a:ext uri="{FF2B5EF4-FFF2-40B4-BE49-F238E27FC236}">
                <a16:creationId xmlns:a16="http://schemas.microsoft.com/office/drawing/2014/main" id="{7C63A0BD-4E8C-1145-8242-6C255B9D1E16}"/>
              </a:ext>
            </a:extLst>
          </p:cNvPr>
          <p:cNvSpPr>
            <a:spLocks noChangeShapeType="1"/>
          </p:cNvSpPr>
          <p:nvPr/>
        </p:nvSpPr>
        <p:spPr bwMode="auto">
          <a:xfrm>
            <a:off x="4419600" y="3886200"/>
            <a:ext cx="6096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87" name="Line 27">
            <a:extLst>
              <a:ext uri="{FF2B5EF4-FFF2-40B4-BE49-F238E27FC236}">
                <a16:creationId xmlns:a16="http://schemas.microsoft.com/office/drawing/2014/main" id="{600FF1C2-8C38-CC4A-9D6C-BE0B3C853EA2}"/>
              </a:ext>
            </a:extLst>
          </p:cNvPr>
          <p:cNvSpPr>
            <a:spLocks noChangeShapeType="1"/>
          </p:cNvSpPr>
          <p:nvPr/>
        </p:nvSpPr>
        <p:spPr bwMode="auto">
          <a:xfrm flipH="1">
            <a:off x="5715000" y="3886200"/>
            <a:ext cx="3810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88" name="Line 28">
            <a:extLst>
              <a:ext uri="{FF2B5EF4-FFF2-40B4-BE49-F238E27FC236}">
                <a16:creationId xmlns:a16="http://schemas.microsoft.com/office/drawing/2014/main" id="{B91369FF-4089-E040-A418-0BED4F30327E}"/>
              </a:ext>
            </a:extLst>
          </p:cNvPr>
          <p:cNvSpPr>
            <a:spLocks noChangeShapeType="1"/>
          </p:cNvSpPr>
          <p:nvPr/>
        </p:nvSpPr>
        <p:spPr bwMode="auto">
          <a:xfrm>
            <a:off x="6096000" y="3886200"/>
            <a:ext cx="3810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89" name="Line 29">
            <a:extLst>
              <a:ext uri="{FF2B5EF4-FFF2-40B4-BE49-F238E27FC236}">
                <a16:creationId xmlns:a16="http://schemas.microsoft.com/office/drawing/2014/main" id="{FF9D2701-FA54-9D43-9E29-1779F7A0DB86}"/>
              </a:ext>
            </a:extLst>
          </p:cNvPr>
          <p:cNvSpPr>
            <a:spLocks noChangeShapeType="1"/>
          </p:cNvSpPr>
          <p:nvPr/>
        </p:nvSpPr>
        <p:spPr bwMode="auto">
          <a:xfrm flipH="1">
            <a:off x="9753600" y="3886200"/>
            <a:ext cx="3810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90" name="Line 30">
            <a:extLst>
              <a:ext uri="{FF2B5EF4-FFF2-40B4-BE49-F238E27FC236}">
                <a16:creationId xmlns:a16="http://schemas.microsoft.com/office/drawing/2014/main" id="{3139F241-EF5D-7C4C-AE97-156C0CBB70FB}"/>
              </a:ext>
            </a:extLst>
          </p:cNvPr>
          <p:cNvSpPr>
            <a:spLocks noChangeShapeType="1"/>
          </p:cNvSpPr>
          <p:nvPr/>
        </p:nvSpPr>
        <p:spPr bwMode="auto">
          <a:xfrm>
            <a:off x="10134600" y="3886200"/>
            <a:ext cx="3810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91" name="Line 31">
            <a:extLst>
              <a:ext uri="{FF2B5EF4-FFF2-40B4-BE49-F238E27FC236}">
                <a16:creationId xmlns:a16="http://schemas.microsoft.com/office/drawing/2014/main" id="{C653B5B6-61E3-3444-8B93-A0C714132B0F}"/>
              </a:ext>
            </a:extLst>
          </p:cNvPr>
          <p:cNvSpPr>
            <a:spLocks noChangeShapeType="1"/>
          </p:cNvSpPr>
          <p:nvPr/>
        </p:nvSpPr>
        <p:spPr bwMode="auto">
          <a:xfrm flipH="1">
            <a:off x="3581400" y="5105400"/>
            <a:ext cx="3810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92" name="Line 32">
            <a:extLst>
              <a:ext uri="{FF2B5EF4-FFF2-40B4-BE49-F238E27FC236}">
                <a16:creationId xmlns:a16="http://schemas.microsoft.com/office/drawing/2014/main" id="{E5410D11-5265-C440-A844-E3A64131B9F4}"/>
              </a:ext>
            </a:extLst>
          </p:cNvPr>
          <p:cNvSpPr>
            <a:spLocks noChangeShapeType="1"/>
          </p:cNvSpPr>
          <p:nvPr/>
        </p:nvSpPr>
        <p:spPr bwMode="auto">
          <a:xfrm>
            <a:off x="3962400" y="5105400"/>
            <a:ext cx="3810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93" name="Line 33">
            <a:extLst>
              <a:ext uri="{FF2B5EF4-FFF2-40B4-BE49-F238E27FC236}">
                <a16:creationId xmlns:a16="http://schemas.microsoft.com/office/drawing/2014/main" id="{A269CB95-CDB6-364B-BD40-E7CC74B101BB}"/>
              </a:ext>
            </a:extLst>
          </p:cNvPr>
          <p:cNvSpPr>
            <a:spLocks noChangeShapeType="1"/>
          </p:cNvSpPr>
          <p:nvPr/>
        </p:nvSpPr>
        <p:spPr bwMode="auto">
          <a:xfrm flipH="1">
            <a:off x="6400800" y="4953000"/>
            <a:ext cx="685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94" name="Line 34">
            <a:extLst>
              <a:ext uri="{FF2B5EF4-FFF2-40B4-BE49-F238E27FC236}">
                <a16:creationId xmlns:a16="http://schemas.microsoft.com/office/drawing/2014/main" id="{D3E79C59-A78E-2046-9029-0F53C8ABD0E9}"/>
              </a:ext>
            </a:extLst>
          </p:cNvPr>
          <p:cNvSpPr>
            <a:spLocks noChangeShapeType="1"/>
          </p:cNvSpPr>
          <p:nvPr/>
        </p:nvSpPr>
        <p:spPr bwMode="auto">
          <a:xfrm>
            <a:off x="7086600" y="4953000"/>
            <a:ext cx="9906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95" name="Text Box 35">
            <a:extLst>
              <a:ext uri="{FF2B5EF4-FFF2-40B4-BE49-F238E27FC236}">
                <a16:creationId xmlns:a16="http://schemas.microsoft.com/office/drawing/2014/main" id="{7FB35836-A991-B846-88FE-837C01547DE7}"/>
              </a:ext>
            </a:extLst>
          </p:cNvPr>
          <p:cNvSpPr txBox="1">
            <a:spLocks noChangeArrowheads="1"/>
          </p:cNvSpPr>
          <p:nvPr/>
        </p:nvSpPr>
        <p:spPr bwMode="auto">
          <a:xfrm>
            <a:off x="1828801" y="1524000"/>
            <a:ext cx="4873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all</a:t>
            </a:r>
          </a:p>
        </p:txBody>
      </p:sp>
      <p:sp>
        <p:nvSpPr>
          <p:cNvPr id="66596" name="Text Box 36">
            <a:extLst>
              <a:ext uri="{FF2B5EF4-FFF2-40B4-BE49-F238E27FC236}">
                <a16:creationId xmlns:a16="http://schemas.microsoft.com/office/drawing/2014/main" id="{D22EA0EF-C9A4-6542-98DC-A3659AE174FE}"/>
              </a:ext>
            </a:extLst>
          </p:cNvPr>
          <p:cNvSpPr txBox="1">
            <a:spLocks noChangeArrowheads="1"/>
          </p:cNvSpPr>
          <p:nvPr/>
        </p:nvSpPr>
        <p:spPr bwMode="auto">
          <a:xfrm>
            <a:off x="1752601" y="2514600"/>
            <a:ext cx="962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region</a:t>
            </a:r>
          </a:p>
        </p:txBody>
      </p:sp>
      <p:sp>
        <p:nvSpPr>
          <p:cNvPr id="66597" name="Text Box 37">
            <a:extLst>
              <a:ext uri="{FF2B5EF4-FFF2-40B4-BE49-F238E27FC236}">
                <a16:creationId xmlns:a16="http://schemas.microsoft.com/office/drawing/2014/main" id="{F96A5C37-9657-F44B-9FE1-06F00E163A4C}"/>
              </a:ext>
            </a:extLst>
          </p:cNvPr>
          <p:cNvSpPr txBox="1">
            <a:spLocks noChangeArrowheads="1"/>
          </p:cNvSpPr>
          <p:nvPr/>
        </p:nvSpPr>
        <p:spPr bwMode="auto">
          <a:xfrm>
            <a:off x="1828801" y="5638800"/>
            <a:ext cx="8937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office</a:t>
            </a:r>
          </a:p>
        </p:txBody>
      </p:sp>
      <p:sp>
        <p:nvSpPr>
          <p:cNvPr id="66598" name="Line 38">
            <a:extLst>
              <a:ext uri="{FF2B5EF4-FFF2-40B4-BE49-F238E27FC236}">
                <a16:creationId xmlns:a16="http://schemas.microsoft.com/office/drawing/2014/main" id="{3C3163FD-C3D5-1F43-A1E9-917DC0860396}"/>
              </a:ext>
            </a:extLst>
          </p:cNvPr>
          <p:cNvSpPr>
            <a:spLocks noChangeShapeType="1"/>
          </p:cNvSpPr>
          <p:nvPr/>
        </p:nvSpPr>
        <p:spPr bwMode="auto">
          <a:xfrm flipH="1">
            <a:off x="8839200" y="5029200"/>
            <a:ext cx="3810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599" name="Line 39">
            <a:extLst>
              <a:ext uri="{FF2B5EF4-FFF2-40B4-BE49-F238E27FC236}">
                <a16:creationId xmlns:a16="http://schemas.microsoft.com/office/drawing/2014/main" id="{4C2AD698-8FB1-6849-BB1E-46267561E484}"/>
              </a:ext>
            </a:extLst>
          </p:cNvPr>
          <p:cNvSpPr>
            <a:spLocks noChangeShapeType="1"/>
          </p:cNvSpPr>
          <p:nvPr/>
        </p:nvSpPr>
        <p:spPr bwMode="auto">
          <a:xfrm>
            <a:off x="9220200" y="5029200"/>
            <a:ext cx="3810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600" name="Line 40">
            <a:extLst>
              <a:ext uri="{FF2B5EF4-FFF2-40B4-BE49-F238E27FC236}">
                <a16:creationId xmlns:a16="http://schemas.microsoft.com/office/drawing/2014/main" id="{00414BF5-86CD-964A-B927-81F99A52B30D}"/>
              </a:ext>
            </a:extLst>
          </p:cNvPr>
          <p:cNvSpPr>
            <a:spLocks noChangeShapeType="1"/>
          </p:cNvSpPr>
          <p:nvPr/>
        </p:nvSpPr>
        <p:spPr bwMode="auto">
          <a:xfrm flipH="1">
            <a:off x="7162800" y="3886200"/>
            <a:ext cx="7620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601" name="Line 41">
            <a:extLst>
              <a:ext uri="{FF2B5EF4-FFF2-40B4-BE49-F238E27FC236}">
                <a16:creationId xmlns:a16="http://schemas.microsoft.com/office/drawing/2014/main" id="{959BE1E9-D178-D24E-9439-6EC04E9204A9}"/>
              </a:ext>
            </a:extLst>
          </p:cNvPr>
          <p:cNvSpPr>
            <a:spLocks noChangeShapeType="1"/>
          </p:cNvSpPr>
          <p:nvPr/>
        </p:nvSpPr>
        <p:spPr bwMode="auto">
          <a:xfrm>
            <a:off x="7924800" y="3886200"/>
            <a:ext cx="10668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602" name="Text Box 42">
            <a:extLst>
              <a:ext uri="{FF2B5EF4-FFF2-40B4-BE49-F238E27FC236}">
                <a16:creationId xmlns:a16="http://schemas.microsoft.com/office/drawing/2014/main" id="{DA5C0637-7A7D-1E40-BD0B-43AA6405462E}"/>
              </a:ext>
            </a:extLst>
          </p:cNvPr>
          <p:cNvSpPr txBox="1">
            <a:spLocks noChangeArrowheads="1"/>
          </p:cNvSpPr>
          <p:nvPr/>
        </p:nvSpPr>
        <p:spPr bwMode="auto">
          <a:xfrm>
            <a:off x="1752601" y="3581400"/>
            <a:ext cx="1114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country</a:t>
            </a:r>
          </a:p>
        </p:txBody>
      </p:sp>
      <p:sp>
        <p:nvSpPr>
          <p:cNvPr id="66603" name="Line 43">
            <a:extLst>
              <a:ext uri="{FF2B5EF4-FFF2-40B4-BE49-F238E27FC236}">
                <a16:creationId xmlns:a16="http://schemas.microsoft.com/office/drawing/2014/main" id="{32E393D7-D6EC-8D42-90B4-DED2D6466CF4}"/>
              </a:ext>
            </a:extLst>
          </p:cNvPr>
          <p:cNvSpPr>
            <a:spLocks noChangeShapeType="1"/>
          </p:cNvSpPr>
          <p:nvPr/>
        </p:nvSpPr>
        <p:spPr bwMode="auto">
          <a:xfrm>
            <a:off x="2133600" y="1905000"/>
            <a:ext cx="0" cy="7620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604" name="Line 44">
            <a:extLst>
              <a:ext uri="{FF2B5EF4-FFF2-40B4-BE49-F238E27FC236}">
                <a16:creationId xmlns:a16="http://schemas.microsoft.com/office/drawing/2014/main" id="{283B2CD1-D90F-9B44-BC36-F8E35B12EECF}"/>
              </a:ext>
            </a:extLst>
          </p:cNvPr>
          <p:cNvSpPr>
            <a:spLocks noChangeShapeType="1"/>
          </p:cNvSpPr>
          <p:nvPr/>
        </p:nvSpPr>
        <p:spPr bwMode="auto">
          <a:xfrm>
            <a:off x="2133600" y="2971800"/>
            <a:ext cx="0" cy="7620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605" name="Line 45">
            <a:extLst>
              <a:ext uri="{FF2B5EF4-FFF2-40B4-BE49-F238E27FC236}">
                <a16:creationId xmlns:a16="http://schemas.microsoft.com/office/drawing/2014/main" id="{2E0FA55E-4B78-EC42-B20D-0FDEE6340BD6}"/>
              </a:ext>
            </a:extLst>
          </p:cNvPr>
          <p:cNvSpPr>
            <a:spLocks noChangeShapeType="1"/>
          </p:cNvSpPr>
          <p:nvPr/>
        </p:nvSpPr>
        <p:spPr bwMode="auto">
          <a:xfrm>
            <a:off x="2133600" y="3962400"/>
            <a:ext cx="0" cy="7620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606" name="Line 46">
            <a:extLst>
              <a:ext uri="{FF2B5EF4-FFF2-40B4-BE49-F238E27FC236}">
                <a16:creationId xmlns:a16="http://schemas.microsoft.com/office/drawing/2014/main" id="{02844544-F124-2140-A6D2-1A053E1F8CFE}"/>
              </a:ext>
            </a:extLst>
          </p:cNvPr>
          <p:cNvSpPr>
            <a:spLocks noChangeShapeType="1"/>
          </p:cNvSpPr>
          <p:nvPr/>
        </p:nvSpPr>
        <p:spPr bwMode="auto">
          <a:xfrm>
            <a:off x="2133600" y="5029200"/>
            <a:ext cx="0" cy="6858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66607" name="Text Box 47">
            <a:extLst>
              <a:ext uri="{FF2B5EF4-FFF2-40B4-BE49-F238E27FC236}">
                <a16:creationId xmlns:a16="http://schemas.microsoft.com/office/drawing/2014/main" id="{6A836C9D-FF45-5B46-8AA0-777CAB88F652}"/>
              </a:ext>
            </a:extLst>
          </p:cNvPr>
          <p:cNvSpPr txBox="1">
            <a:spLocks noChangeArrowheads="1"/>
          </p:cNvSpPr>
          <p:nvPr/>
        </p:nvSpPr>
        <p:spPr bwMode="auto">
          <a:xfrm>
            <a:off x="8610601" y="4648200"/>
            <a:ext cx="1165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Toronto</a:t>
            </a:r>
          </a:p>
        </p:txBody>
      </p:sp>
      <p:sp>
        <p:nvSpPr>
          <p:cNvPr id="66608" name="Text Box 48">
            <a:extLst>
              <a:ext uri="{FF2B5EF4-FFF2-40B4-BE49-F238E27FC236}">
                <a16:creationId xmlns:a16="http://schemas.microsoft.com/office/drawing/2014/main" id="{F6223A77-D7F6-F646-96E0-717A10F1DAEA}"/>
              </a:ext>
            </a:extLst>
          </p:cNvPr>
          <p:cNvSpPr txBox="1">
            <a:spLocks noChangeArrowheads="1"/>
          </p:cNvSpPr>
          <p:nvPr/>
        </p:nvSpPr>
        <p:spPr bwMode="auto">
          <a:xfrm>
            <a:off x="3352800" y="4648200"/>
            <a:ext cx="1335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Frankfurt</a:t>
            </a:r>
          </a:p>
        </p:txBody>
      </p:sp>
      <p:sp>
        <p:nvSpPr>
          <p:cNvPr id="66609" name="Text Box 49">
            <a:extLst>
              <a:ext uri="{FF2B5EF4-FFF2-40B4-BE49-F238E27FC236}">
                <a16:creationId xmlns:a16="http://schemas.microsoft.com/office/drawing/2014/main" id="{4C7BF623-4AE8-8541-AB97-8FB30734F530}"/>
              </a:ext>
            </a:extLst>
          </p:cNvPr>
          <p:cNvSpPr txBox="1">
            <a:spLocks noChangeArrowheads="1"/>
          </p:cNvSpPr>
          <p:nvPr/>
        </p:nvSpPr>
        <p:spPr bwMode="auto">
          <a:xfrm>
            <a:off x="1828801" y="4648200"/>
            <a:ext cx="6397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400">
                <a:latin typeface="Times New Roman" panose="02020603050405020304" pitchFamily="18" charset="0"/>
              </a:rPr>
              <a:t>city</a:t>
            </a:r>
          </a:p>
        </p:txBody>
      </p:sp>
      <p:sp>
        <p:nvSpPr>
          <p:cNvPr id="2" name="Footer Placeholder 1">
            <a:extLst>
              <a:ext uri="{FF2B5EF4-FFF2-40B4-BE49-F238E27FC236}">
                <a16:creationId xmlns:a16="http://schemas.microsoft.com/office/drawing/2014/main" id="{938DDA49-175F-6C42-9C96-83DFEDB5C647}"/>
              </a:ext>
            </a:extLst>
          </p:cNvPr>
          <p:cNvSpPr>
            <a:spLocks noGrp="1"/>
          </p:cNvSpPr>
          <p:nvPr>
            <p:ph type="ftr" sz="quarter" idx="11"/>
          </p:nvPr>
        </p:nvSpPr>
        <p:spPr/>
        <p:txBody>
          <a:bodyPr/>
          <a:lstStyle/>
          <a:p>
            <a:r>
              <a:rPr lang="en-US"/>
              <a:t>Or Peretz</a:t>
            </a:r>
            <a:endParaRPr lang="en-IL"/>
          </a:p>
        </p:txBody>
      </p:sp>
      <p:sp>
        <p:nvSpPr>
          <p:cNvPr id="3" name="Slide Number Placeholder 2">
            <a:extLst>
              <a:ext uri="{FF2B5EF4-FFF2-40B4-BE49-F238E27FC236}">
                <a16:creationId xmlns:a16="http://schemas.microsoft.com/office/drawing/2014/main" id="{A564349A-7D89-5542-9E89-609640A90541}"/>
              </a:ext>
            </a:extLst>
          </p:cNvPr>
          <p:cNvSpPr>
            <a:spLocks noGrp="1"/>
          </p:cNvSpPr>
          <p:nvPr>
            <p:ph type="sldNum" sz="quarter" idx="12"/>
          </p:nvPr>
        </p:nvSpPr>
        <p:spPr/>
        <p:txBody>
          <a:bodyPr/>
          <a:lstStyle/>
          <a:p>
            <a:fld id="{B62643F8-DFCD-4B5F-9519-933435FA18FB}" type="slidenum">
              <a:rPr lang="en-IL" smtClean="0"/>
              <a:t>13</a:t>
            </a:fld>
            <a:endParaRPr lang="en-IL"/>
          </a:p>
        </p:txBody>
      </p:sp>
    </p:spTree>
    <p:extLst>
      <p:ext uri="{BB962C8B-B14F-4D97-AF65-F5344CB8AC3E}">
        <p14:creationId xmlns:p14="http://schemas.microsoft.com/office/powerpoint/2010/main" val="15912312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14</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3" name="Rectangle 2">
            <a:extLst>
              <a:ext uri="{FF2B5EF4-FFF2-40B4-BE49-F238E27FC236}">
                <a16:creationId xmlns:a16="http://schemas.microsoft.com/office/drawing/2014/main" id="{26DA11A2-B510-D84C-9ADC-C9D0389EDA81}"/>
              </a:ext>
            </a:extLst>
          </p:cNvPr>
          <p:cNvSpPr/>
          <p:nvPr/>
        </p:nvSpPr>
        <p:spPr>
          <a:xfrm>
            <a:off x="334433" y="2590799"/>
            <a:ext cx="11523133" cy="770467"/>
          </a:xfrm>
          <a:prstGeom prst="rect">
            <a:avLst/>
          </a:prstGeom>
          <a:solidFill>
            <a:schemeClr val="accent2">
              <a:lumMod val="40000"/>
              <a:lumOff val="6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sz="2400" dirty="0">
                <a:solidFill>
                  <a:schemeClr val="tx1"/>
                </a:solidFill>
              </a:rPr>
              <a:t>Data Warehouse Modeling</a:t>
            </a:r>
          </a:p>
        </p:txBody>
      </p:sp>
    </p:spTree>
    <p:extLst>
      <p:ext uri="{BB962C8B-B14F-4D97-AF65-F5344CB8AC3E}">
        <p14:creationId xmlns:p14="http://schemas.microsoft.com/office/powerpoint/2010/main" val="42199622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2">
            <a:extLst>
              <a:ext uri="{FF2B5EF4-FFF2-40B4-BE49-F238E27FC236}">
                <a16:creationId xmlns:a16="http://schemas.microsoft.com/office/drawing/2014/main" id="{247F2195-345C-304A-8C3F-63A95D23B2B0}"/>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12293" name="Rectangle 3">
            <a:extLst>
              <a:ext uri="{FF2B5EF4-FFF2-40B4-BE49-F238E27FC236}">
                <a16:creationId xmlns:a16="http://schemas.microsoft.com/office/drawing/2014/main" id="{A0FC9566-4825-6C4F-90A7-6D1920106940}"/>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12294" name="Rectangle 4">
            <a:extLst>
              <a:ext uri="{FF2B5EF4-FFF2-40B4-BE49-F238E27FC236}">
                <a16:creationId xmlns:a16="http://schemas.microsoft.com/office/drawing/2014/main" id="{F9D8CE74-95B2-F848-B860-86A4812E8AAF}"/>
              </a:ext>
            </a:extLst>
          </p:cNvPr>
          <p:cNvSpPr>
            <a:spLocks noGrp="1" noChangeArrowheads="1"/>
          </p:cNvSpPr>
          <p:nvPr>
            <p:ph type="title"/>
          </p:nvPr>
        </p:nvSpPr>
        <p:spPr>
          <a:xfrm>
            <a:off x="1016000" y="50800"/>
            <a:ext cx="10160000" cy="914400"/>
          </a:xfrm>
          <a:noFill/>
        </p:spPr>
        <p:txBody>
          <a:bodyPr vert="horz" lIns="0" tIns="0" rIns="0" bIns="0" rtlCol="0" anchor="b">
            <a:normAutofit/>
          </a:bodyPr>
          <a:lstStyle/>
          <a:p>
            <a:pPr algn="ctr"/>
            <a:r>
              <a:rPr lang="en-GB" altLang="en-IL" sz="3200" b="1" dirty="0">
                <a:latin typeface="+mn-lt"/>
              </a:rPr>
              <a:t>The “Classic” Star Schema</a:t>
            </a:r>
          </a:p>
        </p:txBody>
      </p:sp>
      <p:sp>
        <p:nvSpPr>
          <p:cNvPr id="12295" name="Rectangle 5">
            <a:extLst>
              <a:ext uri="{FF2B5EF4-FFF2-40B4-BE49-F238E27FC236}">
                <a16:creationId xmlns:a16="http://schemas.microsoft.com/office/drawing/2014/main" id="{5091B59B-BE13-964B-BBF6-6AE34839713A}"/>
              </a:ext>
            </a:extLst>
          </p:cNvPr>
          <p:cNvSpPr>
            <a:spLocks noGrp="1" noChangeArrowheads="1"/>
          </p:cNvSpPr>
          <p:nvPr>
            <p:ph type="body" sz="half" idx="2"/>
          </p:nvPr>
        </p:nvSpPr>
        <p:spPr>
          <a:xfrm>
            <a:off x="355599" y="1193800"/>
            <a:ext cx="11108267" cy="5054600"/>
          </a:xfrm>
          <a:noFill/>
        </p:spPr>
        <p:txBody>
          <a:bodyPr vert="horz" lIns="92075" tIns="46037" rIns="92075" bIns="46037" rtlCol="0">
            <a:normAutofit/>
          </a:bodyPr>
          <a:lstStyle/>
          <a:p>
            <a:pPr marL="0" indent="0">
              <a:buClr>
                <a:schemeClr val="hlink"/>
              </a:buClr>
              <a:buSzPct val="75000"/>
              <a:buNone/>
            </a:pPr>
            <a:r>
              <a:rPr lang="en-GB" altLang="en-IL" dirty="0"/>
              <a:t>A relational model with a </a:t>
            </a:r>
            <a:r>
              <a:rPr lang="en-GB" altLang="en-IL" b="1" dirty="0"/>
              <a:t>one-to-many</a:t>
            </a:r>
            <a:r>
              <a:rPr lang="en-GB" altLang="en-IL" dirty="0"/>
              <a:t> relationship between </a:t>
            </a:r>
            <a:r>
              <a:rPr lang="en-GB" altLang="en-IL" b="1" dirty="0"/>
              <a:t>dimension table </a:t>
            </a:r>
            <a:r>
              <a:rPr lang="en-GB" altLang="en-IL" dirty="0"/>
              <a:t>and </a:t>
            </a:r>
            <a:r>
              <a:rPr lang="en-GB" altLang="en-IL" b="1" dirty="0"/>
              <a:t>fact table</a:t>
            </a:r>
            <a:r>
              <a:rPr lang="en-GB" altLang="en-IL" dirty="0"/>
              <a:t>.</a:t>
            </a:r>
          </a:p>
          <a:p>
            <a:pPr>
              <a:buClr>
                <a:schemeClr val="hlink"/>
              </a:buClr>
              <a:buSzPct val="75000"/>
            </a:pPr>
            <a:r>
              <a:rPr lang="en-GB" altLang="en-IL" dirty="0"/>
              <a:t>A single </a:t>
            </a:r>
            <a:r>
              <a:rPr lang="en-GB" altLang="en-IL" b="1" dirty="0"/>
              <a:t>fact table</a:t>
            </a:r>
            <a:r>
              <a:rPr lang="en-GB" altLang="en-IL" dirty="0"/>
              <a:t>, with detail and summary data</a:t>
            </a:r>
          </a:p>
          <a:p>
            <a:pPr>
              <a:buClr>
                <a:schemeClr val="hlink"/>
              </a:buClr>
              <a:buSzPct val="75000"/>
            </a:pPr>
            <a:r>
              <a:rPr lang="en-GB" altLang="en-IL" b="1" dirty="0">
                <a:solidFill>
                  <a:srgbClr val="FF0000"/>
                </a:solidFill>
              </a:rPr>
              <a:t>Fact table primary key has only one key column per dimension</a:t>
            </a:r>
          </a:p>
          <a:p>
            <a:pPr>
              <a:buClr>
                <a:schemeClr val="hlink"/>
              </a:buClr>
              <a:buSzPct val="75000"/>
            </a:pPr>
            <a:r>
              <a:rPr lang="en-GB" altLang="en-IL" dirty="0"/>
              <a:t>Each dimension is a single table, highly denormalized</a:t>
            </a:r>
          </a:p>
        </p:txBody>
      </p:sp>
      <p:sp>
        <p:nvSpPr>
          <p:cNvPr id="2" name="Footer Placeholder 1">
            <a:extLst>
              <a:ext uri="{FF2B5EF4-FFF2-40B4-BE49-F238E27FC236}">
                <a16:creationId xmlns:a16="http://schemas.microsoft.com/office/drawing/2014/main" id="{38BA2684-3C4D-3E4C-8392-716A83D63D2A}"/>
              </a:ext>
            </a:extLst>
          </p:cNvPr>
          <p:cNvSpPr>
            <a:spLocks noGrp="1"/>
          </p:cNvSpPr>
          <p:nvPr>
            <p:ph type="ftr" sz="quarter" idx="10"/>
          </p:nvPr>
        </p:nvSpPr>
        <p:spPr/>
        <p:txBody>
          <a:bodyPr/>
          <a:lstStyle/>
          <a:p>
            <a:r>
              <a:rPr lang="en-US" altLang="en-US"/>
              <a:t>Or Peretz</a:t>
            </a:r>
          </a:p>
        </p:txBody>
      </p:sp>
      <p:pic>
        <p:nvPicPr>
          <p:cNvPr id="1026" name="Picture 2" descr="Star Schema | Logi Analytics BI Encyclopedia">
            <a:extLst>
              <a:ext uri="{FF2B5EF4-FFF2-40B4-BE49-F238E27FC236}">
                <a16:creationId xmlns:a16="http://schemas.microsoft.com/office/drawing/2014/main" id="{4C8DFDC8-153E-3C41-A879-9AC35D304D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91917" y="2889250"/>
            <a:ext cx="3674993" cy="3130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0081551"/>
      </p:ext>
    </p:extLst>
  </p:cSld>
  <p:clrMapOvr>
    <a:masterClrMapping/>
  </p:clrMapOvr>
  <p:transition>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2">
            <a:extLst>
              <a:ext uri="{FF2B5EF4-FFF2-40B4-BE49-F238E27FC236}">
                <a16:creationId xmlns:a16="http://schemas.microsoft.com/office/drawing/2014/main" id="{247F2195-345C-304A-8C3F-63A95D23B2B0}"/>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12293" name="Rectangle 3">
            <a:extLst>
              <a:ext uri="{FF2B5EF4-FFF2-40B4-BE49-F238E27FC236}">
                <a16:creationId xmlns:a16="http://schemas.microsoft.com/office/drawing/2014/main" id="{A0FC9566-4825-6C4F-90A7-6D1920106940}"/>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12294" name="Rectangle 4">
            <a:extLst>
              <a:ext uri="{FF2B5EF4-FFF2-40B4-BE49-F238E27FC236}">
                <a16:creationId xmlns:a16="http://schemas.microsoft.com/office/drawing/2014/main" id="{F9D8CE74-95B2-F848-B860-86A4812E8AAF}"/>
              </a:ext>
            </a:extLst>
          </p:cNvPr>
          <p:cNvSpPr>
            <a:spLocks noGrp="1" noChangeArrowheads="1"/>
          </p:cNvSpPr>
          <p:nvPr>
            <p:ph type="title"/>
          </p:nvPr>
        </p:nvSpPr>
        <p:spPr>
          <a:xfrm>
            <a:off x="1016000" y="0"/>
            <a:ext cx="10160000" cy="914400"/>
          </a:xfrm>
          <a:noFill/>
        </p:spPr>
        <p:txBody>
          <a:bodyPr vert="horz" lIns="0" tIns="0" rIns="0" bIns="0" rtlCol="0" anchor="b">
            <a:normAutofit/>
          </a:bodyPr>
          <a:lstStyle/>
          <a:p>
            <a:pPr algn="ctr"/>
            <a:r>
              <a:rPr lang="en-GB" altLang="en-IL" sz="3200" b="1" dirty="0">
                <a:latin typeface="+mn-lt"/>
              </a:rPr>
              <a:t>The “Classic” Star Schema</a:t>
            </a:r>
          </a:p>
        </p:txBody>
      </p:sp>
      <p:sp>
        <p:nvSpPr>
          <p:cNvPr id="12295" name="Rectangle 5">
            <a:extLst>
              <a:ext uri="{FF2B5EF4-FFF2-40B4-BE49-F238E27FC236}">
                <a16:creationId xmlns:a16="http://schemas.microsoft.com/office/drawing/2014/main" id="{5091B59B-BE13-964B-BBF6-6AE34839713A}"/>
              </a:ext>
            </a:extLst>
          </p:cNvPr>
          <p:cNvSpPr>
            <a:spLocks noGrp="1" noChangeArrowheads="1"/>
          </p:cNvSpPr>
          <p:nvPr>
            <p:ph type="body" sz="half" idx="2"/>
          </p:nvPr>
        </p:nvSpPr>
        <p:spPr>
          <a:xfrm>
            <a:off x="338666" y="1041400"/>
            <a:ext cx="11108267" cy="5054600"/>
          </a:xfrm>
          <a:noFill/>
        </p:spPr>
        <p:txBody>
          <a:bodyPr vert="horz" lIns="92075" tIns="46037" rIns="92075" bIns="46037" rtlCol="0">
            <a:normAutofit/>
          </a:bodyPr>
          <a:lstStyle/>
          <a:p>
            <a:r>
              <a:rPr lang="en-GB" altLang="en-GB" sz="2400" b="1" dirty="0"/>
              <a:t>Benefits</a:t>
            </a:r>
          </a:p>
          <a:p>
            <a:pPr lvl="1"/>
            <a:r>
              <a:rPr lang="en-GB" altLang="en-GB" sz="2400" dirty="0"/>
              <a:t>Easy to understand</a:t>
            </a:r>
          </a:p>
          <a:p>
            <a:pPr lvl="1"/>
            <a:r>
              <a:rPr lang="en-GB" altLang="en-GB" sz="2400" dirty="0"/>
              <a:t>Intuitive mapping between the business entities</a:t>
            </a:r>
          </a:p>
          <a:p>
            <a:pPr lvl="1"/>
            <a:r>
              <a:rPr lang="en-GB" altLang="en-GB" sz="2400" dirty="0"/>
              <a:t>Easy to define hierarchies</a:t>
            </a:r>
          </a:p>
          <a:p>
            <a:pPr lvl="1"/>
            <a:r>
              <a:rPr lang="en-GB" altLang="en-GB" sz="2400" dirty="0"/>
              <a:t>Reduces number of joins</a:t>
            </a:r>
          </a:p>
          <a:p>
            <a:r>
              <a:rPr lang="en-GB" altLang="en-GB" sz="2400" b="1" dirty="0"/>
              <a:t>Drawbacks</a:t>
            </a:r>
          </a:p>
          <a:p>
            <a:pPr lvl="1"/>
            <a:r>
              <a:rPr lang="en-GB" altLang="en-GB" sz="2400" dirty="0"/>
              <a:t>Summary data in the fact table yields poorer performance for summary level</a:t>
            </a:r>
          </a:p>
          <a:p>
            <a:pPr lvl="1"/>
            <a:r>
              <a:rPr lang="en-GB" altLang="en-GB" sz="2400" dirty="0"/>
              <a:t>Huge dimension tables a problem</a:t>
            </a:r>
          </a:p>
          <a:p>
            <a:pPr>
              <a:buClr>
                <a:schemeClr val="hlink"/>
              </a:buClr>
              <a:buSzPct val="75000"/>
              <a:buFont typeface="Wingdings" pitchFamily="2" charset="2"/>
              <a:buChar char=""/>
            </a:pPr>
            <a:endParaRPr lang="en-GB" altLang="en-IL" dirty="0"/>
          </a:p>
        </p:txBody>
      </p:sp>
      <p:sp>
        <p:nvSpPr>
          <p:cNvPr id="2" name="Footer Placeholder 1">
            <a:extLst>
              <a:ext uri="{FF2B5EF4-FFF2-40B4-BE49-F238E27FC236}">
                <a16:creationId xmlns:a16="http://schemas.microsoft.com/office/drawing/2014/main" id="{850080D7-AC7D-384C-B038-C152BE9FC208}"/>
              </a:ext>
            </a:extLst>
          </p:cNvPr>
          <p:cNvSpPr>
            <a:spLocks noGrp="1"/>
          </p:cNvSpPr>
          <p:nvPr>
            <p:ph type="ftr" sz="quarter" idx="10"/>
          </p:nvPr>
        </p:nvSpPr>
        <p:spPr/>
        <p:txBody>
          <a:bodyPr/>
          <a:lstStyle/>
          <a:p>
            <a:r>
              <a:rPr lang="en-US" altLang="en-US"/>
              <a:t>Or Peretz</a:t>
            </a:r>
          </a:p>
        </p:txBody>
      </p:sp>
    </p:spTree>
    <p:extLst>
      <p:ext uri="{BB962C8B-B14F-4D97-AF65-F5344CB8AC3E}">
        <p14:creationId xmlns:p14="http://schemas.microsoft.com/office/powerpoint/2010/main" val="2933071444"/>
      </p:ext>
    </p:extLst>
  </p:cSld>
  <p:clrMapOvr>
    <a:masterClrMapping/>
  </p:clrMapOvr>
  <p:transition>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2">
            <a:extLst>
              <a:ext uri="{FF2B5EF4-FFF2-40B4-BE49-F238E27FC236}">
                <a16:creationId xmlns:a16="http://schemas.microsoft.com/office/drawing/2014/main" id="{C510993F-8A6B-8F4D-867F-720929F497A6}"/>
              </a:ext>
            </a:extLst>
          </p:cNvPr>
          <p:cNvSpPr>
            <a:spLocks noGrp="1" noChangeArrowheads="1"/>
          </p:cNvSpPr>
          <p:nvPr>
            <p:ph type="title"/>
          </p:nvPr>
        </p:nvSpPr>
        <p:spPr/>
        <p:txBody>
          <a:bodyPr>
            <a:normAutofit/>
          </a:bodyPr>
          <a:lstStyle/>
          <a:p>
            <a:pPr algn="ctr"/>
            <a:r>
              <a:rPr lang="en-US" altLang="en-IL" sz="3200" b="1" dirty="0">
                <a:latin typeface="+mn-lt"/>
              </a:rPr>
              <a:t>Star Schema</a:t>
            </a:r>
          </a:p>
        </p:txBody>
      </p:sp>
      <p:sp>
        <p:nvSpPr>
          <p:cNvPr id="6" name="Rectangle 3">
            <a:extLst>
              <a:ext uri="{FF2B5EF4-FFF2-40B4-BE49-F238E27FC236}">
                <a16:creationId xmlns:a16="http://schemas.microsoft.com/office/drawing/2014/main" id="{46D0367A-E008-A243-8E04-EB8D32BE0572}"/>
              </a:ext>
            </a:extLst>
          </p:cNvPr>
          <p:cNvSpPr>
            <a:spLocks noGrp="1" noChangeArrowheads="1"/>
          </p:cNvSpPr>
          <p:nvPr>
            <p:ph idx="1"/>
          </p:nvPr>
        </p:nvSpPr>
        <p:spPr>
          <a:xfrm>
            <a:off x="7943850" y="1676400"/>
            <a:ext cx="2495550" cy="4305300"/>
          </a:xfrm>
        </p:spPr>
        <p:txBody>
          <a:bodyPr/>
          <a:lstStyle/>
          <a:p>
            <a:pPr eaLnBrk="1" hangingPunct="1">
              <a:buFont typeface="Wingdings" pitchFamily="2" charset="2"/>
              <a:buNone/>
            </a:pPr>
            <a:r>
              <a:rPr lang="en-US" altLang="en-IL" sz="2400"/>
              <a:t>   </a:t>
            </a:r>
          </a:p>
        </p:txBody>
      </p:sp>
      <p:sp>
        <p:nvSpPr>
          <p:cNvPr id="7" name="Rectangle 4">
            <a:extLst>
              <a:ext uri="{FF2B5EF4-FFF2-40B4-BE49-F238E27FC236}">
                <a16:creationId xmlns:a16="http://schemas.microsoft.com/office/drawing/2014/main" id="{FBF85C52-9A6E-D444-8DC9-C48969B0E95E}"/>
              </a:ext>
            </a:extLst>
          </p:cNvPr>
          <p:cNvSpPr>
            <a:spLocks noChangeArrowheads="1"/>
          </p:cNvSpPr>
          <p:nvPr/>
        </p:nvSpPr>
        <p:spPr bwMode="auto">
          <a:xfrm>
            <a:off x="5072064" y="3162300"/>
            <a:ext cx="2065337" cy="45243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IN" altLang="en-IL"/>
          </a:p>
        </p:txBody>
      </p:sp>
      <p:grpSp>
        <p:nvGrpSpPr>
          <p:cNvPr id="8" name="Group 5">
            <a:extLst>
              <a:ext uri="{FF2B5EF4-FFF2-40B4-BE49-F238E27FC236}">
                <a16:creationId xmlns:a16="http://schemas.microsoft.com/office/drawing/2014/main" id="{00CF26F1-C3F8-2649-A507-1CDEB15F35AA}"/>
              </a:ext>
            </a:extLst>
          </p:cNvPr>
          <p:cNvGrpSpPr>
            <a:grpSpLocks/>
          </p:cNvGrpSpPr>
          <p:nvPr/>
        </p:nvGrpSpPr>
        <p:grpSpPr bwMode="auto">
          <a:xfrm>
            <a:off x="1828801" y="1295401"/>
            <a:ext cx="1819275" cy="2163763"/>
            <a:chOff x="277" y="1164"/>
            <a:chExt cx="1133" cy="1341"/>
          </a:xfrm>
        </p:grpSpPr>
        <p:sp>
          <p:nvSpPr>
            <p:cNvPr id="9" name="Rectangle 6">
              <a:extLst>
                <a:ext uri="{FF2B5EF4-FFF2-40B4-BE49-F238E27FC236}">
                  <a16:creationId xmlns:a16="http://schemas.microsoft.com/office/drawing/2014/main" id="{D03CF4A0-2EF7-6A44-ACEC-7249E671F89B}"/>
                </a:ext>
              </a:extLst>
            </p:cNvPr>
            <p:cNvSpPr>
              <a:spLocks noChangeArrowheads="1"/>
            </p:cNvSpPr>
            <p:nvPr/>
          </p:nvSpPr>
          <p:spPr bwMode="auto">
            <a:xfrm>
              <a:off x="277" y="1421"/>
              <a:ext cx="1133" cy="108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a:latin typeface="Times New Roman" panose="02020603050405020304" pitchFamily="18" charset="0"/>
                </a:rPr>
                <a:t>time_key</a:t>
              </a:r>
            </a:p>
            <a:p>
              <a:r>
                <a:rPr lang="en-US" altLang="en-IL">
                  <a:latin typeface="Times New Roman" panose="02020603050405020304" pitchFamily="18" charset="0"/>
                </a:rPr>
                <a:t>day</a:t>
              </a:r>
            </a:p>
            <a:p>
              <a:r>
                <a:rPr lang="en-US" altLang="en-IL">
                  <a:latin typeface="Times New Roman" panose="02020603050405020304" pitchFamily="18" charset="0"/>
                </a:rPr>
                <a:t>day_of_the_week</a:t>
              </a:r>
            </a:p>
            <a:p>
              <a:r>
                <a:rPr lang="en-US" altLang="en-IL">
                  <a:latin typeface="Times New Roman" panose="02020603050405020304" pitchFamily="18" charset="0"/>
                </a:rPr>
                <a:t>month</a:t>
              </a:r>
            </a:p>
            <a:p>
              <a:r>
                <a:rPr lang="en-US" altLang="en-IL">
                  <a:latin typeface="Times New Roman" panose="02020603050405020304" pitchFamily="18" charset="0"/>
                </a:rPr>
                <a:t>quarter</a:t>
              </a:r>
            </a:p>
            <a:p>
              <a:r>
                <a:rPr lang="en-US" altLang="en-IL">
                  <a:latin typeface="Times New Roman" panose="02020603050405020304" pitchFamily="18" charset="0"/>
                </a:rPr>
                <a:t>year</a:t>
              </a:r>
            </a:p>
          </p:txBody>
        </p:sp>
        <p:sp>
          <p:nvSpPr>
            <p:cNvPr id="10" name="Rectangle 7">
              <a:extLst>
                <a:ext uri="{FF2B5EF4-FFF2-40B4-BE49-F238E27FC236}">
                  <a16:creationId xmlns:a16="http://schemas.microsoft.com/office/drawing/2014/main" id="{A8E43DF5-E8DC-334C-AFAF-33C470BECB99}"/>
                </a:ext>
              </a:extLst>
            </p:cNvPr>
            <p:cNvSpPr>
              <a:spLocks noChangeArrowheads="1"/>
            </p:cNvSpPr>
            <p:nvPr/>
          </p:nvSpPr>
          <p:spPr bwMode="auto">
            <a:xfrm>
              <a:off x="277" y="1164"/>
              <a:ext cx="401" cy="25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000">
                  <a:latin typeface="Times New Roman" panose="02020603050405020304" pitchFamily="18" charset="0"/>
                </a:rPr>
                <a:t>time</a:t>
              </a:r>
            </a:p>
          </p:txBody>
        </p:sp>
      </p:grpSp>
      <p:grpSp>
        <p:nvGrpSpPr>
          <p:cNvPr id="11" name="Group 8">
            <a:extLst>
              <a:ext uri="{FF2B5EF4-FFF2-40B4-BE49-F238E27FC236}">
                <a16:creationId xmlns:a16="http://schemas.microsoft.com/office/drawing/2014/main" id="{69C6F8ED-A139-4E45-B1F9-4A69AA3ED54B}"/>
              </a:ext>
            </a:extLst>
          </p:cNvPr>
          <p:cNvGrpSpPr>
            <a:grpSpLocks/>
          </p:cNvGrpSpPr>
          <p:nvPr/>
        </p:nvGrpSpPr>
        <p:grpSpPr bwMode="auto">
          <a:xfrm>
            <a:off x="8128001" y="3867151"/>
            <a:ext cx="1908175" cy="1884363"/>
            <a:chOff x="684" y="2196"/>
            <a:chExt cx="1189" cy="1168"/>
          </a:xfrm>
        </p:grpSpPr>
        <p:sp>
          <p:nvSpPr>
            <p:cNvPr id="12" name="Rectangle 9">
              <a:extLst>
                <a:ext uri="{FF2B5EF4-FFF2-40B4-BE49-F238E27FC236}">
                  <a16:creationId xmlns:a16="http://schemas.microsoft.com/office/drawing/2014/main" id="{B00CD9AA-A2DD-224A-A0E6-7AF58B827E9F}"/>
                </a:ext>
              </a:extLst>
            </p:cNvPr>
            <p:cNvSpPr>
              <a:spLocks noChangeArrowheads="1"/>
            </p:cNvSpPr>
            <p:nvPr/>
          </p:nvSpPr>
          <p:spPr bwMode="auto">
            <a:xfrm>
              <a:off x="684" y="2450"/>
              <a:ext cx="1189" cy="91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a:latin typeface="Times New Roman" panose="02020603050405020304" pitchFamily="18" charset="0"/>
                </a:rPr>
                <a:t>location_key</a:t>
              </a:r>
            </a:p>
            <a:p>
              <a:r>
                <a:rPr lang="en-US" altLang="en-IL">
                  <a:latin typeface="Times New Roman" panose="02020603050405020304" pitchFamily="18" charset="0"/>
                </a:rPr>
                <a:t>street</a:t>
              </a:r>
            </a:p>
            <a:p>
              <a:r>
                <a:rPr lang="en-US" altLang="en-IL">
                  <a:latin typeface="Times New Roman" panose="02020603050405020304" pitchFamily="18" charset="0"/>
                </a:rPr>
                <a:t>city</a:t>
              </a:r>
            </a:p>
            <a:p>
              <a:r>
                <a:rPr lang="en-US" altLang="en-IL">
                  <a:latin typeface="Times New Roman" panose="02020603050405020304" pitchFamily="18" charset="0"/>
                </a:rPr>
                <a:t>province_or_street</a:t>
              </a:r>
            </a:p>
            <a:p>
              <a:r>
                <a:rPr lang="en-US" altLang="en-IL">
                  <a:latin typeface="Times New Roman" panose="02020603050405020304" pitchFamily="18" charset="0"/>
                </a:rPr>
                <a:t>country</a:t>
              </a:r>
            </a:p>
          </p:txBody>
        </p:sp>
        <p:sp>
          <p:nvSpPr>
            <p:cNvPr id="13" name="Rectangle 10">
              <a:extLst>
                <a:ext uri="{FF2B5EF4-FFF2-40B4-BE49-F238E27FC236}">
                  <a16:creationId xmlns:a16="http://schemas.microsoft.com/office/drawing/2014/main" id="{90287E88-73E9-4841-A36D-76083983CD7E}"/>
                </a:ext>
              </a:extLst>
            </p:cNvPr>
            <p:cNvSpPr>
              <a:spLocks noChangeArrowheads="1"/>
            </p:cNvSpPr>
            <p:nvPr/>
          </p:nvSpPr>
          <p:spPr bwMode="auto">
            <a:xfrm>
              <a:off x="684" y="2196"/>
              <a:ext cx="630" cy="25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000">
                  <a:latin typeface="Times New Roman" panose="02020603050405020304" pitchFamily="18" charset="0"/>
                </a:rPr>
                <a:t>location</a:t>
              </a:r>
            </a:p>
          </p:txBody>
        </p:sp>
      </p:grpSp>
      <p:sp>
        <p:nvSpPr>
          <p:cNvPr id="14" name="Rectangle 11">
            <a:extLst>
              <a:ext uri="{FF2B5EF4-FFF2-40B4-BE49-F238E27FC236}">
                <a16:creationId xmlns:a16="http://schemas.microsoft.com/office/drawing/2014/main" id="{B429B402-CBF4-4740-85B6-A2019D2B47BC}"/>
              </a:ext>
            </a:extLst>
          </p:cNvPr>
          <p:cNvSpPr>
            <a:spLocks noChangeArrowheads="1"/>
          </p:cNvSpPr>
          <p:nvPr/>
        </p:nvSpPr>
        <p:spPr bwMode="auto">
          <a:xfrm>
            <a:off x="4975225" y="2279650"/>
            <a:ext cx="1856214"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000">
                <a:latin typeface="Times New Roman" panose="02020603050405020304" pitchFamily="18" charset="0"/>
              </a:rPr>
              <a:t>Sales Fact Table</a:t>
            </a:r>
          </a:p>
        </p:txBody>
      </p:sp>
      <p:sp>
        <p:nvSpPr>
          <p:cNvPr id="15" name="Rectangle 12">
            <a:extLst>
              <a:ext uri="{FF2B5EF4-FFF2-40B4-BE49-F238E27FC236}">
                <a16:creationId xmlns:a16="http://schemas.microsoft.com/office/drawing/2014/main" id="{2D18C5AD-B84C-F244-B6A5-4DA7AF328C6F}"/>
              </a:ext>
            </a:extLst>
          </p:cNvPr>
          <p:cNvSpPr>
            <a:spLocks noChangeArrowheads="1"/>
          </p:cNvSpPr>
          <p:nvPr/>
        </p:nvSpPr>
        <p:spPr bwMode="auto">
          <a:xfrm>
            <a:off x="5072064" y="2697164"/>
            <a:ext cx="2065337" cy="452437"/>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IN" altLang="en-IL"/>
          </a:p>
        </p:txBody>
      </p:sp>
      <p:sp>
        <p:nvSpPr>
          <p:cNvPr id="16" name="Rectangle 13">
            <a:extLst>
              <a:ext uri="{FF2B5EF4-FFF2-40B4-BE49-F238E27FC236}">
                <a16:creationId xmlns:a16="http://schemas.microsoft.com/office/drawing/2014/main" id="{83E8F049-B36A-FD49-BFAD-1F5324FBC5F8}"/>
              </a:ext>
            </a:extLst>
          </p:cNvPr>
          <p:cNvSpPr>
            <a:spLocks noChangeArrowheads="1"/>
          </p:cNvSpPr>
          <p:nvPr/>
        </p:nvSpPr>
        <p:spPr bwMode="auto">
          <a:xfrm>
            <a:off x="5105400" y="2743200"/>
            <a:ext cx="2057400" cy="40075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IL" sz="2000">
                <a:latin typeface="Times New Roman" panose="02020603050405020304" pitchFamily="18" charset="0"/>
              </a:rPr>
              <a:t>           time_key</a:t>
            </a:r>
          </a:p>
        </p:txBody>
      </p:sp>
      <p:sp>
        <p:nvSpPr>
          <p:cNvPr id="17" name="Rectangle 14">
            <a:extLst>
              <a:ext uri="{FF2B5EF4-FFF2-40B4-BE49-F238E27FC236}">
                <a16:creationId xmlns:a16="http://schemas.microsoft.com/office/drawing/2014/main" id="{6219C4AA-588B-7244-8B55-E1B6F333F174}"/>
              </a:ext>
            </a:extLst>
          </p:cNvPr>
          <p:cNvSpPr>
            <a:spLocks noChangeArrowheads="1"/>
          </p:cNvSpPr>
          <p:nvPr/>
        </p:nvSpPr>
        <p:spPr bwMode="auto">
          <a:xfrm>
            <a:off x="5106988" y="3192463"/>
            <a:ext cx="2035814" cy="40075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000">
                <a:latin typeface="Times New Roman" panose="02020603050405020304" pitchFamily="18" charset="0"/>
              </a:rPr>
              <a:t>              item_key</a:t>
            </a:r>
          </a:p>
        </p:txBody>
      </p:sp>
      <p:sp>
        <p:nvSpPr>
          <p:cNvPr id="18" name="Rectangle 15">
            <a:extLst>
              <a:ext uri="{FF2B5EF4-FFF2-40B4-BE49-F238E27FC236}">
                <a16:creationId xmlns:a16="http://schemas.microsoft.com/office/drawing/2014/main" id="{31FBB813-616A-644A-A899-D501BD5CB03B}"/>
              </a:ext>
            </a:extLst>
          </p:cNvPr>
          <p:cNvSpPr>
            <a:spLocks noChangeArrowheads="1"/>
          </p:cNvSpPr>
          <p:nvPr/>
        </p:nvSpPr>
        <p:spPr bwMode="auto">
          <a:xfrm>
            <a:off x="5072064" y="3627438"/>
            <a:ext cx="2065337" cy="45085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IN" altLang="en-IL"/>
          </a:p>
        </p:txBody>
      </p:sp>
      <p:sp>
        <p:nvSpPr>
          <p:cNvPr id="19" name="Rectangle 16">
            <a:extLst>
              <a:ext uri="{FF2B5EF4-FFF2-40B4-BE49-F238E27FC236}">
                <a16:creationId xmlns:a16="http://schemas.microsoft.com/office/drawing/2014/main" id="{AEA07388-E3AD-874D-99BD-BF99913526F5}"/>
              </a:ext>
            </a:extLst>
          </p:cNvPr>
          <p:cNvSpPr>
            <a:spLocks noChangeArrowheads="1"/>
          </p:cNvSpPr>
          <p:nvPr/>
        </p:nvSpPr>
        <p:spPr bwMode="auto">
          <a:xfrm>
            <a:off x="5106988" y="3638550"/>
            <a:ext cx="2087110" cy="40075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000">
                <a:latin typeface="Times New Roman" panose="02020603050405020304" pitchFamily="18" charset="0"/>
              </a:rPr>
              <a:t>           branch_key</a:t>
            </a:r>
          </a:p>
        </p:txBody>
      </p:sp>
      <p:sp>
        <p:nvSpPr>
          <p:cNvPr id="20" name="Rectangle 17">
            <a:extLst>
              <a:ext uri="{FF2B5EF4-FFF2-40B4-BE49-F238E27FC236}">
                <a16:creationId xmlns:a16="http://schemas.microsoft.com/office/drawing/2014/main" id="{279A9244-00FF-734E-8C3C-01AED0F72E68}"/>
              </a:ext>
            </a:extLst>
          </p:cNvPr>
          <p:cNvSpPr>
            <a:spLocks noChangeArrowheads="1"/>
          </p:cNvSpPr>
          <p:nvPr/>
        </p:nvSpPr>
        <p:spPr bwMode="auto">
          <a:xfrm>
            <a:off x="5072064" y="4090989"/>
            <a:ext cx="2065337" cy="452437"/>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IN" altLang="en-IL"/>
          </a:p>
        </p:txBody>
      </p:sp>
      <p:sp>
        <p:nvSpPr>
          <p:cNvPr id="21" name="Rectangle 18">
            <a:extLst>
              <a:ext uri="{FF2B5EF4-FFF2-40B4-BE49-F238E27FC236}">
                <a16:creationId xmlns:a16="http://schemas.microsoft.com/office/drawing/2014/main" id="{4E9A08F3-DAC7-6540-A8D9-40D7206AFE5F}"/>
              </a:ext>
            </a:extLst>
          </p:cNvPr>
          <p:cNvSpPr>
            <a:spLocks noChangeArrowheads="1"/>
          </p:cNvSpPr>
          <p:nvPr/>
        </p:nvSpPr>
        <p:spPr bwMode="auto">
          <a:xfrm>
            <a:off x="5105401" y="4114800"/>
            <a:ext cx="2085507" cy="40075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000">
                <a:latin typeface="Times New Roman" panose="02020603050405020304" pitchFamily="18" charset="0"/>
              </a:rPr>
              <a:t>         location_key</a:t>
            </a:r>
          </a:p>
        </p:txBody>
      </p:sp>
      <p:sp>
        <p:nvSpPr>
          <p:cNvPr id="22" name="Rectangle 19">
            <a:extLst>
              <a:ext uri="{FF2B5EF4-FFF2-40B4-BE49-F238E27FC236}">
                <a16:creationId xmlns:a16="http://schemas.microsoft.com/office/drawing/2014/main" id="{1F787F94-2E64-9E4A-9C87-6F55E6799785}"/>
              </a:ext>
            </a:extLst>
          </p:cNvPr>
          <p:cNvSpPr>
            <a:spLocks noChangeArrowheads="1"/>
          </p:cNvSpPr>
          <p:nvPr/>
        </p:nvSpPr>
        <p:spPr bwMode="auto">
          <a:xfrm>
            <a:off x="5072064" y="4556125"/>
            <a:ext cx="2065337" cy="45243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008484"/>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IN" altLang="en-IL"/>
          </a:p>
        </p:txBody>
      </p:sp>
      <p:sp>
        <p:nvSpPr>
          <p:cNvPr id="23" name="Rectangle 20">
            <a:extLst>
              <a:ext uri="{FF2B5EF4-FFF2-40B4-BE49-F238E27FC236}">
                <a16:creationId xmlns:a16="http://schemas.microsoft.com/office/drawing/2014/main" id="{F4771559-8E7D-8541-AD16-A4948F5D57A6}"/>
              </a:ext>
            </a:extLst>
          </p:cNvPr>
          <p:cNvSpPr>
            <a:spLocks noChangeArrowheads="1"/>
          </p:cNvSpPr>
          <p:nvPr/>
        </p:nvSpPr>
        <p:spPr bwMode="auto">
          <a:xfrm>
            <a:off x="5106988" y="4606925"/>
            <a:ext cx="2006960" cy="40075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000">
                <a:latin typeface="Times New Roman" panose="02020603050405020304" pitchFamily="18" charset="0"/>
              </a:rPr>
              <a:t>            units_sold</a:t>
            </a:r>
          </a:p>
        </p:txBody>
      </p:sp>
      <p:sp>
        <p:nvSpPr>
          <p:cNvPr id="24" name="Rectangle 21">
            <a:extLst>
              <a:ext uri="{FF2B5EF4-FFF2-40B4-BE49-F238E27FC236}">
                <a16:creationId xmlns:a16="http://schemas.microsoft.com/office/drawing/2014/main" id="{10F3A3BE-EE4B-0649-8539-F89B10E30685}"/>
              </a:ext>
            </a:extLst>
          </p:cNvPr>
          <p:cNvSpPr>
            <a:spLocks noChangeArrowheads="1"/>
          </p:cNvSpPr>
          <p:nvPr/>
        </p:nvSpPr>
        <p:spPr bwMode="auto">
          <a:xfrm>
            <a:off x="5072064" y="5021263"/>
            <a:ext cx="2065337" cy="45085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008484"/>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IN" altLang="en-IL"/>
          </a:p>
        </p:txBody>
      </p:sp>
      <p:sp>
        <p:nvSpPr>
          <p:cNvPr id="25" name="Rectangle 22">
            <a:extLst>
              <a:ext uri="{FF2B5EF4-FFF2-40B4-BE49-F238E27FC236}">
                <a16:creationId xmlns:a16="http://schemas.microsoft.com/office/drawing/2014/main" id="{14CF9E3A-90AD-0A48-BE15-AB2B2D6F6CF6}"/>
              </a:ext>
            </a:extLst>
          </p:cNvPr>
          <p:cNvSpPr>
            <a:spLocks noChangeArrowheads="1"/>
          </p:cNvSpPr>
          <p:nvPr/>
        </p:nvSpPr>
        <p:spPr bwMode="auto">
          <a:xfrm>
            <a:off x="5106988" y="5051425"/>
            <a:ext cx="2013372" cy="40075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000">
                <a:latin typeface="Times New Roman" panose="02020603050405020304" pitchFamily="18" charset="0"/>
              </a:rPr>
              <a:t>         dollars_sold</a:t>
            </a:r>
          </a:p>
        </p:txBody>
      </p:sp>
      <p:sp>
        <p:nvSpPr>
          <p:cNvPr id="26" name="Rectangle 23">
            <a:extLst>
              <a:ext uri="{FF2B5EF4-FFF2-40B4-BE49-F238E27FC236}">
                <a16:creationId xmlns:a16="http://schemas.microsoft.com/office/drawing/2014/main" id="{D8D2714B-A7DF-ED43-A95D-23FC5AC68AAD}"/>
              </a:ext>
            </a:extLst>
          </p:cNvPr>
          <p:cNvSpPr>
            <a:spLocks noChangeArrowheads="1"/>
          </p:cNvSpPr>
          <p:nvPr/>
        </p:nvSpPr>
        <p:spPr bwMode="auto">
          <a:xfrm>
            <a:off x="5072064" y="5486400"/>
            <a:ext cx="2065337" cy="45085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008484"/>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IN" altLang="en-IL"/>
          </a:p>
        </p:txBody>
      </p:sp>
      <p:sp>
        <p:nvSpPr>
          <p:cNvPr id="27" name="Rectangle 24">
            <a:extLst>
              <a:ext uri="{FF2B5EF4-FFF2-40B4-BE49-F238E27FC236}">
                <a16:creationId xmlns:a16="http://schemas.microsoft.com/office/drawing/2014/main" id="{5FE6616A-D496-8C42-8DEB-A99EF46D090A}"/>
              </a:ext>
            </a:extLst>
          </p:cNvPr>
          <p:cNvSpPr>
            <a:spLocks noChangeArrowheads="1"/>
          </p:cNvSpPr>
          <p:nvPr/>
        </p:nvSpPr>
        <p:spPr bwMode="auto">
          <a:xfrm>
            <a:off x="5087939" y="5497513"/>
            <a:ext cx="2014975" cy="40075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2000">
                <a:latin typeface="Times New Roman" panose="02020603050405020304" pitchFamily="18" charset="0"/>
              </a:rPr>
              <a:t>             avg_sales</a:t>
            </a:r>
          </a:p>
        </p:txBody>
      </p:sp>
      <p:sp>
        <p:nvSpPr>
          <p:cNvPr id="28" name="Rectangle 25">
            <a:extLst>
              <a:ext uri="{FF2B5EF4-FFF2-40B4-BE49-F238E27FC236}">
                <a16:creationId xmlns:a16="http://schemas.microsoft.com/office/drawing/2014/main" id="{4449658F-5B79-E24C-9428-62274F1BCE1D}"/>
              </a:ext>
            </a:extLst>
          </p:cNvPr>
          <p:cNvSpPr>
            <a:spLocks noChangeArrowheads="1"/>
          </p:cNvSpPr>
          <p:nvPr/>
        </p:nvSpPr>
        <p:spPr bwMode="auto">
          <a:xfrm>
            <a:off x="3581400" y="5905500"/>
            <a:ext cx="1219200" cy="406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altLang="en-IL" sz="2000">
                <a:latin typeface="Times New Roman" panose="02020603050405020304" pitchFamily="18" charset="0"/>
              </a:rPr>
              <a:t>Measures</a:t>
            </a:r>
          </a:p>
        </p:txBody>
      </p:sp>
      <p:sp>
        <p:nvSpPr>
          <p:cNvPr id="29" name="Line 26">
            <a:extLst>
              <a:ext uri="{FF2B5EF4-FFF2-40B4-BE49-F238E27FC236}">
                <a16:creationId xmlns:a16="http://schemas.microsoft.com/office/drawing/2014/main" id="{A810BF63-CDE3-0C45-B82B-6265F5BE1781}"/>
              </a:ext>
            </a:extLst>
          </p:cNvPr>
          <p:cNvSpPr>
            <a:spLocks noChangeShapeType="1"/>
          </p:cNvSpPr>
          <p:nvPr/>
        </p:nvSpPr>
        <p:spPr bwMode="auto">
          <a:xfrm flipV="1">
            <a:off x="4295775" y="4781550"/>
            <a:ext cx="769938" cy="1143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30" name="Line 27">
            <a:extLst>
              <a:ext uri="{FF2B5EF4-FFF2-40B4-BE49-F238E27FC236}">
                <a16:creationId xmlns:a16="http://schemas.microsoft.com/office/drawing/2014/main" id="{72746AF5-08C7-C045-BE6F-A961ECAD6CE5}"/>
              </a:ext>
            </a:extLst>
          </p:cNvPr>
          <p:cNvSpPr>
            <a:spLocks noChangeShapeType="1"/>
          </p:cNvSpPr>
          <p:nvPr/>
        </p:nvSpPr>
        <p:spPr bwMode="auto">
          <a:xfrm flipV="1">
            <a:off x="4276725" y="5324476"/>
            <a:ext cx="788988" cy="561975"/>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31" name="Line 28">
            <a:extLst>
              <a:ext uri="{FF2B5EF4-FFF2-40B4-BE49-F238E27FC236}">
                <a16:creationId xmlns:a16="http://schemas.microsoft.com/office/drawing/2014/main" id="{A3DFD3C8-D856-D84B-A018-5097D741D760}"/>
              </a:ext>
            </a:extLst>
          </p:cNvPr>
          <p:cNvSpPr>
            <a:spLocks noChangeShapeType="1"/>
          </p:cNvSpPr>
          <p:nvPr/>
        </p:nvSpPr>
        <p:spPr bwMode="auto">
          <a:xfrm flipV="1">
            <a:off x="4276726" y="5692776"/>
            <a:ext cx="904875" cy="193675"/>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32" name="Line 29">
            <a:extLst>
              <a:ext uri="{FF2B5EF4-FFF2-40B4-BE49-F238E27FC236}">
                <a16:creationId xmlns:a16="http://schemas.microsoft.com/office/drawing/2014/main" id="{93CE9B35-CDC7-F14C-BB85-8985FAE49649}"/>
              </a:ext>
            </a:extLst>
          </p:cNvPr>
          <p:cNvSpPr>
            <a:spLocks noChangeShapeType="1"/>
          </p:cNvSpPr>
          <p:nvPr/>
        </p:nvSpPr>
        <p:spPr bwMode="auto">
          <a:xfrm flipH="1">
            <a:off x="3852863" y="3949701"/>
            <a:ext cx="1193800" cy="735013"/>
          </a:xfrm>
          <a:prstGeom prst="line">
            <a:avLst/>
          </a:prstGeom>
          <a:noFill/>
          <a:ln w="50800">
            <a:solidFill>
              <a:schemeClr val="tx1"/>
            </a:solidFill>
            <a:prstDash val="sysDot"/>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33" name="Line 30">
            <a:extLst>
              <a:ext uri="{FF2B5EF4-FFF2-40B4-BE49-F238E27FC236}">
                <a16:creationId xmlns:a16="http://schemas.microsoft.com/office/drawing/2014/main" id="{BC8D5FE5-3D4F-FF47-9A8D-BD5F9E5B66CB}"/>
              </a:ext>
            </a:extLst>
          </p:cNvPr>
          <p:cNvSpPr>
            <a:spLocks noChangeShapeType="1"/>
          </p:cNvSpPr>
          <p:nvPr/>
        </p:nvSpPr>
        <p:spPr bwMode="auto">
          <a:xfrm flipH="1" flipV="1">
            <a:off x="3657601" y="2514601"/>
            <a:ext cx="1446213" cy="485775"/>
          </a:xfrm>
          <a:prstGeom prst="line">
            <a:avLst/>
          </a:prstGeom>
          <a:noFill/>
          <a:ln w="5080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34" name="Line 31">
            <a:extLst>
              <a:ext uri="{FF2B5EF4-FFF2-40B4-BE49-F238E27FC236}">
                <a16:creationId xmlns:a16="http://schemas.microsoft.com/office/drawing/2014/main" id="{520314DC-52AA-054D-B2FC-40CC1696F5B4}"/>
              </a:ext>
            </a:extLst>
          </p:cNvPr>
          <p:cNvSpPr>
            <a:spLocks noChangeShapeType="1"/>
          </p:cNvSpPr>
          <p:nvPr/>
        </p:nvSpPr>
        <p:spPr bwMode="auto">
          <a:xfrm>
            <a:off x="7104063" y="4356100"/>
            <a:ext cx="1039812" cy="387350"/>
          </a:xfrm>
          <a:prstGeom prst="line">
            <a:avLst/>
          </a:prstGeom>
          <a:noFill/>
          <a:ln w="50800">
            <a:solidFill>
              <a:schemeClr val="tx1"/>
            </a:solidFill>
            <a:prstDash val="sysDot"/>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35" name="Line 32">
            <a:extLst>
              <a:ext uri="{FF2B5EF4-FFF2-40B4-BE49-F238E27FC236}">
                <a16:creationId xmlns:a16="http://schemas.microsoft.com/office/drawing/2014/main" id="{2F5DFA76-4DAB-1B42-AC23-C384D1FAFEB5}"/>
              </a:ext>
            </a:extLst>
          </p:cNvPr>
          <p:cNvSpPr>
            <a:spLocks noChangeShapeType="1"/>
          </p:cNvSpPr>
          <p:nvPr/>
        </p:nvSpPr>
        <p:spPr bwMode="auto">
          <a:xfrm flipV="1">
            <a:off x="7104063" y="2709863"/>
            <a:ext cx="1077912" cy="677862"/>
          </a:xfrm>
          <a:prstGeom prst="line">
            <a:avLst/>
          </a:prstGeom>
          <a:noFill/>
          <a:ln w="50800">
            <a:solidFill>
              <a:schemeClr val="tx1"/>
            </a:solidFill>
            <a:prstDash val="sysDot"/>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grpSp>
        <p:nvGrpSpPr>
          <p:cNvPr id="36" name="Group 33">
            <a:extLst>
              <a:ext uri="{FF2B5EF4-FFF2-40B4-BE49-F238E27FC236}">
                <a16:creationId xmlns:a16="http://schemas.microsoft.com/office/drawing/2014/main" id="{DB746C86-3ED2-CB4D-BA8A-959B89B73570}"/>
              </a:ext>
            </a:extLst>
          </p:cNvPr>
          <p:cNvGrpSpPr>
            <a:grpSpLocks/>
          </p:cNvGrpSpPr>
          <p:nvPr/>
        </p:nvGrpSpPr>
        <p:grpSpPr bwMode="auto">
          <a:xfrm>
            <a:off x="8134351" y="1600200"/>
            <a:ext cx="1438275" cy="1925638"/>
            <a:chOff x="3796" y="983"/>
            <a:chExt cx="896" cy="1194"/>
          </a:xfrm>
        </p:grpSpPr>
        <p:sp>
          <p:nvSpPr>
            <p:cNvPr id="37" name="Rectangle 34">
              <a:extLst>
                <a:ext uri="{FF2B5EF4-FFF2-40B4-BE49-F238E27FC236}">
                  <a16:creationId xmlns:a16="http://schemas.microsoft.com/office/drawing/2014/main" id="{0670B58F-B8CF-E241-98E8-F27EECCAE8A7}"/>
                </a:ext>
              </a:extLst>
            </p:cNvPr>
            <p:cNvSpPr>
              <a:spLocks noChangeArrowheads="1"/>
            </p:cNvSpPr>
            <p:nvPr/>
          </p:nvSpPr>
          <p:spPr bwMode="auto">
            <a:xfrm>
              <a:off x="3796" y="1262"/>
              <a:ext cx="896" cy="91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a:latin typeface="Times New Roman" panose="02020603050405020304" pitchFamily="18" charset="0"/>
                </a:rPr>
                <a:t>item_key</a:t>
              </a:r>
            </a:p>
            <a:p>
              <a:r>
                <a:rPr lang="en-US" altLang="en-IL">
                  <a:latin typeface="Times New Roman" panose="02020603050405020304" pitchFamily="18" charset="0"/>
                </a:rPr>
                <a:t>item_name</a:t>
              </a:r>
            </a:p>
            <a:p>
              <a:r>
                <a:rPr lang="en-US" altLang="en-IL">
                  <a:latin typeface="Times New Roman" panose="02020603050405020304" pitchFamily="18" charset="0"/>
                </a:rPr>
                <a:t>brand</a:t>
              </a:r>
            </a:p>
            <a:p>
              <a:r>
                <a:rPr lang="en-US" altLang="en-IL">
                  <a:latin typeface="Times New Roman" panose="02020603050405020304" pitchFamily="18" charset="0"/>
                </a:rPr>
                <a:t>type</a:t>
              </a:r>
            </a:p>
            <a:p>
              <a:r>
                <a:rPr lang="en-US" altLang="en-IL">
                  <a:latin typeface="Times New Roman" panose="02020603050405020304" pitchFamily="18" charset="0"/>
                </a:rPr>
                <a:t>supplier_type</a:t>
              </a:r>
            </a:p>
          </p:txBody>
        </p:sp>
        <p:sp>
          <p:nvSpPr>
            <p:cNvPr id="38" name="Text Box 35">
              <a:extLst>
                <a:ext uri="{FF2B5EF4-FFF2-40B4-BE49-F238E27FC236}">
                  <a16:creationId xmlns:a16="http://schemas.microsoft.com/office/drawing/2014/main" id="{94181C53-237B-144D-9EEA-9B8A0E1A21C5}"/>
                </a:ext>
              </a:extLst>
            </p:cNvPr>
            <p:cNvSpPr txBox="1">
              <a:spLocks noChangeArrowheads="1"/>
            </p:cNvSpPr>
            <p:nvPr/>
          </p:nvSpPr>
          <p:spPr bwMode="auto">
            <a:xfrm>
              <a:off x="3926" y="983"/>
              <a:ext cx="457" cy="289"/>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IL" sz="2400">
                  <a:latin typeface="Times New Roman" panose="02020603050405020304" pitchFamily="18" charset="0"/>
                </a:rPr>
                <a:t>item</a:t>
              </a:r>
            </a:p>
          </p:txBody>
        </p:sp>
      </p:grpSp>
      <p:grpSp>
        <p:nvGrpSpPr>
          <p:cNvPr id="39" name="Group 36">
            <a:extLst>
              <a:ext uri="{FF2B5EF4-FFF2-40B4-BE49-F238E27FC236}">
                <a16:creationId xmlns:a16="http://schemas.microsoft.com/office/drawing/2014/main" id="{3A016C01-67C8-254B-874D-B9EA37E2C79B}"/>
              </a:ext>
            </a:extLst>
          </p:cNvPr>
          <p:cNvGrpSpPr>
            <a:grpSpLocks/>
          </p:cNvGrpSpPr>
          <p:nvPr/>
        </p:nvGrpSpPr>
        <p:grpSpPr bwMode="auto">
          <a:xfrm>
            <a:off x="2362201" y="3886201"/>
            <a:ext cx="1509713" cy="1393825"/>
            <a:chOff x="3844" y="2426"/>
            <a:chExt cx="939" cy="864"/>
          </a:xfrm>
        </p:grpSpPr>
        <p:sp>
          <p:nvSpPr>
            <p:cNvPr id="40" name="Rectangle 37">
              <a:extLst>
                <a:ext uri="{FF2B5EF4-FFF2-40B4-BE49-F238E27FC236}">
                  <a16:creationId xmlns:a16="http://schemas.microsoft.com/office/drawing/2014/main" id="{613F00B1-FD53-D342-9D15-E61AF99FF545}"/>
                </a:ext>
              </a:extLst>
            </p:cNvPr>
            <p:cNvSpPr>
              <a:spLocks noChangeArrowheads="1"/>
            </p:cNvSpPr>
            <p:nvPr/>
          </p:nvSpPr>
          <p:spPr bwMode="auto">
            <a:xfrm>
              <a:off x="3896" y="2716"/>
              <a:ext cx="887" cy="57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a:latin typeface="Times New Roman" panose="02020603050405020304" pitchFamily="18" charset="0"/>
                </a:rPr>
                <a:t>branch_key</a:t>
              </a:r>
            </a:p>
            <a:p>
              <a:r>
                <a:rPr lang="en-US" altLang="en-IL">
                  <a:latin typeface="Times New Roman" panose="02020603050405020304" pitchFamily="18" charset="0"/>
                </a:rPr>
                <a:t>branch_name</a:t>
              </a:r>
            </a:p>
            <a:p>
              <a:r>
                <a:rPr lang="en-US" altLang="en-IL">
                  <a:latin typeface="Times New Roman" panose="02020603050405020304" pitchFamily="18" charset="0"/>
                </a:rPr>
                <a:t>branch_type</a:t>
              </a:r>
            </a:p>
          </p:txBody>
        </p:sp>
        <p:sp>
          <p:nvSpPr>
            <p:cNvPr id="41" name="Text Box 38">
              <a:extLst>
                <a:ext uri="{FF2B5EF4-FFF2-40B4-BE49-F238E27FC236}">
                  <a16:creationId xmlns:a16="http://schemas.microsoft.com/office/drawing/2014/main" id="{9254F316-2A1B-574E-8211-33533CC1CB47}"/>
                </a:ext>
              </a:extLst>
            </p:cNvPr>
            <p:cNvSpPr txBox="1">
              <a:spLocks noChangeArrowheads="1"/>
            </p:cNvSpPr>
            <p:nvPr/>
          </p:nvSpPr>
          <p:spPr bwMode="auto">
            <a:xfrm>
              <a:off x="3844" y="2426"/>
              <a:ext cx="637" cy="289"/>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IL" sz="2400">
                  <a:latin typeface="Times New Roman" panose="02020603050405020304" pitchFamily="18" charset="0"/>
                </a:rPr>
                <a:t>branch</a:t>
              </a:r>
            </a:p>
          </p:txBody>
        </p:sp>
      </p:grpSp>
      <p:sp>
        <p:nvSpPr>
          <p:cNvPr id="2" name="Footer Placeholder 1">
            <a:extLst>
              <a:ext uri="{FF2B5EF4-FFF2-40B4-BE49-F238E27FC236}">
                <a16:creationId xmlns:a16="http://schemas.microsoft.com/office/drawing/2014/main" id="{3C207349-7937-D247-BAA3-8DD291E13C3B}"/>
              </a:ext>
            </a:extLst>
          </p:cNvPr>
          <p:cNvSpPr>
            <a:spLocks noGrp="1"/>
          </p:cNvSpPr>
          <p:nvPr>
            <p:ph type="ftr" sz="quarter" idx="10"/>
          </p:nvPr>
        </p:nvSpPr>
        <p:spPr/>
        <p:txBody>
          <a:bodyPr/>
          <a:lstStyle/>
          <a:p>
            <a:r>
              <a:rPr lang="en-US" altLang="en-US"/>
              <a:t>Or Peretz</a:t>
            </a:r>
          </a:p>
        </p:txBody>
      </p:sp>
    </p:spTree>
  </p:cSld>
  <p:clrMapOvr>
    <a:masterClrMapping/>
  </p:clrMapOvr>
  <p:transition>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2">
            <a:extLst>
              <a:ext uri="{FF2B5EF4-FFF2-40B4-BE49-F238E27FC236}">
                <a16:creationId xmlns:a16="http://schemas.microsoft.com/office/drawing/2014/main" id="{123A9E36-9F39-0749-8260-33D9FA629660}"/>
              </a:ext>
            </a:extLst>
          </p:cNvPr>
          <p:cNvSpPr>
            <a:spLocks noGrp="1" noChangeArrowheads="1"/>
          </p:cNvSpPr>
          <p:nvPr>
            <p:ph type="title"/>
          </p:nvPr>
        </p:nvSpPr>
        <p:spPr/>
        <p:txBody>
          <a:bodyPr>
            <a:normAutofit/>
          </a:bodyPr>
          <a:lstStyle/>
          <a:p>
            <a:pPr algn="ctr"/>
            <a:r>
              <a:rPr lang="en-US" altLang="en-IL" sz="3200" b="1" dirty="0">
                <a:latin typeface="+mn-lt"/>
              </a:rPr>
              <a:t>Families of Stars</a:t>
            </a:r>
          </a:p>
        </p:txBody>
      </p:sp>
      <p:sp>
        <p:nvSpPr>
          <p:cNvPr id="17414" name="Rectangle 4">
            <a:extLst>
              <a:ext uri="{FF2B5EF4-FFF2-40B4-BE49-F238E27FC236}">
                <a16:creationId xmlns:a16="http://schemas.microsoft.com/office/drawing/2014/main" id="{E24EC416-203F-A549-88DF-A450EA539947}"/>
              </a:ext>
            </a:extLst>
          </p:cNvPr>
          <p:cNvSpPr>
            <a:spLocks noChangeArrowheads="1"/>
          </p:cNvSpPr>
          <p:nvPr/>
        </p:nvSpPr>
        <p:spPr bwMode="auto">
          <a:xfrm>
            <a:off x="2590800" y="2074332"/>
            <a:ext cx="990600"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IL" sz="1800"/>
              <a:t>Dimension</a:t>
            </a:r>
          </a:p>
          <a:p>
            <a:pPr algn="ctr"/>
            <a:r>
              <a:rPr lang="en-US" altLang="en-IL" sz="1800"/>
              <a:t>table</a:t>
            </a:r>
          </a:p>
        </p:txBody>
      </p:sp>
      <p:sp>
        <p:nvSpPr>
          <p:cNvPr id="17415" name="Rectangle 6">
            <a:extLst>
              <a:ext uri="{FF2B5EF4-FFF2-40B4-BE49-F238E27FC236}">
                <a16:creationId xmlns:a16="http://schemas.microsoft.com/office/drawing/2014/main" id="{F5BCA500-3922-F340-AD9E-BCAD901EF932}"/>
              </a:ext>
            </a:extLst>
          </p:cNvPr>
          <p:cNvSpPr>
            <a:spLocks noChangeArrowheads="1"/>
          </p:cNvSpPr>
          <p:nvPr/>
        </p:nvSpPr>
        <p:spPr bwMode="auto">
          <a:xfrm>
            <a:off x="4343400" y="4131732"/>
            <a:ext cx="990600" cy="914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IL" sz="2000" dirty="0">
                <a:solidFill>
                  <a:schemeClr val="bg1"/>
                </a:solidFill>
              </a:rPr>
              <a:t>Fact table</a:t>
            </a:r>
          </a:p>
        </p:txBody>
      </p:sp>
      <p:sp>
        <p:nvSpPr>
          <p:cNvPr id="17416" name="Rectangle 7">
            <a:extLst>
              <a:ext uri="{FF2B5EF4-FFF2-40B4-BE49-F238E27FC236}">
                <a16:creationId xmlns:a16="http://schemas.microsoft.com/office/drawing/2014/main" id="{A2C16280-BF63-5148-A44D-990FB8298BD0}"/>
              </a:ext>
            </a:extLst>
          </p:cNvPr>
          <p:cNvSpPr>
            <a:spLocks noChangeArrowheads="1"/>
          </p:cNvSpPr>
          <p:nvPr/>
        </p:nvSpPr>
        <p:spPr bwMode="auto">
          <a:xfrm>
            <a:off x="7620000" y="3064932"/>
            <a:ext cx="1066800" cy="914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IL" sz="2000" dirty="0">
                <a:solidFill>
                  <a:schemeClr val="bg1"/>
                </a:solidFill>
              </a:rPr>
              <a:t>Fact table</a:t>
            </a:r>
          </a:p>
        </p:txBody>
      </p:sp>
      <p:sp>
        <p:nvSpPr>
          <p:cNvPr id="17417" name="Rectangle 8">
            <a:extLst>
              <a:ext uri="{FF2B5EF4-FFF2-40B4-BE49-F238E27FC236}">
                <a16:creationId xmlns:a16="http://schemas.microsoft.com/office/drawing/2014/main" id="{932ADCA5-E379-074D-BC42-FD9CEB32807C}"/>
              </a:ext>
            </a:extLst>
          </p:cNvPr>
          <p:cNvSpPr>
            <a:spLocks noChangeArrowheads="1"/>
          </p:cNvSpPr>
          <p:nvPr/>
        </p:nvSpPr>
        <p:spPr bwMode="auto">
          <a:xfrm>
            <a:off x="4343400" y="2531532"/>
            <a:ext cx="990600" cy="914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IL" sz="2000" dirty="0">
                <a:solidFill>
                  <a:schemeClr val="bg1"/>
                </a:solidFill>
              </a:rPr>
              <a:t>Fact table</a:t>
            </a:r>
          </a:p>
        </p:txBody>
      </p:sp>
      <p:sp>
        <p:nvSpPr>
          <p:cNvPr id="17418" name="Rectangle 9">
            <a:extLst>
              <a:ext uri="{FF2B5EF4-FFF2-40B4-BE49-F238E27FC236}">
                <a16:creationId xmlns:a16="http://schemas.microsoft.com/office/drawing/2014/main" id="{45B08EB0-BC90-874F-AFEC-A9B464CAC31E}"/>
              </a:ext>
            </a:extLst>
          </p:cNvPr>
          <p:cNvSpPr>
            <a:spLocks noChangeArrowheads="1"/>
          </p:cNvSpPr>
          <p:nvPr/>
        </p:nvSpPr>
        <p:spPr bwMode="auto">
          <a:xfrm>
            <a:off x="6248400" y="3598332"/>
            <a:ext cx="914400"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IL" sz="1800"/>
              <a:t>Dimension</a:t>
            </a:r>
          </a:p>
          <a:p>
            <a:pPr algn="ctr"/>
            <a:r>
              <a:rPr lang="en-US" altLang="en-IL" sz="1800"/>
              <a:t>table</a:t>
            </a:r>
          </a:p>
        </p:txBody>
      </p:sp>
      <p:sp>
        <p:nvSpPr>
          <p:cNvPr id="17419" name="Rectangle 10">
            <a:extLst>
              <a:ext uri="{FF2B5EF4-FFF2-40B4-BE49-F238E27FC236}">
                <a16:creationId xmlns:a16="http://schemas.microsoft.com/office/drawing/2014/main" id="{C432E0EE-3C28-8748-A278-F2BAAED90402}"/>
              </a:ext>
            </a:extLst>
          </p:cNvPr>
          <p:cNvSpPr>
            <a:spLocks noChangeArrowheads="1"/>
          </p:cNvSpPr>
          <p:nvPr/>
        </p:nvSpPr>
        <p:spPr bwMode="auto">
          <a:xfrm>
            <a:off x="2667000" y="3598332"/>
            <a:ext cx="990600"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IL" sz="1800"/>
              <a:t>Dimension </a:t>
            </a:r>
          </a:p>
          <a:p>
            <a:pPr algn="ctr"/>
            <a:r>
              <a:rPr lang="en-US" altLang="en-IL" sz="1800"/>
              <a:t>table</a:t>
            </a:r>
          </a:p>
        </p:txBody>
      </p:sp>
      <p:sp>
        <p:nvSpPr>
          <p:cNvPr id="17420" name="Rectangle 11">
            <a:extLst>
              <a:ext uri="{FF2B5EF4-FFF2-40B4-BE49-F238E27FC236}">
                <a16:creationId xmlns:a16="http://schemas.microsoft.com/office/drawing/2014/main" id="{E6A7AAC9-14E6-9645-B19B-FD8048993292}"/>
              </a:ext>
            </a:extLst>
          </p:cNvPr>
          <p:cNvSpPr>
            <a:spLocks noChangeArrowheads="1"/>
          </p:cNvSpPr>
          <p:nvPr/>
        </p:nvSpPr>
        <p:spPr bwMode="auto">
          <a:xfrm>
            <a:off x="2667000" y="5122332"/>
            <a:ext cx="1066800" cy="685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IL" sz="1800"/>
              <a:t>Dimension</a:t>
            </a:r>
          </a:p>
          <a:p>
            <a:pPr algn="ctr"/>
            <a:r>
              <a:rPr lang="en-US" altLang="en-IL" sz="1800"/>
              <a:t>table</a:t>
            </a:r>
          </a:p>
        </p:txBody>
      </p:sp>
      <p:sp>
        <p:nvSpPr>
          <p:cNvPr id="17421" name="Rectangle 12">
            <a:extLst>
              <a:ext uri="{FF2B5EF4-FFF2-40B4-BE49-F238E27FC236}">
                <a16:creationId xmlns:a16="http://schemas.microsoft.com/office/drawing/2014/main" id="{808F0BF8-22D8-3841-B0B7-B2C63F747497}"/>
              </a:ext>
            </a:extLst>
          </p:cNvPr>
          <p:cNvSpPr>
            <a:spLocks noChangeArrowheads="1"/>
          </p:cNvSpPr>
          <p:nvPr/>
        </p:nvSpPr>
        <p:spPr bwMode="auto">
          <a:xfrm>
            <a:off x="6248400" y="2150532"/>
            <a:ext cx="1066800"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IL" sz="1800"/>
              <a:t>Dimension</a:t>
            </a:r>
          </a:p>
          <a:p>
            <a:pPr algn="ctr"/>
            <a:r>
              <a:rPr lang="en-US" altLang="en-IL" sz="1800"/>
              <a:t>table</a:t>
            </a:r>
          </a:p>
        </p:txBody>
      </p:sp>
      <p:sp>
        <p:nvSpPr>
          <p:cNvPr id="17422" name="Rectangle 13">
            <a:extLst>
              <a:ext uri="{FF2B5EF4-FFF2-40B4-BE49-F238E27FC236}">
                <a16:creationId xmlns:a16="http://schemas.microsoft.com/office/drawing/2014/main" id="{04C4CBE2-013B-3641-A22F-3A822F752B72}"/>
              </a:ext>
            </a:extLst>
          </p:cNvPr>
          <p:cNvSpPr>
            <a:spLocks noChangeArrowheads="1"/>
          </p:cNvSpPr>
          <p:nvPr/>
        </p:nvSpPr>
        <p:spPr bwMode="auto">
          <a:xfrm>
            <a:off x="8686800" y="1769532"/>
            <a:ext cx="990600"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IL" sz="1800"/>
              <a:t>Dimension</a:t>
            </a:r>
          </a:p>
          <a:p>
            <a:pPr algn="ctr"/>
            <a:r>
              <a:rPr lang="en-US" altLang="en-IL" sz="1800"/>
              <a:t>table</a:t>
            </a:r>
          </a:p>
        </p:txBody>
      </p:sp>
      <p:sp>
        <p:nvSpPr>
          <p:cNvPr id="17423" name="Rectangle 14">
            <a:extLst>
              <a:ext uri="{FF2B5EF4-FFF2-40B4-BE49-F238E27FC236}">
                <a16:creationId xmlns:a16="http://schemas.microsoft.com/office/drawing/2014/main" id="{4AA425E6-E612-6145-9970-E27770762E48}"/>
              </a:ext>
            </a:extLst>
          </p:cNvPr>
          <p:cNvSpPr>
            <a:spLocks noChangeArrowheads="1"/>
          </p:cNvSpPr>
          <p:nvPr/>
        </p:nvSpPr>
        <p:spPr bwMode="auto">
          <a:xfrm>
            <a:off x="8763000" y="4817532"/>
            <a:ext cx="1066800"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IL" sz="1800"/>
              <a:t>Dimension</a:t>
            </a:r>
          </a:p>
          <a:p>
            <a:pPr algn="ctr"/>
            <a:r>
              <a:rPr lang="en-US" altLang="en-IL" sz="1800"/>
              <a:t>table</a:t>
            </a:r>
          </a:p>
        </p:txBody>
      </p:sp>
      <p:sp>
        <p:nvSpPr>
          <p:cNvPr id="17424" name="Rectangle 15">
            <a:extLst>
              <a:ext uri="{FF2B5EF4-FFF2-40B4-BE49-F238E27FC236}">
                <a16:creationId xmlns:a16="http://schemas.microsoft.com/office/drawing/2014/main" id="{5BFF2575-FE7B-6647-9DEC-3D64892704AC}"/>
              </a:ext>
            </a:extLst>
          </p:cNvPr>
          <p:cNvSpPr>
            <a:spLocks noChangeArrowheads="1"/>
          </p:cNvSpPr>
          <p:nvPr/>
        </p:nvSpPr>
        <p:spPr bwMode="auto">
          <a:xfrm>
            <a:off x="6248400" y="5046132"/>
            <a:ext cx="1066800"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IL" sz="1800"/>
              <a:t>Dimension</a:t>
            </a:r>
          </a:p>
          <a:p>
            <a:pPr algn="ctr"/>
            <a:r>
              <a:rPr lang="en-US" altLang="en-IL" sz="1800"/>
              <a:t>table</a:t>
            </a:r>
          </a:p>
        </p:txBody>
      </p:sp>
      <p:sp>
        <p:nvSpPr>
          <p:cNvPr id="17425" name="Line 17">
            <a:extLst>
              <a:ext uri="{FF2B5EF4-FFF2-40B4-BE49-F238E27FC236}">
                <a16:creationId xmlns:a16="http://schemas.microsoft.com/office/drawing/2014/main" id="{E89C6FD2-1344-2F41-BAD7-686A66E51367}"/>
              </a:ext>
            </a:extLst>
          </p:cNvPr>
          <p:cNvSpPr>
            <a:spLocks noChangeShapeType="1"/>
          </p:cNvSpPr>
          <p:nvPr/>
        </p:nvSpPr>
        <p:spPr bwMode="auto">
          <a:xfrm flipH="1" flipV="1">
            <a:off x="3581400" y="2455332"/>
            <a:ext cx="762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L"/>
          </a:p>
        </p:txBody>
      </p:sp>
      <p:sp>
        <p:nvSpPr>
          <p:cNvPr id="17426" name="Line 18">
            <a:extLst>
              <a:ext uri="{FF2B5EF4-FFF2-40B4-BE49-F238E27FC236}">
                <a16:creationId xmlns:a16="http://schemas.microsoft.com/office/drawing/2014/main" id="{CB44495D-2D58-D84F-90B9-D42775B5FD92}"/>
              </a:ext>
            </a:extLst>
          </p:cNvPr>
          <p:cNvSpPr>
            <a:spLocks noChangeShapeType="1"/>
          </p:cNvSpPr>
          <p:nvPr/>
        </p:nvSpPr>
        <p:spPr bwMode="auto">
          <a:xfrm flipV="1">
            <a:off x="3657600" y="3293532"/>
            <a:ext cx="6858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L"/>
          </a:p>
        </p:txBody>
      </p:sp>
      <p:sp>
        <p:nvSpPr>
          <p:cNvPr id="17427" name="Line 19">
            <a:extLst>
              <a:ext uri="{FF2B5EF4-FFF2-40B4-BE49-F238E27FC236}">
                <a16:creationId xmlns:a16="http://schemas.microsoft.com/office/drawing/2014/main" id="{B3626C4D-6282-E14C-8B9D-940708C8E60F}"/>
              </a:ext>
            </a:extLst>
          </p:cNvPr>
          <p:cNvSpPr>
            <a:spLocks noChangeShapeType="1"/>
          </p:cNvSpPr>
          <p:nvPr/>
        </p:nvSpPr>
        <p:spPr bwMode="auto">
          <a:xfrm>
            <a:off x="3429000" y="4207932"/>
            <a:ext cx="9144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L"/>
          </a:p>
        </p:txBody>
      </p:sp>
      <p:sp>
        <p:nvSpPr>
          <p:cNvPr id="17428" name="Line 20">
            <a:extLst>
              <a:ext uri="{FF2B5EF4-FFF2-40B4-BE49-F238E27FC236}">
                <a16:creationId xmlns:a16="http://schemas.microsoft.com/office/drawing/2014/main" id="{65E1AC54-59BC-2449-ADE3-CF71B1C60CCA}"/>
              </a:ext>
            </a:extLst>
          </p:cNvPr>
          <p:cNvSpPr>
            <a:spLocks noChangeShapeType="1"/>
          </p:cNvSpPr>
          <p:nvPr/>
        </p:nvSpPr>
        <p:spPr bwMode="auto">
          <a:xfrm flipV="1">
            <a:off x="3733800" y="4969932"/>
            <a:ext cx="6096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L"/>
          </a:p>
        </p:txBody>
      </p:sp>
      <p:sp>
        <p:nvSpPr>
          <p:cNvPr id="17429" name="Line 21">
            <a:extLst>
              <a:ext uri="{FF2B5EF4-FFF2-40B4-BE49-F238E27FC236}">
                <a16:creationId xmlns:a16="http://schemas.microsoft.com/office/drawing/2014/main" id="{E3284F2E-5B6C-044C-B85E-9E08BEBFE7DF}"/>
              </a:ext>
            </a:extLst>
          </p:cNvPr>
          <p:cNvSpPr>
            <a:spLocks noChangeShapeType="1"/>
          </p:cNvSpPr>
          <p:nvPr/>
        </p:nvSpPr>
        <p:spPr bwMode="auto">
          <a:xfrm flipV="1">
            <a:off x="5257800" y="2379132"/>
            <a:ext cx="9906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L"/>
          </a:p>
        </p:txBody>
      </p:sp>
      <p:sp>
        <p:nvSpPr>
          <p:cNvPr id="17430" name="Line 22">
            <a:extLst>
              <a:ext uri="{FF2B5EF4-FFF2-40B4-BE49-F238E27FC236}">
                <a16:creationId xmlns:a16="http://schemas.microsoft.com/office/drawing/2014/main" id="{91FD15BF-02D3-1543-A9CE-68BD6EC4BBCF}"/>
              </a:ext>
            </a:extLst>
          </p:cNvPr>
          <p:cNvSpPr>
            <a:spLocks noChangeShapeType="1"/>
          </p:cNvSpPr>
          <p:nvPr/>
        </p:nvSpPr>
        <p:spPr bwMode="auto">
          <a:xfrm>
            <a:off x="5257800" y="3217332"/>
            <a:ext cx="9906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L"/>
          </a:p>
        </p:txBody>
      </p:sp>
      <p:sp>
        <p:nvSpPr>
          <p:cNvPr id="17431" name="Line 23">
            <a:extLst>
              <a:ext uri="{FF2B5EF4-FFF2-40B4-BE49-F238E27FC236}">
                <a16:creationId xmlns:a16="http://schemas.microsoft.com/office/drawing/2014/main" id="{71A865BA-600A-2E41-B282-0DFFB32EE6AF}"/>
              </a:ext>
            </a:extLst>
          </p:cNvPr>
          <p:cNvSpPr>
            <a:spLocks noChangeShapeType="1"/>
          </p:cNvSpPr>
          <p:nvPr/>
        </p:nvSpPr>
        <p:spPr bwMode="auto">
          <a:xfrm flipV="1">
            <a:off x="5257800" y="3979332"/>
            <a:ext cx="9906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L"/>
          </a:p>
        </p:txBody>
      </p:sp>
      <p:sp>
        <p:nvSpPr>
          <p:cNvPr id="17432" name="Line 24">
            <a:extLst>
              <a:ext uri="{FF2B5EF4-FFF2-40B4-BE49-F238E27FC236}">
                <a16:creationId xmlns:a16="http://schemas.microsoft.com/office/drawing/2014/main" id="{42C9D5F2-AF47-824D-9E34-4F4CC374241F}"/>
              </a:ext>
            </a:extLst>
          </p:cNvPr>
          <p:cNvSpPr>
            <a:spLocks noChangeShapeType="1"/>
          </p:cNvSpPr>
          <p:nvPr/>
        </p:nvSpPr>
        <p:spPr bwMode="auto">
          <a:xfrm>
            <a:off x="5257800" y="4817532"/>
            <a:ext cx="9906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L"/>
          </a:p>
        </p:txBody>
      </p:sp>
      <p:sp>
        <p:nvSpPr>
          <p:cNvPr id="17433" name="Line 25">
            <a:extLst>
              <a:ext uri="{FF2B5EF4-FFF2-40B4-BE49-F238E27FC236}">
                <a16:creationId xmlns:a16="http://schemas.microsoft.com/office/drawing/2014/main" id="{15150D29-DB2B-3349-B5B2-3C7DDD58C81A}"/>
              </a:ext>
            </a:extLst>
          </p:cNvPr>
          <p:cNvSpPr>
            <a:spLocks noChangeShapeType="1"/>
          </p:cNvSpPr>
          <p:nvPr/>
        </p:nvSpPr>
        <p:spPr bwMode="auto">
          <a:xfrm>
            <a:off x="7315200" y="2455332"/>
            <a:ext cx="457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L"/>
          </a:p>
        </p:txBody>
      </p:sp>
      <p:sp>
        <p:nvSpPr>
          <p:cNvPr id="17434" name="Line 26">
            <a:extLst>
              <a:ext uri="{FF2B5EF4-FFF2-40B4-BE49-F238E27FC236}">
                <a16:creationId xmlns:a16="http://schemas.microsoft.com/office/drawing/2014/main" id="{7AF4B83F-5933-6E4A-86FB-9F2E8A5C4753}"/>
              </a:ext>
            </a:extLst>
          </p:cNvPr>
          <p:cNvSpPr>
            <a:spLocks noChangeShapeType="1"/>
          </p:cNvSpPr>
          <p:nvPr/>
        </p:nvSpPr>
        <p:spPr bwMode="auto">
          <a:xfrm flipV="1">
            <a:off x="7162800" y="3522132"/>
            <a:ext cx="4572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L"/>
          </a:p>
        </p:txBody>
      </p:sp>
      <p:sp>
        <p:nvSpPr>
          <p:cNvPr id="17435" name="Line 27">
            <a:extLst>
              <a:ext uri="{FF2B5EF4-FFF2-40B4-BE49-F238E27FC236}">
                <a16:creationId xmlns:a16="http://schemas.microsoft.com/office/drawing/2014/main" id="{88A20B67-16CF-5840-A4A5-F1F3794C95CF}"/>
              </a:ext>
            </a:extLst>
          </p:cNvPr>
          <p:cNvSpPr>
            <a:spLocks noChangeShapeType="1"/>
          </p:cNvSpPr>
          <p:nvPr/>
        </p:nvSpPr>
        <p:spPr bwMode="auto">
          <a:xfrm flipV="1">
            <a:off x="8305800" y="2379132"/>
            <a:ext cx="6096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L"/>
          </a:p>
        </p:txBody>
      </p:sp>
      <p:sp>
        <p:nvSpPr>
          <p:cNvPr id="17436" name="Line 28">
            <a:extLst>
              <a:ext uri="{FF2B5EF4-FFF2-40B4-BE49-F238E27FC236}">
                <a16:creationId xmlns:a16="http://schemas.microsoft.com/office/drawing/2014/main" id="{C5E4EDAC-61F8-3E43-86BD-E4C7DF47C32F}"/>
              </a:ext>
            </a:extLst>
          </p:cNvPr>
          <p:cNvSpPr>
            <a:spLocks noChangeShapeType="1"/>
          </p:cNvSpPr>
          <p:nvPr/>
        </p:nvSpPr>
        <p:spPr bwMode="auto">
          <a:xfrm flipH="1">
            <a:off x="7086600" y="3979332"/>
            <a:ext cx="838200" cy="1066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L"/>
          </a:p>
        </p:txBody>
      </p:sp>
      <p:sp>
        <p:nvSpPr>
          <p:cNvPr id="17437" name="Line 29">
            <a:extLst>
              <a:ext uri="{FF2B5EF4-FFF2-40B4-BE49-F238E27FC236}">
                <a16:creationId xmlns:a16="http://schemas.microsoft.com/office/drawing/2014/main" id="{52835AB9-BB7F-DB44-9CAD-8FAADCD9C9E1}"/>
              </a:ext>
            </a:extLst>
          </p:cNvPr>
          <p:cNvSpPr>
            <a:spLocks noChangeShapeType="1"/>
          </p:cNvSpPr>
          <p:nvPr/>
        </p:nvSpPr>
        <p:spPr bwMode="auto">
          <a:xfrm>
            <a:off x="8305800" y="3979332"/>
            <a:ext cx="6858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L"/>
          </a:p>
        </p:txBody>
      </p:sp>
      <p:sp>
        <p:nvSpPr>
          <p:cNvPr id="2" name="Footer Placeholder 1">
            <a:extLst>
              <a:ext uri="{FF2B5EF4-FFF2-40B4-BE49-F238E27FC236}">
                <a16:creationId xmlns:a16="http://schemas.microsoft.com/office/drawing/2014/main" id="{B9B458B7-B69D-A04F-AF6B-6199AE7ADEEB}"/>
              </a:ext>
            </a:extLst>
          </p:cNvPr>
          <p:cNvSpPr>
            <a:spLocks noGrp="1"/>
          </p:cNvSpPr>
          <p:nvPr>
            <p:ph type="ftr" sz="quarter" idx="10"/>
          </p:nvPr>
        </p:nvSpPr>
        <p:spPr/>
        <p:txBody>
          <a:bodyPr/>
          <a:lstStyle/>
          <a:p>
            <a:r>
              <a:rPr lang="en-US" altLang="en-US"/>
              <a:t>Or Peretz</a:t>
            </a:r>
          </a:p>
        </p:txBody>
      </p:sp>
    </p:spTree>
    <p:extLst>
      <p:ext uri="{BB962C8B-B14F-4D97-AF65-F5344CB8AC3E}">
        <p14:creationId xmlns:p14="http://schemas.microsoft.com/office/powerpoint/2010/main" val="1908477299"/>
      </p:ext>
    </p:extLst>
  </p:cSld>
  <p:clrMapOvr>
    <a:masterClrMapping/>
  </p:clrMapOvr>
  <p:transition>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2">
            <a:extLst>
              <a:ext uri="{FF2B5EF4-FFF2-40B4-BE49-F238E27FC236}">
                <a16:creationId xmlns:a16="http://schemas.microsoft.com/office/drawing/2014/main" id="{247F2195-345C-304A-8C3F-63A95D23B2B0}"/>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12293" name="Rectangle 3">
            <a:extLst>
              <a:ext uri="{FF2B5EF4-FFF2-40B4-BE49-F238E27FC236}">
                <a16:creationId xmlns:a16="http://schemas.microsoft.com/office/drawing/2014/main" id="{A0FC9566-4825-6C4F-90A7-6D1920106940}"/>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12294" name="Rectangle 4">
            <a:extLst>
              <a:ext uri="{FF2B5EF4-FFF2-40B4-BE49-F238E27FC236}">
                <a16:creationId xmlns:a16="http://schemas.microsoft.com/office/drawing/2014/main" id="{F9D8CE74-95B2-F848-B860-86A4812E8AAF}"/>
              </a:ext>
            </a:extLst>
          </p:cNvPr>
          <p:cNvSpPr>
            <a:spLocks noGrp="1" noChangeArrowheads="1"/>
          </p:cNvSpPr>
          <p:nvPr>
            <p:ph type="title"/>
          </p:nvPr>
        </p:nvSpPr>
        <p:spPr>
          <a:xfrm>
            <a:off x="1016000" y="152400"/>
            <a:ext cx="10160000" cy="914400"/>
          </a:xfrm>
          <a:noFill/>
        </p:spPr>
        <p:txBody>
          <a:bodyPr vert="horz" lIns="0" tIns="0" rIns="0" bIns="0" rtlCol="0" anchor="b">
            <a:normAutofit/>
          </a:bodyPr>
          <a:lstStyle/>
          <a:p>
            <a:pPr algn="ctr"/>
            <a:r>
              <a:rPr lang="en-GB" altLang="en-IL" sz="3200" b="1" dirty="0">
                <a:latin typeface="+mn-lt"/>
              </a:rPr>
              <a:t>The Snowflake Schema</a:t>
            </a:r>
          </a:p>
        </p:txBody>
      </p:sp>
      <p:sp>
        <p:nvSpPr>
          <p:cNvPr id="12295" name="Rectangle 5">
            <a:extLst>
              <a:ext uri="{FF2B5EF4-FFF2-40B4-BE49-F238E27FC236}">
                <a16:creationId xmlns:a16="http://schemas.microsoft.com/office/drawing/2014/main" id="{5091B59B-BE13-964B-BBF6-6AE34839713A}"/>
              </a:ext>
            </a:extLst>
          </p:cNvPr>
          <p:cNvSpPr>
            <a:spLocks noGrp="1" noChangeArrowheads="1"/>
          </p:cNvSpPr>
          <p:nvPr>
            <p:ph type="body" sz="half" idx="2"/>
          </p:nvPr>
        </p:nvSpPr>
        <p:spPr>
          <a:xfrm>
            <a:off x="355599" y="1193800"/>
            <a:ext cx="11108267" cy="5054600"/>
          </a:xfrm>
          <a:noFill/>
        </p:spPr>
        <p:txBody>
          <a:bodyPr vert="horz" lIns="92075" tIns="46037" rIns="92075" bIns="46037" rtlCol="0">
            <a:normAutofit/>
          </a:bodyPr>
          <a:lstStyle/>
          <a:p>
            <a:pPr marL="0" indent="0">
              <a:buNone/>
            </a:pPr>
            <a:r>
              <a:rPr lang="en-US" sz="2400" i="1" dirty="0"/>
              <a:t>"A schema is known as a snowflake if one or more-dimension tables do not connect directly to the fact table but must join through other dimension tables.”</a:t>
            </a:r>
            <a:endParaRPr lang="en-US" altLang="en-IL" sz="2400" i="1" dirty="0"/>
          </a:p>
          <a:p>
            <a:r>
              <a:rPr lang="en-US" sz="2400" dirty="0"/>
              <a:t>A snowflake schema is suitable for many to many and one to many relationships between dimension levels.</a:t>
            </a:r>
            <a:endParaRPr lang="en-US" altLang="en-IL" sz="2400" dirty="0"/>
          </a:p>
          <a:p>
            <a:r>
              <a:rPr lang="en-US" altLang="en-IL" sz="2400" dirty="0"/>
              <a:t>“Snowflaking” is a method of normalizing the dimension tables in a star schema.</a:t>
            </a:r>
          </a:p>
          <a:p>
            <a:r>
              <a:rPr lang="en-US" altLang="en-IL" sz="2400" dirty="0"/>
              <a:t>The result is more complex queries and reduced query performance.</a:t>
            </a:r>
          </a:p>
          <a:p>
            <a:pPr>
              <a:buClr>
                <a:schemeClr val="hlink"/>
              </a:buClr>
              <a:buSzPct val="75000"/>
              <a:buFont typeface="Wingdings" pitchFamily="2" charset="2"/>
              <a:buChar char=""/>
            </a:pPr>
            <a:endParaRPr lang="en-GB" altLang="en-IL" sz="2400" dirty="0"/>
          </a:p>
        </p:txBody>
      </p:sp>
      <p:sp>
        <p:nvSpPr>
          <p:cNvPr id="2" name="Footer Placeholder 1">
            <a:extLst>
              <a:ext uri="{FF2B5EF4-FFF2-40B4-BE49-F238E27FC236}">
                <a16:creationId xmlns:a16="http://schemas.microsoft.com/office/drawing/2014/main" id="{F4B20B4A-9099-814E-8447-E082E0C3A90D}"/>
              </a:ext>
            </a:extLst>
          </p:cNvPr>
          <p:cNvSpPr>
            <a:spLocks noGrp="1"/>
          </p:cNvSpPr>
          <p:nvPr>
            <p:ph type="ftr" sz="quarter" idx="10"/>
          </p:nvPr>
        </p:nvSpPr>
        <p:spPr/>
        <p:txBody>
          <a:bodyPr/>
          <a:lstStyle/>
          <a:p>
            <a:r>
              <a:rPr lang="en-US" altLang="en-US"/>
              <a:t>Or Peretz</a:t>
            </a:r>
          </a:p>
        </p:txBody>
      </p:sp>
    </p:spTree>
    <p:extLst>
      <p:ext uri="{BB962C8B-B14F-4D97-AF65-F5344CB8AC3E}">
        <p14:creationId xmlns:p14="http://schemas.microsoft.com/office/powerpoint/2010/main" val="1921150708"/>
      </p:ext>
    </p:extLst>
  </p:cSld>
  <p:clrMapOvr>
    <a:masterClrMapping/>
  </p:clrMapOvr>
  <p:transition>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a:extLst>
              <a:ext uri="{FF2B5EF4-FFF2-40B4-BE49-F238E27FC236}">
                <a16:creationId xmlns:a16="http://schemas.microsoft.com/office/drawing/2014/main" id="{7DC5E96D-7295-7A46-8A13-A4970C04CEC8}"/>
              </a:ext>
            </a:extLst>
          </p:cNvPr>
          <p:cNvSpPr>
            <a:spLocks noGrp="1" noChangeArrowheads="1"/>
          </p:cNvSpPr>
          <p:nvPr>
            <p:ph type="title"/>
          </p:nvPr>
        </p:nvSpPr>
        <p:spPr/>
        <p:txBody>
          <a:bodyPr>
            <a:normAutofit/>
          </a:bodyPr>
          <a:lstStyle/>
          <a:p>
            <a:pPr algn="ctr"/>
            <a:r>
              <a:rPr lang="en-US" altLang="en-IL" sz="3200" b="1" dirty="0">
                <a:latin typeface="+mn-lt"/>
              </a:rPr>
              <a:t>Snowflake Schema</a:t>
            </a:r>
          </a:p>
        </p:txBody>
      </p:sp>
      <p:sp>
        <p:nvSpPr>
          <p:cNvPr id="2" name="Footer Placeholder 1">
            <a:extLst>
              <a:ext uri="{FF2B5EF4-FFF2-40B4-BE49-F238E27FC236}">
                <a16:creationId xmlns:a16="http://schemas.microsoft.com/office/drawing/2014/main" id="{CC0593CF-1E3D-7046-A85B-0092D6E173CF}"/>
              </a:ext>
            </a:extLst>
          </p:cNvPr>
          <p:cNvSpPr>
            <a:spLocks noGrp="1"/>
          </p:cNvSpPr>
          <p:nvPr>
            <p:ph type="ftr" sz="quarter" idx="10"/>
          </p:nvPr>
        </p:nvSpPr>
        <p:spPr/>
        <p:txBody>
          <a:bodyPr/>
          <a:lstStyle/>
          <a:p>
            <a:r>
              <a:rPr lang="en-US" altLang="en-US"/>
              <a:t>Or Peretz</a:t>
            </a:r>
          </a:p>
        </p:txBody>
      </p:sp>
      <p:pic>
        <p:nvPicPr>
          <p:cNvPr id="2050" name="Picture 2" descr="What is Snowflake Schema">
            <a:extLst>
              <a:ext uri="{FF2B5EF4-FFF2-40B4-BE49-F238E27FC236}">
                <a16:creationId xmlns:a16="http://schemas.microsoft.com/office/drawing/2014/main" id="{791FB21B-2232-374E-80AB-1431BAB8FD2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1061"/>
          <a:stretch/>
        </p:blipFill>
        <p:spPr bwMode="auto">
          <a:xfrm>
            <a:off x="2857500" y="1826684"/>
            <a:ext cx="6324600" cy="36935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0301143"/>
      </p:ext>
    </p:extLst>
  </p:cSld>
  <p:clrMapOvr>
    <a:masterClrMapping/>
  </p:clrMapOvr>
  <p:transition>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B19BE60E-079D-D741-8E9D-11FBAF9AB21E}"/>
              </a:ext>
            </a:extLst>
          </p:cNvPr>
          <p:cNvSpPr>
            <a:spLocks noGrp="1" noChangeArrowheads="1"/>
          </p:cNvSpPr>
          <p:nvPr>
            <p:ph type="title"/>
          </p:nvPr>
        </p:nvSpPr>
        <p:spPr>
          <a:xfrm>
            <a:off x="2093913" y="455613"/>
            <a:ext cx="7631112" cy="831850"/>
          </a:xfrm>
        </p:spPr>
        <p:txBody>
          <a:bodyPr/>
          <a:lstStyle/>
          <a:p>
            <a:pPr eaLnBrk="1" hangingPunct="1"/>
            <a:r>
              <a:rPr lang="en-US" altLang="en-IL" dirty="0"/>
              <a:t>Example of </a:t>
            </a:r>
            <a:r>
              <a:rPr lang="en-US" altLang="en-IL" dirty="0">
                <a:solidFill>
                  <a:schemeClr val="accent1"/>
                </a:solidFill>
              </a:rPr>
              <a:t>Snowflake Schema</a:t>
            </a:r>
          </a:p>
        </p:txBody>
      </p:sp>
      <p:sp>
        <p:nvSpPr>
          <p:cNvPr id="2" name="Footer Placeholder 1">
            <a:extLst>
              <a:ext uri="{FF2B5EF4-FFF2-40B4-BE49-F238E27FC236}">
                <a16:creationId xmlns:a16="http://schemas.microsoft.com/office/drawing/2014/main" id="{1A36CD51-F93E-E947-8198-878119AD1DD3}"/>
              </a:ext>
            </a:extLst>
          </p:cNvPr>
          <p:cNvSpPr>
            <a:spLocks noGrp="1"/>
          </p:cNvSpPr>
          <p:nvPr>
            <p:ph type="ftr" sz="quarter" idx="10"/>
          </p:nvPr>
        </p:nvSpPr>
        <p:spPr/>
        <p:txBody>
          <a:bodyPr/>
          <a:lstStyle/>
          <a:p>
            <a:r>
              <a:rPr lang="en-US" altLang="en-US"/>
              <a:t>Or Peretz</a:t>
            </a:r>
          </a:p>
        </p:txBody>
      </p:sp>
      <p:pic>
        <p:nvPicPr>
          <p:cNvPr id="3074" name="Picture 2" descr="What is Snowflake Schema">
            <a:extLst>
              <a:ext uri="{FF2B5EF4-FFF2-40B4-BE49-F238E27FC236}">
                <a16:creationId xmlns:a16="http://schemas.microsoft.com/office/drawing/2014/main" id="{F024524F-6546-7149-8D65-B4D8DA28CBA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8849"/>
          <a:stretch/>
        </p:blipFill>
        <p:spPr bwMode="auto">
          <a:xfrm>
            <a:off x="3071283" y="1499128"/>
            <a:ext cx="5804574" cy="45037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1246916"/>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2">
            <a:extLst>
              <a:ext uri="{FF2B5EF4-FFF2-40B4-BE49-F238E27FC236}">
                <a16:creationId xmlns:a16="http://schemas.microsoft.com/office/drawing/2014/main" id="{2903A978-8055-EB41-8C19-BBAB90074685}"/>
              </a:ext>
            </a:extLst>
          </p:cNvPr>
          <p:cNvSpPr>
            <a:spLocks noGrp="1" noChangeArrowheads="1"/>
          </p:cNvSpPr>
          <p:nvPr>
            <p:ph type="title"/>
          </p:nvPr>
        </p:nvSpPr>
        <p:spPr/>
        <p:txBody>
          <a:bodyPr>
            <a:normAutofit/>
          </a:bodyPr>
          <a:lstStyle/>
          <a:p>
            <a:pPr algn="ctr"/>
            <a:r>
              <a:rPr lang="en-US" altLang="en-IL" sz="3200" b="1" dirty="0">
                <a:latin typeface="+mn-lt"/>
              </a:rPr>
              <a:t>Snowflaking</a:t>
            </a:r>
          </a:p>
        </p:txBody>
      </p:sp>
      <p:sp>
        <p:nvSpPr>
          <p:cNvPr id="20485" name="Rectangle 3">
            <a:extLst>
              <a:ext uri="{FF2B5EF4-FFF2-40B4-BE49-F238E27FC236}">
                <a16:creationId xmlns:a16="http://schemas.microsoft.com/office/drawing/2014/main" id="{25C51041-4419-504B-90C3-74979E4F4B1D}"/>
              </a:ext>
            </a:extLst>
          </p:cNvPr>
          <p:cNvSpPr>
            <a:spLocks noGrp="1" noChangeArrowheads="1"/>
          </p:cNvSpPr>
          <p:nvPr>
            <p:ph type="body" idx="1"/>
          </p:nvPr>
        </p:nvSpPr>
        <p:spPr>
          <a:xfrm>
            <a:off x="618067" y="1371600"/>
            <a:ext cx="10735733" cy="4805363"/>
          </a:xfrm>
        </p:spPr>
        <p:txBody>
          <a:bodyPr/>
          <a:lstStyle/>
          <a:p>
            <a:pPr marL="0" indent="0">
              <a:buNone/>
            </a:pPr>
            <a:r>
              <a:rPr lang="en-US" altLang="en-IL" dirty="0"/>
              <a:t>The attributes with low cardinality in each original dimension table are removed to form separate tables. These new tables are linked back to the original dimension table through artificial keys. </a:t>
            </a:r>
          </a:p>
        </p:txBody>
      </p:sp>
      <p:sp>
        <p:nvSpPr>
          <p:cNvPr id="20486" name="Rectangle 4">
            <a:extLst>
              <a:ext uri="{FF2B5EF4-FFF2-40B4-BE49-F238E27FC236}">
                <a16:creationId xmlns:a16="http://schemas.microsoft.com/office/drawing/2014/main" id="{A6FF800D-EC12-2E4B-AA50-211150467EF7}"/>
              </a:ext>
            </a:extLst>
          </p:cNvPr>
          <p:cNvSpPr>
            <a:spLocks noChangeArrowheads="1"/>
          </p:cNvSpPr>
          <p:nvPr/>
        </p:nvSpPr>
        <p:spPr bwMode="auto">
          <a:xfrm>
            <a:off x="2904064" y="3733798"/>
            <a:ext cx="1600200" cy="1752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IL" sz="2000" dirty="0">
                <a:solidFill>
                  <a:schemeClr val="bg1"/>
                </a:solidFill>
              </a:rPr>
              <a:t>Product key</a:t>
            </a:r>
          </a:p>
          <a:p>
            <a:pPr algn="ctr"/>
            <a:r>
              <a:rPr lang="en-US" altLang="en-IL" sz="2000" dirty="0">
                <a:solidFill>
                  <a:schemeClr val="bg1"/>
                </a:solidFill>
              </a:rPr>
              <a:t>Product name</a:t>
            </a:r>
          </a:p>
          <a:p>
            <a:pPr algn="ctr"/>
            <a:r>
              <a:rPr lang="en-US" altLang="en-IL" sz="2000" dirty="0">
                <a:solidFill>
                  <a:schemeClr val="bg1"/>
                </a:solidFill>
              </a:rPr>
              <a:t>Product code</a:t>
            </a:r>
          </a:p>
          <a:p>
            <a:pPr algn="ctr"/>
            <a:r>
              <a:rPr lang="en-US" altLang="en-IL" sz="2000" dirty="0">
                <a:solidFill>
                  <a:schemeClr val="bg1"/>
                </a:solidFill>
              </a:rPr>
              <a:t>Brand key</a:t>
            </a:r>
          </a:p>
        </p:txBody>
      </p:sp>
      <p:sp>
        <p:nvSpPr>
          <p:cNvPr id="20487" name="Rectangle 5">
            <a:extLst>
              <a:ext uri="{FF2B5EF4-FFF2-40B4-BE49-F238E27FC236}">
                <a16:creationId xmlns:a16="http://schemas.microsoft.com/office/drawing/2014/main" id="{1AC37613-FF5C-434D-BE31-D1DEFEF20DED}"/>
              </a:ext>
            </a:extLst>
          </p:cNvPr>
          <p:cNvSpPr>
            <a:spLocks noChangeArrowheads="1"/>
          </p:cNvSpPr>
          <p:nvPr/>
        </p:nvSpPr>
        <p:spPr bwMode="auto">
          <a:xfrm>
            <a:off x="5190064" y="3809998"/>
            <a:ext cx="1524000" cy="1447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IL" sz="2000" dirty="0">
                <a:solidFill>
                  <a:schemeClr val="bg1"/>
                </a:solidFill>
              </a:rPr>
              <a:t>Brand key</a:t>
            </a:r>
          </a:p>
          <a:p>
            <a:pPr algn="ctr"/>
            <a:r>
              <a:rPr lang="en-US" altLang="en-IL" sz="2000" dirty="0">
                <a:solidFill>
                  <a:schemeClr val="bg1"/>
                </a:solidFill>
              </a:rPr>
              <a:t>Brand name</a:t>
            </a:r>
          </a:p>
          <a:p>
            <a:pPr algn="ctr"/>
            <a:r>
              <a:rPr lang="en-US" altLang="en-IL" sz="2000" dirty="0">
                <a:solidFill>
                  <a:schemeClr val="bg1"/>
                </a:solidFill>
              </a:rPr>
              <a:t>Category key</a:t>
            </a:r>
          </a:p>
        </p:txBody>
      </p:sp>
      <p:sp>
        <p:nvSpPr>
          <p:cNvPr id="20488" name="Rectangle 6">
            <a:extLst>
              <a:ext uri="{FF2B5EF4-FFF2-40B4-BE49-F238E27FC236}">
                <a16:creationId xmlns:a16="http://schemas.microsoft.com/office/drawing/2014/main" id="{ED90A8EE-DAD5-9F45-85A9-9C05D56E2A65}"/>
              </a:ext>
            </a:extLst>
          </p:cNvPr>
          <p:cNvSpPr>
            <a:spLocks noChangeArrowheads="1"/>
          </p:cNvSpPr>
          <p:nvPr/>
        </p:nvSpPr>
        <p:spPr bwMode="auto">
          <a:xfrm>
            <a:off x="7323664" y="3962398"/>
            <a:ext cx="1752600" cy="1066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IL" sz="2000" dirty="0">
                <a:solidFill>
                  <a:schemeClr val="bg1"/>
                </a:solidFill>
              </a:rPr>
              <a:t>Category key</a:t>
            </a:r>
          </a:p>
          <a:p>
            <a:pPr algn="ctr"/>
            <a:r>
              <a:rPr lang="en-US" altLang="en-IL" sz="2000" dirty="0">
                <a:solidFill>
                  <a:schemeClr val="bg1"/>
                </a:solidFill>
              </a:rPr>
              <a:t>Product category</a:t>
            </a:r>
          </a:p>
        </p:txBody>
      </p:sp>
      <p:sp>
        <p:nvSpPr>
          <p:cNvPr id="20489" name="Line 7">
            <a:extLst>
              <a:ext uri="{FF2B5EF4-FFF2-40B4-BE49-F238E27FC236}">
                <a16:creationId xmlns:a16="http://schemas.microsoft.com/office/drawing/2014/main" id="{BA045F16-3DE7-1A4A-94FA-2C4080E8993C}"/>
              </a:ext>
            </a:extLst>
          </p:cNvPr>
          <p:cNvSpPr>
            <a:spLocks noChangeShapeType="1"/>
          </p:cNvSpPr>
          <p:nvPr/>
        </p:nvSpPr>
        <p:spPr bwMode="auto">
          <a:xfrm flipV="1">
            <a:off x="4504264" y="4343398"/>
            <a:ext cx="685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L"/>
          </a:p>
        </p:txBody>
      </p:sp>
      <p:sp>
        <p:nvSpPr>
          <p:cNvPr id="20490" name="Line 8">
            <a:extLst>
              <a:ext uri="{FF2B5EF4-FFF2-40B4-BE49-F238E27FC236}">
                <a16:creationId xmlns:a16="http://schemas.microsoft.com/office/drawing/2014/main" id="{21DD5AA0-DE5D-C749-AF02-3B73B082C4CA}"/>
              </a:ext>
            </a:extLst>
          </p:cNvPr>
          <p:cNvSpPr>
            <a:spLocks noChangeShapeType="1"/>
          </p:cNvSpPr>
          <p:nvPr/>
        </p:nvSpPr>
        <p:spPr bwMode="auto">
          <a:xfrm flipV="1">
            <a:off x="6714064" y="4419598"/>
            <a:ext cx="609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L"/>
          </a:p>
        </p:txBody>
      </p:sp>
      <p:sp>
        <p:nvSpPr>
          <p:cNvPr id="2" name="Footer Placeholder 1">
            <a:extLst>
              <a:ext uri="{FF2B5EF4-FFF2-40B4-BE49-F238E27FC236}">
                <a16:creationId xmlns:a16="http://schemas.microsoft.com/office/drawing/2014/main" id="{F267C3B9-215B-1140-A49F-9AE70E7BCB5E}"/>
              </a:ext>
            </a:extLst>
          </p:cNvPr>
          <p:cNvSpPr>
            <a:spLocks noGrp="1"/>
          </p:cNvSpPr>
          <p:nvPr>
            <p:ph type="ftr" sz="quarter" idx="10"/>
          </p:nvPr>
        </p:nvSpPr>
        <p:spPr/>
        <p:txBody>
          <a:bodyPr/>
          <a:lstStyle/>
          <a:p>
            <a:r>
              <a:rPr lang="en-US" altLang="en-US"/>
              <a:t>Or Peretz</a:t>
            </a:r>
          </a:p>
        </p:txBody>
      </p:sp>
    </p:spTree>
    <p:extLst>
      <p:ext uri="{BB962C8B-B14F-4D97-AF65-F5344CB8AC3E}">
        <p14:creationId xmlns:p14="http://schemas.microsoft.com/office/powerpoint/2010/main" val="2971035341"/>
      </p:ext>
    </p:extLst>
  </p:cSld>
  <p:clrMapOvr>
    <a:masterClrMapping/>
  </p:clrMapOvr>
  <p:transition>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2">
            <a:extLst>
              <a:ext uri="{FF2B5EF4-FFF2-40B4-BE49-F238E27FC236}">
                <a16:creationId xmlns:a16="http://schemas.microsoft.com/office/drawing/2014/main" id="{8CCA4CD6-61EA-F54F-8B82-2381FC53DCE1}"/>
              </a:ext>
            </a:extLst>
          </p:cNvPr>
          <p:cNvSpPr>
            <a:spLocks noGrp="1" noChangeArrowheads="1"/>
          </p:cNvSpPr>
          <p:nvPr>
            <p:ph type="title"/>
          </p:nvPr>
        </p:nvSpPr>
        <p:spPr/>
        <p:txBody>
          <a:bodyPr>
            <a:normAutofit/>
          </a:bodyPr>
          <a:lstStyle/>
          <a:p>
            <a:pPr algn="ctr"/>
            <a:r>
              <a:rPr lang="en-US" altLang="en-IL" sz="3200" b="1" dirty="0">
                <a:latin typeface="+mn-lt"/>
              </a:rPr>
              <a:t>Snowflake Schema</a:t>
            </a:r>
          </a:p>
        </p:txBody>
      </p:sp>
      <p:sp>
        <p:nvSpPr>
          <p:cNvPr id="21509" name="Rectangle 3">
            <a:extLst>
              <a:ext uri="{FF2B5EF4-FFF2-40B4-BE49-F238E27FC236}">
                <a16:creationId xmlns:a16="http://schemas.microsoft.com/office/drawing/2014/main" id="{F95EE4BA-3D88-8446-B6F9-DCB086AB21D3}"/>
              </a:ext>
            </a:extLst>
          </p:cNvPr>
          <p:cNvSpPr>
            <a:spLocks noGrp="1" noChangeArrowheads="1"/>
          </p:cNvSpPr>
          <p:nvPr>
            <p:ph type="body" idx="1"/>
          </p:nvPr>
        </p:nvSpPr>
        <p:spPr>
          <a:xfrm>
            <a:off x="431800" y="1236133"/>
            <a:ext cx="10922000" cy="4940830"/>
          </a:xfrm>
        </p:spPr>
        <p:txBody>
          <a:bodyPr/>
          <a:lstStyle/>
          <a:p>
            <a:pPr marL="0" indent="0">
              <a:buNone/>
            </a:pPr>
            <a:r>
              <a:rPr lang="en-US" altLang="en-IL" b="1" dirty="0"/>
              <a:t>Advantages</a:t>
            </a:r>
          </a:p>
          <a:p>
            <a:pPr lvl="1"/>
            <a:r>
              <a:rPr lang="en-US" altLang="en-IL" dirty="0"/>
              <a:t>Small saving in storage space</a:t>
            </a:r>
          </a:p>
          <a:p>
            <a:pPr lvl="1"/>
            <a:r>
              <a:rPr lang="en-US" altLang="en-IL" dirty="0"/>
              <a:t>Normalized structures are easier to update and maintain</a:t>
            </a:r>
          </a:p>
          <a:p>
            <a:pPr marL="0" indent="0">
              <a:buNone/>
            </a:pPr>
            <a:r>
              <a:rPr lang="en-US" altLang="en-IL" b="1" dirty="0"/>
              <a:t>Disadvantages</a:t>
            </a:r>
            <a:endParaRPr lang="en-US" altLang="en-IL" dirty="0"/>
          </a:p>
          <a:p>
            <a:pPr lvl="1"/>
            <a:r>
              <a:rPr lang="en-US" altLang="en-IL" dirty="0"/>
              <a:t>Schema less intuitive </a:t>
            </a:r>
          </a:p>
          <a:p>
            <a:pPr lvl="1"/>
            <a:r>
              <a:rPr lang="en-US" altLang="en-IL" dirty="0"/>
              <a:t>Difficult to browse through the contents </a:t>
            </a:r>
          </a:p>
        </p:txBody>
      </p:sp>
      <p:sp>
        <p:nvSpPr>
          <p:cNvPr id="2" name="Footer Placeholder 1">
            <a:extLst>
              <a:ext uri="{FF2B5EF4-FFF2-40B4-BE49-F238E27FC236}">
                <a16:creationId xmlns:a16="http://schemas.microsoft.com/office/drawing/2014/main" id="{020C3A60-371C-7D45-9412-926407D823C1}"/>
              </a:ext>
            </a:extLst>
          </p:cNvPr>
          <p:cNvSpPr>
            <a:spLocks noGrp="1"/>
          </p:cNvSpPr>
          <p:nvPr>
            <p:ph type="ftr" sz="quarter" idx="10"/>
          </p:nvPr>
        </p:nvSpPr>
        <p:spPr/>
        <p:txBody>
          <a:bodyPr/>
          <a:lstStyle/>
          <a:p>
            <a:r>
              <a:rPr lang="en-US" altLang="en-US"/>
              <a:t>Or Peretz</a:t>
            </a:r>
          </a:p>
        </p:txBody>
      </p:sp>
    </p:spTree>
    <p:extLst>
      <p:ext uri="{BB962C8B-B14F-4D97-AF65-F5344CB8AC3E}">
        <p14:creationId xmlns:p14="http://schemas.microsoft.com/office/powerpoint/2010/main" val="920420154"/>
      </p:ext>
    </p:extLst>
  </p:cSld>
  <p:clrMapOvr>
    <a:masterClrMapping/>
  </p:clrMapOvr>
  <p:transition>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2">
            <a:extLst>
              <a:ext uri="{FF2B5EF4-FFF2-40B4-BE49-F238E27FC236}">
                <a16:creationId xmlns:a16="http://schemas.microsoft.com/office/drawing/2014/main" id="{247F2195-345C-304A-8C3F-63A95D23B2B0}"/>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12293" name="Rectangle 3">
            <a:extLst>
              <a:ext uri="{FF2B5EF4-FFF2-40B4-BE49-F238E27FC236}">
                <a16:creationId xmlns:a16="http://schemas.microsoft.com/office/drawing/2014/main" id="{A0FC9566-4825-6C4F-90A7-6D1920106940}"/>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12294" name="Rectangle 4">
            <a:extLst>
              <a:ext uri="{FF2B5EF4-FFF2-40B4-BE49-F238E27FC236}">
                <a16:creationId xmlns:a16="http://schemas.microsoft.com/office/drawing/2014/main" id="{F9D8CE74-95B2-F848-B860-86A4812E8AAF}"/>
              </a:ext>
            </a:extLst>
          </p:cNvPr>
          <p:cNvSpPr>
            <a:spLocks noGrp="1" noChangeArrowheads="1"/>
          </p:cNvSpPr>
          <p:nvPr>
            <p:ph type="title"/>
          </p:nvPr>
        </p:nvSpPr>
        <p:spPr>
          <a:xfrm>
            <a:off x="1016000" y="0"/>
            <a:ext cx="10160000" cy="914400"/>
          </a:xfrm>
          <a:noFill/>
        </p:spPr>
        <p:txBody>
          <a:bodyPr vert="horz" lIns="0" tIns="0" rIns="0" bIns="0" rtlCol="0" anchor="b">
            <a:normAutofit/>
          </a:bodyPr>
          <a:lstStyle/>
          <a:p>
            <a:r>
              <a:rPr lang="en-GB" altLang="en-IL" dirty="0"/>
              <a:t>The “Fact Constellation” Schema - Galaxy</a:t>
            </a:r>
            <a:endParaRPr lang="en-GB" altLang="en-IL" sz="3200" b="1" dirty="0">
              <a:latin typeface="+mn-lt"/>
            </a:endParaRPr>
          </a:p>
        </p:txBody>
      </p:sp>
      <p:sp>
        <p:nvSpPr>
          <p:cNvPr id="12295" name="Rectangle 5">
            <a:extLst>
              <a:ext uri="{FF2B5EF4-FFF2-40B4-BE49-F238E27FC236}">
                <a16:creationId xmlns:a16="http://schemas.microsoft.com/office/drawing/2014/main" id="{5091B59B-BE13-964B-BBF6-6AE34839713A}"/>
              </a:ext>
            </a:extLst>
          </p:cNvPr>
          <p:cNvSpPr>
            <a:spLocks noGrp="1" noChangeArrowheads="1"/>
          </p:cNvSpPr>
          <p:nvPr>
            <p:ph type="body" sz="half" idx="2"/>
          </p:nvPr>
        </p:nvSpPr>
        <p:spPr>
          <a:xfrm>
            <a:off x="338666" y="1041400"/>
            <a:ext cx="11108267" cy="5054600"/>
          </a:xfrm>
          <a:noFill/>
        </p:spPr>
        <p:txBody>
          <a:bodyPr vert="horz" lIns="92075" tIns="46037" rIns="92075" bIns="46037" rtlCol="0">
            <a:normAutofit/>
          </a:bodyPr>
          <a:lstStyle/>
          <a:p>
            <a:pPr marL="0" indent="0">
              <a:buNone/>
            </a:pPr>
            <a:r>
              <a:rPr lang="en-US" b="1" dirty="0"/>
              <a:t>Galaxy schema - </a:t>
            </a:r>
            <a:r>
              <a:rPr lang="en-US" dirty="0"/>
              <a:t>Two or more fact tables sharing one or more dimensions.</a:t>
            </a:r>
          </a:p>
          <a:p>
            <a:pPr marL="0" indent="0">
              <a:buNone/>
            </a:pPr>
            <a:r>
              <a:rPr lang="en-US" dirty="0"/>
              <a:t>Fact Constellation Schema describes a logical structure of data warehouse or data mart.</a:t>
            </a:r>
            <a:endParaRPr lang="en-GB" altLang="en-IL" dirty="0"/>
          </a:p>
        </p:txBody>
      </p:sp>
      <p:sp>
        <p:nvSpPr>
          <p:cNvPr id="2" name="Footer Placeholder 1">
            <a:extLst>
              <a:ext uri="{FF2B5EF4-FFF2-40B4-BE49-F238E27FC236}">
                <a16:creationId xmlns:a16="http://schemas.microsoft.com/office/drawing/2014/main" id="{850080D7-AC7D-384C-B038-C152BE9FC208}"/>
              </a:ext>
            </a:extLst>
          </p:cNvPr>
          <p:cNvSpPr>
            <a:spLocks noGrp="1"/>
          </p:cNvSpPr>
          <p:nvPr>
            <p:ph type="ftr" sz="quarter" idx="10"/>
          </p:nvPr>
        </p:nvSpPr>
        <p:spPr>
          <a:xfrm>
            <a:off x="3797299" y="6417733"/>
            <a:ext cx="3860800" cy="381000"/>
          </a:xfrm>
        </p:spPr>
        <p:txBody>
          <a:bodyPr/>
          <a:lstStyle/>
          <a:p>
            <a:r>
              <a:rPr lang="en-US" altLang="en-US" dirty="0"/>
              <a:t>Or </a:t>
            </a:r>
            <a:r>
              <a:rPr lang="en-US" altLang="en-US" dirty="0" err="1"/>
              <a:t>Peretz</a:t>
            </a:r>
            <a:endParaRPr lang="en-US" altLang="en-US" dirty="0"/>
          </a:p>
        </p:txBody>
      </p:sp>
      <p:pic>
        <p:nvPicPr>
          <p:cNvPr id="4100" name="Picture 4">
            <a:extLst>
              <a:ext uri="{FF2B5EF4-FFF2-40B4-BE49-F238E27FC236}">
                <a16:creationId xmlns:a16="http://schemas.microsoft.com/office/drawing/2014/main" id="{019F0588-4830-B54A-B84E-CB5E7D2EA2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7533" y="2754269"/>
            <a:ext cx="6900333" cy="31554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4377872"/>
      </p:ext>
    </p:extLst>
  </p:cSld>
  <p:clrMapOvr>
    <a:masterClrMapping/>
  </p:clrMapOvr>
  <p:transition>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a:extLst>
              <a:ext uri="{FF2B5EF4-FFF2-40B4-BE49-F238E27FC236}">
                <a16:creationId xmlns:a16="http://schemas.microsoft.com/office/drawing/2014/main" id="{47EE140D-0CC5-A94B-8B18-881292D76E2A}"/>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15366" name="Rectangle 4">
            <a:extLst>
              <a:ext uri="{FF2B5EF4-FFF2-40B4-BE49-F238E27FC236}">
                <a16:creationId xmlns:a16="http://schemas.microsoft.com/office/drawing/2014/main" id="{EB6CDA57-47BA-3B49-A9DF-98DFE4805B77}"/>
              </a:ext>
            </a:extLst>
          </p:cNvPr>
          <p:cNvSpPr>
            <a:spLocks noGrp="1" noChangeArrowheads="1"/>
          </p:cNvSpPr>
          <p:nvPr>
            <p:ph type="title"/>
          </p:nvPr>
        </p:nvSpPr>
        <p:spPr>
          <a:noFill/>
        </p:spPr>
        <p:txBody>
          <a:bodyPr vert="horz" lIns="0" tIns="0" rIns="0" bIns="0" rtlCol="0" anchor="b">
            <a:normAutofit/>
          </a:bodyPr>
          <a:lstStyle/>
          <a:p>
            <a:pPr algn="ctr"/>
            <a:r>
              <a:rPr lang="en-GB" altLang="en-IL" sz="3200" b="1" dirty="0">
                <a:latin typeface="+mn-lt"/>
              </a:rPr>
              <a:t>The “Fact Constellation” Schema</a:t>
            </a:r>
          </a:p>
        </p:txBody>
      </p:sp>
      <p:sp>
        <p:nvSpPr>
          <p:cNvPr id="15367" name="Rectangle 5">
            <a:extLst>
              <a:ext uri="{FF2B5EF4-FFF2-40B4-BE49-F238E27FC236}">
                <a16:creationId xmlns:a16="http://schemas.microsoft.com/office/drawing/2014/main" id="{5615211B-C4AE-4742-92E9-32A7C6563579}"/>
              </a:ext>
            </a:extLst>
          </p:cNvPr>
          <p:cNvSpPr>
            <a:spLocks noChangeArrowheads="1"/>
          </p:cNvSpPr>
          <p:nvPr/>
        </p:nvSpPr>
        <p:spPr bwMode="auto">
          <a:xfrm>
            <a:off x="6477000" y="4343400"/>
            <a:ext cx="1600200" cy="1371600"/>
          </a:xfrm>
          <a:prstGeom prst="rect">
            <a:avLst/>
          </a:prstGeom>
          <a:solidFill>
            <a:srgbClr val="DADADA"/>
          </a:solidFill>
          <a:ln>
            <a:noFill/>
          </a:ln>
          <a:effectLst>
            <a:outerShdw dist="107763" dir="2700000" algn="ctr" rotWithShape="0">
              <a:srgbClr val="474747"/>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15368" name="Line 6">
            <a:extLst>
              <a:ext uri="{FF2B5EF4-FFF2-40B4-BE49-F238E27FC236}">
                <a16:creationId xmlns:a16="http://schemas.microsoft.com/office/drawing/2014/main" id="{00343727-6BAA-A240-97D5-041C6D946281}"/>
              </a:ext>
            </a:extLst>
          </p:cNvPr>
          <p:cNvSpPr>
            <a:spLocks noChangeShapeType="1"/>
          </p:cNvSpPr>
          <p:nvPr/>
        </p:nvSpPr>
        <p:spPr bwMode="auto">
          <a:xfrm>
            <a:off x="6477000" y="5105400"/>
            <a:ext cx="16002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15369" name="Rectangle 7">
            <a:extLst>
              <a:ext uri="{FF2B5EF4-FFF2-40B4-BE49-F238E27FC236}">
                <a16:creationId xmlns:a16="http://schemas.microsoft.com/office/drawing/2014/main" id="{74D1168C-3611-5F48-9122-469258A978E3}"/>
              </a:ext>
            </a:extLst>
          </p:cNvPr>
          <p:cNvSpPr>
            <a:spLocks noChangeArrowheads="1"/>
          </p:cNvSpPr>
          <p:nvPr/>
        </p:nvSpPr>
        <p:spPr bwMode="auto">
          <a:xfrm>
            <a:off x="6613526" y="5029200"/>
            <a:ext cx="1311275" cy="74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7" rIns="92075" bIns="46037">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GB" sz="1400" b="1">
                <a:solidFill>
                  <a:srgbClr val="000000"/>
                </a:solidFill>
                <a:latin typeface="Century Gothic" panose="020B0502020202020204" pitchFamily="34" charset="0"/>
              </a:rPr>
              <a:t>Dollars</a:t>
            </a:r>
          </a:p>
          <a:p>
            <a:r>
              <a:rPr lang="en-GB" altLang="en-GB" sz="1400" b="1">
                <a:solidFill>
                  <a:srgbClr val="000000"/>
                </a:solidFill>
                <a:latin typeface="Century Gothic" panose="020B0502020202020204" pitchFamily="34" charset="0"/>
              </a:rPr>
              <a:t>Units</a:t>
            </a:r>
          </a:p>
          <a:p>
            <a:r>
              <a:rPr lang="en-GB" altLang="en-GB" sz="1400" b="1">
                <a:solidFill>
                  <a:srgbClr val="000000"/>
                </a:solidFill>
                <a:latin typeface="Century Gothic" panose="020B0502020202020204" pitchFamily="34" charset="0"/>
              </a:rPr>
              <a:t>Price</a:t>
            </a:r>
          </a:p>
        </p:txBody>
      </p:sp>
      <p:sp>
        <p:nvSpPr>
          <p:cNvPr id="15370" name="Rectangle 8">
            <a:extLst>
              <a:ext uri="{FF2B5EF4-FFF2-40B4-BE49-F238E27FC236}">
                <a16:creationId xmlns:a16="http://schemas.microsoft.com/office/drawing/2014/main" id="{7C39DD4C-6F64-B449-8DDD-3061D9234C78}"/>
              </a:ext>
            </a:extLst>
          </p:cNvPr>
          <p:cNvSpPr>
            <a:spLocks noChangeArrowheads="1"/>
          </p:cNvSpPr>
          <p:nvPr/>
        </p:nvSpPr>
        <p:spPr bwMode="auto">
          <a:xfrm>
            <a:off x="6461125" y="3984626"/>
            <a:ext cx="1500732" cy="308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7" rIns="92075" bIns="46037">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GB" sz="1400" b="1">
                <a:solidFill>
                  <a:srgbClr val="000000"/>
                </a:solidFill>
                <a:latin typeface="Zurich BT" charset="0"/>
              </a:rPr>
              <a:t>District Fact Table</a:t>
            </a:r>
          </a:p>
        </p:txBody>
      </p:sp>
      <p:sp>
        <p:nvSpPr>
          <p:cNvPr id="15371" name="Rectangle 9">
            <a:extLst>
              <a:ext uri="{FF2B5EF4-FFF2-40B4-BE49-F238E27FC236}">
                <a16:creationId xmlns:a16="http://schemas.microsoft.com/office/drawing/2014/main" id="{9FA8EDE2-6D85-8F46-9C02-746225ECB09D}"/>
              </a:ext>
            </a:extLst>
          </p:cNvPr>
          <p:cNvSpPr>
            <a:spLocks noChangeArrowheads="1"/>
          </p:cNvSpPr>
          <p:nvPr/>
        </p:nvSpPr>
        <p:spPr bwMode="auto">
          <a:xfrm>
            <a:off x="6537326" y="4365625"/>
            <a:ext cx="1527175" cy="739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7" rIns="92075" bIns="46037">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GB" sz="1400" b="1">
                <a:latin typeface="Century Gothic" panose="020B0502020202020204" pitchFamily="34" charset="0"/>
              </a:rPr>
              <a:t>District_ID</a:t>
            </a:r>
          </a:p>
          <a:p>
            <a:r>
              <a:rPr lang="en-GB" altLang="en-GB" sz="1400" b="1">
                <a:latin typeface="Century Gothic" panose="020B0502020202020204" pitchFamily="34" charset="0"/>
              </a:rPr>
              <a:t>PRODUCT_KEY</a:t>
            </a:r>
          </a:p>
          <a:p>
            <a:r>
              <a:rPr lang="en-GB" altLang="en-GB" sz="1400" b="1">
                <a:latin typeface="Century Gothic" panose="020B0502020202020204" pitchFamily="34" charset="0"/>
              </a:rPr>
              <a:t>PERIOD_KEY</a:t>
            </a:r>
          </a:p>
        </p:txBody>
      </p:sp>
      <p:sp>
        <p:nvSpPr>
          <p:cNvPr id="15372" name="Rectangle 10">
            <a:extLst>
              <a:ext uri="{FF2B5EF4-FFF2-40B4-BE49-F238E27FC236}">
                <a16:creationId xmlns:a16="http://schemas.microsoft.com/office/drawing/2014/main" id="{96D50797-42A0-FD41-84EF-F6DD8371154F}"/>
              </a:ext>
            </a:extLst>
          </p:cNvPr>
          <p:cNvSpPr>
            <a:spLocks noChangeArrowheads="1"/>
          </p:cNvSpPr>
          <p:nvPr/>
        </p:nvSpPr>
        <p:spPr bwMode="auto">
          <a:xfrm>
            <a:off x="8839200" y="4572000"/>
            <a:ext cx="1676400" cy="1219200"/>
          </a:xfrm>
          <a:prstGeom prst="rect">
            <a:avLst/>
          </a:prstGeom>
          <a:solidFill>
            <a:srgbClr val="DADADA"/>
          </a:solidFill>
          <a:ln>
            <a:noFill/>
          </a:ln>
          <a:effectLst>
            <a:outerShdw dist="107763" dir="2700000" algn="ctr" rotWithShape="0">
              <a:srgbClr val="474747"/>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IL" altLang="en-IL"/>
          </a:p>
        </p:txBody>
      </p:sp>
      <p:sp>
        <p:nvSpPr>
          <p:cNvPr id="15373" name="Line 11">
            <a:extLst>
              <a:ext uri="{FF2B5EF4-FFF2-40B4-BE49-F238E27FC236}">
                <a16:creationId xmlns:a16="http://schemas.microsoft.com/office/drawing/2014/main" id="{FE91C8D9-01B2-6F47-B756-44EF7F11C5A5}"/>
              </a:ext>
            </a:extLst>
          </p:cNvPr>
          <p:cNvSpPr>
            <a:spLocks noChangeShapeType="1"/>
          </p:cNvSpPr>
          <p:nvPr/>
        </p:nvSpPr>
        <p:spPr bwMode="auto">
          <a:xfrm>
            <a:off x="8839200" y="5105400"/>
            <a:ext cx="16002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15374" name="Rectangle 12">
            <a:extLst>
              <a:ext uri="{FF2B5EF4-FFF2-40B4-BE49-F238E27FC236}">
                <a16:creationId xmlns:a16="http://schemas.microsoft.com/office/drawing/2014/main" id="{888A4FC4-19B9-7E46-A9FE-0B95C4704FBF}"/>
              </a:ext>
            </a:extLst>
          </p:cNvPr>
          <p:cNvSpPr>
            <a:spLocks noChangeArrowheads="1"/>
          </p:cNvSpPr>
          <p:nvPr/>
        </p:nvSpPr>
        <p:spPr bwMode="auto">
          <a:xfrm>
            <a:off x="8899526" y="5151439"/>
            <a:ext cx="1539875" cy="6469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7" rIns="92075" bIns="46037">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GB" sz="1200" b="1">
                <a:solidFill>
                  <a:srgbClr val="000000"/>
                </a:solidFill>
                <a:latin typeface="Century Gothic" panose="020B0502020202020204" pitchFamily="34" charset="0"/>
              </a:rPr>
              <a:t>Dollars</a:t>
            </a:r>
          </a:p>
          <a:p>
            <a:r>
              <a:rPr lang="en-GB" altLang="en-GB" sz="1200" b="1">
                <a:solidFill>
                  <a:srgbClr val="000000"/>
                </a:solidFill>
                <a:latin typeface="Century Gothic" panose="020B0502020202020204" pitchFamily="34" charset="0"/>
              </a:rPr>
              <a:t>Units</a:t>
            </a:r>
          </a:p>
          <a:p>
            <a:r>
              <a:rPr lang="en-GB" altLang="en-GB" sz="1200" b="1">
                <a:solidFill>
                  <a:srgbClr val="000000"/>
                </a:solidFill>
                <a:latin typeface="Century Gothic" panose="020B0502020202020204" pitchFamily="34" charset="0"/>
              </a:rPr>
              <a:t>Price</a:t>
            </a:r>
          </a:p>
        </p:txBody>
      </p:sp>
      <p:sp>
        <p:nvSpPr>
          <p:cNvPr id="15375" name="Rectangle 13">
            <a:extLst>
              <a:ext uri="{FF2B5EF4-FFF2-40B4-BE49-F238E27FC236}">
                <a16:creationId xmlns:a16="http://schemas.microsoft.com/office/drawing/2014/main" id="{0FAFF0A8-3221-7649-9E41-BD00502C4C1A}"/>
              </a:ext>
            </a:extLst>
          </p:cNvPr>
          <p:cNvSpPr>
            <a:spLocks noChangeArrowheads="1"/>
          </p:cNvSpPr>
          <p:nvPr/>
        </p:nvSpPr>
        <p:spPr bwMode="auto">
          <a:xfrm>
            <a:off x="8823326" y="4237039"/>
            <a:ext cx="1294713" cy="277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7" rIns="92075" bIns="46037">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GB" sz="1200" b="1">
                <a:solidFill>
                  <a:srgbClr val="000000"/>
                </a:solidFill>
                <a:latin typeface="Zurich BT" charset="0"/>
              </a:rPr>
              <a:t>Region Fact Table</a:t>
            </a:r>
          </a:p>
        </p:txBody>
      </p:sp>
      <p:sp>
        <p:nvSpPr>
          <p:cNvPr id="15376" name="Rectangle 14">
            <a:extLst>
              <a:ext uri="{FF2B5EF4-FFF2-40B4-BE49-F238E27FC236}">
                <a16:creationId xmlns:a16="http://schemas.microsoft.com/office/drawing/2014/main" id="{D4E0A041-442A-334F-A8F7-D6E1D747157D}"/>
              </a:ext>
            </a:extLst>
          </p:cNvPr>
          <p:cNvSpPr>
            <a:spLocks noChangeArrowheads="1"/>
          </p:cNvSpPr>
          <p:nvPr/>
        </p:nvSpPr>
        <p:spPr bwMode="auto">
          <a:xfrm>
            <a:off x="8747126" y="4541839"/>
            <a:ext cx="1844675" cy="6469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7" rIns="92075" bIns="46037">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GB" sz="1200" b="1">
                <a:solidFill>
                  <a:srgbClr val="000000"/>
                </a:solidFill>
                <a:latin typeface="Century Gothic" panose="020B0502020202020204" pitchFamily="34" charset="0"/>
              </a:rPr>
              <a:t>Region_ID</a:t>
            </a:r>
          </a:p>
          <a:p>
            <a:r>
              <a:rPr lang="en-GB" altLang="en-GB" sz="1200" b="1">
                <a:solidFill>
                  <a:srgbClr val="000000"/>
                </a:solidFill>
                <a:latin typeface="Century Gothic" panose="020B0502020202020204" pitchFamily="34" charset="0"/>
              </a:rPr>
              <a:t>PRODUCT_KEY</a:t>
            </a:r>
          </a:p>
          <a:p>
            <a:r>
              <a:rPr lang="en-GB" altLang="en-GB" sz="1200" b="1">
                <a:solidFill>
                  <a:srgbClr val="000000"/>
                </a:solidFill>
                <a:latin typeface="Century Gothic" panose="020B0502020202020204" pitchFamily="34" charset="0"/>
              </a:rPr>
              <a:t>PERIOD_KEY</a:t>
            </a:r>
          </a:p>
        </p:txBody>
      </p:sp>
      <p:sp>
        <p:nvSpPr>
          <p:cNvPr id="15377" name="Line 15">
            <a:extLst>
              <a:ext uri="{FF2B5EF4-FFF2-40B4-BE49-F238E27FC236}">
                <a16:creationId xmlns:a16="http://schemas.microsoft.com/office/drawing/2014/main" id="{F932BF29-7936-F345-A3BC-6A6C48FED3A9}"/>
              </a:ext>
            </a:extLst>
          </p:cNvPr>
          <p:cNvSpPr>
            <a:spLocks noChangeShapeType="1"/>
          </p:cNvSpPr>
          <p:nvPr/>
        </p:nvSpPr>
        <p:spPr bwMode="auto">
          <a:xfrm>
            <a:off x="3505200" y="5486400"/>
            <a:ext cx="26670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15378" name="Line 16">
            <a:extLst>
              <a:ext uri="{FF2B5EF4-FFF2-40B4-BE49-F238E27FC236}">
                <a16:creationId xmlns:a16="http://schemas.microsoft.com/office/drawing/2014/main" id="{82365B6D-C4A6-0C4C-8F75-99389462AD59}"/>
              </a:ext>
            </a:extLst>
          </p:cNvPr>
          <p:cNvSpPr>
            <a:spLocks noChangeShapeType="1"/>
          </p:cNvSpPr>
          <p:nvPr/>
        </p:nvSpPr>
        <p:spPr bwMode="auto">
          <a:xfrm flipV="1">
            <a:off x="6172200" y="4495800"/>
            <a:ext cx="0" cy="9906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15379" name="Line 17">
            <a:extLst>
              <a:ext uri="{FF2B5EF4-FFF2-40B4-BE49-F238E27FC236}">
                <a16:creationId xmlns:a16="http://schemas.microsoft.com/office/drawing/2014/main" id="{6AD56EE0-74B9-BA40-A0BF-DE5EAAFDF2DF}"/>
              </a:ext>
            </a:extLst>
          </p:cNvPr>
          <p:cNvSpPr>
            <a:spLocks noChangeShapeType="1"/>
          </p:cNvSpPr>
          <p:nvPr/>
        </p:nvSpPr>
        <p:spPr bwMode="auto">
          <a:xfrm>
            <a:off x="6172200" y="4495800"/>
            <a:ext cx="3048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15380" name="Line 18">
            <a:extLst>
              <a:ext uri="{FF2B5EF4-FFF2-40B4-BE49-F238E27FC236}">
                <a16:creationId xmlns:a16="http://schemas.microsoft.com/office/drawing/2014/main" id="{0B9A2A97-E3B8-F344-96EF-4DEE467D6CBD}"/>
              </a:ext>
            </a:extLst>
          </p:cNvPr>
          <p:cNvSpPr>
            <a:spLocks noChangeShapeType="1"/>
          </p:cNvSpPr>
          <p:nvPr/>
        </p:nvSpPr>
        <p:spPr bwMode="auto">
          <a:xfrm>
            <a:off x="2438400" y="2667000"/>
            <a:ext cx="8382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15381" name="Line 19">
            <a:extLst>
              <a:ext uri="{FF2B5EF4-FFF2-40B4-BE49-F238E27FC236}">
                <a16:creationId xmlns:a16="http://schemas.microsoft.com/office/drawing/2014/main" id="{B0090EF3-2F05-D64A-A317-ACCDE8C93510}"/>
              </a:ext>
            </a:extLst>
          </p:cNvPr>
          <p:cNvSpPr>
            <a:spLocks noChangeShapeType="1"/>
          </p:cNvSpPr>
          <p:nvPr/>
        </p:nvSpPr>
        <p:spPr bwMode="auto">
          <a:xfrm>
            <a:off x="3505200" y="2743200"/>
            <a:ext cx="0" cy="2743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15382" name="Line 20">
            <a:extLst>
              <a:ext uri="{FF2B5EF4-FFF2-40B4-BE49-F238E27FC236}">
                <a16:creationId xmlns:a16="http://schemas.microsoft.com/office/drawing/2014/main" id="{F6B0ADF8-D66B-0845-B8B4-1B2D08C0646F}"/>
              </a:ext>
            </a:extLst>
          </p:cNvPr>
          <p:cNvSpPr>
            <a:spLocks noChangeShapeType="1"/>
          </p:cNvSpPr>
          <p:nvPr/>
        </p:nvSpPr>
        <p:spPr bwMode="auto">
          <a:xfrm>
            <a:off x="1600200" y="3124200"/>
            <a:ext cx="0" cy="2819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15383" name="Line 21">
            <a:extLst>
              <a:ext uri="{FF2B5EF4-FFF2-40B4-BE49-F238E27FC236}">
                <a16:creationId xmlns:a16="http://schemas.microsoft.com/office/drawing/2014/main" id="{5BBD29F8-6E5F-AE41-B7A6-A65ECFE4311E}"/>
              </a:ext>
            </a:extLst>
          </p:cNvPr>
          <p:cNvSpPr>
            <a:spLocks noChangeShapeType="1"/>
          </p:cNvSpPr>
          <p:nvPr/>
        </p:nvSpPr>
        <p:spPr bwMode="auto">
          <a:xfrm>
            <a:off x="1600200" y="5943600"/>
            <a:ext cx="69342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15384" name="Line 22">
            <a:extLst>
              <a:ext uri="{FF2B5EF4-FFF2-40B4-BE49-F238E27FC236}">
                <a16:creationId xmlns:a16="http://schemas.microsoft.com/office/drawing/2014/main" id="{D85A1777-9766-ED4D-BF92-531788579DED}"/>
              </a:ext>
            </a:extLst>
          </p:cNvPr>
          <p:cNvSpPr>
            <a:spLocks noChangeShapeType="1"/>
          </p:cNvSpPr>
          <p:nvPr/>
        </p:nvSpPr>
        <p:spPr bwMode="auto">
          <a:xfrm flipV="1">
            <a:off x="8534400" y="4648200"/>
            <a:ext cx="0" cy="1295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15385" name="Line 23">
            <a:extLst>
              <a:ext uri="{FF2B5EF4-FFF2-40B4-BE49-F238E27FC236}">
                <a16:creationId xmlns:a16="http://schemas.microsoft.com/office/drawing/2014/main" id="{2DD6FAFF-08B7-D441-9F34-3544A99D64C4}"/>
              </a:ext>
            </a:extLst>
          </p:cNvPr>
          <p:cNvSpPr>
            <a:spLocks noChangeShapeType="1"/>
          </p:cNvSpPr>
          <p:nvPr/>
        </p:nvSpPr>
        <p:spPr bwMode="auto">
          <a:xfrm>
            <a:off x="8534400" y="4648200"/>
            <a:ext cx="3048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pic>
        <p:nvPicPr>
          <p:cNvPr id="15386" name="Picture 24">
            <a:extLst>
              <a:ext uri="{FF2B5EF4-FFF2-40B4-BE49-F238E27FC236}">
                <a16:creationId xmlns:a16="http://schemas.microsoft.com/office/drawing/2014/main" id="{16DEB6E4-2689-D448-BCF4-419EC8E827AC}"/>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466850"/>
            <a:ext cx="6172200" cy="3562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387" name="Line 25">
            <a:extLst>
              <a:ext uri="{FF2B5EF4-FFF2-40B4-BE49-F238E27FC236}">
                <a16:creationId xmlns:a16="http://schemas.microsoft.com/office/drawing/2014/main" id="{C5331650-7AA5-AD45-B67B-73F7469B2663}"/>
              </a:ext>
            </a:extLst>
          </p:cNvPr>
          <p:cNvSpPr>
            <a:spLocks noChangeShapeType="1"/>
          </p:cNvSpPr>
          <p:nvPr/>
        </p:nvSpPr>
        <p:spPr bwMode="auto">
          <a:xfrm flipH="1">
            <a:off x="2514600" y="2743200"/>
            <a:ext cx="9906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2" name="Footer Placeholder 1">
            <a:extLst>
              <a:ext uri="{FF2B5EF4-FFF2-40B4-BE49-F238E27FC236}">
                <a16:creationId xmlns:a16="http://schemas.microsoft.com/office/drawing/2014/main" id="{4E2781E2-B22C-174E-B8F1-C267959BB70E}"/>
              </a:ext>
            </a:extLst>
          </p:cNvPr>
          <p:cNvSpPr>
            <a:spLocks noGrp="1"/>
          </p:cNvSpPr>
          <p:nvPr>
            <p:ph type="ftr" sz="quarter" idx="11"/>
          </p:nvPr>
        </p:nvSpPr>
        <p:spPr/>
        <p:txBody>
          <a:bodyPr/>
          <a:lstStyle/>
          <a:p>
            <a:pPr>
              <a:defRPr/>
            </a:pPr>
            <a:r>
              <a:rPr lang="en-US" altLang="en-GB"/>
              <a:t>Or Peretz</a:t>
            </a:r>
          </a:p>
        </p:txBody>
      </p:sp>
      <p:sp>
        <p:nvSpPr>
          <p:cNvPr id="3" name="Slide Number Placeholder 2">
            <a:extLst>
              <a:ext uri="{FF2B5EF4-FFF2-40B4-BE49-F238E27FC236}">
                <a16:creationId xmlns:a16="http://schemas.microsoft.com/office/drawing/2014/main" id="{A7C599BD-25C3-FB4D-9DDF-A5C0B8AA64EE}"/>
              </a:ext>
            </a:extLst>
          </p:cNvPr>
          <p:cNvSpPr>
            <a:spLocks noGrp="1"/>
          </p:cNvSpPr>
          <p:nvPr>
            <p:ph type="sldNum" sz="quarter" idx="12"/>
          </p:nvPr>
        </p:nvSpPr>
        <p:spPr/>
        <p:txBody>
          <a:bodyPr/>
          <a:lstStyle/>
          <a:p>
            <a:fld id="{5789425C-8CF6-004B-B42E-9AAF7325E1A7}" type="slidenum">
              <a:rPr lang="en-US" altLang="en-GB" smtClean="0"/>
              <a:pPr/>
              <a:t>25</a:t>
            </a:fld>
            <a:endParaRPr lang="en-US" altLang="en-GB"/>
          </a:p>
        </p:txBody>
      </p:sp>
    </p:spTree>
  </p:cSld>
  <p:clrMapOvr>
    <a:masterClrMapping/>
  </p:clrMapOvr>
  <p:transition>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a:extLst>
              <a:ext uri="{FF2B5EF4-FFF2-40B4-BE49-F238E27FC236}">
                <a16:creationId xmlns:a16="http://schemas.microsoft.com/office/drawing/2014/main" id="{C4D13F61-45F2-7541-8E6E-778F51E0ECDD}"/>
              </a:ext>
            </a:extLst>
          </p:cNvPr>
          <p:cNvSpPr>
            <a:spLocks noGrp="1" noChangeArrowheads="1"/>
          </p:cNvSpPr>
          <p:nvPr>
            <p:ph type="title"/>
          </p:nvPr>
        </p:nvSpPr>
        <p:spPr>
          <a:xfrm>
            <a:off x="3124200" y="381000"/>
            <a:ext cx="6446838" cy="692150"/>
          </a:xfrm>
        </p:spPr>
        <p:txBody>
          <a:bodyPr rtlCol="0">
            <a:normAutofit/>
          </a:bodyPr>
          <a:lstStyle/>
          <a:p>
            <a:pPr>
              <a:defRPr/>
            </a:pPr>
            <a:r>
              <a:rPr lang="en-US" dirty="0"/>
              <a:t>Example of </a:t>
            </a:r>
            <a:r>
              <a:rPr lang="en-US" dirty="0">
                <a:solidFill>
                  <a:schemeClr val="accent1"/>
                </a:solidFill>
              </a:rPr>
              <a:t>Fact Constellation</a:t>
            </a:r>
          </a:p>
        </p:txBody>
      </p:sp>
      <p:sp>
        <p:nvSpPr>
          <p:cNvPr id="57347" name="Rectangle 3">
            <a:extLst>
              <a:ext uri="{FF2B5EF4-FFF2-40B4-BE49-F238E27FC236}">
                <a16:creationId xmlns:a16="http://schemas.microsoft.com/office/drawing/2014/main" id="{7A720C5B-F472-1E4E-B7F4-486DD3B92D5E}"/>
              </a:ext>
            </a:extLst>
          </p:cNvPr>
          <p:cNvSpPr>
            <a:spLocks noChangeArrowheads="1"/>
          </p:cNvSpPr>
          <p:nvPr/>
        </p:nvSpPr>
        <p:spPr bwMode="auto">
          <a:xfrm>
            <a:off x="4419600" y="3048000"/>
            <a:ext cx="1608138"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IN" altLang="en-IL"/>
          </a:p>
        </p:txBody>
      </p:sp>
      <p:grpSp>
        <p:nvGrpSpPr>
          <p:cNvPr id="57348" name="Group 4">
            <a:extLst>
              <a:ext uri="{FF2B5EF4-FFF2-40B4-BE49-F238E27FC236}">
                <a16:creationId xmlns:a16="http://schemas.microsoft.com/office/drawing/2014/main" id="{68C59FDD-90BA-5540-B861-F180831C5D63}"/>
              </a:ext>
            </a:extLst>
          </p:cNvPr>
          <p:cNvGrpSpPr>
            <a:grpSpLocks/>
          </p:cNvGrpSpPr>
          <p:nvPr/>
        </p:nvGrpSpPr>
        <p:grpSpPr bwMode="auto">
          <a:xfrm>
            <a:off x="1752600" y="1219200"/>
            <a:ext cx="1639888" cy="1982788"/>
            <a:chOff x="277" y="1164"/>
            <a:chExt cx="1021" cy="1229"/>
          </a:xfrm>
        </p:grpSpPr>
        <p:sp>
          <p:nvSpPr>
            <p:cNvPr id="57410" name="Rectangle 5">
              <a:extLst>
                <a:ext uri="{FF2B5EF4-FFF2-40B4-BE49-F238E27FC236}">
                  <a16:creationId xmlns:a16="http://schemas.microsoft.com/office/drawing/2014/main" id="{DF80FA41-06B8-5340-B4F5-53AFCF292171}"/>
                </a:ext>
              </a:extLst>
            </p:cNvPr>
            <p:cNvSpPr>
              <a:spLocks noChangeArrowheads="1"/>
            </p:cNvSpPr>
            <p:nvPr/>
          </p:nvSpPr>
          <p:spPr bwMode="auto">
            <a:xfrm>
              <a:off x="277" y="1421"/>
              <a:ext cx="1021" cy="97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1600">
                  <a:latin typeface="Times New Roman" panose="02020603050405020304" pitchFamily="18" charset="0"/>
                </a:rPr>
                <a:t>time_key</a:t>
              </a:r>
            </a:p>
            <a:p>
              <a:r>
                <a:rPr lang="en-US" altLang="en-IL" sz="1600">
                  <a:latin typeface="Times New Roman" panose="02020603050405020304" pitchFamily="18" charset="0"/>
                </a:rPr>
                <a:t>day</a:t>
              </a:r>
            </a:p>
            <a:p>
              <a:r>
                <a:rPr lang="en-US" altLang="en-IL" sz="1600">
                  <a:latin typeface="Times New Roman" panose="02020603050405020304" pitchFamily="18" charset="0"/>
                </a:rPr>
                <a:t>day_of_the_week</a:t>
              </a:r>
            </a:p>
            <a:p>
              <a:r>
                <a:rPr lang="en-US" altLang="en-IL" sz="1600">
                  <a:latin typeface="Times New Roman" panose="02020603050405020304" pitchFamily="18" charset="0"/>
                </a:rPr>
                <a:t>month</a:t>
              </a:r>
            </a:p>
            <a:p>
              <a:r>
                <a:rPr lang="en-US" altLang="en-IL" sz="1600">
                  <a:latin typeface="Times New Roman" panose="02020603050405020304" pitchFamily="18" charset="0"/>
                </a:rPr>
                <a:t>quarter</a:t>
              </a:r>
            </a:p>
            <a:p>
              <a:r>
                <a:rPr lang="en-US" altLang="en-IL" sz="1600">
                  <a:latin typeface="Times New Roman" panose="02020603050405020304" pitchFamily="18" charset="0"/>
                </a:rPr>
                <a:t>year</a:t>
              </a:r>
            </a:p>
          </p:txBody>
        </p:sp>
        <p:sp>
          <p:nvSpPr>
            <p:cNvPr id="57411" name="Rectangle 6">
              <a:extLst>
                <a:ext uri="{FF2B5EF4-FFF2-40B4-BE49-F238E27FC236}">
                  <a16:creationId xmlns:a16="http://schemas.microsoft.com/office/drawing/2014/main" id="{B9C13595-2F02-F442-9ADD-6CCA2E08B62C}"/>
                </a:ext>
              </a:extLst>
            </p:cNvPr>
            <p:cNvSpPr>
              <a:spLocks noChangeArrowheads="1"/>
            </p:cNvSpPr>
            <p:nvPr/>
          </p:nvSpPr>
          <p:spPr bwMode="auto">
            <a:xfrm>
              <a:off x="277" y="1164"/>
              <a:ext cx="374" cy="23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a:latin typeface="Times New Roman" panose="02020603050405020304" pitchFamily="18" charset="0"/>
                </a:rPr>
                <a:t>time</a:t>
              </a:r>
            </a:p>
          </p:txBody>
        </p:sp>
      </p:grpSp>
      <p:grpSp>
        <p:nvGrpSpPr>
          <p:cNvPr id="57349" name="Group 7">
            <a:extLst>
              <a:ext uri="{FF2B5EF4-FFF2-40B4-BE49-F238E27FC236}">
                <a16:creationId xmlns:a16="http://schemas.microsoft.com/office/drawing/2014/main" id="{3C787C00-1F03-F845-A33F-35EBCBE21A36}"/>
              </a:ext>
            </a:extLst>
          </p:cNvPr>
          <p:cNvGrpSpPr>
            <a:grpSpLocks/>
          </p:cNvGrpSpPr>
          <p:nvPr/>
        </p:nvGrpSpPr>
        <p:grpSpPr bwMode="auto">
          <a:xfrm>
            <a:off x="6629400" y="4038600"/>
            <a:ext cx="1722438" cy="1733550"/>
            <a:chOff x="684" y="2196"/>
            <a:chExt cx="1073" cy="1075"/>
          </a:xfrm>
        </p:grpSpPr>
        <p:sp>
          <p:nvSpPr>
            <p:cNvPr id="57408" name="Rectangle 8">
              <a:extLst>
                <a:ext uri="{FF2B5EF4-FFF2-40B4-BE49-F238E27FC236}">
                  <a16:creationId xmlns:a16="http://schemas.microsoft.com/office/drawing/2014/main" id="{19346D7F-048B-1042-8CC8-EF4DB79C8407}"/>
                </a:ext>
              </a:extLst>
            </p:cNvPr>
            <p:cNvSpPr>
              <a:spLocks noChangeArrowheads="1"/>
            </p:cNvSpPr>
            <p:nvPr/>
          </p:nvSpPr>
          <p:spPr bwMode="auto">
            <a:xfrm>
              <a:off x="684" y="2450"/>
              <a:ext cx="1073" cy="821"/>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1600">
                  <a:latin typeface="Times New Roman" panose="02020603050405020304" pitchFamily="18" charset="0"/>
                </a:rPr>
                <a:t>location_key</a:t>
              </a:r>
            </a:p>
            <a:p>
              <a:r>
                <a:rPr lang="en-US" altLang="en-IL" sz="1600">
                  <a:latin typeface="Times New Roman" panose="02020603050405020304" pitchFamily="18" charset="0"/>
                </a:rPr>
                <a:t>street</a:t>
              </a:r>
            </a:p>
            <a:p>
              <a:r>
                <a:rPr lang="en-US" altLang="en-IL" sz="1600">
                  <a:latin typeface="Times New Roman" panose="02020603050405020304" pitchFamily="18" charset="0"/>
                </a:rPr>
                <a:t>city</a:t>
              </a:r>
            </a:p>
            <a:p>
              <a:r>
                <a:rPr lang="en-US" altLang="en-IL" sz="1600">
                  <a:latin typeface="Times New Roman" panose="02020603050405020304" pitchFamily="18" charset="0"/>
                </a:rPr>
                <a:t>province_or_street</a:t>
              </a:r>
            </a:p>
            <a:p>
              <a:r>
                <a:rPr lang="en-US" altLang="en-IL" sz="1600">
                  <a:latin typeface="Times New Roman" panose="02020603050405020304" pitchFamily="18" charset="0"/>
                </a:rPr>
                <a:t>country</a:t>
              </a:r>
            </a:p>
          </p:txBody>
        </p:sp>
        <p:sp>
          <p:nvSpPr>
            <p:cNvPr id="57409" name="Rectangle 9">
              <a:extLst>
                <a:ext uri="{FF2B5EF4-FFF2-40B4-BE49-F238E27FC236}">
                  <a16:creationId xmlns:a16="http://schemas.microsoft.com/office/drawing/2014/main" id="{AF1B48A4-03CD-7448-8D8B-6122213A22DF}"/>
                </a:ext>
              </a:extLst>
            </p:cNvPr>
            <p:cNvSpPr>
              <a:spLocks noChangeArrowheads="1"/>
            </p:cNvSpPr>
            <p:nvPr/>
          </p:nvSpPr>
          <p:spPr bwMode="auto">
            <a:xfrm>
              <a:off x="684" y="2196"/>
              <a:ext cx="580" cy="23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a:latin typeface="Times New Roman" panose="02020603050405020304" pitchFamily="18" charset="0"/>
                </a:rPr>
                <a:t>location</a:t>
              </a:r>
            </a:p>
          </p:txBody>
        </p:sp>
      </p:grpSp>
      <p:sp>
        <p:nvSpPr>
          <p:cNvPr id="57350" name="Rectangle 10">
            <a:extLst>
              <a:ext uri="{FF2B5EF4-FFF2-40B4-BE49-F238E27FC236}">
                <a16:creationId xmlns:a16="http://schemas.microsoft.com/office/drawing/2014/main" id="{801B11B2-4DBB-544B-9371-7992309C55EF}"/>
              </a:ext>
            </a:extLst>
          </p:cNvPr>
          <p:cNvSpPr>
            <a:spLocks noChangeArrowheads="1"/>
          </p:cNvSpPr>
          <p:nvPr/>
        </p:nvSpPr>
        <p:spPr bwMode="auto">
          <a:xfrm>
            <a:off x="4267200" y="2133601"/>
            <a:ext cx="1695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a:latin typeface="Times New Roman" panose="02020603050405020304" pitchFamily="18" charset="0"/>
              </a:rPr>
              <a:t>Sales Fact Table</a:t>
            </a:r>
          </a:p>
        </p:txBody>
      </p:sp>
      <p:sp>
        <p:nvSpPr>
          <p:cNvPr id="57351" name="Rectangle 11">
            <a:extLst>
              <a:ext uri="{FF2B5EF4-FFF2-40B4-BE49-F238E27FC236}">
                <a16:creationId xmlns:a16="http://schemas.microsoft.com/office/drawing/2014/main" id="{4D827E63-D61E-544B-B08E-5C1527B6C76A}"/>
              </a:ext>
            </a:extLst>
          </p:cNvPr>
          <p:cNvSpPr>
            <a:spLocks noChangeArrowheads="1"/>
          </p:cNvSpPr>
          <p:nvPr/>
        </p:nvSpPr>
        <p:spPr bwMode="auto">
          <a:xfrm>
            <a:off x="4419600" y="2590800"/>
            <a:ext cx="1600200" cy="45243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IN" altLang="en-IL"/>
          </a:p>
        </p:txBody>
      </p:sp>
      <p:sp>
        <p:nvSpPr>
          <p:cNvPr id="57352" name="Rectangle 12">
            <a:extLst>
              <a:ext uri="{FF2B5EF4-FFF2-40B4-BE49-F238E27FC236}">
                <a16:creationId xmlns:a16="http://schemas.microsoft.com/office/drawing/2014/main" id="{3E2B7B27-0887-4942-B2AE-680C44B9C52B}"/>
              </a:ext>
            </a:extLst>
          </p:cNvPr>
          <p:cNvSpPr>
            <a:spLocks noChangeArrowheads="1"/>
          </p:cNvSpPr>
          <p:nvPr/>
        </p:nvSpPr>
        <p:spPr bwMode="auto">
          <a:xfrm>
            <a:off x="4419600" y="2667001"/>
            <a:ext cx="1601788" cy="3667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IL">
                <a:latin typeface="Times New Roman" panose="02020603050405020304" pitchFamily="18" charset="0"/>
              </a:rPr>
              <a:t>time_key</a:t>
            </a:r>
          </a:p>
        </p:txBody>
      </p:sp>
      <p:sp>
        <p:nvSpPr>
          <p:cNvPr id="57353" name="Rectangle 13">
            <a:extLst>
              <a:ext uri="{FF2B5EF4-FFF2-40B4-BE49-F238E27FC236}">
                <a16:creationId xmlns:a16="http://schemas.microsoft.com/office/drawing/2014/main" id="{8602F1D6-4F64-234E-B587-86A338EDE6EA}"/>
              </a:ext>
            </a:extLst>
          </p:cNvPr>
          <p:cNvSpPr>
            <a:spLocks noChangeArrowheads="1"/>
          </p:cNvSpPr>
          <p:nvPr/>
        </p:nvSpPr>
        <p:spPr bwMode="auto">
          <a:xfrm>
            <a:off x="4419600" y="3124201"/>
            <a:ext cx="1600200" cy="3667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a:latin typeface="Times New Roman" panose="02020603050405020304" pitchFamily="18" charset="0"/>
              </a:rPr>
              <a:t>         item_key</a:t>
            </a:r>
          </a:p>
        </p:txBody>
      </p:sp>
      <p:sp>
        <p:nvSpPr>
          <p:cNvPr id="57354" name="Rectangle 14">
            <a:extLst>
              <a:ext uri="{FF2B5EF4-FFF2-40B4-BE49-F238E27FC236}">
                <a16:creationId xmlns:a16="http://schemas.microsoft.com/office/drawing/2014/main" id="{A5675A09-6CDD-104B-B699-A03512FF2D6A}"/>
              </a:ext>
            </a:extLst>
          </p:cNvPr>
          <p:cNvSpPr>
            <a:spLocks noChangeArrowheads="1"/>
          </p:cNvSpPr>
          <p:nvPr/>
        </p:nvSpPr>
        <p:spPr bwMode="auto">
          <a:xfrm>
            <a:off x="4419600" y="3505200"/>
            <a:ext cx="1600200" cy="45085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IN" altLang="en-IL"/>
          </a:p>
        </p:txBody>
      </p:sp>
      <p:sp>
        <p:nvSpPr>
          <p:cNvPr id="57355" name="Rectangle 15">
            <a:extLst>
              <a:ext uri="{FF2B5EF4-FFF2-40B4-BE49-F238E27FC236}">
                <a16:creationId xmlns:a16="http://schemas.microsoft.com/office/drawing/2014/main" id="{722EE3FE-BA73-6541-9A5C-DEC28C8503AB}"/>
              </a:ext>
            </a:extLst>
          </p:cNvPr>
          <p:cNvSpPr>
            <a:spLocks noChangeArrowheads="1"/>
          </p:cNvSpPr>
          <p:nvPr/>
        </p:nvSpPr>
        <p:spPr bwMode="auto">
          <a:xfrm>
            <a:off x="4419600" y="3505201"/>
            <a:ext cx="1600200" cy="3667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a:latin typeface="Times New Roman" panose="02020603050405020304" pitchFamily="18" charset="0"/>
              </a:rPr>
              <a:t>      branch_key</a:t>
            </a:r>
          </a:p>
        </p:txBody>
      </p:sp>
      <p:sp>
        <p:nvSpPr>
          <p:cNvPr id="57356" name="Rectangle 16">
            <a:extLst>
              <a:ext uri="{FF2B5EF4-FFF2-40B4-BE49-F238E27FC236}">
                <a16:creationId xmlns:a16="http://schemas.microsoft.com/office/drawing/2014/main" id="{E12EA38A-716F-D54B-8E2C-FD5CFC5CCECC}"/>
              </a:ext>
            </a:extLst>
          </p:cNvPr>
          <p:cNvSpPr>
            <a:spLocks noChangeArrowheads="1"/>
          </p:cNvSpPr>
          <p:nvPr/>
        </p:nvSpPr>
        <p:spPr bwMode="auto">
          <a:xfrm>
            <a:off x="4419600" y="3962400"/>
            <a:ext cx="1600200" cy="45243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IN" altLang="en-IL"/>
          </a:p>
        </p:txBody>
      </p:sp>
      <p:sp>
        <p:nvSpPr>
          <p:cNvPr id="57357" name="Rectangle 17">
            <a:extLst>
              <a:ext uri="{FF2B5EF4-FFF2-40B4-BE49-F238E27FC236}">
                <a16:creationId xmlns:a16="http://schemas.microsoft.com/office/drawing/2014/main" id="{8CD41E5C-6F6B-3F41-A79B-683CEA99C8E7}"/>
              </a:ext>
            </a:extLst>
          </p:cNvPr>
          <p:cNvSpPr>
            <a:spLocks noChangeArrowheads="1"/>
          </p:cNvSpPr>
          <p:nvPr/>
        </p:nvSpPr>
        <p:spPr bwMode="auto">
          <a:xfrm>
            <a:off x="4418013" y="3981451"/>
            <a:ext cx="1593850" cy="3667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a:latin typeface="Times New Roman" panose="02020603050405020304" pitchFamily="18" charset="0"/>
              </a:rPr>
              <a:t>    location_key</a:t>
            </a:r>
          </a:p>
        </p:txBody>
      </p:sp>
      <p:sp>
        <p:nvSpPr>
          <p:cNvPr id="57358" name="Rectangle 18">
            <a:extLst>
              <a:ext uri="{FF2B5EF4-FFF2-40B4-BE49-F238E27FC236}">
                <a16:creationId xmlns:a16="http://schemas.microsoft.com/office/drawing/2014/main" id="{6E9373FA-2E56-5346-A4C9-815CC0E17745}"/>
              </a:ext>
            </a:extLst>
          </p:cNvPr>
          <p:cNvSpPr>
            <a:spLocks noChangeArrowheads="1"/>
          </p:cNvSpPr>
          <p:nvPr/>
        </p:nvSpPr>
        <p:spPr bwMode="auto">
          <a:xfrm>
            <a:off x="4384676" y="4419601"/>
            <a:ext cx="1635125" cy="45561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008484"/>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IN" altLang="en-IL"/>
          </a:p>
        </p:txBody>
      </p:sp>
      <p:sp>
        <p:nvSpPr>
          <p:cNvPr id="57359" name="Rectangle 19">
            <a:extLst>
              <a:ext uri="{FF2B5EF4-FFF2-40B4-BE49-F238E27FC236}">
                <a16:creationId xmlns:a16="http://schemas.microsoft.com/office/drawing/2014/main" id="{198E62C6-AD27-684B-B553-FDBA7EF750F2}"/>
              </a:ext>
            </a:extLst>
          </p:cNvPr>
          <p:cNvSpPr>
            <a:spLocks noChangeArrowheads="1"/>
          </p:cNvSpPr>
          <p:nvPr/>
        </p:nvSpPr>
        <p:spPr bwMode="auto">
          <a:xfrm>
            <a:off x="4419600" y="4473576"/>
            <a:ext cx="1581150" cy="3667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a:latin typeface="Times New Roman" panose="02020603050405020304" pitchFamily="18" charset="0"/>
              </a:rPr>
              <a:t>        units_sold</a:t>
            </a:r>
          </a:p>
        </p:txBody>
      </p:sp>
      <p:sp>
        <p:nvSpPr>
          <p:cNvPr id="57360" name="Rectangle 20">
            <a:extLst>
              <a:ext uri="{FF2B5EF4-FFF2-40B4-BE49-F238E27FC236}">
                <a16:creationId xmlns:a16="http://schemas.microsoft.com/office/drawing/2014/main" id="{57D668C6-C80C-2747-BE5A-2B2345DB2603}"/>
              </a:ext>
            </a:extLst>
          </p:cNvPr>
          <p:cNvSpPr>
            <a:spLocks noChangeArrowheads="1"/>
          </p:cNvSpPr>
          <p:nvPr/>
        </p:nvSpPr>
        <p:spPr bwMode="auto">
          <a:xfrm>
            <a:off x="4384676" y="4876801"/>
            <a:ext cx="1635125" cy="46196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008484"/>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IN" altLang="en-IL"/>
          </a:p>
        </p:txBody>
      </p:sp>
      <p:sp>
        <p:nvSpPr>
          <p:cNvPr id="57361" name="Rectangle 21">
            <a:extLst>
              <a:ext uri="{FF2B5EF4-FFF2-40B4-BE49-F238E27FC236}">
                <a16:creationId xmlns:a16="http://schemas.microsoft.com/office/drawing/2014/main" id="{6121B394-28EF-B947-A62A-AAF7A0281BA9}"/>
              </a:ext>
            </a:extLst>
          </p:cNvPr>
          <p:cNvSpPr>
            <a:spLocks noChangeArrowheads="1"/>
          </p:cNvSpPr>
          <p:nvPr/>
        </p:nvSpPr>
        <p:spPr bwMode="auto">
          <a:xfrm>
            <a:off x="4419600" y="4918076"/>
            <a:ext cx="1587500" cy="3667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a:latin typeface="Times New Roman" panose="02020603050405020304" pitchFamily="18" charset="0"/>
              </a:rPr>
              <a:t>     dollars_sold</a:t>
            </a:r>
          </a:p>
        </p:txBody>
      </p:sp>
      <p:sp>
        <p:nvSpPr>
          <p:cNvPr id="57362" name="Rectangle 22">
            <a:extLst>
              <a:ext uri="{FF2B5EF4-FFF2-40B4-BE49-F238E27FC236}">
                <a16:creationId xmlns:a16="http://schemas.microsoft.com/office/drawing/2014/main" id="{EB4F823E-8E6A-2540-A915-E8207B9EC617}"/>
              </a:ext>
            </a:extLst>
          </p:cNvPr>
          <p:cNvSpPr>
            <a:spLocks noChangeArrowheads="1"/>
          </p:cNvSpPr>
          <p:nvPr/>
        </p:nvSpPr>
        <p:spPr bwMode="auto">
          <a:xfrm>
            <a:off x="4384676" y="5334000"/>
            <a:ext cx="1635125" cy="4699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008484"/>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IN" altLang="en-IL"/>
          </a:p>
        </p:txBody>
      </p:sp>
      <p:sp>
        <p:nvSpPr>
          <p:cNvPr id="57363" name="Rectangle 23">
            <a:extLst>
              <a:ext uri="{FF2B5EF4-FFF2-40B4-BE49-F238E27FC236}">
                <a16:creationId xmlns:a16="http://schemas.microsoft.com/office/drawing/2014/main" id="{6B6D7005-1C3F-8C46-A8DD-C71D99B93E34}"/>
              </a:ext>
            </a:extLst>
          </p:cNvPr>
          <p:cNvSpPr>
            <a:spLocks noChangeArrowheads="1"/>
          </p:cNvSpPr>
          <p:nvPr/>
        </p:nvSpPr>
        <p:spPr bwMode="auto">
          <a:xfrm>
            <a:off x="4400550" y="5364163"/>
            <a:ext cx="1587500" cy="36671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a:latin typeface="Times New Roman" panose="02020603050405020304" pitchFamily="18" charset="0"/>
              </a:rPr>
              <a:t>         avg_sales</a:t>
            </a:r>
          </a:p>
        </p:txBody>
      </p:sp>
      <p:sp>
        <p:nvSpPr>
          <p:cNvPr id="57364" name="Rectangle 24">
            <a:extLst>
              <a:ext uri="{FF2B5EF4-FFF2-40B4-BE49-F238E27FC236}">
                <a16:creationId xmlns:a16="http://schemas.microsoft.com/office/drawing/2014/main" id="{FC235C8D-99FC-3E4A-90CF-1B8BB983FADD}"/>
              </a:ext>
            </a:extLst>
          </p:cNvPr>
          <p:cNvSpPr>
            <a:spLocks noChangeArrowheads="1"/>
          </p:cNvSpPr>
          <p:nvPr/>
        </p:nvSpPr>
        <p:spPr bwMode="auto">
          <a:xfrm>
            <a:off x="2819400" y="5715000"/>
            <a:ext cx="1219200" cy="37623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altLang="en-IL">
                <a:latin typeface="Times New Roman" panose="02020603050405020304" pitchFamily="18" charset="0"/>
              </a:rPr>
              <a:t>Measures</a:t>
            </a:r>
          </a:p>
        </p:txBody>
      </p:sp>
      <p:sp>
        <p:nvSpPr>
          <p:cNvPr id="57365" name="Line 25">
            <a:extLst>
              <a:ext uri="{FF2B5EF4-FFF2-40B4-BE49-F238E27FC236}">
                <a16:creationId xmlns:a16="http://schemas.microsoft.com/office/drawing/2014/main" id="{32E7C8B4-4684-014D-A75F-426285EF9F2D}"/>
              </a:ext>
            </a:extLst>
          </p:cNvPr>
          <p:cNvSpPr>
            <a:spLocks noChangeShapeType="1"/>
          </p:cNvSpPr>
          <p:nvPr/>
        </p:nvSpPr>
        <p:spPr bwMode="auto">
          <a:xfrm flipV="1">
            <a:off x="3608389" y="4648200"/>
            <a:ext cx="769937" cy="1143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57366" name="Line 26">
            <a:extLst>
              <a:ext uri="{FF2B5EF4-FFF2-40B4-BE49-F238E27FC236}">
                <a16:creationId xmlns:a16="http://schemas.microsoft.com/office/drawing/2014/main" id="{98B4AD28-A3E0-9045-962E-45EA209914DB}"/>
              </a:ext>
            </a:extLst>
          </p:cNvPr>
          <p:cNvSpPr>
            <a:spLocks noChangeShapeType="1"/>
          </p:cNvSpPr>
          <p:nvPr/>
        </p:nvSpPr>
        <p:spPr bwMode="auto">
          <a:xfrm flipV="1">
            <a:off x="3589339" y="5191126"/>
            <a:ext cx="788987" cy="561975"/>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57367" name="Line 27">
            <a:extLst>
              <a:ext uri="{FF2B5EF4-FFF2-40B4-BE49-F238E27FC236}">
                <a16:creationId xmlns:a16="http://schemas.microsoft.com/office/drawing/2014/main" id="{8ABEFBC2-C974-0742-91A9-C1634935BF1F}"/>
              </a:ext>
            </a:extLst>
          </p:cNvPr>
          <p:cNvSpPr>
            <a:spLocks noChangeShapeType="1"/>
          </p:cNvSpPr>
          <p:nvPr/>
        </p:nvSpPr>
        <p:spPr bwMode="auto">
          <a:xfrm flipV="1">
            <a:off x="3589339" y="5559426"/>
            <a:ext cx="904875" cy="193675"/>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57368" name="Line 28">
            <a:extLst>
              <a:ext uri="{FF2B5EF4-FFF2-40B4-BE49-F238E27FC236}">
                <a16:creationId xmlns:a16="http://schemas.microsoft.com/office/drawing/2014/main" id="{C8858F08-479E-0142-97DB-A180490D85F0}"/>
              </a:ext>
            </a:extLst>
          </p:cNvPr>
          <p:cNvSpPr>
            <a:spLocks noChangeShapeType="1"/>
          </p:cNvSpPr>
          <p:nvPr/>
        </p:nvSpPr>
        <p:spPr bwMode="auto">
          <a:xfrm flipH="1">
            <a:off x="3165475" y="3816351"/>
            <a:ext cx="1193800" cy="735013"/>
          </a:xfrm>
          <a:prstGeom prst="line">
            <a:avLst/>
          </a:prstGeom>
          <a:noFill/>
          <a:ln w="50800">
            <a:solidFill>
              <a:schemeClr val="tx1"/>
            </a:solidFill>
            <a:prstDash val="sysDot"/>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57369" name="Line 29">
            <a:extLst>
              <a:ext uri="{FF2B5EF4-FFF2-40B4-BE49-F238E27FC236}">
                <a16:creationId xmlns:a16="http://schemas.microsoft.com/office/drawing/2014/main" id="{B02B86B2-D7ED-FE4F-8CE4-634CC46CA64E}"/>
              </a:ext>
            </a:extLst>
          </p:cNvPr>
          <p:cNvSpPr>
            <a:spLocks noChangeShapeType="1"/>
          </p:cNvSpPr>
          <p:nvPr/>
        </p:nvSpPr>
        <p:spPr bwMode="auto">
          <a:xfrm flipH="1" flipV="1">
            <a:off x="3429000" y="2362200"/>
            <a:ext cx="914400" cy="381000"/>
          </a:xfrm>
          <a:prstGeom prst="line">
            <a:avLst/>
          </a:prstGeom>
          <a:noFill/>
          <a:ln w="50800">
            <a:solidFill>
              <a:schemeClr val="tx1"/>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57370" name="Line 30">
            <a:extLst>
              <a:ext uri="{FF2B5EF4-FFF2-40B4-BE49-F238E27FC236}">
                <a16:creationId xmlns:a16="http://schemas.microsoft.com/office/drawing/2014/main" id="{064C0159-561E-724F-8EC6-76F35411D9D1}"/>
              </a:ext>
            </a:extLst>
          </p:cNvPr>
          <p:cNvSpPr>
            <a:spLocks noChangeShapeType="1"/>
          </p:cNvSpPr>
          <p:nvPr/>
        </p:nvSpPr>
        <p:spPr bwMode="auto">
          <a:xfrm>
            <a:off x="6096000" y="4267200"/>
            <a:ext cx="533400" cy="381000"/>
          </a:xfrm>
          <a:prstGeom prst="line">
            <a:avLst/>
          </a:prstGeom>
          <a:noFill/>
          <a:ln w="50800">
            <a:solidFill>
              <a:schemeClr val="tx1"/>
            </a:solidFill>
            <a:prstDash val="sysDot"/>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sp>
        <p:nvSpPr>
          <p:cNvPr id="57371" name="Line 31">
            <a:extLst>
              <a:ext uri="{FF2B5EF4-FFF2-40B4-BE49-F238E27FC236}">
                <a16:creationId xmlns:a16="http://schemas.microsoft.com/office/drawing/2014/main" id="{AB43E9CF-CF3D-1B4C-8E58-8CB0CC45809E}"/>
              </a:ext>
            </a:extLst>
          </p:cNvPr>
          <p:cNvSpPr>
            <a:spLocks noChangeShapeType="1"/>
          </p:cNvSpPr>
          <p:nvPr/>
        </p:nvSpPr>
        <p:spPr bwMode="auto">
          <a:xfrm flipV="1">
            <a:off x="6019800" y="2743201"/>
            <a:ext cx="762000" cy="525463"/>
          </a:xfrm>
          <a:prstGeom prst="line">
            <a:avLst/>
          </a:prstGeom>
          <a:noFill/>
          <a:ln w="50800">
            <a:solidFill>
              <a:schemeClr val="tx1"/>
            </a:solidFill>
            <a:prstDash val="sysDot"/>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L"/>
          </a:p>
        </p:txBody>
      </p:sp>
      <p:grpSp>
        <p:nvGrpSpPr>
          <p:cNvPr id="57372" name="Group 32">
            <a:extLst>
              <a:ext uri="{FF2B5EF4-FFF2-40B4-BE49-F238E27FC236}">
                <a16:creationId xmlns:a16="http://schemas.microsoft.com/office/drawing/2014/main" id="{E937BBC1-C48A-6049-8BBC-9BD73466725C}"/>
              </a:ext>
            </a:extLst>
          </p:cNvPr>
          <p:cNvGrpSpPr>
            <a:grpSpLocks/>
          </p:cNvGrpSpPr>
          <p:nvPr/>
        </p:nvGrpSpPr>
        <p:grpSpPr bwMode="auto">
          <a:xfrm>
            <a:off x="6705600" y="1524001"/>
            <a:ext cx="1303338" cy="1744663"/>
            <a:chOff x="3796" y="1002"/>
            <a:chExt cx="812" cy="1081"/>
          </a:xfrm>
        </p:grpSpPr>
        <p:sp>
          <p:nvSpPr>
            <p:cNvPr id="57406" name="Rectangle 33">
              <a:extLst>
                <a:ext uri="{FF2B5EF4-FFF2-40B4-BE49-F238E27FC236}">
                  <a16:creationId xmlns:a16="http://schemas.microsoft.com/office/drawing/2014/main" id="{71DEEE8F-B2C4-3F4D-BAD9-22EB544198EF}"/>
                </a:ext>
              </a:extLst>
            </p:cNvPr>
            <p:cNvSpPr>
              <a:spLocks noChangeArrowheads="1"/>
            </p:cNvSpPr>
            <p:nvPr/>
          </p:nvSpPr>
          <p:spPr bwMode="auto">
            <a:xfrm>
              <a:off x="3796" y="1262"/>
              <a:ext cx="812" cy="821"/>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1600">
                  <a:latin typeface="Times New Roman" panose="02020603050405020304" pitchFamily="18" charset="0"/>
                </a:rPr>
                <a:t>item_key</a:t>
              </a:r>
            </a:p>
            <a:p>
              <a:r>
                <a:rPr lang="en-US" altLang="en-IL" sz="1600">
                  <a:latin typeface="Times New Roman" panose="02020603050405020304" pitchFamily="18" charset="0"/>
                </a:rPr>
                <a:t>item_name</a:t>
              </a:r>
            </a:p>
            <a:p>
              <a:r>
                <a:rPr lang="en-US" altLang="en-IL" sz="1600">
                  <a:latin typeface="Times New Roman" panose="02020603050405020304" pitchFamily="18" charset="0"/>
                </a:rPr>
                <a:t>brand</a:t>
              </a:r>
            </a:p>
            <a:p>
              <a:r>
                <a:rPr lang="en-US" altLang="en-IL" sz="1600">
                  <a:latin typeface="Times New Roman" panose="02020603050405020304" pitchFamily="18" charset="0"/>
                </a:rPr>
                <a:t>type</a:t>
              </a:r>
            </a:p>
            <a:p>
              <a:r>
                <a:rPr lang="en-US" altLang="en-IL" sz="1600">
                  <a:latin typeface="Times New Roman" panose="02020603050405020304" pitchFamily="18" charset="0"/>
                </a:rPr>
                <a:t>supplier_type</a:t>
              </a:r>
            </a:p>
          </p:txBody>
        </p:sp>
        <p:sp>
          <p:nvSpPr>
            <p:cNvPr id="57407" name="Text Box 34">
              <a:extLst>
                <a:ext uri="{FF2B5EF4-FFF2-40B4-BE49-F238E27FC236}">
                  <a16:creationId xmlns:a16="http://schemas.microsoft.com/office/drawing/2014/main" id="{FB34A37C-8626-6546-9C9E-18F821F83280}"/>
                </a:ext>
              </a:extLst>
            </p:cNvPr>
            <p:cNvSpPr txBox="1">
              <a:spLocks noChangeArrowheads="1"/>
            </p:cNvSpPr>
            <p:nvPr/>
          </p:nvSpPr>
          <p:spPr bwMode="auto">
            <a:xfrm>
              <a:off x="3953" y="1002"/>
              <a:ext cx="401" cy="25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IL" sz="2000">
                  <a:latin typeface="Times New Roman" panose="02020603050405020304" pitchFamily="18" charset="0"/>
                </a:rPr>
                <a:t>item</a:t>
              </a:r>
            </a:p>
          </p:txBody>
        </p:sp>
      </p:grpSp>
      <p:grpSp>
        <p:nvGrpSpPr>
          <p:cNvPr id="57373" name="Group 35">
            <a:extLst>
              <a:ext uri="{FF2B5EF4-FFF2-40B4-BE49-F238E27FC236}">
                <a16:creationId xmlns:a16="http://schemas.microsoft.com/office/drawing/2014/main" id="{F125E873-3A93-5447-9720-921C66A2FCE0}"/>
              </a:ext>
            </a:extLst>
          </p:cNvPr>
          <p:cNvGrpSpPr>
            <a:grpSpLocks/>
          </p:cNvGrpSpPr>
          <p:nvPr/>
        </p:nvGrpSpPr>
        <p:grpSpPr bwMode="auto">
          <a:xfrm>
            <a:off x="1828800" y="3962401"/>
            <a:ext cx="1290638" cy="1230313"/>
            <a:chOff x="3896" y="2472"/>
            <a:chExt cx="803" cy="762"/>
          </a:xfrm>
        </p:grpSpPr>
        <p:sp>
          <p:nvSpPr>
            <p:cNvPr id="57404" name="Rectangle 36">
              <a:extLst>
                <a:ext uri="{FF2B5EF4-FFF2-40B4-BE49-F238E27FC236}">
                  <a16:creationId xmlns:a16="http://schemas.microsoft.com/office/drawing/2014/main" id="{03AADC5F-4670-0040-A0F9-FC96A10B69B4}"/>
                </a:ext>
              </a:extLst>
            </p:cNvPr>
            <p:cNvSpPr>
              <a:spLocks noChangeArrowheads="1"/>
            </p:cNvSpPr>
            <p:nvPr/>
          </p:nvSpPr>
          <p:spPr bwMode="auto">
            <a:xfrm>
              <a:off x="3896" y="2716"/>
              <a:ext cx="803" cy="51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1600">
                  <a:latin typeface="Times New Roman" panose="02020603050405020304" pitchFamily="18" charset="0"/>
                </a:rPr>
                <a:t>branch_key</a:t>
              </a:r>
            </a:p>
            <a:p>
              <a:r>
                <a:rPr lang="en-US" altLang="en-IL" sz="1600">
                  <a:latin typeface="Times New Roman" panose="02020603050405020304" pitchFamily="18" charset="0"/>
                </a:rPr>
                <a:t>branch_name</a:t>
              </a:r>
            </a:p>
            <a:p>
              <a:r>
                <a:rPr lang="en-US" altLang="en-IL" sz="1600">
                  <a:latin typeface="Times New Roman" panose="02020603050405020304" pitchFamily="18" charset="0"/>
                </a:rPr>
                <a:t>branch_type</a:t>
              </a:r>
            </a:p>
          </p:txBody>
        </p:sp>
        <p:sp>
          <p:nvSpPr>
            <p:cNvPr id="57405" name="Text Box 37">
              <a:extLst>
                <a:ext uri="{FF2B5EF4-FFF2-40B4-BE49-F238E27FC236}">
                  <a16:creationId xmlns:a16="http://schemas.microsoft.com/office/drawing/2014/main" id="{43FBD59C-13FD-1F47-91C5-462E9BF7321C}"/>
                </a:ext>
              </a:extLst>
            </p:cNvPr>
            <p:cNvSpPr txBox="1">
              <a:spLocks noChangeArrowheads="1"/>
            </p:cNvSpPr>
            <p:nvPr/>
          </p:nvSpPr>
          <p:spPr bwMode="auto">
            <a:xfrm>
              <a:off x="3907" y="2472"/>
              <a:ext cx="507" cy="23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IL">
                  <a:latin typeface="Times New Roman" panose="02020603050405020304" pitchFamily="18" charset="0"/>
                </a:rPr>
                <a:t>branch</a:t>
              </a:r>
            </a:p>
          </p:txBody>
        </p:sp>
      </p:grpSp>
      <p:sp>
        <p:nvSpPr>
          <p:cNvPr id="57374" name="Rectangle 38">
            <a:extLst>
              <a:ext uri="{FF2B5EF4-FFF2-40B4-BE49-F238E27FC236}">
                <a16:creationId xmlns:a16="http://schemas.microsoft.com/office/drawing/2014/main" id="{0A9314A5-F296-1340-BD95-2F2A5489D5A0}"/>
              </a:ext>
            </a:extLst>
          </p:cNvPr>
          <p:cNvSpPr>
            <a:spLocks noChangeArrowheads="1"/>
          </p:cNvSpPr>
          <p:nvPr/>
        </p:nvSpPr>
        <p:spPr bwMode="auto">
          <a:xfrm>
            <a:off x="8535989" y="2495550"/>
            <a:ext cx="1608137"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IN" altLang="en-IL"/>
          </a:p>
        </p:txBody>
      </p:sp>
      <p:sp>
        <p:nvSpPr>
          <p:cNvPr id="57375" name="Rectangle 39">
            <a:extLst>
              <a:ext uri="{FF2B5EF4-FFF2-40B4-BE49-F238E27FC236}">
                <a16:creationId xmlns:a16="http://schemas.microsoft.com/office/drawing/2014/main" id="{C8A1D9CF-A50C-AC4E-9139-DDE8207CE8F0}"/>
              </a:ext>
            </a:extLst>
          </p:cNvPr>
          <p:cNvSpPr>
            <a:spLocks noChangeArrowheads="1"/>
          </p:cNvSpPr>
          <p:nvPr/>
        </p:nvSpPr>
        <p:spPr bwMode="auto">
          <a:xfrm>
            <a:off x="8383588" y="1581151"/>
            <a:ext cx="2038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a:latin typeface="Times New Roman" panose="02020603050405020304" pitchFamily="18" charset="0"/>
              </a:rPr>
              <a:t>Shipping Fact Table</a:t>
            </a:r>
          </a:p>
        </p:txBody>
      </p:sp>
      <p:sp>
        <p:nvSpPr>
          <p:cNvPr id="57376" name="Rectangle 40">
            <a:extLst>
              <a:ext uri="{FF2B5EF4-FFF2-40B4-BE49-F238E27FC236}">
                <a16:creationId xmlns:a16="http://schemas.microsoft.com/office/drawing/2014/main" id="{5EB8211A-1983-6E40-B48C-623F7551CB30}"/>
              </a:ext>
            </a:extLst>
          </p:cNvPr>
          <p:cNvSpPr>
            <a:spLocks noChangeArrowheads="1"/>
          </p:cNvSpPr>
          <p:nvPr/>
        </p:nvSpPr>
        <p:spPr bwMode="auto">
          <a:xfrm>
            <a:off x="8535988" y="2038350"/>
            <a:ext cx="1600200" cy="45243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IN" altLang="en-IL"/>
          </a:p>
        </p:txBody>
      </p:sp>
      <p:sp>
        <p:nvSpPr>
          <p:cNvPr id="57377" name="Rectangle 41">
            <a:extLst>
              <a:ext uri="{FF2B5EF4-FFF2-40B4-BE49-F238E27FC236}">
                <a16:creationId xmlns:a16="http://schemas.microsoft.com/office/drawing/2014/main" id="{E1627209-B6B5-F74B-B827-03DD92FCF166}"/>
              </a:ext>
            </a:extLst>
          </p:cNvPr>
          <p:cNvSpPr>
            <a:spLocks noChangeArrowheads="1"/>
          </p:cNvSpPr>
          <p:nvPr/>
        </p:nvSpPr>
        <p:spPr bwMode="auto">
          <a:xfrm>
            <a:off x="8535989" y="2114551"/>
            <a:ext cx="1601787" cy="3667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IL">
                <a:latin typeface="Times New Roman" panose="02020603050405020304" pitchFamily="18" charset="0"/>
              </a:rPr>
              <a:t>time_key</a:t>
            </a:r>
          </a:p>
        </p:txBody>
      </p:sp>
      <p:sp>
        <p:nvSpPr>
          <p:cNvPr id="57378" name="Rectangle 42">
            <a:extLst>
              <a:ext uri="{FF2B5EF4-FFF2-40B4-BE49-F238E27FC236}">
                <a16:creationId xmlns:a16="http://schemas.microsoft.com/office/drawing/2014/main" id="{7F6D2944-D906-3D4D-A9FB-BF29038C05CB}"/>
              </a:ext>
            </a:extLst>
          </p:cNvPr>
          <p:cNvSpPr>
            <a:spLocks noChangeArrowheads="1"/>
          </p:cNvSpPr>
          <p:nvPr/>
        </p:nvSpPr>
        <p:spPr bwMode="auto">
          <a:xfrm>
            <a:off x="8535988" y="2571751"/>
            <a:ext cx="1600200" cy="3667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a:latin typeface="Times New Roman" panose="02020603050405020304" pitchFamily="18" charset="0"/>
              </a:rPr>
              <a:t>         item_key</a:t>
            </a:r>
          </a:p>
        </p:txBody>
      </p:sp>
      <p:sp>
        <p:nvSpPr>
          <p:cNvPr id="57379" name="Rectangle 43">
            <a:extLst>
              <a:ext uri="{FF2B5EF4-FFF2-40B4-BE49-F238E27FC236}">
                <a16:creationId xmlns:a16="http://schemas.microsoft.com/office/drawing/2014/main" id="{4841CC6C-A026-B847-BADA-9CB050413C45}"/>
              </a:ext>
            </a:extLst>
          </p:cNvPr>
          <p:cNvSpPr>
            <a:spLocks noChangeArrowheads="1"/>
          </p:cNvSpPr>
          <p:nvPr/>
        </p:nvSpPr>
        <p:spPr bwMode="auto">
          <a:xfrm>
            <a:off x="8535988" y="2952750"/>
            <a:ext cx="1600200" cy="45085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IN" altLang="en-IL"/>
          </a:p>
        </p:txBody>
      </p:sp>
      <p:sp>
        <p:nvSpPr>
          <p:cNvPr id="57380" name="Rectangle 44">
            <a:extLst>
              <a:ext uri="{FF2B5EF4-FFF2-40B4-BE49-F238E27FC236}">
                <a16:creationId xmlns:a16="http://schemas.microsoft.com/office/drawing/2014/main" id="{0D62DBA5-12D4-1F48-B1D6-BB4748B2F7E5}"/>
              </a:ext>
            </a:extLst>
          </p:cNvPr>
          <p:cNvSpPr>
            <a:spLocks noChangeArrowheads="1"/>
          </p:cNvSpPr>
          <p:nvPr/>
        </p:nvSpPr>
        <p:spPr bwMode="auto">
          <a:xfrm>
            <a:off x="8535988" y="2952751"/>
            <a:ext cx="1600200" cy="3667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a:latin typeface="Times New Roman" panose="02020603050405020304" pitchFamily="18" charset="0"/>
              </a:rPr>
              <a:t>     shipper_key</a:t>
            </a:r>
          </a:p>
        </p:txBody>
      </p:sp>
      <p:sp>
        <p:nvSpPr>
          <p:cNvPr id="57381" name="Rectangle 45">
            <a:extLst>
              <a:ext uri="{FF2B5EF4-FFF2-40B4-BE49-F238E27FC236}">
                <a16:creationId xmlns:a16="http://schemas.microsoft.com/office/drawing/2014/main" id="{C83BF7D4-AE21-6840-A3E7-E2AFAE72856A}"/>
              </a:ext>
            </a:extLst>
          </p:cNvPr>
          <p:cNvSpPr>
            <a:spLocks noChangeArrowheads="1"/>
          </p:cNvSpPr>
          <p:nvPr/>
        </p:nvSpPr>
        <p:spPr bwMode="auto">
          <a:xfrm>
            <a:off x="8535988" y="3409950"/>
            <a:ext cx="1600200" cy="45243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IN" altLang="en-IL"/>
          </a:p>
        </p:txBody>
      </p:sp>
      <p:sp>
        <p:nvSpPr>
          <p:cNvPr id="57382" name="Rectangle 46">
            <a:extLst>
              <a:ext uri="{FF2B5EF4-FFF2-40B4-BE49-F238E27FC236}">
                <a16:creationId xmlns:a16="http://schemas.microsoft.com/office/drawing/2014/main" id="{18C5E262-A6C5-4B4E-B064-102F597AD9D8}"/>
              </a:ext>
            </a:extLst>
          </p:cNvPr>
          <p:cNvSpPr>
            <a:spLocks noChangeArrowheads="1"/>
          </p:cNvSpPr>
          <p:nvPr/>
        </p:nvSpPr>
        <p:spPr bwMode="auto">
          <a:xfrm>
            <a:off x="8534400" y="3429001"/>
            <a:ext cx="1593850" cy="3667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a:latin typeface="Times New Roman" panose="02020603050405020304" pitchFamily="18" charset="0"/>
              </a:rPr>
              <a:t>  from_location</a:t>
            </a:r>
          </a:p>
        </p:txBody>
      </p:sp>
      <p:sp>
        <p:nvSpPr>
          <p:cNvPr id="57383" name="Rectangle 47">
            <a:extLst>
              <a:ext uri="{FF2B5EF4-FFF2-40B4-BE49-F238E27FC236}">
                <a16:creationId xmlns:a16="http://schemas.microsoft.com/office/drawing/2014/main" id="{5C015136-D30F-8644-A859-E22D3661D1A0}"/>
              </a:ext>
            </a:extLst>
          </p:cNvPr>
          <p:cNvSpPr>
            <a:spLocks noChangeArrowheads="1"/>
          </p:cNvSpPr>
          <p:nvPr/>
        </p:nvSpPr>
        <p:spPr bwMode="auto">
          <a:xfrm>
            <a:off x="8501064" y="3867151"/>
            <a:ext cx="1635125" cy="45561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008484"/>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IN" altLang="en-IL"/>
          </a:p>
        </p:txBody>
      </p:sp>
      <p:sp>
        <p:nvSpPr>
          <p:cNvPr id="57384" name="Rectangle 48">
            <a:extLst>
              <a:ext uri="{FF2B5EF4-FFF2-40B4-BE49-F238E27FC236}">
                <a16:creationId xmlns:a16="http://schemas.microsoft.com/office/drawing/2014/main" id="{D6539177-360E-D842-98CD-011D3554DAC4}"/>
              </a:ext>
            </a:extLst>
          </p:cNvPr>
          <p:cNvSpPr>
            <a:spLocks noChangeArrowheads="1"/>
          </p:cNvSpPr>
          <p:nvPr/>
        </p:nvSpPr>
        <p:spPr bwMode="auto">
          <a:xfrm>
            <a:off x="8535988" y="3943351"/>
            <a:ext cx="1555750" cy="3667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a:latin typeface="Times New Roman" panose="02020603050405020304" pitchFamily="18" charset="0"/>
              </a:rPr>
              <a:t>      to_location</a:t>
            </a:r>
          </a:p>
        </p:txBody>
      </p:sp>
      <p:sp>
        <p:nvSpPr>
          <p:cNvPr id="57385" name="Rectangle 49">
            <a:extLst>
              <a:ext uri="{FF2B5EF4-FFF2-40B4-BE49-F238E27FC236}">
                <a16:creationId xmlns:a16="http://schemas.microsoft.com/office/drawing/2014/main" id="{31396F3F-5488-C24A-92F8-FA013A2D34F5}"/>
              </a:ext>
            </a:extLst>
          </p:cNvPr>
          <p:cNvSpPr>
            <a:spLocks noChangeArrowheads="1"/>
          </p:cNvSpPr>
          <p:nvPr/>
        </p:nvSpPr>
        <p:spPr bwMode="auto">
          <a:xfrm>
            <a:off x="8501064" y="4324351"/>
            <a:ext cx="1635125" cy="46196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008484"/>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IN" altLang="en-IL"/>
          </a:p>
        </p:txBody>
      </p:sp>
      <p:sp>
        <p:nvSpPr>
          <p:cNvPr id="57386" name="Rectangle 50">
            <a:extLst>
              <a:ext uri="{FF2B5EF4-FFF2-40B4-BE49-F238E27FC236}">
                <a16:creationId xmlns:a16="http://schemas.microsoft.com/office/drawing/2014/main" id="{055FE123-31B2-7B4C-89B4-2AD5D7C6FD44}"/>
              </a:ext>
            </a:extLst>
          </p:cNvPr>
          <p:cNvSpPr>
            <a:spLocks noChangeArrowheads="1"/>
          </p:cNvSpPr>
          <p:nvPr/>
        </p:nvSpPr>
        <p:spPr bwMode="auto">
          <a:xfrm>
            <a:off x="8535988" y="4365626"/>
            <a:ext cx="1574800" cy="3667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a:latin typeface="Times New Roman" panose="02020603050405020304" pitchFamily="18" charset="0"/>
              </a:rPr>
              <a:t>     dollars_cost</a:t>
            </a:r>
          </a:p>
        </p:txBody>
      </p:sp>
      <p:sp>
        <p:nvSpPr>
          <p:cNvPr id="57387" name="Rectangle 51">
            <a:extLst>
              <a:ext uri="{FF2B5EF4-FFF2-40B4-BE49-F238E27FC236}">
                <a16:creationId xmlns:a16="http://schemas.microsoft.com/office/drawing/2014/main" id="{9DDEF2BC-6C99-BB40-9CA5-BF80D9B61118}"/>
              </a:ext>
            </a:extLst>
          </p:cNvPr>
          <p:cNvSpPr>
            <a:spLocks noChangeArrowheads="1"/>
          </p:cNvSpPr>
          <p:nvPr/>
        </p:nvSpPr>
        <p:spPr bwMode="auto">
          <a:xfrm>
            <a:off x="8501064" y="4781550"/>
            <a:ext cx="1635125" cy="4699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008484"/>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IN" altLang="en-IL"/>
          </a:p>
        </p:txBody>
      </p:sp>
      <p:sp>
        <p:nvSpPr>
          <p:cNvPr id="57388" name="Rectangle 52">
            <a:extLst>
              <a:ext uri="{FF2B5EF4-FFF2-40B4-BE49-F238E27FC236}">
                <a16:creationId xmlns:a16="http://schemas.microsoft.com/office/drawing/2014/main" id="{E3A304C4-835C-6341-8D06-035D82B2E19B}"/>
              </a:ext>
            </a:extLst>
          </p:cNvPr>
          <p:cNvSpPr>
            <a:spLocks noChangeArrowheads="1"/>
          </p:cNvSpPr>
          <p:nvPr/>
        </p:nvSpPr>
        <p:spPr bwMode="auto">
          <a:xfrm>
            <a:off x="8516938" y="4811713"/>
            <a:ext cx="1625600" cy="36671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a:latin typeface="Times New Roman" panose="02020603050405020304" pitchFamily="18" charset="0"/>
              </a:rPr>
              <a:t>   units_shipped</a:t>
            </a:r>
          </a:p>
        </p:txBody>
      </p:sp>
      <p:sp>
        <p:nvSpPr>
          <p:cNvPr id="57389" name="Line 53">
            <a:extLst>
              <a:ext uri="{FF2B5EF4-FFF2-40B4-BE49-F238E27FC236}">
                <a16:creationId xmlns:a16="http://schemas.microsoft.com/office/drawing/2014/main" id="{1F783717-5AAA-C84F-80A3-0DB023E59743}"/>
              </a:ext>
            </a:extLst>
          </p:cNvPr>
          <p:cNvSpPr>
            <a:spLocks noChangeShapeType="1"/>
          </p:cNvSpPr>
          <p:nvPr/>
        </p:nvSpPr>
        <p:spPr bwMode="auto">
          <a:xfrm flipH="1" flipV="1">
            <a:off x="8153400" y="1524000"/>
            <a:ext cx="381000" cy="685800"/>
          </a:xfrm>
          <a:prstGeom prst="line">
            <a:avLst/>
          </a:prstGeom>
          <a:noFill/>
          <a:ln w="28575">
            <a:solidFill>
              <a:schemeClr val="tx1"/>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L"/>
          </a:p>
        </p:txBody>
      </p:sp>
      <p:sp>
        <p:nvSpPr>
          <p:cNvPr id="57390" name="Line 54">
            <a:extLst>
              <a:ext uri="{FF2B5EF4-FFF2-40B4-BE49-F238E27FC236}">
                <a16:creationId xmlns:a16="http://schemas.microsoft.com/office/drawing/2014/main" id="{57DA8BC6-53B3-7642-A515-6759B849D797}"/>
              </a:ext>
            </a:extLst>
          </p:cNvPr>
          <p:cNvSpPr>
            <a:spLocks noChangeShapeType="1"/>
          </p:cNvSpPr>
          <p:nvPr/>
        </p:nvSpPr>
        <p:spPr bwMode="auto">
          <a:xfrm flipH="1">
            <a:off x="4267200" y="1524000"/>
            <a:ext cx="3886200" cy="0"/>
          </a:xfrm>
          <a:prstGeom prst="line">
            <a:avLst/>
          </a:prstGeom>
          <a:noFill/>
          <a:ln w="28575">
            <a:solidFill>
              <a:schemeClr val="tx1"/>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L"/>
          </a:p>
        </p:txBody>
      </p:sp>
      <p:sp>
        <p:nvSpPr>
          <p:cNvPr id="57391" name="Line 55">
            <a:extLst>
              <a:ext uri="{FF2B5EF4-FFF2-40B4-BE49-F238E27FC236}">
                <a16:creationId xmlns:a16="http://schemas.microsoft.com/office/drawing/2014/main" id="{E9AF289F-6F39-7445-986F-889B41C1E647}"/>
              </a:ext>
            </a:extLst>
          </p:cNvPr>
          <p:cNvSpPr>
            <a:spLocks noChangeShapeType="1"/>
          </p:cNvSpPr>
          <p:nvPr/>
        </p:nvSpPr>
        <p:spPr bwMode="auto">
          <a:xfrm flipH="1">
            <a:off x="3429000" y="1524000"/>
            <a:ext cx="914400" cy="457200"/>
          </a:xfrm>
          <a:prstGeom prst="line">
            <a:avLst/>
          </a:prstGeom>
          <a:noFill/>
          <a:ln w="28575">
            <a:solidFill>
              <a:schemeClr val="tx1"/>
            </a:solidFill>
            <a:prstDash val="sysDot"/>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L"/>
          </a:p>
        </p:txBody>
      </p:sp>
      <p:sp>
        <p:nvSpPr>
          <p:cNvPr id="57392" name="Line 56">
            <a:extLst>
              <a:ext uri="{FF2B5EF4-FFF2-40B4-BE49-F238E27FC236}">
                <a16:creationId xmlns:a16="http://schemas.microsoft.com/office/drawing/2014/main" id="{C042929B-FCBE-694F-8888-650AAFF35C8E}"/>
              </a:ext>
            </a:extLst>
          </p:cNvPr>
          <p:cNvSpPr>
            <a:spLocks noChangeShapeType="1"/>
          </p:cNvSpPr>
          <p:nvPr/>
        </p:nvSpPr>
        <p:spPr bwMode="auto">
          <a:xfrm flipH="1" flipV="1">
            <a:off x="8077200" y="2667000"/>
            <a:ext cx="533400" cy="76200"/>
          </a:xfrm>
          <a:prstGeom prst="line">
            <a:avLst/>
          </a:prstGeom>
          <a:noFill/>
          <a:ln w="28575">
            <a:solidFill>
              <a:schemeClr val="tx1"/>
            </a:solidFill>
            <a:prstDash val="sysDot"/>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L"/>
          </a:p>
        </p:txBody>
      </p:sp>
      <p:sp>
        <p:nvSpPr>
          <p:cNvPr id="57393" name="Line 57">
            <a:extLst>
              <a:ext uri="{FF2B5EF4-FFF2-40B4-BE49-F238E27FC236}">
                <a16:creationId xmlns:a16="http://schemas.microsoft.com/office/drawing/2014/main" id="{01D539A2-38CB-584C-B857-8FDB8F9241F7}"/>
              </a:ext>
            </a:extLst>
          </p:cNvPr>
          <p:cNvSpPr>
            <a:spLocks noChangeShapeType="1"/>
          </p:cNvSpPr>
          <p:nvPr/>
        </p:nvSpPr>
        <p:spPr bwMode="auto">
          <a:xfrm flipH="1">
            <a:off x="7772400" y="3657600"/>
            <a:ext cx="685800" cy="762000"/>
          </a:xfrm>
          <a:prstGeom prst="line">
            <a:avLst/>
          </a:prstGeom>
          <a:noFill/>
          <a:ln w="28575">
            <a:solidFill>
              <a:schemeClr val="tx1"/>
            </a:solidFill>
            <a:prstDash val="sysDot"/>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L"/>
          </a:p>
        </p:txBody>
      </p:sp>
      <p:sp>
        <p:nvSpPr>
          <p:cNvPr id="57394" name="Line 58">
            <a:extLst>
              <a:ext uri="{FF2B5EF4-FFF2-40B4-BE49-F238E27FC236}">
                <a16:creationId xmlns:a16="http://schemas.microsoft.com/office/drawing/2014/main" id="{C5DAFF2D-BB92-2B4B-A6B3-D47E3500A19F}"/>
              </a:ext>
            </a:extLst>
          </p:cNvPr>
          <p:cNvSpPr>
            <a:spLocks noChangeShapeType="1"/>
          </p:cNvSpPr>
          <p:nvPr/>
        </p:nvSpPr>
        <p:spPr bwMode="auto">
          <a:xfrm flipH="1">
            <a:off x="8001000" y="4191000"/>
            <a:ext cx="457200" cy="228600"/>
          </a:xfrm>
          <a:prstGeom prst="line">
            <a:avLst/>
          </a:prstGeom>
          <a:noFill/>
          <a:ln w="28575">
            <a:solidFill>
              <a:schemeClr val="tx1"/>
            </a:solidFill>
            <a:prstDash val="sysDot"/>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L"/>
          </a:p>
        </p:txBody>
      </p:sp>
      <p:sp>
        <p:nvSpPr>
          <p:cNvPr id="57395" name="Line 59">
            <a:extLst>
              <a:ext uri="{FF2B5EF4-FFF2-40B4-BE49-F238E27FC236}">
                <a16:creationId xmlns:a16="http://schemas.microsoft.com/office/drawing/2014/main" id="{7C92B43C-08E2-8945-A895-58BE0919469A}"/>
              </a:ext>
            </a:extLst>
          </p:cNvPr>
          <p:cNvSpPr>
            <a:spLocks noChangeShapeType="1"/>
          </p:cNvSpPr>
          <p:nvPr/>
        </p:nvSpPr>
        <p:spPr bwMode="auto">
          <a:xfrm>
            <a:off x="10515600" y="3200400"/>
            <a:ext cx="0" cy="1676400"/>
          </a:xfrm>
          <a:prstGeom prst="line">
            <a:avLst/>
          </a:prstGeom>
          <a:noFill/>
          <a:ln w="28575">
            <a:solidFill>
              <a:schemeClr val="tx1"/>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L"/>
          </a:p>
        </p:txBody>
      </p:sp>
      <p:grpSp>
        <p:nvGrpSpPr>
          <p:cNvPr id="57396" name="Group 60">
            <a:extLst>
              <a:ext uri="{FF2B5EF4-FFF2-40B4-BE49-F238E27FC236}">
                <a16:creationId xmlns:a16="http://schemas.microsoft.com/office/drawing/2014/main" id="{3F29C6A6-AF37-314E-BDF5-76111092CCEB}"/>
              </a:ext>
            </a:extLst>
          </p:cNvPr>
          <p:cNvGrpSpPr>
            <a:grpSpLocks/>
          </p:cNvGrpSpPr>
          <p:nvPr/>
        </p:nvGrpSpPr>
        <p:grpSpPr bwMode="auto">
          <a:xfrm>
            <a:off x="9136063" y="5410200"/>
            <a:ext cx="1344612" cy="1473200"/>
            <a:chOff x="3891" y="2472"/>
            <a:chExt cx="836" cy="911"/>
          </a:xfrm>
        </p:grpSpPr>
        <p:sp>
          <p:nvSpPr>
            <p:cNvPr id="57402" name="Rectangle 61">
              <a:extLst>
                <a:ext uri="{FF2B5EF4-FFF2-40B4-BE49-F238E27FC236}">
                  <a16:creationId xmlns:a16="http://schemas.microsoft.com/office/drawing/2014/main" id="{0954194B-F630-3D44-BC9A-FD7901EAF46D}"/>
                </a:ext>
              </a:extLst>
            </p:cNvPr>
            <p:cNvSpPr>
              <a:spLocks noChangeArrowheads="1"/>
            </p:cNvSpPr>
            <p:nvPr/>
          </p:nvSpPr>
          <p:spPr bwMode="auto">
            <a:xfrm>
              <a:off x="3896" y="2715"/>
              <a:ext cx="831" cy="66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IL" sz="1600">
                  <a:latin typeface="Times New Roman" panose="02020603050405020304" pitchFamily="18" charset="0"/>
                </a:rPr>
                <a:t>shipper_key</a:t>
              </a:r>
            </a:p>
            <a:p>
              <a:r>
                <a:rPr lang="en-US" altLang="en-IL" sz="1600">
                  <a:latin typeface="Times New Roman" panose="02020603050405020304" pitchFamily="18" charset="0"/>
                </a:rPr>
                <a:t>shipper_name</a:t>
              </a:r>
            </a:p>
            <a:p>
              <a:r>
                <a:rPr lang="en-US" altLang="en-IL" sz="1600">
                  <a:latin typeface="Times New Roman" panose="02020603050405020304" pitchFamily="18" charset="0"/>
                </a:rPr>
                <a:t>location_key</a:t>
              </a:r>
            </a:p>
            <a:p>
              <a:r>
                <a:rPr lang="en-US" altLang="en-IL" sz="1600">
                  <a:latin typeface="Times New Roman" panose="02020603050405020304" pitchFamily="18" charset="0"/>
                </a:rPr>
                <a:t>shipper_type</a:t>
              </a:r>
            </a:p>
          </p:txBody>
        </p:sp>
        <p:sp>
          <p:nvSpPr>
            <p:cNvPr id="57403" name="Text Box 62">
              <a:extLst>
                <a:ext uri="{FF2B5EF4-FFF2-40B4-BE49-F238E27FC236}">
                  <a16:creationId xmlns:a16="http://schemas.microsoft.com/office/drawing/2014/main" id="{721F2145-4B4F-D040-BD4E-FA2052EB02D1}"/>
                </a:ext>
              </a:extLst>
            </p:cNvPr>
            <p:cNvSpPr txBox="1">
              <a:spLocks noChangeArrowheads="1"/>
            </p:cNvSpPr>
            <p:nvPr/>
          </p:nvSpPr>
          <p:spPr bwMode="auto">
            <a:xfrm>
              <a:off x="3891" y="2472"/>
              <a:ext cx="539" cy="23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IL">
                  <a:latin typeface="Times New Roman" panose="02020603050405020304" pitchFamily="18" charset="0"/>
                </a:rPr>
                <a:t>shipper</a:t>
              </a:r>
            </a:p>
          </p:txBody>
        </p:sp>
      </p:grpSp>
      <p:sp>
        <p:nvSpPr>
          <p:cNvPr id="57397" name="Line 63">
            <a:extLst>
              <a:ext uri="{FF2B5EF4-FFF2-40B4-BE49-F238E27FC236}">
                <a16:creationId xmlns:a16="http://schemas.microsoft.com/office/drawing/2014/main" id="{5AFC990A-E778-F94E-9A98-71DF6ABE3114}"/>
              </a:ext>
            </a:extLst>
          </p:cNvPr>
          <p:cNvSpPr>
            <a:spLocks noChangeShapeType="1"/>
          </p:cNvSpPr>
          <p:nvPr/>
        </p:nvSpPr>
        <p:spPr bwMode="auto">
          <a:xfrm flipH="1">
            <a:off x="10134600" y="4800600"/>
            <a:ext cx="381000" cy="1066800"/>
          </a:xfrm>
          <a:prstGeom prst="line">
            <a:avLst/>
          </a:prstGeom>
          <a:noFill/>
          <a:ln w="28575">
            <a:solidFill>
              <a:schemeClr val="tx1"/>
            </a:solidFill>
            <a:prstDash val="sysDot"/>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L"/>
          </a:p>
        </p:txBody>
      </p:sp>
      <p:sp>
        <p:nvSpPr>
          <p:cNvPr id="57398" name="Line 64">
            <a:extLst>
              <a:ext uri="{FF2B5EF4-FFF2-40B4-BE49-F238E27FC236}">
                <a16:creationId xmlns:a16="http://schemas.microsoft.com/office/drawing/2014/main" id="{31F71BB3-FEFF-A74D-8E17-39438E77BF3F}"/>
              </a:ext>
            </a:extLst>
          </p:cNvPr>
          <p:cNvSpPr>
            <a:spLocks noChangeShapeType="1"/>
          </p:cNvSpPr>
          <p:nvPr/>
        </p:nvSpPr>
        <p:spPr bwMode="auto">
          <a:xfrm>
            <a:off x="10134600" y="3200400"/>
            <a:ext cx="381000" cy="0"/>
          </a:xfrm>
          <a:prstGeom prst="line">
            <a:avLst/>
          </a:prstGeom>
          <a:noFill/>
          <a:ln w="28575">
            <a:solidFill>
              <a:schemeClr val="tx1"/>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L"/>
          </a:p>
        </p:txBody>
      </p:sp>
      <p:sp>
        <p:nvSpPr>
          <p:cNvPr id="57399" name="Line 65">
            <a:extLst>
              <a:ext uri="{FF2B5EF4-FFF2-40B4-BE49-F238E27FC236}">
                <a16:creationId xmlns:a16="http://schemas.microsoft.com/office/drawing/2014/main" id="{FB511411-2D44-E14D-AECC-40B3C330C652}"/>
              </a:ext>
            </a:extLst>
          </p:cNvPr>
          <p:cNvSpPr>
            <a:spLocks noChangeShapeType="1"/>
          </p:cNvSpPr>
          <p:nvPr/>
        </p:nvSpPr>
        <p:spPr bwMode="auto">
          <a:xfrm flipH="1" flipV="1">
            <a:off x="7391400" y="5791200"/>
            <a:ext cx="1752600" cy="685800"/>
          </a:xfrm>
          <a:prstGeom prst="line">
            <a:avLst/>
          </a:prstGeom>
          <a:noFill/>
          <a:ln w="28575">
            <a:solidFill>
              <a:schemeClr val="tx1"/>
            </a:solidFill>
            <a:prstDash val="sysDot"/>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L"/>
          </a:p>
        </p:txBody>
      </p:sp>
      <p:sp>
        <p:nvSpPr>
          <p:cNvPr id="2" name="Footer Placeholder 1">
            <a:extLst>
              <a:ext uri="{FF2B5EF4-FFF2-40B4-BE49-F238E27FC236}">
                <a16:creationId xmlns:a16="http://schemas.microsoft.com/office/drawing/2014/main" id="{8404850F-16E8-F045-82D3-64817A6DBA04}"/>
              </a:ext>
            </a:extLst>
          </p:cNvPr>
          <p:cNvSpPr>
            <a:spLocks noGrp="1"/>
          </p:cNvSpPr>
          <p:nvPr>
            <p:ph type="ftr" sz="quarter" idx="10"/>
          </p:nvPr>
        </p:nvSpPr>
        <p:spPr/>
        <p:txBody>
          <a:bodyPr/>
          <a:lstStyle/>
          <a:p>
            <a:r>
              <a:rPr lang="en-US" altLang="en-US"/>
              <a:t>Or Peretz</a:t>
            </a:r>
          </a:p>
        </p:txBody>
      </p:sp>
    </p:spTree>
    <p:extLst>
      <p:ext uri="{BB962C8B-B14F-4D97-AF65-F5344CB8AC3E}">
        <p14:creationId xmlns:p14="http://schemas.microsoft.com/office/powerpoint/2010/main" val="2999248146"/>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2">
            <a:extLst>
              <a:ext uri="{FF2B5EF4-FFF2-40B4-BE49-F238E27FC236}">
                <a16:creationId xmlns:a16="http://schemas.microsoft.com/office/drawing/2014/main" id="{D242C613-B2D6-AA4F-97E1-D6B28046FB89}"/>
              </a:ext>
            </a:extLst>
          </p:cNvPr>
          <p:cNvSpPr>
            <a:spLocks noGrp="1" noChangeArrowheads="1"/>
          </p:cNvSpPr>
          <p:nvPr>
            <p:ph type="title"/>
          </p:nvPr>
        </p:nvSpPr>
        <p:spPr/>
        <p:txBody>
          <a:bodyPr>
            <a:normAutofit/>
          </a:bodyPr>
          <a:lstStyle/>
          <a:p>
            <a:pPr algn="ctr"/>
            <a:r>
              <a:rPr lang="en-US" altLang="en-IL" sz="3200" b="1" dirty="0">
                <a:latin typeface="+mn-lt"/>
              </a:rPr>
              <a:t>What is the Best Design?</a:t>
            </a:r>
          </a:p>
        </p:txBody>
      </p:sp>
      <p:sp>
        <p:nvSpPr>
          <p:cNvPr id="22533" name="Rectangle 3">
            <a:extLst>
              <a:ext uri="{FF2B5EF4-FFF2-40B4-BE49-F238E27FC236}">
                <a16:creationId xmlns:a16="http://schemas.microsoft.com/office/drawing/2014/main" id="{5D73987B-7C4E-5C49-A8BC-7136512987AD}"/>
              </a:ext>
            </a:extLst>
          </p:cNvPr>
          <p:cNvSpPr>
            <a:spLocks noGrp="1" noChangeArrowheads="1"/>
          </p:cNvSpPr>
          <p:nvPr>
            <p:ph type="body" idx="1"/>
          </p:nvPr>
        </p:nvSpPr>
        <p:spPr>
          <a:xfrm>
            <a:off x="838200" y="1690688"/>
            <a:ext cx="10515600" cy="4351338"/>
          </a:xfrm>
        </p:spPr>
        <p:txBody>
          <a:bodyPr/>
          <a:lstStyle/>
          <a:p>
            <a:r>
              <a:rPr lang="en-US" altLang="en-IL" dirty="0"/>
              <a:t>Performance benchmarking can be used to determine what is the best design.</a:t>
            </a:r>
          </a:p>
          <a:p>
            <a:r>
              <a:rPr lang="en-US" altLang="en-IL" dirty="0"/>
              <a:t>Snowflake schema easier to maintain dimension tables when dimension tables are very large (reduce overall space). It is not generally recommended in a data warehouse environment.</a:t>
            </a:r>
          </a:p>
          <a:p>
            <a:r>
              <a:rPr lang="en-US" altLang="en-IL" dirty="0"/>
              <a:t>Star schema more effective for data cube browsing (less joins): can affect performance.</a:t>
            </a:r>
          </a:p>
        </p:txBody>
      </p:sp>
      <p:sp>
        <p:nvSpPr>
          <p:cNvPr id="2" name="Footer Placeholder 1">
            <a:extLst>
              <a:ext uri="{FF2B5EF4-FFF2-40B4-BE49-F238E27FC236}">
                <a16:creationId xmlns:a16="http://schemas.microsoft.com/office/drawing/2014/main" id="{A8FB3321-BA44-6448-B288-063479B6CE82}"/>
              </a:ext>
            </a:extLst>
          </p:cNvPr>
          <p:cNvSpPr>
            <a:spLocks noGrp="1"/>
          </p:cNvSpPr>
          <p:nvPr>
            <p:ph type="ftr" sz="quarter" idx="10"/>
          </p:nvPr>
        </p:nvSpPr>
        <p:spPr/>
        <p:txBody>
          <a:bodyPr/>
          <a:lstStyle/>
          <a:p>
            <a:r>
              <a:rPr lang="en-US" altLang="en-US"/>
              <a:t>Or Peretz</a:t>
            </a:r>
          </a:p>
        </p:txBody>
      </p:sp>
    </p:spTree>
  </p:cSld>
  <p:clrMapOvr>
    <a:masterClrMapping/>
  </p:clrMapOvr>
  <p:transition>
    <p:wipe dir="r"/>
  </p:transition>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28</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3" name="Rectangle 2">
            <a:extLst>
              <a:ext uri="{FF2B5EF4-FFF2-40B4-BE49-F238E27FC236}">
                <a16:creationId xmlns:a16="http://schemas.microsoft.com/office/drawing/2014/main" id="{26DA11A2-B510-D84C-9ADC-C9D0389EDA81}"/>
              </a:ext>
            </a:extLst>
          </p:cNvPr>
          <p:cNvSpPr/>
          <p:nvPr/>
        </p:nvSpPr>
        <p:spPr>
          <a:xfrm>
            <a:off x="334433" y="2590799"/>
            <a:ext cx="11523133" cy="770467"/>
          </a:xfrm>
          <a:prstGeom prst="rect">
            <a:avLst/>
          </a:prstGeom>
          <a:solidFill>
            <a:schemeClr val="accent2">
              <a:lumMod val="40000"/>
              <a:lumOff val="6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sz="2400" dirty="0">
                <a:solidFill>
                  <a:schemeClr val="tx1"/>
                </a:solidFill>
              </a:rPr>
              <a:t>ETL vs ELT</a:t>
            </a:r>
          </a:p>
        </p:txBody>
      </p:sp>
    </p:spTree>
    <p:extLst>
      <p:ext uri="{BB962C8B-B14F-4D97-AF65-F5344CB8AC3E}">
        <p14:creationId xmlns:p14="http://schemas.microsoft.com/office/powerpoint/2010/main" val="42404664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a:extLst>
              <a:ext uri="{FF2B5EF4-FFF2-40B4-BE49-F238E27FC236}">
                <a16:creationId xmlns:a16="http://schemas.microsoft.com/office/drawing/2014/main" id="{56A64BC9-D68C-734E-9334-8FC25ACE397D}"/>
              </a:ext>
            </a:extLst>
          </p:cNvPr>
          <p:cNvSpPr>
            <a:spLocks noGrp="1" noChangeArrowheads="1"/>
          </p:cNvSpPr>
          <p:nvPr>
            <p:ph type="title"/>
          </p:nvPr>
        </p:nvSpPr>
        <p:spPr>
          <a:xfrm>
            <a:off x="1921932" y="25402"/>
            <a:ext cx="8458200" cy="914400"/>
          </a:xfrm>
          <a:noFill/>
        </p:spPr>
        <p:txBody>
          <a:bodyPr vert="horz" lIns="92075" tIns="46038" rIns="92075" bIns="46038" rtlCol="0" anchor="b">
            <a:normAutofit/>
          </a:bodyPr>
          <a:lstStyle/>
          <a:p>
            <a:pPr algn="ctr"/>
            <a:r>
              <a:rPr lang="en-US" altLang="en-GB" sz="3200" b="1" dirty="0">
                <a:latin typeface="+mn-lt"/>
              </a:rPr>
              <a:t>Extract, Transform, Load - ETL</a:t>
            </a:r>
          </a:p>
        </p:txBody>
      </p:sp>
      <p:sp>
        <p:nvSpPr>
          <p:cNvPr id="2053" name="Rectangle 3">
            <a:extLst>
              <a:ext uri="{FF2B5EF4-FFF2-40B4-BE49-F238E27FC236}">
                <a16:creationId xmlns:a16="http://schemas.microsoft.com/office/drawing/2014/main" id="{E7813529-51E1-3F47-898F-5B9F2EC30F9B}"/>
              </a:ext>
            </a:extLst>
          </p:cNvPr>
          <p:cNvSpPr>
            <a:spLocks noGrp="1" noChangeArrowheads="1"/>
          </p:cNvSpPr>
          <p:nvPr>
            <p:ph type="body" idx="1"/>
          </p:nvPr>
        </p:nvSpPr>
        <p:spPr>
          <a:xfrm>
            <a:off x="3005667" y="1659467"/>
            <a:ext cx="6942666" cy="3683000"/>
          </a:xfrm>
          <a:noFill/>
        </p:spPr>
        <p:txBody>
          <a:bodyPr vert="horz" lIns="92075" tIns="46038" rIns="92075" bIns="46038" rtlCol="0">
            <a:normAutofit/>
          </a:bodyPr>
          <a:lstStyle/>
          <a:p>
            <a:pPr marL="0" indent="0">
              <a:buNone/>
            </a:pPr>
            <a:r>
              <a:rPr lang="en-US" sz="2400" i="1" dirty="0">
                <a:solidFill>
                  <a:schemeClr val="accent1"/>
                </a:solidFill>
              </a:rPr>
              <a:t>ETL process uses the pipelining concept. In this concept, as soon as the data is extracted, it can be transformed, and during the period of transformation, new data can be obtained. And when the modified data is being loaded into the data warehouse, the already extracted data can be transformed.</a:t>
            </a:r>
            <a:endParaRPr lang="en-US" sz="2400" dirty="0">
              <a:solidFill>
                <a:schemeClr val="accent1"/>
              </a:solidFill>
            </a:endParaRPr>
          </a:p>
        </p:txBody>
      </p:sp>
      <p:sp>
        <p:nvSpPr>
          <p:cNvPr id="2" name="Footer Placeholder 1">
            <a:extLst>
              <a:ext uri="{FF2B5EF4-FFF2-40B4-BE49-F238E27FC236}">
                <a16:creationId xmlns:a16="http://schemas.microsoft.com/office/drawing/2014/main" id="{545C1BBF-FD5D-8F4B-B66F-9C6DF85846E9}"/>
              </a:ext>
            </a:extLst>
          </p:cNvPr>
          <p:cNvSpPr>
            <a:spLocks noGrp="1"/>
          </p:cNvSpPr>
          <p:nvPr>
            <p:ph type="ftr" sz="quarter" idx="10"/>
          </p:nvPr>
        </p:nvSpPr>
        <p:spPr/>
        <p:txBody>
          <a:bodyPr/>
          <a:lstStyle/>
          <a:p>
            <a:r>
              <a:rPr lang="en-US" altLang="en-US"/>
              <a:t>Or Peretz</a:t>
            </a:r>
          </a:p>
        </p:txBody>
      </p:sp>
    </p:spTree>
    <p:extLst>
      <p:ext uri="{BB962C8B-B14F-4D97-AF65-F5344CB8AC3E}">
        <p14:creationId xmlns:p14="http://schemas.microsoft.com/office/powerpoint/2010/main" val="1553664103"/>
      </p:ext>
    </p:extLst>
  </p:cSld>
  <p:clrMapOvr>
    <a:masterClrMapping/>
  </p:clrMapOvr>
  <p:transition>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a:extLst>
              <a:ext uri="{FF2B5EF4-FFF2-40B4-BE49-F238E27FC236}">
                <a16:creationId xmlns:a16="http://schemas.microsoft.com/office/drawing/2014/main" id="{56A64BC9-D68C-734E-9334-8FC25ACE397D}"/>
              </a:ext>
            </a:extLst>
          </p:cNvPr>
          <p:cNvSpPr>
            <a:spLocks noGrp="1" noChangeArrowheads="1"/>
          </p:cNvSpPr>
          <p:nvPr>
            <p:ph type="title"/>
          </p:nvPr>
        </p:nvSpPr>
        <p:spPr>
          <a:xfrm>
            <a:off x="1921932" y="25402"/>
            <a:ext cx="8458200" cy="914400"/>
          </a:xfrm>
          <a:noFill/>
        </p:spPr>
        <p:txBody>
          <a:bodyPr vert="horz" lIns="92075" tIns="46038" rIns="92075" bIns="46038" rtlCol="0" anchor="b">
            <a:normAutofit/>
          </a:bodyPr>
          <a:lstStyle/>
          <a:p>
            <a:pPr algn="ctr"/>
            <a:r>
              <a:rPr lang="en-US" altLang="en-GB" sz="3200" b="1" dirty="0">
                <a:latin typeface="+mn-lt"/>
              </a:rPr>
              <a:t>Extract, Transform, Load</a:t>
            </a:r>
          </a:p>
        </p:txBody>
      </p:sp>
      <p:sp>
        <p:nvSpPr>
          <p:cNvPr id="2053" name="Rectangle 3">
            <a:extLst>
              <a:ext uri="{FF2B5EF4-FFF2-40B4-BE49-F238E27FC236}">
                <a16:creationId xmlns:a16="http://schemas.microsoft.com/office/drawing/2014/main" id="{E7813529-51E1-3F47-898F-5B9F2EC30F9B}"/>
              </a:ext>
            </a:extLst>
          </p:cNvPr>
          <p:cNvSpPr>
            <a:spLocks noGrp="1" noChangeArrowheads="1"/>
          </p:cNvSpPr>
          <p:nvPr>
            <p:ph type="body" idx="1"/>
          </p:nvPr>
        </p:nvSpPr>
        <p:spPr>
          <a:xfrm>
            <a:off x="304799" y="1143000"/>
            <a:ext cx="11692467" cy="5486400"/>
          </a:xfrm>
          <a:noFill/>
        </p:spPr>
        <p:txBody>
          <a:bodyPr vert="horz" lIns="92075" tIns="46038" rIns="92075" bIns="46038" rtlCol="0">
            <a:normAutofit/>
          </a:bodyPr>
          <a:lstStyle/>
          <a:p>
            <a:pPr marL="0" indent="0">
              <a:lnSpc>
                <a:spcPct val="150000"/>
              </a:lnSpc>
              <a:buNone/>
            </a:pPr>
            <a:r>
              <a:rPr lang="en-US" sz="2400" dirty="0"/>
              <a:t>Extract, Transform, and load is a process which involves extracting data from outside sources and transforming it to fit operational needs, then loading it into the target database or data warehouse. To use this approach is reasonable when we are using different database for our data warehouse.</a:t>
            </a:r>
            <a:endParaRPr lang="en-US" altLang="en-GB" sz="2400" dirty="0"/>
          </a:p>
        </p:txBody>
      </p:sp>
      <p:pic>
        <p:nvPicPr>
          <p:cNvPr id="114690" name="Picture 2" descr="Difference between ETL and ELT">
            <a:extLst>
              <a:ext uri="{FF2B5EF4-FFF2-40B4-BE49-F238E27FC236}">
                <a16:creationId xmlns:a16="http://schemas.microsoft.com/office/drawing/2014/main" id="{769D52CE-09B9-6D43-9B3E-38DF5827C7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7399" y="3997474"/>
            <a:ext cx="5418667" cy="1548191"/>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03070B79-838C-BF42-8FE8-54427979CD17}"/>
              </a:ext>
            </a:extLst>
          </p:cNvPr>
          <p:cNvSpPr>
            <a:spLocks noGrp="1"/>
          </p:cNvSpPr>
          <p:nvPr>
            <p:ph type="ftr" sz="quarter" idx="10"/>
          </p:nvPr>
        </p:nvSpPr>
        <p:spPr/>
        <p:txBody>
          <a:bodyPr/>
          <a:lstStyle/>
          <a:p>
            <a:r>
              <a:rPr lang="en-US" altLang="en-US"/>
              <a:t>Or Peretz</a:t>
            </a:r>
          </a:p>
        </p:txBody>
      </p:sp>
    </p:spTree>
    <p:extLst>
      <p:ext uri="{BB962C8B-B14F-4D97-AF65-F5344CB8AC3E}">
        <p14:creationId xmlns:p14="http://schemas.microsoft.com/office/powerpoint/2010/main" val="1590926936"/>
      </p:ext>
    </p:extLst>
  </p:cSld>
  <p:clrMapOvr>
    <a:masterClrMapping/>
  </p:clrMapOvr>
  <p:transition>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a:extLst>
              <a:ext uri="{FF2B5EF4-FFF2-40B4-BE49-F238E27FC236}">
                <a16:creationId xmlns:a16="http://schemas.microsoft.com/office/drawing/2014/main" id="{56A64BC9-D68C-734E-9334-8FC25ACE397D}"/>
              </a:ext>
            </a:extLst>
          </p:cNvPr>
          <p:cNvSpPr>
            <a:spLocks noGrp="1" noChangeArrowheads="1"/>
          </p:cNvSpPr>
          <p:nvPr>
            <p:ph type="title"/>
          </p:nvPr>
        </p:nvSpPr>
        <p:spPr>
          <a:xfrm>
            <a:off x="1921932" y="0"/>
            <a:ext cx="8458200" cy="914400"/>
          </a:xfrm>
          <a:noFill/>
        </p:spPr>
        <p:txBody>
          <a:bodyPr vert="horz" lIns="92075" tIns="46038" rIns="92075" bIns="46038" rtlCol="0" anchor="b">
            <a:normAutofit/>
          </a:bodyPr>
          <a:lstStyle/>
          <a:p>
            <a:pPr algn="ctr"/>
            <a:r>
              <a:rPr lang="en-US" altLang="en-GB" sz="3200" b="1" dirty="0">
                <a:latin typeface="+mn-lt"/>
              </a:rPr>
              <a:t>Extraction</a:t>
            </a:r>
          </a:p>
        </p:txBody>
      </p:sp>
      <p:sp>
        <p:nvSpPr>
          <p:cNvPr id="2053" name="Rectangle 3">
            <a:extLst>
              <a:ext uri="{FF2B5EF4-FFF2-40B4-BE49-F238E27FC236}">
                <a16:creationId xmlns:a16="http://schemas.microsoft.com/office/drawing/2014/main" id="{E7813529-51E1-3F47-898F-5B9F2EC30F9B}"/>
              </a:ext>
            </a:extLst>
          </p:cNvPr>
          <p:cNvSpPr>
            <a:spLocks noGrp="1" noChangeArrowheads="1"/>
          </p:cNvSpPr>
          <p:nvPr>
            <p:ph type="body" idx="1"/>
          </p:nvPr>
        </p:nvSpPr>
        <p:spPr>
          <a:xfrm>
            <a:off x="304799" y="1143000"/>
            <a:ext cx="11692467" cy="5486400"/>
          </a:xfrm>
          <a:noFill/>
        </p:spPr>
        <p:txBody>
          <a:bodyPr vert="horz" lIns="92075" tIns="46038" rIns="92075" bIns="46038" rtlCol="0">
            <a:normAutofit/>
          </a:bodyPr>
          <a:lstStyle/>
          <a:p>
            <a:pPr marL="0" indent="0">
              <a:lnSpc>
                <a:spcPct val="150000"/>
              </a:lnSpc>
              <a:buNone/>
            </a:pPr>
            <a:r>
              <a:rPr lang="en-US" sz="2400" b="1" dirty="0"/>
              <a:t>Extraction</a:t>
            </a:r>
            <a:r>
              <a:rPr lang="en-US" sz="2400" dirty="0"/>
              <a:t> - </a:t>
            </a:r>
            <a:r>
              <a:rPr lang="en-US" dirty="0"/>
              <a:t>The main goal of extraction is to collect the data from the source system as fast as possible and less convenient for these source systems. It also states that the most applicable extraction method should be chosen for source date/time stamps, database log tables, hybrid depending on the situation.</a:t>
            </a:r>
            <a:endParaRPr lang="he-IL" dirty="0"/>
          </a:p>
        </p:txBody>
      </p:sp>
      <p:pic>
        <p:nvPicPr>
          <p:cNvPr id="126978" name="Picture 2" descr="ETL Architecture">
            <a:extLst>
              <a:ext uri="{FF2B5EF4-FFF2-40B4-BE49-F238E27FC236}">
                <a16:creationId xmlns:a16="http://schemas.microsoft.com/office/drawing/2014/main" id="{D8BF5171-22D7-2C45-97F7-D0AD328E945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5908"/>
          <a:stretch/>
        </p:blipFill>
        <p:spPr bwMode="auto">
          <a:xfrm>
            <a:off x="2908299" y="4191000"/>
            <a:ext cx="6248993" cy="1598081"/>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113F8874-E3B8-3C45-BDA7-9FDBCF99A418}"/>
              </a:ext>
            </a:extLst>
          </p:cNvPr>
          <p:cNvSpPr>
            <a:spLocks noGrp="1"/>
          </p:cNvSpPr>
          <p:nvPr>
            <p:ph type="ftr" sz="quarter" idx="10"/>
          </p:nvPr>
        </p:nvSpPr>
        <p:spPr/>
        <p:txBody>
          <a:bodyPr/>
          <a:lstStyle/>
          <a:p>
            <a:r>
              <a:rPr lang="en-US" altLang="en-US"/>
              <a:t>Or Peretz</a:t>
            </a:r>
          </a:p>
        </p:txBody>
      </p:sp>
    </p:spTree>
    <p:extLst>
      <p:ext uri="{BB962C8B-B14F-4D97-AF65-F5344CB8AC3E}">
        <p14:creationId xmlns:p14="http://schemas.microsoft.com/office/powerpoint/2010/main" val="4224240134"/>
      </p:ext>
    </p:extLst>
  </p:cSld>
  <p:clrMapOvr>
    <a:masterClrMapping/>
  </p:clrMapOvr>
  <p:transition>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a:extLst>
              <a:ext uri="{FF2B5EF4-FFF2-40B4-BE49-F238E27FC236}">
                <a16:creationId xmlns:a16="http://schemas.microsoft.com/office/drawing/2014/main" id="{56A64BC9-D68C-734E-9334-8FC25ACE397D}"/>
              </a:ext>
            </a:extLst>
          </p:cNvPr>
          <p:cNvSpPr>
            <a:spLocks noGrp="1" noChangeArrowheads="1"/>
          </p:cNvSpPr>
          <p:nvPr>
            <p:ph type="title"/>
          </p:nvPr>
        </p:nvSpPr>
        <p:spPr>
          <a:xfrm>
            <a:off x="1921932" y="0"/>
            <a:ext cx="8458200" cy="914400"/>
          </a:xfrm>
          <a:noFill/>
        </p:spPr>
        <p:txBody>
          <a:bodyPr vert="horz" lIns="92075" tIns="46038" rIns="92075" bIns="46038" rtlCol="0" anchor="b">
            <a:normAutofit/>
          </a:bodyPr>
          <a:lstStyle/>
          <a:p>
            <a:pPr algn="ctr" defTabSz="914400" rtl="1" eaLnBrk="1" latinLnBrk="0" hangingPunct="1">
              <a:lnSpc>
                <a:spcPct val="90000"/>
              </a:lnSpc>
              <a:spcBef>
                <a:spcPct val="0"/>
              </a:spcBef>
              <a:buNone/>
            </a:pPr>
            <a:r>
              <a:rPr lang="en-US" altLang="en-GB" dirty="0"/>
              <a:t>Transformation</a:t>
            </a:r>
            <a:endParaRPr lang="en-US" altLang="en-GB" sz="3200" b="1" dirty="0">
              <a:latin typeface="+mn-lt"/>
            </a:endParaRPr>
          </a:p>
        </p:txBody>
      </p:sp>
      <p:sp>
        <p:nvSpPr>
          <p:cNvPr id="2053" name="Rectangle 3">
            <a:extLst>
              <a:ext uri="{FF2B5EF4-FFF2-40B4-BE49-F238E27FC236}">
                <a16:creationId xmlns:a16="http://schemas.microsoft.com/office/drawing/2014/main" id="{E7813529-51E1-3F47-898F-5B9F2EC30F9B}"/>
              </a:ext>
            </a:extLst>
          </p:cNvPr>
          <p:cNvSpPr>
            <a:spLocks noGrp="1" noChangeArrowheads="1"/>
          </p:cNvSpPr>
          <p:nvPr>
            <p:ph type="body" idx="1"/>
          </p:nvPr>
        </p:nvSpPr>
        <p:spPr>
          <a:xfrm>
            <a:off x="304799" y="1143000"/>
            <a:ext cx="11692467" cy="5486400"/>
          </a:xfrm>
          <a:noFill/>
        </p:spPr>
        <p:txBody>
          <a:bodyPr vert="horz" lIns="92075" tIns="46038" rIns="92075" bIns="46038" rtlCol="0">
            <a:normAutofit/>
          </a:bodyPr>
          <a:lstStyle/>
          <a:p>
            <a:pPr marL="0" indent="0">
              <a:buNone/>
            </a:pPr>
            <a:r>
              <a:rPr lang="en-US" dirty="0"/>
              <a:t>Transformation is the second step of the ETL process, where all the collected data has been transformed into the same format. It may involve the following tasks:</a:t>
            </a:r>
          </a:p>
          <a:p>
            <a:r>
              <a:rPr lang="en-US" b="1" dirty="0"/>
              <a:t>Filtering:</a:t>
            </a:r>
            <a:r>
              <a:rPr lang="en-US" dirty="0"/>
              <a:t> Only specific attributes are loading into the data warehouse.</a:t>
            </a:r>
          </a:p>
          <a:p>
            <a:r>
              <a:rPr lang="en-US" b="1" dirty="0"/>
              <a:t>Cleaning:</a:t>
            </a:r>
            <a:r>
              <a:rPr lang="en-US" dirty="0"/>
              <a:t> Filling up the null values with specific default values.</a:t>
            </a:r>
          </a:p>
          <a:p>
            <a:r>
              <a:rPr lang="en-US" b="1" dirty="0"/>
              <a:t>Joining:</a:t>
            </a:r>
            <a:r>
              <a:rPr lang="en-US" dirty="0"/>
              <a:t> Join the multiple attributes into the one.</a:t>
            </a:r>
          </a:p>
          <a:p>
            <a:r>
              <a:rPr lang="en-US" b="1" dirty="0"/>
              <a:t>Splitting:</a:t>
            </a:r>
            <a:r>
              <a:rPr lang="en-US" dirty="0"/>
              <a:t> Splitting the single attribute into multiple attributes.</a:t>
            </a:r>
          </a:p>
          <a:p>
            <a:r>
              <a:rPr lang="en-US" b="1" dirty="0"/>
              <a:t>Sorting:</a:t>
            </a:r>
            <a:r>
              <a:rPr lang="en-US" dirty="0"/>
              <a:t> Sort the tuples based on the attributes.</a:t>
            </a:r>
          </a:p>
        </p:txBody>
      </p:sp>
      <p:sp>
        <p:nvSpPr>
          <p:cNvPr id="2" name="Footer Placeholder 1">
            <a:extLst>
              <a:ext uri="{FF2B5EF4-FFF2-40B4-BE49-F238E27FC236}">
                <a16:creationId xmlns:a16="http://schemas.microsoft.com/office/drawing/2014/main" id="{3ABDEA16-095C-874F-904B-D2CC77D4FB59}"/>
              </a:ext>
            </a:extLst>
          </p:cNvPr>
          <p:cNvSpPr>
            <a:spLocks noGrp="1"/>
          </p:cNvSpPr>
          <p:nvPr>
            <p:ph type="ftr" sz="quarter" idx="10"/>
          </p:nvPr>
        </p:nvSpPr>
        <p:spPr/>
        <p:txBody>
          <a:bodyPr/>
          <a:lstStyle/>
          <a:p>
            <a:r>
              <a:rPr lang="en-US" altLang="en-US"/>
              <a:t>Or Peretz</a:t>
            </a:r>
          </a:p>
        </p:txBody>
      </p:sp>
    </p:spTree>
    <p:extLst>
      <p:ext uri="{BB962C8B-B14F-4D97-AF65-F5344CB8AC3E}">
        <p14:creationId xmlns:p14="http://schemas.microsoft.com/office/powerpoint/2010/main" val="1494341802"/>
      </p:ext>
    </p:extLst>
  </p:cSld>
  <p:clrMapOvr>
    <a:masterClrMapping/>
  </p:clrMapOvr>
  <p:transition>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a:extLst>
              <a:ext uri="{FF2B5EF4-FFF2-40B4-BE49-F238E27FC236}">
                <a16:creationId xmlns:a16="http://schemas.microsoft.com/office/drawing/2014/main" id="{56A64BC9-D68C-734E-9334-8FC25ACE397D}"/>
              </a:ext>
            </a:extLst>
          </p:cNvPr>
          <p:cNvSpPr>
            <a:spLocks noGrp="1" noChangeArrowheads="1"/>
          </p:cNvSpPr>
          <p:nvPr>
            <p:ph type="title"/>
          </p:nvPr>
        </p:nvSpPr>
        <p:spPr>
          <a:xfrm>
            <a:off x="1921932" y="0"/>
            <a:ext cx="8458200" cy="914400"/>
          </a:xfrm>
          <a:noFill/>
        </p:spPr>
        <p:txBody>
          <a:bodyPr vert="horz" lIns="92075" tIns="46038" rIns="92075" bIns="46038" rtlCol="0" anchor="b">
            <a:normAutofit/>
          </a:bodyPr>
          <a:lstStyle/>
          <a:p>
            <a:pPr algn="ctr" defTabSz="914400" rtl="1" eaLnBrk="1" latinLnBrk="0" hangingPunct="1">
              <a:lnSpc>
                <a:spcPct val="90000"/>
              </a:lnSpc>
              <a:spcBef>
                <a:spcPct val="0"/>
              </a:spcBef>
              <a:buNone/>
            </a:pPr>
            <a:r>
              <a:rPr lang="en-US" altLang="en-GB" dirty="0"/>
              <a:t>Loading</a:t>
            </a:r>
            <a:endParaRPr lang="en-US" altLang="en-GB" sz="3200" b="1" dirty="0">
              <a:latin typeface="+mn-lt"/>
            </a:endParaRPr>
          </a:p>
        </p:txBody>
      </p:sp>
      <p:sp>
        <p:nvSpPr>
          <p:cNvPr id="2053" name="Rectangle 3">
            <a:extLst>
              <a:ext uri="{FF2B5EF4-FFF2-40B4-BE49-F238E27FC236}">
                <a16:creationId xmlns:a16="http://schemas.microsoft.com/office/drawing/2014/main" id="{E7813529-51E1-3F47-898F-5B9F2EC30F9B}"/>
              </a:ext>
            </a:extLst>
          </p:cNvPr>
          <p:cNvSpPr>
            <a:spLocks noGrp="1" noChangeArrowheads="1"/>
          </p:cNvSpPr>
          <p:nvPr>
            <p:ph type="body" idx="1"/>
          </p:nvPr>
        </p:nvSpPr>
        <p:spPr>
          <a:xfrm>
            <a:off x="304799" y="1143000"/>
            <a:ext cx="11692467" cy="5486400"/>
          </a:xfrm>
          <a:noFill/>
        </p:spPr>
        <p:txBody>
          <a:bodyPr vert="horz" lIns="92075" tIns="46038" rIns="92075" bIns="46038" rtlCol="0">
            <a:normAutofit/>
          </a:bodyPr>
          <a:lstStyle/>
          <a:p>
            <a:pPr marL="0" indent="0">
              <a:buNone/>
            </a:pPr>
            <a:r>
              <a:rPr lang="en-US" dirty="0"/>
              <a:t>Loading is the final step of the ETL process. </a:t>
            </a:r>
          </a:p>
          <a:p>
            <a:pPr marL="0" indent="0">
              <a:buNone/>
            </a:pPr>
            <a:r>
              <a:rPr lang="en-US" dirty="0"/>
              <a:t>The big chunk of data is collected from various sources, transformed them, </a:t>
            </a:r>
          </a:p>
          <a:p>
            <a:pPr marL="0" indent="0">
              <a:buNone/>
            </a:pPr>
            <a:r>
              <a:rPr lang="en-US" dirty="0"/>
              <a:t>and finally loaded to the data warehouse.</a:t>
            </a:r>
          </a:p>
          <a:p>
            <a:pPr marL="0" indent="0">
              <a:buNone/>
            </a:pPr>
            <a:br>
              <a:rPr lang="en-US" dirty="0"/>
            </a:br>
            <a:endParaRPr lang="en-US" dirty="0"/>
          </a:p>
        </p:txBody>
      </p:sp>
      <p:sp>
        <p:nvSpPr>
          <p:cNvPr id="2" name="Footer Placeholder 1">
            <a:extLst>
              <a:ext uri="{FF2B5EF4-FFF2-40B4-BE49-F238E27FC236}">
                <a16:creationId xmlns:a16="http://schemas.microsoft.com/office/drawing/2014/main" id="{952538F6-F389-A747-B191-BD49FA01EB13}"/>
              </a:ext>
            </a:extLst>
          </p:cNvPr>
          <p:cNvSpPr>
            <a:spLocks noGrp="1"/>
          </p:cNvSpPr>
          <p:nvPr>
            <p:ph type="ftr" sz="quarter" idx="10"/>
          </p:nvPr>
        </p:nvSpPr>
        <p:spPr/>
        <p:txBody>
          <a:bodyPr/>
          <a:lstStyle/>
          <a:p>
            <a:r>
              <a:rPr lang="en-US" altLang="en-US"/>
              <a:t>Or Peretz</a:t>
            </a:r>
          </a:p>
        </p:txBody>
      </p:sp>
      <p:pic>
        <p:nvPicPr>
          <p:cNvPr id="5122" name="Picture 2" descr="victory Icon - Download victory Icon 2714573 | Noun Project">
            <a:extLst>
              <a:ext uri="{FF2B5EF4-FFF2-40B4-BE49-F238E27FC236}">
                <a16:creationId xmlns:a16="http://schemas.microsoft.com/office/drawing/2014/main" id="{AAE60FEF-9B2B-E949-8BFB-97F2C6E04F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13400" y="3090333"/>
            <a:ext cx="2540000" cy="254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0458082"/>
      </p:ext>
    </p:extLst>
  </p:cSld>
  <p:clrMapOvr>
    <a:masterClrMapping/>
  </p:clrMapOvr>
  <p:transition>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a:extLst>
              <a:ext uri="{FF2B5EF4-FFF2-40B4-BE49-F238E27FC236}">
                <a16:creationId xmlns:a16="http://schemas.microsoft.com/office/drawing/2014/main" id="{56A64BC9-D68C-734E-9334-8FC25ACE397D}"/>
              </a:ext>
            </a:extLst>
          </p:cNvPr>
          <p:cNvSpPr>
            <a:spLocks noGrp="1" noChangeArrowheads="1"/>
          </p:cNvSpPr>
          <p:nvPr>
            <p:ph type="title"/>
          </p:nvPr>
        </p:nvSpPr>
        <p:spPr>
          <a:xfrm>
            <a:off x="1921932" y="0"/>
            <a:ext cx="8458200" cy="914400"/>
          </a:xfrm>
          <a:noFill/>
        </p:spPr>
        <p:txBody>
          <a:bodyPr vert="horz" lIns="92075" tIns="46038" rIns="92075" bIns="46038" rtlCol="0" anchor="b">
            <a:normAutofit/>
          </a:bodyPr>
          <a:lstStyle/>
          <a:p>
            <a:pPr algn="ctr"/>
            <a:r>
              <a:rPr lang="en-US" altLang="en-GB" sz="3200" b="1" dirty="0">
                <a:latin typeface="+mn-lt"/>
              </a:rPr>
              <a:t>Extract, Load, Transform - ELT</a:t>
            </a:r>
          </a:p>
        </p:txBody>
      </p:sp>
      <p:sp>
        <p:nvSpPr>
          <p:cNvPr id="2053" name="Rectangle 3">
            <a:extLst>
              <a:ext uri="{FF2B5EF4-FFF2-40B4-BE49-F238E27FC236}">
                <a16:creationId xmlns:a16="http://schemas.microsoft.com/office/drawing/2014/main" id="{E7813529-51E1-3F47-898F-5B9F2EC30F9B}"/>
              </a:ext>
            </a:extLst>
          </p:cNvPr>
          <p:cNvSpPr>
            <a:spLocks noGrp="1" noChangeArrowheads="1"/>
          </p:cNvSpPr>
          <p:nvPr>
            <p:ph type="body" idx="1"/>
          </p:nvPr>
        </p:nvSpPr>
        <p:spPr>
          <a:xfrm>
            <a:off x="304799" y="1143000"/>
            <a:ext cx="11692467" cy="5486400"/>
          </a:xfrm>
          <a:noFill/>
        </p:spPr>
        <p:txBody>
          <a:bodyPr vert="horz" lIns="92075" tIns="46038" rIns="92075" bIns="46038" rtlCol="0">
            <a:normAutofit/>
          </a:bodyPr>
          <a:lstStyle/>
          <a:p>
            <a:pPr marL="0" indent="0">
              <a:lnSpc>
                <a:spcPct val="150000"/>
              </a:lnSpc>
              <a:buNone/>
            </a:pPr>
            <a:r>
              <a:rPr lang="en-US" sz="2400" dirty="0"/>
              <a:t>In the ELT approach, after extracting the data, we immediately start loading phase, moving all the data sources into a single, centralized data repository. With today's infrastructure technologies are using the cloud, and systems can now support large storage and scalable compute. </a:t>
            </a:r>
            <a:endParaRPr lang="en-US" altLang="en-GB" sz="2400" dirty="0"/>
          </a:p>
        </p:txBody>
      </p:sp>
      <p:pic>
        <p:nvPicPr>
          <p:cNvPr id="116738" name="Picture 2" descr="Difference between ETL and ELT">
            <a:extLst>
              <a:ext uri="{FF2B5EF4-FFF2-40B4-BE49-F238E27FC236}">
                <a16:creationId xmlns:a16="http://schemas.microsoft.com/office/drawing/2014/main" id="{E04BC032-62B8-614F-BA67-EC0BB777AD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0733" y="3429000"/>
            <a:ext cx="6815667" cy="2434167"/>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BFEE9BE5-7431-914F-B2AA-1E5072C76094}"/>
              </a:ext>
            </a:extLst>
          </p:cNvPr>
          <p:cNvSpPr>
            <a:spLocks noGrp="1"/>
          </p:cNvSpPr>
          <p:nvPr>
            <p:ph type="ftr" sz="quarter" idx="10"/>
          </p:nvPr>
        </p:nvSpPr>
        <p:spPr/>
        <p:txBody>
          <a:bodyPr/>
          <a:lstStyle/>
          <a:p>
            <a:r>
              <a:rPr lang="en-US" altLang="en-US"/>
              <a:t>Or Peretz</a:t>
            </a:r>
          </a:p>
        </p:txBody>
      </p:sp>
    </p:spTree>
    <p:extLst>
      <p:ext uri="{BB962C8B-B14F-4D97-AF65-F5344CB8AC3E}">
        <p14:creationId xmlns:p14="http://schemas.microsoft.com/office/powerpoint/2010/main" val="342324378"/>
      </p:ext>
    </p:extLst>
  </p:cSld>
  <p:clrMapOvr>
    <a:masterClrMapping/>
  </p:clrMapOvr>
  <p:transition>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a:extLst>
              <a:ext uri="{FF2B5EF4-FFF2-40B4-BE49-F238E27FC236}">
                <a16:creationId xmlns:a16="http://schemas.microsoft.com/office/drawing/2014/main" id="{56A64BC9-D68C-734E-9334-8FC25ACE397D}"/>
              </a:ext>
            </a:extLst>
          </p:cNvPr>
          <p:cNvSpPr>
            <a:spLocks noGrp="1" noChangeArrowheads="1"/>
          </p:cNvSpPr>
          <p:nvPr>
            <p:ph type="title"/>
          </p:nvPr>
        </p:nvSpPr>
        <p:spPr>
          <a:xfrm>
            <a:off x="1921932" y="0"/>
            <a:ext cx="8458200" cy="914400"/>
          </a:xfrm>
          <a:noFill/>
        </p:spPr>
        <p:txBody>
          <a:bodyPr vert="horz" lIns="92075" tIns="46038" rIns="92075" bIns="46038" rtlCol="0" anchor="b">
            <a:normAutofit/>
          </a:bodyPr>
          <a:lstStyle/>
          <a:p>
            <a:pPr algn="ctr"/>
            <a:r>
              <a:rPr lang="en-US" altLang="en-GB" sz="3200" b="1" dirty="0">
                <a:latin typeface="+mn-lt"/>
              </a:rPr>
              <a:t>Extract, Load, Transform - ELT</a:t>
            </a:r>
          </a:p>
        </p:txBody>
      </p:sp>
      <p:sp>
        <p:nvSpPr>
          <p:cNvPr id="2053" name="Rectangle 3">
            <a:extLst>
              <a:ext uri="{FF2B5EF4-FFF2-40B4-BE49-F238E27FC236}">
                <a16:creationId xmlns:a16="http://schemas.microsoft.com/office/drawing/2014/main" id="{E7813529-51E1-3F47-898F-5B9F2EC30F9B}"/>
              </a:ext>
            </a:extLst>
          </p:cNvPr>
          <p:cNvSpPr>
            <a:spLocks noGrp="1" noChangeArrowheads="1"/>
          </p:cNvSpPr>
          <p:nvPr>
            <p:ph type="body" idx="1"/>
          </p:nvPr>
        </p:nvSpPr>
        <p:spPr>
          <a:xfrm>
            <a:off x="304799" y="1143000"/>
            <a:ext cx="11692467" cy="5486400"/>
          </a:xfrm>
          <a:noFill/>
        </p:spPr>
        <p:txBody>
          <a:bodyPr vert="horz" lIns="92075" tIns="46038" rIns="92075" bIns="46038" rtlCol="0">
            <a:normAutofit/>
          </a:bodyPr>
          <a:lstStyle/>
          <a:p>
            <a:pPr marL="0" indent="0">
              <a:lnSpc>
                <a:spcPct val="150000"/>
              </a:lnSpc>
              <a:buNone/>
            </a:pPr>
            <a:r>
              <a:rPr lang="en-US" sz="2400" dirty="0"/>
              <a:t>The ELT approach provides a modern alternative to ETL, </a:t>
            </a:r>
          </a:p>
          <a:p>
            <a:pPr marL="0" indent="0">
              <a:lnSpc>
                <a:spcPct val="150000"/>
              </a:lnSpc>
              <a:buNone/>
            </a:pPr>
            <a:r>
              <a:rPr lang="en-US" sz="2400" dirty="0"/>
              <a:t>but there are cases when we need to use ELT:</a:t>
            </a:r>
          </a:p>
          <a:p>
            <a:pPr>
              <a:lnSpc>
                <a:spcPct val="150000"/>
              </a:lnSpc>
            </a:pPr>
            <a:r>
              <a:rPr lang="en-US" sz="2400" dirty="0"/>
              <a:t>When the volume of data is high.</a:t>
            </a:r>
          </a:p>
          <a:p>
            <a:pPr>
              <a:lnSpc>
                <a:spcPct val="150000"/>
              </a:lnSpc>
            </a:pPr>
            <a:r>
              <a:rPr lang="en-US" sz="2400" dirty="0"/>
              <a:t>When the source database and target database both are same.</a:t>
            </a:r>
          </a:p>
          <a:p>
            <a:pPr marL="0" indent="0">
              <a:lnSpc>
                <a:spcPct val="150000"/>
              </a:lnSpc>
              <a:buNone/>
            </a:pPr>
            <a:endParaRPr lang="en-US" sz="2400" dirty="0"/>
          </a:p>
        </p:txBody>
      </p:sp>
      <p:pic>
        <p:nvPicPr>
          <p:cNvPr id="4" name="Picture 2" descr="Difference between ETL and ELT">
            <a:extLst>
              <a:ext uri="{FF2B5EF4-FFF2-40B4-BE49-F238E27FC236}">
                <a16:creationId xmlns:a16="http://schemas.microsoft.com/office/drawing/2014/main" id="{8E052273-ED9D-4842-8159-16569C6995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5400" y="4097564"/>
            <a:ext cx="6324601" cy="2258786"/>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6E2C16A9-5E61-3049-B516-4F842A8AD60D}"/>
              </a:ext>
            </a:extLst>
          </p:cNvPr>
          <p:cNvSpPr>
            <a:spLocks noGrp="1"/>
          </p:cNvSpPr>
          <p:nvPr>
            <p:ph type="ftr" sz="quarter" idx="10"/>
          </p:nvPr>
        </p:nvSpPr>
        <p:spPr/>
        <p:txBody>
          <a:bodyPr/>
          <a:lstStyle/>
          <a:p>
            <a:r>
              <a:rPr lang="en-US" altLang="en-US"/>
              <a:t>Or Peretz</a:t>
            </a:r>
          </a:p>
        </p:txBody>
      </p:sp>
    </p:spTree>
    <p:extLst>
      <p:ext uri="{BB962C8B-B14F-4D97-AF65-F5344CB8AC3E}">
        <p14:creationId xmlns:p14="http://schemas.microsoft.com/office/powerpoint/2010/main" val="3336854799"/>
      </p:ext>
    </p:extLst>
  </p:cSld>
  <p:clrMapOvr>
    <a:masterClrMapping/>
  </p:clrMapOvr>
  <p:transition>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a:extLst>
              <a:ext uri="{FF2B5EF4-FFF2-40B4-BE49-F238E27FC236}">
                <a16:creationId xmlns:a16="http://schemas.microsoft.com/office/drawing/2014/main" id="{56A64BC9-D68C-734E-9334-8FC25ACE397D}"/>
              </a:ext>
            </a:extLst>
          </p:cNvPr>
          <p:cNvSpPr>
            <a:spLocks noGrp="1" noChangeArrowheads="1"/>
          </p:cNvSpPr>
          <p:nvPr>
            <p:ph type="title"/>
          </p:nvPr>
        </p:nvSpPr>
        <p:spPr>
          <a:xfrm>
            <a:off x="1921932" y="0"/>
            <a:ext cx="8458200" cy="914400"/>
          </a:xfrm>
          <a:noFill/>
        </p:spPr>
        <p:txBody>
          <a:bodyPr vert="horz" lIns="92075" tIns="46038" rIns="92075" bIns="46038" rtlCol="0" anchor="b">
            <a:normAutofit/>
          </a:bodyPr>
          <a:lstStyle/>
          <a:p>
            <a:pPr algn="ctr"/>
            <a:r>
              <a:rPr lang="en-US" altLang="en-GB" sz="3200" b="1" dirty="0">
                <a:latin typeface="+mn-lt"/>
              </a:rPr>
              <a:t>Working of ELT</a:t>
            </a:r>
          </a:p>
        </p:txBody>
      </p:sp>
      <p:sp>
        <p:nvSpPr>
          <p:cNvPr id="2053" name="Rectangle 3">
            <a:extLst>
              <a:ext uri="{FF2B5EF4-FFF2-40B4-BE49-F238E27FC236}">
                <a16:creationId xmlns:a16="http://schemas.microsoft.com/office/drawing/2014/main" id="{E7813529-51E1-3F47-898F-5B9F2EC30F9B}"/>
              </a:ext>
            </a:extLst>
          </p:cNvPr>
          <p:cNvSpPr>
            <a:spLocks noGrp="1" noChangeArrowheads="1"/>
          </p:cNvSpPr>
          <p:nvPr>
            <p:ph type="body" idx="1"/>
          </p:nvPr>
        </p:nvSpPr>
        <p:spPr>
          <a:xfrm>
            <a:off x="304799" y="1143000"/>
            <a:ext cx="11692467" cy="5486400"/>
          </a:xfrm>
          <a:noFill/>
        </p:spPr>
        <p:txBody>
          <a:bodyPr vert="horz" lIns="92075" tIns="46038" rIns="92075" bIns="46038" rtlCol="0">
            <a:normAutofit/>
          </a:bodyPr>
          <a:lstStyle/>
          <a:p>
            <a:pPr>
              <a:lnSpc>
                <a:spcPct val="150000"/>
              </a:lnSpc>
            </a:pPr>
            <a:r>
              <a:rPr lang="en-US" sz="2400" b="1" dirty="0"/>
              <a:t>Extract:</a:t>
            </a:r>
            <a:r>
              <a:rPr lang="en-US" sz="2400" dirty="0"/>
              <a:t> Extract the data from different data source which work similar in both data management approaches.</a:t>
            </a:r>
          </a:p>
          <a:p>
            <a:pPr>
              <a:lnSpc>
                <a:spcPct val="150000"/>
              </a:lnSpc>
            </a:pPr>
            <a:r>
              <a:rPr lang="en-US" sz="2400" b="1" dirty="0"/>
              <a:t>Load:</a:t>
            </a:r>
            <a:r>
              <a:rPr lang="en-US" sz="2400" dirty="0"/>
              <a:t> ELT delivers the whole data to the site where it will live. ELT shortens the cycle between the extraction and delivery, but there is a lot of work which should be done before the data becomes useful.</a:t>
            </a:r>
          </a:p>
          <a:p>
            <a:pPr>
              <a:lnSpc>
                <a:spcPct val="150000"/>
              </a:lnSpc>
            </a:pPr>
            <a:r>
              <a:rPr lang="en-US" sz="2400" b="1" dirty="0"/>
              <a:t>Transform:</a:t>
            </a:r>
            <a:r>
              <a:rPr lang="en-US" sz="2400" dirty="0"/>
              <a:t> Here, data warehouse and database sorts and normalize the data. The overhead for storing this data is high, but it comes with more opportunities.</a:t>
            </a:r>
          </a:p>
        </p:txBody>
      </p:sp>
      <p:sp>
        <p:nvSpPr>
          <p:cNvPr id="2" name="Footer Placeholder 1">
            <a:extLst>
              <a:ext uri="{FF2B5EF4-FFF2-40B4-BE49-F238E27FC236}">
                <a16:creationId xmlns:a16="http://schemas.microsoft.com/office/drawing/2014/main" id="{9B31AEBB-608C-554B-AF2E-E473B0023024}"/>
              </a:ext>
            </a:extLst>
          </p:cNvPr>
          <p:cNvSpPr>
            <a:spLocks noGrp="1"/>
          </p:cNvSpPr>
          <p:nvPr>
            <p:ph type="ftr" sz="quarter" idx="10"/>
          </p:nvPr>
        </p:nvSpPr>
        <p:spPr/>
        <p:txBody>
          <a:bodyPr/>
          <a:lstStyle/>
          <a:p>
            <a:r>
              <a:rPr lang="en-US" altLang="en-US"/>
              <a:t>Or Peretz</a:t>
            </a:r>
          </a:p>
        </p:txBody>
      </p:sp>
    </p:spTree>
    <p:extLst>
      <p:ext uri="{BB962C8B-B14F-4D97-AF65-F5344CB8AC3E}">
        <p14:creationId xmlns:p14="http://schemas.microsoft.com/office/powerpoint/2010/main" val="3105605665"/>
      </p:ext>
    </p:extLst>
  </p:cSld>
  <p:clrMapOvr>
    <a:masterClrMapping/>
  </p:clrMapOvr>
  <p:transition>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a:extLst>
              <a:ext uri="{FF2B5EF4-FFF2-40B4-BE49-F238E27FC236}">
                <a16:creationId xmlns:a16="http://schemas.microsoft.com/office/drawing/2014/main" id="{56A64BC9-D68C-734E-9334-8FC25ACE397D}"/>
              </a:ext>
            </a:extLst>
          </p:cNvPr>
          <p:cNvSpPr>
            <a:spLocks noGrp="1" noChangeArrowheads="1"/>
          </p:cNvSpPr>
          <p:nvPr>
            <p:ph type="title"/>
          </p:nvPr>
        </p:nvSpPr>
        <p:spPr>
          <a:xfrm>
            <a:off x="1921932" y="0"/>
            <a:ext cx="8458200" cy="914400"/>
          </a:xfrm>
          <a:noFill/>
        </p:spPr>
        <p:txBody>
          <a:bodyPr vert="horz" lIns="92075" tIns="46038" rIns="92075" bIns="46038" rtlCol="0" anchor="b">
            <a:normAutofit/>
          </a:bodyPr>
          <a:lstStyle/>
          <a:p>
            <a:pPr algn="ctr"/>
            <a:r>
              <a:rPr lang="en-US" altLang="en-GB" sz="3200" b="1" dirty="0">
                <a:latin typeface="+mn-lt"/>
              </a:rPr>
              <a:t>Differences between ETL and ELT</a:t>
            </a:r>
          </a:p>
        </p:txBody>
      </p:sp>
      <p:graphicFrame>
        <p:nvGraphicFramePr>
          <p:cNvPr id="2" name="Table 1">
            <a:extLst>
              <a:ext uri="{FF2B5EF4-FFF2-40B4-BE49-F238E27FC236}">
                <a16:creationId xmlns:a16="http://schemas.microsoft.com/office/drawing/2014/main" id="{3BB5F503-FF94-AD4B-8487-5D1C7C1CAFD2}"/>
              </a:ext>
            </a:extLst>
          </p:cNvPr>
          <p:cNvGraphicFramePr>
            <a:graphicFrameLocks noGrp="1"/>
          </p:cNvGraphicFramePr>
          <p:nvPr>
            <p:extLst>
              <p:ext uri="{D42A27DB-BD31-4B8C-83A1-F6EECF244321}">
                <p14:modId xmlns:p14="http://schemas.microsoft.com/office/powerpoint/2010/main" val="2632002279"/>
              </p:ext>
            </p:extLst>
          </p:nvPr>
        </p:nvGraphicFramePr>
        <p:xfrm>
          <a:off x="641194" y="1413935"/>
          <a:ext cx="10909611" cy="4182437"/>
        </p:xfrm>
        <a:graphic>
          <a:graphicData uri="http://schemas.openxmlformats.org/drawingml/2006/table">
            <a:tbl>
              <a:tblPr>
                <a:tableStyleId>{2D5ABB26-0587-4C30-8999-92F81FD0307C}</a:tableStyleId>
              </a:tblPr>
              <a:tblGrid>
                <a:gridCol w="2415273">
                  <a:extLst>
                    <a:ext uri="{9D8B030D-6E8A-4147-A177-3AD203B41FA5}">
                      <a16:colId xmlns:a16="http://schemas.microsoft.com/office/drawing/2014/main" val="2224455896"/>
                    </a:ext>
                  </a:extLst>
                </a:gridCol>
                <a:gridCol w="4309533">
                  <a:extLst>
                    <a:ext uri="{9D8B030D-6E8A-4147-A177-3AD203B41FA5}">
                      <a16:colId xmlns:a16="http://schemas.microsoft.com/office/drawing/2014/main" val="886334161"/>
                    </a:ext>
                  </a:extLst>
                </a:gridCol>
                <a:gridCol w="4184805">
                  <a:extLst>
                    <a:ext uri="{9D8B030D-6E8A-4147-A177-3AD203B41FA5}">
                      <a16:colId xmlns:a16="http://schemas.microsoft.com/office/drawing/2014/main" val="4226614746"/>
                    </a:ext>
                  </a:extLst>
                </a:gridCol>
              </a:tblGrid>
              <a:tr h="458185">
                <a:tc>
                  <a:txBody>
                    <a:bodyPr/>
                    <a:lstStyle/>
                    <a:p>
                      <a:pPr algn="ctr" fontAlgn="t"/>
                      <a:r>
                        <a:rPr lang="en-US" sz="2200" b="1" u="sng" dirty="0">
                          <a:solidFill>
                            <a:srgbClr val="000000"/>
                          </a:solidFill>
                          <a:effectLst/>
                        </a:rPr>
                        <a:t>Parameter</a:t>
                      </a:r>
                      <a:endParaRPr lang="en-US" sz="2200" b="1" u="sng" dirty="0">
                        <a:solidFill>
                          <a:srgbClr val="000000"/>
                        </a:solidFill>
                        <a:effectLst/>
                        <a:latin typeface="times new roman" panose="02020603050405020304" pitchFamily="18" charset="0"/>
                      </a:endParaRPr>
                    </a:p>
                  </a:txBody>
                  <a:tcPr marL="90402" marR="90402" marT="90402" marB="90402"/>
                </a:tc>
                <a:tc>
                  <a:txBody>
                    <a:bodyPr/>
                    <a:lstStyle/>
                    <a:p>
                      <a:pPr algn="ctr" fontAlgn="t"/>
                      <a:r>
                        <a:rPr lang="en-US" sz="2200" b="1" u="sng" dirty="0">
                          <a:solidFill>
                            <a:srgbClr val="000000"/>
                          </a:solidFill>
                          <a:effectLst/>
                        </a:rPr>
                        <a:t>ETL</a:t>
                      </a:r>
                      <a:endParaRPr lang="en-US" sz="2200" b="1" u="sng" dirty="0">
                        <a:solidFill>
                          <a:srgbClr val="000000"/>
                        </a:solidFill>
                        <a:effectLst/>
                        <a:latin typeface="times new roman" panose="02020603050405020304" pitchFamily="18" charset="0"/>
                      </a:endParaRPr>
                    </a:p>
                  </a:txBody>
                  <a:tcPr marL="90402" marR="90402" marT="90402" marB="90402"/>
                </a:tc>
                <a:tc>
                  <a:txBody>
                    <a:bodyPr/>
                    <a:lstStyle/>
                    <a:p>
                      <a:pPr algn="ctr" fontAlgn="t"/>
                      <a:r>
                        <a:rPr lang="en-US" sz="2200" b="1" u="sng" dirty="0">
                          <a:solidFill>
                            <a:srgbClr val="000000"/>
                          </a:solidFill>
                          <a:effectLst/>
                        </a:rPr>
                        <a:t>ELT</a:t>
                      </a:r>
                      <a:endParaRPr lang="en-US" sz="2200" b="1" u="sng" dirty="0">
                        <a:solidFill>
                          <a:srgbClr val="000000"/>
                        </a:solidFill>
                        <a:effectLst/>
                        <a:latin typeface="times new roman" panose="02020603050405020304" pitchFamily="18" charset="0"/>
                      </a:endParaRPr>
                    </a:p>
                  </a:txBody>
                  <a:tcPr marL="90402" marR="90402" marT="90402" marB="90402"/>
                </a:tc>
                <a:extLst>
                  <a:ext uri="{0D108BD9-81ED-4DB2-BD59-A6C34878D82A}">
                    <a16:rowId xmlns:a16="http://schemas.microsoft.com/office/drawing/2014/main" val="1607006195"/>
                  </a:ext>
                </a:extLst>
              </a:tr>
              <a:tr h="1138521">
                <a:tc>
                  <a:txBody>
                    <a:bodyPr/>
                    <a:lstStyle/>
                    <a:p>
                      <a:pPr algn="just" fontAlgn="t"/>
                      <a:r>
                        <a:rPr lang="en-US" sz="2200" b="1" dirty="0">
                          <a:solidFill>
                            <a:schemeClr val="tx1"/>
                          </a:solidFill>
                          <a:effectLst/>
                        </a:rPr>
                        <a:t>Process</a:t>
                      </a:r>
                      <a:endParaRPr lang="en-US" sz="2200" dirty="0">
                        <a:solidFill>
                          <a:schemeClr val="tx1"/>
                        </a:solidFill>
                        <a:effectLst/>
                        <a:latin typeface="inter-regular"/>
                      </a:endParaRPr>
                    </a:p>
                  </a:txBody>
                  <a:tcPr marL="60268" marR="60268" marT="60268" marB="60268"/>
                </a:tc>
                <a:tc>
                  <a:txBody>
                    <a:bodyPr/>
                    <a:lstStyle/>
                    <a:p>
                      <a:pPr algn="just" fontAlgn="t"/>
                      <a:r>
                        <a:rPr lang="en-US" sz="1800" dirty="0">
                          <a:solidFill>
                            <a:schemeClr val="tx1"/>
                          </a:solidFill>
                          <a:effectLst/>
                        </a:rPr>
                        <a:t>Data is transferred in staging server and then moved to Data Warehouse Database.</a:t>
                      </a:r>
                      <a:endParaRPr lang="en-US" sz="1800" dirty="0">
                        <a:solidFill>
                          <a:schemeClr val="tx1"/>
                        </a:solidFill>
                        <a:effectLst/>
                        <a:latin typeface="inter-regular"/>
                      </a:endParaRPr>
                    </a:p>
                  </a:txBody>
                  <a:tcPr marL="60268" marR="60268" marT="60268" marB="60268"/>
                </a:tc>
                <a:tc>
                  <a:txBody>
                    <a:bodyPr/>
                    <a:lstStyle/>
                    <a:p>
                      <a:pPr algn="just" fontAlgn="t"/>
                      <a:r>
                        <a:rPr lang="en-US" sz="1800" dirty="0">
                          <a:solidFill>
                            <a:schemeClr val="tx1"/>
                          </a:solidFill>
                          <a:effectLst/>
                        </a:rPr>
                        <a:t>Data remains in the DB of the data warehouse.</a:t>
                      </a:r>
                      <a:endParaRPr lang="en-US" sz="1800" dirty="0">
                        <a:solidFill>
                          <a:schemeClr val="tx1"/>
                        </a:solidFill>
                        <a:effectLst/>
                        <a:latin typeface="inter-regular"/>
                      </a:endParaRPr>
                    </a:p>
                  </a:txBody>
                  <a:tcPr marL="60268" marR="60268" marT="60268" marB="60268"/>
                </a:tc>
                <a:extLst>
                  <a:ext uri="{0D108BD9-81ED-4DB2-BD59-A6C34878D82A}">
                    <a16:rowId xmlns:a16="http://schemas.microsoft.com/office/drawing/2014/main" val="1309115714"/>
                  </a:ext>
                </a:extLst>
              </a:tr>
              <a:tr h="1139393">
                <a:tc>
                  <a:txBody>
                    <a:bodyPr/>
                    <a:lstStyle/>
                    <a:p>
                      <a:pPr algn="just" fontAlgn="t"/>
                      <a:r>
                        <a:rPr lang="en-US" sz="2200" b="1" dirty="0">
                          <a:solidFill>
                            <a:schemeClr val="tx1"/>
                          </a:solidFill>
                          <a:effectLst/>
                        </a:rPr>
                        <a:t>Code Usage</a:t>
                      </a:r>
                      <a:endParaRPr lang="en-US" sz="2200" dirty="0">
                        <a:solidFill>
                          <a:schemeClr val="tx1"/>
                        </a:solidFill>
                        <a:effectLst/>
                        <a:latin typeface="inter-regular"/>
                      </a:endParaRPr>
                    </a:p>
                  </a:txBody>
                  <a:tcPr marL="60268" marR="60268" marT="60268" marB="60268"/>
                </a:tc>
                <a:tc>
                  <a:txBody>
                    <a:bodyPr/>
                    <a:lstStyle/>
                    <a:p>
                      <a:pPr algn="just" fontAlgn="t"/>
                      <a:r>
                        <a:rPr lang="en-US" sz="1800" dirty="0">
                          <a:solidFill>
                            <a:schemeClr val="tx1"/>
                          </a:solidFill>
                          <a:effectLst/>
                        </a:rPr>
                        <a:t>Small amount of data</a:t>
                      </a:r>
                      <a:endParaRPr lang="en-US" sz="1800" dirty="0">
                        <a:solidFill>
                          <a:schemeClr val="tx1"/>
                        </a:solidFill>
                        <a:effectLst/>
                        <a:latin typeface="inter-regular"/>
                      </a:endParaRPr>
                    </a:p>
                  </a:txBody>
                  <a:tcPr marL="60268" marR="60268" marT="60268" marB="60268"/>
                </a:tc>
                <a:tc>
                  <a:txBody>
                    <a:bodyPr/>
                    <a:lstStyle/>
                    <a:p>
                      <a:pPr algn="just" fontAlgn="t"/>
                      <a:r>
                        <a:rPr lang="en-US" sz="1800" dirty="0">
                          <a:solidFill>
                            <a:schemeClr val="tx1"/>
                          </a:solidFill>
                          <a:effectLst/>
                        </a:rPr>
                        <a:t>Huge data</a:t>
                      </a:r>
                      <a:endParaRPr lang="en-US" sz="1800" dirty="0">
                        <a:solidFill>
                          <a:schemeClr val="tx1"/>
                        </a:solidFill>
                        <a:effectLst/>
                        <a:latin typeface="inter-regular"/>
                      </a:endParaRPr>
                    </a:p>
                  </a:txBody>
                  <a:tcPr marL="60268" marR="60268" marT="60268" marB="60268"/>
                </a:tc>
                <a:extLst>
                  <a:ext uri="{0D108BD9-81ED-4DB2-BD59-A6C34878D82A}">
                    <a16:rowId xmlns:a16="http://schemas.microsoft.com/office/drawing/2014/main" val="1143995186"/>
                  </a:ext>
                </a:extLst>
              </a:tr>
              <a:tr h="1388439">
                <a:tc>
                  <a:txBody>
                    <a:bodyPr/>
                    <a:lstStyle/>
                    <a:p>
                      <a:pPr marL="0" algn="just" defTabSz="914400" rtl="0" eaLnBrk="1" fontAlgn="t" latinLnBrk="0" hangingPunct="1"/>
                      <a:r>
                        <a:rPr lang="en-US" sz="2200" b="1" kern="1200" dirty="0">
                          <a:solidFill>
                            <a:schemeClr val="tx1"/>
                          </a:solidFill>
                          <a:effectLst/>
                          <a:latin typeface="+mn-lt"/>
                          <a:ea typeface="+mn-ea"/>
                          <a:cs typeface="+mn-cs"/>
                        </a:rPr>
                        <a:t>Transformation-Time</a:t>
                      </a:r>
                    </a:p>
                  </a:txBody>
                  <a:tcPr marL="59771" marR="59771" marT="59771" marB="59771"/>
                </a:tc>
                <a:tc>
                  <a:txBody>
                    <a:bodyPr/>
                    <a:lstStyle/>
                    <a:p>
                      <a:pPr marL="0" algn="just" defTabSz="914400" rtl="0" eaLnBrk="1" fontAlgn="t" latinLnBrk="0" hangingPunct="1"/>
                      <a:r>
                        <a:rPr lang="en-US" sz="1800" kern="1200" dirty="0">
                          <a:solidFill>
                            <a:schemeClr val="tx1"/>
                          </a:solidFill>
                          <a:effectLst/>
                          <a:latin typeface="+mn-lt"/>
                          <a:ea typeface="+mn-ea"/>
                          <a:cs typeface="+mn-cs"/>
                        </a:rPr>
                        <a:t>Needs time for transformation completion.</a:t>
                      </a:r>
                    </a:p>
                  </a:txBody>
                  <a:tcPr marL="59771" marR="59771" marT="59771" marB="59771"/>
                </a:tc>
                <a:tc>
                  <a:txBody>
                    <a:bodyPr/>
                    <a:lstStyle/>
                    <a:p>
                      <a:pPr marL="0" algn="just" defTabSz="914400" rtl="0" eaLnBrk="1" fontAlgn="t" latinLnBrk="0" hangingPunct="1"/>
                      <a:r>
                        <a:rPr lang="en-US" sz="1800" kern="1200" dirty="0">
                          <a:solidFill>
                            <a:schemeClr val="tx1"/>
                          </a:solidFill>
                          <a:effectLst/>
                          <a:latin typeface="+mn-lt"/>
                          <a:ea typeface="+mn-ea"/>
                          <a:cs typeface="+mn-cs"/>
                        </a:rPr>
                        <a:t>Speed never depends on the size of the data</a:t>
                      </a:r>
                    </a:p>
                  </a:txBody>
                  <a:tcPr marL="59771" marR="59771" marT="59771" marB="59771"/>
                </a:tc>
                <a:extLst>
                  <a:ext uri="{0D108BD9-81ED-4DB2-BD59-A6C34878D82A}">
                    <a16:rowId xmlns:a16="http://schemas.microsoft.com/office/drawing/2014/main" val="3439935176"/>
                  </a:ext>
                </a:extLst>
              </a:tr>
            </a:tbl>
          </a:graphicData>
        </a:graphic>
      </p:graphicFrame>
      <p:sp>
        <p:nvSpPr>
          <p:cNvPr id="3" name="Footer Placeholder 2">
            <a:extLst>
              <a:ext uri="{FF2B5EF4-FFF2-40B4-BE49-F238E27FC236}">
                <a16:creationId xmlns:a16="http://schemas.microsoft.com/office/drawing/2014/main" id="{44472DF7-20EF-DA4F-A675-1618D4990B7C}"/>
              </a:ext>
            </a:extLst>
          </p:cNvPr>
          <p:cNvSpPr>
            <a:spLocks noGrp="1"/>
          </p:cNvSpPr>
          <p:nvPr>
            <p:ph type="ftr" sz="quarter" idx="10"/>
          </p:nvPr>
        </p:nvSpPr>
        <p:spPr/>
        <p:txBody>
          <a:bodyPr/>
          <a:lstStyle/>
          <a:p>
            <a:r>
              <a:rPr lang="en-US" altLang="en-US"/>
              <a:t>Or Peretz</a:t>
            </a:r>
          </a:p>
        </p:txBody>
      </p:sp>
    </p:spTree>
    <p:extLst>
      <p:ext uri="{BB962C8B-B14F-4D97-AF65-F5344CB8AC3E}">
        <p14:creationId xmlns:p14="http://schemas.microsoft.com/office/powerpoint/2010/main" val="196143624"/>
      </p:ext>
    </p:extLst>
  </p:cSld>
  <p:clrMapOvr>
    <a:masterClrMapping/>
  </p:clrMapOvr>
  <p:transition>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a:extLst>
              <a:ext uri="{FF2B5EF4-FFF2-40B4-BE49-F238E27FC236}">
                <a16:creationId xmlns:a16="http://schemas.microsoft.com/office/drawing/2014/main" id="{56A64BC9-D68C-734E-9334-8FC25ACE397D}"/>
              </a:ext>
            </a:extLst>
          </p:cNvPr>
          <p:cNvSpPr>
            <a:spLocks noGrp="1" noChangeArrowheads="1"/>
          </p:cNvSpPr>
          <p:nvPr>
            <p:ph type="title"/>
          </p:nvPr>
        </p:nvSpPr>
        <p:spPr>
          <a:xfrm>
            <a:off x="1921932" y="0"/>
            <a:ext cx="8458200" cy="914400"/>
          </a:xfrm>
          <a:noFill/>
        </p:spPr>
        <p:txBody>
          <a:bodyPr vert="horz" lIns="92075" tIns="46038" rIns="92075" bIns="46038" rtlCol="0" anchor="b">
            <a:normAutofit/>
          </a:bodyPr>
          <a:lstStyle/>
          <a:p>
            <a:pPr algn="ctr"/>
            <a:r>
              <a:rPr lang="en-US" altLang="en-GB" sz="3200" b="1" dirty="0">
                <a:latin typeface="+mn-lt"/>
              </a:rPr>
              <a:t>Differences between ETL and ELT</a:t>
            </a:r>
          </a:p>
        </p:txBody>
      </p:sp>
      <p:graphicFrame>
        <p:nvGraphicFramePr>
          <p:cNvPr id="3" name="Table 2">
            <a:extLst>
              <a:ext uri="{FF2B5EF4-FFF2-40B4-BE49-F238E27FC236}">
                <a16:creationId xmlns:a16="http://schemas.microsoft.com/office/drawing/2014/main" id="{D7378845-EE14-1744-9617-4FFB7CA41A4C}"/>
              </a:ext>
            </a:extLst>
          </p:cNvPr>
          <p:cNvGraphicFramePr>
            <a:graphicFrameLocks noGrp="1"/>
          </p:cNvGraphicFramePr>
          <p:nvPr>
            <p:extLst>
              <p:ext uri="{D42A27DB-BD31-4B8C-83A1-F6EECF244321}">
                <p14:modId xmlns:p14="http://schemas.microsoft.com/office/powerpoint/2010/main" val="3325110158"/>
              </p:ext>
            </p:extLst>
          </p:nvPr>
        </p:nvGraphicFramePr>
        <p:xfrm>
          <a:off x="423331" y="1143000"/>
          <a:ext cx="11142135" cy="4461933"/>
        </p:xfrm>
        <a:graphic>
          <a:graphicData uri="http://schemas.openxmlformats.org/drawingml/2006/table">
            <a:tbl>
              <a:tblPr>
                <a:tableStyleId>{2D5ABB26-0587-4C30-8999-92F81FD0307C}</a:tableStyleId>
              </a:tblPr>
              <a:tblGrid>
                <a:gridCol w="2582336">
                  <a:extLst>
                    <a:ext uri="{9D8B030D-6E8A-4147-A177-3AD203B41FA5}">
                      <a16:colId xmlns:a16="http://schemas.microsoft.com/office/drawing/2014/main" val="2006849504"/>
                    </a:ext>
                  </a:extLst>
                </a:gridCol>
                <a:gridCol w="4148666">
                  <a:extLst>
                    <a:ext uri="{9D8B030D-6E8A-4147-A177-3AD203B41FA5}">
                      <a16:colId xmlns:a16="http://schemas.microsoft.com/office/drawing/2014/main" val="2607365705"/>
                    </a:ext>
                  </a:extLst>
                </a:gridCol>
                <a:gridCol w="4411133">
                  <a:extLst>
                    <a:ext uri="{9D8B030D-6E8A-4147-A177-3AD203B41FA5}">
                      <a16:colId xmlns:a16="http://schemas.microsoft.com/office/drawing/2014/main" val="750193291"/>
                    </a:ext>
                  </a:extLst>
                </a:gridCol>
              </a:tblGrid>
              <a:tr h="819723">
                <a:tc>
                  <a:txBody>
                    <a:bodyPr/>
                    <a:lstStyle/>
                    <a:p>
                      <a:pPr algn="ctr" fontAlgn="t"/>
                      <a:r>
                        <a:rPr lang="en-US" sz="2200" b="1" u="sng" kern="1200" dirty="0">
                          <a:solidFill>
                            <a:schemeClr val="tx1"/>
                          </a:solidFill>
                          <a:effectLst/>
                          <a:latin typeface="+mn-lt"/>
                          <a:ea typeface="+mn-ea"/>
                          <a:cs typeface="+mn-cs"/>
                        </a:rPr>
                        <a:t>Parameter</a:t>
                      </a:r>
                    </a:p>
                  </a:txBody>
                  <a:tcPr marL="90402" marR="90402" marT="90402" marB="90402"/>
                </a:tc>
                <a:tc>
                  <a:txBody>
                    <a:bodyPr/>
                    <a:lstStyle/>
                    <a:p>
                      <a:pPr algn="ctr" fontAlgn="t"/>
                      <a:r>
                        <a:rPr lang="en-US" sz="2200" b="1" u="sng" kern="1200" dirty="0">
                          <a:solidFill>
                            <a:schemeClr val="tx1"/>
                          </a:solidFill>
                          <a:effectLst/>
                          <a:latin typeface="+mn-lt"/>
                          <a:ea typeface="+mn-ea"/>
                          <a:cs typeface="+mn-cs"/>
                        </a:rPr>
                        <a:t>ETL</a:t>
                      </a:r>
                    </a:p>
                  </a:txBody>
                  <a:tcPr marL="90402" marR="90402" marT="90402" marB="90402"/>
                </a:tc>
                <a:tc>
                  <a:txBody>
                    <a:bodyPr/>
                    <a:lstStyle/>
                    <a:p>
                      <a:pPr algn="ctr" fontAlgn="t"/>
                      <a:r>
                        <a:rPr lang="en-US" sz="2200" b="1" u="sng" kern="1200" dirty="0">
                          <a:solidFill>
                            <a:schemeClr val="tx1"/>
                          </a:solidFill>
                          <a:effectLst/>
                          <a:latin typeface="+mn-lt"/>
                          <a:ea typeface="+mn-ea"/>
                          <a:cs typeface="+mn-cs"/>
                        </a:rPr>
                        <a:t>ELT</a:t>
                      </a:r>
                    </a:p>
                  </a:txBody>
                  <a:tcPr marL="90402" marR="90402" marT="90402" marB="90402"/>
                </a:tc>
                <a:extLst>
                  <a:ext uri="{0D108BD9-81ED-4DB2-BD59-A6C34878D82A}">
                    <a16:rowId xmlns:a16="http://schemas.microsoft.com/office/drawing/2014/main" val="2083037012"/>
                  </a:ext>
                </a:extLst>
              </a:tr>
              <a:tr h="1285224">
                <a:tc>
                  <a:txBody>
                    <a:bodyPr/>
                    <a:lstStyle/>
                    <a:p>
                      <a:pPr marL="0" algn="just" defTabSz="914400" rtl="0" eaLnBrk="1" fontAlgn="t" latinLnBrk="0" hangingPunct="1"/>
                      <a:r>
                        <a:rPr lang="en-US" sz="2200" b="1" kern="1200" dirty="0">
                          <a:solidFill>
                            <a:schemeClr val="tx1"/>
                          </a:solidFill>
                          <a:effectLst/>
                          <a:latin typeface="+mn-lt"/>
                          <a:ea typeface="+mn-ea"/>
                          <a:cs typeface="+mn-cs"/>
                        </a:rPr>
                        <a:t>Maintenance-Time</a:t>
                      </a:r>
                    </a:p>
                  </a:txBody>
                  <a:tcPr marL="59771" marR="59771" marT="59771" marB="59771"/>
                </a:tc>
                <a:tc>
                  <a:txBody>
                    <a:bodyPr/>
                    <a:lstStyle/>
                    <a:p>
                      <a:pPr marL="0" algn="just" defTabSz="914400" rtl="0" eaLnBrk="1" fontAlgn="t" latinLnBrk="0" hangingPunct="1"/>
                      <a:r>
                        <a:rPr lang="en-US" sz="1800" kern="1200" dirty="0">
                          <a:solidFill>
                            <a:schemeClr val="tx1"/>
                          </a:solidFill>
                          <a:effectLst/>
                          <a:latin typeface="+mn-lt"/>
                          <a:ea typeface="+mn-ea"/>
                          <a:cs typeface="+mn-cs"/>
                        </a:rPr>
                        <a:t>High maintenance - select the data to load and transform</a:t>
                      </a:r>
                    </a:p>
                  </a:txBody>
                  <a:tcPr marL="59771" marR="59771" marT="59771" marB="59771"/>
                </a:tc>
                <a:tc>
                  <a:txBody>
                    <a:bodyPr/>
                    <a:lstStyle/>
                    <a:p>
                      <a:pPr marL="0" algn="just" defTabSz="914400" rtl="0" eaLnBrk="1" fontAlgn="t" latinLnBrk="0" hangingPunct="1"/>
                      <a:r>
                        <a:rPr lang="en-US" sz="1800" kern="1200" dirty="0">
                          <a:solidFill>
                            <a:schemeClr val="tx1"/>
                          </a:solidFill>
                          <a:effectLst/>
                          <a:latin typeface="+mn-lt"/>
                          <a:ea typeface="+mn-ea"/>
                          <a:cs typeface="+mn-cs"/>
                        </a:rPr>
                        <a:t>Low maintenance - the data is available all the time</a:t>
                      </a:r>
                    </a:p>
                  </a:txBody>
                  <a:tcPr marL="59771" marR="59771" marT="59771" marB="59771"/>
                </a:tc>
                <a:extLst>
                  <a:ext uri="{0D108BD9-81ED-4DB2-BD59-A6C34878D82A}">
                    <a16:rowId xmlns:a16="http://schemas.microsoft.com/office/drawing/2014/main" val="711107846"/>
                  </a:ext>
                </a:extLst>
              </a:tr>
              <a:tr h="1437187">
                <a:tc>
                  <a:txBody>
                    <a:bodyPr/>
                    <a:lstStyle/>
                    <a:p>
                      <a:pPr marL="0" algn="just" defTabSz="914400" rtl="0" eaLnBrk="1" fontAlgn="t" latinLnBrk="0" hangingPunct="1"/>
                      <a:r>
                        <a:rPr lang="en-US" sz="2200" b="1" kern="1200" dirty="0">
                          <a:solidFill>
                            <a:schemeClr val="tx1"/>
                          </a:solidFill>
                          <a:effectLst/>
                          <a:latin typeface="+mn-lt"/>
                          <a:ea typeface="+mn-ea"/>
                          <a:cs typeface="+mn-cs"/>
                        </a:rPr>
                        <a:t>Implementation Complexity</a:t>
                      </a:r>
                    </a:p>
                  </a:txBody>
                  <a:tcPr marL="59771" marR="59771" marT="59771" marB="59771"/>
                </a:tc>
                <a:tc>
                  <a:txBody>
                    <a:bodyPr/>
                    <a:lstStyle/>
                    <a:p>
                      <a:pPr marL="0" algn="just" defTabSz="914400" rtl="0" eaLnBrk="1" fontAlgn="t" latinLnBrk="0" hangingPunct="1"/>
                      <a:r>
                        <a:rPr lang="en-US" sz="1800" kern="1200" dirty="0">
                          <a:solidFill>
                            <a:schemeClr val="tx1"/>
                          </a:solidFill>
                          <a:effectLst/>
                          <a:latin typeface="+mn-lt"/>
                          <a:ea typeface="+mn-ea"/>
                          <a:cs typeface="+mn-cs"/>
                        </a:rPr>
                        <a:t>Easier to implement it at an early stage</a:t>
                      </a:r>
                    </a:p>
                  </a:txBody>
                  <a:tcPr marL="59771" marR="59771" marT="59771" marB="59771"/>
                </a:tc>
                <a:tc>
                  <a:txBody>
                    <a:bodyPr/>
                    <a:lstStyle/>
                    <a:p>
                      <a:pPr marL="0" algn="just" defTabSz="914400" rtl="0" eaLnBrk="1" fontAlgn="t" latinLnBrk="0" hangingPunct="1"/>
                      <a:r>
                        <a:rPr lang="en-US" sz="1800" kern="1200" dirty="0">
                          <a:solidFill>
                            <a:schemeClr val="tx1"/>
                          </a:solidFill>
                          <a:effectLst/>
                          <a:latin typeface="+mn-lt"/>
                          <a:ea typeface="+mn-ea"/>
                          <a:cs typeface="+mn-cs"/>
                        </a:rPr>
                        <a:t>To implement the ELT process organization should have in-depth knowledge of expert skills and tools</a:t>
                      </a:r>
                    </a:p>
                  </a:txBody>
                  <a:tcPr marL="59771" marR="59771" marT="59771" marB="59771"/>
                </a:tc>
                <a:extLst>
                  <a:ext uri="{0D108BD9-81ED-4DB2-BD59-A6C34878D82A}">
                    <a16:rowId xmlns:a16="http://schemas.microsoft.com/office/drawing/2014/main" val="3932432064"/>
                  </a:ext>
                </a:extLst>
              </a:tr>
              <a:tr h="919799">
                <a:tc>
                  <a:txBody>
                    <a:bodyPr/>
                    <a:lstStyle/>
                    <a:p>
                      <a:pPr marL="0" algn="just" defTabSz="914400" rtl="0" eaLnBrk="1" fontAlgn="t" latinLnBrk="0" hangingPunct="1"/>
                      <a:r>
                        <a:rPr lang="en-US" sz="2200" b="1" kern="1200" dirty="0">
                          <a:solidFill>
                            <a:schemeClr val="tx1"/>
                          </a:solidFill>
                          <a:effectLst/>
                          <a:latin typeface="+mn-lt"/>
                          <a:ea typeface="+mn-ea"/>
                          <a:cs typeface="+mn-cs"/>
                        </a:rPr>
                        <a:t>Cost</a:t>
                      </a:r>
                    </a:p>
                  </a:txBody>
                  <a:tcPr marL="36751" marR="36751" marT="36751" marB="36751"/>
                </a:tc>
                <a:tc>
                  <a:txBody>
                    <a:bodyPr/>
                    <a:lstStyle/>
                    <a:p>
                      <a:pPr marL="0" algn="just" defTabSz="914400" rtl="0" eaLnBrk="1" fontAlgn="t" latinLnBrk="0" hangingPunct="1"/>
                      <a:r>
                        <a:rPr lang="en-US" sz="1800" kern="1200" dirty="0">
                          <a:solidFill>
                            <a:schemeClr val="tx1"/>
                          </a:solidFill>
                          <a:effectLst/>
                          <a:latin typeface="+mn-lt"/>
                          <a:ea typeface="+mn-ea"/>
                          <a:cs typeface="+mn-cs"/>
                        </a:rPr>
                        <a:t>High for small and medium business</a:t>
                      </a:r>
                    </a:p>
                  </a:txBody>
                  <a:tcPr marL="36751" marR="36751" marT="36751" marB="36751"/>
                </a:tc>
                <a:tc>
                  <a:txBody>
                    <a:bodyPr/>
                    <a:lstStyle/>
                    <a:p>
                      <a:pPr marL="0" algn="just" defTabSz="914400" rtl="0" eaLnBrk="1" fontAlgn="t" latinLnBrk="0" hangingPunct="1"/>
                      <a:r>
                        <a:rPr lang="en-US" sz="1800" kern="1200" dirty="0">
                          <a:solidFill>
                            <a:schemeClr val="tx1"/>
                          </a:solidFill>
                          <a:effectLst/>
                          <a:latin typeface="+mn-lt"/>
                          <a:ea typeface="+mn-ea"/>
                          <a:cs typeface="+mn-cs"/>
                        </a:rPr>
                        <a:t>Low entry costs using SaaS</a:t>
                      </a:r>
                    </a:p>
                  </a:txBody>
                  <a:tcPr marL="36751" marR="36751" marT="36751" marB="36751"/>
                </a:tc>
                <a:extLst>
                  <a:ext uri="{0D108BD9-81ED-4DB2-BD59-A6C34878D82A}">
                    <a16:rowId xmlns:a16="http://schemas.microsoft.com/office/drawing/2014/main" val="3534945873"/>
                  </a:ext>
                </a:extLst>
              </a:tr>
            </a:tbl>
          </a:graphicData>
        </a:graphic>
      </p:graphicFrame>
      <p:sp>
        <p:nvSpPr>
          <p:cNvPr id="2" name="Footer Placeholder 1">
            <a:extLst>
              <a:ext uri="{FF2B5EF4-FFF2-40B4-BE49-F238E27FC236}">
                <a16:creationId xmlns:a16="http://schemas.microsoft.com/office/drawing/2014/main" id="{F38D28B6-67B2-534F-AE24-C9CD08CDE3A6}"/>
              </a:ext>
            </a:extLst>
          </p:cNvPr>
          <p:cNvSpPr>
            <a:spLocks noGrp="1"/>
          </p:cNvSpPr>
          <p:nvPr>
            <p:ph type="ftr" sz="quarter" idx="10"/>
          </p:nvPr>
        </p:nvSpPr>
        <p:spPr/>
        <p:txBody>
          <a:bodyPr/>
          <a:lstStyle/>
          <a:p>
            <a:r>
              <a:rPr lang="en-US" altLang="en-US"/>
              <a:t>Or Peretz</a:t>
            </a:r>
          </a:p>
        </p:txBody>
      </p:sp>
    </p:spTree>
    <p:extLst>
      <p:ext uri="{BB962C8B-B14F-4D97-AF65-F5344CB8AC3E}">
        <p14:creationId xmlns:p14="http://schemas.microsoft.com/office/powerpoint/2010/main" val="441092694"/>
      </p:ext>
    </p:extLst>
  </p:cSld>
  <p:clrMapOvr>
    <a:masterClrMapping/>
  </p:clrMapOvr>
  <p:transition>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a:extLst>
              <a:ext uri="{FF2B5EF4-FFF2-40B4-BE49-F238E27FC236}">
                <a16:creationId xmlns:a16="http://schemas.microsoft.com/office/drawing/2014/main" id="{56A64BC9-D68C-734E-9334-8FC25ACE397D}"/>
              </a:ext>
            </a:extLst>
          </p:cNvPr>
          <p:cNvSpPr>
            <a:spLocks noGrp="1" noChangeArrowheads="1"/>
          </p:cNvSpPr>
          <p:nvPr>
            <p:ph type="title"/>
          </p:nvPr>
        </p:nvSpPr>
        <p:spPr>
          <a:xfrm>
            <a:off x="1921932" y="0"/>
            <a:ext cx="8458200" cy="914400"/>
          </a:xfrm>
          <a:noFill/>
        </p:spPr>
        <p:txBody>
          <a:bodyPr vert="horz" lIns="92075" tIns="46038" rIns="92075" bIns="46038" rtlCol="0" anchor="b">
            <a:normAutofit/>
          </a:bodyPr>
          <a:lstStyle/>
          <a:p>
            <a:pPr algn="ctr"/>
            <a:r>
              <a:rPr lang="en-US" altLang="en-GB" sz="3200" b="1" dirty="0">
                <a:latin typeface="+mn-lt"/>
              </a:rPr>
              <a:t>Differences between ETL and ELT</a:t>
            </a:r>
          </a:p>
        </p:txBody>
      </p:sp>
      <p:graphicFrame>
        <p:nvGraphicFramePr>
          <p:cNvPr id="2" name="Table 1">
            <a:extLst>
              <a:ext uri="{FF2B5EF4-FFF2-40B4-BE49-F238E27FC236}">
                <a16:creationId xmlns:a16="http://schemas.microsoft.com/office/drawing/2014/main" id="{9DDAC933-52CF-834B-BDA4-95D140CEF99F}"/>
              </a:ext>
            </a:extLst>
          </p:cNvPr>
          <p:cNvGraphicFramePr>
            <a:graphicFrameLocks noGrp="1"/>
          </p:cNvGraphicFramePr>
          <p:nvPr>
            <p:extLst>
              <p:ext uri="{D42A27DB-BD31-4B8C-83A1-F6EECF244321}">
                <p14:modId xmlns:p14="http://schemas.microsoft.com/office/powerpoint/2010/main" val="3073598984"/>
              </p:ext>
            </p:extLst>
          </p:nvPr>
        </p:nvGraphicFramePr>
        <p:xfrm>
          <a:off x="567267" y="1143001"/>
          <a:ext cx="10905066" cy="4284500"/>
        </p:xfrm>
        <a:graphic>
          <a:graphicData uri="http://schemas.openxmlformats.org/drawingml/2006/table">
            <a:tbl>
              <a:tblPr>
                <a:tableStyleId>{2D5ABB26-0587-4C30-8999-92F81FD0307C}</a:tableStyleId>
              </a:tblPr>
              <a:tblGrid>
                <a:gridCol w="2133600">
                  <a:extLst>
                    <a:ext uri="{9D8B030D-6E8A-4147-A177-3AD203B41FA5}">
                      <a16:colId xmlns:a16="http://schemas.microsoft.com/office/drawing/2014/main" val="3673225414"/>
                    </a:ext>
                  </a:extLst>
                </a:gridCol>
                <a:gridCol w="4512733">
                  <a:extLst>
                    <a:ext uri="{9D8B030D-6E8A-4147-A177-3AD203B41FA5}">
                      <a16:colId xmlns:a16="http://schemas.microsoft.com/office/drawing/2014/main" val="549345251"/>
                    </a:ext>
                  </a:extLst>
                </a:gridCol>
                <a:gridCol w="4258733">
                  <a:extLst>
                    <a:ext uri="{9D8B030D-6E8A-4147-A177-3AD203B41FA5}">
                      <a16:colId xmlns:a16="http://schemas.microsoft.com/office/drawing/2014/main" val="2541936620"/>
                    </a:ext>
                  </a:extLst>
                </a:gridCol>
              </a:tblGrid>
              <a:tr h="634999">
                <a:tc>
                  <a:txBody>
                    <a:bodyPr/>
                    <a:lstStyle/>
                    <a:p>
                      <a:pPr algn="ctr" fontAlgn="t"/>
                      <a:r>
                        <a:rPr lang="en-US" sz="2200" b="1" u="sng" kern="1200" dirty="0">
                          <a:solidFill>
                            <a:schemeClr val="tx1"/>
                          </a:solidFill>
                          <a:effectLst/>
                          <a:latin typeface="+mn-lt"/>
                          <a:ea typeface="+mn-ea"/>
                          <a:cs typeface="+mn-cs"/>
                        </a:rPr>
                        <a:t>Parameter</a:t>
                      </a:r>
                    </a:p>
                  </a:txBody>
                  <a:tcPr marL="90402" marR="90402" marT="90402" marB="90402"/>
                </a:tc>
                <a:tc>
                  <a:txBody>
                    <a:bodyPr/>
                    <a:lstStyle/>
                    <a:p>
                      <a:pPr algn="ctr" fontAlgn="t"/>
                      <a:r>
                        <a:rPr lang="en-US" sz="2200" b="1" u="sng" kern="1200" dirty="0">
                          <a:solidFill>
                            <a:schemeClr val="tx1"/>
                          </a:solidFill>
                          <a:effectLst/>
                          <a:latin typeface="+mn-lt"/>
                          <a:ea typeface="+mn-ea"/>
                          <a:cs typeface="+mn-cs"/>
                        </a:rPr>
                        <a:t>ETL</a:t>
                      </a:r>
                    </a:p>
                  </a:txBody>
                  <a:tcPr marL="90402" marR="90402" marT="90402" marB="90402"/>
                </a:tc>
                <a:tc>
                  <a:txBody>
                    <a:bodyPr/>
                    <a:lstStyle/>
                    <a:p>
                      <a:pPr algn="ctr" fontAlgn="t"/>
                      <a:r>
                        <a:rPr lang="en-US" sz="2200" b="1" u="sng" kern="1200" dirty="0">
                          <a:solidFill>
                            <a:schemeClr val="tx1"/>
                          </a:solidFill>
                          <a:effectLst/>
                          <a:latin typeface="+mn-lt"/>
                          <a:ea typeface="+mn-ea"/>
                          <a:cs typeface="+mn-cs"/>
                        </a:rPr>
                        <a:t>ELT</a:t>
                      </a:r>
                    </a:p>
                  </a:txBody>
                  <a:tcPr marL="90402" marR="90402" marT="90402" marB="90402"/>
                </a:tc>
                <a:extLst>
                  <a:ext uri="{0D108BD9-81ED-4DB2-BD59-A6C34878D82A}">
                    <a16:rowId xmlns:a16="http://schemas.microsoft.com/office/drawing/2014/main" val="792465439"/>
                  </a:ext>
                </a:extLst>
              </a:tr>
              <a:tr h="1030531">
                <a:tc>
                  <a:txBody>
                    <a:bodyPr/>
                    <a:lstStyle/>
                    <a:p>
                      <a:pPr algn="just" fontAlgn="t"/>
                      <a:r>
                        <a:rPr lang="en-US" sz="2200" b="1" kern="1200" dirty="0">
                          <a:solidFill>
                            <a:schemeClr val="tx1"/>
                          </a:solidFill>
                          <a:effectLst/>
                          <a:latin typeface="+mn-lt"/>
                          <a:ea typeface="+mn-ea"/>
                          <a:cs typeface="+mn-cs"/>
                        </a:rPr>
                        <a:t>Complexity</a:t>
                      </a:r>
                    </a:p>
                  </a:txBody>
                  <a:tcPr marL="36751" marR="36751" marT="36751" marB="36751"/>
                </a:tc>
                <a:tc>
                  <a:txBody>
                    <a:bodyPr/>
                    <a:lstStyle/>
                    <a:p>
                      <a:pPr algn="just" fontAlgn="t"/>
                      <a:r>
                        <a:rPr lang="en-US" sz="1800" kern="1200" dirty="0">
                          <a:solidFill>
                            <a:schemeClr val="tx1"/>
                          </a:solidFill>
                          <a:effectLst/>
                          <a:latin typeface="+mn-lt"/>
                          <a:ea typeface="+mn-ea"/>
                          <a:cs typeface="+mn-cs"/>
                        </a:rPr>
                        <a:t>Loads only the essential data, which is identified at design time</a:t>
                      </a:r>
                    </a:p>
                  </a:txBody>
                  <a:tcPr marL="36751" marR="36751" marT="36751" marB="36751"/>
                </a:tc>
                <a:tc>
                  <a:txBody>
                    <a:bodyPr/>
                    <a:lstStyle/>
                    <a:p>
                      <a:pPr algn="just" fontAlgn="t"/>
                      <a:r>
                        <a:rPr lang="en-US" sz="1800" kern="1200" dirty="0">
                          <a:solidFill>
                            <a:schemeClr val="tx1"/>
                          </a:solidFill>
                          <a:effectLst/>
                          <a:latin typeface="+mn-lt"/>
                          <a:ea typeface="+mn-ea"/>
                          <a:cs typeface="+mn-cs"/>
                        </a:rPr>
                        <a:t>Online backward and loading only relevant data </a:t>
                      </a:r>
                    </a:p>
                  </a:txBody>
                  <a:tcPr marL="36751" marR="36751" marT="36751" marB="36751"/>
                </a:tc>
                <a:extLst>
                  <a:ext uri="{0D108BD9-81ED-4DB2-BD59-A6C34878D82A}">
                    <a16:rowId xmlns:a16="http://schemas.microsoft.com/office/drawing/2014/main" val="515066859"/>
                  </a:ext>
                </a:extLst>
              </a:tr>
              <a:tr h="844377">
                <a:tc>
                  <a:txBody>
                    <a:bodyPr/>
                    <a:lstStyle/>
                    <a:p>
                      <a:pPr algn="just" fontAlgn="t"/>
                      <a:r>
                        <a:rPr lang="en-US" sz="2200" b="1" kern="1200" dirty="0" err="1">
                          <a:solidFill>
                            <a:schemeClr val="tx1"/>
                          </a:solidFill>
                          <a:effectLst/>
                          <a:latin typeface="+mn-lt"/>
                          <a:ea typeface="+mn-ea"/>
                          <a:cs typeface="+mn-cs"/>
                        </a:rPr>
                        <a:t>LookUps</a:t>
                      </a:r>
                      <a:endParaRPr lang="en-US" sz="2200" b="1" kern="1200" dirty="0">
                        <a:solidFill>
                          <a:schemeClr val="tx1"/>
                        </a:solidFill>
                        <a:effectLst/>
                        <a:latin typeface="+mn-lt"/>
                        <a:ea typeface="+mn-ea"/>
                        <a:cs typeface="+mn-cs"/>
                      </a:endParaRPr>
                    </a:p>
                  </a:txBody>
                  <a:tcPr marL="36751" marR="36751" marT="36751" marB="36751"/>
                </a:tc>
                <a:tc>
                  <a:txBody>
                    <a:bodyPr/>
                    <a:lstStyle/>
                    <a:p>
                      <a:pPr algn="just" fontAlgn="t"/>
                      <a:r>
                        <a:rPr lang="en-US" sz="1800" kern="1200" dirty="0">
                          <a:solidFill>
                            <a:schemeClr val="tx1"/>
                          </a:solidFill>
                          <a:effectLst/>
                          <a:latin typeface="+mn-lt"/>
                          <a:ea typeface="+mn-ea"/>
                          <a:cs typeface="+mn-cs"/>
                        </a:rPr>
                        <a:t>Dimension and facts need to be available in the staging area</a:t>
                      </a:r>
                    </a:p>
                  </a:txBody>
                  <a:tcPr marL="36751" marR="36751" marT="36751" marB="36751"/>
                </a:tc>
                <a:tc>
                  <a:txBody>
                    <a:bodyPr/>
                    <a:lstStyle/>
                    <a:p>
                      <a:pPr algn="just" fontAlgn="t"/>
                      <a:r>
                        <a:rPr lang="en-US" sz="1800" kern="1200" dirty="0">
                          <a:solidFill>
                            <a:schemeClr val="tx1"/>
                          </a:solidFill>
                          <a:effectLst/>
                          <a:latin typeface="+mn-lt"/>
                          <a:ea typeface="+mn-ea"/>
                          <a:cs typeface="+mn-cs"/>
                        </a:rPr>
                        <a:t>All data will be available because extract and load occur in one single action</a:t>
                      </a:r>
                    </a:p>
                  </a:txBody>
                  <a:tcPr marL="36751" marR="36751" marT="36751" marB="36751"/>
                </a:tc>
                <a:extLst>
                  <a:ext uri="{0D108BD9-81ED-4DB2-BD59-A6C34878D82A}">
                    <a16:rowId xmlns:a16="http://schemas.microsoft.com/office/drawing/2014/main" val="3628595655"/>
                  </a:ext>
                </a:extLst>
              </a:tr>
              <a:tr h="1030531">
                <a:tc>
                  <a:txBody>
                    <a:bodyPr/>
                    <a:lstStyle/>
                    <a:p>
                      <a:pPr algn="just" fontAlgn="t"/>
                      <a:r>
                        <a:rPr lang="en-US" sz="2200" b="1" kern="1200" dirty="0">
                          <a:solidFill>
                            <a:schemeClr val="tx1"/>
                          </a:solidFill>
                          <a:effectLst/>
                          <a:latin typeface="+mn-lt"/>
                          <a:ea typeface="+mn-ea"/>
                          <a:cs typeface="+mn-cs"/>
                        </a:rPr>
                        <a:t>Calculations</a:t>
                      </a:r>
                    </a:p>
                  </a:txBody>
                  <a:tcPr marL="36751" marR="36751" marT="36751" marB="36751"/>
                </a:tc>
                <a:tc>
                  <a:txBody>
                    <a:bodyPr/>
                    <a:lstStyle/>
                    <a:p>
                      <a:pPr algn="just" fontAlgn="t"/>
                      <a:r>
                        <a:rPr lang="en-US" sz="1800" kern="1200" dirty="0">
                          <a:solidFill>
                            <a:schemeClr val="tx1"/>
                          </a:solidFill>
                          <a:effectLst/>
                          <a:latin typeface="+mn-lt"/>
                          <a:ea typeface="+mn-ea"/>
                          <a:cs typeface="+mn-cs"/>
                        </a:rPr>
                        <a:t>Need to override the existing column by update values </a:t>
                      </a:r>
                    </a:p>
                  </a:txBody>
                  <a:tcPr marL="36751" marR="36751" marT="36751" marB="36751"/>
                </a:tc>
                <a:tc>
                  <a:txBody>
                    <a:bodyPr/>
                    <a:lstStyle/>
                    <a:p>
                      <a:pPr algn="just" fontAlgn="t"/>
                      <a:r>
                        <a:rPr lang="en-US" sz="1800" kern="1200" dirty="0">
                          <a:solidFill>
                            <a:schemeClr val="tx1"/>
                          </a:solidFill>
                          <a:effectLst/>
                          <a:latin typeface="+mn-lt"/>
                          <a:ea typeface="+mn-ea"/>
                          <a:cs typeface="+mn-cs"/>
                        </a:rPr>
                        <a:t>Easy to add the column to the existing table</a:t>
                      </a:r>
                    </a:p>
                  </a:txBody>
                  <a:tcPr marL="36751" marR="36751" marT="36751" marB="36751"/>
                </a:tc>
                <a:extLst>
                  <a:ext uri="{0D108BD9-81ED-4DB2-BD59-A6C34878D82A}">
                    <a16:rowId xmlns:a16="http://schemas.microsoft.com/office/drawing/2014/main" val="666788848"/>
                  </a:ext>
                </a:extLst>
              </a:tr>
              <a:tr h="702848">
                <a:tc>
                  <a:txBody>
                    <a:bodyPr/>
                    <a:lstStyle/>
                    <a:p>
                      <a:pPr algn="just" fontAlgn="t"/>
                      <a:r>
                        <a:rPr lang="en-US" sz="2200" b="1" kern="1200" dirty="0">
                          <a:solidFill>
                            <a:schemeClr val="tx1"/>
                          </a:solidFill>
                          <a:effectLst/>
                          <a:latin typeface="+mn-lt"/>
                          <a:ea typeface="+mn-ea"/>
                          <a:cs typeface="+mn-cs"/>
                        </a:rPr>
                        <a:t>Unstructured Data</a:t>
                      </a:r>
                    </a:p>
                  </a:txBody>
                  <a:tcPr marL="36751" marR="36751" marT="36751" marB="36751"/>
                </a:tc>
                <a:tc>
                  <a:txBody>
                    <a:bodyPr/>
                    <a:lstStyle/>
                    <a:p>
                      <a:pPr algn="just" fontAlgn="t"/>
                      <a:r>
                        <a:rPr lang="en-US" sz="1800" kern="1200" dirty="0">
                          <a:solidFill>
                            <a:schemeClr val="tx1"/>
                          </a:solidFill>
                          <a:effectLst/>
                          <a:latin typeface="+mn-lt"/>
                          <a:ea typeface="+mn-ea"/>
                          <a:cs typeface="+mn-cs"/>
                        </a:rPr>
                        <a:t>Supports relational data</a:t>
                      </a:r>
                    </a:p>
                  </a:txBody>
                  <a:tcPr marL="36751" marR="36751" marT="36751" marB="36751"/>
                </a:tc>
                <a:tc>
                  <a:txBody>
                    <a:bodyPr/>
                    <a:lstStyle/>
                    <a:p>
                      <a:pPr algn="just" fontAlgn="t"/>
                      <a:r>
                        <a:rPr lang="en-US" sz="1800" kern="1200" dirty="0">
                          <a:solidFill>
                            <a:schemeClr val="tx1"/>
                          </a:solidFill>
                          <a:effectLst/>
                          <a:latin typeface="+mn-lt"/>
                          <a:ea typeface="+mn-ea"/>
                          <a:cs typeface="+mn-cs"/>
                        </a:rPr>
                        <a:t>Supports unstructured data</a:t>
                      </a:r>
                    </a:p>
                  </a:txBody>
                  <a:tcPr marL="36751" marR="36751" marT="36751" marB="36751"/>
                </a:tc>
                <a:extLst>
                  <a:ext uri="{0D108BD9-81ED-4DB2-BD59-A6C34878D82A}">
                    <a16:rowId xmlns:a16="http://schemas.microsoft.com/office/drawing/2014/main" val="2907252376"/>
                  </a:ext>
                </a:extLst>
              </a:tr>
            </a:tbl>
          </a:graphicData>
        </a:graphic>
      </p:graphicFrame>
      <p:sp>
        <p:nvSpPr>
          <p:cNvPr id="3" name="Footer Placeholder 2">
            <a:extLst>
              <a:ext uri="{FF2B5EF4-FFF2-40B4-BE49-F238E27FC236}">
                <a16:creationId xmlns:a16="http://schemas.microsoft.com/office/drawing/2014/main" id="{F2B0F4AD-7ACA-E643-AB6C-322925914AB9}"/>
              </a:ext>
            </a:extLst>
          </p:cNvPr>
          <p:cNvSpPr>
            <a:spLocks noGrp="1"/>
          </p:cNvSpPr>
          <p:nvPr>
            <p:ph type="ftr" sz="quarter" idx="10"/>
          </p:nvPr>
        </p:nvSpPr>
        <p:spPr/>
        <p:txBody>
          <a:bodyPr/>
          <a:lstStyle/>
          <a:p>
            <a:r>
              <a:rPr lang="en-US" altLang="en-US"/>
              <a:t>Or Peretz</a:t>
            </a:r>
          </a:p>
        </p:txBody>
      </p:sp>
    </p:spTree>
    <p:extLst>
      <p:ext uri="{BB962C8B-B14F-4D97-AF65-F5344CB8AC3E}">
        <p14:creationId xmlns:p14="http://schemas.microsoft.com/office/powerpoint/2010/main" val="3733097554"/>
      </p:ext>
    </p:extLst>
  </p:cSld>
  <p:clrMapOvr>
    <a:masterClrMapping/>
  </p:clrMapOvr>
  <p:transition>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a:extLst>
              <a:ext uri="{FF2B5EF4-FFF2-40B4-BE49-F238E27FC236}">
                <a16:creationId xmlns:a16="http://schemas.microsoft.com/office/drawing/2014/main" id="{56A64BC9-D68C-734E-9334-8FC25ACE397D}"/>
              </a:ext>
            </a:extLst>
          </p:cNvPr>
          <p:cNvSpPr>
            <a:spLocks noGrp="1" noChangeArrowheads="1"/>
          </p:cNvSpPr>
          <p:nvPr>
            <p:ph type="title"/>
          </p:nvPr>
        </p:nvSpPr>
        <p:spPr>
          <a:xfrm>
            <a:off x="1921932" y="0"/>
            <a:ext cx="8458200" cy="914400"/>
          </a:xfrm>
          <a:noFill/>
        </p:spPr>
        <p:txBody>
          <a:bodyPr vert="horz" lIns="92075" tIns="46038" rIns="92075" bIns="46038" rtlCol="0" anchor="b">
            <a:normAutofit/>
          </a:bodyPr>
          <a:lstStyle/>
          <a:p>
            <a:pPr algn="ctr"/>
            <a:r>
              <a:rPr lang="en-US" altLang="en-GB" sz="3200" b="1" dirty="0">
                <a:latin typeface="+mn-lt"/>
              </a:rPr>
              <a:t>Building an ETL Pipeline – Batch Processing</a:t>
            </a:r>
          </a:p>
        </p:txBody>
      </p:sp>
      <p:sp>
        <p:nvSpPr>
          <p:cNvPr id="2053" name="Rectangle 3">
            <a:extLst>
              <a:ext uri="{FF2B5EF4-FFF2-40B4-BE49-F238E27FC236}">
                <a16:creationId xmlns:a16="http://schemas.microsoft.com/office/drawing/2014/main" id="{E7813529-51E1-3F47-898F-5B9F2EC30F9B}"/>
              </a:ext>
            </a:extLst>
          </p:cNvPr>
          <p:cNvSpPr>
            <a:spLocks noGrp="1" noChangeArrowheads="1"/>
          </p:cNvSpPr>
          <p:nvPr>
            <p:ph type="body" idx="1"/>
          </p:nvPr>
        </p:nvSpPr>
        <p:spPr>
          <a:xfrm>
            <a:off x="304799" y="1143000"/>
            <a:ext cx="11692467" cy="5486400"/>
          </a:xfrm>
          <a:noFill/>
        </p:spPr>
        <p:txBody>
          <a:bodyPr vert="horz" lIns="92075" tIns="46038" rIns="92075" bIns="46038" rtlCol="0">
            <a:normAutofit/>
          </a:bodyPr>
          <a:lstStyle/>
          <a:p>
            <a:pPr marL="0" indent="0">
              <a:buNone/>
            </a:pPr>
            <a:r>
              <a:rPr lang="en-US" dirty="0"/>
              <a:t>Transfer and process the data in batches from the source database to the data warehouse. It is challenging to develop an enterprise ETL Pipeline.</a:t>
            </a:r>
            <a:endParaRPr lang="en-US" sz="2400" dirty="0"/>
          </a:p>
          <a:p>
            <a:pPr marL="0" indent="0">
              <a:buNone/>
            </a:pPr>
            <a:endParaRPr lang="en-US" sz="2400" dirty="0"/>
          </a:p>
        </p:txBody>
      </p:sp>
      <p:pic>
        <p:nvPicPr>
          <p:cNvPr id="96258" name="Picture 2" descr="Batch, Stream, and Micro-batch Processing: A Cheat Sheet | Upsolver">
            <a:extLst>
              <a:ext uri="{FF2B5EF4-FFF2-40B4-BE49-F238E27FC236}">
                <a16:creationId xmlns:a16="http://schemas.microsoft.com/office/drawing/2014/main" id="{C90D6EBD-2414-CA41-AC5D-78AABC05E7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3667" y="2497666"/>
            <a:ext cx="5214730" cy="3331633"/>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1DCFAAE8-7CC8-8B47-B4AB-C1BC28F23ADF}"/>
              </a:ext>
            </a:extLst>
          </p:cNvPr>
          <p:cNvSpPr>
            <a:spLocks noGrp="1"/>
          </p:cNvSpPr>
          <p:nvPr>
            <p:ph type="ftr" sz="quarter" idx="10"/>
          </p:nvPr>
        </p:nvSpPr>
        <p:spPr/>
        <p:txBody>
          <a:bodyPr/>
          <a:lstStyle/>
          <a:p>
            <a:r>
              <a:rPr lang="en-US" altLang="en-US"/>
              <a:t>Or Peretz</a:t>
            </a:r>
          </a:p>
        </p:txBody>
      </p:sp>
    </p:spTree>
    <p:extLst>
      <p:ext uri="{BB962C8B-B14F-4D97-AF65-F5344CB8AC3E}">
        <p14:creationId xmlns:p14="http://schemas.microsoft.com/office/powerpoint/2010/main" val="1284298767"/>
      </p:ext>
    </p:extLst>
  </p:cSld>
  <p:clrMapOvr>
    <a:masterClrMapping/>
  </p:clrMapOvr>
  <p:transition>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a:extLst>
              <a:ext uri="{FF2B5EF4-FFF2-40B4-BE49-F238E27FC236}">
                <a16:creationId xmlns:a16="http://schemas.microsoft.com/office/drawing/2014/main" id="{56A64BC9-D68C-734E-9334-8FC25ACE397D}"/>
              </a:ext>
            </a:extLst>
          </p:cNvPr>
          <p:cNvSpPr>
            <a:spLocks noGrp="1" noChangeArrowheads="1"/>
          </p:cNvSpPr>
          <p:nvPr>
            <p:ph type="title"/>
          </p:nvPr>
        </p:nvSpPr>
        <p:spPr>
          <a:xfrm>
            <a:off x="1921932" y="0"/>
            <a:ext cx="8458200" cy="914400"/>
          </a:xfrm>
          <a:noFill/>
        </p:spPr>
        <p:txBody>
          <a:bodyPr vert="horz" lIns="92075" tIns="46038" rIns="92075" bIns="46038" rtlCol="0" anchor="b">
            <a:normAutofit/>
          </a:bodyPr>
          <a:lstStyle/>
          <a:p>
            <a:pPr algn="ctr"/>
            <a:r>
              <a:rPr lang="en-US" altLang="en-GB" sz="3200" b="1" dirty="0">
                <a:latin typeface="+mn-lt"/>
              </a:rPr>
              <a:t>Building an ETL Pipeline – Batch Processing</a:t>
            </a:r>
          </a:p>
        </p:txBody>
      </p:sp>
      <p:sp>
        <p:nvSpPr>
          <p:cNvPr id="2053" name="Rectangle 3">
            <a:extLst>
              <a:ext uri="{FF2B5EF4-FFF2-40B4-BE49-F238E27FC236}">
                <a16:creationId xmlns:a16="http://schemas.microsoft.com/office/drawing/2014/main" id="{E7813529-51E1-3F47-898F-5B9F2EC30F9B}"/>
              </a:ext>
            </a:extLst>
          </p:cNvPr>
          <p:cNvSpPr>
            <a:spLocks noGrp="1" noChangeArrowheads="1"/>
          </p:cNvSpPr>
          <p:nvPr>
            <p:ph type="body" idx="1"/>
          </p:nvPr>
        </p:nvSpPr>
        <p:spPr>
          <a:xfrm>
            <a:off x="304799" y="1143000"/>
            <a:ext cx="11692467" cy="5486400"/>
          </a:xfrm>
          <a:noFill/>
        </p:spPr>
        <p:txBody>
          <a:bodyPr vert="horz" lIns="92075" tIns="46038" rIns="92075" bIns="46038" rtlCol="0">
            <a:normAutofit/>
          </a:bodyPr>
          <a:lstStyle/>
          <a:p>
            <a:pPr marL="0" indent="0">
              <a:buNone/>
            </a:pPr>
            <a:r>
              <a:rPr lang="en-US" sz="2400" b="1" dirty="0"/>
              <a:t>Step 1: Reference Data</a:t>
            </a:r>
          </a:p>
          <a:p>
            <a:pPr marL="0" indent="0">
              <a:buNone/>
            </a:pPr>
            <a:r>
              <a:rPr lang="en-US" dirty="0"/>
              <a:t>Here, we will create a set of data that defines the set of permissible values and may contain the data.</a:t>
            </a:r>
          </a:p>
          <a:p>
            <a:pPr marL="0" indent="0">
              <a:buNone/>
            </a:pPr>
            <a:r>
              <a:rPr lang="en-US" dirty="0"/>
              <a:t>Example</a:t>
            </a:r>
            <a:r>
              <a:rPr lang="en-US" b="1" dirty="0"/>
              <a:t>:</a:t>
            </a:r>
            <a:r>
              <a:rPr lang="en-US" dirty="0"/>
              <a:t> In a country data field, we can define the country codes which are allowed.</a:t>
            </a:r>
          </a:p>
          <a:p>
            <a:pPr marL="0" indent="0">
              <a:buNone/>
            </a:pPr>
            <a:r>
              <a:rPr lang="en-US" sz="2400" b="1" dirty="0"/>
              <a:t>Step 2: Extract from Data Reference</a:t>
            </a:r>
            <a:endParaRPr lang="en-US" sz="2400" dirty="0"/>
          </a:p>
          <a:p>
            <a:pPr marL="0" indent="0">
              <a:buNone/>
            </a:pPr>
            <a:r>
              <a:rPr lang="en-US" dirty="0"/>
              <a:t>Most of the ETL systems combine the data from multiple source systems, including relational database, non-relational database, XML, JSON, CSV files and after successful extraction.</a:t>
            </a:r>
          </a:p>
          <a:p>
            <a:pPr marL="0" indent="0">
              <a:buNone/>
            </a:pPr>
            <a:r>
              <a:rPr lang="en-US" i="1" dirty="0"/>
              <a:t>Data is converted into a single format for standardizing the format.</a:t>
            </a:r>
          </a:p>
          <a:p>
            <a:pPr marL="0" indent="0">
              <a:buNone/>
            </a:pPr>
            <a:endParaRPr lang="en-US" sz="2400" dirty="0"/>
          </a:p>
        </p:txBody>
      </p:sp>
      <p:sp>
        <p:nvSpPr>
          <p:cNvPr id="2" name="Footer Placeholder 1">
            <a:extLst>
              <a:ext uri="{FF2B5EF4-FFF2-40B4-BE49-F238E27FC236}">
                <a16:creationId xmlns:a16="http://schemas.microsoft.com/office/drawing/2014/main" id="{90367531-0978-4A49-8911-472B1B76A750}"/>
              </a:ext>
            </a:extLst>
          </p:cNvPr>
          <p:cNvSpPr>
            <a:spLocks noGrp="1"/>
          </p:cNvSpPr>
          <p:nvPr>
            <p:ph type="ftr" sz="quarter" idx="10"/>
          </p:nvPr>
        </p:nvSpPr>
        <p:spPr/>
        <p:txBody>
          <a:bodyPr/>
          <a:lstStyle/>
          <a:p>
            <a:r>
              <a:rPr lang="en-US" altLang="en-US"/>
              <a:t>Or Peretz</a:t>
            </a:r>
          </a:p>
        </p:txBody>
      </p:sp>
    </p:spTree>
    <p:extLst>
      <p:ext uri="{BB962C8B-B14F-4D97-AF65-F5344CB8AC3E}">
        <p14:creationId xmlns:p14="http://schemas.microsoft.com/office/powerpoint/2010/main" val="2654228747"/>
      </p:ext>
    </p:extLst>
  </p:cSld>
  <p:clrMapOvr>
    <a:masterClrMapping/>
  </p:clrMapOvr>
  <p:transition>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a:extLst>
              <a:ext uri="{FF2B5EF4-FFF2-40B4-BE49-F238E27FC236}">
                <a16:creationId xmlns:a16="http://schemas.microsoft.com/office/drawing/2014/main" id="{56A64BC9-D68C-734E-9334-8FC25ACE397D}"/>
              </a:ext>
            </a:extLst>
          </p:cNvPr>
          <p:cNvSpPr>
            <a:spLocks noGrp="1" noChangeArrowheads="1"/>
          </p:cNvSpPr>
          <p:nvPr>
            <p:ph type="title"/>
          </p:nvPr>
        </p:nvSpPr>
        <p:spPr>
          <a:xfrm>
            <a:off x="1921932" y="0"/>
            <a:ext cx="8458200" cy="914400"/>
          </a:xfrm>
          <a:noFill/>
        </p:spPr>
        <p:txBody>
          <a:bodyPr vert="horz" lIns="92075" tIns="46038" rIns="92075" bIns="46038" rtlCol="0" anchor="b">
            <a:normAutofit/>
          </a:bodyPr>
          <a:lstStyle/>
          <a:p>
            <a:pPr algn="ctr"/>
            <a:r>
              <a:rPr lang="en-US" altLang="en-GB" sz="3200" b="1" dirty="0">
                <a:latin typeface="+mn-lt"/>
              </a:rPr>
              <a:t>Building an ETL Pipeline – Batch Processing</a:t>
            </a:r>
          </a:p>
        </p:txBody>
      </p:sp>
      <p:sp>
        <p:nvSpPr>
          <p:cNvPr id="2053" name="Rectangle 3">
            <a:extLst>
              <a:ext uri="{FF2B5EF4-FFF2-40B4-BE49-F238E27FC236}">
                <a16:creationId xmlns:a16="http://schemas.microsoft.com/office/drawing/2014/main" id="{E7813529-51E1-3F47-898F-5B9F2EC30F9B}"/>
              </a:ext>
            </a:extLst>
          </p:cNvPr>
          <p:cNvSpPr>
            <a:spLocks noGrp="1" noChangeArrowheads="1"/>
          </p:cNvSpPr>
          <p:nvPr>
            <p:ph type="body" idx="1"/>
          </p:nvPr>
        </p:nvSpPr>
        <p:spPr>
          <a:xfrm>
            <a:off x="245532" y="982134"/>
            <a:ext cx="11810999" cy="5486400"/>
          </a:xfrm>
          <a:noFill/>
        </p:spPr>
        <p:txBody>
          <a:bodyPr vert="horz" lIns="92075" tIns="46038" rIns="92075" bIns="46038" rtlCol="0">
            <a:normAutofit/>
          </a:bodyPr>
          <a:lstStyle/>
          <a:p>
            <a:pPr marL="0" indent="0">
              <a:buNone/>
            </a:pPr>
            <a:r>
              <a:rPr lang="en-US" b="1" dirty="0"/>
              <a:t>Step 3: Data Validation</a:t>
            </a:r>
          </a:p>
          <a:p>
            <a:pPr marL="0" indent="0">
              <a:buNone/>
            </a:pPr>
            <a:r>
              <a:rPr lang="en-US" dirty="0"/>
              <a:t>An automated process confirms whether the pulled data from sources have expected values. Example:</a:t>
            </a:r>
          </a:p>
          <a:p>
            <a:pPr>
              <a:buFontTx/>
              <a:buChar char="-"/>
            </a:pPr>
            <a:r>
              <a:rPr lang="en-US" dirty="0"/>
              <a:t>A data field should contain valid dates within the past 12 months in a database of financial transaction from the past year. </a:t>
            </a:r>
          </a:p>
          <a:p>
            <a:pPr>
              <a:buFontTx/>
              <a:buChar char="-"/>
            </a:pPr>
            <a:r>
              <a:rPr lang="en-US" dirty="0"/>
              <a:t>The validation engine </a:t>
            </a:r>
            <a:r>
              <a:rPr lang="en-US" b="1" u="sng" dirty="0"/>
              <a:t>rejects</a:t>
            </a:r>
            <a:r>
              <a:rPr lang="en-US" dirty="0"/>
              <a:t> the data if it fails the validation rules. </a:t>
            </a:r>
          </a:p>
          <a:p>
            <a:pPr>
              <a:buFontTx/>
              <a:buChar char="-"/>
            </a:pPr>
            <a:r>
              <a:rPr lang="en-US" dirty="0"/>
              <a:t>We analyze the rejected records, on a regular basis, to identify what went wrong. </a:t>
            </a:r>
          </a:p>
          <a:p>
            <a:pPr>
              <a:buFontTx/>
              <a:buChar char="-"/>
            </a:pPr>
            <a:r>
              <a:rPr lang="en-US" dirty="0"/>
              <a:t>Here we correct the source data or modify extracted data to resolve the problem in the next batches.</a:t>
            </a:r>
          </a:p>
          <a:p>
            <a:pPr marL="0" indent="0">
              <a:buNone/>
            </a:pPr>
            <a:endParaRPr lang="en-US" sz="2400" dirty="0"/>
          </a:p>
        </p:txBody>
      </p:sp>
      <p:sp>
        <p:nvSpPr>
          <p:cNvPr id="2" name="Footer Placeholder 1">
            <a:extLst>
              <a:ext uri="{FF2B5EF4-FFF2-40B4-BE49-F238E27FC236}">
                <a16:creationId xmlns:a16="http://schemas.microsoft.com/office/drawing/2014/main" id="{3DEEB7A7-9C79-CE43-83EF-FA57D1AA89B7}"/>
              </a:ext>
            </a:extLst>
          </p:cNvPr>
          <p:cNvSpPr>
            <a:spLocks noGrp="1"/>
          </p:cNvSpPr>
          <p:nvPr>
            <p:ph type="ftr" sz="quarter" idx="10"/>
          </p:nvPr>
        </p:nvSpPr>
        <p:spPr/>
        <p:txBody>
          <a:bodyPr/>
          <a:lstStyle/>
          <a:p>
            <a:r>
              <a:rPr lang="en-US" altLang="en-US"/>
              <a:t>Or Peretz</a:t>
            </a:r>
          </a:p>
        </p:txBody>
      </p:sp>
    </p:spTree>
    <p:extLst>
      <p:ext uri="{BB962C8B-B14F-4D97-AF65-F5344CB8AC3E}">
        <p14:creationId xmlns:p14="http://schemas.microsoft.com/office/powerpoint/2010/main" val="2978221769"/>
      </p:ext>
    </p:extLst>
  </p:cSld>
  <p:clrMapOvr>
    <a:masterClrMapping/>
  </p:clrMapOvr>
  <p:transition>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a:extLst>
              <a:ext uri="{FF2B5EF4-FFF2-40B4-BE49-F238E27FC236}">
                <a16:creationId xmlns:a16="http://schemas.microsoft.com/office/drawing/2014/main" id="{56A64BC9-D68C-734E-9334-8FC25ACE397D}"/>
              </a:ext>
            </a:extLst>
          </p:cNvPr>
          <p:cNvSpPr>
            <a:spLocks noGrp="1" noChangeArrowheads="1"/>
          </p:cNvSpPr>
          <p:nvPr>
            <p:ph type="title"/>
          </p:nvPr>
        </p:nvSpPr>
        <p:spPr>
          <a:xfrm>
            <a:off x="1921932" y="0"/>
            <a:ext cx="8458200" cy="914400"/>
          </a:xfrm>
          <a:noFill/>
        </p:spPr>
        <p:txBody>
          <a:bodyPr vert="horz" lIns="92075" tIns="46038" rIns="92075" bIns="46038" rtlCol="0" anchor="b">
            <a:normAutofit/>
          </a:bodyPr>
          <a:lstStyle/>
          <a:p>
            <a:pPr algn="ctr"/>
            <a:r>
              <a:rPr lang="en-US" altLang="en-GB" sz="3200" b="1" dirty="0">
                <a:latin typeface="+mn-lt"/>
              </a:rPr>
              <a:t>Building an ETL Pipeline – Batch Processing</a:t>
            </a:r>
          </a:p>
        </p:txBody>
      </p:sp>
      <p:sp>
        <p:nvSpPr>
          <p:cNvPr id="2053" name="Rectangle 3">
            <a:extLst>
              <a:ext uri="{FF2B5EF4-FFF2-40B4-BE49-F238E27FC236}">
                <a16:creationId xmlns:a16="http://schemas.microsoft.com/office/drawing/2014/main" id="{E7813529-51E1-3F47-898F-5B9F2EC30F9B}"/>
              </a:ext>
            </a:extLst>
          </p:cNvPr>
          <p:cNvSpPr>
            <a:spLocks noGrp="1" noChangeArrowheads="1"/>
          </p:cNvSpPr>
          <p:nvPr>
            <p:ph type="body" idx="1"/>
          </p:nvPr>
        </p:nvSpPr>
        <p:spPr>
          <a:xfrm>
            <a:off x="304799" y="1143000"/>
            <a:ext cx="11692467" cy="5486400"/>
          </a:xfrm>
          <a:noFill/>
        </p:spPr>
        <p:txBody>
          <a:bodyPr vert="horz" lIns="92075" tIns="46038" rIns="92075" bIns="46038" rtlCol="0">
            <a:normAutofit/>
          </a:bodyPr>
          <a:lstStyle/>
          <a:p>
            <a:pPr marL="0" indent="0">
              <a:buNone/>
            </a:pPr>
            <a:r>
              <a:rPr lang="en-US" b="1" dirty="0"/>
              <a:t>Step 4: Transform Data</a:t>
            </a:r>
          </a:p>
          <a:p>
            <a:pPr>
              <a:buFontTx/>
              <a:buChar char="-"/>
            </a:pPr>
            <a:r>
              <a:rPr lang="en-US" dirty="0"/>
              <a:t>Removing extraneous or erroneous data</a:t>
            </a:r>
          </a:p>
          <a:p>
            <a:pPr>
              <a:buFontTx/>
              <a:buChar char="-"/>
            </a:pPr>
            <a:r>
              <a:rPr lang="en-US" dirty="0"/>
              <a:t>Applying business rules</a:t>
            </a:r>
          </a:p>
          <a:p>
            <a:pPr>
              <a:buFontTx/>
              <a:buChar char="-"/>
            </a:pPr>
            <a:r>
              <a:rPr lang="en-US" dirty="0"/>
              <a:t>Checking data integrity (ensuring that data was not corrupted by ETL)</a:t>
            </a:r>
          </a:p>
          <a:p>
            <a:pPr>
              <a:buFontTx/>
              <a:buChar char="-"/>
            </a:pPr>
            <a:r>
              <a:rPr lang="en-US" dirty="0"/>
              <a:t>We need to program and test a series of rules or functions that can achieve the required transformation and run them on the extracted data.</a:t>
            </a:r>
          </a:p>
          <a:p>
            <a:pPr marL="0" indent="0">
              <a:buNone/>
            </a:pPr>
            <a:r>
              <a:rPr lang="en-US" dirty="0"/>
              <a:t>Example: if we analyze revenue, we can summarize the dollar amount of invoices into a daily or monthly total. </a:t>
            </a:r>
          </a:p>
        </p:txBody>
      </p:sp>
      <p:sp>
        <p:nvSpPr>
          <p:cNvPr id="2" name="Footer Placeholder 1">
            <a:extLst>
              <a:ext uri="{FF2B5EF4-FFF2-40B4-BE49-F238E27FC236}">
                <a16:creationId xmlns:a16="http://schemas.microsoft.com/office/drawing/2014/main" id="{7213FFAA-148A-CD4C-A617-ADCE4336333B}"/>
              </a:ext>
            </a:extLst>
          </p:cNvPr>
          <p:cNvSpPr>
            <a:spLocks noGrp="1"/>
          </p:cNvSpPr>
          <p:nvPr>
            <p:ph type="ftr" sz="quarter" idx="10"/>
          </p:nvPr>
        </p:nvSpPr>
        <p:spPr/>
        <p:txBody>
          <a:bodyPr/>
          <a:lstStyle/>
          <a:p>
            <a:r>
              <a:rPr lang="en-US" altLang="en-US"/>
              <a:t>Or Peretz</a:t>
            </a:r>
          </a:p>
        </p:txBody>
      </p:sp>
    </p:spTree>
    <p:extLst>
      <p:ext uri="{BB962C8B-B14F-4D97-AF65-F5344CB8AC3E}">
        <p14:creationId xmlns:p14="http://schemas.microsoft.com/office/powerpoint/2010/main" val="2007453568"/>
      </p:ext>
    </p:extLst>
  </p:cSld>
  <p:clrMapOvr>
    <a:masterClrMapping/>
  </p:clrMapOvr>
  <p:transition>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a:extLst>
              <a:ext uri="{FF2B5EF4-FFF2-40B4-BE49-F238E27FC236}">
                <a16:creationId xmlns:a16="http://schemas.microsoft.com/office/drawing/2014/main" id="{56A64BC9-D68C-734E-9334-8FC25ACE397D}"/>
              </a:ext>
            </a:extLst>
          </p:cNvPr>
          <p:cNvSpPr>
            <a:spLocks noGrp="1" noChangeArrowheads="1"/>
          </p:cNvSpPr>
          <p:nvPr>
            <p:ph type="title"/>
          </p:nvPr>
        </p:nvSpPr>
        <p:spPr>
          <a:xfrm>
            <a:off x="1921932" y="0"/>
            <a:ext cx="8458200" cy="914400"/>
          </a:xfrm>
          <a:noFill/>
        </p:spPr>
        <p:txBody>
          <a:bodyPr vert="horz" lIns="92075" tIns="46038" rIns="92075" bIns="46038" rtlCol="0" anchor="b">
            <a:normAutofit/>
          </a:bodyPr>
          <a:lstStyle/>
          <a:p>
            <a:pPr algn="ctr"/>
            <a:r>
              <a:rPr lang="en-US" altLang="en-GB" sz="3200" b="1" dirty="0">
                <a:latin typeface="+mn-lt"/>
              </a:rPr>
              <a:t>Building an ETL Pipeline – Batch Processing</a:t>
            </a:r>
          </a:p>
        </p:txBody>
      </p:sp>
      <p:sp>
        <p:nvSpPr>
          <p:cNvPr id="2053" name="Rectangle 3">
            <a:extLst>
              <a:ext uri="{FF2B5EF4-FFF2-40B4-BE49-F238E27FC236}">
                <a16:creationId xmlns:a16="http://schemas.microsoft.com/office/drawing/2014/main" id="{E7813529-51E1-3F47-898F-5B9F2EC30F9B}"/>
              </a:ext>
            </a:extLst>
          </p:cNvPr>
          <p:cNvSpPr>
            <a:spLocks noGrp="1" noChangeArrowheads="1"/>
          </p:cNvSpPr>
          <p:nvPr>
            <p:ph type="body" idx="1"/>
          </p:nvPr>
        </p:nvSpPr>
        <p:spPr>
          <a:xfrm>
            <a:off x="304799" y="1143000"/>
            <a:ext cx="11692467" cy="5486400"/>
          </a:xfrm>
          <a:noFill/>
        </p:spPr>
        <p:txBody>
          <a:bodyPr vert="horz" lIns="92075" tIns="46038" rIns="92075" bIns="46038" rtlCol="0">
            <a:normAutofit/>
          </a:bodyPr>
          <a:lstStyle/>
          <a:p>
            <a:pPr marL="0" indent="0">
              <a:buNone/>
            </a:pPr>
            <a:r>
              <a:rPr lang="en-US" b="1" dirty="0"/>
              <a:t>Step 5: Stage</a:t>
            </a:r>
          </a:p>
          <a:p>
            <a:pPr>
              <a:buFontTx/>
              <a:buChar char="-"/>
            </a:pPr>
            <a:r>
              <a:rPr lang="en-US" dirty="0"/>
              <a:t>Data should be entered first into a staging database</a:t>
            </a:r>
          </a:p>
          <a:p>
            <a:pPr>
              <a:buFontTx/>
              <a:buChar char="-"/>
            </a:pPr>
            <a:r>
              <a:rPr lang="en-US" dirty="0"/>
              <a:t>Making it easier to roll back if something goes wrong. </a:t>
            </a:r>
          </a:p>
          <a:p>
            <a:pPr marL="0" indent="0">
              <a:buNone/>
            </a:pPr>
            <a:r>
              <a:rPr lang="en-US" b="1" dirty="0"/>
              <a:t>Step 6: Publish to Data Warehouse</a:t>
            </a:r>
            <a:r>
              <a:rPr lang="en-US" dirty="0"/>
              <a:t> </a:t>
            </a:r>
          </a:p>
          <a:p>
            <a:pPr>
              <a:buFontTx/>
              <a:buChar char="-"/>
            </a:pPr>
            <a:r>
              <a:rPr lang="en-US" dirty="0"/>
              <a:t>Loading the data to the target tables. </a:t>
            </a:r>
          </a:p>
          <a:p>
            <a:pPr>
              <a:buFontTx/>
              <a:buChar char="-"/>
            </a:pPr>
            <a:r>
              <a:rPr lang="en-US" dirty="0"/>
              <a:t>Some data warehouse overwrites existing information every time, the ETL pipeline loads a new batch daily, monthly or weekly. </a:t>
            </a:r>
          </a:p>
        </p:txBody>
      </p:sp>
      <p:sp>
        <p:nvSpPr>
          <p:cNvPr id="2" name="Footer Placeholder 1">
            <a:extLst>
              <a:ext uri="{FF2B5EF4-FFF2-40B4-BE49-F238E27FC236}">
                <a16:creationId xmlns:a16="http://schemas.microsoft.com/office/drawing/2014/main" id="{3C233CB8-EA91-F142-AF83-045BA96D09E5}"/>
              </a:ext>
            </a:extLst>
          </p:cNvPr>
          <p:cNvSpPr>
            <a:spLocks noGrp="1"/>
          </p:cNvSpPr>
          <p:nvPr>
            <p:ph type="ftr" sz="quarter" idx="10"/>
          </p:nvPr>
        </p:nvSpPr>
        <p:spPr/>
        <p:txBody>
          <a:bodyPr/>
          <a:lstStyle/>
          <a:p>
            <a:r>
              <a:rPr lang="en-US" altLang="en-US"/>
              <a:t>Or Peretz</a:t>
            </a:r>
          </a:p>
        </p:txBody>
      </p:sp>
    </p:spTree>
    <p:extLst>
      <p:ext uri="{BB962C8B-B14F-4D97-AF65-F5344CB8AC3E}">
        <p14:creationId xmlns:p14="http://schemas.microsoft.com/office/powerpoint/2010/main" val="1572995058"/>
      </p:ext>
    </p:extLst>
  </p:cSld>
  <p:clrMapOvr>
    <a:masterClrMapping/>
  </p:clrMapOvr>
  <p:transition>
    <p:wipe dir="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16246</TotalTime>
  <Words>3076</Words>
  <Application>Microsoft Macintosh PowerPoint</Application>
  <PresentationFormat>Widescreen</PresentationFormat>
  <Paragraphs>476</Paragraphs>
  <Slides>44</Slides>
  <Notes>35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44</vt:i4>
      </vt:variant>
    </vt:vector>
  </HeadingPairs>
  <TitlesOfParts>
    <vt:vector size="54" baseType="lpstr">
      <vt:lpstr>Arial</vt:lpstr>
      <vt:lpstr>Calibri</vt:lpstr>
      <vt:lpstr>Century Gothic</vt:lpstr>
      <vt:lpstr>inter-regular</vt:lpstr>
      <vt:lpstr>Symbol</vt:lpstr>
      <vt:lpstr>times new roman</vt:lpstr>
      <vt:lpstr>times new roman</vt:lpstr>
      <vt:lpstr>Wingdings</vt:lpstr>
      <vt:lpstr>Zurich BT</vt:lpstr>
      <vt:lpstr>Office Theme</vt:lpstr>
      <vt:lpstr>Business Intelligence</vt:lpstr>
      <vt:lpstr>PowerPoint Presentation</vt:lpstr>
      <vt:lpstr>PowerPoint Presentation</vt:lpstr>
      <vt:lpstr>What is Data Warehouse?</vt:lpstr>
      <vt:lpstr>Data Warehouse</vt:lpstr>
      <vt:lpstr>Data Warehouse</vt:lpstr>
      <vt:lpstr>Why Separate Data Warehouse?</vt:lpstr>
      <vt:lpstr>Data Warehouse Back-End Tools and Utilities</vt:lpstr>
      <vt:lpstr>Data Warehouse Process Architecture</vt:lpstr>
      <vt:lpstr>Multidimensional Modeling</vt:lpstr>
      <vt:lpstr>The Multi-Dimensional Model</vt:lpstr>
      <vt:lpstr>Dimensional Modeling</vt:lpstr>
      <vt:lpstr>A Concept Hierarchy: Dimension (location)</vt:lpstr>
      <vt:lpstr>PowerPoint Presentation</vt:lpstr>
      <vt:lpstr>The “Classic” Star Schema</vt:lpstr>
      <vt:lpstr>The “Classic” Star Schema</vt:lpstr>
      <vt:lpstr>Star Schema</vt:lpstr>
      <vt:lpstr>Families of Stars</vt:lpstr>
      <vt:lpstr>The Snowflake Schema</vt:lpstr>
      <vt:lpstr>Snowflake Schema</vt:lpstr>
      <vt:lpstr>Example of Snowflake Schema</vt:lpstr>
      <vt:lpstr>Snowflaking</vt:lpstr>
      <vt:lpstr>Snowflake Schema</vt:lpstr>
      <vt:lpstr>The “Fact Constellation” Schema - Galaxy</vt:lpstr>
      <vt:lpstr>The “Fact Constellation” Schema</vt:lpstr>
      <vt:lpstr>Example of Fact Constellation</vt:lpstr>
      <vt:lpstr>What is the Best Design?</vt:lpstr>
      <vt:lpstr>PowerPoint Presentation</vt:lpstr>
      <vt:lpstr>Extract, Transform, Load - ETL</vt:lpstr>
      <vt:lpstr>Extract, Transform, Load</vt:lpstr>
      <vt:lpstr>Extraction</vt:lpstr>
      <vt:lpstr>Transformation</vt:lpstr>
      <vt:lpstr>Loading</vt:lpstr>
      <vt:lpstr>Extract, Load, Transform - ELT</vt:lpstr>
      <vt:lpstr>Extract, Load, Transform - ELT</vt:lpstr>
      <vt:lpstr>Working of ELT</vt:lpstr>
      <vt:lpstr>Differences between ETL and ELT</vt:lpstr>
      <vt:lpstr>Differences between ETL and ELT</vt:lpstr>
      <vt:lpstr>Differences between ETL and ELT</vt:lpstr>
      <vt:lpstr>Building an ETL Pipeline – Batch Processing</vt:lpstr>
      <vt:lpstr>Building an ETL Pipeline – Batch Processing</vt:lpstr>
      <vt:lpstr>Building an ETL Pipeline – Batch Processing</vt:lpstr>
      <vt:lpstr>Building an ETL Pipeline – Batch Processing</vt:lpstr>
      <vt:lpstr>Building an ETL Pipeline – Batch Processing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Groups</dc:title>
  <dc:creator>Lev</dc:creator>
  <cp:lastModifiedBy>or perets</cp:lastModifiedBy>
  <cp:revision>330</cp:revision>
  <dcterms:created xsi:type="dcterms:W3CDTF">2021-02-09T13:47:38Z</dcterms:created>
  <dcterms:modified xsi:type="dcterms:W3CDTF">2023-02-15T15:03:19Z</dcterms:modified>
</cp:coreProperties>
</file>