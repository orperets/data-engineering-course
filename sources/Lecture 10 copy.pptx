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57" r:id="rId2"/>
    <p:sldId id="539" r:id="rId3"/>
    <p:sldId id="525" r:id="rId4"/>
    <p:sldId id="259" r:id="rId5"/>
    <p:sldId id="260" r:id="rId6"/>
    <p:sldId id="265" r:id="rId7"/>
    <p:sldId id="266" r:id="rId8"/>
    <p:sldId id="262" r:id="rId9"/>
    <p:sldId id="317" r:id="rId10"/>
    <p:sldId id="283" r:id="rId11"/>
    <p:sldId id="292" r:id="rId12"/>
    <p:sldId id="293" r:id="rId13"/>
    <p:sldId id="325" r:id="rId14"/>
    <p:sldId id="382" r:id="rId15"/>
    <p:sldId id="592" r:id="rId16"/>
    <p:sldId id="594" r:id="rId17"/>
    <p:sldId id="595" r:id="rId18"/>
    <p:sldId id="627" r:id="rId19"/>
    <p:sldId id="599" r:id="rId20"/>
    <p:sldId id="611" r:id="rId21"/>
    <p:sldId id="614" r:id="rId22"/>
    <p:sldId id="615" r:id="rId23"/>
    <p:sldId id="616" r:id="rId24"/>
    <p:sldId id="612" r:id="rId25"/>
    <p:sldId id="617" r:id="rId26"/>
    <p:sldId id="618" r:id="rId27"/>
    <p:sldId id="619" r:id="rId28"/>
    <p:sldId id="620" r:id="rId29"/>
    <p:sldId id="621" r:id="rId30"/>
    <p:sldId id="622" r:id="rId31"/>
    <p:sldId id="623" r:id="rId32"/>
    <p:sldId id="624" r:id="rId33"/>
    <p:sldId id="625" r:id="rId34"/>
    <p:sldId id="626" r:id="rId35"/>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389" autoAdjust="0"/>
    <p:restoredTop sz="94609"/>
  </p:normalViewPr>
  <p:slideViewPr>
    <p:cSldViewPr snapToGrid="0">
      <p:cViewPr varScale="1">
        <p:scale>
          <a:sx n="151" d="100"/>
          <a:sy n="151" d="100"/>
        </p:scale>
        <p:origin x="1560" y="200"/>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B63F32-7DA3-4013-BE26-9191402E55C8}" type="datetimeFigureOut">
              <a:rPr lang="en-IL" smtClean="0"/>
              <a:t>17/05/2022</a:t>
            </a:fld>
            <a:endParaRPr lang="en-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08866D-0BA4-4B03-8FA8-A96EE1FB39D0}" type="slidenum">
              <a:rPr lang="en-IL" smtClean="0"/>
              <a:t>‹#›</a:t>
            </a:fld>
            <a:endParaRPr lang="en-IL"/>
          </a:p>
        </p:txBody>
      </p:sp>
    </p:spTree>
    <p:extLst>
      <p:ext uri="{BB962C8B-B14F-4D97-AF65-F5344CB8AC3E}">
        <p14:creationId xmlns:p14="http://schemas.microsoft.com/office/powerpoint/2010/main" val="24211533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4034"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dirty="0">
                <a:latin typeface="Calibri" charset="0"/>
              </a:rPr>
              <a:t>Plenty of definitions.</a:t>
            </a:r>
            <a:r>
              <a:rPr lang="en-US" baseline="0" dirty="0">
                <a:latin typeface="Calibri" charset="0"/>
              </a:rPr>
              <a:t> Here’s one from Stephen Few. And if you haven’t read his Info Dash Design book – you must! </a:t>
            </a:r>
          </a:p>
          <a:p>
            <a:pPr eaLnBrk="1" hangingPunct="1">
              <a:spcBef>
                <a:spcPct val="0"/>
              </a:spcBef>
            </a:pPr>
            <a:endParaRPr lang="en-US" baseline="0" dirty="0">
              <a:latin typeface="Calibri" charset="0"/>
            </a:endParaRPr>
          </a:p>
          <a:p>
            <a:pPr eaLnBrk="1" hangingPunct="1">
              <a:spcBef>
                <a:spcPct val="0"/>
              </a:spcBef>
            </a:pPr>
            <a:r>
              <a:rPr lang="en-US" baseline="0" dirty="0">
                <a:latin typeface="Calibri" charset="0"/>
              </a:rPr>
              <a:t>Right info to the right audience in the right medium so they can digest the information in the shortest time possible.</a:t>
            </a:r>
          </a:p>
        </p:txBody>
      </p:sp>
    </p:spTree>
    <p:extLst>
      <p:ext uri="{BB962C8B-B14F-4D97-AF65-F5344CB8AC3E}">
        <p14:creationId xmlns:p14="http://schemas.microsoft.com/office/powerpoint/2010/main" val="3558926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7106"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b="0" i="0" kern="1200" dirty="0">
                <a:solidFill>
                  <a:schemeClr val="tx1"/>
                </a:solidFill>
                <a:effectLst/>
                <a:latin typeface="BentonSans Book"/>
                <a:ea typeface="ＭＳ Ｐゴシック" charset="0"/>
                <a:cs typeface="ＭＳ Ｐゴシック" charset="0"/>
              </a:rPr>
              <a:t>When it comes to visual best practices, there aren’t any hard and fast rules, such as “do this and never do that.” It isn’t a black and white process. There are, however, guidelines that make sense most of the time. Many of these derive from studies done on how we as humans process things like color, shape, and size. When you really understand the concepts driving these guidelines, only then should you break them.</a:t>
            </a:r>
            <a:endParaRPr lang="en-US" dirty="0">
              <a:latin typeface="BentonSans Book"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B1991019-F77C-A389-7A4C-4B59F12FC77E}"/>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IL">
              <a:latin typeface="Times" pitchFamily="2" charset="0"/>
            </a:endParaRPr>
          </a:p>
        </p:txBody>
      </p:sp>
      <p:sp>
        <p:nvSpPr>
          <p:cNvPr id="56323" name="Rectangle 3">
            <a:extLst>
              <a:ext uri="{FF2B5EF4-FFF2-40B4-BE49-F238E27FC236}">
                <a16:creationId xmlns:a16="http://schemas.microsoft.com/office/drawing/2014/main" id="{893F21CE-FD19-D309-C76F-976A341DDCEC}"/>
              </a:ext>
            </a:extLst>
          </p:cNvPr>
          <p:cNvSpPr>
            <a:spLocks noGrp="1" noRot="1" noChangeAspect="1" noChangeArrowheads="1" noTextEdit="1"/>
          </p:cNvSpPr>
          <p:nvPr>
            <p:ph type="sldImg"/>
          </p:nvPr>
        </p:nvSpPr>
        <p:spPr>
          <a:ln cap="flat"/>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126C7799-5EFC-A2C4-BC7A-504C4B178229}"/>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IL">
              <a:latin typeface="Times" pitchFamily="2" charset="0"/>
            </a:endParaRPr>
          </a:p>
        </p:txBody>
      </p:sp>
      <p:sp>
        <p:nvSpPr>
          <p:cNvPr id="57347" name="Rectangle 3">
            <a:extLst>
              <a:ext uri="{FF2B5EF4-FFF2-40B4-BE49-F238E27FC236}">
                <a16:creationId xmlns:a16="http://schemas.microsoft.com/office/drawing/2014/main" id="{068C2403-0D28-2AF7-AF20-531BAC53A9B6}"/>
              </a:ext>
            </a:extLst>
          </p:cNvPr>
          <p:cNvSpPr>
            <a:spLocks noGrp="1" noRot="1" noChangeAspect="1" noChangeArrowheads="1" noTextEdit="1"/>
          </p:cNvSpPr>
          <p:nvPr>
            <p:ph type="sldImg"/>
          </p:nvPr>
        </p:nvSpPr>
        <p:spPr>
          <a:ln cap="flat"/>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67B6D099-7837-E7A6-1D66-6B21B23CAD51}"/>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IL">
              <a:latin typeface="Times" pitchFamily="2" charset="0"/>
            </a:endParaRPr>
          </a:p>
        </p:txBody>
      </p:sp>
      <p:sp>
        <p:nvSpPr>
          <p:cNvPr id="59395" name="Rectangle 3">
            <a:extLst>
              <a:ext uri="{FF2B5EF4-FFF2-40B4-BE49-F238E27FC236}">
                <a16:creationId xmlns:a16="http://schemas.microsoft.com/office/drawing/2014/main" id="{43011EDB-C303-BD27-8D88-35E2FFAEB7B7}"/>
              </a:ext>
            </a:extLst>
          </p:cNvPr>
          <p:cNvSpPr>
            <a:spLocks noGrp="1" noRot="1" noChangeAspect="1" noChangeArrowheads="1" noTextEdit="1"/>
          </p:cNvSpPr>
          <p:nvPr>
            <p:ph type="sldImg"/>
          </p:nvPr>
        </p:nvSpPr>
        <p:spPr>
          <a:ln cap="flat"/>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8820B468-4439-5AC2-81FF-4EE69B348436}"/>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IL">
              <a:latin typeface="Times" pitchFamily="2" charset="0"/>
            </a:endParaRPr>
          </a:p>
        </p:txBody>
      </p:sp>
      <p:sp>
        <p:nvSpPr>
          <p:cNvPr id="60419" name="Rectangle 3">
            <a:extLst>
              <a:ext uri="{FF2B5EF4-FFF2-40B4-BE49-F238E27FC236}">
                <a16:creationId xmlns:a16="http://schemas.microsoft.com/office/drawing/2014/main" id="{BCD9C1EF-FD80-2E26-61E0-D044BBA7C268}"/>
              </a:ext>
            </a:extLst>
          </p:cNvPr>
          <p:cNvSpPr>
            <a:spLocks noGrp="1" noRot="1" noChangeAspect="1" noChangeArrowheads="1" noTextEdit="1"/>
          </p:cNvSpPr>
          <p:nvPr>
            <p:ph type="sldImg"/>
          </p:nvPr>
        </p:nvSpPr>
        <p:spPr>
          <a:ln cap="flat"/>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75ED8A0B-2823-2CDE-03B5-5E1402D99DD7}"/>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IL">
              <a:latin typeface="Times" pitchFamily="2" charset="0"/>
            </a:endParaRPr>
          </a:p>
        </p:txBody>
      </p:sp>
      <p:sp>
        <p:nvSpPr>
          <p:cNvPr id="61443" name="Rectangle 3">
            <a:extLst>
              <a:ext uri="{FF2B5EF4-FFF2-40B4-BE49-F238E27FC236}">
                <a16:creationId xmlns:a16="http://schemas.microsoft.com/office/drawing/2014/main" id="{D173817D-27B2-5D10-1779-B53EC3EDFEFB}"/>
              </a:ext>
            </a:extLst>
          </p:cNvPr>
          <p:cNvSpPr>
            <a:spLocks noGrp="1" noRot="1" noChangeAspect="1" noChangeArrowheads="1" noTextEdit="1"/>
          </p:cNvSpPr>
          <p:nvPr>
            <p:ph type="sldImg"/>
          </p:nvPr>
        </p:nvSpPr>
        <p:spPr>
          <a:ln cap="flat"/>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10275FD0-1474-0DF7-9A9E-6F3DCF2F1978}"/>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IL">
              <a:latin typeface="Times" pitchFamily="2" charset="0"/>
            </a:endParaRPr>
          </a:p>
        </p:txBody>
      </p:sp>
      <p:sp>
        <p:nvSpPr>
          <p:cNvPr id="65539" name="Rectangle 3">
            <a:extLst>
              <a:ext uri="{FF2B5EF4-FFF2-40B4-BE49-F238E27FC236}">
                <a16:creationId xmlns:a16="http://schemas.microsoft.com/office/drawing/2014/main" id="{2C00D433-1E02-B190-D77B-64E439A099D2}"/>
              </a:ext>
            </a:extLst>
          </p:cNvPr>
          <p:cNvSpPr>
            <a:spLocks noGrp="1" noRot="1" noChangeAspect="1" noChangeArrowheads="1" noTextEdit="1"/>
          </p:cNvSpPr>
          <p:nvPr>
            <p:ph type="sldImg"/>
          </p:nvPr>
        </p:nvSpPr>
        <p:spPr>
          <a:ln cap="flat"/>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47C56F4C-66B9-DA3E-AE8D-54C593D92FDD}"/>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IL">
              <a:latin typeface="Times" pitchFamily="2" charset="0"/>
            </a:endParaRPr>
          </a:p>
        </p:txBody>
      </p:sp>
      <p:sp>
        <p:nvSpPr>
          <p:cNvPr id="71683" name="Rectangle 3">
            <a:extLst>
              <a:ext uri="{FF2B5EF4-FFF2-40B4-BE49-F238E27FC236}">
                <a16:creationId xmlns:a16="http://schemas.microsoft.com/office/drawing/2014/main" id="{3D12810F-6D3D-955A-9F6D-939D37CAA3C0}"/>
              </a:ext>
            </a:extLst>
          </p:cNvPr>
          <p:cNvSpPr>
            <a:spLocks noGrp="1" noRot="1" noChangeAspect="1" noChangeArrowheads="1" noTextEdit="1"/>
          </p:cNvSpPr>
          <p:nvPr>
            <p:ph type="sldImg"/>
          </p:nvPr>
        </p:nvSpPr>
        <p:spPr>
          <a:ln cap="flat"/>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0926A0A4-DC68-D3F5-0ED3-4E5CAB9E0DF6}"/>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IL">
              <a:latin typeface="Times" pitchFamily="2" charset="0"/>
            </a:endParaRPr>
          </a:p>
        </p:txBody>
      </p:sp>
      <p:sp>
        <p:nvSpPr>
          <p:cNvPr id="72707" name="Rectangle 3">
            <a:extLst>
              <a:ext uri="{FF2B5EF4-FFF2-40B4-BE49-F238E27FC236}">
                <a16:creationId xmlns:a16="http://schemas.microsoft.com/office/drawing/2014/main" id="{8BE4C539-879D-1F26-6C79-A5B8EA42F5D1}"/>
              </a:ext>
            </a:extLst>
          </p:cNvPr>
          <p:cNvSpPr>
            <a:spLocks noGrp="1" noRot="1" noChangeAspect="1" noChangeArrowheads="1" noTextEdit="1"/>
          </p:cNvSpPr>
          <p:nvPr>
            <p:ph type="sldImg"/>
          </p:nvPr>
        </p:nvSpPr>
        <p:spPr>
          <a:ln cap="flat"/>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14</a:t>
            </a:fld>
            <a:endParaRPr lang="en-IL"/>
          </a:p>
        </p:txBody>
      </p:sp>
    </p:spTree>
    <p:extLst>
      <p:ext uri="{BB962C8B-B14F-4D97-AF65-F5344CB8AC3E}">
        <p14:creationId xmlns:p14="http://schemas.microsoft.com/office/powerpoint/2010/main" val="30332280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15</a:t>
            </a:fld>
            <a:endParaRPr lang="en-IL"/>
          </a:p>
        </p:txBody>
      </p:sp>
    </p:spTree>
    <p:extLst>
      <p:ext uri="{BB962C8B-B14F-4D97-AF65-F5344CB8AC3E}">
        <p14:creationId xmlns:p14="http://schemas.microsoft.com/office/powerpoint/2010/main" val="21078515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16</a:t>
            </a:fld>
            <a:endParaRPr lang="en-IL"/>
          </a:p>
        </p:txBody>
      </p:sp>
    </p:spTree>
    <p:extLst>
      <p:ext uri="{BB962C8B-B14F-4D97-AF65-F5344CB8AC3E}">
        <p14:creationId xmlns:p14="http://schemas.microsoft.com/office/powerpoint/2010/main" val="2850381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17</a:t>
            </a:fld>
            <a:endParaRPr lang="en-IL"/>
          </a:p>
        </p:txBody>
      </p:sp>
    </p:spTree>
    <p:extLst>
      <p:ext uri="{BB962C8B-B14F-4D97-AF65-F5344CB8AC3E}">
        <p14:creationId xmlns:p14="http://schemas.microsoft.com/office/powerpoint/2010/main" val="42822858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18</a:t>
            </a:fld>
            <a:endParaRPr lang="en-IL"/>
          </a:p>
        </p:txBody>
      </p:sp>
    </p:spTree>
    <p:extLst>
      <p:ext uri="{BB962C8B-B14F-4D97-AF65-F5344CB8AC3E}">
        <p14:creationId xmlns:p14="http://schemas.microsoft.com/office/powerpoint/2010/main" val="6360409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19</a:t>
            </a:fld>
            <a:endParaRPr lang="en-IL"/>
          </a:p>
        </p:txBody>
      </p:sp>
    </p:spTree>
    <p:extLst>
      <p:ext uri="{BB962C8B-B14F-4D97-AF65-F5344CB8AC3E}">
        <p14:creationId xmlns:p14="http://schemas.microsoft.com/office/powerpoint/2010/main" val="25428356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20</a:t>
            </a:fld>
            <a:endParaRPr lang="en-IL"/>
          </a:p>
        </p:txBody>
      </p:sp>
    </p:spTree>
    <p:extLst>
      <p:ext uri="{BB962C8B-B14F-4D97-AF65-F5344CB8AC3E}">
        <p14:creationId xmlns:p14="http://schemas.microsoft.com/office/powerpoint/2010/main" val="21451017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21</a:t>
            </a:fld>
            <a:endParaRPr lang="en-IL"/>
          </a:p>
        </p:txBody>
      </p:sp>
    </p:spTree>
    <p:extLst>
      <p:ext uri="{BB962C8B-B14F-4D97-AF65-F5344CB8AC3E}">
        <p14:creationId xmlns:p14="http://schemas.microsoft.com/office/powerpoint/2010/main" val="35315058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22</a:t>
            </a:fld>
            <a:endParaRPr lang="en-IL"/>
          </a:p>
        </p:txBody>
      </p:sp>
    </p:spTree>
    <p:extLst>
      <p:ext uri="{BB962C8B-B14F-4D97-AF65-F5344CB8AC3E}">
        <p14:creationId xmlns:p14="http://schemas.microsoft.com/office/powerpoint/2010/main" val="31807556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23</a:t>
            </a:fld>
            <a:endParaRPr lang="en-IL"/>
          </a:p>
        </p:txBody>
      </p:sp>
    </p:spTree>
    <p:extLst>
      <p:ext uri="{BB962C8B-B14F-4D97-AF65-F5344CB8AC3E}">
        <p14:creationId xmlns:p14="http://schemas.microsoft.com/office/powerpoint/2010/main" val="27948426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24</a:t>
            </a:fld>
            <a:endParaRPr lang="en-IL"/>
          </a:p>
        </p:txBody>
      </p:sp>
    </p:spTree>
    <p:extLst>
      <p:ext uri="{BB962C8B-B14F-4D97-AF65-F5344CB8AC3E}">
        <p14:creationId xmlns:p14="http://schemas.microsoft.com/office/powerpoint/2010/main" val="21378416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25</a:t>
            </a:fld>
            <a:endParaRPr lang="en-IL"/>
          </a:p>
        </p:txBody>
      </p:sp>
    </p:spTree>
    <p:extLst>
      <p:ext uri="{BB962C8B-B14F-4D97-AF65-F5344CB8AC3E}">
        <p14:creationId xmlns:p14="http://schemas.microsoft.com/office/powerpoint/2010/main" val="16466967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26</a:t>
            </a:fld>
            <a:endParaRPr lang="en-IL"/>
          </a:p>
        </p:txBody>
      </p:sp>
    </p:spTree>
    <p:extLst>
      <p:ext uri="{BB962C8B-B14F-4D97-AF65-F5344CB8AC3E}">
        <p14:creationId xmlns:p14="http://schemas.microsoft.com/office/powerpoint/2010/main" val="18206178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27</a:t>
            </a:fld>
            <a:endParaRPr lang="en-IL"/>
          </a:p>
        </p:txBody>
      </p:sp>
    </p:spTree>
    <p:extLst>
      <p:ext uri="{BB962C8B-B14F-4D97-AF65-F5344CB8AC3E}">
        <p14:creationId xmlns:p14="http://schemas.microsoft.com/office/powerpoint/2010/main" val="238117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28</a:t>
            </a:fld>
            <a:endParaRPr lang="en-IL"/>
          </a:p>
        </p:txBody>
      </p:sp>
    </p:spTree>
    <p:extLst>
      <p:ext uri="{BB962C8B-B14F-4D97-AF65-F5344CB8AC3E}">
        <p14:creationId xmlns:p14="http://schemas.microsoft.com/office/powerpoint/2010/main" val="20811674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29</a:t>
            </a:fld>
            <a:endParaRPr lang="en-IL"/>
          </a:p>
        </p:txBody>
      </p:sp>
    </p:spTree>
    <p:extLst>
      <p:ext uri="{BB962C8B-B14F-4D97-AF65-F5344CB8AC3E}">
        <p14:creationId xmlns:p14="http://schemas.microsoft.com/office/powerpoint/2010/main" val="27883776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30</a:t>
            </a:fld>
            <a:endParaRPr lang="en-IL"/>
          </a:p>
        </p:txBody>
      </p:sp>
    </p:spTree>
    <p:extLst>
      <p:ext uri="{BB962C8B-B14F-4D97-AF65-F5344CB8AC3E}">
        <p14:creationId xmlns:p14="http://schemas.microsoft.com/office/powerpoint/2010/main" val="197720865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31</a:t>
            </a:fld>
            <a:endParaRPr lang="en-IL"/>
          </a:p>
        </p:txBody>
      </p:sp>
    </p:spTree>
    <p:extLst>
      <p:ext uri="{BB962C8B-B14F-4D97-AF65-F5344CB8AC3E}">
        <p14:creationId xmlns:p14="http://schemas.microsoft.com/office/powerpoint/2010/main" val="12990560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32</a:t>
            </a:fld>
            <a:endParaRPr lang="en-IL"/>
          </a:p>
        </p:txBody>
      </p:sp>
    </p:spTree>
    <p:extLst>
      <p:ext uri="{BB962C8B-B14F-4D97-AF65-F5344CB8AC3E}">
        <p14:creationId xmlns:p14="http://schemas.microsoft.com/office/powerpoint/2010/main" val="24495336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33</a:t>
            </a:fld>
            <a:endParaRPr lang="en-IL"/>
          </a:p>
        </p:txBody>
      </p:sp>
    </p:spTree>
    <p:extLst>
      <p:ext uri="{BB962C8B-B14F-4D97-AF65-F5344CB8AC3E}">
        <p14:creationId xmlns:p14="http://schemas.microsoft.com/office/powerpoint/2010/main" val="325392767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34</a:t>
            </a:fld>
            <a:endParaRPr lang="en-IL"/>
          </a:p>
        </p:txBody>
      </p:sp>
    </p:spTree>
    <p:extLst>
      <p:ext uri="{BB962C8B-B14F-4D97-AF65-F5344CB8AC3E}">
        <p14:creationId xmlns:p14="http://schemas.microsoft.com/office/powerpoint/2010/main" val="12835758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553BB-FAA3-46ED-8326-AD7EE26F78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06B615E8-3C95-4096-8039-02C1046EA5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95CE2517-A02E-4027-BA2C-117CE149DB30}"/>
              </a:ext>
            </a:extLst>
          </p:cNvPr>
          <p:cNvSpPr>
            <a:spLocks noGrp="1"/>
          </p:cNvSpPr>
          <p:nvPr>
            <p:ph type="dt" sz="half" idx="10"/>
          </p:nvPr>
        </p:nvSpPr>
        <p:spPr/>
        <p:txBody>
          <a:bodyPr/>
          <a:lstStyle/>
          <a:p>
            <a:fld id="{5DF7157C-9C36-0447-8046-5352E14D0F80}" type="datetime8">
              <a:rPr lang="en-US" smtClean="0"/>
              <a:t>5/17/22 11:10 AM</a:t>
            </a:fld>
            <a:endParaRPr lang="en-IL"/>
          </a:p>
        </p:txBody>
      </p:sp>
      <p:sp>
        <p:nvSpPr>
          <p:cNvPr id="5" name="Footer Placeholder 4">
            <a:extLst>
              <a:ext uri="{FF2B5EF4-FFF2-40B4-BE49-F238E27FC236}">
                <a16:creationId xmlns:a16="http://schemas.microsoft.com/office/drawing/2014/main" id="{C6E5C8B8-C77F-4E96-831A-FC160B4AF490}"/>
              </a:ext>
            </a:extLst>
          </p:cNvPr>
          <p:cNvSpPr>
            <a:spLocks noGrp="1"/>
          </p:cNvSpPr>
          <p:nvPr>
            <p:ph type="ftr" sz="quarter" idx="11"/>
          </p:nvPr>
        </p:nvSpPr>
        <p:spPr/>
        <p:txBody>
          <a:bodyPr/>
          <a:lstStyle/>
          <a:p>
            <a:r>
              <a:rPr lang="en-US"/>
              <a:t>Or Peretz</a:t>
            </a:r>
            <a:endParaRPr lang="en-IL"/>
          </a:p>
        </p:txBody>
      </p:sp>
      <p:sp>
        <p:nvSpPr>
          <p:cNvPr id="6" name="Slide Number Placeholder 5">
            <a:extLst>
              <a:ext uri="{FF2B5EF4-FFF2-40B4-BE49-F238E27FC236}">
                <a16:creationId xmlns:a16="http://schemas.microsoft.com/office/drawing/2014/main" id="{6A7E7471-5067-4CA0-9D60-D86D047E9514}"/>
              </a:ext>
            </a:extLst>
          </p:cNvPr>
          <p:cNvSpPr>
            <a:spLocks noGrp="1"/>
          </p:cNvSpPr>
          <p:nvPr>
            <p:ph type="sldNum" sz="quarter" idx="12"/>
          </p:nvPr>
        </p:nvSpPr>
        <p:spPr/>
        <p:txBody>
          <a:bodyPr/>
          <a:lstStyle>
            <a:lvl1pPr>
              <a:defRPr sz="1800"/>
            </a:lvl1pPr>
          </a:lstStyle>
          <a:p>
            <a:fld id="{B62643F8-DFCD-4B5F-9519-933435FA18FB}" type="slidenum">
              <a:rPr lang="en-IL" smtClean="0"/>
              <a:pPr/>
              <a:t>‹#›</a:t>
            </a:fld>
            <a:endParaRPr lang="en-IL" dirty="0"/>
          </a:p>
        </p:txBody>
      </p:sp>
    </p:spTree>
    <p:extLst>
      <p:ext uri="{BB962C8B-B14F-4D97-AF65-F5344CB8AC3E}">
        <p14:creationId xmlns:p14="http://schemas.microsoft.com/office/powerpoint/2010/main" val="272014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8257D3F8-87F0-4DF5-8F98-66DFD99EE7B2}"/>
              </a:ext>
            </a:extLst>
          </p:cNvPr>
          <p:cNvSpPr>
            <a:spLocks noGrp="1"/>
          </p:cNvSpPr>
          <p:nvPr>
            <p:ph idx="1"/>
          </p:nvPr>
        </p:nvSpPr>
        <p:spPr>
          <a:xfrm>
            <a:off x="838200" y="583474"/>
            <a:ext cx="10515600" cy="5593489"/>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L" dirty="0"/>
          </a:p>
        </p:txBody>
      </p:sp>
      <p:sp>
        <p:nvSpPr>
          <p:cNvPr id="13" name="Date Placeholder 3">
            <a:extLst>
              <a:ext uri="{FF2B5EF4-FFF2-40B4-BE49-F238E27FC236}">
                <a16:creationId xmlns:a16="http://schemas.microsoft.com/office/drawing/2014/main" id="{BCDE1D59-793A-43B8-B383-259A90AD5274}"/>
              </a:ext>
            </a:extLst>
          </p:cNvPr>
          <p:cNvSpPr>
            <a:spLocks noGrp="1"/>
          </p:cNvSpPr>
          <p:nvPr>
            <p:ph type="dt" sz="half" idx="10"/>
          </p:nvPr>
        </p:nvSpPr>
        <p:spPr>
          <a:xfrm>
            <a:off x="838200" y="6356350"/>
            <a:ext cx="2743200" cy="365125"/>
          </a:xfrm>
        </p:spPr>
        <p:txBody>
          <a:bodyPr/>
          <a:lstStyle/>
          <a:p>
            <a:fld id="{896E8B87-F9FD-464E-B534-DBC261D83ADB}" type="datetime8">
              <a:rPr lang="en-US" smtClean="0"/>
              <a:t>5/17/22 11:10 AM</a:t>
            </a:fld>
            <a:endParaRPr lang="en-IL"/>
          </a:p>
        </p:txBody>
      </p:sp>
      <p:sp>
        <p:nvSpPr>
          <p:cNvPr id="14" name="Footer Placeholder 4">
            <a:extLst>
              <a:ext uri="{FF2B5EF4-FFF2-40B4-BE49-F238E27FC236}">
                <a16:creationId xmlns:a16="http://schemas.microsoft.com/office/drawing/2014/main" id="{AA69F713-2159-4167-B614-5042E8DE4D6E}"/>
              </a:ext>
            </a:extLst>
          </p:cNvPr>
          <p:cNvSpPr>
            <a:spLocks noGrp="1"/>
          </p:cNvSpPr>
          <p:nvPr>
            <p:ph type="ftr" sz="quarter" idx="11"/>
          </p:nvPr>
        </p:nvSpPr>
        <p:spPr>
          <a:xfrm>
            <a:off x="4038600" y="6356350"/>
            <a:ext cx="4114800" cy="365125"/>
          </a:xfrm>
        </p:spPr>
        <p:txBody>
          <a:bodyPr/>
          <a:lstStyle/>
          <a:p>
            <a:r>
              <a:rPr lang="en-US"/>
              <a:t>Or Peretz</a:t>
            </a:r>
            <a:endParaRPr lang="en-IL"/>
          </a:p>
        </p:txBody>
      </p:sp>
      <p:sp>
        <p:nvSpPr>
          <p:cNvPr id="15" name="Slide Number Placeholder 5">
            <a:extLst>
              <a:ext uri="{FF2B5EF4-FFF2-40B4-BE49-F238E27FC236}">
                <a16:creationId xmlns:a16="http://schemas.microsoft.com/office/drawing/2014/main" id="{5F40A595-FC21-4942-AC1C-EC8D0EE8F289}"/>
              </a:ext>
            </a:extLst>
          </p:cNvPr>
          <p:cNvSpPr>
            <a:spLocks noGrp="1"/>
          </p:cNvSpPr>
          <p:nvPr>
            <p:ph type="sldNum" sz="quarter" idx="12"/>
          </p:nvPr>
        </p:nvSpPr>
        <p:spPr>
          <a:xfrm>
            <a:off x="8610600" y="6356350"/>
            <a:ext cx="2743200" cy="365125"/>
          </a:xfrm>
        </p:spPr>
        <p:txBody>
          <a:bodyPr/>
          <a:lstStyle>
            <a:lvl1pPr>
              <a:defRPr sz="1800"/>
            </a:lvl1pPr>
          </a:lstStyle>
          <a:p>
            <a:fld id="{C9D69B18-316A-457F-86C2-CFE4F951EE27}" type="slidenum">
              <a:rPr lang="en-IL" smtClean="0"/>
              <a:pPr/>
              <a:t>‹#›</a:t>
            </a:fld>
            <a:endParaRPr lang="en-IL" dirty="0"/>
          </a:p>
        </p:txBody>
      </p:sp>
    </p:spTree>
    <p:extLst>
      <p:ext uri="{BB962C8B-B14F-4D97-AF65-F5344CB8AC3E}">
        <p14:creationId xmlns:p14="http://schemas.microsoft.com/office/powerpoint/2010/main" val="3395765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p:tmplLst>
          <p:tmpl lvl="1">
            <p:tnLst>
              <p:par>
                <p:cTn presetID="1" presetClass="entr" presetSubtype="0" fill="hold" nodeType="with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6DB71-F16A-411E-A1F0-229842FF42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55FEC0A3-903B-4C81-96AA-FA5FE787958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621F274-0FDC-4FF1-AD1D-E33CBC0B8BE3}"/>
              </a:ext>
            </a:extLst>
          </p:cNvPr>
          <p:cNvSpPr>
            <a:spLocks noGrp="1"/>
          </p:cNvSpPr>
          <p:nvPr>
            <p:ph type="dt" sz="half" idx="10"/>
          </p:nvPr>
        </p:nvSpPr>
        <p:spPr/>
        <p:txBody>
          <a:bodyPr/>
          <a:lstStyle/>
          <a:p>
            <a:fld id="{7E52E3E6-91E3-074B-992C-DFAD5D8203F1}" type="datetime8">
              <a:rPr lang="en-US" smtClean="0"/>
              <a:t>5/17/22 11:10 AM</a:t>
            </a:fld>
            <a:endParaRPr lang="en-IL"/>
          </a:p>
        </p:txBody>
      </p:sp>
      <p:sp>
        <p:nvSpPr>
          <p:cNvPr id="5" name="Footer Placeholder 4">
            <a:extLst>
              <a:ext uri="{FF2B5EF4-FFF2-40B4-BE49-F238E27FC236}">
                <a16:creationId xmlns:a16="http://schemas.microsoft.com/office/drawing/2014/main" id="{C5317186-B90F-456C-A210-0CD662FC94AE}"/>
              </a:ext>
            </a:extLst>
          </p:cNvPr>
          <p:cNvSpPr>
            <a:spLocks noGrp="1"/>
          </p:cNvSpPr>
          <p:nvPr>
            <p:ph type="ftr" sz="quarter" idx="11"/>
          </p:nvPr>
        </p:nvSpPr>
        <p:spPr/>
        <p:txBody>
          <a:bodyPr/>
          <a:lstStyle/>
          <a:p>
            <a:r>
              <a:rPr lang="en-US"/>
              <a:t>Or Peretz</a:t>
            </a:r>
            <a:endParaRPr lang="en-IL"/>
          </a:p>
        </p:txBody>
      </p:sp>
      <p:sp>
        <p:nvSpPr>
          <p:cNvPr id="6" name="Slide Number Placeholder 5">
            <a:extLst>
              <a:ext uri="{FF2B5EF4-FFF2-40B4-BE49-F238E27FC236}">
                <a16:creationId xmlns:a16="http://schemas.microsoft.com/office/drawing/2014/main" id="{44DCF8B6-F957-4C26-89F8-62EE0895ACBC}"/>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3999782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BCB62-2976-4F72-B0D1-D7D5CC8DFE10}"/>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0E570335-BA28-442F-B929-834D11AFBB7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443D0261-93E1-42EC-B45C-7A9C69E6DB7A}"/>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8ED1B8B7-4BAF-485E-8E14-0A3937A2E61B}"/>
              </a:ext>
            </a:extLst>
          </p:cNvPr>
          <p:cNvSpPr>
            <a:spLocks noGrp="1"/>
          </p:cNvSpPr>
          <p:nvPr>
            <p:ph type="dt" sz="half" idx="10"/>
          </p:nvPr>
        </p:nvSpPr>
        <p:spPr/>
        <p:txBody>
          <a:bodyPr/>
          <a:lstStyle/>
          <a:p>
            <a:fld id="{800260D7-63E2-8F4C-B61F-30E5198AD46D}" type="datetime8">
              <a:rPr lang="en-US" smtClean="0"/>
              <a:t>5/17/22 11:10 AM</a:t>
            </a:fld>
            <a:endParaRPr lang="en-IL"/>
          </a:p>
        </p:txBody>
      </p:sp>
      <p:sp>
        <p:nvSpPr>
          <p:cNvPr id="6" name="Footer Placeholder 5">
            <a:extLst>
              <a:ext uri="{FF2B5EF4-FFF2-40B4-BE49-F238E27FC236}">
                <a16:creationId xmlns:a16="http://schemas.microsoft.com/office/drawing/2014/main" id="{5FD101D7-C282-4291-A047-A469118DB9AC}"/>
              </a:ext>
            </a:extLst>
          </p:cNvPr>
          <p:cNvSpPr>
            <a:spLocks noGrp="1"/>
          </p:cNvSpPr>
          <p:nvPr>
            <p:ph type="ftr" sz="quarter" idx="11"/>
          </p:nvPr>
        </p:nvSpPr>
        <p:spPr/>
        <p:txBody>
          <a:bodyPr/>
          <a:lstStyle/>
          <a:p>
            <a:r>
              <a:rPr lang="en-US"/>
              <a:t>Or Peretz</a:t>
            </a:r>
            <a:endParaRPr lang="en-IL"/>
          </a:p>
        </p:txBody>
      </p:sp>
      <p:sp>
        <p:nvSpPr>
          <p:cNvPr id="7" name="Slide Number Placeholder 6">
            <a:extLst>
              <a:ext uri="{FF2B5EF4-FFF2-40B4-BE49-F238E27FC236}">
                <a16:creationId xmlns:a16="http://schemas.microsoft.com/office/drawing/2014/main" id="{54E3ACF7-1919-4005-8D18-C065FE37BAF5}"/>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11582867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25D40-5A05-454B-BF8D-2ADD226269A0}"/>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F1CDEE7E-1856-4D6C-95E1-B25F3B5CF8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B6B7349D-B192-40B0-A682-C3914DCE58B9}"/>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0C86D532-BD26-45AE-91E7-2BCEE71DE7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F139C4E2-6DDF-4BCE-9E96-2FEA03A91951}"/>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F371B11A-C4F8-4F85-A0D5-34A703DD1683}"/>
              </a:ext>
            </a:extLst>
          </p:cNvPr>
          <p:cNvSpPr>
            <a:spLocks noGrp="1"/>
          </p:cNvSpPr>
          <p:nvPr>
            <p:ph type="dt" sz="half" idx="10"/>
          </p:nvPr>
        </p:nvSpPr>
        <p:spPr/>
        <p:txBody>
          <a:bodyPr/>
          <a:lstStyle/>
          <a:p>
            <a:fld id="{B2854800-C55A-184D-A866-767457B6C650}" type="datetime8">
              <a:rPr lang="en-US" smtClean="0"/>
              <a:t>5/17/22 11:10 AM</a:t>
            </a:fld>
            <a:endParaRPr lang="en-IL"/>
          </a:p>
        </p:txBody>
      </p:sp>
      <p:sp>
        <p:nvSpPr>
          <p:cNvPr id="8" name="Footer Placeholder 7">
            <a:extLst>
              <a:ext uri="{FF2B5EF4-FFF2-40B4-BE49-F238E27FC236}">
                <a16:creationId xmlns:a16="http://schemas.microsoft.com/office/drawing/2014/main" id="{3CF8E969-DC51-428E-A40E-10E237847C2B}"/>
              </a:ext>
            </a:extLst>
          </p:cNvPr>
          <p:cNvSpPr>
            <a:spLocks noGrp="1"/>
          </p:cNvSpPr>
          <p:nvPr>
            <p:ph type="ftr" sz="quarter" idx="11"/>
          </p:nvPr>
        </p:nvSpPr>
        <p:spPr/>
        <p:txBody>
          <a:bodyPr/>
          <a:lstStyle/>
          <a:p>
            <a:r>
              <a:rPr lang="en-US"/>
              <a:t>Or Peretz</a:t>
            </a:r>
            <a:endParaRPr lang="en-IL"/>
          </a:p>
        </p:txBody>
      </p:sp>
      <p:sp>
        <p:nvSpPr>
          <p:cNvPr id="9" name="Slide Number Placeholder 8">
            <a:extLst>
              <a:ext uri="{FF2B5EF4-FFF2-40B4-BE49-F238E27FC236}">
                <a16:creationId xmlns:a16="http://schemas.microsoft.com/office/drawing/2014/main" id="{3AF4C0B3-7D21-431B-8C06-6364026C9DAB}"/>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17300049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CF8A9-2FB1-463C-A055-7D8DEF623488}"/>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D4834B02-6F21-4BD3-9253-024380CFAB64}"/>
              </a:ext>
            </a:extLst>
          </p:cNvPr>
          <p:cNvSpPr>
            <a:spLocks noGrp="1"/>
          </p:cNvSpPr>
          <p:nvPr>
            <p:ph type="dt" sz="half" idx="10"/>
          </p:nvPr>
        </p:nvSpPr>
        <p:spPr/>
        <p:txBody>
          <a:bodyPr/>
          <a:lstStyle/>
          <a:p>
            <a:fld id="{C13F7541-BDF2-4645-8A4E-8E2D7EE21A60}" type="datetime8">
              <a:rPr lang="en-US" smtClean="0"/>
              <a:t>5/17/22 11:10 AM</a:t>
            </a:fld>
            <a:endParaRPr lang="en-IL"/>
          </a:p>
        </p:txBody>
      </p:sp>
      <p:sp>
        <p:nvSpPr>
          <p:cNvPr id="4" name="Footer Placeholder 3">
            <a:extLst>
              <a:ext uri="{FF2B5EF4-FFF2-40B4-BE49-F238E27FC236}">
                <a16:creationId xmlns:a16="http://schemas.microsoft.com/office/drawing/2014/main" id="{6E6109D8-60DE-4EAE-9FA4-4743AF1B53C8}"/>
              </a:ext>
            </a:extLst>
          </p:cNvPr>
          <p:cNvSpPr>
            <a:spLocks noGrp="1"/>
          </p:cNvSpPr>
          <p:nvPr>
            <p:ph type="ftr" sz="quarter" idx="11"/>
          </p:nvPr>
        </p:nvSpPr>
        <p:spPr/>
        <p:txBody>
          <a:bodyPr/>
          <a:lstStyle/>
          <a:p>
            <a:r>
              <a:rPr lang="en-US"/>
              <a:t>Or Peretz</a:t>
            </a:r>
            <a:endParaRPr lang="en-IL"/>
          </a:p>
        </p:txBody>
      </p:sp>
      <p:sp>
        <p:nvSpPr>
          <p:cNvPr id="5" name="Slide Number Placeholder 4">
            <a:extLst>
              <a:ext uri="{FF2B5EF4-FFF2-40B4-BE49-F238E27FC236}">
                <a16:creationId xmlns:a16="http://schemas.microsoft.com/office/drawing/2014/main" id="{5C2833B9-F0EF-4F2D-B1F5-59A0518ACC67}"/>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40470482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F94F9A-B863-4CA1-A3D9-2612454CB5E8}"/>
              </a:ext>
            </a:extLst>
          </p:cNvPr>
          <p:cNvSpPr>
            <a:spLocks noGrp="1"/>
          </p:cNvSpPr>
          <p:nvPr>
            <p:ph type="dt" sz="half" idx="10"/>
          </p:nvPr>
        </p:nvSpPr>
        <p:spPr/>
        <p:txBody>
          <a:bodyPr/>
          <a:lstStyle/>
          <a:p>
            <a:fld id="{3F821F0E-3E80-FE45-B8FD-1C1C83A92A89}" type="datetime8">
              <a:rPr lang="en-US" smtClean="0"/>
              <a:t>5/17/22 11:10 AM</a:t>
            </a:fld>
            <a:endParaRPr lang="en-IL"/>
          </a:p>
        </p:txBody>
      </p:sp>
      <p:sp>
        <p:nvSpPr>
          <p:cNvPr id="3" name="Footer Placeholder 2">
            <a:extLst>
              <a:ext uri="{FF2B5EF4-FFF2-40B4-BE49-F238E27FC236}">
                <a16:creationId xmlns:a16="http://schemas.microsoft.com/office/drawing/2014/main" id="{05856BA7-0F82-4B54-82BF-04EC0B081685}"/>
              </a:ext>
            </a:extLst>
          </p:cNvPr>
          <p:cNvSpPr>
            <a:spLocks noGrp="1"/>
          </p:cNvSpPr>
          <p:nvPr>
            <p:ph type="ftr" sz="quarter" idx="11"/>
          </p:nvPr>
        </p:nvSpPr>
        <p:spPr/>
        <p:txBody>
          <a:bodyPr/>
          <a:lstStyle/>
          <a:p>
            <a:r>
              <a:rPr lang="en-US"/>
              <a:t>Or Peretz</a:t>
            </a:r>
            <a:endParaRPr lang="en-IL"/>
          </a:p>
        </p:txBody>
      </p:sp>
      <p:sp>
        <p:nvSpPr>
          <p:cNvPr id="4" name="Slide Number Placeholder 3">
            <a:extLst>
              <a:ext uri="{FF2B5EF4-FFF2-40B4-BE49-F238E27FC236}">
                <a16:creationId xmlns:a16="http://schemas.microsoft.com/office/drawing/2014/main" id="{026A46C4-110C-4F16-A55B-2CA103D5BC69}"/>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3290415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DF8D4-37EB-4208-8EBF-A36DA15D5A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F119644F-4231-4135-985A-E35BB7DF79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DDAC084D-8409-4F23-A4F3-946B11E92E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857D6E5-0ADE-47F1-BF75-064C0FC0B6AA}"/>
              </a:ext>
            </a:extLst>
          </p:cNvPr>
          <p:cNvSpPr>
            <a:spLocks noGrp="1"/>
          </p:cNvSpPr>
          <p:nvPr>
            <p:ph type="dt" sz="half" idx="10"/>
          </p:nvPr>
        </p:nvSpPr>
        <p:spPr/>
        <p:txBody>
          <a:bodyPr/>
          <a:lstStyle/>
          <a:p>
            <a:fld id="{96B84BC4-6D1E-DE4B-8507-B318EEC4AD62}" type="datetime8">
              <a:rPr lang="en-US" smtClean="0"/>
              <a:t>5/17/22 11:10 AM</a:t>
            </a:fld>
            <a:endParaRPr lang="en-IL"/>
          </a:p>
        </p:txBody>
      </p:sp>
      <p:sp>
        <p:nvSpPr>
          <p:cNvPr id="6" name="Footer Placeholder 5">
            <a:extLst>
              <a:ext uri="{FF2B5EF4-FFF2-40B4-BE49-F238E27FC236}">
                <a16:creationId xmlns:a16="http://schemas.microsoft.com/office/drawing/2014/main" id="{E3A95BE5-8107-4C77-A0C7-320528011EF6}"/>
              </a:ext>
            </a:extLst>
          </p:cNvPr>
          <p:cNvSpPr>
            <a:spLocks noGrp="1"/>
          </p:cNvSpPr>
          <p:nvPr>
            <p:ph type="ftr" sz="quarter" idx="11"/>
          </p:nvPr>
        </p:nvSpPr>
        <p:spPr/>
        <p:txBody>
          <a:bodyPr/>
          <a:lstStyle/>
          <a:p>
            <a:r>
              <a:rPr lang="en-US"/>
              <a:t>Or Peretz</a:t>
            </a:r>
            <a:endParaRPr lang="en-IL"/>
          </a:p>
        </p:txBody>
      </p:sp>
      <p:sp>
        <p:nvSpPr>
          <p:cNvPr id="7" name="Slide Number Placeholder 6">
            <a:extLst>
              <a:ext uri="{FF2B5EF4-FFF2-40B4-BE49-F238E27FC236}">
                <a16:creationId xmlns:a16="http://schemas.microsoft.com/office/drawing/2014/main" id="{D2B29687-8674-4B44-BCA8-CA55A7F66AEE}"/>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5355129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DDB8B-F360-41C1-9E59-41BC175C2C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6329284B-956D-4A04-AA87-11920CE3AB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6CDA7EC3-09A8-4251-B03C-6044FAB1E4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8F06FFE-DADD-4559-BD8F-E4090E8513DA}"/>
              </a:ext>
            </a:extLst>
          </p:cNvPr>
          <p:cNvSpPr>
            <a:spLocks noGrp="1"/>
          </p:cNvSpPr>
          <p:nvPr>
            <p:ph type="dt" sz="half" idx="10"/>
          </p:nvPr>
        </p:nvSpPr>
        <p:spPr/>
        <p:txBody>
          <a:bodyPr/>
          <a:lstStyle/>
          <a:p>
            <a:fld id="{50CF4522-6391-7F4B-8B88-660A337C3B79}" type="datetime8">
              <a:rPr lang="en-US" smtClean="0"/>
              <a:t>5/17/22 11:10 AM</a:t>
            </a:fld>
            <a:endParaRPr lang="en-IL"/>
          </a:p>
        </p:txBody>
      </p:sp>
      <p:sp>
        <p:nvSpPr>
          <p:cNvPr id="6" name="Footer Placeholder 5">
            <a:extLst>
              <a:ext uri="{FF2B5EF4-FFF2-40B4-BE49-F238E27FC236}">
                <a16:creationId xmlns:a16="http://schemas.microsoft.com/office/drawing/2014/main" id="{487A7321-97EB-4815-A837-E4FF27362FFC}"/>
              </a:ext>
            </a:extLst>
          </p:cNvPr>
          <p:cNvSpPr>
            <a:spLocks noGrp="1"/>
          </p:cNvSpPr>
          <p:nvPr>
            <p:ph type="ftr" sz="quarter" idx="11"/>
          </p:nvPr>
        </p:nvSpPr>
        <p:spPr/>
        <p:txBody>
          <a:bodyPr/>
          <a:lstStyle/>
          <a:p>
            <a:r>
              <a:rPr lang="en-US"/>
              <a:t>Or Peretz</a:t>
            </a:r>
            <a:endParaRPr lang="en-IL"/>
          </a:p>
        </p:txBody>
      </p:sp>
      <p:sp>
        <p:nvSpPr>
          <p:cNvPr id="7" name="Slide Number Placeholder 6">
            <a:extLst>
              <a:ext uri="{FF2B5EF4-FFF2-40B4-BE49-F238E27FC236}">
                <a16:creationId xmlns:a16="http://schemas.microsoft.com/office/drawing/2014/main" id="{BAA3595F-1D61-441A-9A46-FC01E1605B5C}"/>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38291920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6D421-C27E-4305-9BA4-ABDBC270E32E}"/>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D369482A-BFEA-4A85-973C-0414EA508578}"/>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D2DCE6C9-3B2C-4E59-B407-9DEAA5194AB0}"/>
              </a:ext>
            </a:extLst>
          </p:cNvPr>
          <p:cNvSpPr>
            <a:spLocks noGrp="1"/>
          </p:cNvSpPr>
          <p:nvPr>
            <p:ph type="dt" sz="half" idx="10"/>
          </p:nvPr>
        </p:nvSpPr>
        <p:spPr/>
        <p:txBody>
          <a:bodyPr/>
          <a:lstStyle/>
          <a:p>
            <a:fld id="{AABB7FFB-2FB8-ED4D-871F-3A525991ED9E}" type="datetime8">
              <a:rPr lang="en-US" smtClean="0"/>
              <a:t>5/17/22 11:10 AM</a:t>
            </a:fld>
            <a:endParaRPr lang="en-IL"/>
          </a:p>
        </p:txBody>
      </p:sp>
      <p:sp>
        <p:nvSpPr>
          <p:cNvPr id="5" name="Footer Placeholder 4">
            <a:extLst>
              <a:ext uri="{FF2B5EF4-FFF2-40B4-BE49-F238E27FC236}">
                <a16:creationId xmlns:a16="http://schemas.microsoft.com/office/drawing/2014/main" id="{157B3FA1-84D5-4374-B090-8EED7F0EE76B}"/>
              </a:ext>
            </a:extLst>
          </p:cNvPr>
          <p:cNvSpPr>
            <a:spLocks noGrp="1"/>
          </p:cNvSpPr>
          <p:nvPr>
            <p:ph type="ftr" sz="quarter" idx="11"/>
          </p:nvPr>
        </p:nvSpPr>
        <p:spPr/>
        <p:txBody>
          <a:bodyPr/>
          <a:lstStyle/>
          <a:p>
            <a:r>
              <a:rPr lang="en-US"/>
              <a:t>Or Peretz</a:t>
            </a:r>
            <a:endParaRPr lang="en-IL"/>
          </a:p>
        </p:txBody>
      </p:sp>
      <p:sp>
        <p:nvSpPr>
          <p:cNvPr id="6" name="Slide Number Placeholder 5">
            <a:extLst>
              <a:ext uri="{FF2B5EF4-FFF2-40B4-BE49-F238E27FC236}">
                <a16:creationId xmlns:a16="http://schemas.microsoft.com/office/drawing/2014/main" id="{0BB37D06-0BF6-4041-954F-C1D4B14F038F}"/>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506217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A0116A-EF9A-40BC-BE26-84DF8D33F6D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E3EB09AB-DE01-41A1-8BED-34FC1B482ADA}"/>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46A0832B-4F28-4DE3-AF6D-37975A09FE91}"/>
              </a:ext>
            </a:extLst>
          </p:cNvPr>
          <p:cNvSpPr>
            <a:spLocks noGrp="1"/>
          </p:cNvSpPr>
          <p:nvPr>
            <p:ph type="dt" sz="half" idx="10"/>
          </p:nvPr>
        </p:nvSpPr>
        <p:spPr/>
        <p:txBody>
          <a:bodyPr/>
          <a:lstStyle/>
          <a:p>
            <a:fld id="{B97DA56F-98C1-D743-A051-0A3D6E708A11}" type="datetime8">
              <a:rPr lang="en-US" smtClean="0"/>
              <a:t>5/17/22 11:10 AM</a:t>
            </a:fld>
            <a:endParaRPr lang="en-IL"/>
          </a:p>
        </p:txBody>
      </p:sp>
      <p:sp>
        <p:nvSpPr>
          <p:cNvPr id="5" name="Footer Placeholder 4">
            <a:extLst>
              <a:ext uri="{FF2B5EF4-FFF2-40B4-BE49-F238E27FC236}">
                <a16:creationId xmlns:a16="http://schemas.microsoft.com/office/drawing/2014/main" id="{18F064A4-73D9-4140-BB4B-47A62F8CBA11}"/>
              </a:ext>
            </a:extLst>
          </p:cNvPr>
          <p:cNvSpPr>
            <a:spLocks noGrp="1"/>
          </p:cNvSpPr>
          <p:nvPr>
            <p:ph type="ftr" sz="quarter" idx="11"/>
          </p:nvPr>
        </p:nvSpPr>
        <p:spPr/>
        <p:txBody>
          <a:bodyPr/>
          <a:lstStyle/>
          <a:p>
            <a:r>
              <a:rPr lang="en-US"/>
              <a:t>Or Peretz</a:t>
            </a:r>
            <a:endParaRPr lang="en-IL"/>
          </a:p>
        </p:txBody>
      </p:sp>
      <p:sp>
        <p:nvSpPr>
          <p:cNvPr id="6" name="Slide Number Placeholder 5">
            <a:extLst>
              <a:ext uri="{FF2B5EF4-FFF2-40B4-BE49-F238E27FC236}">
                <a16:creationId xmlns:a16="http://schemas.microsoft.com/office/drawing/2014/main" id="{2241DA01-1032-4191-848B-F8A71F653C29}"/>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24741138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Multi-level content">
    <p:spTree>
      <p:nvGrpSpPr>
        <p:cNvPr id="1" name=""/>
        <p:cNvGrpSpPr/>
        <p:nvPr/>
      </p:nvGrpSpPr>
      <p:grpSpPr>
        <a:xfrm>
          <a:off x="0" y="0"/>
          <a:ext cx="0" cy="0"/>
          <a:chOff x="0" y="0"/>
          <a:chExt cx="0" cy="0"/>
        </a:xfrm>
      </p:grpSpPr>
      <p:sp>
        <p:nvSpPr>
          <p:cNvPr id="18" name="Text Placeholder 5"/>
          <p:cNvSpPr>
            <a:spLocks noGrp="1"/>
          </p:cNvSpPr>
          <p:nvPr>
            <p:ph type="body" sz="quarter" idx="12"/>
          </p:nvPr>
        </p:nvSpPr>
        <p:spPr>
          <a:xfrm>
            <a:off x="591714" y="498916"/>
            <a:ext cx="11057578" cy="480901"/>
          </a:xfrm>
          <a:prstGeom prst="rect">
            <a:avLst/>
          </a:prstGeom>
        </p:spPr>
        <p:txBody>
          <a:bodyPr wrap="square" lIns="0" tIns="0" rIns="0" bIns="0">
            <a:spAutoFit/>
          </a:bodyPr>
          <a:lstStyle>
            <a:lvl1pPr marL="0" indent="0">
              <a:lnSpc>
                <a:spcPct val="80000"/>
              </a:lnSpc>
              <a:buFontTx/>
              <a:buNone/>
              <a:defRPr sz="3750" b="0" i="0">
                <a:solidFill>
                  <a:srgbClr val="4C4C4C"/>
                </a:solidFill>
                <a:latin typeface="BentonSans Book"/>
                <a:cs typeface="BentonSans Book"/>
              </a:defRPr>
            </a:lvl1pPr>
          </a:lstStyle>
          <a:p>
            <a:pPr lvl="0"/>
            <a:r>
              <a:rPr lang="en-US"/>
              <a:t>Click to edit Master text styles</a:t>
            </a:r>
          </a:p>
        </p:txBody>
      </p:sp>
      <p:sp>
        <p:nvSpPr>
          <p:cNvPr id="4" name="Content Placeholder 2"/>
          <p:cNvSpPr>
            <a:spLocks noGrp="1"/>
          </p:cNvSpPr>
          <p:nvPr>
            <p:ph idx="14"/>
          </p:nvPr>
        </p:nvSpPr>
        <p:spPr>
          <a:xfrm>
            <a:off x="587064" y="1577929"/>
            <a:ext cx="11062328" cy="323102"/>
          </a:xfrm>
          <a:prstGeom prst="rect">
            <a:avLst/>
          </a:prstGeom>
        </p:spPr>
        <p:txBody>
          <a:bodyPr wrap="square" lIns="0" tIns="0" rIns="0" bIns="0">
            <a:spAutoFit/>
          </a:bodyPr>
          <a:lstStyle>
            <a:lvl1pPr marL="5291" indent="0">
              <a:spcBef>
                <a:spcPts val="0"/>
              </a:spcBef>
              <a:spcAft>
                <a:spcPts val="500"/>
              </a:spcAft>
              <a:buSzPct val="100000"/>
              <a:buFont typeface="+mj-lt"/>
              <a:buNone/>
              <a:tabLst/>
              <a:defRPr sz="2333" b="0" i="0" baseline="0">
                <a:solidFill>
                  <a:srgbClr val="4C4C4C"/>
                </a:solidFill>
                <a:latin typeface="Merriweather Light"/>
                <a:cs typeface="Merriweather Light"/>
              </a:defRPr>
            </a:lvl1pPr>
            <a:lvl2pPr marL="240761" indent="0">
              <a:spcBef>
                <a:spcPts val="0"/>
              </a:spcBef>
              <a:spcAft>
                <a:spcPts val="500"/>
              </a:spcAft>
              <a:buSzPct val="100000"/>
              <a:buFont typeface="+mj-lt"/>
              <a:buNone/>
              <a:defRPr sz="2000" baseline="0">
                <a:solidFill>
                  <a:schemeClr val="accent5"/>
                </a:solidFill>
              </a:defRPr>
            </a:lvl2pPr>
            <a:lvl3pPr marL="427285" indent="0">
              <a:spcBef>
                <a:spcPts val="0"/>
              </a:spcBef>
              <a:spcAft>
                <a:spcPts val="500"/>
              </a:spcAft>
              <a:buSzPct val="100000"/>
              <a:buFont typeface="+mj-lt"/>
              <a:buNone/>
              <a:defRPr sz="1750" baseline="0">
                <a:solidFill>
                  <a:schemeClr val="accent5"/>
                </a:solidFill>
              </a:defRPr>
            </a:lvl3pPr>
            <a:lvl4pPr marL="617778" indent="0">
              <a:spcBef>
                <a:spcPts val="0"/>
              </a:spcBef>
              <a:spcAft>
                <a:spcPts val="500"/>
              </a:spcAft>
              <a:buSzPct val="100000"/>
              <a:buFont typeface="+mj-lt"/>
              <a:buNone/>
              <a:defRPr sz="1500" baseline="0">
                <a:solidFill>
                  <a:schemeClr val="accent5"/>
                </a:solidFill>
              </a:defRPr>
            </a:lvl4pPr>
            <a:lvl5pPr marL="2005461" indent="-285739">
              <a:buSzPct val="100000"/>
              <a:buFont typeface="+mj-lt"/>
              <a:buAutoNum type="arabicPeriod"/>
              <a:defRPr sz="1333">
                <a:solidFill>
                  <a:schemeClr val="accent5"/>
                </a:solidFill>
              </a:defRPr>
            </a:lvl5pPr>
          </a:lstStyle>
          <a:p>
            <a:pPr lvl="0"/>
            <a:r>
              <a:rPr lang="en-US"/>
              <a:t>Click to edit Master text styles</a:t>
            </a:r>
          </a:p>
        </p:txBody>
      </p:sp>
    </p:spTree>
    <p:extLst>
      <p:ext uri="{BB962C8B-B14F-4D97-AF65-F5344CB8AC3E}">
        <p14:creationId xmlns:p14="http://schemas.microsoft.com/office/powerpoint/2010/main" val="26476086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Bulleted Copy - 2 Column">
    <p:spTree>
      <p:nvGrpSpPr>
        <p:cNvPr id="1" name=""/>
        <p:cNvGrpSpPr/>
        <p:nvPr/>
      </p:nvGrpSpPr>
      <p:grpSpPr>
        <a:xfrm>
          <a:off x="0" y="0"/>
          <a:ext cx="0" cy="0"/>
          <a:chOff x="0" y="0"/>
          <a:chExt cx="0" cy="0"/>
        </a:xfrm>
      </p:grpSpPr>
      <p:sp>
        <p:nvSpPr>
          <p:cNvPr id="4" name="Content Placeholder 2"/>
          <p:cNvSpPr>
            <a:spLocks noGrp="1"/>
          </p:cNvSpPr>
          <p:nvPr>
            <p:ph idx="14"/>
          </p:nvPr>
        </p:nvSpPr>
        <p:spPr>
          <a:xfrm>
            <a:off x="587776" y="1578124"/>
            <a:ext cx="4953000" cy="1242584"/>
          </a:xfrm>
          <a:prstGeom prst="rect">
            <a:avLst/>
          </a:prstGeom>
        </p:spPr>
        <p:txBody>
          <a:bodyPr wrap="square" lIns="0" tIns="0" rIns="0" bIns="0" numCol="1" spcCol="365760">
            <a:spAutoFit/>
          </a:bodyPr>
          <a:lstStyle>
            <a:lvl1pPr marL="5291" indent="228591">
              <a:spcBef>
                <a:spcPts val="0"/>
              </a:spcBef>
              <a:spcAft>
                <a:spcPts val="500"/>
              </a:spcAft>
              <a:buSzPct val="100000"/>
              <a:buFont typeface="Arial"/>
              <a:buChar char="•"/>
              <a:tabLst/>
              <a:defRPr sz="2333" baseline="0">
                <a:solidFill>
                  <a:schemeClr val="accent5"/>
                </a:solidFill>
                <a:latin typeface="Merriweather Light"/>
                <a:cs typeface="Merriweather Light"/>
              </a:defRPr>
            </a:lvl1pPr>
            <a:lvl2pPr marL="240761" indent="227533">
              <a:spcBef>
                <a:spcPts val="0"/>
              </a:spcBef>
              <a:spcAft>
                <a:spcPts val="500"/>
              </a:spcAft>
              <a:buSzPct val="100000"/>
              <a:buFont typeface="Arial"/>
              <a:buChar char="•"/>
              <a:defRPr sz="2000" baseline="0">
                <a:solidFill>
                  <a:schemeClr val="accent5"/>
                </a:solidFill>
                <a:latin typeface="Merriweather Light"/>
                <a:cs typeface="Merriweather Light"/>
              </a:defRPr>
            </a:lvl2pPr>
            <a:lvl3pPr marL="427285" indent="227533">
              <a:spcBef>
                <a:spcPts val="0"/>
              </a:spcBef>
              <a:spcAft>
                <a:spcPts val="500"/>
              </a:spcAft>
              <a:buSzPct val="100000"/>
              <a:buFont typeface="Arial"/>
              <a:buChar char="•"/>
              <a:defRPr sz="1750" baseline="0">
                <a:solidFill>
                  <a:schemeClr val="accent5"/>
                </a:solidFill>
              </a:defRPr>
            </a:lvl3pPr>
            <a:lvl4pPr marL="855894" indent="-238115">
              <a:spcBef>
                <a:spcPts val="0"/>
              </a:spcBef>
              <a:spcAft>
                <a:spcPts val="500"/>
              </a:spcAft>
              <a:buSzPct val="100000"/>
              <a:buFont typeface="Arial"/>
              <a:buChar char="•"/>
              <a:defRPr sz="1500" baseline="0">
                <a:solidFill>
                  <a:schemeClr val="accent5"/>
                </a:solidFill>
              </a:defRPr>
            </a:lvl4pPr>
            <a:lvl5pPr marL="2005461" indent="-285739">
              <a:buSzPct val="100000"/>
              <a:buFont typeface="+mj-lt"/>
              <a:buAutoNum type="arabicPeriod"/>
              <a:defRPr sz="1333">
                <a:solidFill>
                  <a:schemeClr val="accent5"/>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2"/>
          <p:cNvSpPr>
            <a:spLocks noGrp="1"/>
          </p:cNvSpPr>
          <p:nvPr>
            <p:ph idx="15"/>
          </p:nvPr>
        </p:nvSpPr>
        <p:spPr>
          <a:xfrm>
            <a:off x="6093256" y="1577929"/>
            <a:ext cx="4953000" cy="1242584"/>
          </a:xfrm>
          <a:prstGeom prst="rect">
            <a:avLst/>
          </a:prstGeom>
        </p:spPr>
        <p:txBody>
          <a:bodyPr wrap="square" lIns="0" tIns="0" rIns="0" bIns="0" numCol="1" spcCol="365760">
            <a:spAutoFit/>
          </a:bodyPr>
          <a:lstStyle>
            <a:lvl1pPr marL="5291" indent="228591">
              <a:spcBef>
                <a:spcPts val="0"/>
              </a:spcBef>
              <a:spcAft>
                <a:spcPts val="500"/>
              </a:spcAft>
              <a:buSzPct val="100000"/>
              <a:buFont typeface="Arial"/>
              <a:buChar char="•"/>
              <a:tabLst/>
              <a:defRPr sz="2333" baseline="0">
                <a:solidFill>
                  <a:schemeClr val="accent5"/>
                </a:solidFill>
                <a:latin typeface="Merriweather Light"/>
                <a:cs typeface="Merriweather Light"/>
              </a:defRPr>
            </a:lvl1pPr>
            <a:lvl2pPr marL="240761" indent="227533">
              <a:spcBef>
                <a:spcPts val="0"/>
              </a:spcBef>
              <a:spcAft>
                <a:spcPts val="500"/>
              </a:spcAft>
              <a:buSzPct val="100000"/>
              <a:buFont typeface="Arial"/>
              <a:buChar char="•"/>
              <a:defRPr sz="2000" baseline="0">
                <a:solidFill>
                  <a:schemeClr val="accent5"/>
                </a:solidFill>
                <a:latin typeface="Merriweather Light"/>
                <a:cs typeface="Merriweather Light"/>
              </a:defRPr>
            </a:lvl2pPr>
            <a:lvl3pPr marL="427285" indent="227533">
              <a:spcBef>
                <a:spcPts val="0"/>
              </a:spcBef>
              <a:spcAft>
                <a:spcPts val="500"/>
              </a:spcAft>
              <a:buSzPct val="100000"/>
              <a:buFont typeface="Arial"/>
              <a:buChar char="•"/>
              <a:defRPr sz="1750" baseline="0">
                <a:solidFill>
                  <a:schemeClr val="accent5"/>
                </a:solidFill>
              </a:defRPr>
            </a:lvl3pPr>
            <a:lvl4pPr marL="855894" indent="-238115">
              <a:spcBef>
                <a:spcPts val="0"/>
              </a:spcBef>
              <a:spcAft>
                <a:spcPts val="500"/>
              </a:spcAft>
              <a:buSzPct val="100000"/>
              <a:buFont typeface="Arial"/>
              <a:buChar char="•"/>
              <a:defRPr sz="1500" baseline="0">
                <a:solidFill>
                  <a:schemeClr val="accent5"/>
                </a:solidFill>
              </a:defRPr>
            </a:lvl4pPr>
            <a:lvl5pPr marL="2005461" indent="-285739">
              <a:buSzPct val="100000"/>
              <a:buFont typeface="+mj-lt"/>
              <a:buAutoNum type="arabicPeriod"/>
              <a:defRPr sz="1333">
                <a:solidFill>
                  <a:schemeClr val="accent5"/>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p:cNvSpPr>
            <a:spLocks noGrp="1"/>
          </p:cNvSpPr>
          <p:nvPr>
            <p:ph type="body" sz="quarter" idx="12"/>
          </p:nvPr>
        </p:nvSpPr>
        <p:spPr>
          <a:xfrm>
            <a:off x="591714" y="498916"/>
            <a:ext cx="11057578" cy="480901"/>
          </a:xfrm>
          <a:prstGeom prst="rect">
            <a:avLst/>
          </a:prstGeom>
        </p:spPr>
        <p:txBody>
          <a:bodyPr wrap="square" lIns="0" tIns="0" rIns="0" bIns="0">
            <a:spAutoFit/>
          </a:bodyPr>
          <a:lstStyle>
            <a:lvl1pPr marL="0" indent="0">
              <a:lnSpc>
                <a:spcPct val="80000"/>
              </a:lnSpc>
              <a:buFontTx/>
              <a:buNone/>
              <a:defRPr sz="3750" b="0" i="0">
                <a:solidFill>
                  <a:srgbClr val="4C4C4C"/>
                </a:solidFill>
                <a:latin typeface="BentonSans Book"/>
                <a:cs typeface="BentonSans Book"/>
              </a:defRPr>
            </a:lvl1pPr>
          </a:lstStyle>
          <a:p>
            <a:pPr lvl="0"/>
            <a:r>
              <a:rPr lang="en-US"/>
              <a:t>Click to edit Master text styles</a:t>
            </a:r>
          </a:p>
        </p:txBody>
      </p:sp>
    </p:spTree>
    <p:extLst>
      <p:ext uri="{BB962C8B-B14F-4D97-AF65-F5344CB8AC3E}">
        <p14:creationId xmlns:p14="http://schemas.microsoft.com/office/powerpoint/2010/main" val="36354412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222320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601182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4547484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5471716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719843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5334739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2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658394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2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701554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2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135037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3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534899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2D5FF43-15EB-48BF-9377-EC78CBDCCB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548A9A9A-96AC-434D-8596-80E7719973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0477151C-500A-4CAF-8B1B-C429EEE2CD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EDC74C-E7D5-9845-AF76-D52732F67C64}" type="datetime8">
              <a:rPr lang="en-US" smtClean="0"/>
              <a:t>5/17/22 11:10 AM</a:t>
            </a:fld>
            <a:endParaRPr lang="en-IL"/>
          </a:p>
        </p:txBody>
      </p:sp>
      <p:sp>
        <p:nvSpPr>
          <p:cNvPr id="5" name="Footer Placeholder 4">
            <a:extLst>
              <a:ext uri="{FF2B5EF4-FFF2-40B4-BE49-F238E27FC236}">
                <a16:creationId xmlns:a16="http://schemas.microsoft.com/office/drawing/2014/main" id="{481936C9-3550-4463-A834-A8233EB9F3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Or Peretz</a:t>
            </a:r>
            <a:endParaRPr lang="en-IL"/>
          </a:p>
        </p:txBody>
      </p:sp>
      <p:sp>
        <p:nvSpPr>
          <p:cNvPr id="6" name="Slide Number Placeholder 5">
            <a:extLst>
              <a:ext uri="{FF2B5EF4-FFF2-40B4-BE49-F238E27FC236}">
                <a16:creationId xmlns:a16="http://schemas.microsoft.com/office/drawing/2014/main" id="{77370A5C-A380-420D-86FA-95B4F828D7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2643F8-DFCD-4B5F-9519-933435FA18FB}" type="slidenum">
              <a:rPr lang="en-IL" smtClean="0"/>
              <a:t>‹#›</a:t>
            </a:fld>
            <a:endParaRPr lang="en-IL"/>
          </a:p>
        </p:txBody>
      </p:sp>
    </p:spTree>
    <p:extLst>
      <p:ext uri="{BB962C8B-B14F-4D97-AF65-F5344CB8AC3E}">
        <p14:creationId xmlns:p14="http://schemas.microsoft.com/office/powerpoint/2010/main" val="20044710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8" r:id="rId12"/>
    <p:sldLayoutId id="2147483671" r:id="rId13"/>
    <p:sldLayoutId id="2147483675" r:id="rId14"/>
    <p:sldLayoutId id="2147483676" r:id="rId15"/>
    <p:sldLayoutId id="2147483679" r:id="rId16"/>
    <p:sldLayoutId id="2147483680" r:id="rId17"/>
    <p:sldLayoutId id="2147483681" r:id="rId18"/>
    <p:sldLayoutId id="2147483688" r:id="rId19"/>
    <p:sldLayoutId id="2147483691" r:id="rId20"/>
    <p:sldLayoutId id="2147483698" r:id="rId21"/>
    <p:sldLayoutId id="2147483699" r:id="rId22"/>
    <p:sldLayoutId id="2147483704" r:id="rId23"/>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BF07A-A6B2-4AA3-9FB3-FF93725B9B74}"/>
              </a:ext>
            </a:extLst>
          </p:cNvPr>
          <p:cNvSpPr>
            <a:spLocks noGrp="1"/>
          </p:cNvSpPr>
          <p:nvPr>
            <p:ph type="ctrTitle"/>
          </p:nvPr>
        </p:nvSpPr>
        <p:spPr>
          <a:xfrm>
            <a:off x="185352" y="395416"/>
            <a:ext cx="11794982" cy="3409557"/>
          </a:xfrm>
        </p:spPr>
        <p:txBody>
          <a:bodyPr>
            <a:normAutofit/>
          </a:bodyPr>
          <a:lstStyle/>
          <a:p>
            <a:pPr algn="ctr" defTabSz="914400" rtl="0" eaLnBrk="1" latinLnBrk="0" hangingPunct="1">
              <a:lnSpc>
                <a:spcPct val="90000"/>
              </a:lnSpc>
              <a:spcBef>
                <a:spcPct val="0"/>
              </a:spcBef>
              <a:buNone/>
            </a:pPr>
            <a:r>
              <a:rPr lang="en-US" u="sng" dirty="0">
                <a:cs typeface="+mn-cs"/>
              </a:rPr>
              <a:t>Business Intelligence</a:t>
            </a:r>
            <a:endParaRPr lang="en-IL" u="sng" dirty="0">
              <a:cs typeface="+mn-cs"/>
            </a:endParaRPr>
          </a:p>
        </p:txBody>
      </p:sp>
      <p:sp>
        <p:nvSpPr>
          <p:cNvPr id="3" name="Subtitle 2">
            <a:extLst>
              <a:ext uri="{FF2B5EF4-FFF2-40B4-BE49-F238E27FC236}">
                <a16:creationId xmlns:a16="http://schemas.microsoft.com/office/drawing/2014/main" id="{E954BFDD-2D28-4F88-A89F-35EB6574CAC6}"/>
              </a:ext>
            </a:extLst>
          </p:cNvPr>
          <p:cNvSpPr>
            <a:spLocks noGrp="1"/>
          </p:cNvSpPr>
          <p:nvPr>
            <p:ph type="subTitle" idx="1"/>
          </p:nvPr>
        </p:nvSpPr>
        <p:spPr>
          <a:xfrm>
            <a:off x="1510843" y="4276585"/>
            <a:ext cx="9144000" cy="1655762"/>
          </a:xfrm>
        </p:spPr>
        <p:txBody>
          <a:bodyPr>
            <a:normAutofit/>
          </a:bodyPr>
          <a:lstStyle/>
          <a:p>
            <a:pPr marL="0" indent="0" algn="ctr" defTabSz="914400" rtl="1" eaLnBrk="1" latinLnBrk="0" hangingPunct="1">
              <a:lnSpc>
                <a:spcPct val="90000"/>
              </a:lnSpc>
              <a:spcBef>
                <a:spcPts val="1000"/>
              </a:spcBef>
              <a:buFont typeface="Arial" panose="020B0604020202020204" pitchFamily="34" charset="0"/>
              <a:buNone/>
            </a:pPr>
            <a:r>
              <a:rPr lang="en-US" sz="3600" dirty="0"/>
              <a:t>Dashboard in Tableau</a:t>
            </a:r>
            <a:endParaRPr lang="en-IL" sz="3600" dirty="0"/>
          </a:p>
        </p:txBody>
      </p:sp>
      <p:sp>
        <p:nvSpPr>
          <p:cNvPr id="4" name="Slide Number Placeholder 3">
            <a:extLst>
              <a:ext uri="{FF2B5EF4-FFF2-40B4-BE49-F238E27FC236}">
                <a16:creationId xmlns:a16="http://schemas.microsoft.com/office/drawing/2014/main" id="{CAD7C810-8880-4D05-860C-4E520C91B935}"/>
              </a:ext>
            </a:extLst>
          </p:cNvPr>
          <p:cNvSpPr>
            <a:spLocks noGrp="1"/>
          </p:cNvSpPr>
          <p:nvPr>
            <p:ph type="sldNum" sz="quarter" idx="12"/>
          </p:nvPr>
        </p:nvSpPr>
        <p:spPr/>
        <p:txBody>
          <a:bodyPr/>
          <a:lstStyle/>
          <a:p>
            <a:fld id="{B62643F8-DFCD-4B5F-9519-933435FA18FB}" type="slidenum">
              <a:rPr lang="en-IL" smtClean="0"/>
              <a:t>1</a:t>
            </a:fld>
            <a:endParaRPr lang="en-IL"/>
          </a:p>
        </p:txBody>
      </p:sp>
      <p:sp>
        <p:nvSpPr>
          <p:cNvPr id="5" name="Footer Placeholder 4">
            <a:extLst>
              <a:ext uri="{FF2B5EF4-FFF2-40B4-BE49-F238E27FC236}">
                <a16:creationId xmlns:a16="http://schemas.microsoft.com/office/drawing/2014/main" id="{B708135C-5A11-DB47-A5FC-BE38DE9D9770}"/>
              </a:ext>
            </a:extLst>
          </p:cNvPr>
          <p:cNvSpPr>
            <a:spLocks noGrp="1"/>
          </p:cNvSpPr>
          <p:nvPr>
            <p:ph type="ftr" sz="quarter" idx="11"/>
          </p:nvPr>
        </p:nvSpPr>
        <p:spPr/>
        <p:txBody>
          <a:bodyPr/>
          <a:lstStyle/>
          <a:p>
            <a:r>
              <a:rPr lang="en-US" dirty="0"/>
              <a:t>Or </a:t>
            </a:r>
            <a:r>
              <a:rPr lang="en-US" dirty="0" err="1"/>
              <a:t>Peretz</a:t>
            </a:r>
            <a:endParaRPr lang="en-US" dirty="0"/>
          </a:p>
        </p:txBody>
      </p:sp>
    </p:spTree>
    <p:extLst>
      <p:ext uri="{BB962C8B-B14F-4D97-AF65-F5344CB8AC3E}">
        <p14:creationId xmlns:p14="http://schemas.microsoft.com/office/powerpoint/2010/main" val="30173087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8C202FF-6A59-4F0C-A3B0-2576F0D888EE}"/>
              </a:ext>
            </a:extLst>
          </p:cNvPr>
          <p:cNvSpPr>
            <a:spLocks noGrp="1"/>
          </p:cNvSpPr>
          <p:nvPr>
            <p:ph type="body" sz="quarter" idx="12"/>
          </p:nvPr>
        </p:nvSpPr>
        <p:spPr>
          <a:xfrm>
            <a:off x="591714" y="161174"/>
            <a:ext cx="11057578" cy="662297"/>
          </a:xfrm>
        </p:spPr>
        <p:txBody>
          <a:bodyPr/>
          <a:lstStyle/>
          <a:p>
            <a:pPr algn="ctr">
              <a:lnSpc>
                <a:spcPct val="150000"/>
              </a:lnSpc>
            </a:pPr>
            <a:r>
              <a:rPr lang="en-US" sz="3200" b="1" dirty="0">
                <a:solidFill>
                  <a:schemeClr val="tx1"/>
                </a:solidFill>
                <a:latin typeface="+mn-lt"/>
                <a:cs typeface="+mn-cs"/>
              </a:rPr>
              <a:t>What is a Dashboard?</a:t>
            </a:r>
          </a:p>
        </p:txBody>
      </p:sp>
      <p:grpSp>
        <p:nvGrpSpPr>
          <p:cNvPr id="3" name="Group 2">
            <a:extLst>
              <a:ext uri="{FF2B5EF4-FFF2-40B4-BE49-F238E27FC236}">
                <a16:creationId xmlns:a16="http://schemas.microsoft.com/office/drawing/2014/main" id="{A6B4F484-51BC-944F-833F-95CF6ED43914}"/>
              </a:ext>
            </a:extLst>
          </p:cNvPr>
          <p:cNvGrpSpPr/>
          <p:nvPr/>
        </p:nvGrpSpPr>
        <p:grpSpPr>
          <a:xfrm>
            <a:off x="334589" y="1241495"/>
            <a:ext cx="6194365" cy="4616458"/>
            <a:chOff x="401507" y="1489794"/>
            <a:chExt cx="7433238" cy="5539749"/>
          </a:xfrm>
        </p:grpSpPr>
        <p:sp>
          <p:nvSpPr>
            <p:cNvPr id="7" name="Content Placeholder 16">
              <a:extLst>
                <a:ext uri="{FF2B5EF4-FFF2-40B4-BE49-F238E27FC236}">
                  <a16:creationId xmlns:a16="http://schemas.microsoft.com/office/drawing/2014/main" id="{47C6CF6E-F648-4CA3-BE06-A4683D882398}"/>
                </a:ext>
              </a:extLst>
            </p:cNvPr>
            <p:cNvSpPr txBox="1">
              <a:spLocks/>
            </p:cNvSpPr>
            <p:nvPr/>
          </p:nvSpPr>
          <p:spPr>
            <a:xfrm>
              <a:off x="401507" y="1489794"/>
              <a:ext cx="7433238" cy="3061424"/>
            </a:xfrm>
            <a:prstGeom prst="rect">
              <a:avLst/>
            </a:prstGeom>
          </p:spPr>
          <p:txBody>
            <a:bodyPr/>
            <a:lstStyle>
              <a:lvl1pPr marL="488950" indent="-488950" algn="l" defTabSz="1304925" rtl="0" eaLnBrk="1" fontAlgn="base" hangingPunct="1">
                <a:spcBef>
                  <a:spcPct val="20000"/>
                </a:spcBef>
                <a:spcAft>
                  <a:spcPct val="0"/>
                </a:spcAft>
                <a:buFont typeface="Arial" charset="0"/>
                <a:buChar char="•"/>
                <a:defRPr sz="4600" kern="1200">
                  <a:solidFill>
                    <a:schemeClr val="tx1"/>
                  </a:solidFill>
                  <a:latin typeface="+mn-lt"/>
                  <a:ea typeface="ＭＳ Ｐゴシック" charset="0"/>
                  <a:cs typeface="ＭＳ Ｐゴシック" charset="0"/>
                </a:defRPr>
              </a:lvl1pPr>
              <a:lvl2pPr marL="1060450" indent="-407988" algn="l" defTabSz="1304925" rtl="0" eaLnBrk="1" fontAlgn="base" hangingPunct="1">
                <a:spcBef>
                  <a:spcPct val="20000"/>
                </a:spcBef>
                <a:spcAft>
                  <a:spcPct val="0"/>
                </a:spcAft>
                <a:buFont typeface="Arial" charset="0"/>
                <a:buChar char="–"/>
                <a:defRPr sz="4000" kern="1200">
                  <a:solidFill>
                    <a:schemeClr val="tx1"/>
                  </a:solidFill>
                  <a:latin typeface="+mn-lt"/>
                  <a:ea typeface="ＭＳ Ｐゴシック" charset="0"/>
                  <a:cs typeface="+mn-cs"/>
                </a:defRPr>
              </a:lvl2pPr>
              <a:lvl3pPr marL="1631950" indent="-325438" algn="l" defTabSz="1304925" rtl="0" eaLnBrk="1" fontAlgn="base" hangingPunct="1">
                <a:spcBef>
                  <a:spcPct val="20000"/>
                </a:spcBef>
                <a:spcAft>
                  <a:spcPct val="0"/>
                </a:spcAft>
                <a:buFont typeface="Arial" charset="0"/>
                <a:buChar char="•"/>
                <a:defRPr sz="3400" kern="1200">
                  <a:solidFill>
                    <a:schemeClr val="tx1"/>
                  </a:solidFill>
                  <a:latin typeface="+mn-lt"/>
                  <a:ea typeface="ＭＳ Ｐゴシック" charset="0"/>
                  <a:cs typeface="+mn-cs"/>
                </a:defRPr>
              </a:lvl3pPr>
              <a:lvl4pPr marL="2284413" indent="-325438" algn="l" defTabSz="1304925" rtl="0" eaLnBrk="1" fontAlgn="base" hangingPunct="1">
                <a:spcBef>
                  <a:spcPct val="20000"/>
                </a:spcBef>
                <a:spcAft>
                  <a:spcPct val="0"/>
                </a:spcAft>
                <a:buFont typeface="Arial" charset="0"/>
                <a:buChar char="–"/>
                <a:defRPr sz="2900" kern="1200">
                  <a:solidFill>
                    <a:schemeClr val="tx1"/>
                  </a:solidFill>
                  <a:latin typeface="+mn-lt"/>
                  <a:ea typeface="ＭＳ Ｐゴシック" charset="0"/>
                  <a:cs typeface="+mn-cs"/>
                </a:defRPr>
              </a:lvl4pPr>
              <a:lvl5pPr marL="2938463" indent="-325438" algn="l" defTabSz="1304925" rtl="0" eaLnBrk="1" fontAlgn="base" hangingPunct="1">
                <a:spcBef>
                  <a:spcPct val="20000"/>
                </a:spcBef>
                <a:spcAft>
                  <a:spcPct val="0"/>
                </a:spcAft>
                <a:buFont typeface="Arial" charset="0"/>
                <a:buChar char="»"/>
                <a:defRPr sz="2900" kern="1200">
                  <a:solidFill>
                    <a:schemeClr val="tx1"/>
                  </a:solidFill>
                  <a:latin typeface="+mn-lt"/>
                  <a:ea typeface="ＭＳ Ｐゴシック" charset="0"/>
                  <a:cs typeface="+mn-cs"/>
                </a:defRPr>
              </a:lvl5pPr>
              <a:lvl6pPr marL="3592106" indent="-326555" algn="l" defTabSz="1306221"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6pPr>
              <a:lvl7pPr marL="4245216" indent="-326555" algn="l" defTabSz="1306221"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7pPr>
              <a:lvl8pPr marL="4898326" indent="-326555" algn="l" defTabSz="1306221"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8pPr>
              <a:lvl9pPr marL="5551437" indent="-326555" algn="l" defTabSz="1306221"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9pPr>
            </a:lstStyle>
            <a:p>
              <a:pPr marL="0" indent="0">
                <a:buNone/>
              </a:pPr>
              <a:r>
                <a:rPr lang="en-GB" sz="2667" dirty="0">
                  <a:solidFill>
                    <a:srgbClr val="59879B"/>
                  </a:solidFill>
                </a:rPr>
                <a:t>“A dashboard is a visual display of the most important information needed to achieve one or more objectives; consolidated and arranged on a single screen so the information can be monitored at a glance.”</a:t>
              </a:r>
              <a:endParaRPr lang="en-US" sz="2667" dirty="0">
                <a:solidFill>
                  <a:srgbClr val="59879B"/>
                </a:solidFill>
                <a:latin typeface="Gill Sans MT" charset="0"/>
                <a:cs typeface="Gill Sans MT" charset="0"/>
              </a:endParaRPr>
            </a:p>
          </p:txBody>
        </p:sp>
        <p:sp>
          <p:nvSpPr>
            <p:cNvPr id="8" name="Content Placeholder 16">
              <a:extLst>
                <a:ext uri="{FF2B5EF4-FFF2-40B4-BE49-F238E27FC236}">
                  <a16:creationId xmlns:a16="http://schemas.microsoft.com/office/drawing/2014/main" id="{A648DE65-07AB-461A-9CE0-44B1348E2A17}"/>
                </a:ext>
              </a:extLst>
            </p:cNvPr>
            <p:cNvSpPr txBox="1">
              <a:spLocks/>
            </p:cNvSpPr>
            <p:nvPr/>
          </p:nvSpPr>
          <p:spPr>
            <a:xfrm>
              <a:off x="4224313" y="4644001"/>
              <a:ext cx="3120290" cy="1269160"/>
            </a:xfrm>
            <a:prstGeom prst="rect">
              <a:avLst/>
            </a:prstGeom>
          </p:spPr>
          <p:txBody>
            <a:bodyPr/>
            <a:lstStyle>
              <a:lvl1pPr marL="342900" indent="-342900" algn="l" defTabSz="457200" rtl="0" eaLnBrk="1" fontAlgn="base" hangingPunct="1">
                <a:spcBef>
                  <a:spcPct val="20000"/>
                </a:spcBef>
                <a:spcAft>
                  <a:spcPct val="0"/>
                </a:spcAft>
                <a:buClr>
                  <a:srgbClr val="7190BA"/>
                </a:buClr>
                <a:buFont typeface="Arial" charset="0"/>
                <a:buChar char="•"/>
                <a:defRPr sz="2400" kern="1200">
                  <a:solidFill>
                    <a:srgbClr val="404040"/>
                  </a:solidFill>
                  <a:latin typeface="Arial"/>
                  <a:ea typeface="ＭＳ Ｐゴシック" charset="0"/>
                  <a:cs typeface="Arial"/>
                </a:defRPr>
              </a:lvl1pPr>
              <a:lvl2pPr marL="742950" indent="-285750" algn="l" defTabSz="457200" rtl="0" eaLnBrk="1" fontAlgn="base" hangingPunct="1">
                <a:spcBef>
                  <a:spcPct val="20000"/>
                </a:spcBef>
                <a:spcAft>
                  <a:spcPct val="0"/>
                </a:spcAft>
                <a:buClr>
                  <a:srgbClr val="7190BA"/>
                </a:buClr>
                <a:buFont typeface="Arial" charset="0"/>
                <a:buChar char="•"/>
                <a:defRPr sz="2200" kern="1200">
                  <a:solidFill>
                    <a:srgbClr val="404040"/>
                  </a:solidFill>
                  <a:latin typeface="Arial"/>
                  <a:ea typeface="Arial" charset="0"/>
                  <a:cs typeface="Arial"/>
                </a:defRPr>
              </a:lvl2pPr>
              <a:lvl3pPr marL="1143000" indent="-228600" algn="l" defTabSz="457200" rtl="0" eaLnBrk="1" fontAlgn="base" hangingPunct="1">
                <a:spcBef>
                  <a:spcPct val="20000"/>
                </a:spcBef>
                <a:spcAft>
                  <a:spcPct val="0"/>
                </a:spcAft>
                <a:buClr>
                  <a:srgbClr val="7190BA"/>
                </a:buClr>
                <a:buFont typeface="Arial" charset="0"/>
                <a:buChar char="•"/>
                <a:defRPr sz="2000" kern="1200">
                  <a:solidFill>
                    <a:srgbClr val="404040"/>
                  </a:solidFill>
                  <a:latin typeface="Arial"/>
                  <a:ea typeface="Arial" charset="0"/>
                  <a:cs typeface="Arial"/>
                </a:defRPr>
              </a:lvl3pPr>
              <a:lvl4pPr marL="1600200" indent="-228600" algn="l" defTabSz="457200" rtl="0" eaLnBrk="1" fontAlgn="base" hangingPunct="1">
                <a:spcBef>
                  <a:spcPct val="20000"/>
                </a:spcBef>
                <a:spcAft>
                  <a:spcPct val="0"/>
                </a:spcAft>
                <a:buClr>
                  <a:srgbClr val="7190BA"/>
                </a:buClr>
                <a:buFont typeface="Arial" charset="0"/>
                <a:buChar char="•"/>
                <a:defRPr kern="1200">
                  <a:solidFill>
                    <a:srgbClr val="404040"/>
                  </a:solidFill>
                  <a:latin typeface="Arial"/>
                  <a:ea typeface="Arial" charset="0"/>
                  <a:cs typeface="Arial"/>
                </a:defRPr>
              </a:lvl4pPr>
              <a:lvl5pPr marL="2057400" indent="-228600" algn="l" defTabSz="457200" rtl="0" eaLnBrk="1" fontAlgn="base" hangingPunct="1">
                <a:spcBef>
                  <a:spcPct val="20000"/>
                </a:spcBef>
                <a:spcAft>
                  <a:spcPct val="0"/>
                </a:spcAft>
                <a:buClr>
                  <a:srgbClr val="7190BA"/>
                </a:buClr>
                <a:buFont typeface="Arial" charset="0"/>
                <a:buChar char="•"/>
                <a:defRPr sz="1600" kern="1200">
                  <a:solidFill>
                    <a:srgbClr val="404040"/>
                  </a:solidFill>
                  <a:latin typeface="Arial"/>
                  <a:ea typeface="Arial" charset="0"/>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GB" sz="3000" i="1" dirty="0">
                  <a:solidFill>
                    <a:srgbClr val="002060"/>
                  </a:solidFill>
                </a:rPr>
                <a:t>Stephen Few (2004)</a:t>
              </a:r>
              <a:endParaRPr lang="en-US" sz="3000" i="1" dirty="0">
                <a:solidFill>
                  <a:srgbClr val="002060"/>
                </a:solidFill>
                <a:latin typeface="Gill Sans MT" charset="0"/>
                <a:cs typeface="Gill Sans MT" charset="0"/>
              </a:endParaRPr>
            </a:p>
          </p:txBody>
        </p:sp>
        <p:pic>
          <p:nvPicPr>
            <p:cNvPr id="9" name="Picture 2">
              <a:extLst>
                <a:ext uri="{FF2B5EF4-FFF2-40B4-BE49-F238E27FC236}">
                  <a16:creationId xmlns:a16="http://schemas.microsoft.com/office/drawing/2014/main" id="{01B1FC9D-F078-4DF3-B94E-D85382324755}"/>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345220" y="4628325"/>
              <a:ext cx="1853672" cy="2401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 name="Group 1">
            <a:extLst>
              <a:ext uri="{FF2B5EF4-FFF2-40B4-BE49-F238E27FC236}">
                <a16:creationId xmlns:a16="http://schemas.microsoft.com/office/drawing/2014/main" id="{A428AB59-1064-2043-9794-C87E673F5679}"/>
              </a:ext>
            </a:extLst>
          </p:cNvPr>
          <p:cNvGrpSpPr/>
          <p:nvPr/>
        </p:nvGrpSpPr>
        <p:grpSpPr>
          <a:xfrm>
            <a:off x="6788380" y="979817"/>
            <a:ext cx="4698477" cy="4802618"/>
            <a:chOff x="8146056" y="1175780"/>
            <a:chExt cx="5638172" cy="5763142"/>
          </a:xfrm>
        </p:grpSpPr>
        <p:sp>
          <p:nvSpPr>
            <p:cNvPr id="10" name="Content Placeholder 16">
              <a:extLst>
                <a:ext uri="{FF2B5EF4-FFF2-40B4-BE49-F238E27FC236}">
                  <a16:creationId xmlns:a16="http://schemas.microsoft.com/office/drawing/2014/main" id="{34670C42-59E7-40E6-A369-454959631189}"/>
                </a:ext>
              </a:extLst>
            </p:cNvPr>
            <p:cNvSpPr txBox="1">
              <a:spLocks/>
            </p:cNvSpPr>
            <p:nvPr/>
          </p:nvSpPr>
          <p:spPr>
            <a:xfrm>
              <a:off x="8171478" y="1175780"/>
              <a:ext cx="5575487" cy="3580614"/>
            </a:xfrm>
            <a:prstGeom prst="rect">
              <a:avLst/>
            </a:prstGeom>
          </p:spPr>
          <p:txBody>
            <a:bodyPr/>
            <a:lstStyle>
              <a:lvl1pPr marL="488950" indent="-488950" algn="l" defTabSz="1304925" rtl="0" eaLnBrk="1" fontAlgn="base" hangingPunct="1">
                <a:spcBef>
                  <a:spcPct val="20000"/>
                </a:spcBef>
                <a:spcAft>
                  <a:spcPct val="0"/>
                </a:spcAft>
                <a:buFont typeface="Arial" charset="0"/>
                <a:buChar char="•"/>
                <a:defRPr sz="4600" kern="1200">
                  <a:solidFill>
                    <a:schemeClr val="tx1"/>
                  </a:solidFill>
                  <a:latin typeface="+mn-lt"/>
                  <a:ea typeface="ＭＳ Ｐゴシック" charset="0"/>
                  <a:cs typeface="ＭＳ Ｐゴシック" charset="0"/>
                </a:defRPr>
              </a:lvl1pPr>
              <a:lvl2pPr marL="1060450" indent="-407988" algn="l" defTabSz="1304925" rtl="0" eaLnBrk="1" fontAlgn="base" hangingPunct="1">
                <a:spcBef>
                  <a:spcPct val="20000"/>
                </a:spcBef>
                <a:spcAft>
                  <a:spcPct val="0"/>
                </a:spcAft>
                <a:buFont typeface="Arial" charset="0"/>
                <a:buChar char="–"/>
                <a:defRPr sz="4000" kern="1200">
                  <a:solidFill>
                    <a:schemeClr val="tx1"/>
                  </a:solidFill>
                  <a:latin typeface="+mn-lt"/>
                  <a:ea typeface="ＭＳ Ｐゴシック" charset="0"/>
                  <a:cs typeface="+mn-cs"/>
                </a:defRPr>
              </a:lvl2pPr>
              <a:lvl3pPr marL="1631950" indent="-325438" algn="l" defTabSz="1304925" rtl="0" eaLnBrk="1" fontAlgn="base" hangingPunct="1">
                <a:spcBef>
                  <a:spcPct val="20000"/>
                </a:spcBef>
                <a:spcAft>
                  <a:spcPct val="0"/>
                </a:spcAft>
                <a:buFont typeface="Arial" charset="0"/>
                <a:buChar char="•"/>
                <a:defRPr sz="3400" kern="1200">
                  <a:solidFill>
                    <a:schemeClr val="tx1"/>
                  </a:solidFill>
                  <a:latin typeface="+mn-lt"/>
                  <a:ea typeface="ＭＳ Ｐゴシック" charset="0"/>
                  <a:cs typeface="+mn-cs"/>
                </a:defRPr>
              </a:lvl3pPr>
              <a:lvl4pPr marL="2284413" indent="-325438" algn="l" defTabSz="1304925" rtl="0" eaLnBrk="1" fontAlgn="base" hangingPunct="1">
                <a:spcBef>
                  <a:spcPct val="20000"/>
                </a:spcBef>
                <a:spcAft>
                  <a:spcPct val="0"/>
                </a:spcAft>
                <a:buFont typeface="Arial" charset="0"/>
                <a:buChar char="–"/>
                <a:defRPr sz="2900" kern="1200">
                  <a:solidFill>
                    <a:schemeClr val="tx1"/>
                  </a:solidFill>
                  <a:latin typeface="+mn-lt"/>
                  <a:ea typeface="ＭＳ Ｐゴシック" charset="0"/>
                  <a:cs typeface="+mn-cs"/>
                </a:defRPr>
              </a:lvl4pPr>
              <a:lvl5pPr marL="2938463" indent="-325438" algn="l" defTabSz="1304925" rtl="0" eaLnBrk="1" fontAlgn="base" hangingPunct="1">
                <a:spcBef>
                  <a:spcPct val="20000"/>
                </a:spcBef>
                <a:spcAft>
                  <a:spcPct val="0"/>
                </a:spcAft>
                <a:buFont typeface="Arial" charset="0"/>
                <a:buChar char="»"/>
                <a:defRPr sz="2900" kern="1200">
                  <a:solidFill>
                    <a:schemeClr val="tx1"/>
                  </a:solidFill>
                  <a:latin typeface="+mn-lt"/>
                  <a:ea typeface="ＭＳ Ｐゴシック" charset="0"/>
                  <a:cs typeface="+mn-cs"/>
                </a:defRPr>
              </a:lvl5pPr>
              <a:lvl6pPr marL="3592106" indent="-326555" algn="l" defTabSz="1306221"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6pPr>
              <a:lvl7pPr marL="4245216" indent="-326555" algn="l" defTabSz="1306221"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7pPr>
              <a:lvl8pPr marL="4898326" indent="-326555" algn="l" defTabSz="1306221"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8pPr>
              <a:lvl9pPr marL="5551437" indent="-326555" algn="l" defTabSz="1306221"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9pPr>
            </a:lstStyle>
            <a:p>
              <a:pPr marL="0" indent="0">
                <a:buNone/>
              </a:pPr>
              <a:r>
                <a:rPr lang="en-GB" sz="2800" dirty="0">
                  <a:solidFill>
                    <a:srgbClr val="59879B"/>
                  </a:solidFill>
                </a:rPr>
                <a:t>“A dashboard is a visual display of data used to monitor conditions and/or facilitate </a:t>
              </a:r>
              <a:r>
                <a:rPr lang="en-GB" sz="2800" b="1" dirty="0">
                  <a:solidFill>
                    <a:srgbClr val="59879B"/>
                  </a:solidFill>
                </a:rPr>
                <a:t>understanding</a:t>
              </a:r>
              <a:r>
                <a:rPr lang="en-GB" sz="2800" dirty="0">
                  <a:solidFill>
                    <a:srgbClr val="59879B"/>
                  </a:solidFill>
                </a:rPr>
                <a:t>”</a:t>
              </a:r>
              <a:endParaRPr lang="en-US" sz="2800" dirty="0">
                <a:solidFill>
                  <a:srgbClr val="59879B"/>
                </a:solidFill>
                <a:latin typeface="Gill Sans MT" charset="0"/>
                <a:cs typeface="Gill Sans MT" charset="0"/>
              </a:endParaRPr>
            </a:p>
          </p:txBody>
        </p:sp>
        <p:sp>
          <p:nvSpPr>
            <p:cNvPr id="11" name="Content Placeholder 16">
              <a:extLst>
                <a:ext uri="{FF2B5EF4-FFF2-40B4-BE49-F238E27FC236}">
                  <a16:creationId xmlns:a16="http://schemas.microsoft.com/office/drawing/2014/main" id="{DD329121-B21F-46E4-98D5-DE52DDBC7E97}"/>
                </a:ext>
              </a:extLst>
            </p:cNvPr>
            <p:cNvSpPr txBox="1">
              <a:spLocks/>
            </p:cNvSpPr>
            <p:nvPr/>
          </p:nvSpPr>
          <p:spPr>
            <a:xfrm>
              <a:off x="8146056" y="3806451"/>
              <a:ext cx="5626330" cy="1137558"/>
            </a:xfrm>
            <a:prstGeom prst="rect">
              <a:avLst/>
            </a:prstGeom>
          </p:spPr>
          <p:txBody>
            <a:bodyPr/>
            <a:lstStyle>
              <a:lvl1pPr marL="342900" indent="-342900" algn="l" defTabSz="457200" rtl="0" eaLnBrk="1" fontAlgn="base" hangingPunct="1">
                <a:spcBef>
                  <a:spcPct val="20000"/>
                </a:spcBef>
                <a:spcAft>
                  <a:spcPct val="0"/>
                </a:spcAft>
                <a:buClr>
                  <a:srgbClr val="7190BA"/>
                </a:buClr>
                <a:buFont typeface="Arial" charset="0"/>
                <a:buChar char="•"/>
                <a:defRPr sz="2400" kern="1200">
                  <a:solidFill>
                    <a:srgbClr val="404040"/>
                  </a:solidFill>
                  <a:latin typeface="Arial"/>
                  <a:ea typeface="ＭＳ Ｐゴシック" charset="0"/>
                  <a:cs typeface="Arial"/>
                </a:defRPr>
              </a:lvl1pPr>
              <a:lvl2pPr marL="742950" indent="-285750" algn="l" defTabSz="457200" rtl="0" eaLnBrk="1" fontAlgn="base" hangingPunct="1">
                <a:spcBef>
                  <a:spcPct val="20000"/>
                </a:spcBef>
                <a:spcAft>
                  <a:spcPct val="0"/>
                </a:spcAft>
                <a:buClr>
                  <a:srgbClr val="7190BA"/>
                </a:buClr>
                <a:buFont typeface="Arial" charset="0"/>
                <a:buChar char="•"/>
                <a:defRPr sz="2200" kern="1200">
                  <a:solidFill>
                    <a:srgbClr val="404040"/>
                  </a:solidFill>
                  <a:latin typeface="Arial"/>
                  <a:ea typeface="Arial" charset="0"/>
                  <a:cs typeface="Arial"/>
                </a:defRPr>
              </a:lvl2pPr>
              <a:lvl3pPr marL="1143000" indent="-228600" algn="l" defTabSz="457200" rtl="0" eaLnBrk="1" fontAlgn="base" hangingPunct="1">
                <a:spcBef>
                  <a:spcPct val="20000"/>
                </a:spcBef>
                <a:spcAft>
                  <a:spcPct val="0"/>
                </a:spcAft>
                <a:buClr>
                  <a:srgbClr val="7190BA"/>
                </a:buClr>
                <a:buFont typeface="Arial" charset="0"/>
                <a:buChar char="•"/>
                <a:defRPr sz="2000" kern="1200">
                  <a:solidFill>
                    <a:srgbClr val="404040"/>
                  </a:solidFill>
                  <a:latin typeface="Arial"/>
                  <a:ea typeface="Arial" charset="0"/>
                  <a:cs typeface="Arial"/>
                </a:defRPr>
              </a:lvl3pPr>
              <a:lvl4pPr marL="1600200" indent="-228600" algn="l" defTabSz="457200" rtl="0" eaLnBrk="1" fontAlgn="base" hangingPunct="1">
                <a:spcBef>
                  <a:spcPct val="20000"/>
                </a:spcBef>
                <a:spcAft>
                  <a:spcPct val="0"/>
                </a:spcAft>
                <a:buClr>
                  <a:srgbClr val="7190BA"/>
                </a:buClr>
                <a:buFont typeface="Arial" charset="0"/>
                <a:buChar char="•"/>
                <a:defRPr kern="1200">
                  <a:solidFill>
                    <a:srgbClr val="404040"/>
                  </a:solidFill>
                  <a:latin typeface="Arial"/>
                  <a:ea typeface="Arial" charset="0"/>
                  <a:cs typeface="Arial"/>
                </a:defRPr>
              </a:lvl4pPr>
              <a:lvl5pPr marL="2057400" indent="-228600" algn="l" defTabSz="457200" rtl="0" eaLnBrk="1" fontAlgn="base" hangingPunct="1">
                <a:spcBef>
                  <a:spcPct val="20000"/>
                </a:spcBef>
                <a:spcAft>
                  <a:spcPct val="0"/>
                </a:spcAft>
                <a:buClr>
                  <a:srgbClr val="7190BA"/>
                </a:buClr>
                <a:buFont typeface="Arial" charset="0"/>
                <a:buChar char="•"/>
                <a:defRPr sz="1600" kern="1200">
                  <a:solidFill>
                    <a:srgbClr val="404040"/>
                  </a:solidFill>
                  <a:latin typeface="Arial"/>
                  <a:ea typeface="Arial" charset="0"/>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GB" sz="3200" i="1" dirty="0"/>
                <a:t>Big Book of Dashboards (2017)</a:t>
              </a:r>
              <a:endParaRPr lang="en-US" sz="3200" i="1" dirty="0">
                <a:latin typeface="Gill Sans MT" charset="0"/>
                <a:cs typeface="Gill Sans MT" charset="0"/>
              </a:endParaRPr>
            </a:p>
          </p:txBody>
        </p:sp>
        <p:pic>
          <p:nvPicPr>
            <p:cNvPr id="12" name="Picture 11">
              <a:extLst>
                <a:ext uri="{FF2B5EF4-FFF2-40B4-BE49-F238E27FC236}">
                  <a16:creationId xmlns:a16="http://schemas.microsoft.com/office/drawing/2014/main" id="{0C41DD13-ED24-4C07-AB99-F0C46C282AF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516157" y="4628325"/>
              <a:ext cx="2268071" cy="2310597"/>
            </a:xfrm>
            <a:prstGeom prst="rect">
              <a:avLst/>
            </a:prstGeom>
          </p:spPr>
        </p:pic>
      </p:grpSp>
    </p:spTree>
    <p:extLst>
      <p:ext uri="{BB962C8B-B14F-4D97-AF65-F5344CB8AC3E}">
        <p14:creationId xmlns:p14="http://schemas.microsoft.com/office/powerpoint/2010/main" val="39279203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2"/>
          </p:nvPr>
        </p:nvSpPr>
        <p:spPr>
          <a:xfrm>
            <a:off x="591714" y="498916"/>
            <a:ext cx="11057578" cy="662297"/>
          </a:xfrm>
        </p:spPr>
        <p:txBody>
          <a:bodyPr/>
          <a:lstStyle/>
          <a:p>
            <a:pPr algn="ctr">
              <a:lnSpc>
                <a:spcPct val="150000"/>
              </a:lnSpc>
            </a:pPr>
            <a:r>
              <a:rPr lang="en-US" sz="3200" b="1" dirty="0">
                <a:solidFill>
                  <a:schemeClr val="tx1"/>
                </a:solidFill>
                <a:latin typeface="+mn-lt"/>
                <a:cs typeface="+mn-cs"/>
              </a:rPr>
              <a:t>What Makes a Good Dashboard?</a:t>
            </a:r>
          </a:p>
        </p:txBody>
      </p:sp>
      <p:sp>
        <p:nvSpPr>
          <p:cNvPr id="9" name="Rectangle 8">
            <a:extLst>
              <a:ext uri="{FF2B5EF4-FFF2-40B4-BE49-F238E27FC236}">
                <a16:creationId xmlns:a16="http://schemas.microsoft.com/office/drawing/2014/main" id="{6C407EC7-8BB9-4C58-A90E-3F85FF2C438C}"/>
              </a:ext>
            </a:extLst>
          </p:cNvPr>
          <p:cNvSpPr/>
          <p:nvPr/>
        </p:nvSpPr>
        <p:spPr>
          <a:xfrm>
            <a:off x="591715" y="1589772"/>
            <a:ext cx="5360352" cy="3913059"/>
          </a:xfrm>
          <a:prstGeom prst="rect">
            <a:avLst/>
          </a:prstGeom>
        </p:spPr>
        <p:txBody>
          <a:bodyPr wrap="square">
            <a:spAutoFit/>
          </a:bodyPr>
          <a:lstStyle/>
          <a:p>
            <a:pPr marL="457200" indent="-457200">
              <a:lnSpc>
                <a:spcPct val="150000"/>
              </a:lnSpc>
              <a:buFont typeface="+mj-lt"/>
              <a:buAutoNum type="arabicPeriod"/>
            </a:pPr>
            <a:r>
              <a:rPr lang="en-US" sz="2400" dirty="0"/>
              <a:t>Answers a set of questions</a:t>
            </a:r>
          </a:p>
          <a:p>
            <a:pPr marL="457200" indent="-457200">
              <a:lnSpc>
                <a:spcPct val="150000"/>
              </a:lnSpc>
              <a:buFont typeface="+mj-lt"/>
              <a:buAutoNum type="arabicPeriod"/>
            </a:pPr>
            <a:r>
              <a:rPr lang="en-US" sz="2400" dirty="0"/>
              <a:t>Follows a flow and invites interactivity</a:t>
            </a:r>
          </a:p>
          <a:p>
            <a:pPr marL="457200" indent="-457200">
              <a:lnSpc>
                <a:spcPct val="150000"/>
              </a:lnSpc>
              <a:buFont typeface="+mj-lt"/>
              <a:buAutoNum type="arabicPeriod"/>
            </a:pPr>
            <a:r>
              <a:rPr lang="en-US" sz="2400" dirty="0"/>
              <a:t>Primarily in the form of summaries and exceptions</a:t>
            </a:r>
          </a:p>
          <a:p>
            <a:pPr marL="457200" indent="-457200">
              <a:lnSpc>
                <a:spcPct val="150000"/>
              </a:lnSpc>
              <a:buFont typeface="+mj-lt"/>
              <a:buAutoNum type="arabicPeriod"/>
            </a:pPr>
            <a:r>
              <a:rPr lang="en-US" sz="2400" dirty="0"/>
              <a:t>Specific to and customized for the dashboard’s audience and objectives</a:t>
            </a:r>
          </a:p>
          <a:p>
            <a:pPr marL="457200" indent="-457200">
              <a:lnSpc>
                <a:spcPct val="150000"/>
              </a:lnSpc>
              <a:buFont typeface="+mj-lt"/>
              <a:buAutoNum type="arabicPeriod"/>
            </a:pPr>
            <a:r>
              <a:rPr lang="en-US" sz="2400" dirty="0"/>
              <a:t>Makes strategic use of color</a:t>
            </a:r>
          </a:p>
        </p:txBody>
      </p:sp>
      <p:pic>
        <p:nvPicPr>
          <p:cNvPr id="1026" name="Picture 2" descr="How to Create a Dashboard in Power BI?">
            <a:extLst>
              <a:ext uri="{FF2B5EF4-FFF2-40B4-BE49-F238E27FC236}">
                <a16:creationId xmlns:a16="http://schemas.microsoft.com/office/drawing/2014/main" id="{84AC2FB5-6ED4-1AFB-0B93-DC420A451F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9798" y="1961805"/>
            <a:ext cx="5170487" cy="3346794"/>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C688FA3A-757A-5370-351A-81BBFDC77799}"/>
              </a:ext>
            </a:extLst>
          </p:cNvPr>
          <p:cNvSpPr>
            <a:spLocks noGrp="1" noChangeArrowheads="1"/>
          </p:cNvSpPr>
          <p:nvPr>
            <p:ph type="title"/>
          </p:nvPr>
        </p:nvSpPr>
        <p:spPr>
          <a:xfrm>
            <a:off x="838200" y="37570"/>
            <a:ext cx="10515600" cy="1325563"/>
          </a:xfrm>
          <a:noFill/>
        </p:spPr>
        <p:txBody>
          <a:bodyPr vert="horz" lIns="90840" tIns="44623" rIns="90840" bIns="44623" rtlCol="0" anchor="ctr">
            <a:normAutofit/>
          </a:bodyPr>
          <a:lstStyle/>
          <a:p>
            <a:pPr algn="ctr">
              <a:lnSpc>
                <a:spcPct val="150000"/>
              </a:lnSpc>
              <a:spcBef>
                <a:spcPts val="1000"/>
              </a:spcBef>
            </a:pPr>
            <a:r>
              <a:rPr lang="en-GB" altLang="en-IL" sz="3200" b="1" dirty="0">
                <a:latin typeface="+mn-lt"/>
                <a:ea typeface="+mn-ea"/>
                <a:cs typeface="+mn-cs"/>
              </a:rPr>
              <a:t>The User Interface - UI</a:t>
            </a:r>
          </a:p>
        </p:txBody>
      </p:sp>
      <p:sp>
        <p:nvSpPr>
          <p:cNvPr id="9219" name="Rectangle 3">
            <a:extLst>
              <a:ext uri="{FF2B5EF4-FFF2-40B4-BE49-F238E27FC236}">
                <a16:creationId xmlns:a16="http://schemas.microsoft.com/office/drawing/2014/main" id="{B6493E70-E540-A02A-9CB4-5A50EF6DD213}"/>
              </a:ext>
            </a:extLst>
          </p:cNvPr>
          <p:cNvSpPr>
            <a:spLocks noGrp="1" noChangeArrowheads="1"/>
          </p:cNvSpPr>
          <p:nvPr>
            <p:ph type="body" idx="1"/>
          </p:nvPr>
        </p:nvSpPr>
        <p:spPr>
          <a:xfrm>
            <a:off x="591831" y="1134533"/>
            <a:ext cx="11065933" cy="4813830"/>
          </a:xfrm>
          <a:noFill/>
        </p:spPr>
        <p:txBody>
          <a:bodyPr vert="horz" lIns="90840" tIns="44623" rIns="90840" bIns="44623" rtlCol="0">
            <a:normAutofit/>
          </a:bodyPr>
          <a:lstStyle/>
          <a:p>
            <a:pPr>
              <a:lnSpc>
                <a:spcPct val="150000"/>
              </a:lnSpc>
            </a:pPr>
            <a:r>
              <a:rPr lang="en-GB" altLang="en-IL" sz="2400" dirty="0"/>
              <a:t>User interfaces should be designed to match the skills, experience and expectations. </a:t>
            </a:r>
          </a:p>
          <a:p>
            <a:pPr>
              <a:lnSpc>
                <a:spcPct val="150000"/>
              </a:lnSpc>
            </a:pPr>
            <a:r>
              <a:rPr lang="en-GB" altLang="en-IL" sz="2400" dirty="0"/>
              <a:t>System users often judge a system by its interface rather than its functionality.</a:t>
            </a:r>
          </a:p>
          <a:p>
            <a:pPr>
              <a:lnSpc>
                <a:spcPct val="150000"/>
              </a:lnSpc>
            </a:pPr>
            <a:r>
              <a:rPr lang="en-GB" altLang="en-IL" sz="2400" dirty="0"/>
              <a:t>A poorly designed interface can cause a user to make catastrophic errors.</a:t>
            </a:r>
          </a:p>
          <a:p>
            <a:pPr>
              <a:lnSpc>
                <a:spcPct val="150000"/>
              </a:lnSpc>
            </a:pPr>
            <a:r>
              <a:rPr lang="en-GB" altLang="en-IL" sz="2400" dirty="0"/>
              <a:t>Poor user interface design is the reason why so many software systems are never used.</a:t>
            </a:r>
          </a:p>
        </p:txBody>
      </p:sp>
      <p:pic>
        <p:nvPicPr>
          <p:cNvPr id="2052" name="Picture 4" descr="What is a Graphical User Interface (GUI) | Vapulus - Payment Gateway">
            <a:extLst>
              <a:ext uri="{FF2B5EF4-FFF2-40B4-BE49-F238E27FC236}">
                <a16:creationId xmlns:a16="http://schemas.microsoft.com/office/drawing/2014/main" id="{2DB2257F-2D31-FB37-D325-3ED307CCD26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8056" r="28194"/>
          <a:stretch/>
        </p:blipFill>
        <p:spPr bwMode="auto">
          <a:xfrm>
            <a:off x="4250918" y="4051830"/>
            <a:ext cx="3747760" cy="25632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7F9D5620-59C0-A506-D4DB-069E6AE00E12}"/>
              </a:ext>
            </a:extLst>
          </p:cNvPr>
          <p:cNvSpPr>
            <a:spLocks noGrp="1" noChangeArrowheads="1"/>
          </p:cNvSpPr>
          <p:nvPr>
            <p:ph type="title"/>
          </p:nvPr>
        </p:nvSpPr>
        <p:spPr>
          <a:xfrm>
            <a:off x="838200" y="54504"/>
            <a:ext cx="10515600" cy="1325563"/>
          </a:xfrm>
          <a:noFill/>
        </p:spPr>
        <p:txBody>
          <a:bodyPr vert="horz" lIns="90840" tIns="44623" rIns="90840" bIns="44623" rtlCol="0" anchor="ctr">
            <a:normAutofit/>
          </a:bodyPr>
          <a:lstStyle/>
          <a:p>
            <a:pPr algn="ctr">
              <a:lnSpc>
                <a:spcPct val="150000"/>
              </a:lnSpc>
              <a:spcBef>
                <a:spcPts val="1000"/>
              </a:spcBef>
            </a:pPr>
            <a:r>
              <a:rPr lang="en-GB" altLang="en-IL" sz="3200" b="1" dirty="0">
                <a:latin typeface="+mn-lt"/>
                <a:ea typeface="+mn-ea"/>
                <a:cs typeface="+mn-cs"/>
              </a:rPr>
              <a:t>Human Factors in Interface Design</a:t>
            </a:r>
          </a:p>
        </p:txBody>
      </p:sp>
      <p:sp>
        <p:nvSpPr>
          <p:cNvPr id="10243" name="Rectangle 3">
            <a:extLst>
              <a:ext uri="{FF2B5EF4-FFF2-40B4-BE49-F238E27FC236}">
                <a16:creationId xmlns:a16="http://schemas.microsoft.com/office/drawing/2014/main" id="{B77409DE-DB2B-D685-7A42-42CB9C8C27D5}"/>
              </a:ext>
            </a:extLst>
          </p:cNvPr>
          <p:cNvSpPr>
            <a:spLocks noGrp="1" noChangeArrowheads="1"/>
          </p:cNvSpPr>
          <p:nvPr>
            <p:ph type="body" idx="1"/>
          </p:nvPr>
        </p:nvSpPr>
        <p:spPr>
          <a:xfrm>
            <a:off x="567267" y="1380067"/>
            <a:ext cx="10786533" cy="4796896"/>
          </a:xfrm>
          <a:noFill/>
        </p:spPr>
        <p:txBody>
          <a:bodyPr vert="horz" lIns="90840" tIns="44623" rIns="90840" bIns="44623" rtlCol="0">
            <a:normAutofit/>
          </a:bodyPr>
          <a:lstStyle/>
          <a:p>
            <a:pPr>
              <a:lnSpc>
                <a:spcPct val="150000"/>
              </a:lnSpc>
            </a:pPr>
            <a:r>
              <a:rPr lang="en-GB" altLang="en-IL" sz="2400" dirty="0"/>
              <a:t>Limited short-term memory</a:t>
            </a:r>
          </a:p>
          <a:p>
            <a:pPr lvl="1">
              <a:lnSpc>
                <a:spcPct val="150000"/>
              </a:lnSpc>
            </a:pPr>
            <a:r>
              <a:rPr lang="en-GB" altLang="en-IL" sz="2000" dirty="0"/>
              <a:t>People can instantaneously remember about 7 items of information. If you present more than this, they are more liable to make mistakes.</a:t>
            </a:r>
          </a:p>
          <a:p>
            <a:pPr>
              <a:lnSpc>
                <a:spcPct val="150000"/>
              </a:lnSpc>
            </a:pPr>
            <a:r>
              <a:rPr lang="en-GB" altLang="en-IL" sz="2400" dirty="0"/>
              <a:t>People make mistakes</a:t>
            </a:r>
          </a:p>
          <a:p>
            <a:pPr lvl="1">
              <a:lnSpc>
                <a:spcPct val="150000"/>
              </a:lnSpc>
            </a:pPr>
            <a:r>
              <a:rPr lang="en-GB" altLang="en-IL" sz="2000" dirty="0"/>
              <a:t>When people make mistakes and systems go wrong, inappropriate alarms and messages can increase stress and hence the likelihood of more mistakes.</a:t>
            </a:r>
          </a:p>
          <a:p>
            <a:pPr>
              <a:lnSpc>
                <a:spcPct val="150000"/>
              </a:lnSpc>
            </a:pPr>
            <a:r>
              <a:rPr lang="en-GB" altLang="en-IL" sz="2400" dirty="0"/>
              <a:t>People have different interaction preferences</a:t>
            </a:r>
          </a:p>
          <a:p>
            <a:pPr lvl="1">
              <a:lnSpc>
                <a:spcPct val="150000"/>
              </a:lnSpc>
            </a:pPr>
            <a:r>
              <a:rPr lang="en-GB" altLang="en-IL" sz="2000" dirty="0"/>
              <a:t>Some like pictures, some like text.</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0F48E307-1C90-4628-2B2E-1FDC24989182}"/>
              </a:ext>
            </a:extLst>
          </p:cNvPr>
          <p:cNvSpPr>
            <a:spLocks noGrp="1" noChangeArrowheads="1"/>
          </p:cNvSpPr>
          <p:nvPr>
            <p:ph type="title"/>
          </p:nvPr>
        </p:nvSpPr>
        <p:spPr>
          <a:xfrm>
            <a:off x="838200" y="0"/>
            <a:ext cx="10515600" cy="1325563"/>
          </a:xfrm>
          <a:noFill/>
        </p:spPr>
        <p:txBody>
          <a:bodyPr vert="horz" lIns="90840" tIns="44623" rIns="90840" bIns="44623" rtlCol="0" anchor="ctr">
            <a:normAutofit/>
          </a:bodyPr>
          <a:lstStyle/>
          <a:p>
            <a:pPr algn="ctr">
              <a:lnSpc>
                <a:spcPct val="150000"/>
              </a:lnSpc>
              <a:spcBef>
                <a:spcPts val="1000"/>
              </a:spcBef>
            </a:pPr>
            <a:r>
              <a:rPr lang="en-GB" altLang="en-IL" sz="3200" b="1" dirty="0">
                <a:latin typeface="+mn-lt"/>
                <a:ea typeface="+mn-ea"/>
                <a:cs typeface="+mn-cs"/>
              </a:rPr>
              <a:t>UI Design Principles</a:t>
            </a:r>
          </a:p>
        </p:txBody>
      </p:sp>
      <p:sp>
        <p:nvSpPr>
          <p:cNvPr id="12291" name="Rectangle 3">
            <a:extLst>
              <a:ext uri="{FF2B5EF4-FFF2-40B4-BE49-F238E27FC236}">
                <a16:creationId xmlns:a16="http://schemas.microsoft.com/office/drawing/2014/main" id="{F291EE10-08CE-EBA1-44EF-B95FE46FC4C8}"/>
              </a:ext>
            </a:extLst>
          </p:cNvPr>
          <p:cNvSpPr>
            <a:spLocks noGrp="1" noChangeArrowheads="1"/>
          </p:cNvSpPr>
          <p:nvPr>
            <p:ph type="body" idx="1"/>
          </p:nvPr>
        </p:nvSpPr>
        <p:spPr>
          <a:xfrm>
            <a:off x="736600" y="1363133"/>
            <a:ext cx="10617200" cy="4813830"/>
          </a:xfrm>
          <a:noFill/>
        </p:spPr>
        <p:txBody>
          <a:bodyPr vert="horz" lIns="90840" tIns="44623" rIns="90840" bIns="44623" rtlCol="0">
            <a:normAutofit/>
          </a:bodyPr>
          <a:lstStyle/>
          <a:p>
            <a:pPr>
              <a:lnSpc>
                <a:spcPct val="150000"/>
              </a:lnSpc>
            </a:pPr>
            <a:r>
              <a:rPr lang="en-GB" altLang="en-IL" sz="2400" dirty="0"/>
              <a:t>User familiarity</a:t>
            </a:r>
          </a:p>
          <a:p>
            <a:pPr lvl="1">
              <a:lnSpc>
                <a:spcPct val="150000"/>
              </a:lnSpc>
            </a:pPr>
            <a:r>
              <a:rPr lang="en-GB" altLang="en-IL" sz="2000" dirty="0"/>
              <a:t>The interface should be based on user-oriented terms</a:t>
            </a:r>
          </a:p>
          <a:p>
            <a:pPr>
              <a:lnSpc>
                <a:spcPct val="150000"/>
              </a:lnSpc>
            </a:pPr>
            <a:r>
              <a:rPr lang="en-GB" altLang="en-IL" sz="2400" dirty="0"/>
              <a:t>Consistency</a:t>
            </a:r>
          </a:p>
          <a:p>
            <a:pPr lvl="1">
              <a:lnSpc>
                <a:spcPct val="150000"/>
              </a:lnSpc>
            </a:pPr>
            <a:r>
              <a:rPr lang="en-GB" altLang="en-IL" sz="2000" dirty="0"/>
              <a:t>The system should display an appropriate level of consistency</a:t>
            </a:r>
          </a:p>
          <a:p>
            <a:pPr>
              <a:lnSpc>
                <a:spcPct val="150000"/>
              </a:lnSpc>
            </a:pPr>
            <a:r>
              <a:rPr lang="en-GB" altLang="en-IL" sz="2400" dirty="0"/>
              <a:t>Minimal surprise</a:t>
            </a:r>
          </a:p>
          <a:p>
            <a:pPr lvl="1">
              <a:lnSpc>
                <a:spcPct val="150000"/>
              </a:lnSpc>
            </a:pPr>
            <a:r>
              <a:rPr lang="en-GB" altLang="en-IL" sz="2000" dirty="0"/>
              <a:t>If a command operates in a known way, the user should be able to predict the operation of comparable commands</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1027">
            <a:extLst>
              <a:ext uri="{FF2B5EF4-FFF2-40B4-BE49-F238E27FC236}">
                <a16:creationId xmlns:a16="http://schemas.microsoft.com/office/drawing/2014/main" id="{1EBD6394-D519-864D-BFDE-D8F7A7F254FF}"/>
              </a:ext>
            </a:extLst>
          </p:cNvPr>
          <p:cNvSpPr>
            <a:spLocks noGrp="1" noChangeArrowheads="1"/>
          </p:cNvSpPr>
          <p:nvPr>
            <p:ph type="body" idx="1"/>
          </p:nvPr>
        </p:nvSpPr>
        <p:spPr>
          <a:xfrm>
            <a:off x="575733" y="1422400"/>
            <a:ext cx="10778067" cy="4754563"/>
          </a:xfrm>
          <a:noFill/>
        </p:spPr>
        <p:txBody>
          <a:bodyPr vert="horz" lIns="90840" tIns="44623" rIns="90840" bIns="44623" rtlCol="0">
            <a:normAutofit/>
          </a:bodyPr>
          <a:lstStyle/>
          <a:p>
            <a:pPr>
              <a:lnSpc>
                <a:spcPct val="150000"/>
              </a:lnSpc>
            </a:pPr>
            <a:r>
              <a:rPr lang="en-GB" altLang="en-IL" sz="2400" dirty="0"/>
              <a:t>User guidance</a:t>
            </a:r>
          </a:p>
          <a:p>
            <a:pPr lvl="1">
              <a:lnSpc>
                <a:spcPct val="150000"/>
              </a:lnSpc>
            </a:pPr>
            <a:r>
              <a:rPr lang="en-GB" altLang="en-IL" sz="2000" dirty="0"/>
              <a:t>Some user guidance such as help systems, on-line manuals, etc. should be supplied</a:t>
            </a:r>
          </a:p>
          <a:p>
            <a:pPr>
              <a:lnSpc>
                <a:spcPct val="150000"/>
              </a:lnSpc>
            </a:pPr>
            <a:r>
              <a:rPr lang="en-GB" altLang="en-IL" sz="2400" dirty="0"/>
              <a:t>User diversity</a:t>
            </a:r>
          </a:p>
          <a:p>
            <a:pPr lvl="1">
              <a:lnSpc>
                <a:spcPct val="150000"/>
              </a:lnSpc>
            </a:pPr>
            <a:r>
              <a:rPr lang="en-GB" altLang="en-IL" sz="2000" dirty="0"/>
              <a:t>Interaction facilities for different types of user should be supported. For example, some users have seeing difficulties and so larger text should be available</a:t>
            </a:r>
          </a:p>
          <a:p>
            <a:pPr lvl="1">
              <a:lnSpc>
                <a:spcPct val="150000"/>
              </a:lnSpc>
            </a:pPr>
            <a:endParaRPr lang="en-GB" altLang="en-IL" dirty="0"/>
          </a:p>
        </p:txBody>
      </p:sp>
      <p:sp>
        <p:nvSpPr>
          <p:cNvPr id="7" name="Rectangle 2">
            <a:extLst>
              <a:ext uri="{FF2B5EF4-FFF2-40B4-BE49-F238E27FC236}">
                <a16:creationId xmlns:a16="http://schemas.microsoft.com/office/drawing/2014/main" id="{8A36E8FC-AB44-A9B2-1D64-5945F419C2F0}"/>
              </a:ext>
            </a:extLst>
          </p:cNvPr>
          <p:cNvSpPr>
            <a:spLocks noGrp="1" noChangeArrowheads="1"/>
          </p:cNvSpPr>
          <p:nvPr>
            <p:ph type="title"/>
          </p:nvPr>
        </p:nvSpPr>
        <p:spPr>
          <a:xfrm>
            <a:off x="838200" y="0"/>
            <a:ext cx="10515600" cy="1325563"/>
          </a:xfrm>
          <a:noFill/>
        </p:spPr>
        <p:txBody>
          <a:bodyPr vert="horz" lIns="90840" tIns="44623" rIns="90840" bIns="44623" rtlCol="0" anchor="ctr">
            <a:normAutofit/>
          </a:bodyPr>
          <a:lstStyle/>
          <a:p>
            <a:pPr algn="ctr">
              <a:lnSpc>
                <a:spcPct val="150000"/>
              </a:lnSpc>
              <a:spcBef>
                <a:spcPts val="1000"/>
              </a:spcBef>
            </a:pPr>
            <a:r>
              <a:rPr lang="en-GB" altLang="en-IL" sz="3200" b="1" dirty="0">
                <a:latin typeface="+mn-lt"/>
                <a:ea typeface="+mn-ea"/>
                <a:cs typeface="+mn-cs"/>
              </a:rPr>
              <a:t>UI Design Principles</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780B4D4A-E9A3-CB88-E569-AFD65E56E69B}"/>
              </a:ext>
            </a:extLst>
          </p:cNvPr>
          <p:cNvSpPr>
            <a:spLocks noGrp="1" noChangeArrowheads="1"/>
          </p:cNvSpPr>
          <p:nvPr>
            <p:ph type="title"/>
          </p:nvPr>
        </p:nvSpPr>
        <p:spPr>
          <a:noFill/>
        </p:spPr>
        <p:txBody>
          <a:bodyPr vert="horz" lIns="90840" tIns="44623" rIns="90840" bIns="44623" rtlCol="0" anchor="ctr">
            <a:normAutofit/>
          </a:bodyPr>
          <a:lstStyle/>
          <a:p>
            <a:pPr algn="ctr">
              <a:lnSpc>
                <a:spcPct val="150000"/>
              </a:lnSpc>
              <a:spcBef>
                <a:spcPts val="1000"/>
              </a:spcBef>
            </a:pPr>
            <a:r>
              <a:rPr lang="en-GB" altLang="en-IL" sz="3200" b="1" dirty="0">
                <a:latin typeface="+mn-lt"/>
                <a:ea typeface="+mn-ea"/>
                <a:cs typeface="+mn-cs"/>
              </a:rPr>
              <a:t>Design Issues in UIs</a:t>
            </a:r>
          </a:p>
        </p:txBody>
      </p:sp>
      <p:sp>
        <p:nvSpPr>
          <p:cNvPr id="14339" name="Rectangle 3">
            <a:extLst>
              <a:ext uri="{FF2B5EF4-FFF2-40B4-BE49-F238E27FC236}">
                <a16:creationId xmlns:a16="http://schemas.microsoft.com/office/drawing/2014/main" id="{776A6FCD-721B-FA13-BFBB-2787DD66D623}"/>
              </a:ext>
            </a:extLst>
          </p:cNvPr>
          <p:cNvSpPr>
            <a:spLocks noGrp="1" noChangeArrowheads="1"/>
          </p:cNvSpPr>
          <p:nvPr>
            <p:ph type="body" idx="1"/>
          </p:nvPr>
        </p:nvSpPr>
        <p:spPr>
          <a:noFill/>
        </p:spPr>
        <p:txBody>
          <a:bodyPr vert="horz" lIns="90840" tIns="44623" rIns="90840" bIns="44623" rtlCol="0">
            <a:normAutofit/>
          </a:bodyPr>
          <a:lstStyle/>
          <a:p>
            <a:pPr>
              <a:lnSpc>
                <a:spcPct val="150000"/>
              </a:lnSpc>
            </a:pPr>
            <a:r>
              <a:rPr lang="en-GB" altLang="en-IL" sz="2400" dirty="0"/>
              <a:t>Two problems must be addressed in interactive systems design</a:t>
            </a:r>
          </a:p>
          <a:p>
            <a:pPr lvl="1">
              <a:lnSpc>
                <a:spcPct val="150000"/>
              </a:lnSpc>
            </a:pPr>
            <a:r>
              <a:rPr lang="en-GB" altLang="en-IL" sz="2000" dirty="0">
                <a:solidFill>
                  <a:srgbClr val="FF0000"/>
                </a:solidFill>
              </a:rPr>
              <a:t>How should information from the user be provided to the computer system?</a:t>
            </a:r>
          </a:p>
          <a:p>
            <a:pPr lvl="1">
              <a:lnSpc>
                <a:spcPct val="150000"/>
              </a:lnSpc>
            </a:pPr>
            <a:r>
              <a:rPr lang="en-GB" altLang="en-IL" sz="2000" dirty="0">
                <a:solidFill>
                  <a:schemeClr val="accent1"/>
                </a:solidFill>
              </a:rPr>
              <a:t>How should information from the computer system be presented to the user?</a:t>
            </a:r>
          </a:p>
          <a:p>
            <a:pPr>
              <a:lnSpc>
                <a:spcPct val="150000"/>
              </a:lnSpc>
            </a:pPr>
            <a:r>
              <a:rPr lang="en-GB" altLang="en-IL" sz="2400" dirty="0"/>
              <a:t>User interaction and information presentation may be integrated through a coherent framework.</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026">
            <a:extLst>
              <a:ext uri="{FF2B5EF4-FFF2-40B4-BE49-F238E27FC236}">
                <a16:creationId xmlns:a16="http://schemas.microsoft.com/office/drawing/2014/main" id="{01379D55-1BE0-880A-2BF4-9BA50D276FC9}"/>
              </a:ext>
            </a:extLst>
          </p:cNvPr>
          <p:cNvSpPr>
            <a:spLocks noGrp="1" noChangeArrowheads="1"/>
          </p:cNvSpPr>
          <p:nvPr>
            <p:ph type="title"/>
          </p:nvPr>
        </p:nvSpPr>
        <p:spPr/>
        <p:txBody>
          <a:bodyPr>
            <a:normAutofit/>
          </a:bodyPr>
          <a:lstStyle/>
          <a:p>
            <a:pPr algn="ctr">
              <a:lnSpc>
                <a:spcPct val="150000"/>
              </a:lnSpc>
              <a:spcBef>
                <a:spcPts val="1000"/>
              </a:spcBef>
            </a:pPr>
            <a:r>
              <a:rPr lang="en-GB" altLang="en-IL" sz="3200" b="1" dirty="0">
                <a:latin typeface="+mn-lt"/>
                <a:ea typeface="+mn-ea"/>
                <a:cs typeface="+mn-cs"/>
              </a:rPr>
              <a:t>Information Presentation</a:t>
            </a:r>
          </a:p>
        </p:txBody>
      </p:sp>
      <p:sp>
        <p:nvSpPr>
          <p:cNvPr id="20483" name="Rectangle 1027">
            <a:extLst>
              <a:ext uri="{FF2B5EF4-FFF2-40B4-BE49-F238E27FC236}">
                <a16:creationId xmlns:a16="http://schemas.microsoft.com/office/drawing/2014/main" id="{AB241C71-B075-FBB3-0B67-EAE701BEB4E5}"/>
              </a:ext>
            </a:extLst>
          </p:cNvPr>
          <p:cNvSpPr>
            <a:spLocks noGrp="1" noChangeArrowheads="1"/>
          </p:cNvSpPr>
          <p:nvPr>
            <p:ph type="body" idx="1"/>
          </p:nvPr>
        </p:nvSpPr>
        <p:spPr>
          <a:xfrm>
            <a:off x="838200" y="1540933"/>
            <a:ext cx="10515600" cy="4636030"/>
          </a:xfrm>
        </p:spPr>
        <p:txBody>
          <a:bodyPr>
            <a:normAutofit/>
          </a:bodyPr>
          <a:lstStyle/>
          <a:p>
            <a:pPr>
              <a:lnSpc>
                <a:spcPct val="150000"/>
              </a:lnSpc>
            </a:pPr>
            <a:r>
              <a:rPr lang="en-GB" altLang="en-IL" sz="2400" dirty="0"/>
              <a:t>Information presentation is concerned with presenting system information to system users.</a:t>
            </a:r>
          </a:p>
          <a:p>
            <a:pPr>
              <a:lnSpc>
                <a:spcPct val="150000"/>
              </a:lnSpc>
            </a:pPr>
            <a:r>
              <a:rPr lang="en-GB" altLang="en-IL" sz="2400" dirty="0"/>
              <a:t>The information may be presented directly (e.g. text in a word processor) or may be transformed in some way for presentation (e.g. in some graphical form).</a:t>
            </a:r>
          </a:p>
        </p:txBody>
      </p:sp>
      <p:pic>
        <p:nvPicPr>
          <p:cNvPr id="26626" name="Picture 2" descr="Presentation Design Guide: How to Summarize Information for Presentations -  Venngage">
            <a:extLst>
              <a:ext uri="{FF2B5EF4-FFF2-40B4-BE49-F238E27FC236}">
                <a16:creationId xmlns:a16="http://schemas.microsoft.com/office/drawing/2014/main" id="{14F7804B-F70F-008C-8F6C-CE7B9A99D1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82534" y="4221163"/>
            <a:ext cx="3476978" cy="19558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5B676B79-D31E-5740-ADB3-61AD226EC0BF}"/>
              </a:ext>
            </a:extLst>
          </p:cNvPr>
          <p:cNvSpPr>
            <a:spLocks noGrp="1" noChangeArrowheads="1"/>
          </p:cNvSpPr>
          <p:nvPr>
            <p:ph type="title"/>
          </p:nvPr>
        </p:nvSpPr>
        <p:spPr>
          <a:noFill/>
        </p:spPr>
        <p:txBody>
          <a:bodyPr vert="horz" lIns="90840" tIns="44623" rIns="90840" bIns="44623" rtlCol="0" anchor="ctr">
            <a:normAutofit/>
          </a:bodyPr>
          <a:lstStyle/>
          <a:p>
            <a:pPr algn="ctr">
              <a:lnSpc>
                <a:spcPct val="150000"/>
              </a:lnSpc>
              <a:spcBef>
                <a:spcPts val="1000"/>
              </a:spcBef>
            </a:pPr>
            <a:r>
              <a:rPr lang="en-GB" altLang="en-IL" sz="3200" b="1" dirty="0">
                <a:latin typeface="+mn-lt"/>
                <a:ea typeface="+mn-ea"/>
                <a:cs typeface="+mn-cs"/>
              </a:rPr>
              <a:t>Information Presentation</a:t>
            </a:r>
          </a:p>
        </p:txBody>
      </p:sp>
      <p:sp>
        <p:nvSpPr>
          <p:cNvPr id="23555" name="Rectangle 3">
            <a:extLst>
              <a:ext uri="{FF2B5EF4-FFF2-40B4-BE49-F238E27FC236}">
                <a16:creationId xmlns:a16="http://schemas.microsoft.com/office/drawing/2014/main" id="{6F43C141-0B9B-1DDA-A2CB-5F8796CCD5F1}"/>
              </a:ext>
            </a:extLst>
          </p:cNvPr>
          <p:cNvSpPr>
            <a:spLocks noGrp="1" noChangeArrowheads="1"/>
          </p:cNvSpPr>
          <p:nvPr>
            <p:ph type="body" idx="1"/>
          </p:nvPr>
        </p:nvSpPr>
        <p:spPr>
          <a:xfrm>
            <a:off x="838200" y="1563159"/>
            <a:ext cx="10515600" cy="4351338"/>
          </a:xfrm>
          <a:noFill/>
        </p:spPr>
        <p:txBody>
          <a:bodyPr vert="horz" lIns="90840" tIns="44623" rIns="90840" bIns="44623" rtlCol="0">
            <a:normAutofit/>
          </a:bodyPr>
          <a:lstStyle/>
          <a:p>
            <a:pPr>
              <a:lnSpc>
                <a:spcPct val="150000"/>
              </a:lnSpc>
            </a:pPr>
            <a:r>
              <a:rPr lang="en-GB" altLang="en-IL" sz="2400" b="1" dirty="0">
                <a:solidFill>
                  <a:srgbClr val="FF0000"/>
                </a:solidFill>
              </a:rPr>
              <a:t>Static</a:t>
            </a:r>
            <a:r>
              <a:rPr lang="en-GB" altLang="en-IL" sz="2400" dirty="0"/>
              <a:t> information</a:t>
            </a:r>
          </a:p>
          <a:p>
            <a:pPr lvl="1">
              <a:lnSpc>
                <a:spcPct val="150000"/>
              </a:lnSpc>
            </a:pPr>
            <a:r>
              <a:rPr lang="en-GB" altLang="en-IL" sz="2000" dirty="0"/>
              <a:t>Initialised at the beginning of a session. It does not change during the session.</a:t>
            </a:r>
          </a:p>
          <a:p>
            <a:pPr lvl="1">
              <a:lnSpc>
                <a:spcPct val="150000"/>
              </a:lnSpc>
            </a:pPr>
            <a:r>
              <a:rPr lang="en-GB" altLang="en-IL" sz="2000" dirty="0"/>
              <a:t>May be either numeric or textual.</a:t>
            </a:r>
          </a:p>
          <a:p>
            <a:pPr>
              <a:lnSpc>
                <a:spcPct val="150000"/>
              </a:lnSpc>
            </a:pPr>
            <a:r>
              <a:rPr lang="en-GB" altLang="en-IL" sz="2400" b="1" dirty="0">
                <a:solidFill>
                  <a:schemeClr val="accent1"/>
                </a:solidFill>
              </a:rPr>
              <a:t>Dynamic</a:t>
            </a:r>
            <a:r>
              <a:rPr lang="en-GB" altLang="en-IL" sz="2400" dirty="0"/>
              <a:t>  information</a:t>
            </a:r>
          </a:p>
          <a:p>
            <a:pPr lvl="1">
              <a:lnSpc>
                <a:spcPct val="150000"/>
              </a:lnSpc>
            </a:pPr>
            <a:r>
              <a:rPr lang="en-GB" altLang="en-IL" sz="2000" dirty="0"/>
              <a:t>Changes during a session and the changes must be communicated to the system user.</a:t>
            </a:r>
          </a:p>
          <a:p>
            <a:pPr lvl="1">
              <a:lnSpc>
                <a:spcPct val="150000"/>
              </a:lnSpc>
            </a:pPr>
            <a:r>
              <a:rPr lang="en-GB" altLang="en-IL" sz="2000" dirty="0"/>
              <a:t>May be either numeric or textual.</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DF75530A-C0D7-A978-D6E0-EC54A4E7C5C2}"/>
              </a:ext>
            </a:extLst>
          </p:cNvPr>
          <p:cNvSpPr>
            <a:spLocks noGrp="1" noChangeArrowheads="1"/>
          </p:cNvSpPr>
          <p:nvPr>
            <p:ph type="title"/>
          </p:nvPr>
        </p:nvSpPr>
        <p:spPr>
          <a:noFill/>
        </p:spPr>
        <p:txBody>
          <a:bodyPr vert="horz" lIns="90840" tIns="44623" rIns="90840" bIns="44623" rtlCol="0" anchor="ctr">
            <a:normAutofit/>
          </a:bodyPr>
          <a:lstStyle/>
          <a:p>
            <a:pPr algn="ctr">
              <a:lnSpc>
                <a:spcPct val="150000"/>
              </a:lnSpc>
              <a:spcBef>
                <a:spcPts val="1000"/>
              </a:spcBef>
            </a:pPr>
            <a:r>
              <a:rPr lang="en-GB" altLang="en-IL" sz="3200" b="1" dirty="0">
                <a:latin typeface="+mn-lt"/>
                <a:ea typeface="+mn-ea"/>
                <a:cs typeface="+mn-cs"/>
              </a:rPr>
              <a:t>Colours</a:t>
            </a:r>
          </a:p>
        </p:txBody>
      </p:sp>
      <p:sp>
        <p:nvSpPr>
          <p:cNvPr id="30723" name="Rectangle 3">
            <a:extLst>
              <a:ext uri="{FF2B5EF4-FFF2-40B4-BE49-F238E27FC236}">
                <a16:creationId xmlns:a16="http://schemas.microsoft.com/office/drawing/2014/main" id="{C2D2FE6B-0BF8-487D-29EF-86B5851635B6}"/>
              </a:ext>
            </a:extLst>
          </p:cNvPr>
          <p:cNvSpPr>
            <a:spLocks noGrp="1" noChangeArrowheads="1"/>
          </p:cNvSpPr>
          <p:nvPr>
            <p:ph type="body" idx="1"/>
          </p:nvPr>
        </p:nvSpPr>
        <p:spPr>
          <a:xfrm>
            <a:off x="838200" y="1537758"/>
            <a:ext cx="7306733" cy="4351338"/>
          </a:xfrm>
          <a:noFill/>
        </p:spPr>
        <p:txBody>
          <a:bodyPr vert="horz" lIns="90840" tIns="44623" rIns="90840" bIns="44623" rtlCol="0">
            <a:normAutofit/>
          </a:bodyPr>
          <a:lstStyle/>
          <a:p>
            <a:pPr>
              <a:lnSpc>
                <a:spcPct val="150000"/>
              </a:lnSpc>
            </a:pPr>
            <a:r>
              <a:rPr lang="en-GB" altLang="en-IL" sz="2400" dirty="0"/>
              <a:t>Colour adds an extra dimension to an interface and can help the user understand complex information structures.</a:t>
            </a:r>
          </a:p>
          <a:p>
            <a:pPr>
              <a:lnSpc>
                <a:spcPct val="150000"/>
              </a:lnSpc>
            </a:pPr>
            <a:r>
              <a:rPr lang="en-GB" altLang="en-IL" sz="2400" dirty="0"/>
              <a:t>Colour can be used to highlight exceptional events.</a:t>
            </a:r>
          </a:p>
          <a:p>
            <a:pPr>
              <a:lnSpc>
                <a:spcPct val="150000"/>
              </a:lnSpc>
            </a:pPr>
            <a:r>
              <a:rPr lang="en-GB" altLang="en-IL" sz="2400" dirty="0"/>
              <a:t>Common mistakes in the use of colour in interface design.</a:t>
            </a:r>
            <a:endParaRPr lang="en-GB" altLang="en-IL" dirty="0"/>
          </a:p>
        </p:txBody>
      </p:sp>
      <p:pic>
        <p:nvPicPr>
          <p:cNvPr id="3076" name="Picture 4" descr="Color Psychology: Get Your Brand to Stand Out in 2022 - sixads">
            <a:extLst>
              <a:ext uri="{FF2B5EF4-FFF2-40B4-BE49-F238E27FC236}">
                <a16:creationId xmlns:a16="http://schemas.microsoft.com/office/drawing/2014/main" id="{C4ECD009-C574-2CD8-0FC4-D97FDEB080B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0191" b="18928"/>
          <a:stretch/>
        </p:blipFill>
        <p:spPr bwMode="auto">
          <a:xfrm rot="16200000">
            <a:off x="7221008" y="2492903"/>
            <a:ext cx="5056717" cy="173566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5D6D07B0-E8C5-D954-6DCA-E6422EE11D55}"/>
              </a:ext>
            </a:extLst>
          </p:cNvPr>
          <p:cNvSpPr>
            <a:spLocks noGrp="1" noChangeArrowheads="1"/>
          </p:cNvSpPr>
          <p:nvPr>
            <p:ph type="title"/>
          </p:nvPr>
        </p:nvSpPr>
        <p:spPr>
          <a:noFill/>
        </p:spPr>
        <p:txBody>
          <a:bodyPr vert="horz" lIns="90840" tIns="44623" rIns="90840" bIns="44623" rtlCol="0" anchor="ctr">
            <a:normAutofit/>
          </a:bodyPr>
          <a:lstStyle/>
          <a:p>
            <a:pPr algn="ctr">
              <a:lnSpc>
                <a:spcPct val="150000"/>
              </a:lnSpc>
              <a:spcBef>
                <a:spcPts val="1000"/>
              </a:spcBef>
            </a:pPr>
            <a:r>
              <a:rPr lang="en-GB" altLang="en-IL" sz="3200" b="1" dirty="0">
                <a:latin typeface="+mn-lt"/>
                <a:ea typeface="+mn-ea"/>
                <a:cs typeface="+mn-cs"/>
              </a:rPr>
              <a:t>Colour Use Guidelines</a:t>
            </a:r>
          </a:p>
        </p:txBody>
      </p:sp>
      <p:sp>
        <p:nvSpPr>
          <p:cNvPr id="31747" name="Rectangle 3">
            <a:extLst>
              <a:ext uri="{FF2B5EF4-FFF2-40B4-BE49-F238E27FC236}">
                <a16:creationId xmlns:a16="http://schemas.microsoft.com/office/drawing/2014/main" id="{7897C3CF-611B-E855-F566-4B3893CCCFA1}"/>
              </a:ext>
            </a:extLst>
          </p:cNvPr>
          <p:cNvSpPr>
            <a:spLocks noGrp="1" noChangeArrowheads="1"/>
          </p:cNvSpPr>
          <p:nvPr>
            <p:ph type="body" idx="1"/>
          </p:nvPr>
        </p:nvSpPr>
        <p:spPr>
          <a:xfrm>
            <a:off x="838200" y="1461559"/>
            <a:ext cx="10515600" cy="4351338"/>
          </a:xfrm>
          <a:noFill/>
        </p:spPr>
        <p:txBody>
          <a:bodyPr vert="horz" lIns="90840" tIns="44623" rIns="90840" bIns="44623" rtlCol="0">
            <a:normAutofit/>
          </a:bodyPr>
          <a:lstStyle/>
          <a:p>
            <a:pPr>
              <a:lnSpc>
                <a:spcPct val="150000"/>
              </a:lnSpc>
            </a:pPr>
            <a:r>
              <a:rPr lang="en-GB" altLang="en-IL" sz="2400" dirty="0"/>
              <a:t>Limit the number of colours used and be conservative in their use.</a:t>
            </a:r>
          </a:p>
          <a:p>
            <a:pPr>
              <a:lnSpc>
                <a:spcPct val="150000"/>
              </a:lnSpc>
            </a:pPr>
            <a:r>
              <a:rPr lang="en-GB" altLang="en-IL" sz="2400" dirty="0"/>
              <a:t>Use colour change to show a change in system status.</a:t>
            </a:r>
          </a:p>
          <a:p>
            <a:pPr>
              <a:lnSpc>
                <a:spcPct val="150000"/>
              </a:lnSpc>
            </a:pPr>
            <a:r>
              <a:rPr lang="en-GB" altLang="en-IL" sz="2400" dirty="0"/>
              <a:t>Use colour coding to support the task that users are trying to perform.</a:t>
            </a:r>
          </a:p>
          <a:p>
            <a:pPr>
              <a:lnSpc>
                <a:spcPct val="150000"/>
              </a:lnSpc>
            </a:pPr>
            <a:r>
              <a:rPr lang="en-GB" altLang="en-IL" sz="2400" dirty="0"/>
              <a:t>Use colour coding in a thoughtful and consistent way.</a:t>
            </a:r>
          </a:p>
          <a:p>
            <a:pPr>
              <a:lnSpc>
                <a:spcPct val="150000"/>
              </a:lnSpc>
            </a:pPr>
            <a:r>
              <a:rPr lang="en-GB" altLang="en-IL" sz="2400" dirty="0"/>
              <a:t>Be careful about colour pairings.</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6B035446-B728-5744-C606-6DF7EB10C8F5}"/>
              </a:ext>
            </a:extLst>
          </p:cNvPr>
          <p:cNvSpPr>
            <a:spLocks noGrp="1" noChangeArrowheads="1"/>
          </p:cNvSpPr>
          <p:nvPr>
            <p:ph type="title"/>
          </p:nvPr>
        </p:nvSpPr>
        <p:spPr>
          <a:xfrm>
            <a:off x="838200" y="90751"/>
            <a:ext cx="10515600" cy="1325563"/>
          </a:xfrm>
        </p:spPr>
        <p:txBody>
          <a:bodyPr>
            <a:normAutofit/>
          </a:bodyPr>
          <a:lstStyle/>
          <a:p>
            <a:pPr algn="ctr">
              <a:lnSpc>
                <a:spcPct val="150000"/>
              </a:lnSpc>
              <a:spcBef>
                <a:spcPts val="1000"/>
              </a:spcBef>
            </a:pPr>
            <a:r>
              <a:rPr lang="en-US" altLang="en-IL" sz="3200" b="1" dirty="0">
                <a:latin typeface="+mn-lt"/>
                <a:ea typeface="+mn-ea"/>
                <a:cs typeface="+mn-cs"/>
              </a:rPr>
              <a:t>The UI Design Process</a:t>
            </a:r>
          </a:p>
        </p:txBody>
      </p:sp>
      <p:sp>
        <p:nvSpPr>
          <p:cNvPr id="35843" name="Rectangle 3">
            <a:extLst>
              <a:ext uri="{FF2B5EF4-FFF2-40B4-BE49-F238E27FC236}">
                <a16:creationId xmlns:a16="http://schemas.microsoft.com/office/drawing/2014/main" id="{6E55BAEE-04B1-ABBE-D3E1-1A052B427F20}"/>
              </a:ext>
            </a:extLst>
          </p:cNvPr>
          <p:cNvSpPr>
            <a:spLocks noGrp="1" noChangeArrowheads="1"/>
          </p:cNvSpPr>
          <p:nvPr>
            <p:ph type="body" idx="1"/>
          </p:nvPr>
        </p:nvSpPr>
        <p:spPr>
          <a:xfrm>
            <a:off x="347133" y="1334559"/>
            <a:ext cx="11379200" cy="4769908"/>
          </a:xfrm>
        </p:spPr>
        <p:txBody>
          <a:bodyPr>
            <a:normAutofit/>
          </a:bodyPr>
          <a:lstStyle/>
          <a:p>
            <a:pPr>
              <a:lnSpc>
                <a:spcPct val="150000"/>
              </a:lnSpc>
            </a:pPr>
            <a:r>
              <a:rPr lang="en-US" altLang="en-IL" sz="2400" dirty="0"/>
              <a:t>UI design is an iterative process involving close liaisons between users and designers.</a:t>
            </a:r>
          </a:p>
          <a:p>
            <a:pPr>
              <a:lnSpc>
                <a:spcPct val="150000"/>
              </a:lnSpc>
            </a:pPr>
            <a:r>
              <a:rPr lang="en-US" altLang="en-IL" sz="2400" dirty="0"/>
              <a:t>The 3 core activities in this process are:</a:t>
            </a:r>
          </a:p>
          <a:p>
            <a:pPr lvl="1">
              <a:lnSpc>
                <a:spcPct val="150000"/>
              </a:lnSpc>
            </a:pPr>
            <a:r>
              <a:rPr lang="en-US" altLang="en-IL" sz="2000" dirty="0">
                <a:solidFill>
                  <a:schemeClr val="accent1"/>
                </a:solidFill>
              </a:rPr>
              <a:t>User analysis</a:t>
            </a:r>
            <a:r>
              <a:rPr lang="en-US" altLang="en-IL" sz="2000" dirty="0"/>
              <a:t>. Understand what the users will do with the system</a:t>
            </a:r>
          </a:p>
          <a:p>
            <a:pPr lvl="1">
              <a:lnSpc>
                <a:spcPct val="150000"/>
              </a:lnSpc>
            </a:pPr>
            <a:r>
              <a:rPr lang="en-US" altLang="en-IL" sz="2000" dirty="0">
                <a:solidFill>
                  <a:schemeClr val="accent1"/>
                </a:solidFill>
              </a:rPr>
              <a:t>System prototyping</a:t>
            </a:r>
            <a:r>
              <a:rPr lang="en-US" altLang="en-IL" sz="2000" dirty="0"/>
              <a:t>. Develop a series of prototypes for experiment</a:t>
            </a:r>
          </a:p>
          <a:p>
            <a:pPr lvl="1">
              <a:lnSpc>
                <a:spcPct val="150000"/>
              </a:lnSpc>
            </a:pPr>
            <a:r>
              <a:rPr lang="en-US" altLang="en-IL" sz="2000" dirty="0">
                <a:solidFill>
                  <a:schemeClr val="accent1"/>
                </a:solidFill>
              </a:rPr>
              <a:t>Interface evaluation</a:t>
            </a:r>
            <a:r>
              <a:rPr lang="en-US" altLang="en-IL" sz="2000" dirty="0"/>
              <a:t>. Experiment with these prototypes with users.</a:t>
            </a:r>
          </a:p>
        </p:txBody>
      </p:sp>
      <p:sp>
        <p:nvSpPr>
          <p:cNvPr id="3" name="Rectangle 2">
            <a:extLst>
              <a:ext uri="{FF2B5EF4-FFF2-40B4-BE49-F238E27FC236}">
                <a16:creationId xmlns:a16="http://schemas.microsoft.com/office/drawing/2014/main" id="{28C84385-9C64-42DC-ADA9-363F53CC0D54}"/>
              </a:ext>
            </a:extLst>
          </p:cNvPr>
          <p:cNvSpPr/>
          <p:nvPr/>
        </p:nvSpPr>
        <p:spPr>
          <a:xfrm>
            <a:off x="565728" y="5154109"/>
            <a:ext cx="6938118" cy="461665"/>
          </a:xfrm>
          <a:prstGeom prst="rect">
            <a:avLst/>
          </a:prstGeom>
        </p:spPr>
        <p:txBody>
          <a:bodyPr wrap="none">
            <a:spAutoFit/>
          </a:bodyPr>
          <a:lstStyle/>
          <a:p>
            <a:r>
              <a:rPr lang="en-US" altLang="en-IL" sz="2400" b="1" dirty="0"/>
              <a:t>Instead of thinking too much, here comes Tableau </a:t>
            </a:r>
            <a:r>
              <a:rPr lang="en-US" altLang="en-IL" sz="2400" b="1" dirty="0">
                <a:sym typeface="Wingdings" pitchFamily="2" charset="2"/>
              </a:rPr>
              <a:t> </a:t>
            </a:r>
            <a:endParaRPr lang="en-IL" sz="2400" b="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203200" y="136525"/>
            <a:ext cx="11810999" cy="6450542"/>
          </a:xfrm>
        </p:spPr>
        <p:txBody>
          <a:bodyPr>
            <a:normAutofit/>
          </a:bodyPr>
          <a:lstStyle/>
          <a:p>
            <a:pPr algn="ctr">
              <a:lnSpc>
                <a:spcPct val="150000"/>
              </a:lnSpc>
            </a:pPr>
            <a:r>
              <a:rPr lang="en-US" sz="3200" b="1" dirty="0"/>
              <a:t>Tableau</a:t>
            </a:r>
          </a:p>
          <a:p>
            <a:pPr>
              <a:lnSpc>
                <a:spcPct val="150000"/>
              </a:lnSpc>
            </a:pPr>
            <a:r>
              <a:rPr lang="en-US" sz="2400" dirty="0"/>
              <a:t>Tableau is a Business Intelligence tool for visually analyzing the data</a:t>
            </a:r>
          </a:p>
          <a:p>
            <a:pPr marL="342900" indent="-342900">
              <a:lnSpc>
                <a:spcPct val="150000"/>
              </a:lnSpc>
              <a:buFontTx/>
              <a:buChar char="-"/>
            </a:pPr>
            <a:r>
              <a:rPr lang="en-US" sz="2400" dirty="0"/>
              <a:t>Users can create and distribute an interactive and shareable dashboard</a:t>
            </a:r>
          </a:p>
          <a:p>
            <a:pPr marL="342900" indent="-342900">
              <a:lnSpc>
                <a:spcPct val="150000"/>
              </a:lnSpc>
              <a:buFontTx/>
              <a:buChar char="-"/>
            </a:pPr>
            <a:r>
              <a:rPr lang="en-US" sz="2400" dirty="0"/>
              <a:t>Tableau can connect to files, relational and Big Data sources to acquire and process </a:t>
            </a:r>
            <a:r>
              <a:rPr lang="en-US" sz="2400" dirty="0" err="1"/>
              <a:t>dat</a:t>
            </a:r>
            <a:endParaRPr lang="en-US" sz="2400" dirty="0"/>
          </a:p>
          <a:p>
            <a:pPr marL="342900" indent="-342900">
              <a:lnSpc>
                <a:spcPct val="150000"/>
              </a:lnSpc>
              <a:buFontTx/>
              <a:buChar char="-"/>
            </a:pPr>
            <a:r>
              <a:rPr lang="en-US" sz="2400" dirty="0"/>
              <a:t>Allows data blending and real-time collaboration</a:t>
            </a:r>
          </a:p>
          <a:p>
            <a:pPr marL="342900" indent="-342900">
              <a:lnSpc>
                <a:spcPct val="150000"/>
              </a:lnSpc>
              <a:buFontTx/>
              <a:buChar char="-"/>
            </a:pPr>
            <a:r>
              <a:rPr lang="en-US" sz="2400" dirty="0"/>
              <a:t>It is used by businesses, academic researchers, and many government organizations</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14</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dirty="0"/>
              <a:t>Or </a:t>
            </a:r>
            <a:r>
              <a:rPr lang="en-US" dirty="0" err="1"/>
              <a:t>Peretz</a:t>
            </a:r>
            <a:endParaRPr lang="en-IL" dirty="0"/>
          </a:p>
        </p:txBody>
      </p:sp>
      <p:pic>
        <p:nvPicPr>
          <p:cNvPr id="1026" name="Picture 2" descr="Tableau Logo, history, meaning, symbol, PNG">
            <a:extLst>
              <a:ext uri="{FF2B5EF4-FFF2-40B4-BE49-F238E27FC236}">
                <a16:creationId xmlns:a16="http://schemas.microsoft.com/office/drawing/2014/main" id="{BC9FB774-A6BA-D22B-95AC-D0431468E8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6534" y="4798483"/>
            <a:ext cx="2769541" cy="15578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3224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additive="base">
                                        <p:cTn id="3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203200" y="136525"/>
            <a:ext cx="11810999" cy="6450542"/>
          </a:xfrm>
        </p:spPr>
        <p:txBody>
          <a:bodyPr>
            <a:normAutofit/>
          </a:bodyPr>
          <a:lstStyle/>
          <a:p>
            <a:pPr algn="ctr">
              <a:lnSpc>
                <a:spcPct val="150000"/>
              </a:lnSpc>
            </a:pPr>
            <a:r>
              <a:rPr lang="en-US" sz="3200" b="1" dirty="0"/>
              <a:t>Tableau Features</a:t>
            </a:r>
          </a:p>
          <a:p>
            <a:pPr>
              <a:lnSpc>
                <a:spcPct val="150000"/>
              </a:lnSpc>
            </a:pPr>
            <a:r>
              <a:rPr lang="en-US" sz="2400" b="1" dirty="0"/>
              <a:t>Speed of Analysis</a:t>
            </a:r>
            <a:endParaRPr lang="en-US" sz="2400" dirty="0"/>
          </a:p>
          <a:p>
            <a:pPr>
              <a:lnSpc>
                <a:spcPct val="150000"/>
              </a:lnSpc>
            </a:pPr>
            <a:r>
              <a:rPr lang="en-US" sz="2400" dirty="0"/>
              <a:t>	As it does not require high level of programming expertise, any user with access to data can start using it to derive value from the data.</a:t>
            </a:r>
          </a:p>
          <a:p>
            <a:pPr>
              <a:lnSpc>
                <a:spcPct val="150000"/>
              </a:lnSpc>
            </a:pPr>
            <a:r>
              <a:rPr lang="en-US" sz="2400" b="1" dirty="0"/>
              <a:t>Self-Reliant</a:t>
            </a:r>
            <a:r>
              <a:rPr lang="en-US" sz="2400" dirty="0"/>
              <a:t> </a:t>
            </a:r>
          </a:p>
          <a:p>
            <a:pPr>
              <a:lnSpc>
                <a:spcPct val="150000"/>
              </a:lnSpc>
            </a:pPr>
            <a:r>
              <a:rPr lang="en-US" sz="2400" dirty="0"/>
              <a:t>	Tableau does not need a complex software setup. </a:t>
            </a:r>
          </a:p>
          <a:p>
            <a:pPr>
              <a:lnSpc>
                <a:spcPct val="150000"/>
              </a:lnSpc>
            </a:pPr>
            <a:r>
              <a:rPr lang="en-US" sz="2400" b="1" dirty="0"/>
              <a:t>Visual Discovery</a:t>
            </a:r>
            <a:r>
              <a:rPr lang="en-US" sz="2400" dirty="0"/>
              <a:t> </a:t>
            </a:r>
          </a:p>
          <a:p>
            <a:pPr>
              <a:lnSpc>
                <a:spcPct val="150000"/>
              </a:lnSpc>
            </a:pPr>
            <a:r>
              <a:rPr lang="en-US" sz="2400" dirty="0"/>
              <a:t>	The user explores and analyzes the data by using visual tools like colors, trend lines, charts, and graphs.</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15</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992382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203200" y="136525"/>
            <a:ext cx="11810999" cy="6450542"/>
          </a:xfrm>
        </p:spPr>
        <p:txBody>
          <a:bodyPr>
            <a:normAutofit/>
          </a:bodyPr>
          <a:lstStyle/>
          <a:p>
            <a:pPr algn="ctr">
              <a:lnSpc>
                <a:spcPct val="150000"/>
              </a:lnSpc>
            </a:pPr>
            <a:r>
              <a:rPr lang="en-US" sz="3200" b="1" dirty="0"/>
              <a:t>Tableau Features</a:t>
            </a:r>
          </a:p>
          <a:p>
            <a:pPr>
              <a:lnSpc>
                <a:spcPct val="150000"/>
              </a:lnSpc>
            </a:pPr>
            <a:r>
              <a:rPr lang="en-US" sz="2400" b="1" dirty="0"/>
              <a:t>Architecture Agnostic</a:t>
            </a:r>
            <a:endParaRPr lang="en-US" sz="2400" dirty="0"/>
          </a:p>
          <a:p>
            <a:pPr>
              <a:lnSpc>
                <a:spcPct val="150000"/>
              </a:lnSpc>
            </a:pPr>
            <a:r>
              <a:rPr lang="en-US" sz="2400" dirty="0"/>
              <a:t>	The user need not worry about specific hardware or software requirements </a:t>
            </a:r>
          </a:p>
          <a:p>
            <a:pPr>
              <a:lnSpc>
                <a:spcPct val="150000"/>
              </a:lnSpc>
            </a:pPr>
            <a:r>
              <a:rPr lang="en-US" sz="2400" b="1" dirty="0"/>
              <a:t>Real-Time Collaboration</a:t>
            </a:r>
            <a:endParaRPr lang="en-US" sz="2400" dirty="0"/>
          </a:p>
          <a:p>
            <a:pPr>
              <a:lnSpc>
                <a:spcPct val="150000"/>
              </a:lnSpc>
            </a:pPr>
            <a:r>
              <a:rPr lang="en-US" sz="2400" dirty="0"/>
              <a:t>	Tableau can filter, sort, and discuss data on the fly and embed a live dashboard. </a:t>
            </a:r>
            <a:r>
              <a:rPr lang="en-US" sz="2400" b="1" dirty="0"/>
              <a:t>Centralized Data</a:t>
            </a:r>
            <a:endParaRPr lang="en-US" sz="2400" dirty="0"/>
          </a:p>
          <a:p>
            <a:pPr>
              <a:lnSpc>
                <a:spcPct val="150000"/>
              </a:lnSpc>
            </a:pPr>
            <a:r>
              <a:rPr lang="en-US" sz="2400" dirty="0"/>
              <a:t>	Tableau server provides a centralized location to manage all of the organization’s published data sources. You can delete, change permissions, add tags, and manage schedules.</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16</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4203945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203200" y="136525"/>
            <a:ext cx="11810999" cy="6450542"/>
          </a:xfrm>
        </p:spPr>
        <p:txBody>
          <a:bodyPr>
            <a:normAutofit/>
          </a:bodyPr>
          <a:lstStyle/>
          <a:p>
            <a:pPr algn="ctr">
              <a:lnSpc>
                <a:spcPct val="150000"/>
              </a:lnSpc>
            </a:pPr>
            <a:r>
              <a:rPr lang="en-US" sz="3200" b="1" dirty="0"/>
              <a:t>Tableau Products</a:t>
            </a:r>
          </a:p>
          <a:p>
            <a:pPr>
              <a:lnSpc>
                <a:spcPct val="150000"/>
              </a:lnSpc>
            </a:pPr>
            <a:r>
              <a:rPr lang="en-US" sz="2400" b="1" i="1" dirty="0"/>
              <a:t>Tableau Desktop</a:t>
            </a:r>
            <a:r>
              <a:rPr lang="en-US" sz="2400" b="1" dirty="0"/>
              <a:t> </a:t>
            </a:r>
            <a:r>
              <a:rPr lang="en-US" sz="2400" dirty="0"/>
              <a:t>– Data visualization tool, has a 14 days trial version.</a:t>
            </a:r>
          </a:p>
          <a:p>
            <a:pPr>
              <a:lnSpc>
                <a:spcPct val="150000"/>
              </a:lnSpc>
            </a:pPr>
            <a:r>
              <a:rPr lang="en-US" sz="2400" b="1" i="1" dirty="0"/>
              <a:t>Tableau Server </a:t>
            </a:r>
            <a:r>
              <a:rPr lang="en-US" sz="2400" dirty="0"/>
              <a:t>– Helps publish, share, administer tableau desktop content and dashboard.</a:t>
            </a:r>
          </a:p>
          <a:p>
            <a:pPr>
              <a:lnSpc>
                <a:spcPct val="150000"/>
              </a:lnSpc>
            </a:pPr>
            <a:r>
              <a:rPr lang="en-US" sz="2400" b="1" i="1" dirty="0"/>
              <a:t>Tableau Online </a:t>
            </a:r>
            <a:r>
              <a:rPr lang="en-US" sz="2400" dirty="0"/>
              <a:t>– On cloud tableau analytics platform. Develop dashboards on tableau desktop and upload to tableau online. Link sharing helps colleagues, customers view the dashboard and make adjustments.</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17</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3627330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203200" y="136525"/>
            <a:ext cx="11810999" cy="6450542"/>
          </a:xfrm>
        </p:spPr>
        <p:txBody>
          <a:bodyPr>
            <a:normAutofit/>
          </a:bodyPr>
          <a:lstStyle/>
          <a:p>
            <a:pPr algn="ctr">
              <a:lnSpc>
                <a:spcPct val="150000"/>
              </a:lnSpc>
            </a:pPr>
            <a:r>
              <a:rPr lang="en-US" sz="3200" b="1" dirty="0"/>
              <a:t>Tableau - File Types</a:t>
            </a:r>
          </a:p>
          <a:p>
            <a:pPr>
              <a:lnSpc>
                <a:spcPct val="150000"/>
              </a:lnSpc>
            </a:pPr>
            <a:r>
              <a:rPr lang="en-US" sz="2400" b="1" i="1" dirty="0"/>
              <a:t>Workbook (.</a:t>
            </a:r>
            <a:r>
              <a:rPr lang="en-US" sz="2400" b="1" i="1" dirty="0" err="1"/>
              <a:t>twb</a:t>
            </a:r>
            <a:r>
              <a:rPr lang="en-US" sz="2400" b="1" i="1" dirty="0"/>
              <a:t>) </a:t>
            </a:r>
            <a:r>
              <a:rPr lang="en-US" sz="2400" i="1" dirty="0"/>
              <a:t> - </a:t>
            </a:r>
            <a:r>
              <a:rPr lang="en-US" sz="2400" dirty="0"/>
              <a:t>contains information on each sheet and dashboard that is present in a workbook. </a:t>
            </a:r>
          </a:p>
          <a:p>
            <a:pPr>
              <a:lnSpc>
                <a:spcPct val="150000"/>
              </a:lnSpc>
            </a:pPr>
            <a:r>
              <a:rPr lang="en-US" sz="2400" b="1" dirty="0"/>
              <a:t>Packaged Workbook (.</a:t>
            </a:r>
            <a:r>
              <a:rPr lang="en-US" sz="2400" b="1" dirty="0" err="1"/>
              <a:t>twbx</a:t>
            </a:r>
            <a:r>
              <a:rPr lang="en-US" sz="2400" b="1" dirty="0"/>
              <a:t>) - </a:t>
            </a:r>
            <a:r>
              <a:rPr lang="en-US" sz="2400" dirty="0"/>
              <a:t>contains the details of a workbook as well as the local data that is used in the analysis.</a:t>
            </a:r>
          </a:p>
          <a:p>
            <a:pPr>
              <a:lnSpc>
                <a:spcPct val="150000"/>
              </a:lnSpc>
            </a:pPr>
            <a:r>
              <a:rPr lang="en-US" sz="2400" b="1" dirty="0"/>
              <a:t>Data Source (.</a:t>
            </a:r>
            <a:r>
              <a:rPr lang="en-US" sz="2400" b="1" dirty="0" err="1"/>
              <a:t>tds</a:t>
            </a:r>
            <a:r>
              <a:rPr lang="en-US" sz="2400" b="1" dirty="0"/>
              <a:t>) </a:t>
            </a:r>
            <a:r>
              <a:rPr lang="en-US" sz="2400" dirty="0"/>
              <a:t>- details of the connection used to create the tableau report are stored in this file. </a:t>
            </a:r>
          </a:p>
          <a:p>
            <a:pPr>
              <a:lnSpc>
                <a:spcPct val="150000"/>
              </a:lnSpc>
            </a:pP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18</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2821799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203200" y="136525"/>
            <a:ext cx="11810999" cy="6450542"/>
          </a:xfrm>
        </p:spPr>
        <p:txBody>
          <a:bodyPr>
            <a:normAutofit/>
          </a:bodyPr>
          <a:lstStyle/>
          <a:p>
            <a:pPr algn="ctr">
              <a:lnSpc>
                <a:spcPct val="150000"/>
              </a:lnSpc>
            </a:pPr>
            <a:r>
              <a:rPr lang="en-US" sz="3200" b="1" dirty="0"/>
              <a:t>Data Sources</a:t>
            </a:r>
          </a:p>
          <a:p>
            <a:pPr>
              <a:lnSpc>
                <a:spcPct val="150000"/>
              </a:lnSpc>
            </a:pPr>
            <a:r>
              <a:rPr lang="en-US" sz="2400" dirty="0"/>
              <a:t>Tableau can connect to all the popular data sources which are widely used. Tableau’s native connectors can connect to the following types of data sources.</a:t>
            </a:r>
          </a:p>
          <a:p>
            <a:pPr>
              <a:lnSpc>
                <a:spcPct val="150000"/>
              </a:lnSpc>
            </a:pPr>
            <a:r>
              <a:rPr lang="en-US" sz="2400" b="1" dirty="0"/>
              <a:t>File Systems</a:t>
            </a:r>
            <a:r>
              <a:rPr lang="en-US" sz="2400" dirty="0"/>
              <a:t> such as CSV, Excel, etc.</a:t>
            </a:r>
          </a:p>
          <a:p>
            <a:pPr>
              <a:lnSpc>
                <a:spcPct val="150000"/>
              </a:lnSpc>
            </a:pPr>
            <a:r>
              <a:rPr lang="en-US" sz="2400" b="1" dirty="0"/>
              <a:t>Relational Systems</a:t>
            </a:r>
            <a:r>
              <a:rPr lang="en-US" sz="2400" dirty="0"/>
              <a:t> such as Oracle, </a:t>
            </a:r>
            <a:r>
              <a:rPr lang="en-US" sz="2400" dirty="0" err="1"/>
              <a:t>Sql</a:t>
            </a:r>
            <a:r>
              <a:rPr lang="en-US" sz="2400" dirty="0"/>
              <a:t> Server, DB2, etc.</a:t>
            </a:r>
          </a:p>
          <a:p>
            <a:pPr>
              <a:lnSpc>
                <a:spcPct val="150000"/>
              </a:lnSpc>
            </a:pPr>
            <a:r>
              <a:rPr lang="en-US" sz="2400" b="1" dirty="0"/>
              <a:t>Cloud Systems</a:t>
            </a:r>
            <a:r>
              <a:rPr lang="en-US" sz="2400" dirty="0"/>
              <a:t> such as Windows Azure, Google </a:t>
            </a:r>
            <a:r>
              <a:rPr lang="en-US" sz="2400" dirty="0" err="1"/>
              <a:t>BigQuery</a:t>
            </a:r>
            <a:r>
              <a:rPr lang="en-US" sz="2400" dirty="0"/>
              <a:t>, etc.</a:t>
            </a:r>
          </a:p>
          <a:p>
            <a:pPr>
              <a:lnSpc>
                <a:spcPct val="150000"/>
              </a:lnSpc>
            </a:pPr>
            <a:r>
              <a:rPr lang="en-US" sz="2400" b="1" dirty="0"/>
              <a:t>Other Sources</a:t>
            </a:r>
            <a:r>
              <a:rPr lang="en-US" sz="2400" dirty="0"/>
              <a:t> using ODBC</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19</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3388294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190500" y="2346325"/>
            <a:ext cx="11810999" cy="6450542"/>
          </a:xfrm>
        </p:spPr>
        <p:txBody>
          <a:bodyPr>
            <a:normAutofit/>
          </a:bodyPr>
          <a:lstStyle/>
          <a:p>
            <a:pPr algn="ctr">
              <a:lnSpc>
                <a:spcPct val="150000"/>
              </a:lnSpc>
            </a:pPr>
            <a:r>
              <a:rPr lang="en-US" sz="3200" b="1" dirty="0"/>
              <a:t>Tutorial</a:t>
            </a:r>
          </a:p>
          <a:p>
            <a:pPr>
              <a:lnSpc>
                <a:spcPct val="150000"/>
              </a:lnSpc>
            </a:pPr>
            <a:br>
              <a:rPr lang="en-US" sz="2400" dirty="0"/>
            </a:b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20</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541317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203200" y="136525"/>
            <a:ext cx="11810999" cy="6450542"/>
          </a:xfrm>
        </p:spPr>
        <p:txBody>
          <a:bodyPr>
            <a:normAutofit/>
          </a:bodyPr>
          <a:lstStyle/>
          <a:p>
            <a:pPr algn="ctr">
              <a:lnSpc>
                <a:spcPct val="150000"/>
              </a:lnSpc>
            </a:pPr>
            <a:r>
              <a:rPr lang="en-US" sz="3200" b="1" dirty="0"/>
              <a:t>Dataset</a:t>
            </a:r>
          </a:p>
          <a:p>
            <a:pPr>
              <a:lnSpc>
                <a:spcPct val="150000"/>
              </a:lnSpc>
            </a:pPr>
            <a:r>
              <a:rPr lang="en-US" sz="2400" dirty="0"/>
              <a:t>Tableau has free datasets for training, we will use the Superstore dataset.</a:t>
            </a:r>
          </a:p>
          <a:p>
            <a:pPr>
              <a:lnSpc>
                <a:spcPct val="150000"/>
              </a:lnSpc>
            </a:pPr>
            <a:r>
              <a:rPr lang="en-US" sz="2400" dirty="0"/>
              <a:t>The dataset has 3 tables namely Orders, People, Returns. </a:t>
            </a:r>
          </a:p>
          <a:p>
            <a:pPr>
              <a:lnSpc>
                <a:spcPct val="150000"/>
              </a:lnSpc>
            </a:pPr>
            <a:r>
              <a:rPr lang="en-US" sz="2400" dirty="0"/>
              <a:t>Orders is the main sheet that will be working with. </a:t>
            </a:r>
          </a:p>
          <a:p>
            <a:pPr>
              <a:lnSpc>
                <a:spcPct val="150000"/>
              </a:lnSpc>
            </a:pPr>
            <a:r>
              <a:rPr lang="en-US" sz="2400" dirty="0"/>
              <a:t>Orders – contains information about the product bought.</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21</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2561867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203200" y="136525"/>
            <a:ext cx="11810999" cy="6450542"/>
          </a:xfrm>
        </p:spPr>
        <p:txBody>
          <a:bodyPr>
            <a:normAutofit fontScale="92500" lnSpcReduction="20000"/>
          </a:bodyPr>
          <a:lstStyle/>
          <a:p>
            <a:pPr algn="ctr">
              <a:lnSpc>
                <a:spcPct val="150000"/>
              </a:lnSpc>
            </a:pPr>
            <a:r>
              <a:rPr lang="en-US" sz="3200" b="1" dirty="0"/>
              <a:t>Orders Table</a:t>
            </a:r>
          </a:p>
          <a:p>
            <a:pPr>
              <a:lnSpc>
                <a:spcPct val="150000"/>
              </a:lnSpc>
            </a:pPr>
            <a:r>
              <a:rPr lang="en-US" sz="2400" b="1" dirty="0"/>
              <a:t>Row ID </a:t>
            </a:r>
            <a:r>
              <a:rPr lang="en-US" sz="2400" dirty="0"/>
              <a:t>– unique identifier for each transaction.</a:t>
            </a:r>
          </a:p>
          <a:p>
            <a:pPr>
              <a:lnSpc>
                <a:spcPct val="150000"/>
              </a:lnSpc>
            </a:pPr>
            <a:r>
              <a:rPr lang="en-US" sz="2400" b="1" dirty="0"/>
              <a:t>Order ID </a:t>
            </a:r>
            <a:r>
              <a:rPr lang="en-US" sz="2400" dirty="0"/>
              <a:t>– Order id of each transaction.</a:t>
            </a:r>
          </a:p>
          <a:p>
            <a:pPr>
              <a:lnSpc>
                <a:spcPct val="150000"/>
              </a:lnSpc>
            </a:pPr>
            <a:r>
              <a:rPr lang="en-US" sz="2400" b="1" dirty="0"/>
              <a:t>Order Date </a:t>
            </a:r>
            <a:r>
              <a:rPr lang="en-US" sz="2400" dirty="0"/>
              <a:t>– Order date.</a:t>
            </a:r>
          </a:p>
          <a:p>
            <a:pPr>
              <a:lnSpc>
                <a:spcPct val="150000"/>
              </a:lnSpc>
            </a:pPr>
            <a:r>
              <a:rPr lang="en-US" sz="2400" b="1" dirty="0"/>
              <a:t>Ship Date </a:t>
            </a:r>
            <a:r>
              <a:rPr lang="en-US" sz="2400" dirty="0"/>
              <a:t>– Shipping date.</a:t>
            </a:r>
          </a:p>
          <a:p>
            <a:pPr>
              <a:lnSpc>
                <a:spcPct val="150000"/>
              </a:lnSpc>
            </a:pPr>
            <a:r>
              <a:rPr lang="en-US" sz="2400" b="1" dirty="0"/>
              <a:t>Ship Mode </a:t>
            </a:r>
            <a:r>
              <a:rPr lang="en-US" sz="2400" dirty="0"/>
              <a:t>– Second Class, Standard Class, First Class, Same Day</a:t>
            </a:r>
          </a:p>
          <a:p>
            <a:pPr>
              <a:lnSpc>
                <a:spcPct val="150000"/>
              </a:lnSpc>
            </a:pPr>
            <a:r>
              <a:rPr lang="en-US" sz="2400" b="1" dirty="0"/>
              <a:t>Customer ID </a:t>
            </a:r>
            <a:r>
              <a:rPr lang="en-US" sz="2400" dirty="0"/>
              <a:t>– Unique ID for each customer.</a:t>
            </a:r>
          </a:p>
          <a:p>
            <a:pPr>
              <a:lnSpc>
                <a:spcPct val="150000"/>
              </a:lnSpc>
            </a:pPr>
            <a:r>
              <a:rPr lang="en-US" sz="2400" b="1" dirty="0"/>
              <a:t>Customer Name </a:t>
            </a:r>
            <a:r>
              <a:rPr lang="en-US" sz="2400" dirty="0"/>
              <a:t>– Customer name.</a:t>
            </a:r>
          </a:p>
          <a:p>
            <a:pPr>
              <a:lnSpc>
                <a:spcPct val="150000"/>
              </a:lnSpc>
            </a:pPr>
            <a:r>
              <a:rPr lang="en-US" sz="2400" b="1" dirty="0"/>
              <a:t>Segment </a:t>
            </a:r>
            <a:r>
              <a:rPr lang="en-US" sz="2400" dirty="0"/>
              <a:t>– Product segment.</a:t>
            </a:r>
          </a:p>
          <a:p>
            <a:pPr>
              <a:lnSpc>
                <a:spcPct val="150000"/>
              </a:lnSpc>
            </a:pPr>
            <a:r>
              <a:rPr lang="en-US" sz="2400" b="1" dirty="0"/>
              <a:t>Country/Region </a:t>
            </a:r>
            <a:r>
              <a:rPr lang="en-US" sz="2400" dirty="0"/>
              <a:t>– Shipping country.</a:t>
            </a:r>
          </a:p>
          <a:p>
            <a:pPr>
              <a:lnSpc>
                <a:spcPct val="150000"/>
              </a:lnSpc>
            </a:pPr>
            <a:r>
              <a:rPr lang="en-US" sz="2400" b="1" dirty="0"/>
              <a:t>City</a:t>
            </a:r>
            <a:r>
              <a:rPr lang="en-US" sz="2400" dirty="0"/>
              <a:t> – Shipping city.</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22</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3502231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203200" y="153459"/>
            <a:ext cx="11810999" cy="6450542"/>
          </a:xfrm>
        </p:spPr>
        <p:txBody>
          <a:bodyPr>
            <a:normAutofit fontScale="92500" lnSpcReduction="10000"/>
          </a:bodyPr>
          <a:lstStyle/>
          <a:p>
            <a:pPr algn="ctr">
              <a:lnSpc>
                <a:spcPct val="150000"/>
              </a:lnSpc>
            </a:pPr>
            <a:r>
              <a:rPr lang="en-US" sz="3200" b="1" dirty="0"/>
              <a:t>Orders Table</a:t>
            </a:r>
          </a:p>
          <a:p>
            <a:pPr>
              <a:lnSpc>
                <a:spcPct val="130000"/>
              </a:lnSpc>
            </a:pPr>
            <a:r>
              <a:rPr lang="en-US" sz="2200" b="1" dirty="0"/>
              <a:t>State – </a:t>
            </a:r>
            <a:r>
              <a:rPr lang="en-US" sz="2200" dirty="0"/>
              <a:t>Shipping State.</a:t>
            </a:r>
          </a:p>
          <a:p>
            <a:pPr>
              <a:lnSpc>
                <a:spcPct val="130000"/>
              </a:lnSpc>
            </a:pPr>
            <a:r>
              <a:rPr lang="en-US" sz="2200" b="1" dirty="0"/>
              <a:t>Postal Code – </a:t>
            </a:r>
            <a:r>
              <a:rPr lang="en-US" sz="2200" dirty="0"/>
              <a:t>Shipping postal code.</a:t>
            </a:r>
          </a:p>
          <a:p>
            <a:pPr>
              <a:lnSpc>
                <a:spcPct val="130000"/>
              </a:lnSpc>
            </a:pPr>
            <a:r>
              <a:rPr lang="en-US" sz="2200" b="1" dirty="0"/>
              <a:t>Region – </a:t>
            </a:r>
            <a:r>
              <a:rPr lang="en-US" sz="2200" dirty="0"/>
              <a:t>Shipping region.</a:t>
            </a:r>
          </a:p>
          <a:p>
            <a:pPr>
              <a:lnSpc>
                <a:spcPct val="130000"/>
              </a:lnSpc>
            </a:pPr>
            <a:r>
              <a:rPr lang="en-US" sz="2200" b="1" dirty="0"/>
              <a:t>Product ID – </a:t>
            </a:r>
            <a:r>
              <a:rPr lang="en-US" sz="2200" dirty="0"/>
              <a:t>unique identifier for the product.</a:t>
            </a:r>
          </a:p>
          <a:p>
            <a:pPr>
              <a:lnSpc>
                <a:spcPct val="130000"/>
              </a:lnSpc>
            </a:pPr>
            <a:r>
              <a:rPr lang="en-US" sz="2200" b="1" dirty="0"/>
              <a:t>Category </a:t>
            </a:r>
            <a:r>
              <a:rPr lang="en-US" sz="2200" dirty="0"/>
              <a:t>– Product category.</a:t>
            </a:r>
          </a:p>
          <a:p>
            <a:pPr>
              <a:lnSpc>
                <a:spcPct val="130000"/>
              </a:lnSpc>
            </a:pPr>
            <a:r>
              <a:rPr lang="en-US" sz="2200" b="1" dirty="0"/>
              <a:t>Sub-Category – </a:t>
            </a:r>
            <a:r>
              <a:rPr lang="en-US" sz="2200" dirty="0"/>
              <a:t>Product sub-category.</a:t>
            </a:r>
          </a:p>
          <a:p>
            <a:pPr>
              <a:lnSpc>
                <a:spcPct val="130000"/>
              </a:lnSpc>
            </a:pPr>
            <a:r>
              <a:rPr lang="en-US" sz="2200" b="1" dirty="0"/>
              <a:t>Product Name – </a:t>
            </a:r>
            <a:r>
              <a:rPr lang="en-US" sz="2200" dirty="0"/>
              <a:t>Product name.</a:t>
            </a:r>
          </a:p>
          <a:p>
            <a:pPr>
              <a:lnSpc>
                <a:spcPct val="130000"/>
              </a:lnSpc>
            </a:pPr>
            <a:r>
              <a:rPr lang="en-US" sz="2200" b="1" dirty="0"/>
              <a:t>Sales – </a:t>
            </a:r>
            <a:r>
              <a:rPr lang="en-US" sz="2200" dirty="0"/>
              <a:t>Net sales amount.</a:t>
            </a:r>
          </a:p>
          <a:p>
            <a:pPr>
              <a:lnSpc>
                <a:spcPct val="130000"/>
              </a:lnSpc>
            </a:pPr>
            <a:r>
              <a:rPr lang="en-US" sz="2200" b="1" dirty="0"/>
              <a:t>Quantity – </a:t>
            </a:r>
            <a:r>
              <a:rPr lang="en-US" sz="2200" dirty="0"/>
              <a:t>Quantity purchased.</a:t>
            </a:r>
          </a:p>
          <a:p>
            <a:pPr>
              <a:lnSpc>
                <a:spcPct val="130000"/>
              </a:lnSpc>
            </a:pPr>
            <a:r>
              <a:rPr lang="en-US" sz="2200" b="1" dirty="0"/>
              <a:t>Discount – </a:t>
            </a:r>
            <a:r>
              <a:rPr lang="en-US" sz="2200" dirty="0"/>
              <a:t>Discount applied.</a:t>
            </a:r>
          </a:p>
          <a:p>
            <a:pPr>
              <a:lnSpc>
                <a:spcPct val="130000"/>
              </a:lnSpc>
            </a:pPr>
            <a:r>
              <a:rPr lang="en-US" sz="2200" b="1" dirty="0"/>
              <a:t>Profit – </a:t>
            </a:r>
            <a:r>
              <a:rPr lang="en-US" sz="2200" dirty="0"/>
              <a:t>Margin or profit.</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23</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3063813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203200" y="136525"/>
            <a:ext cx="11810999" cy="6450542"/>
          </a:xfrm>
        </p:spPr>
        <p:txBody>
          <a:bodyPr>
            <a:normAutofit/>
          </a:bodyPr>
          <a:lstStyle/>
          <a:p>
            <a:pPr algn="ctr">
              <a:lnSpc>
                <a:spcPct val="150000"/>
              </a:lnSpc>
            </a:pPr>
            <a:r>
              <a:rPr lang="en-US" sz="3200" b="1" dirty="0"/>
              <a:t>Connect to Your Dataset</a:t>
            </a:r>
          </a:p>
          <a:p>
            <a:pPr>
              <a:lnSpc>
                <a:spcPct val="150000"/>
              </a:lnSpc>
            </a:pPr>
            <a:r>
              <a:rPr lang="en-US" sz="2400" dirty="0"/>
              <a:t>From the Tableau menu, click on “Microsoft Excel” and add a single excel file, </a:t>
            </a:r>
          </a:p>
          <a:p>
            <a:pPr>
              <a:lnSpc>
                <a:spcPct val="150000"/>
              </a:lnSpc>
            </a:pPr>
            <a:r>
              <a:rPr lang="en-US" sz="2400" dirty="0"/>
              <a:t>where each sheet is a table in your project.</a:t>
            </a:r>
          </a:p>
          <a:p>
            <a:pPr>
              <a:lnSpc>
                <a:spcPct val="150000"/>
              </a:lnSpc>
            </a:pPr>
            <a:endParaRPr lang="en-US" sz="2400" dirty="0"/>
          </a:p>
          <a:p>
            <a:pPr>
              <a:lnSpc>
                <a:spcPct val="150000"/>
              </a:lnSpc>
            </a:pPr>
            <a:r>
              <a:rPr lang="en-US" sz="2400" dirty="0"/>
              <a:t>In the opened editor,</a:t>
            </a:r>
          </a:p>
          <a:p>
            <a:pPr marL="457200" indent="-457200">
              <a:lnSpc>
                <a:spcPct val="150000"/>
              </a:lnSpc>
              <a:buFontTx/>
              <a:buChar char="-"/>
            </a:pPr>
            <a:r>
              <a:rPr lang="en-US" sz="2400" dirty="0"/>
              <a:t>Drag the orders sheet to the canvas. </a:t>
            </a:r>
          </a:p>
          <a:p>
            <a:pPr marL="342900" indent="-342900">
              <a:lnSpc>
                <a:spcPct val="150000"/>
              </a:lnSpc>
              <a:buFontTx/>
              <a:buChar char="-"/>
            </a:pPr>
            <a:r>
              <a:rPr lang="en-US" sz="2400" dirty="0"/>
              <a:t>Click on “Sheet1” below to move to the workspace area to create a visualization.</a:t>
            </a:r>
          </a:p>
          <a:p>
            <a:pPr marL="342900" indent="-342900">
              <a:lnSpc>
                <a:spcPct val="150000"/>
              </a:lnSpc>
              <a:buFontTx/>
              <a:buChar char="-"/>
            </a:pP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24</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pic>
        <p:nvPicPr>
          <p:cNvPr id="3" name="Picture 2">
            <a:extLst>
              <a:ext uri="{FF2B5EF4-FFF2-40B4-BE49-F238E27FC236}">
                <a16:creationId xmlns:a16="http://schemas.microsoft.com/office/drawing/2014/main" id="{D7CF7356-E609-F31A-8E70-E4189EFAD24C}"/>
              </a:ext>
            </a:extLst>
          </p:cNvPr>
          <p:cNvPicPr>
            <a:picLocks noChangeAspect="1"/>
          </p:cNvPicPr>
          <p:nvPr/>
        </p:nvPicPr>
        <p:blipFill>
          <a:blip r:embed="rId3"/>
          <a:stretch>
            <a:fillRect/>
          </a:stretch>
        </p:blipFill>
        <p:spPr>
          <a:xfrm>
            <a:off x="7988301" y="1734609"/>
            <a:ext cx="1651000" cy="2336800"/>
          </a:xfrm>
          <a:prstGeom prst="rect">
            <a:avLst/>
          </a:prstGeom>
        </p:spPr>
      </p:pic>
      <p:sp>
        <p:nvSpPr>
          <p:cNvPr id="6" name="Oval 5">
            <a:extLst>
              <a:ext uri="{FF2B5EF4-FFF2-40B4-BE49-F238E27FC236}">
                <a16:creationId xmlns:a16="http://schemas.microsoft.com/office/drawing/2014/main" id="{D3B58BF3-E6B2-892F-0364-B14D3BF82CE6}"/>
              </a:ext>
            </a:extLst>
          </p:cNvPr>
          <p:cNvSpPr/>
          <p:nvPr/>
        </p:nvSpPr>
        <p:spPr>
          <a:xfrm>
            <a:off x="7802034" y="2611437"/>
            <a:ext cx="1837267" cy="42333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Tree>
    <p:extLst>
      <p:ext uri="{BB962C8B-B14F-4D97-AF65-F5344CB8AC3E}">
        <p14:creationId xmlns:p14="http://schemas.microsoft.com/office/powerpoint/2010/main" val="3540896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203200" y="136525"/>
            <a:ext cx="11810999" cy="6450542"/>
          </a:xfrm>
        </p:spPr>
        <p:txBody>
          <a:bodyPr>
            <a:normAutofit/>
          </a:bodyPr>
          <a:lstStyle/>
          <a:p>
            <a:pPr algn="ctr">
              <a:lnSpc>
                <a:spcPct val="150000"/>
              </a:lnSpc>
            </a:pPr>
            <a:r>
              <a:rPr lang="en-US" sz="3200" b="1" dirty="0"/>
              <a:t>Connect to Your Dataset</a:t>
            </a:r>
          </a:p>
          <a:p>
            <a:pPr>
              <a:lnSpc>
                <a:spcPct val="150000"/>
              </a:lnSpc>
            </a:pP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25</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pic>
        <p:nvPicPr>
          <p:cNvPr id="1026" name="Picture 2" descr="sample store dataset">
            <a:extLst>
              <a:ext uri="{FF2B5EF4-FFF2-40B4-BE49-F238E27FC236}">
                <a16:creationId xmlns:a16="http://schemas.microsoft.com/office/drawing/2014/main" id="{4A4DD7E3-93D4-BFCD-8FA7-956C8BBDC5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0467" y="1611130"/>
            <a:ext cx="7501467" cy="3868920"/>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130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203200" y="136525"/>
            <a:ext cx="11810999" cy="6450542"/>
          </a:xfrm>
        </p:spPr>
        <p:txBody>
          <a:bodyPr>
            <a:normAutofit/>
          </a:bodyPr>
          <a:lstStyle/>
          <a:p>
            <a:pPr algn="ctr">
              <a:lnSpc>
                <a:spcPct val="150000"/>
              </a:lnSpc>
            </a:pPr>
            <a:r>
              <a:rPr lang="en-US" sz="3200" b="1" dirty="0"/>
              <a:t>Workspace</a:t>
            </a:r>
          </a:p>
          <a:p>
            <a:pPr>
              <a:lnSpc>
                <a:spcPct val="150000"/>
              </a:lnSpc>
            </a:pP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26</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pic>
        <p:nvPicPr>
          <p:cNvPr id="2050" name="Picture 2" descr="Tableau Workspace">
            <a:extLst>
              <a:ext uri="{FF2B5EF4-FFF2-40B4-BE49-F238E27FC236}">
                <a16:creationId xmlns:a16="http://schemas.microsoft.com/office/drawing/2014/main" id="{E03B4A03-7207-9695-8BAC-AE498CB585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7881" y="1176867"/>
            <a:ext cx="7904319" cy="4800599"/>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2097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203201" y="136525"/>
            <a:ext cx="6273800" cy="6450542"/>
          </a:xfrm>
        </p:spPr>
        <p:txBody>
          <a:bodyPr>
            <a:normAutofit/>
          </a:bodyPr>
          <a:lstStyle/>
          <a:p>
            <a:pPr algn="ctr">
              <a:lnSpc>
                <a:spcPct val="150000"/>
              </a:lnSpc>
            </a:pPr>
            <a:r>
              <a:rPr lang="en-US" sz="3200" b="1" dirty="0"/>
              <a:t>My First Visualization</a:t>
            </a:r>
          </a:p>
          <a:p>
            <a:pPr>
              <a:lnSpc>
                <a:spcPct val="150000"/>
              </a:lnSpc>
            </a:pPr>
            <a:r>
              <a:rPr lang="en-US" sz="2400" b="1" dirty="0"/>
              <a:t>Query</a:t>
            </a:r>
            <a:r>
              <a:rPr lang="en-US" sz="2400" dirty="0"/>
              <a:t>: What is the sum of Discounts of each category?</a:t>
            </a:r>
          </a:p>
          <a:p>
            <a:pPr>
              <a:lnSpc>
                <a:spcPct val="150000"/>
              </a:lnSpc>
            </a:pPr>
            <a:r>
              <a:rPr lang="en-US" sz="2400" dirty="0"/>
              <a:t>Drag the Category into Columns and then Discounts into Rows.</a:t>
            </a:r>
          </a:p>
          <a:p>
            <a:pPr>
              <a:lnSpc>
                <a:spcPct val="150000"/>
              </a:lnSpc>
            </a:pPr>
            <a:endParaRPr lang="en-US" sz="2400" dirty="0"/>
          </a:p>
          <a:p>
            <a:pPr marL="342900" indent="-342900">
              <a:lnSpc>
                <a:spcPct val="150000"/>
              </a:lnSpc>
              <a:buFontTx/>
              <a:buChar char="-"/>
            </a:pP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27</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pic>
        <p:nvPicPr>
          <p:cNvPr id="7" name="Picture 6">
            <a:extLst>
              <a:ext uri="{FF2B5EF4-FFF2-40B4-BE49-F238E27FC236}">
                <a16:creationId xmlns:a16="http://schemas.microsoft.com/office/drawing/2014/main" id="{2130D356-66F1-A53F-7414-7C5FEC9110C7}"/>
              </a:ext>
            </a:extLst>
          </p:cNvPr>
          <p:cNvPicPr>
            <a:picLocks noChangeAspect="1"/>
          </p:cNvPicPr>
          <p:nvPr/>
        </p:nvPicPr>
        <p:blipFill>
          <a:blip r:embed="rId3"/>
          <a:stretch>
            <a:fillRect/>
          </a:stretch>
        </p:blipFill>
        <p:spPr>
          <a:xfrm>
            <a:off x="7361178" y="756179"/>
            <a:ext cx="2498843" cy="5211233"/>
          </a:xfrm>
          <a:prstGeom prst="rect">
            <a:avLst/>
          </a:prstGeom>
        </p:spPr>
      </p:pic>
    </p:spTree>
    <p:extLst>
      <p:ext uri="{BB962C8B-B14F-4D97-AF65-F5344CB8AC3E}">
        <p14:creationId xmlns:p14="http://schemas.microsoft.com/office/powerpoint/2010/main" val="3842993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203201" y="136525"/>
            <a:ext cx="6705600" cy="6450542"/>
          </a:xfrm>
        </p:spPr>
        <p:txBody>
          <a:bodyPr>
            <a:normAutofit/>
          </a:bodyPr>
          <a:lstStyle/>
          <a:p>
            <a:pPr algn="ctr">
              <a:lnSpc>
                <a:spcPct val="150000"/>
              </a:lnSpc>
            </a:pPr>
            <a:r>
              <a:rPr lang="en-US" sz="3200" b="1" dirty="0"/>
              <a:t>Legends and Colors</a:t>
            </a:r>
          </a:p>
          <a:p>
            <a:pPr marL="457200" indent="-457200">
              <a:lnSpc>
                <a:spcPct val="150000"/>
              </a:lnSpc>
              <a:buFontTx/>
              <a:buChar char="-"/>
            </a:pPr>
            <a:r>
              <a:rPr lang="en-US" sz="2400" dirty="0"/>
              <a:t>To rename simply double click on the </a:t>
            </a:r>
            <a:r>
              <a:rPr lang="en-US" sz="2400" i="1" dirty="0"/>
              <a:t>title</a:t>
            </a:r>
            <a:r>
              <a:rPr lang="en-US" sz="2400" dirty="0"/>
              <a:t>, or sheet1 and a new dialog box appears. Font, Font size, Font color, alignment can be changed.</a:t>
            </a:r>
          </a:p>
          <a:p>
            <a:pPr marL="457200" indent="-457200">
              <a:lnSpc>
                <a:spcPct val="150000"/>
              </a:lnSpc>
              <a:buFontTx/>
              <a:buChar char="-"/>
            </a:pPr>
            <a:r>
              <a:rPr lang="en-US" sz="2400" dirty="0"/>
              <a:t>To apply colors based on category, drag category from the columns to the color in Marks shelf.</a:t>
            </a:r>
          </a:p>
          <a:p>
            <a:pPr marL="457200" indent="-457200">
              <a:lnSpc>
                <a:spcPct val="150000"/>
              </a:lnSpc>
              <a:buFontTx/>
              <a:buChar char="-"/>
            </a:pPr>
            <a:r>
              <a:rPr lang="en-US" sz="2400" dirty="0"/>
              <a:t>To annotate each bar, shift/command + drag SUM(Discount) to the Label in Marks shelf.</a:t>
            </a:r>
          </a:p>
          <a:p>
            <a:pPr marL="342900" indent="-342900">
              <a:lnSpc>
                <a:spcPct val="150000"/>
              </a:lnSpc>
              <a:buFontTx/>
              <a:buChar char="-"/>
            </a:pP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28</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pic>
        <p:nvPicPr>
          <p:cNvPr id="7" name="Picture 6">
            <a:extLst>
              <a:ext uri="{FF2B5EF4-FFF2-40B4-BE49-F238E27FC236}">
                <a16:creationId xmlns:a16="http://schemas.microsoft.com/office/drawing/2014/main" id="{5AEFBB5A-9A93-9B05-4410-89B7C2BAD9FF}"/>
              </a:ext>
            </a:extLst>
          </p:cNvPr>
          <p:cNvPicPr>
            <a:picLocks noChangeAspect="1"/>
          </p:cNvPicPr>
          <p:nvPr/>
        </p:nvPicPr>
        <p:blipFill>
          <a:blip r:embed="rId3"/>
          <a:stretch>
            <a:fillRect/>
          </a:stretch>
        </p:blipFill>
        <p:spPr>
          <a:xfrm>
            <a:off x="7873882" y="732367"/>
            <a:ext cx="2402376" cy="5258858"/>
          </a:xfrm>
          <a:prstGeom prst="rect">
            <a:avLst/>
          </a:prstGeom>
          <a:ln>
            <a:solidFill>
              <a:schemeClr val="accent1"/>
            </a:solidFill>
          </a:ln>
        </p:spPr>
      </p:pic>
    </p:spTree>
    <p:extLst>
      <p:ext uri="{BB962C8B-B14F-4D97-AF65-F5344CB8AC3E}">
        <p14:creationId xmlns:p14="http://schemas.microsoft.com/office/powerpoint/2010/main" val="1411822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203201" y="136525"/>
            <a:ext cx="11675532" cy="6450542"/>
          </a:xfrm>
        </p:spPr>
        <p:txBody>
          <a:bodyPr>
            <a:normAutofit/>
          </a:bodyPr>
          <a:lstStyle/>
          <a:p>
            <a:pPr algn="ctr">
              <a:lnSpc>
                <a:spcPct val="150000"/>
              </a:lnSpc>
            </a:pPr>
            <a:r>
              <a:rPr lang="en-US" sz="3200" b="1" dirty="0"/>
              <a:t>Histogram</a:t>
            </a:r>
          </a:p>
          <a:p>
            <a:pPr marL="457200" indent="-457200">
              <a:lnSpc>
                <a:spcPct val="150000"/>
              </a:lnSpc>
              <a:buFontTx/>
              <a:buChar char="-"/>
            </a:pPr>
            <a:r>
              <a:rPr lang="en-US" sz="2400" dirty="0"/>
              <a:t>Click on </a:t>
            </a:r>
            <a:r>
              <a:rPr lang="en-US" sz="2400" i="1" dirty="0"/>
              <a:t>SHOW ME</a:t>
            </a:r>
            <a:r>
              <a:rPr lang="en-US" sz="2400" dirty="0"/>
              <a:t> in the toolbar, a histogram needs just one measure.</a:t>
            </a:r>
          </a:p>
          <a:p>
            <a:pPr marL="457200" indent="-457200">
              <a:lnSpc>
                <a:spcPct val="150000"/>
              </a:lnSpc>
              <a:buFontTx/>
              <a:buChar char="-"/>
            </a:pPr>
            <a:r>
              <a:rPr lang="en-US" sz="2400" dirty="0"/>
              <a:t>Remove “columns” and “rows”.</a:t>
            </a:r>
          </a:p>
          <a:p>
            <a:pPr marL="457200" indent="-457200">
              <a:lnSpc>
                <a:spcPct val="150000"/>
              </a:lnSpc>
              <a:buFontTx/>
              <a:buChar char="-"/>
            </a:pPr>
            <a:r>
              <a:rPr lang="en-US" sz="2400" dirty="0"/>
              <a:t>Click Discount from the data pane. </a:t>
            </a:r>
          </a:p>
          <a:p>
            <a:pPr marL="457200" indent="-457200">
              <a:lnSpc>
                <a:spcPct val="150000"/>
              </a:lnSpc>
              <a:buFontTx/>
              <a:buChar char="-"/>
            </a:pPr>
            <a:r>
              <a:rPr lang="en-US" sz="2400" dirty="0"/>
              <a:t>Select histogram to create a visualization.</a:t>
            </a:r>
          </a:p>
          <a:p>
            <a:pPr marL="342900" indent="-342900">
              <a:lnSpc>
                <a:spcPct val="150000"/>
              </a:lnSpc>
              <a:buFontTx/>
              <a:buChar char="-"/>
            </a:pP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29</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pic>
        <p:nvPicPr>
          <p:cNvPr id="3" name="Picture 2">
            <a:extLst>
              <a:ext uri="{FF2B5EF4-FFF2-40B4-BE49-F238E27FC236}">
                <a16:creationId xmlns:a16="http://schemas.microsoft.com/office/drawing/2014/main" id="{58F1234D-B74F-8C81-FB04-25E8F5693617}"/>
              </a:ext>
            </a:extLst>
          </p:cNvPr>
          <p:cNvPicPr>
            <a:picLocks noChangeAspect="1"/>
          </p:cNvPicPr>
          <p:nvPr/>
        </p:nvPicPr>
        <p:blipFill>
          <a:blip r:embed="rId3"/>
          <a:stretch>
            <a:fillRect/>
          </a:stretch>
        </p:blipFill>
        <p:spPr>
          <a:xfrm>
            <a:off x="6376845" y="2531532"/>
            <a:ext cx="4811665" cy="3259667"/>
          </a:xfrm>
          <a:prstGeom prst="rect">
            <a:avLst/>
          </a:prstGeom>
          <a:ln>
            <a:solidFill>
              <a:schemeClr val="accent1"/>
            </a:solidFill>
          </a:ln>
        </p:spPr>
      </p:pic>
    </p:spTree>
    <p:extLst>
      <p:ext uri="{BB962C8B-B14F-4D97-AF65-F5344CB8AC3E}">
        <p14:creationId xmlns:p14="http://schemas.microsoft.com/office/powerpoint/2010/main" val="1060255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203201" y="136525"/>
            <a:ext cx="11675532" cy="6450542"/>
          </a:xfrm>
        </p:spPr>
        <p:txBody>
          <a:bodyPr>
            <a:normAutofit/>
          </a:bodyPr>
          <a:lstStyle/>
          <a:p>
            <a:pPr algn="ctr">
              <a:lnSpc>
                <a:spcPct val="150000"/>
              </a:lnSpc>
            </a:pPr>
            <a:r>
              <a:rPr lang="en-US" sz="3200" b="1" dirty="0"/>
              <a:t>Filters</a:t>
            </a:r>
          </a:p>
          <a:p>
            <a:pPr marL="457200" indent="-457200">
              <a:lnSpc>
                <a:spcPct val="150000"/>
              </a:lnSpc>
              <a:buFontTx/>
              <a:buChar char="-"/>
            </a:pPr>
            <a:r>
              <a:rPr lang="en-US" sz="2400" dirty="0"/>
              <a:t>Select the dimension/measure that needs to be a filter and drop it on the Filter pane. For example – Region and shipping mode.</a:t>
            </a:r>
          </a:p>
          <a:p>
            <a:pPr marL="457200" indent="-457200">
              <a:lnSpc>
                <a:spcPct val="150000"/>
              </a:lnSpc>
              <a:buFontTx/>
              <a:buChar char="-"/>
            </a:pPr>
            <a:r>
              <a:rPr lang="en-US" sz="2400" dirty="0"/>
              <a:t>Right-click on the Region Filter pill and select show filter.</a:t>
            </a:r>
          </a:p>
          <a:p>
            <a:pPr marL="457200" indent="-457200">
              <a:lnSpc>
                <a:spcPct val="150000"/>
              </a:lnSpc>
              <a:buFontTx/>
              <a:buChar char="-"/>
            </a:pPr>
            <a:r>
              <a:rPr lang="en-US" sz="2400" dirty="0"/>
              <a:t>Repeat the same for Shipping Mode.</a:t>
            </a:r>
          </a:p>
          <a:p>
            <a:pPr marL="457200" indent="-457200">
              <a:lnSpc>
                <a:spcPct val="150000"/>
              </a:lnSpc>
              <a:buFontTx/>
              <a:buChar char="-"/>
            </a:pPr>
            <a:r>
              <a:rPr lang="en-US" sz="2400" dirty="0"/>
              <a:t>Add Sales to “rows”.</a:t>
            </a:r>
          </a:p>
          <a:p>
            <a:br>
              <a:rPr lang="en-US" dirty="0"/>
            </a:br>
            <a:endParaRPr lang="en-US" dirty="0"/>
          </a:p>
          <a:p>
            <a:pPr marL="342900" indent="-342900">
              <a:lnSpc>
                <a:spcPct val="150000"/>
              </a:lnSpc>
              <a:buFontTx/>
              <a:buChar char="-"/>
            </a:pP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30</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2261486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203201" y="136525"/>
            <a:ext cx="11675532" cy="6450542"/>
          </a:xfrm>
        </p:spPr>
        <p:txBody>
          <a:bodyPr>
            <a:normAutofit/>
          </a:bodyPr>
          <a:lstStyle/>
          <a:p>
            <a:pPr algn="ctr">
              <a:lnSpc>
                <a:spcPct val="150000"/>
              </a:lnSpc>
            </a:pPr>
            <a:r>
              <a:rPr lang="en-US" sz="3200" b="1" dirty="0"/>
              <a:t>Table Calculations</a:t>
            </a:r>
          </a:p>
          <a:p>
            <a:pPr>
              <a:lnSpc>
                <a:spcPct val="150000"/>
              </a:lnSpc>
            </a:pPr>
            <a:r>
              <a:rPr lang="en-US" sz="2400" dirty="0"/>
              <a:t>A common way to find an aggregate of columns/rows is table calculation. Select Analysis and then select Percentage of to get percentage values or select Total to get total across rows/columns.</a:t>
            </a:r>
          </a:p>
          <a:p>
            <a:pPr marL="457200" indent="-457200">
              <a:lnSpc>
                <a:spcPct val="150000"/>
              </a:lnSpc>
              <a:buFontTx/>
              <a:buChar char="-"/>
            </a:pPr>
            <a:r>
              <a:rPr lang="en-US" sz="2400" dirty="0"/>
              <a:t>Right-click on SUM(Profit) in the marks pane and select </a:t>
            </a:r>
            <a:r>
              <a:rPr lang="en-US" sz="2400" i="1" dirty="0"/>
              <a:t>Add Table Calculation.</a:t>
            </a:r>
            <a:endParaRPr lang="en-US" sz="2400" dirty="0"/>
          </a:p>
          <a:p>
            <a:pPr marL="457200" indent="-457200">
              <a:lnSpc>
                <a:spcPct val="150000"/>
              </a:lnSpc>
              <a:buFontTx/>
              <a:buChar char="-"/>
            </a:pPr>
            <a:r>
              <a:rPr lang="en-US" sz="2400" dirty="0"/>
              <a:t>In the dialog box, relevant table calculations can be selected.</a:t>
            </a:r>
          </a:p>
          <a:p>
            <a:pPr>
              <a:lnSpc>
                <a:spcPct val="150000"/>
              </a:lnSpc>
            </a:pPr>
            <a:r>
              <a:rPr lang="en-US" sz="2400" dirty="0"/>
              <a:t>For example,  % of total needs be added then we can select </a:t>
            </a:r>
            <a:r>
              <a:rPr lang="en-US" sz="2400" b="1" i="1" dirty="0"/>
              <a:t>Percentage of Total</a:t>
            </a:r>
            <a:r>
              <a:rPr lang="en-US" sz="2400" dirty="0"/>
              <a:t> and in Compute Using </a:t>
            </a:r>
            <a:r>
              <a:rPr lang="en-US" sz="2400" i="1" dirty="0"/>
              <a:t>Table (Down)</a:t>
            </a:r>
            <a:endParaRPr lang="en-US" sz="2400" dirty="0"/>
          </a:p>
          <a:p>
            <a:pPr>
              <a:lnSpc>
                <a:spcPct val="150000"/>
              </a:lnSpc>
            </a:pP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31</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4666298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203201" y="136525"/>
            <a:ext cx="6764866" cy="6450542"/>
          </a:xfrm>
        </p:spPr>
        <p:txBody>
          <a:bodyPr>
            <a:normAutofit/>
          </a:bodyPr>
          <a:lstStyle/>
          <a:p>
            <a:pPr algn="ctr">
              <a:lnSpc>
                <a:spcPct val="150000"/>
              </a:lnSpc>
            </a:pPr>
            <a:r>
              <a:rPr lang="en-US" sz="3200" b="1" dirty="0"/>
              <a:t>Table Calculations</a:t>
            </a:r>
          </a:p>
          <a:p>
            <a:pPr>
              <a:lnSpc>
                <a:spcPct val="150000"/>
              </a:lnSpc>
            </a:pPr>
            <a:r>
              <a:rPr lang="en-US" sz="2400" b="1" dirty="0"/>
              <a:t>Calculated Field to create profit percentage:</a:t>
            </a:r>
          </a:p>
          <a:p>
            <a:pPr marL="457200" indent="-457200">
              <a:lnSpc>
                <a:spcPct val="150000"/>
              </a:lnSpc>
              <a:buFontTx/>
              <a:buChar char="-"/>
            </a:pPr>
            <a:r>
              <a:rPr lang="en-US" sz="2200" dirty="0"/>
              <a:t>Select Analysis on the toolbar, then select </a:t>
            </a:r>
            <a:r>
              <a:rPr lang="en-US" sz="2200" i="1" u="sng" dirty="0"/>
              <a:t>create calculated field</a:t>
            </a:r>
            <a:r>
              <a:rPr lang="en-US" sz="2200" dirty="0"/>
              <a:t>.</a:t>
            </a:r>
          </a:p>
          <a:p>
            <a:pPr marL="457200" indent="-457200">
              <a:lnSpc>
                <a:spcPct val="150000"/>
              </a:lnSpc>
              <a:buFontTx/>
              <a:buChar char="-"/>
            </a:pPr>
            <a:r>
              <a:rPr lang="en-US" sz="2200" dirty="0"/>
              <a:t>We will use the formula </a:t>
            </a:r>
            <a:r>
              <a:rPr lang="en-US" sz="2200" i="1" u="sng" dirty="0"/>
              <a:t>[Profit]/[Sales]</a:t>
            </a:r>
            <a:r>
              <a:rPr lang="en-US" sz="2200" dirty="0"/>
              <a:t> as profit ratio.</a:t>
            </a:r>
          </a:p>
          <a:p>
            <a:pPr marL="457200" indent="-457200">
              <a:lnSpc>
                <a:spcPct val="150000"/>
              </a:lnSpc>
              <a:buFontTx/>
              <a:buChar char="-"/>
            </a:pPr>
            <a:r>
              <a:rPr lang="en-US" sz="2200" dirty="0"/>
              <a:t>Name the calculated field as </a:t>
            </a:r>
            <a:r>
              <a:rPr lang="en-US" sz="2200" i="1" dirty="0" err="1"/>
              <a:t>profit_ratio</a:t>
            </a:r>
            <a:r>
              <a:rPr lang="en-US" sz="2200" i="1" dirty="0"/>
              <a:t> </a:t>
            </a:r>
            <a:r>
              <a:rPr lang="en-US" sz="2200" dirty="0"/>
              <a:t>and click Apply.</a:t>
            </a:r>
          </a:p>
          <a:p>
            <a:pPr>
              <a:lnSpc>
                <a:spcPct val="150000"/>
              </a:lnSpc>
            </a:pPr>
            <a:r>
              <a:rPr lang="en-US" sz="2400" dirty="0"/>
              <a:t>Unlike available columns such as Discount, Profit, </a:t>
            </a:r>
            <a:r>
              <a:rPr lang="en-US" sz="2400" dirty="0" err="1"/>
              <a:t>profit_ratio</a:t>
            </a:r>
            <a:r>
              <a:rPr lang="en-US" sz="2400" dirty="0"/>
              <a:t> has a different symbol.</a:t>
            </a:r>
          </a:p>
          <a:p>
            <a:pPr>
              <a:lnSpc>
                <a:spcPct val="150000"/>
              </a:lnSpc>
            </a:pP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32</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pic>
        <p:nvPicPr>
          <p:cNvPr id="1026" name="Picture 2" descr="calculated field ">
            <a:extLst>
              <a:ext uri="{FF2B5EF4-FFF2-40B4-BE49-F238E27FC236}">
                <a16:creationId xmlns:a16="http://schemas.microsoft.com/office/drawing/2014/main" id="{A8256150-6590-323B-5790-D263ADBBB3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7633" y="2398068"/>
            <a:ext cx="4855633" cy="2351731"/>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9179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203201" y="136525"/>
            <a:ext cx="11675532" cy="6450542"/>
          </a:xfrm>
        </p:spPr>
        <p:txBody>
          <a:bodyPr>
            <a:normAutofit fontScale="92500" lnSpcReduction="20000"/>
          </a:bodyPr>
          <a:lstStyle/>
          <a:p>
            <a:pPr algn="ctr">
              <a:lnSpc>
                <a:spcPct val="150000"/>
              </a:lnSpc>
            </a:pPr>
            <a:r>
              <a:rPr lang="en-US" sz="3200" b="1" dirty="0"/>
              <a:t>Parameters</a:t>
            </a:r>
          </a:p>
          <a:p>
            <a:pPr>
              <a:lnSpc>
                <a:spcPct val="170000"/>
              </a:lnSpc>
            </a:pPr>
            <a:r>
              <a:rPr lang="en-US" sz="2600" dirty="0"/>
              <a:t>Tableau parameters help users define values, which then can be processed by a calculated field(can also be used in set, reference line </a:t>
            </a:r>
            <a:r>
              <a:rPr lang="en-US" sz="2600" dirty="0" err="1"/>
              <a:t>etc</a:t>
            </a:r>
            <a:r>
              <a:rPr lang="en-US" sz="2600" dirty="0"/>
              <a:t>). </a:t>
            </a:r>
          </a:p>
          <a:p>
            <a:pPr marL="457200" indent="-457200">
              <a:lnSpc>
                <a:spcPct val="170000"/>
              </a:lnSpc>
              <a:buFontTx/>
              <a:buChar char="-"/>
            </a:pPr>
            <a:r>
              <a:rPr lang="en-US" sz="2400" dirty="0"/>
              <a:t>Drag Customer ID to Filter shelf.</a:t>
            </a:r>
          </a:p>
          <a:p>
            <a:pPr marL="457200" indent="-457200">
              <a:lnSpc>
                <a:spcPct val="170000"/>
              </a:lnSpc>
              <a:buFontTx/>
              <a:buChar char="-"/>
            </a:pPr>
            <a:r>
              <a:rPr lang="en-US" sz="2400" dirty="0"/>
              <a:t>Right-click on it, and a dialog box appears. Click on </a:t>
            </a:r>
            <a:r>
              <a:rPr lang="en-US" sz="2400" i="1" u="sng" dirty="0"/>
              <a:t>Top </a:t>
            </a:r>
            <a:r>
              <a:rPr lang="en-US" sz="2400" dirty="0"/>
              <a:t>then select </a:t>
            </a:r>
            <a:r>
              <a:rPr lang="en-US" sz="2400" i="1" u="sng" dirty="0"/>
              <a:t>By Field</a:t>
            </a:r>
            <a:r>
              <a:rPr lang="en-US" sz="2400" dirty="0"/>
              <a:t>, then select </a:t>
            </a:r>
            <a:r>
              <a:rPr lang="en-US" sz="2400" i="1" u="sng" dirty="0"/>
              <a:t>Create New Parameter</a:t>
            </a:r>
            <a:r>
              <a:rPr lang="en-US" sz="2400" dirty="0"/>
              <a:t>.</a:t>
            </a:r>
          </a:p>
          <a:p>
            <a:pPr marL="457200" indent="-457200">
              <a:lnSpc>
                <a:spcPct val="170000"/>
              </a:lnSpc>
              <a:buFontTx/>
              <a:buChar char="-"/>
            </a:pPr>
            <a:r>
              <a:rPr lang="en-US" sz="2400" dirty="0"/>
              <a:t>A new dialog box appears, rename it as Top N. Click OK.</a:t>
            </a:r>
          </a:p>
          <a:p>
            <a:pPr marL="457200" indent="-457200">
              <a:lnSpc>
                <a:spcPct val="170000"/>
              </a:lnSpc>
              <a:buFontTx/>
              <a:buChar char="-"/>
            </a:pPr>
            <a:r>
              <a:rPr lang="en-US" sz="2400" dirty="0"/>
              <a:t>The Top N parameter will be visible on the parameter shelf.</a:t>
            </a:r>
          </a:p>
          <a:p>
            <a:pPr marL="457200" indent="-457200">
              <a:lnSpc>
                <a:spcPct val="170000"/>
              </a:lnSpc>
              <a:buFontTx/>
              <a:buChar char="-"/>
            </a:pPr>
            <a:r>
              <a:rPr lang="en-US" sz="2400" dirty="0"/>
              <a:t>Right-click on it, and select </a:t>
            </a:r>
            <a:r>
              <a:rPr lang="en-US" sz="2400" i="1" u="sng" dirty="0"/>
              <a:t>Show Parameter.</a:t>
            </a:r>
            <a:endParaRPr lang="en-US" sz="2400" dirty="0"/>
          </a:p>
          <a:p>
            <a:pPr>
              <a:lnSpc>
                <a:spcPct val="170000"/>
              </a:lnSpc>
            </a:pPr>
            <a:r>
              <a:rPr lang="en-US" sz="2600" dirty="0"/>
              <a:t>Using parameter control, the number of customers shown can be adjusted.</a:t>
            </a:r>
          </a:p>
          <a:p>
            <a:pPr marL="342900" indent="-342900">
              <a:lnSpc>
                <a:spcPct val="150000"/>
              </a:lnSpc>
              <a:buFontTx/>
              <a:buChar char="-"/>
            </a:pP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33</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1281895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203201" y="136525"/>
            <a:ext cx="11675532" cy="6450542"/>
          </a:xfrm>
        </p:spPr>
        <p:txBody>
          <a:bodyPr>
            <a:normAutofit/>
          </a:bodyPr>
          <a:lstStyle/>
          <a:p>
            <a:pPr algn="ctr">
              <a:lnSpc>
                <a:spcPct val="150000"/>
              </a:lnSpc>
            </a:pPr>
            <a:r>
              <a:rPr lang="en-US" sz="3200" b="1" dirty="0"/>
              <a:t>Create Dashboard</a:t>
            </a:r>
          </a:p>
          <a:p>
            <a:pPr marL="457200" indent="-457200">
              <a:lnSpc>
                <a:spcPct val="150000"/>
              </a:lnSpc>
              <a:buFontTx/>
              <a:buChar char="-"/>
            </a:pPr>
            <a:r>
              <a:rPr lang="en-US" sz="2400" dirty="0"/>
              <a:t>Select Dashboard and New Dashboard from the toolbar.</a:t>
            </a:r>
          </a:p>
          <a:p>
            <a:pPr marL="457200" indent="-457200">
              <a:lnSpc>
                <a:spcPct val="150000"/>
              </a:lnSpc>
              <a:buFontTx/>
              <a:buChar char="-"/>
            </a:pPr>
            <a:r>
              <a:rPr lang="en-US" sz="2400" dirty="0"/>
              <a:t>Under the dashboard and sheets pane, the existing charts/sheets appear.</a:t>
            </a:r>
          </a:p>
          <a:p>
            <a:pPr marL="457200" indent="-457200">
              <a:lnSpc>
                <a:spcPct val="150000"/>
              </a:lnSpc>
              <a:buFontTx/>
              <a:buChar char="-"/>
            </a:pPr>
            <a:r>
              <a:rPr lang="en-US" sz="2400" dirty="0"/>
              <a:t>Drag the drop the relevant sheet onto the dashboard.</a:t>
            </a:r>
          </a:p>
          <a:p>
            <a:pPr marL="457200" indent="-457200">
              <a:lnSpc>
                <a:spcPct val="150000"/>
              </a:lnSpc>
              <a:buFontTx/>
              <a:buChar char="-"/>
            </a:pPr>
            <a:r>
              <a:rPr lang="en-US" sz="2400" dirty="0"/>
              <a:t>To add filters to the dashboard – Select Analysis from the toolbar, under it select Filter, all relevant filters appear. Go ahead and choose the one appropriate for the current dashboard.</a:t>
            </a:r>
          </a:p>
          <a:p>
            <a:pPr marL="342900" indent="-342900">
              <a:lnSpc>
                <a:spcPct val="150000"/>
              </a:lnSpc>
              <a:buFontTx/>
              <a:buChar char="-"/>
            </a:pP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34</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1570559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14921</TotalTime>
  <Words>2070</Words>
  <Application>Microsoft Macintosh PowerPoint</Application>
  <PresentationFormat>Widescreen</PresentationFormat>
  <Paragraphs>252</Paragraphs>
  <Slides>34</Slides>
  <Notes>31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34</vt:i4>
      </vt:variant>
    </vt:vector>
  </HeadingPairs>
  <TitlesOfParts>
    <vt:vector size="42" baseType="lpstr">
      <vt:lpstr>Arial</vt:lpstr>
      <vt:lpstr>BentonSans Book</vt:lpstr>
      <vt:lpstr>Calibri</vt:lpstr>
      <vt:lpstr>Calibri Light</vt:lpstr>
      <vt:lpstr>Gill Sans MT</vt:lpstr>
      <vt:lpstr>Merriweather Light</vt:lpstr>
      <vt:lpstr>Times</vt:lpstr>
      <vt:lpstr>Office Theme</vt:lpstr>
      <vt:lpstr>Business Intelligence</vt:lpstr>
      <vt:lpstr>PowerPoint Presentation</vt:lpstr>
      <vt:lpstr>PowerPoint Presentation</vt:lpstr>
      <vt:lpstr>The User Interface - UI</vt:lpstr>
      <vt:lpstr>Human Factors in Interface Design</vt:lpstr>
      <vt:lpstr>UI Design Principles</vt:lpstr>
      <vt:lpstr>UI Design Principles</vt:lpstr>
      <vt:lpstr>Design Issues in UIs</vt:lpstr>
      <vt:lpstr>Information Presentation</vt:lpstr>
      <vt:lpstr>Information Presentation</vt:lpstr>
      <vt:lpstr>Colours</vt:lpstr>
      <vt:lpstr>Colour Use Guidelines</vt:lpstr>
      <vt:lpstr>The UI Design Process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Groups</dc:title>
  <dc:creator>Lev</dc:creator>
  <cp:lastModifiedBy>or perets</cp:lastModifiedBy>
  <cp:revision>331</cp:revision>
  <dcterms:created xsi:type="dcterms:W3CDTF">2021-02-09T13:47:38Z</dcterms:created>
  <dcterms:modified xsi:type="dcterms:W3CDTF">2022-05-17T08:17:55Z</dcterms:modified>
</cp:coreProperties>
</file>