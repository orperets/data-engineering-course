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7" r:id="rId2"/>
    <p:sldId id="428" r:id="rId3"/>
    <p:sldId id="259" r:id="rId4"/>
    <p:sldId id="260" r:id="rId5"/>
    <p:sldId id="288" r:id="rId6"/>
    <p:sldId id="289" r:id="rId7"/>
    <p:sldId id="290" r:id="rId8"/>
    <p:sldId id="291" r:id="rId9"/>
    <p:sldId id="292" r:id="rId10"/>
    <p:sldId id="293" r:id="rId11"/>
    <p:sldId id="295" r:id="rId12"/>
    <p:sldId id="296" r:id="rId13"/>
    <p:sldId id="297" r:id="rId14"/>
    <p:sldId id="298" r:id="rId15"/>
    <p:sldId id="299" r:id="rId16"/>
    <p:sldId id="322" r:id="rId17"/>
    <p:sldId id="323" r:id="rId18"/>
    <p:sldId id="324" r:id="rId19"/>
    <p:sldId id="325" r:id="rId20"/>
    <p:sldId id="326" r:id="rId21"/>
    <p:sldId id="329" r:id="rId22"/>
    <p:sldId id="331" r:id="rId23"/>
    <p:sldId id="332" r:id="rId24"/>
    <p:sldId id="333" r:id="rId25"/>
    <p:sldId id="347" r:id="rId26"/>
    <p:sldId id="348" r:id="rId27"/>
    <p:sldId id="349" r:id="rId28"/>
    <p:sldId id="350" r:id="rId29"/>
    <p:sldId id="393" r:id="rId30"/>
    <p:sldId id="395" r:id="rId31"/>
    <p:sldId id="396" r:id="rId32"/>
    <p:sldId id="398" r:id="rId33"/>
    <p:sldId id="399" r:id="rId34"/>
    <p:sldId id="397" r:id="rId35"/>
    <p:sldId id="400" r:id="rId36"/>
    <p:sldId id="410" r:id="rId37"/>
    <p:sldId id="401" r:id="rId38"/>
    <p:sldId id="415" r:id="rId39"/>
    <p:sldId id="402" r:id="rId40"/>
    <p:sldId id="416" r:id="rId41"/>
    <p:sldId id="403" r:id="rId42"/>
    <p:sldId id="417" r:id="rId43"/>
    <p:sldId id="411" r:id="rId44"/>
    <p:sldId id="404" r:id="rId45"/>
    <p:sldId id="405" r:id="rId46"/>
    <p:sldId id="419" r:id="rId47"/>
    <p:sldId id="407" r:id="rId48"/>
    <p:sldId id="420" r:id="rId49"/>
    <p:sldId id="408" r:id="rId50"/>
    <p:sldId id="421" r:id="rId51"/>
    <p:sldId id="412" r:id="rId52"/>
    <p:sldId id="422" r:id="rId53"/>
    <p:sldId id="409" r:id="rId54"/>
    <p:sldId id="423" r:id="rId55"/>
    <p:sldId id="424" r:id="rId56"/>
    <p:sldId id="425" r:id="rId57"/>
    <p:sldId id="414" r:id="rId58"/>
    <p:sldId id="426" r:id="rId5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31" autoAdjust="0"/>
    <p:restoredTop sz="94654"/>
  </p:normalViewPr>
  <p:slideViewPr>
    <p:cSldViewPr snapToGrid="0">
      <p:cViewPr varScale="1">
        <p:scale>
          <a:sx n="104" d="100"/>
          <a:sy n="104" d="100"/>
        </p:scale>
        <p:origin x="1424" y="19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63F32-7DA3-4013-BE26-9191402E55C8}" type="datetimeFigureOut">
              <a:rPr lang="en-IL" smtClean="0"/>
              <a:t>15/02/2023</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8866D-0BA4-4B03-8FA8-A96EE1FB39D0}" type="slidenum">
              <a:rPr lang="en-IL" smtClean="0"/>
              <a:t>‹#›</a:t>
            </a:fld>
            <a:endParaRPr lang="en-IL"/>
          </a:p>
        </p:txBody>
      </p:sp>
    </p:spTree>
    <p:extLst>
      <p:ext uri="{BB962C8B-B14F-4D97-AF65-F5344CB8AC3E}">
        <p14:creationId xmlns:p14="http://schemas.microsoft.com/office/powerpoint/2010/main" val="242115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a:t>
            </a:fld>
            <a:endParaRPr lang="en-IL"/>
          </a:p>
        </p:txBody>
      </p:sp>
    </p:spTree>
    <p:extLst>
      <p:ext uri="{BB962C8B-B14F-4D97-AF65-F5344CB8AC3E}">
        <p14:creationId xmlns:p14="http://schemas.microsoft.com/office/powerpoint/2010/main" val="1338210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46ee7dff8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46ee7dff8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b291aa0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b291aa0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75b291aa0a_1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75b291aa0a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75b291aa0a_1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75b291aa0a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75b291aa0a_1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75b291aa0a_1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75b291aa0a_1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75b291aa0a_1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75b291aa0a_1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75b291aa0a_1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75b291aa0a_1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75b291aa0a_1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75b291aa0a_1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75b291aa0a_1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75b291aa0a_1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75b291aa0a_1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75b291aa0a_1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75b291aa0a_1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75b291aa0a_1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75b291aa0a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75b291aa0a_1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75b291aa0a_1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6c7c17477d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6c7c17477d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6c7c17477d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6c7c17477d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6c7c17477d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6c7c17477d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6c7c17477d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6c7c17477d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6c7c17477d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6c7c17477d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c7c17477d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c7c17477d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6c7c17477d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6c7c17477d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6c7c17477d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6c7c17477d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6c7c17477d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6c7c17477d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6c7c17477d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6c7c17477d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6c7c17477d_0_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6c7c17477d_0_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6c7c17477d_0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6c7c17477d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6c7c17477d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6c7c17477d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29</a:t>
            </a:fld>
            <a:endParaRPr lang="en-IL"/>
          </a:p>
        </p:txBody>
      </p:sp>
    </p:spTree>
    <p:extLst>
      <p:ext uri="{BB962C8B-B14F-4D97-AF65-F5344CB8AC3E}">
        <p14:creationId xmlns:p14="http://schemas.microsoft.com/office/powerpoint/2010/main" val="22029478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30</a:t>
            </a:fld>
            <a:endParaRPr lang="en-IL"/>
          </a:p>
        </p:txBody>
      </p:sp>
    </p:spTree>
    <p:extLst>
      <p:ext uri="{BB962C8B-B14F-4D97-AF65-F5344CB8AC3E}">
        <p14:creationId xmlns:p14="http://schemas.microsoft.com/office/powerpoint/2010/main" val="11846978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31</a:t>
            </a:fld>
            <a:endParaRPr lang="en-IL"/>
          </a:p>
        </p:txBody>
      </p:sp>
    </p:spTree>
    <p:extLst>
      <p:ext uri="{BB962C8B-B14F-4D97-AF65-F5344CB8AC3E}">
        <p14:creationId xmlns:p14="http://schemas.microsoft.com/office/powerpoint/2010/main" val="22720839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32</a:t>
            </a:fld>
            <a:endParaRPr lang="en-IL"/>
          </a:p>
        </p:txBody>
      </p:sp>
    </p:spTree>
    <p:extLst>
      <p:ext uri="{BB962C8B-B14F-4D97-AF65-F5344CB8AC3E}">
        <p14:creationId xmlns:p14="http://schemas.microsoft.com/office/powerpoint/2010/main" val="34065021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33</a:t>
            </a:fld>
            <a:endParaRPr lang="en-IL"/>
          </a:p>
        </p:txBody>
      </p:sp>
    </p:spTree>
    <p:extLst>
      <p:ext uri="{BB962C8B-B14F-4D97-AF65-F5344CB8AC3E}">
        <p14:creationId xmlns:p14="http://schemas.microsoft.com/office/powerpoint/2010/main" val="310563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34</a:t>
            </a:fld>
            <a:endParaRPr lang="en-IL"/>
          </a:p>
        </p:txBody>
      </p:sp>
    </p:spTree>
    <p:extLst>
      <p:ext uri="{BB962C8B-B14F-4D97-AF65-F5344CB8AC3E}">
        <p14:creationId xmlns:p14="http://schemas.microsoft.com/office/powerpoint/2010/main" val="24943782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35</a:t>
            </a:fld>
            <a:endParaRPr lang="en-IL"/>
          </a:p>
        </p:txBody>
      </p:sp>
    </p:spTree>
    <p:extLst>
      <p:ext uri="{BB962C8B-B14F-4D97-AF65-F5344CB8AC3E}">
        <p14:creationId xmlns:p14="http://schemas.microsoft.com/office/powerpoint/2010/main" val="14134275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36</a:t>
            </a:fld>
            <a:endParaRPr lang="en-IL"/>
          </a:p>
        </p:txBody>
      </p:sp>
    </p:spTree>
    <p:extLst>
      <p:ext uri="{BB962C8B-B14F-4D97-AF65-F5344CB8AC3E}">
        <p14:creationId xmlns:p14="http://schemas.microsoft.com/office/powerpoint/2010/main" val="8685862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37</a:t>
            </a:fld>
            <a:endParaRPr lang="en-IL"/>
          </a:p>
        </p:txBody>
      </p:sp>
    </p:spTree>
    <p:extLst>
      <p:ext uri="{BB962C8B-B14F-4D97-AF65-F5344CB8AC3E}">
        <p14:creationId xmlns:p14="http://schemas.microsoft.com/office/powerpoint/2010/main" val="37255461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38</a:t>
            </a:fld>
            <a:endParaRPr lang="en-IL"/>
          </a:p>
        </p:txBody>
      </p:sp>
    </p:spTree>
    <p:extLst>
      <p:ext uri="{BB962C8B-B14F-4D97-AF65-F5344CB8AC3E}">
        <p14:creationId xmlns:p14="http://schemas.microsoft.com/office/powerpoint/2010/main" val="32611589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39</a:t>
            </a:fld>
            <a:endParaRPr lang="en-IL"/>
          </a:p>
        </p:txBody>
      </p:sp>
    </p:spTree>
    <p:extLst>
      <p:ext uri="{BB962C8B-B14F-4D97-AF65-F5344CB8AC3E}">
        <p14:creationId xmlns:p14="http://schemas.microsoft.com/office/powerpoint/2010/main" val="37104593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40</a:t>
            </a:fld>
            <a:endParaRPr lang="en-IL"/>
          </a:p>
        </p:txBody>
      </p:sp>
    </p:spTree>
    <p:extLst>
      <p:ext uri="{BB962C8B-B14F-4D97-AF65-F5344CB8AC3E}">
        <p14:creationId xmlns:p14="http://schemas.microsoft.com/office/powerpoint/2010/main" val="40088042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41</a:t>
            </a:fld>
            <a:endParaRPr lang="en-IL"/>
          </a:p>
        </p:txBody>
      </p:sp>
    </p:spTree>
    <p:extLst>
      <p:ext uri="{BB962C8B-B14F-4D97-AF65-F5344CB8AC3E}">
        <p14:creationId xmlns:p14="http://schemas.microsoft.com/office/powerpoint/2010/main" val="31407593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42</a:t>
            </a:fld>
            <a:endParaRPr lang="en-IL"/>
          </a:p>
        </p:txBody>
      </p:sp>
    </p:spTree>
    <p:extLst>
      <p:ext uri="{BB962C8B-B14F-4D97-AF65-F5344CB8AC3E}">
        <p14:creationId xmlns:p14="http://schemas.microsoft.com/office/powerpoint/2010/main" val="4003759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43</a:t>
            </a:fld>
            <a:endParaRPr lang="en-IL"/>
          </a:p>
        </p:txBody>
      </p:sp>
    </p:spTree>
    <p:extLst>
      <p:ext uri="{BB962C8B-B14F-4D97-AF65-F5344CB8AC3E}">
        <p14:creationId xmlns:p14="http://schemas.microsoft.com/office/powerpoint/2010/main" val="18783633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44</a:t>
            </a:fld>
            <a:endParaRPr lang="en-IL"/>
          </a:p>
        </p:txBody>
      </p:sp>
    </p:spTree>
    <p:extLst>
      <p:ext uri="{BB962C8B-B14F-4D97-AF65-F5344CB8AC3E}">
        <p14:creationId xmlns:p14="http://schemas.microsoft.com/office/powerpoint/2010/main" val="18709977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45</a:t>
            </a:fld>
            <a:endParaRPr lang="en-IL"/>
          </a:p>
        </p:txBody>
      </p:sp>
    </p:spTree>
    <p:extLst>
      <p:ext uri="{BB962C8B-B14F-4D97-AF65-F5344CB8AC3E}">
        <p14:creationId xmlns:p14="http://schemas.microsoft.com/office/powerpoint/2010/main" val="6075556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46</a:t>
            </a:fld>
            <a:endParaRPr lang="en-IL"/>
          </a:p>
        </p:txBody>
      </p:sp>
    </p:spTree>
    <p:extLst>
      <p:ext uri="{BB962C8B-B14F-4D97-AF65-F5344CB8AC3E}">
        <p14:creationId xmlns:p14="http://schemas.microsoft.com/office/powerpoint/2010/main" val="20108952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47</a:t>
            </a:fld>
            <a:endParaRPr lang="en-IL"/>
          </a:p>
        </p:txBody>
      </p:sp>
    </p:spTree>
    <p:extLst>
      <p:ext uri="{BB962C8B-B14F-4D97-AF65-F5344CB8AC3E}">
        <p14:creationId xmlns:p14="http://schemas.microsoft.com/office/powerpoint/2010/main" val="23526315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48</a:t>
            </a:fld>
            <a:endParaRPr lang="en-IL"/>
          </a:p>
        </p:txBody>
      </p:sp>
    </p:spTree>
    <p:extLst>
      <p:ext uri="{BB962C8B-B14F-4D97-AF65-F5344CB8AC3E}">
        <p14:creationId xmlns:p14="http://schemas.microsoft.com/office/powerpoint/2010/main" val="5344509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49</a:t>
            </a:fld>
            <a:endParaRPr lang="en-IL"/>
          </a:p>
        </p:txBody>
      </p:sp>
    </p:spTree>
    <p:extLst>
      <p:ext uri="{BB962C8B-B14F-4D97-AF65-F5344CB8AC3E}">
        <p14:creationId xmlns:p14="http://schemas.microsoft.com/office/powerpoint/2010/main" val="26702734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50</a:t>
            </a:fld>
            <a:endParaRPr lang="en-IL"/>
          </a:p>
        </p:txBody>
      </p:sp>
    </p:spTree>
    <p:extLst>
      <p:ext uri="{BB962C8B-B14F-4D97-AF65-F5344CB8AC3E}">
        <p14:creationId xmlns:p14="http://schemas.microsoft.com/office/powerpoint/2010/main" val="23278226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51</a:t>
            </a:fld>
            <a:endParaRPr lang="en-IL"/>
          </a:p>
        </p:txBody>
      </p:sp>
    </p:spTree>
    <p:extLst>
      <p:ext uri="{BB962C8B-B14F-4D97-AF65-F5344CB8AC3E}">
        <p14:creationId xmlns:p14="http://schemas.microsoft.com/office/powerpoint/2010/main" val="28034860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52</a:t>
            </a:fld>
            <a:endParaRPr lang="en-IL"/>
          </a:p>
        </p:txBody>
      </p:sp>
    </p:spTree>
    <p:extLst>
      <p:ext uri="{BB962C8B-B14F-4D97-AF65-F5344CB8AC3E}">
        <p14:creationId xmlns:p14="http://schemas.microsoft.com/office/powerpoint/2010/main" val="27452995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53</a:t>
            </a:fld>
            <a:endParaRPr lang="en-IL"/>
          </a:p>
        </p:txBody>
      </p:sp>
    </p:spTree>
    <p:extLst>
      <p:ext uri="{BB962C8B-B14F-4D97-AF65-F5344CB8AC3E}">
        <p14:creationId xmlns:p14="http://schemas.microsoft.com/office/powerpoint/2010/main" val="16474210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54</a:t>
            </a:fld>
            <a:endParaRPr lang="en-IL"/>
          </a:p>
        </p:txBody>
      </p:sp>
    </p:spTree>
    <p:extLst>
      <p:ext uri="{BB962C8B-B14F-4D97-AF65-F5344CB8AC3E}">
        <p14:creationId xmlns:p14="http://schemas.microsoft.com/office/powerpoint/2010/main" val="39551502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55</a:t>
            </a:fld>
            <a:endParaRPr lang="en-IL"/>
          </a:p>
        </p:txBody>
      </p:sp>
    </p:spTree>
    <p:extLst>
      <p:ext uri="{BB962C8B-B14F-4D97-AF65-F5344CB8AC3E}">
        <p14:creationId xmlns:p14="http://schemas.microsoft.com/office/powerpoint/2010/main" val="305076211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56</a:t>
            </a:fld>
            <a:endParaRPr lang="en-IL"/>
          </a:p>
        </p:txBody>
      </p:sp>
    </p:spTree>
    <p:extLst>
      <p:ext uri="{BB962C8B-B14F-4D97-AF65-F5344CB8AC3E}">
        <p14:creationId xmlns:p14="http://schemas.microsoft.com/office/powerpoint/2010/main" val="313076528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57</a:t>
            </a:fld>
            <a:endParaRPr lang="en-IL"/>
          </a:p>
        </p:txBody>
      </p:sp>
    </p:spTree>
    <p:extLst>
      <p:ext uri="{BB962C8B-B14F-4D97-AF65-F5344CB8AC3E}">
        <p14:creationId xmlns:p14="http://schemas.microsoft.com/office/powerpoint/2010/main" val="16857822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58</a:t>
            </a:fld>
            <a:endParaRPr lang="en-IL"/>
          </a:p>
        </p:txBody>
      </p:sp>
    </p:spTree>
    <p:extLst>
      <p:ext uri="{BB962C8B-B14F-4D97-AF65-F5344CB8AC3E}">
        <p14:creationId xmlns:p14="http://schemas.microsoft.com/office/powerpoint/2010/main" val="1918612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53BB-FAA3-46ED-8326-AD7EE26F7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6B615E8-3C95-4096-8039-02C1046EA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5CE2517-A02E-4027-BA2C-117CE149DB30}"/>
              </a:ext>
            </a:extLst>
          </p:cNvPr>
          <p:cNvSpPr>
            <a:spLocks noGrp="1"/>
          </p:cNvSpPr>
          <p:nvPr>
            <p:ph type="dt" sz="half" idx="10"/>
          </p:nvPr>
        </p:nvSpPr>
        <p:spPr/>
        <p:txBody>
          <a:bodyPr/>
          <a:lstStyle/>
          <a:p>
            <a:fld id="{74E8645B-E081-9A4C-9490-3E92AF766E9E}" type="datetime8">
              <a:rPr lang="en-US" smtClean="0"/>
              <a:t>2/15/23 4:55 PM</a:t>
            </a:fld>
            <a:endParaRPr lang="en-IL"/>
          </a:p>
        </p:txBody>
      </p:sp>
      <p:sp>
        <p:nvSpPr>
          <p:cNvPr id="5" name="Footer Placeholder 4">
            <a:extLst>
              <a:ext uri="{FF2B5EF4-FFF2-40B4-BE49-F238E27FC236}">
                <a16:creationId xmlns:a16="http://schemas.microsoft.com/office/drawing/2014/main" id="{C6E5C8B8-C77F-4E96-831A-FC160B4AF490}"/>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6A7E7471-5067-4CA0-9D60-D86D047E9514}"/>
              </a:ext>
            </a:extLst>
          </p:cNvPr>
          <p:cNvSpPr>
            <a:spLocks noGrp="1"/>
          </p:cNvSpPr>
          <p:nvPr>
            <p:ph type="sldNum" sz="quarter" idx="12"/>
          </p:nvPr>
        </p:nvSpPr>
        <p:spPr/>
        <p:txBody>
          <a:bodyPr/>
          <a:lstStyle>
            <a:lvl1pPr>
              <a:defRPr sz="1800"/>
            </a:lvl1pPr>
          </a:lstStyle>
          <a:p>
            <a:fld id="{B62643F8-DFCD-4B5F-9519-933435FA18FB}" type="slidenum">
              <a:rPr lang="en-IL" smtClean="0"/>
              <a:pPr/>
              <a:t>‹#›</a:t>
            </a:fld>
            <a:endParaRPr lang="en-IL" dirty="0"/>
          </a:p>
        </p:txBody>
      </p:sp>
    </p:spTree>
    <p:extLst>
      <p:ext uri="{BB962C8B-B14F-4D97-AF65-F5344CB8AC3E}">
        <p14:creationId xmlns:p14="http://schemas.microsoft.com/office/powerpoint/2010/main" val="2720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fld id="{97878C30-2AF0-9D4D-9BD6-790B5006AC73}" type="datetime8">
              <a:rPr lang="en-US" smtClean="0"/>
              <a:t>2/15/23 4:55 PM</a:t>
            </a:fld>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33957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DB71-F16A-411E-A1F0-229842FF42EA}"/>
              </a:ext>
            </a:extLst>
          </p:cNvPr>
          <p:cNvSpPr>
            <a:spLocks noGrp="1"/>
          </p:cNvSpPr>
          <p:nvPr>
            <p:ph type="title"/>
          </p:nvPr>
        </p:nvSpPr>
        <p:spPr>
          <a:xfrm>
            <a:off x="1005178" y="-1289844"/>
            <a:ext cx="10515600" cy="2852737"/>
          </a:xfrm>
        </p:spPr>
        <p:txBody>
          <a:bodyPr anchor="b"/>
          <a:lstStyle>
            <a:lvl1pPr>
              <a:defRPr sz="6000"/>
            </a:lvl1p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55FEC0A3-903B-4C81-96AA-FA5FE787958E}"/>
              </a:ext>
            </a:extLst>
          </p:cNvPr>
          <p:cNvSpPr>
            <a:spLocks noGrp="1"/>
          </p:cNvSpPr>
          <p:nvPr>
            <p:ph type="body" idx="1"/>
          </p:nvPr>
        </p:nvSpPr>
        <p:spPr>
          <a:xfrm>
            <a:off x="739471" y="1876509"/>
            <a:ext cx="10614329" cy="398255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21F274-0FDC-4FF1-AD1D-E33CBC0B8BE3}"/>
              </a:ext>
            </a:extLst>
          </p:cNvPr>
          <p:cNvSpPr>
            <a:spLocks noGrp="1"/>
          </p:cNvSpPr>
          <p:nvPr>
            <p:ph type="dt" sz="half" idx="10"/>
          </p:nvPr>
        </p:nvSpPr>
        <p:spPr/>
        <p:txBody>
          <a:bodyPr/>
          <a:lstStyle/>
          <a:p>
            <a:fld id="{3742120C-F728-D44F-89CA-A8AA6300EDAB}" type="datetime8">
              <a:rPr lang="en-US" smtClean="0"/>
              <a:t>2/15/23 4:55 PM</a:t>
            </a:fld>
            <a:endParaRPr lang="en-IL"/>
          </a:p>
        </p:txBody>
      </p:sp>
      <p:sp>
        <p:nvSpPr>
          <p:cNvPr id="5" name="Footer Placeholder 4">
            <a:extLst>
              <a:ext uri="{FF2B5EF4-FFF2-40B4-BE49-F238E27FC236}">
                <a16:creationId xmlns:a16="http://schemas.microsoft.com/office/drawing/2014/main" id="{C5317186-B90F-456C-A210-0CD662FC94AE}"/>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44DCF8B6-F957-4C26-89F8-62EE0895ACB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99978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CB62-2976-4F72-B0D1-D7D5CC8DFE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E570335-BA28-442F-B929-834D11AFBB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43D0261-93E1-42EC-B45C-7A9C69E6DB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ED1B8B7-4BAF-485E-8E14-0A3937A2E61B}"/>
              </a:ext>
            </a:extLst>
          </p:cNvPr>
          <p:cNvSpPr>
            <a:spLocks noGrp="1"/>
          </p:cNvSpPr>
          <p:nvPr>
            <p:ph type="dt" sz="half" idx="10"/>
          </p:nvPr>
        </p:nvSpPr>
        <p:spPr/>
        <p:txBody>
          <a:bodyPr/>
          <a:lstStyle/>
          <a:p>
            <a:fld id="{70762024-0E08-2042-BE62-AB1FB5CE03C5}" type="datetime8">
              <a:rPr lang="en-US" smtClean="0"/>
              <a:t>2/15/23 4:55 PM</a:t>
            </a:fld>
            <a:endParaRPr lang="en-IL"/>
          </a:p>
        </p:txBody>
      </p:sp>
      <p:sp>
        <p:nvSpPr>
          <p:cNvPr id="6" name="Footer Placeholder 5">
            <a:extLst>
              <a:ext uri="{FF2B5EF4-FFF2-40B4-BE49-F238E27FC236}">
                <a16:creationId xmlns:a16="http://schemas.microsoft.com/office/drawing/2014/main" id="{5FD101D7-C282-4291-A047-A469118DB9A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54E3ACF7-1919-4005-8D18-C065FE37BAF5}"/>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5828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5D40-5A05-454B-BF8D-2ADD226269A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1CDEE7E-1856-4D6C-95E1-B25F3B5CF8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B7349D-B192-40B0-A682-C3914DCE58B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86D532-BD26-45AE-91E7-2BCEE71DE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9C4E2-6DDF-4BCE-9E96-2FEA03A919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371B11A-C4F8-4F85-A0D5-34A703DD1683}"/>
              </a:ext>
            </a:extLst>
          </p:cNvPr>
          <p:cNvSpPr>
            <a:spLocks noGrp="1"/>
          </p:cNvSpPr>
          <p:nvPr>
            <p:ph type="dt" sz="half" idx="10"/>
          </p:nvPr>
        </p:nvSpPr>
        <p:spPr/>
        <p:txBody>
          <a:bodyPr/>
          <a:lstStyle/>
          <a:p>
            <a:fld id="{09163354-45FB-4243-94C9-8BD9BCB06BFB}" type="datetime8">
              <a:rPr lang="en-US" smtClean="0"/>
              <a:t>2/15/23 4:55 PM</a:t>
            </a:fld>
            <a:endParaRPr lang="en-IL"/>
          </a:p>
        </p:txBody>
      </p:sp>
      <p:sp>
        <p:nvSpPr>
          <p:cNvPr id="8" name="Footer Placeholder 7">
            <a:extLst>
              <a:ext uri="{FF2B5EF4-FFF2-40B4-BE49-F238E27FC236}">
                <a16:creationId xmlns:a16="http://schemas.microsoft.com/office/drawing/2014/main" id="{3CF8E969-DC51-428E-A40E-10E237847C2B}"/>
              </a:ext>
            </a:extLst>
          </p:cNvPr>
          <p:cNvSpPr>
            <a:spLocks noGrp="1"/>
          </p:cNvSpPr>
          <p:nvPr>
            <p:ph type="ftr" sz="quarter" idx="11"/>
          </p:nvPr>
        </p:nvSpPr>
        <p:spPr/>
        <p:txBody>
          <a:bodyPr/>
          <a:lstStyle/>
          <a:p>
            <a:r>
              <a:rPr lang="en-US"/>
              <a:t>Or Peretz</a:t>
            </a:r>
            <a:endParaRPr lang="en-IL"/>
          </a:p>
        </p:txBody>
      </p:sp>
      <p:sp>
        <p:nvSpPr>
          <p:cNvPr id="9" name="Slide Number Placeholder 8">
            <a:extLst>
              <a:ext uri="{FF2B5EF4-FFF2-40B4-BE49-F238E27FC236}">
                <a16:creationId xmlns:a16="http://schemas.microsoft.com/office/drawing/2014/main" id="{3AF4C0B3-7D21-431B-8C06-6364026C9DAB}"/>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73000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fld id="{5A71E562-82B2-E44D-8542-0A8484560309}" type="datetime8">
              <a:rPr lang="en-US" smtClean="0"/>
              <a:t>2/15/23 4:55 PM</a:t>
            </a:fld>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404704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94F9A-B863-4CA1-A3D9-2612454CB5E8}"/>
              </a:ext>
            </a:extLst>
          </p:cNvPr>
          <p:cNvSpPr>
            <a:spLocks noGrp="1"/>
          </p:cNvSpPr>
          <p:nvPr>
            <p:ph type="dt" sz="half" idx="10"/>
          </p:nvPr>
        </p:nvSpPr>
        <p:spPr/>
        <p:txBody>
          <a:bodyPr/>
          <a:lstStyle/>
          <a:p>
            <a:fld id="{07C72371-3694-6247-A2CF-80210B7BE26D}" type="datetime8">
              <a:rPr lang="en-US" smtClean="0"/>
              <a:t>2/15/23 4:55 PM</a:t>
            </a:fld>
            <a:endParaRPr lang="en-IL"/>
          </a:p>
        </p:txBody>
      </p:sp>
      <p:sp>
        <p:nvSpPr>
          <p:cNvPr id="3" name="Footer Placeholder 2">
            <a:extLst>
              <a:ext uri="{FF2B5EF4-FFF2-40B4-BE49-F238E27FC236}">
                <a16:creationId xmlns:a16="http://schemas.microsoft.com/office/drawing/2014/main" id="{05856BA7-0F82-4B54-82BF-04EC0B081685}"/>
              </a:ext>
            </a:extLst>
          </p:cNvPr>
          <p:cNvSpPr>
            <a:spLocks noGrp="1"/>
          </p:cNvSpPr>
          <p:nvPr>
            <p:ph type="ftr" sz="quarter" idx="11"/>
          </p:nvPr>
        </p:nvSpPr>
        <p:spPr/>
        <p:txBody>
          <a:bodyPr/>
          <a:lstStyle/>
          <a:p>
            <a:r>
              <a:rPr lang="en-US"/>
              <a:t>Or Peretz</a:t>
            </a:r>
            <a:endParaRPr lang="en-IL"/>
          </a:p>
        </p:txBody>
      </p:sp>
      <p:sp>
        <p:nvSpPr>
          <p:cNvPr id="4" name="Slide Number Placeholder 3">
            <a:extLst>
              <a:ext uri="{FF2B5EF4-FFF2-40B4-BE49-F238E27FC236}">
                <a16:creationId xmlns:a16="http://schemas.microsoft.com/office/drawing/2014/main" id="{026A46C4-110C-4F16-A55B-2CA103D5BC6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29041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F8D4-37EB-4208-8EBF-A36DA15D5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119644F-4231-4135-985A-E35BB7DF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DAC084D-8409-4F23-A4F3-946B11E9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57D6E5-0ADE-47F1-BF75-064C0FC0B6AA}"/>
              </a:ext>
            </a:extLst>
          </p:cNvPr>
          <p:cNvSpPr>
            <a:spLocks noGrp="1"/>
          </p:cNvSpPr>
          <p:nvPr>
            <p:ph type="dt" sz="half" idx="10"/>
          </p:nvPr>
        </p:nvSpPr>
        <p:spPr/>
        <p:txBody>
          <a:bodyPr/>
          <a:lstStyle/>
          <a:p>
            <a:fld id="{6CDF56E4-5D14-8348-B158-4D43D10F69D7}" type="datetime8">
              <a:rPr lang="en-US" smtClean="0"/>
              <a:t>2/15/23 4:55 PM</a:t>
            </a:fld>
            <a:endParaRPr lang="en-IL"/>
          </a:p>
        </p:txBody>
      </p:sp>
      <p:sp>
        <p:nvSpPr>
          <p:cNvPr id="6" name="Footer Placeholder 5">
            <a:extLst>
              <a:ext uri="{FF2B5EF4-FFF2-40B4-BE49-F238E27FC236}">
                <a16:creationId xmlns:a16="http://schemas.microsoft.com/office/drawing/2014/main" id="{E3A95BE5-8107-4C77-A0C7-320528011EF6}"/>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D2B29687-8674-4B44-BCA8-CA55A7F66AEE}"/>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355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DB8B-F360-41C1-9E59-41BC175C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329284B-956D-4A04-AA87-11920CE3A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CDA7EC3-09A8-4251-B03C-6044FAB1E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F06FFE-DADD-4559-BD8F-E4090E8513DA}"/>
              </a:ext>
            </a:extLst>
          </p:cNvPr>
          <p:cNvSpPr>
            <a:spLocks noGrp="1"/>
          </p:cNvSpPr>
          <p:nvPr>
            <p:ph type="dt" sz="half" idx="10"/>
          </p:nvPr>
        </p:nvSpPr>
        <p:spPr/>
        <p:txBody>
          <a:bodyPr/>
          <a:lstStyle/>
          <a:p>
            <a:fld id="{FA9D203E-7FA7-E34C-8AE8-3D4DC9B6FDE7}" type="datetime8">
              <a:rPr lang="en-US" smtClean="0"/>
              <a:t>2/15/23 4:55 PM</a:t>
            </a:fld>
            <a:endParaRPr lang="en-IL"/>
          </a:p>
        </p:txBody>
      </p:sp>
      <p:sp>
        <p:nvSpPr>
          <p:cNvPr id="6" name="Footer Placeholder 5">
            <a:extLst>
              <a:ext uri="{FF2B5EF4-FFF2-40B4-BE49-F238E27FC236}">
                <a16:creationId xmlns:a16="http://schemas.microsoft.com/office/drawing/2014/main" id="{487A7321-97EB-4815-A837-E4FF27362FF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BAA3595F-1D61-441A-9A46-FC01E1605B5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82919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D421-C27E-4305-9BA4-ABDBC270E32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369482A-BFEA-4A85-973C-0414EA5085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DCE6C9-3B2C-4E59-B407-9DEAA5194AB0}"/>
              </a:ext>
            </a:extLst>
          </p:cNvPr>
          <p:cNvSpPr>
            <a:spLocks noGrp="1"/>
          </p:cNvSpPr>
          <p:nvPr>
            <p:ph type="dt" sz="half" idx="10"/>
          </p:nvPr>
        </p:nvSpPr>
        <p:spPr/>
        <p:txBody>
          <a:bodyPr/>
          <a:lstStyle/>
          <a:p>
            <a:fld id="{06A7A3F3-8808-C14E-94A9-C2BDADEA89CB}" type="datetime8">
              <a:rPr lang="en-US" smtClean="0"/>
              <a:t>2/15/23 4:55 PM</a:t>
            </a:fld>
            <a:endParaRPr lang="en-IL"/>
          </a:p>
        </p:txBody>
      </p:sp>
      <p:sp>
        <p:nvSpPr>
          <p:cNvPr id="5" name="Footer Placeholder 4">
            <a:extLst>
              <a:ext uri="{FF2B5EF4-FFF2-40B4-BE49-F238E27FC236}">
                <a16:creationId xmlns:a16="http://schemas.microsoft.com/office/drawing/2014/main" id="{157B3FA1-84D5-4374-B090-8EED7F0EE76B}"/>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0BB37D06-0BF6-4041-954F-C1D4B14F038F}"/>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0621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116A-EF9A-40BC-BE26-84DF8D33F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3EB09AB-DE01-41A1-8BED-34FC1B482A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6A0832B-4F28-4DE3-AF6D-37975A09FE91}"/>
              </a:ext>
            </a:extLst>
          </p:cNvPr>
          <p:cNvSpPr>
            <a:spLocks noGrp="1"/>
          </p:cNvSpPr>
          <p:nvPr>
            <p:ph type="dt" sz="half" idx="10"/>
          </p:nvPr>
        </p:nvSpPr>
        <p:spPr/>
        <p:txBody>
          <a:bodyPr/>
          <a:lstStyle/>
          <a:p>
            <a:fld id="{4D5C9CD7-D8BF-7145-AEAE-0DCBE13441AA}" type="datetime8">
              <a:rPr lang="en-US" smtClean="0"/>
              <a:t>2/15/23 4:55 PM</a:t>
            </a:fld>
            <a:endParaRPr lang="en-IL"/>
          </a:p>
        </p:txBody>
      </p:sp>
      <p:sp>
        <p:nvSpPr>
          <p:cNvPr id="5" name="Footer Placeholder 4">
            <a:extLst>
              <a:ext uri="{FF2B5EF4-FFF2-40B4-BE49-F238E27FC236}">
                <a16:creationId xmlns:a16="http://schemas.microsoft.com/office/drawing/2014/main" id="{18F064A4-73D9-4140-BB4B-47A62F8CBA11}"/>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2241DA01-1032-4191-848B-F8A71F653C2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2474113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9"/>
        <p:cNvGrpSpPr/>
        <p:nvPr/>
      </p:nvGrpSpPr>
      <p:grpSpPr>
        <a:xfrm>
          <a:off x="0" y="0"/>
          <a:ext cx="0" cy="0"/>
          <a:chOff x="0" y="0"/>
          <a:chExt cx="0" cy="0"/>
        </a:xfrm>
      </p:grpSpPr>
      <p:sp>
        <p:nvSpPr>
          <p:cNvPr id="54" name="Google Shape;54;p5"/>
          <p:cNvSpPr txBox="1">
            <a:spLocks noGrp="1"/>
          </p:cNvSpPr>
          <p:nvPr>
            <p:ph type="title"/>
          </p:nvPr>
        </p:nvSpPr>
        <p:spPr>
          <a:xfrm>
            <a:off x="972600" y="357767"/>
            <a:ext cx="10251600" cy="713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3000"/>
              <a:buNone/>
              <a:defRPr sz="4000">
                <a:solidFill>
                  <a:schemeClr val="dk2"/>
                </a:solidFill>
              </a:defRPr>
            </a:lvl1pPr>
            <a:lvl2pPr lvl="1">
              <a:spcBef>
                <a:spcPts val="0"/>
              </a:spcBef>
              <a:spcAft>
                <a:spcPts val="0"/>
              </a:spcAft>
              <a:buClr>
                <a:schemeClr val="dk2"/>
              </a:buClr>
              <a:buSzPts val="3000"/>
              <a:buNone/>
              <a:defRPr sz="4000">
                <a:solidFill>
                  <a:schemeClr val="dk2"/>
                </a:solidFill>
              </a:defRPr>
            </a:lvl2pPr>
            <a:lvl3pPr lvl="2">
              <a:spcBef>
                <a:spcPts val="0"/>
              </a:spcBef>
              <a:spcAft>
                <a:spcPts val="0"/>
              </a:spcAft>
              <a:buClr>
                <a:schemeClr val="dk2"/>
              </a:buClr>
              <a:buSzPts val="3000"/>
              <a:buNone/>
              <a:defRPr sz="4000">
                <a:solidFill>
                  <a:schemeClr val="dk2"/>
                </a:solidFill>
              </a:defRPr>
            </a:lvl3pPr>
            <a:lvl4pPr lvl="3">
              <a:spcBef>
                <a:spcPts val="0"/>
              </a:spcBef>
              <a:spcAft>
                <a:spcPts val="0"/>
              </a:spcAft>
              <a:buClr>
                <a:schemeClr val="dk2"/>
              </a:buClr>
              <a:buSzPts val="3000"/>
              <a:buNone/>
              <a:defRPr sz="4000">
                <a:solidFill>
                  <a:schemeClr val="dk2"/>
                </a:solidFill>
              </a:defRPr>
            </a:lvl4pPr>
            <a:lvl5pPr lvl="4">
              <a:spcBef>
                <a:spcPts val="0"/>
              </a:spcBef>
              <a:spcAft>
                <a:spcPts val="0"/>
              </a:spcAft>
              <a:buClr>
                <a:schemeClr val="dk2"/>
              </a:buClr>
              <a:buSzPts val="3000"/>
              <a:buNone/>
              <a:defRPr sz="4000">
                <a:solidFill>
                  <a:schemeClr val="dk2"/>
                </a:solidFill>
              </a:defRPr>
            </a:lvl5pPr>
            <a:lvl6pPr lvl="5">
              <a:spcBef>
                <a:spcPts val="0"/>
              </a:spcBef>
              <a:spcAft>
                <a:spcPts val="0"/>
              </a:spcAft>
              <a:buClr>
                <a:schemeClr val="dk2"/>
              </a:buClr>
              <a:buSzPts val="3000"/>
              <a:buNone/>
              <a:defRPr sz="4000">
                <a:solidFill>
                  <a:schemeClr val="dk2"/>
                </a:solidFill>
              </a:defRPr>
            </a:lvl6pPr>
            <a:lvl7pPr lvl="6">
              <a:spcBef>
                <a:spcPts val="0"/>
              </a:spcBef>
              <a:spcAft>
                <a:spcPts val="0"/>
              </a:spcAft>
              <a:buClr>
                <a:schemeClr val="dk2"/>
              </a:buClr>
              <a:buSzPts val="3000"/>
              <a:buNone/>
              <a:defRPr sz="4000">
                <a:solidFill>
                  <a:schemeClr val="dk2"/>
                </a:solidFill>
              </a:defRPr>
            </a:lvl7pPr>
            <a:lvl8pPr lvl="7">
              <a:spcBef>
                <a:spcPts val="0"/>
              </a:spcBef>
              <a:spcAft>
                <a:spcPts val="0"/>
              </a:spcAft>
              <a:buClr>
                <a:schemeClr val="dk2"/>
              </a:buClr>
              <a:buSzPts val="3000"/>
              <a:buNone/>
              <a:defRPr sz="4000">
                <a:solidFill>
                  <a:schemeClr val="dk2"/>
                </a:solidFill>
              </a:defRPr>
            </a:lvl8pPr>
            <a:lvl9pPr lvl="8">
              <a:spcBef>
                <a:spcPts val="0"/>
              </a:spcBef>
              <a:spcAft>
                <a:spcPts val="0"/>
              </a:spcAft>
              <a:buClr>
                <a:schemeClr val="dk2"/>
              </a:buClr>
              <a:buSzPts val="3000"/>
              <a:buNone/>
              <a:defRPr sz="4000">
                <a:solidFill>
                  <a:schemeClr val="dk2"/>
                </a:solidFill>
              </a:defRPr>
            </a:lvl9pPr>
          </a:lstStyle>
          <a:p>
            <a:endParaRPr/>
          </a:p>
        </p:txBody>
      </p:sp>
      <p:sp>
        <p:nvSpPr>
          <p:cNvPr id="55" name="Google Shape;55;p5"/>
          <p:cNvSpPr txBox="1">
            <a:spLocks noGrp="1"/>
          </p:cNvSpPr>
          <p:nvPr>
            <p:ph type="body" idx="1"/>
          </p:nvPr>
        </p:nvSpPr>
        <p:spPr>
          <a:xfrm>
            <a:off x="588398" y="1253133"/>
            <a:ext cx="10901238" cy="4940933"/>
          </a:xfrm>
          <a:prstGeom prst="rect">
            <a:avLst/>
          </a:prstGeom>
        </p:spPr>
        <p:txBody>
          <a:bodyPr spcFirstLastPara="1" wrap="square" lIns="91425" tIns="91425" rIns="91425" bIns="91425" anchor="t" anchorCtr="0">
            <a:noAutofit/>
          </a:bodyPr>
          <a:lstStyle>
            <a:lvl1pPr marL="609585" lvl="0" indent="-414856">
              <a:spcBef>
                <a:spcPts val="0"/>
              </a:spcBef>
              <a:spcAft>
                <a:spcPts val="0"/>
              </a:spcAft>
              <a:buSzPts val="1300"/>
              <a:buChar char="●"/>
              <a:defRPr/>
            </a:lvl1pPr>
            <a:lvl2pPr marL="1219170" lvl="1" indent="-397923">
              <a:spcBef>
                <a:spcPts val="2133"/>
              </a:spcBef>
              <a:spcAft>
                <a:spcPts val="0"/>
              </a:spcAft>
              <a:buSzPts val="1100"/>
              <a:buChar char="○"/>
              <a:defRPr/>
            </a:lvl2pPr>
            <a:lvl3pPr marL="1828754" lvl="2" indent="-397923">
              <a:spcBef>
                <a:spcPts val="2133"/>
              </a:spcBef>
              <a:spcAft>
                <a:spcPts val="0"/>
              </a:spcAft>
              <a:buSzPts val="1100"/>
              <a:buChar char="■"/>
              <a:defRPr/>
            </a:lvl3pPr>
            <a:lvl4pPr marL="2438339" lvl="3" indent="-397923">
              <a:spcBef>
                <a:spcPts val="2133"/>
              </a:spcBef>
              <a:spcAft>
                <a:spcPts val="0"/>
              </a:spcAft>
              <a:buSzPts val="1100"/>
              <a:buChar char="●"/>
              <a:defRPr/>
            </a:lvl4pPr>
            <a:lvl5pPr marL="3047924" lvl="4" indent="-397923">
              <a:spcBef>
                <a:spcPts val="2133"/>
              </a:spcBef>
              <a:spcAft>
                <a:spcPts val="0"/>
              </a:spcAft>
              <a:buSzPts val="1100"/>
              <a:buChar char="○"/>
              <a:defRPr/>
            </a:lvl5pPr>
            <a:lvl6pPr marL="3657509" lvl="5" indent="-397923">
              <a:spcBef>
                <a:spcPts val="2133"/>
              </a:spcBef>
              <a:spcAft>
                <a:spcPts val="0"/>
              </a:spcAft>
              <a:buSzPts val="1100"/>
              <a:buChar char="■"/>
              <a:defRPr/>
            </a:lvl6pPr>
            <a:lvl7pPr marL="4267093" lvl="6" indent="-397923">
              <a:spcBef>
                <a:spcPts val="2133"/>
              </a:spcBef>
              <a:spcAft>
                <a:spcPts val="0"/>
              </a:spcAft>
              <a:buSzPts val="1100"/>
              <a:buChar char="●"/>
              <a:defRPr/>
            </a:lvl7pPr>
            <a:lvl8pPr marL="4876678" lvl="7" indent="-397923">
              <a:spcBef>
                <a:spcPts val="2133"/>
              </a:spcBef>
              <a:spcAft>
                <a:spcPts val="0"/>
              </a:spcAft>
              <a:buSzPts val="1100"/>
              <a:buChar char="○"/>
              <a:defRPr/>
            </a:lvl8pPr>
            <a:lvl9pPr marL="5486263" lvl="8" indent="-397923">
              <a:spcBef>
                <a:spcPts val="2133"/>
              </a:spcBef>
              <a:spcAft>
                <a:spcPts val="2133"/>
              </a:spcAft>
              <a:buSzPts val="1100"/>
              <a:buChar char="■"/>
              <a:defRPr/>
            </a:lvl9pPr>
          </a:lstStyle>
          <a:p>
            <a:endParaRPr dirty="0"/>
          </a:p>
        </p:txBody>
      </p:sp>
      <p:sp>
        <p:nvSpPr>
          <p:cNvPr id="56" name="Google Shape;56;p5"/>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5" name="Footer Placeholder 4">
            <a:extLst>
              <a:ext uri="{FF2B5EF4-FFF2-40B4-BE49-F238E27FC236}">
                <a16:creationId xmlns:a16="http://schemas.microsoft.com/office/drawing/2014/main" id="{1FD15982-05D1-814D-95B2-0722FBB4A203}"/>
              </a:ext>
            </a:extLst>
          </p:cNvPr>
          <p:cNvSpPr>
            <a:spLocks noGrp="1"/>
          </p:cNvSpPr>
          <p:nvPr>
            <p:ph type="ftr" sz="quarter" idx="11"/>
          </p:nvPr>
        </p:nvSpPr>
        <p:spPr>
          <a:xfrm>
            <a:off x="4038600" y="6356350"/>
            <a:ext cx="4114800" cy="365125"/>
          </a:xfrm>
        </p:spPr>
        <p:txBody>
          <a:bodyPr/>
          <a:lstStyle/>
          <a:p>
            <a:r>
              <a:rPr lang="en-US"/>
              <a:t>Or Peretz</a:t>
            </a:r>
            <a:endParaRPr lang="en-IL"/>
          </a:p>
        </p:txBody>
      </p:sp>
    </p:spTree>
    <p:extLst>
      <p:ext uri="{BB962C8B-B14F-4D97-AF65-F5344CB8AC3E}">
        <p14:creationId xmlns:p14="http://schemas.microsoft.com/office/powerpoint/2010/main" val="1026026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1 2">
  <p:cSld name="Section title and description 1 2">
    <p:spTree>
      <p:nvGrpSpPr>
        <p:cNvPr id="1" name="Shape 109"/>
        <p:cNvGrpSpPr/>
        <p:nvPr/>
      </p:nvGrpSpPr>
      <p:grpSpPr>
        <a:xfrm>
          <a:off x="0" y="0"/>
          <a:ext cx="0" cy="0"/>
          <a:chOff x="0" y="0"/>
          <a:chExt cx="0" cy="0"/>
        </a:xfrm>
      </p:grpSpPr>
      <p:pic>
        <p:nvPicPr>
          <p:cNvPr id="110" name="Google Shape;110;p13"/>
          <p:cNvPicPr preferRelativeResize="0"/>
          <p:nvPr/>
        </p:nvPicPr>
        <p:blipFill rotWithShape="1">
          <a:blip r:embed="rId2">
            <a:alphaModFix/>
          </a:blip>
          <a:srcRect l="31883" t="8096" r="25713"/>
          <a:stretch/>
        </p:blipFill>
        <p:spPr>
          <a:xfrm>
            <a:off x="0" y="0"/>
            <a:ext cx="6100333" cy="6858000"/>
          </a:xfrm>
          <a:prstGeom prst="rect">
            <a:avLst/>
          </a:prstGeom>
          <a:noFill/>
          <a:ln>
            <a:noFill/>
          </a:ln>
        </p:spPr>
      </p:pic>
      <p:sp>
        <p:nvSpPr>
          <p:cNvPr id="111" name="Google Shape;111;p13"/>
          <p:cNvSpPr/>
          <p:nvPr/>
        </p:nvSpPr>
        <p:spPr>
          <a:xfrm>
            <a:off x="-100" y="0"/>
            <a:ext cx="6096000" cy="6858000"/>
          </a:xfrm>
          <a:prstGeom prst="rect">
            <a:avLst/>
          </a:prstGeom>
          <a:solidFill>
            <a:srgbClr val="178D7D">
              <a:alpha val="68080"/>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2" name="Google Shape;112;p13"/>
          <p:cNvGrpSpPr/>
          <p:nvPr/>
        </p:nvGrpSpPr>
        <p:grpSpPr>
          <a:xfrm>
            <a:off x="1107190" y="1588342"/>
            <a:ext cx="994351" cy="61101"/>
            <a:chOff x="4580561" y="2589004"/>
            <a:chExt cx="1064464" cy="25200"/>
          </a:xfrm>
        </p:grpSpPr>
        <p:sp>
          <p:nvSpPr>
            <p:cNvPr id="113" name="Google Shape;113;p13"/>
            <p:cNvSpPr/>
            <p:nvPr/>
          </p:nvSpPr>
          <p:spPr>
            <a:xfrm rot="-5400000">
              <a:off x="5366325" y="2335504"/>
              <a:ext cx="25200" cy="532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 name="Google Shape;114;p13"/>
            <p:cNvSpPr/>
            <p:nvPr/>
          </p:nvSpPr>
          <p:spPr>
            <a:xfrm rot="-5400000">
              <a:off x="4836311" y="2333254"/>
              <a:ext cx="25200" cy="5367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5" name="Google Shape;115;p13"/>
          <p:cNvSpPr txBox="1">
            <a:spLocks noGrp="1"/>
          </p:cNvSpPr>
          <p:nvPr>
            <p:ph type="title"/>
          </p:nvPr>
        </p:nvSpPr>
        <p:spPr>
          <a:xfrm>
            <a:off x="973333" y="1758200"/>
            <a:ext cx="4401200" cy="22496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3000"/>
              <a:buNone/>
              <a:defRPr sz="4000">
                <a:solidFill>
                  <a:srgbClr val="FFFFFF"/>
                </a:solidFill>
              </a:defRPr>
            </a:lvl1pPr>
            <a:lvl2pPr lvl="1" rtl="0">
              <a:spcBef>
                <a:spcPts val="0"/>
              </a:spcBef>
              <a:spcAft>
                <a:spcPts val="0"/>
              </a:spcAft>
              <a:buClr>
                <a:srgbClr val="FFFFFF"/>
              </a:buClr>
              <a:buSzPts val="3000"/>
              <a:buNone/>
              <a:defRPr sz="4000">
                <a:solidFill>
                  <a:srgbClr val="FFFFFF"/>
                </a:solidFill>
              </a:defRPr>
            </a:lvl2pPr>
            <a:lvl3pPr lvl="2" rtl="0">
              <a:spcBef>
                <a:spcPts val="0"/>
              </a:spcBef>
              <a:spcAft>
                <a:spcPts val="0"/>
              </a:spcAft>
              <a:buClr>
                <a:srgbClr val="FFFFFF"/>
              </a:buClr>
              <a:buSzPts val="3000"/>
              <a:buNone/>
              <a:defRPr sz="4000">
                <a:solidFill>
                  <a:srgbClr val="FFFFFF"/>
                </a:solidFill>
              </a:defRPr>
            </a:lvl3pPr>
            <a:lvl4pPr lvl="3" rtl="0">
              <a:spcBef>
                <a:spcPts val="0"/>
              </a:spcBef>
              <a:spcAft>
                <a:spcPts val="0"/>
              </a:spcAft>
              <a:buClr>
                <a:srgbClr val="FFFFFF"/>
              </a:buClr>
              <a:buSzPts val="3000"/>
              <a:buNone/>
              <a:defRPr sz="4000">
                <a:solidFill>
                  <a:srgbClr val="FFFFFF"/>
                </a:solidFill>
              </a:defRPr>
            </a:lvl4pPr>
            <a:lvl5pPr lvl="4" rtl="0">
              <a:spcBef>
                <a:spcPts val="0"/>
              </a:spcBef>
              <a:spcAft>
                <a:spcPts val="0"/>
              </a:spcAft>
              <a:buClr>
                <a:srgbClr val="FFFFFF"/>
              </a:buClr>
              <a:buSzPts val="3000"/>
              <a:buNone/>
              <a:defRPr sz="4000">
                <a:solidFill>
                  <a:srgbClr val="FFFFFF"/>
                </a:solidFill>
              </a:defRPr>
            </a:lvl5pPr>
            <a:lvl6pPr lvl="5" rtl="0">
              <a:spcBef>
                <a:spcPts val="0"/>
              </a:spcBef>
              <a:spcAft>
                <a:spcPts val="0"/>
              </a:spcAft>
              <a:buClr>
                <a:srgbClr val="FFFFFF"/>
              </a:buClr>
              <a:buSzPts val="3000"/>
              <a:buNone/>
              <a:defRPr sz="4000">
                <a:solidFill>
                  <a:srgbClr val="FFFFFF"/>
                </a:solidFill>
              </a:defRPr>
            </a:lvl6pPr>
            <a:lvl7pPr lvl="6" rtl="0">
              <a:spcBef>
                <a:spcPts val="0"/>
              </a:spcBef>
              <a:spcAft>
                <a:spcPts val="0"/>
              </a:spcAft>
              <a:buClr>
                <a:srgbClr val="FFFFFF"/>
              </a:buClr>
              <a:buSzPts val="3000"/>
              <a:buNone/>
              <a:defRPr sz="4000">
                <a:solidFill>
                  <a:srgbClr val="FFFFFF"/>
                </a:solidFill>
              </a:defRPr>
            </a:lvl7pPr>
            <a:lvl8pPr lvl="7" rtl="0">
              <a:spcBef>
                <a:spcPts val="0"/>
              </a:spcBef>
              <a:spcAft>
                <a:spcPts val="0"/>
              </a:spcAft>
              <a:buClr>
                <a:srgbClr val="FFFFFF"/>
              </a:buClr>
              <a:buSzPts val="3000"/>
              <a:buNone/>
              <a:defRPr sz="4000">
                <a:solidFill>
                  <a:srgbClr val="FFFFFF"/>
                </a:solidFill>
              </a:defRPr>
            </a:lvl8pPr>
            <a:lvl9pPr lvl="8" rtl="0">
              <a:spcBef>
                <a:spcPts val="0"/>
              </a:spcBef>
              <a:spcAft>
                <a:spcPts val="0"/>
              </a:spcAft>
              <a:buClr>
                <a:srgbClr val="FFFFFF"/>
              </a:buClr>
              <a:buSzPts val="3000"/>
              <a:buNone/>
              <a:defRPr sz="4000">
                <a:solidFill>
                  <a:srgbClr val="FFFFFF"/>
                </a:solidFill>
              </a:defRPr>
            </a:lvl9pPr>
          </a:lstStyle>
          <a:p>
            <a:endParaRPr/>
          </a:p>
        </p:txBody>
      </p:sp>
      <p:sp>
        <p:nvSpPr>
          <p:cNvPr id="116" name="Google Shape;116;p13"/>
          <p:cNvSpPr txBox="1">
            <a:spLocks noGrp="1"/>
          </p:cNvSpPr>
          <p:nvPr>
            <p:ph type="subTitle" idx="1"/>
          </p:nvPr>
        </p:nvSpPr>
        <p:spPr>
          <a:xfrm>
            <a:off x="966600" y="4215367"/>
            <a:ext cx="4401200" cy="101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2133">
                <a:solidFill>
                  <a:srgbClr val="FFFFFF"/>
                </a:solidFill>
              </a:defRPr>
            </a:lvl1pPr>
            <a:lvl2pPr lvl="1" rtl="0">
              <a:lnSpc>
                <a:spcPct val="100000"/>
              </a:lnSpc>
              <a:spcBef>
                <a:spcPts val="0"/>
              </a:spcBef>
              <a:spcAft>
                <a:spcPts val="0"/>
              </a:spcAft>
              <a:buClr>
                <a:srgbClr val="FFFFFF"/>
              </a:buClr>
              <a:buSzPts val="1600"/>
              <a:buNone/>
              <a:defRPr sz="2133">
                <a:solidFill>
                  <a:srgbClr val="FFFFFF"/>
                </a:solidFill>
              </a:defRPr>
            </a:lvl2pPr>
            <a:lvl3pPr lvl="2" rtl="0">
              <a:lnSpc>
                <a:spcPct val="100000"/>
              </a:lnSpc>
              <a:spcBef>
                <a:spcPts val="0"/>
              </a:spcBef>
              <a:spcAft>
                <a:spcPts val="0"/>
              </a:spcAft>
              <a:buClr>
                <a:srgbClr val="FFFFFF"/>
              </a:buClr>
              <a:buSzPts val="1600"/>
              <a:buNone/>
              <a:defRPr sz="2133">
                <a:solidFill>
                  <a:srgbClr val="FFFFFF"/>
                </a:solidFill>
              </a:defRPr>
            </a:lvl3pPr>
            <a:lvl4pPr lvl="3" rtl="0">
              <a:lnSpc>
                <a:spcPct val="100000"/>
              </a:lnSpc>
              <a:spcBef>
                <a:spcPts val="0"/>
              </a:spcBef>
              <a:spcAft>
                <a:spcPts val="0"/>
              </a:spcAft>
              <a:buClr>
                <a:srgbClr val="FFFFFF"/>
              </a:buClr>
              <a:buSzPts val="1600"/>
              <a:buNone/>
              <a:defRPr sz="2133">
                <a:solidFill>
                  <a:srgbClr val="FFFFFF"/>
                </a:solidFill>
              </a:defRPr>
            </a:lvl4pPr>
            <a:lvl5pPr lvl="4" rtl="0">
              <a:lnSpc>
                <a:spcPct val="100000"/>
              </a:lnSpc>
              <a:spcBef>
                <a:spcPts val="0"/>
              </a:spcBef>
              <a:spcAft>
                <a:spcPts val="0"/>
              </a:spcAft>
              <a:buClr>
                <a:srgbClr val="FFFFFF"/>
              </a:buClr>
              <a:buSzPts val="1600"/>
              <a:buNone/>
              <a:defRPr sz="2133">
                <a:solidFill>
                  <a:srgbClr val="FFFFFF"/>
                </a:solidFill>
              </a:defRPr>
            </a:lvl5pPr>
            <a:lvl6pPr lvl="5" rtl="0">
              <a:lnSpc>
                <a:spcPct val="100000"/>
              </a:lnSpc>
              <a:spcBef>
                <a:spcPts val="0"/>
              </a:spcBef>
              <a:spcAft>
                <a:spcPts val="0"/>
              </a:spcAft>
              <a:buClr>
                <a:srgbClr val="FFFFFF"/>
              </a:buClr>
              <a:buSzPts val="1600"/>
              <a:buNone/>
              <a:defRPr sz="2133">
                <a:solidFill>
                  <a:srgbClr val="FFFFFF"/>
                </a:solidFill>
              </a:defRPr>
            </a:lvl6pPr>
            <a:lvl7pPr lvl="6" rtl="0">
              <a:lnSpc>
                <a:spcPct val="100000"/>
              </a:lnSpc>
              <a:spcBef>
                <a:spcPts val="0"/>
              </a:spcBef>
              <a:spcAft>
                <a:spcPts val="0"/>
              </a:spcAft>
              <a:buClr>
                <a:srgbClr val="FFFFFF"/>
              </a:buClr>
              <a:buSzPts val="1600"/>
              <a:buNone/>
              <a:defRPr sz="2133">
                <a:solidFill>
                  <a:srgbClr val="FFFFFF"/>
                </a:solidFill>
              </a:defRPr>
            </a:lvl7pPr>
            <a:lvl8pPr lvl="7" rtl="0">
              <a:lnSpc>
                <a:spcPct val="100000"/>
              </a:lnSpc>
              <a:spcBef>
                <a:spcPts val="0"/>
              </a:spcBef>
              <a:spcAft>
                <a:spcPts val="0"/>
              </a:spcAft>
              <a:buClr>
                <a:srgbClr val="FFFFFF"/>
              </a:buClr>
              <a:buSzPts val="1600"/>
              <a:buNone/>
              <a:defRPr sz="2133">
                <a:solidFill>
                  <a:srgbClr val="FFFFFF"/>
                </a:solidFill>
              </a:defRPr>
            </a:lvl8pPr>
            <a:lvl9pPr lvl="8" rtl="0">
              <a:lnSpc>
                <a:spcPct val="100000"/>
              </a:lnSpc>
              <a:spcBef>
                <a:spcPts val="0"/>
              </a:spcBef>
              <a:spcAft>
                <a:spcPts val="0"/>
              </a:spcAft>
              <a:buClr>
                <a:srgbClr val="FFFFFF"/>
              </a:buClr>
              <a:buSzPts val="1600"/>
              <a:buNone/>
              <a:defRPr sz="2133">
                <a:solidFill>
                  <a:srgbClr val="FFFFFF"/>
                </a:solidFill>
              </a:defRPr>
            </a:lvl9pPr>
          </a:lstStyle>
          <a:p>
            <a:endParaRPr/>
          </a:p>
        </p:txBody>
      </p:sp>
      <p:sp>
        <p:nvSpPr>
          <p:cNvPr id="117" name="Google Shape;117;p13"/>
          <p:cNvSpPr txBox="1">
            <a:spLocks noGrp="1"/>
          </p:cNvSpPr>
          <p:nvPr>
            <p:ph type="body" idx="2"/>
          </p:nvPr>
        </p:nvSpPr>
        <p:spPr>
          <a:xfrm>
            <a:off x="6898967" y="1803500"/>
            <a:ext cx="4499200" cy="4034000"/>
          </a:xfrm>
          <a:prstGeom prst="rect">
            <a:avLst/>
          </a:prstGeom>
        </p:spPr>
        <p:txBody>
          <a:bodyPr spcFirstLastPara="1" wrap="square" lIns="91425" tIns="91425" rIns="91425" bIns="91425" anchor="t" anchorCtr="0">
            <a:noAutofit/>
          </a:bodyPr>
          <a:lstStyle>
            <a:lvl1pPr marL="609585" lvl="0" indent="-414856" rtl="0">
              <a:spcBef>
                <a:spcPts val="0"/>
              </a:spcBef>
              <a:spcAft>
                <a:spcPts val="0"/>
              </a:spcAft>
              <a:buSzPts val="1300"/>
              <a:buChar char="●"/>
              <a:defRPr/>
            </a:lvl1pPr>
            <a:lvl2pPr marL="1219170" lvl="1" indent="-397923" rtl="0">
              <a:spcBef>
                <a:spcPts val="2133"/>
              </a:spcBef>
              <a:spcAft>
                <a:spcPts val="0"/>
              </a:spcAft>
              <a:buSzPts val="1100"/>
              <a:buChar char="○"/>
              <a:defRPr/>
            </a:lvl2pPr>
            <a:lvl3pPr marL="1828754" lvl="2" indent="-397923" rtl="0">
              <a:spcBef>
                <a:spcPts val="2133"/>
              </a:spcBef>
              <a:spcAft>
                <a:spcPts val="0"/>
              </a:spcAft>
              <a:buSzPts val="1100"/>
              <a:buChar char="■"/>
              <a:defRPr/>
            </a:lvl3pPr>
            <a:lvl4pPr marL="2438339" lvl="3" indent="-397923" rtl="0">
              <a:spcBef>
                <a:spcPts val="2133"/>
              </a:spcBef>
              <a:spcAft>
                <a:spcPts val="0"/>
              </a:spcAft>
              <a:buSzPts val="1100"/>
              <a:buChar char="●"/>
              <a:defRPr/>
            </a:lvl4pPr>
            <a:lvl5pPr marL="3047924" lvl="4" indent="-397923" rtl="0">
              <a:spcBef>
                <a:spcPts val="2133"/>
              </a:spcBef>
              <a:spcAft>
                <a:spcPts val="0"/>
              </a:spcAft>
              <a:buSzPts val="1100"/>
              <a:buChar char="○"/>
              <a:defRPr/>
            </a:lvl5pPr>
            <a:lvl6pPr marL="3657509" lvl="5" indent="-397923" rtl="0">
              <a:spcBef>
                <a:spcPts val="2133"/>
              </a:spcBef>
              <a:spcAft>
                <a:spcPts val="0"/>
              </a:spcAft>
              <a:buSzPts val="1100"/>
              <a:buChar char="■"/>
              <a:defRPr/>
            </a:lvl6pPr>
            <a:lvl7pPr marL="4267093" lvl="6" indent="-397923" rtl="0">
              <a:spcBef>
                <a:spcPts val="2133"/>
              </a:spcBef>
              <a:spcAft>
                <a:spcPts val="0"/>
              </a:spcAft>
              <a:buSzPts val="1100"/>
              <a:buChar char="●"/>
              <a:defRPr/>
            </a:lvl7pPr>
            <a:lvl8pPr marL="4876678" lvl="7" indent="-397923" rtl="0">
              <a:spcBef>
                <a:spcPts val="2133"/>
              </a:spcBef>
              <a:spcAft>
                <a:spcPts val="0"/>
              </a:spcAft>
              <a:buSzPts val="1100"/>
              <a:buChar char="○"/>
              <a:defRPr/>
            </a:lvl8pPr>
            <a:lvl9pPr marL="5486263" lvl="8" indent="-397923" rtl="0">
              <a:spcBef>
                <a:spcPts val="2133"/>
              </a:spcBef>
              <a:spcAft>
                <a:spcPts val="2133"/>
              </a:spcAft>
              <a:buSzPts val="1100"/>
              <a:buChar char="■"/>
              <a:defRPr/>
            </a:lvl9pPr>
          </a:lstStyle>
          <a:p>
            <a:endParaRPr/>
          </a:p>
        </p:txBody>
      </p:sp>
      <p:sp>
        <p:nvSpPr>
          <p:cNvPr id="118" name="Google Shape;118;p13"/>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94198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5FF43-15EB-48BF-9377-EC78CBDC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48A9A9A-96AC-434D-8596-80E7719973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477151C-500A-4CAF-8B1B-C429EEE2C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5C7F56-557C-F244-B568-B1FA97E1691C}" type="datetime8">
              <a:rPr lang="en-US" smtClean="0"/>
              <a:t>2/15/23 4:55 PM</a:t>
            </a:fld>
            <a:endParaRPr lang="en-IL"/>
          </a:p>
        </p:txBody>
      </p:sp>
      <p:sp>
        <p:nvSpPr>
          <p:cNvPr id="5" name="Footer Placeholder 4">
            <a:extLst>
              <a:ext uri="{FF2B5EF4-FFF2-40B4-BE49-F238E27FC236}">
                <a16:creationId xmlns:a16="http://schemas.microsoft.com/office/drawing/2014/main" id="{481936C9-3550-4463-A834-A8233EB9F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endParaRPr lang="en-IL"/>
          </a:p>
        </p:txBody>
      </p:sp>
      <p:sp>
        <p:nvSpPr>
          <p:cNvPr id="6" name="Slide Number Placeholder 5">
            <a:extLst>
              <a:ext uri="{FF2B5EF4-FFF2-40B4-BE49-F238E27FC236}">
                <a16:creationId xmlns:a16="http://schemas.microsoft.com/office/drawing/2014/main" id="{77370A5C-A380-420D-86FA-95B4F828D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643F8-DFCD-4B5F-9519-933435FA18FB}" type="slidenum">
              <a:rPr lang="en-IL" smtClean="0"/>
              <a:t>‹#›</a:t>
            </a:fld>
            <a:endParaRPr lang="en-IL"/>
          </a:p>
        </p:txBody>
      </p:sp>
    </p:spTree>
    <p:extLst>
      <p:ext uri="{BB962C8B-B14F-4D97-AF65-F5344CB8AC3E}">
        <p14:creationId xmlns:p14="http://schemas.microsoft.com/office/powerpoint/2010/main" val="2004471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185352" y="395416"/>
            <a:ext cx="11794982" cy="3409557"/>
          </a:xfrm>
        </p:spPr>
        <p:txBody>
          <a:bodyPr>
            <a:normAutofit/>
          </a:bodyPr>
          <a:lstStyle/>
          <a:p>
            <a:pPr algn="ctr" defTabSz="914400" rtl="0" eaLnBrk="1" latinLnBrk="0" hangingPunct="1">
              <a:lnSpc>
                <a:spcPct val="90000"/>
              </a:lnSpc>
              <a:spcBef>
                <a:spcPct val="0"/>
              </a:spcBef>
              <a:buNone/>
            </a:pPr>
            <a:r>
              <a:rPr lang="en-US" u="sng" dirty="0">
                <a:cs typeface="+mn-cs"/>
              </a:rPr>
              <a:t>Business Intelligence</a:t>
            </a:r>
            <a:endParaRPr lang="en-IL" u="sng" dirty="0">
              <a:cs typeface="+mn-cs"/>
            </a:endParaRPr>
          </a:p>
        </p:txBody>
      </p:sp>
      <p:sp>
        <p:nvSpPr>
          <p:cNvPr id="3" name="Subtitle 2">
            <a:extLst>
              <a:ext uri="{FF2B5EF4-FFF2-40B4-BE49-F238E27FC236}">
                <a16:creationId xmlns:a16="http://schemas.microsoft.com/office/drawing/2014/main" id="{E954BFDD-2D28-4F88-A89F-35EB6574CAC6}"/>
              </a:ext>
            </a:extLst>
          </p:cNvPr>
          <p:cNvSpPr>
            <a:spLocks noGrp="1"/>
          </p:cNvSpPr>
          <p:nvPr>
            <p:ph type="subTitle" idx="1"/>
          </p:nvPr>
        </p:nvSpPr>
        <p:spPr>
          <a:xfrm>
            <a:off x="1510843" y="4276585"/>
            <a:ext cx="9144000" cy="1655762"/>
          </a:xfrm>
        </p:spPr>
        <p:txBody>
          <a:bodyPr>
            <a:normAutofit/>
          </a:bodyPr>
          <a:lstStyle/>
          <a:p>
            <a:pPr marL="0" indent="0" algn="ctr" defTabSz="914400" rtl="1" eaLnBrk="1" latinLnBrk="0" hangingPunct="1">
              <a:lnSpc>
                <a:spcPct val="90000"/>
              </a:lnSpc>
              <a:spcBef>
                <a:spcPts val="1000"/>
              </a:spcBef>
              <a:buFont typeface="Arial" panose="020B0604020202020204" pitchFamily="34" charset="0"/>
              <a:buNone/>
            </a:pPr>
            <a:r>
              <a:rPr lang="en-US" sz="3600" dirty="0"/>
              <a:t>Lecture 4</a:t>
            </a:r>
            <a:endParaRPr lang="en-IL" sz="3600" dirty="0"/>
          </a:p>
        </p:txBody>
      </p:sp>
      <p:sp>
        <p:nvSpPr>
          <p:cNvPr id="4" name="Slide Number Placeholder 3">
            <a:extLst>
              <a:ext uri="{FF2B5EF4-FFF2-40B4-BE49-F238E27FC236}">
                <a16:creationId xmlns:a16="http://schemas.microsoft.com/office/drawing/2014/main" id="{CAD7C810-8880-4D05-860C-4E520C91B935}"/>
              </a:ext>
            </a:extLst>
          </p:cNvPr>
          <p:cNvSpPr>
            <a:spLocks noGrp="1"/>
          </p:cNvSpPr>
          <p:nvPr>
            <p:ph type="sldNum" sz="quarter" idx="12"/>
          </p:nvPr>
        </p:nvSpPr>
        <p:spPr/>
        <p:txBody>
          <a:bodyPr/>
          <a:lstStyle/>
          <a:p>
            <a:fld id="{B62643F8-DFCD-4B5F-9519-933435FA18FB}" type="slidenum">
              <a:rPr lang="en-IL" smtClean="0"/>
              <a:t>1</a:t>
            </a:fld>
            <a:endParaRPr lang="en-IL"/>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301730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SQL – DML and DDL </a:t>
            </a:r>
          </a:p>
        </p:txBody>
      </p:sp>
    </p:spTree>
    <p:extLst>
      <p:ext uri="{BB962C8B-B14F-4D97-AF65-F5344CB8AC3E}">
        <p14:creationId xmlns:p14="http://schemas.microsoft.com/office/powerpoint/2010/main" val="3367268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body" idx="1"/>
          </p:nvPr>
        </p:nvSpPr>
        <p:spPr>
          <a:xfrm>
            <a:off x="1040333" y="1332499"/>
            <a:ext cx="10251600" cy="3014800"/>
          </a:xfrm>
          <a:prstGeom prst="rect">
            <a:avLst/>
          </a:prstGeom>
        </p:spPr>
        <p:txBody>
          <a:bodyPr spcFirstLastPara="1" vert="horz" wrap="square" lIns="121900" tIns="121900" rIns="121900" bIns="121900" rtlCol="0" anchor="t" anchorCtr="0">
            <a:noAutofit/>
          </a:bodyPr>
          <a:lstStyle/>
          <a:p>
            <a:pPr>
              <a:lnSpc>
                <a:spcPct val="150000"/>
              </a:lnSpc>
              <a:buChar char="➔"/>
            </a:pPr>
            <a:r>
              <a:rPr lang="en" sz="2400" dirty="0"/>
              <a:t>Query Language </a:t>
            </a:r>
            <a:endParaRPr sz="2400" dirty="0"/>
          </a:p>
          <a:p>
            <a:pPr>
              <a:lnSpc>
                <a:spcPct val="150000"/>
              </a:lnSpc>
              <a:spcBef>
                <a:spcPts val="1333"/>
              </a:spcBef>
              <a:buChar char="➔"/>
            </a:pPr>
            <a:r>
              <a:rPr lang="en" sz="2400" dirty="0"/>
              <a:t>Table Oriented</a:t>
            </a:r>
            <a:endParaRPr sz="2400" dirty="0"/>
          </a:p>
          <a:p>
            <a:pPr>
              <a:lnSpc>
                <a:spcPct val="150000"/>
              </a:lnSpc>
              <a:spcBef>
                <a:spcPts val="1333"/>
              </a:spcBef>
              <a:buChar char="➔"/>
            </a:pPr>
            <a:r>
              <a:rPr lang="en" sz="2400" dirty="0"/>
              <a:t>Fast and Easy access to our data</a:t>
            </a:r>
            <a:endParaRPr sz="2400" dirty="0"/>
          </a:p>
          <a:p>
            <a:pPr>
              <a:lnSpc>
                <a:spcPct val="150000"/>
              </a:lnSpc>
              <a:spcBef>
                <a:spcPts val="1333"/>
              </a:spcBef>
              <a:buChar char="➔"/>
            </a:pPr>
            <a:r>
              <a:rPr lang="en" sz="2400" dirty="0"/>
              <a:t>CRUD - Create, Read, Update, Delete</a:t>
            </a:r>
            <a:endParaRPr sz="2400" dirty="0"/>
          </a:p>
          <a:p>
            <a:pPr marL="0" indent="0">
              <a:lnSpc>
                <a:spcPct val="150000"/>
              </a:lnSpc>
              <a:spcBef>
                <a:spcPts val="1333"/>
              </a:spcBef>
              <a:spcAft>
                <a:spcPts val="1333"/>
              </a:spcAft>
              <a:buNone/>
            </a:pPr>
            <a:endParaRPr sz="2400" dirty="0"/>
          </a:p>
        </p:txBody>
      </p:sp>
      <p:sp>
        <p:nvSpPr>
          <p:cNvPr id="155" name="Google Shape;155;p20"/>
          <p:cNvSpPr txBox="1">
            <a:spLocks noGrp="1"/>
          </p:cNvSpPr>
          <p:nvPr>
            <p:ph type="title"/>
          </p:nvPr>
        </p:nvSpPr>
        <p:spPr>
          <a:xfrm>
            <a:off x="854067" y="902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SQL - Structured Query Language</a:t>
            </a:r>
            <a:endParaRPr sz="3200" b="1"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4C5F61E3-922D-254C-8ED4-1B6CC50E5D16}"/>
              </a:ext>
            </a:extLst>
          </p:cNvPr>
          <p:cNvSpPr>
            <a:spLocks noGrp="1"/>
          </p:cNvSpPr>
          <p:nvPr>
            <p:ph type="sldNum" idx="12"/>
          </p:nvPr>
        </p:nvSpPr>
        <p:spPr/>
        <p:txBody>
          <a:bodyPr/>
          <a:lstStyle/>
          <a:p>
            <a:fld id="{00000000-1234-1234-1234-123412341234}" type="slidenum">
              <a:rPr lang="en" smtClean="0"/>
              <a:pPr/>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1"/>
          <p:cNvSpPr txBox="1">
            <a:spLocks noGrp="1"/>
          </p:cNvSpPr>
          <p:nvPr>
            <p:ph type="title"/>
          </p:nvPr>
        </p:nvSpPr>
        <p:spPr>
          <a:xfrm>
            <a:off x="973333" y="1758200"/>
            <a:ext cx="4401200" cy="2249600"/>
          </a:xfrm>
          <a:prstGeom prst="rect">
            <a:avLst/>
          </a:prstGeom>
        </p:spPr>
        <p:txBody>
          <a:bodyPr spcFirstLastPara="1" vert="horz" wrap="square" lIns="121900" tIns="121900" rIns="121900" bIns="121900" rtlCol="0" anchor="t" anchorCtr="0">
            <a:noAutofit/>
          </a:bodyPr>
          <a:lstStyle/>
          <a:p>
            <a:r>
              <a:rPr lang="en" dirty="0"/>
              <a:t>SQL</a:t>
            </a:r>
            <a:endParaRPr dirty="0"/>
          </a:p>
          <a:p>
            <a:endParaRPr dirty="0"/>
          </a:p>
        </p:txBody>
      </p:sp>
      <p:sp>
        <p:nvSpPr>
          <p:cNvPr id="161" name="Google Shape;161;p21"/>
          <p:cNvSpPr txBox="1">
            <a:spLocks noGrp="1"/>
          </p:cNvSpPr>
          <p:nvPr>
            <p:ph type="body" idx="2"/>
          </p:nvPr>
        </p:nvSpPr>
        <p:spPr>
          <a:xfrm>
            <a:off x="6370533" y="-153667"/>
            <a:ext cx="5466000" cy="5758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endParaRPr sz="2400" dirty="0"/>
          </a:p>
          <a:p>
            <a:pPr marL="169329" indent="0">
              <a:lnSpc>
                <a:spcPct val="150000"/>
              </a:lnSpc>
              <a:spcBef>
                <a:spcPts val="1333"/>
              </a:spcBef>
              <a:buNone/>
            </a:pPr>
            <a:r>
              <a:rPr lang="en" sz="2400" dirty="0"/>
              <a:t>DML - Data Manipulation Language</a:t>
            </a:r>
            <a:endParaRPr sz="2400" dirty="0"/>
          </a:p>
          <a:p>
            <a:pPr lvl="1" indent="-440256">
              <a:lnSpc>
                <a:spcPct val="150000"/>
              </a:lnSpc>
              <a:spcBef>
                <a:spcPts val="0"/>
              </a:spcBef>
              <a:buClr>
                <a:srgbClr val="222222"/>
              </a:buClr>
              <a:buSzPts val="1300"/>
              <a:buFont typeface="Arial" panose="020B0604020202020204" pitchFamily="34" charset="0"/>
              <a:buAutoNum type="alphaLcPeriod"/>
            </a:pPr>
            <a:r>
              <a:rPr lang="en" dirty="0"/>
              <a:t>Select</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Insert</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Update</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Delete</a:t>
            </a:r>
            <a:endParaRPr sz="2400" dirty="0"/>
          </a:p>
          <a:p>
            <a:pPr marL="169329" indent="0">
              <a:lnSpc>
                <a:spcPct val="150000"/>
              </a:lnSpc>
              <a:spcBef>
                <a:spcPts val="1333"/>
              </a:spcBef>
              <a:buClr>
                <a:srgbClr val="222222"/>
              </a:buClr>
              <a:buNone/>
            </a:pPr>
            <a:r>
              <a:rPr lang="en" sz="2400" dirty="0"/>
              <a:t>DDL - Data Definition Language</a:t>
            </a:r>
            <a:endParaRPr sz="2400" dirty="0"/>
          </a:p>
          <a:p>
            <a:pPr lvl="1" indent="-440256">
              <a:lnSpc>
                <a:spcPct val="150000"/>
              </a:lnSpc>
              <a:spcBef>
                <a:spcPts val="0"/>
              </a:spcBef>
              <a:buClr>
                <a:srgbClr val="222222"/>
              </a:buClr>
              <a:buSzPts val="1300"/>
              <a:buFont typeface="Arial" panose="020B0604020202020204" pitchFamily="34" charset="0"/>
              <a:buAutoNum type="alphaLcPeriod"/>
            </a:pPr>
            <a:r>
              <a:rPr lang="en" dirty="0"/>
              <a:t>Create </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Drop</a:t>
            </a:r>
            <a:endParaRPr dirty="0"/>
          </a:p>
          <a:p>
            <a:pPr lvl="1" indent="-440256">
              <a:lnSpc>
                <a:spcPct val="150000"/>
              </a:lnSpc>
              <a:spcBef>
                <a:spcPts val="0"/>
              </a:spcBef>
              <a:buClr>
                <a:srgbClr val="222222"/>
              </a:buClr>
              <a:buSzPts val="1300"/>
              <a:buFont typeface="Arial" panose="020B0604020202020204" pitchFamily="34" charset="0"/>
              <a:buAutoNum type="alphaLcPeriod"/>
            </a:pPr>
            <a:r>
              <a:rPr lang="en" dirty="0"/>
              <a:t>Alter</a:t>
            </a:r>
            <a:endParaRPr dirty="0"/>
          </a:p>
        </p:txBody>
      </p:sp>
      <p:sp>
        <p:nvSpPr>
          <p:cNvPr id="2" name="Slide Number Placeholder 1">
            <a:extLst>
              <a:ext uri="{FF2B5EF4-FFF2-40B4-BE49-F238E27FC236}">
                <a16:creationId xmlns:a16="http://schemas.microsoft.com/office/drawing/2014/main" id="{B80F8207-FB7A-C645-9C20-24AD50C89E48}"/>
              </a:ext>
            </a:extLst>
          </p:cNvPr>
          <p:cNvSpPr>
            <a:spLocks noGrp="1"/>
          </p:cNvSpPr>
          <p:nvPr>
            <p:ph type="sldNum" idx="12"/>
          </p:nvPr>
        </p:nvSpPr>
        <p:spPr/>
        <p:txBody>
          <a:bodyPr/>
          <a:lstStyle/>
          <a:p>
            <a:fld id="{00000000-1234-1234-1234-123412341234}" type="slidenum">
              <a:rPr lang="en" smtClean="0"/>
              <a:pPr/>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49"/>
          <p:cNvSpPr txBox="1">
            <a:spLocks noGrp="1"/>
          </p:cNvSpPr>
          <p:nvPr>
            <p:ph type="title"/>
          </p:nvPr>
        </p:nvSpPr>
        <p:spPr>
          <a:xfrm>
            <a:off x="845600" y="3577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Overview</a:t>
            </a:r>
            <a:endParaRPr sz="3200" b="1" dirty="0">
              <a:solidFill>
                <a:schemeClr val="tx1"/>
              </a:solidFill>
              <a:latin typeface="+mn-lt"/>
              <a:ea typeface="+mn-ea"/>
              <a:cs typeface="+mn-cs"/>
            </a:endParaRPr>
          </a:p>
        </p:txBody>
      </p:sp>
      <p:sp>
        <p:nvSpPr>
          <p:cNvPr id="386" name="Google Shape;386;p49"/>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387" name="Google Shape;387;p49"/>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388" name="Google Shape;388;p49"/>
          <p:cNvSpPr txBox="1">
            <a:spLocks noGrp="1"/>
          </p:cNvSpPr>
          <p:nvPr>
            <p:ph type="body" idx="1"/>
          </p:nvPr>
        </p:nvSpPr>
        <p:spPr>
          <a:xfrm>
            <a:off x="845600" y="1158850"/>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What happens when we want to handle a few tables which relative </a:t>
            </a:r>
          </a:p>
          <a:p>
            <a:pPr marL="0" indent="0">
              <a:lnSpc>
                <a:spcPct val="150000"/>
              </a:lnSpc>
              <a:buFont typeface="Arial" panose="020B0604020202020204" pitchFamily="34" charset="0"/>
              <a:buNone/>
            </a:pPr>
            <a:r>
              <a:rPr lang="en" sz="2400" dirty="0"/>
              <a:t>one to each other ? </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389" name="Google Shape;389;p49"/>
          <p:cNvPicPr preferRelativeResize="0"/>
          <p:nvPr/>
        </p:nvPicPr>
        <p:blipFill>
          <a:blip r:embed="rId3">
            <a:alphaModFix/>
          </a:blip>
          <a:stretch>
            <a:fillRect/>
          </a:stretch>
        </p:blipFill>
        <p:spPr>
          <a:xfrm>
            <a:off x="4519234" y="2944749"/>
            <a:ext cx="3153532" cy="2754401"/>
          </a:xfrm>
          <a:prstGeom prst="rect">
            <a:avLst/>
          </a:prstGeom>
          <a:noFill/>
          <a:ln>
            <a:noFill/>
          </a:ln>
        </p:spPr>
      </p:pic>
      <p:sp>
        <p:nvSpPr>
          <p:cNvPr id="2" name="Slide Number Placeholder 1">
            <a:extLst>
              <a:ext uri="{FF2B5EF4-FFF2-40B4-BE49-F238E27FC236}">
                <a16:creationId xmlns:a16="http://schemas.microsoft.com/office/drawing/2014/main" id="{17D76E76-785A-0042-8D1A-3FB3AAEFFAF4}"/>
              </a:ext>
            </a:extLst>
          </p:cNvPr>
          <p:cNvSpPr>
            <a:spLocks noGrp="1"/>
          </p:cNvSpPr>
          <p:nvPr>
            <p:ph type="sldNum" idx="12"/>
          </p:nvPr>
        </p:nvSpPr>
        <p:spPr/>
        <p:txBody>
          <a:bodyPr/>
          <a:lstStyle/>
          <a:p>
            <a:fld id="{00000000-1234-1234-1234-123412341234}" type="slidenum">
              <a:rPr lang="en" smtClean="0"/>
              <a:pPr/>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5" name="Google Shape;395;p50"/>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396" name="Google Shape;396;p50"/>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graphicFrame>
        <p:nvGraphicFramePr>
          <p:cNvPr id="397" name="Google Shape;397;p50"/>
          <p:cNvGraphicFramePr/>
          <p:nvPr>
            <p:extLst>
              <p:ext uri="{D42A27DB-BD31-4B8C-83A1-F6EECF244321}">
                <p14:modId xmlns:p14="http://schemas.microsoft.com/office/powerpoint/2010/main" val="1597302534"/>
              </p:ext>
            </p:extLst>
          </p:nvPr>
        </p:nvGraphicFramePr>
        <p:xfrm>
          <a:off x="149365" y="3931050"/>
          <a:ext cx="6208134" cy="2743000"/>
        </p:xfrm>
        <a:graphic>
          <a:graphicData uri="http://schemas.openxmlformats.org/drawingml/2006/table">
            <a:tbl>
              <a:tblPr>
                <a:noFill/>
              </a:tblPr>
              <a:tblGrid>
                <a:gridCol w="2069378">
                  <a:extLst>
                    <a:ext uri="{9D8B030D-6E8A-4147-A177-3AD203B41FA5}">
                      <a16:colId xmlns:a16="http://schemas.microsoft.com/office/drawing/2014/main" val="20000"/>
                    </a:ext>
                  </a:extLst>
                </a:gridCol>
                <a:gridCol w="2069378">
                  <a:extLst>
                    <a:ext uri="{9D8B030D-6E8A-4147-A177-3AD203B41FA5}">
                      <a16:colId xmlns:a16="http://schemas.microsoft.com/office/drawing/2014/main" val="20001"/>
                    </a:ext>
                  </a:extLst>
                </a:gridCol>
                <a:gridCol w="2069378">
                  <a:extLst>
                    <a:ext uri="{9D8B030D-6E8A-4147-A177-3AD203B41FA5}">
                      <a16:colId xmlns:a16="http://schemas.microsoft.com/office/drawing/2014/main" val="20002"/>
                    </a:ext>
                  </a:extLst>
                </a:gridCol>
              </a:tblGrid>
              <a:tr h="425131">
                <a:tc gridSpan="3">
                  <a:txBody>
                    <a:bodyPr/>
                    <a:lstStyle/>
                    <a:p>
                      <a:pPr marL="0" lvl="0" indent="0" algn="ctr" rtl="0">
                        <a:spcBef>
                          <a:spcPts val="0"/>
                        </a:spcBef>
                        <a:spcAft>
                          <a:spcPts val="0"/>
                        </a:spcAft>
                        <a:buNone/>
                      </a:pPr>
                      <a:r>
                        <a:rPr lang="en" sz="2000" dirty="0"/>
                        <a:t>Students</a:t>
                      </a:r>
                      <a:endParaRPr sz="2000" dirty="0"/>
                    </a:p>
                  </a:txBody>
                  <a:tcPr marL="121900" marR="121900" marT="121900" marB="121900"/>
                </a:tc>
                <a:tc hMerge="1">
                  <a:txBody>
                    <a:bodyPr/>
                    <a:lstStyle/>
                    <a:p>
                      <a:endParaRPr lang="en-IL"/>
                    </a:p>
                  </a:txBody>
                  <a:tcPr/>
                </a:tc>
                <a:tc hMerge="1">
                  <a:txBody>
                    <a:bodyPr/>
                    <a:lstStyle/>
                    <a:p>
                      <a:endParaRPr lang="en-IL"/>
                    </a:p>
                  </a:txBody>
                  <a:tcPr/>
                </a:tc>
                <a:extLst>
                  <a:ext uri="{0D108BD9-81ED-4DB2-BD59-A6C34878D82A}">
                    <a16:rowId xmlns:a16="http://schemas.microsoft.com/office/drawing/2014/main" val="10000"/>
                  </a:ext>
                </a:extLst>
              </a:tr>
              <a:tr h="425131">
                <a:tc>
                  <a:txBody>
                    <a:bodyPr/>
                    <a:lstStyle/>
                    <a:p>
                      <a:pPr marL="0" lvl="0" indent="0" algn="ctr" rtl="0">
                        <a:spcBef>
                          <a:spcPts val="0"/>
                        </a:spcBef>
                        <a:spcAft>
                          <a:spcPts val="0"/>
                        </a:spcAft>
                        <a:buNone/>
                      </a:pPr>
                      <a:r>
                        <a:rPr lang="en" sz="2000"/>
                        <a:t>FirstName</a:t>
                      </a:r>
                      <a:endParaRPr sz="2000"/>
                    </a:p>
                  </a:txBody>
                  <a:tcPr marL="121900" marR="121900" marT="121900" marB="121900"/>
                </a:tc>
                <a:tc>
                  <a:txBody>
                    <a:bodyPr/>
                    <a:lstStyle/>
                    <a:p>
                      <a:pPr marL="0" lvl="0" indent="0" algn="ctr" rtl="0">
                        <a:spcBef>
                          <a:spcPts val="0"/>
                        </a:spcBef>
                        <a:spcAft>
                          <a:spcPts val="0"/>
                        </a:spcAft>
                        <a:buNone/>
                      </a:pPr>
                      <a:r>
                        <a:rPr lang="en" sz="2000"/>
                        <a:t>LastName</a:t>
                      </a:r>
                      <a:endParaRPr sz="2000"/>
                    </a:p>
                  </a:txBody>
                  <a:tcPr marL="121900" marR="121900" marT="121900" marB="121900"/>
                </a:tc>
                <a:tc>
                  <a:txBody>
                    <a:bodyPr/>
                    <a:lstStyle/>
                    <a:p>
                      <a:pPr marL="0" lvl="0" indent="0" algn="ctr" rtl="0">
                        <a:spcBef>
                          <a:spcPts val="0"/>
                        </a:spcBef>
                        <a:spcAft>
                          <a:spcPts val="0"/>
                        </a:spcAft>
                        <a:buNone/>
                      </a:pPr>
                      <a:r>
                        <a:rPr lang="en" sz="2000" dirty="0" err="1"/>
                        <a:t>StudentID</a:t>
                      </a:r>
                      <a:endParaRPr sz="2000" dirty="0"/>
                    </a:p>
                  </a:txBody>
                  <a:tcPr marL="121900" marR="121900" marT="121900" marB="121900">
                    <a:solidFill>
                      <a:srgbClr val="FFFF00"/>
                    </a:solidFill>
                  </a:tcPr>
                </a:tc>
                <a:extLst>
                  <a:ext uri="{0D108BD9-81ED-4DB2-BD59-A6C34878D82A}">
                    <a16:rowId xmlns:a16="http://schemas.microsoft.com/office/drawing/2014/main" val="10001"/>
                  </a:ext>
                </a:extLst>
              </a:tr>
              <a:tr h="425131">
                <a:tc>
                  <a:txBody>
                    <a:bodyPr/>
                    <a:lstStyle/>
                    <a:p>
                      <a:pPr marL="0" lvl="0" indent="0" algn="ctr" rtl="0">
                        <a:spcBef>
                          <a:spcPts val="0"/>
                        </a:spcBef>
                        <a:spcAft>
                          <a:spcPts val="0"/>
                        </a:spcAft>
                        <a:buNone/>
                      </a:pPr>
                      <a:r>
                        <a:rPr lang="en" sz="2000"/>
                        <a:t>Avi</a:t>
                      </a:r>
                      <a:endParaRPr sz="2000"/>
                    </a:p>
                  </a:txBody>
                  <a:tcPr marL="121900" marR="121900" marT="121900" marB="121900"/>
                </a:tc>
                <a:tc>
                  <a:txBody>
                    <a:bodyPr/>
                    <a:lstStyle/>
                    <a:p>
                      <a:pPr marL="0" lvl="0" indent="0" algn="ctr" rtl="0">
                        <a:spcBef>
                          <a:spcPts val="0"/>
                        </a:spcBef>
                        <a:spcAft>
                          <a:spcPts val="0"/>
                        </a:spcAft>
                        <a:buNone/>
                      </a:pPr>
                      <a:r>
                        <a:rPr lang="en" sz="2000"/>
                        <a:t>Cohen</a:t>
                      </a:r>
                      <a:endParaRPr sz="2000"/>
                    </a:p>
                  </a:txBody>
                  <a:tcPr marL="121900" marR="121900" marT="121900" marB="121900"/>
                </a:tc>
                <a:tc>
                  <a:txBody>
                    <a:bodyPr/>
                    <a:lstStyle/>
                    <a:p>
                      <a:pPr marL="0" lvl="0" indent="0" algn="ctr" rtl="0">
                        <a:spcBef>
                          <a:spcPts val="0"/>
                        </a:spcBef>
                        <a:spcAft>
                          <a:spcPts val="0"/>
                        </a:spcAft>
                        <a:buNone/>
                      </a:pPr>
                      <a:r>
                        <a:rPr lang="en" sz="2000" dirty="0"/>
                        <a:t>111</a:t>
                      </a:r>
                      <a:endParaRPr sz="2000" dirty="0"/>
                    </a:p>
                  </a:txBody>
                  <a:tcPr marL="121900" marR="121900" marT="121900" marB="121900">
                    <a:solidFill>
                      <a:srgbClr val="FFFF00"/>
                    </a:solidFill>
                  </a:tcPr>
                </a:tc>
                <a:extLst>
                  <a:ext uri="{0D108BD9-81ED-4DB2-BD59-A6C34878D82A}">
                    <a16:rowId xmlns:a16="http://schemas.microsoft.com/office/drawing/2014/main" val="10002"/>
                  </a:ext>
                </a:extLst>
              </a:tr>
              <a:tr h="425131">
                <a:tc>
                  <a:txBody>
                    <a:bodyPr/>
                    <a:lstStyle/>
                    <a:p>
                      <a:pPr marL="0" lvl="0" indent="0" algn="ctr" rtl="0">
                        <a:spcBef>
                          <a:spcPts val="0"/>
                        </a:spcBef>
                        <a:spcAft>
                          <a:spcPts val="0"/>
                        </a:spcAft>
                        <a:buNone/>
                      </a:pPr>
                      <a:r>
                        <a:rPr lang="en" sz="2000"/>
                        <a:t>Dan</a:t>
                      </a:r>
                      <a:endParaRPr sz="2000"/>
                    </a:p>
                  </a:txBody>
                  <a:tcPr marL="121900" marR="121900" marT="121900" marB="121900"/>
                </a:tc>
                <a:tc>
                  <a:txBody>
                    <a:bodyPr/>
                    <a:lstStyle/>
                    <a:p>
                      <a:pPr marL="0" lvl="0" indent="0" algn="ctr" rtl="0">
                        <a:spcBef>
                          <a:spcPts val="0"/>
                        </a:spcBef>
                        <a:spcAft>
                          <a:spcPts val="0"/>
                        </a:spcAft>
                        <a:buNone/>
                      </a:pPr>
                      <a:r>
                        <a:rPr lang="en" sz="2000"/>
                        <a:t>Israeli</a:t>
                      </a:r>
                      <a:endParaRPr sz="2000"/>
                    </a:p>
                  </a:txBody>
                  <a:tcPr marL="121900" marR="121900" marT="121900" marB="121900"/>
                </a:tc>
                <a:tc>
                  <a:txBody>
                    <a:bodyPr/>
                    <a:lstStyle/>
                    <a:p>
                      <a:pPr marL="0" lvl="0" indent="0" algn="ctr" rtl="0">
                        <a:spcBef>
                          <a:spcPts val="0"/>
                        </a:spcBef>
                        <a:spcAft>
                          <a:spcPts val="0"/>
                        </a:spcAft>
                        <a:buNone/>
                      </a:pPr>
                      <a:r>
                        <a:rPr lang="en" sz="2000" dirty="0"/>
                        <a:t>222</a:t>
                      </a:r>
                      <a:endParaRPr sz="2000" dirty="0"/>
                    </a:p>
                  </a:txBody>
                  <a:tcPr marL="121900" marR="121900" marT="121900" marB="121900">
                    <a:solidFill>
                      <a:srgbClr val="FFFF00"/>
                    </a:solidFill>
                  </a:tcPr>
                </a:tc>
                <a:extLst>
                  <a:ext uri="{0D108BD9-81ED-4DB2-BD59-A6C34878D82A}">
                    <a16:rowId xmlns:a16="http://schemas.microsoft.com/office/drawing/2014/main" val="10003"/>
                  </a:ext>
                </a:extLst>
              </a:tr>
              <a:tr h="425131">
                <a:tc>
                  <a:txBody>
                    <a:bodyPr/>
                    <a:lstStyle/>
                    <a:p>
                      <a:pPr marL="0" lvl="0" indent="0" algn="ctr" rtl="0">
                        <a:spcBef>
                          <a:spcPts val="0"/>
                        </a:spcBef>
                        <a:spcAft>
                          <a:spcPts val="0"/>
                        </a:spcAft>
                        <a:buNone/>
                      </a:pPr>
                      <a:r>
                        <a:rPr lang="en" sz="2000"/>
                        <a:t>Ofer</a:t>
                      </a:r>
                      <a:endParaRPr sz="2000"/>
                    </a:p>
                  </a:txBody>
                  <a:tcPr marL="121900" marR="121900" marT="121900" marB="121900"/>
                </a:tc>
                <a:tc>
                  <a:txBody>
                    <a:bodyPr/>
                    <a:lstStyle/>
                    <a:p>
                      <a:pPr marL="0" lvl="0" indent="0" algn="ctr" rtl="0">
                        <a:spcBef>
                          <a:spcPts val="0"/>
                        </a:spcBef>
                        <a:spcAft>
                          <a:spcPts val="0"/>
                        </a:spcAft>
                        <a:buNone/>
                      </a:pPr>
                      <a:r>
                        <a:rPr lang="en" sz="2000"/>
                        <a:t>Bar</a:t>
                      </a:r>
                      <a:endParaRPr sz="2000"/>
                    </a:p>
                  </a:txBody>
                  <a:tcPr marL="121900" marR="121900" marT="121900" marB="121900"/>
                </a:tc>
                <a:tc>
                  <a:txBody>
                    <a:bodyPr/>
                    <a:lstStyle/>
                    <a:p>
                      <a:pPr marL="0" lvl="0" indent="0" algn="ctr" rtl="0">
                        <a:spcBef>
                          <a:spcPts val="0"/>
                        </a:spcBef>
                        <a:spcAft>
                          <a:spcPts val="0"/>
                        </a:spcAft>
                        <a:buNone/>
                      </a:pPr>
                      <a:r>
                        <a:rPr lang="en" sz="2000" dirty="0"/>
                        <a:t>333</a:t>
                      </a:r>
                      <a:endParaRPr sz="2000" dirty="0"/>
                    </a:p>
                  </a:txBody>
                  <a:tcPr marL="121900" marR="121900" marT="121900" marB="121900">
                    <a:solidFill>
                      <a:srgbClr val="FFFF00"/>
                    </a:solidFill>
                  </a:tcPr>
                </a:tc>
                <a:extLst>
                  <a:ext uri="{0D108BD9-81ED-4DB2-BD59-A6C34878D82A}">
                    <a16:rowId xmlns:a16="http://schemas.microsoft.com/office/drawing/2014/main" val="10004"/>
                  </a:ext>
                </a:extLst>
              </a:tr>
            </a:tbl>
          </a:graphicData>
        </a:graphic>
      </p:graphicFrame>
      <p:graphicFrame>
        <p:nvGraphicFramePr>
          <p:cNvPr id="398" name="Google Shape;398;p50"/>
          <p:cNvGraphicFramePr/>
          <p:nvPr>
            <p:extLst>
              <p:ext uri="{D42A27DB-BD31-4B8C-83A1-F6EECF244321}">
                <p14:modId xmlns:p14="http://schemas.microsoft.com/office/powerpoint/2010/main" val="3593070762"/>
              </p:ext>
            </p:extLst>
          </p:nvPr>
        </p:nvGraphicFramePr>
        <p:xfrm>
          <a:off x="3308104" y="489184"/>
          <a:ext cx="8653496" cy="2743000"/>
        </p:xfrm>
        <a:graphic>
          <a:graphicData uri="http://schemas.openxmlformats.org/drawingml/2006/table">
            <a:tbl>
              <a:tblPr>
                <a:noFill/>
              </a:tblPr>
              <a:tblGrid>
                <a:gridCol w="2163374">
                  <a:extLst>
                    <a:ext uri="{9D8B030D-6E8A-4147-A177-3AD203B41FA5}">
                      <a16:colId xmlns:a16="http://schemas.microsoft.com/office/drawing/2014/main" val="20000"/>
                    </a:ext>
                  </a:extLst>
                </a:gridCol>
                <a:gridCol w="2163374">
                  <a:extLst>
                    <a:ext uri="{9D8B030D-6E8A-4147-A177-3AD203B41FA5}">
                      <a16:colId xmlns:a16="http://schemas.microsoft.com/office/drawing/2014/main" val="20001"/>
                    </a:ext>
                  </a:extLst>
                </a:gridCol>
                <a:gridCol w="2163374">
                  <a:extLst>
                    <a:ext uri="{9D8B030D-6E8A-4147-A177-3AD203B41FA5}">
                      <a16:colId xmlns:a16="http://schemas.microsoft.com/office/drawing/2014/main" val="20002"/>
                    </a:ext>
                  </a:extLst>
                </a:gridCol>
                <a:gridCol w="2163374">
                  <a:extLst>
                    <a:ext uri="{9D8B030D-6E8A-4147-A177-3AD203B41FA5}">
                      <a16:colId xmlns:a16="http://schemas.microsoft.com/office/drawing/2014/main" val="20003"/>
                    </a:ext>
                  </a:extLst>
                </a:gridCol>
              </a:tblGrid>
              <a:tr h="325813">
                <a:tc gridSpan="4">
                  <a:txBody>
                    <a:bodyPr/>
                    <a:lstStyle/>
                    <a:p>
                      <a:pPr marL="0" lvl="0" indent="0" algn="ctr" rtl="0">
                        <a:spcBef>
                          <a:spcPts val="0"/>
                        </a:spcBef>
                        <a:spcAft>
                          <a:spcPts val="0"/>
                        </a:spcAft>
                        <a:buNone/>
                      </a:pPr>
                      <a:r>
                        <a:rPr lang="en" sz="2000" dirty="0"/>
                        <a:t>Courses</a:t>
                      </a:r>
                      <a:endParaRPr sz="2000" dirty="0"/>
                    </a:p>
                  </a:txBody>
                  <a:tcPr marL="121900" marR="121900" marT="121900" marB="121900"/>
                </a:tc>
                <a:tc hMerge="1">
                  <a:txBody>
                    <a:bodyPr/>
                    <a:lstStyle/>
                    <a:p>
                      <a:endParaRPr lang="en-IL"/>
                    </a:p>
                  </a:txBody>
                  <a:tcPr/>
                </a:tc>
                <a:tc hMerge="1">
                  <a:txBody>
                    <a:bodyPr/>
                    <a:lstStyle/>
                    <a:p>
                      <a:endParaRPr lang="en-IL"/>
                    </a:p>
                  </a:txBody>
                  <a:tcPr/>
                </a:tc>
                <a:tc hMerge="1">
                  <a:txBody>
                    <a:bodyPr/>
                    <a:lstStyle/>
                    <a:p>
                      <a:endParaRPr lang="en-IL"/>
                    </a:p>
                  </a:txBody>
                  <a:tcPr/>
                </a:tc>
                <a:extLst>
                  <a:ext uri="{0D108BD9-81ED-4DB2-BD59-A6C34878D82A}">
                    <a16:rowId xmlns:a16="http://schemas.microsoft.com/office/drawing/2014/main" val="10000"/>
                  </a:ext>
                </a:extLst>
              </a:tr>
              <a:tr h="521314">
                <a:tc>
                  <a:txBody>
                    <a:bodyPr/>
                    <a:lstStyle/>
                    <a:p>
                      <a:pPr marL="0" lvl="0" indent="0" algn="ctr" rtl="0">
                        <a:spcBef>
                          <a:spcPts val="0"/>
                        </a:spcBef>
                        <a:spcAft>
                          <a:spcPts val="0"/>
                        </a:spcAft>
                        <a:buNone/>
                      </a:pPr>
                      <a:r>
                        <a:rPr lang="en" sz="2000"/>
                        <a:t>StudentID</a:t>
                      </a:r>
                      <a:endParaRPr sz="2000"/>
                    </a:p>
                  </a:txBody>
                  <a:tcPr marL="121900" marR="121900" marT="121900" marB="121900">
                    <a:solidFill>
                      <a:srgbClr val="FFFF00"/>
                    </a:solidFill>
                  </a:tcPr>
                </a:tc>
                <a:tc>
                  <a:txBody>
                    <a:bodyPr/>
                    <a:lstStyle/>
                    <a:p>
                      <a:pPr marL="0" lvl="0" indent="0" algn="ctr" rtl="0">
                        <a:spcBef>
                          <a:spcPts val="0"/>
                        </a:spcBef>
                        <a:spcAft>
                          <a:spcPts val="0"/>
                        </a:spcAft>
                        <a:buNone/>
                      </a:pPr>
                      <a:r>
                        <a:rPr lang="en" sz="2000" dirty="0" err="1"/>
                        <a:t>CourseNumber</a:t>
                      </a:r>
                      <a:endParaRPr sz="2000" dirty="0"/>
                    </a:p>
                  </a:txBody>
                  <a:tcPr marL="121900" marR="121900" marT="121900" marB="121900"/>
                </a:tc>
                <a:tc>
                  <a:txBody>
                    <a:bodyPr/>
                    <a:lstStyle/>
                    <a:p>
                      <a:pPr marL="0" lvl="0" indent="0" algn="ctr" rtl="0">
                        <a:spcBef>
                          <a:spcPts val="0"/>
                        </a:spcBef>
                        <a:spcAft>
                          <a:spcPts val="0"/>
                        </a:spcAft>
                        <a:buNone/>
                      </a:pPr>
                      <a:r>
                        <a:rPr lang="en" sz="2000"/>
                        <a:t>CourseName</a:t>
                      </a:r>
                      <a:endParaRPr sz="2000"/>
                    </a:p>
                  </a:txBody>
                  <a:tcPr marL="121900" marR="121900" marT="121900" marB="121900"/>
                </a:tc>
                <a:tc>
                  <a:txBody>
                    <a:bodyPr/>
                    <a:lstStyle/>
                    <a:p>
                      <a:pPr marL="0" lvl="0" indent="0" algn="ctr" rtl="0">
                        <a:spcBef>
                          <a:spcPts val="0"/>
                        </a:spcBef>
                        <a:spcAft>
                          <a:spcPts val="0"/>
                        </a:spcAft>
                        <a:buNone/>
                      </a:pPr>
                      <a:r>
                        <a:rPr lang="en" sz="2000"/>
                        <a:t>Grade</a:t>
                      </a:r>
                      <a:endParaRPr sz="2000"/>
                    </a:p>
                  </a:txBody>
                  <a:tcPr marL="121900" marR="121900" marT="121900" marB="121900"/>
                </a:tc>
                <a:extLst>
                  <a:ext uri="{0D108BD9-81ED-4DB2-BD59-A6C34878D82A}">
                    <a16:rowId xmlns:a16="http://schemas.microsoft.com/office/drawing/2014/main" val="10001"/>
                  </a:ext>
                </a:extLst>
              </a:tr>
              <a:tr h="325813">
                <a:tc>
                  <a:txBody>
                    <a:bodyPr/>
                    <a:lstStyle/>
                    <a:p>
                      <a:pPr marL="0" lvl="0" indent="0" algn="ctr" rtl="0">
                        <a:spcBef>
                          <a:spcPts val="0"/>
                        </a:spcBef>
                        <a:spcAft>
                          <a:spcPts val="0"/>
                        </a:spcAft>
                        <a:buNone/>
                      </a:pPr>
                      <a:r>
                        <a:rPr lang="en" sz="2000"/>
                        <a:t>111</a:t>
                      </a:r>
                      <a:endParaRPr sz="2000"/>
                    </a:p>
                  </a:txBody>
                  <a:tcPr marL="121900" marR="121900" marT="121900" marB="121900">
                    <a:solidFill>
                      <a:srgbClr val="FFFF00"/>
                    </a:solidFill>
                  </a:tcPr>
                </a:tc>
                <a:tc>
                  <a:txBody>
                    <a:bodyPr/>
                    <a:lstStyle/>
                    <a:p>
                      <a:pPr marL="0" lvl="0" indent="0" algn="ctr" rtl="0">
                        <a:spcBef>
                          <a:spcPts val="0"/>
                        </a:spcBef>
                        <a:spcAft>
                          <a:spcPts val="0"/>
                        </a:spcAft>
                        <a:buNone/>
                      </a:pPr>
                      <a:r>
                        <a:rPr lang="en" sz="2000" dirty="0"/>
                        <a:t>289</a:t>
                      </a:r>
                      <a:endParaRPr sz="2000" dirty="0"/>
                    </a:p>
                  </a:txBody>
                  <a:tcPr marL="121900" marR="121900" marT="121900" marB="121900"/>
                </a:tc>
                <a:tc>
                  <a:txBody>
                    <a:bodyPr/>
                    <a:lstStyle/>
                    <a:p>
                      <a:pPr marL="0" lvl="0" indent="0" algn="ctr" rtl="0">
                        <a:spcBef>
                          <a:spcPts val="0"/>
                        </a:spcBef>
                        <a:spcAft>
                          <a:spcPts val="0"/>
                        </a:spcAft>
                        <a:buNone/>
                      </a:pPr>
                      <a:r>
                        <a:rPr lang="en" sz="2000" dirty="0"/>
                        <a:t>DB</a:t>
                      </a:r>
                      <a:endParaRPr sz="2000" dirty="0"/>
                    </a:p>
                  </a:txBody>
                  <a:tcPr marL="121900" marR="121900" marT="121900" marB="121900"/>
                </a:tc>
                <a:tc>
                  <a:txBody>
                    <a:bodyPr/>
                    <a:lstStyle/>
                    <a:p>
                      <a:pPr marL="0" lvl="0" indent="0" algn="ctr" rtl="0">
                        <a:spcBef>
                          <a:spcPts val="0"/>
                        </a:spcBef>
                        <a:spcAft>
                          <a:spcPts val="0"/>
                        </a:spcAft>
                        <a:buNone/>
                      </a:pPr>
                      <a:r>
                        <a:rPr lang="en" sz="2000"/>
                        <a:t>96</a:t>
                      </a:r>
                      <a:endParaRPr sz="2000"/>
                    </a:p>
                  </a:txBody>
                  <a:tcPr marL="121900" marR="121900" marT="121900" marB="121900"/>
                </a:tc>
                <a:extLst>
                  <a:ext uri="{0D108BD9-81ED-4DB2-BD59-A6C34878D82A}">
                    <a16:rowId xmlns:a16="http://schemas.microsoft.com/office/drawing/2014/main" val="10002"/>
                  </a:ext>
                </a:extLst>
              </a:tr>
              <a:tr h="325813">
                <a:tc>
                  <a:txBody>
                    <a:bodyPr/>
                    <a:lstStyle/>
                    <a:p>
                      <a:pPr marL="0" lvl="0" indent="0" algn="ctr" rtl="0">
                        <a:spcBef>
                          <a:spcPts val="0"/>
                        </a:spcBef>
                        <a:spcAft>
                          <a:spcPts val="0"/>
                        </a:spcAft>
                        <a:buNone/>
                      </a:pPr>
                      <a:r>
                        <a:rPr lang="en" sz="2000"/>
                        <a:t>111</a:t>
                      </a:r>
                      <a:endParaRPr sz="2000"/>
                    </a:p>
                  </a:txBody>
                  <a:tcPr marL="121900" marR="121900" marT="121900" marB="121900">
                    <a:solidFill>
                      <a:srgbClr val="FFFF00"/>
                    </a:solidFill>
                  </a:tcPr>
                </a:tc>
                <a:tc>
                  <a:txBody>
                    <a:bodyPr/>
                    <a:lstStyle/>
                    <a:p>
                      <a:pPr marL="0" lvl="0" indent="0" algn="ctr" rtl="0">
                        <a:spcBef>
                          <a:spcPts val="0"/>
                        </a:spcBef>
                        <a:spcAft>
                          <a:spcPts val="0"/>
                        </a:spcAft>
                        <a:buNone/>
                      </a:pPr>
                      <a:r>
                        <a:rPr lang="en" sz="2000"/>
                        <a:t>281</a:t>
                      </a:r>
                      <a:endParaRPr sz="2000"/>
                    </a:p>
                  </a:txBody>
                  <a:tcPr marL="121900" marR="121900" marT="121900" marB="121900"/>
                </a:tc>
                <a:tc>
                  <a:txBody>
                    <a:bodyPr/>
                    <a:lstStyle/>
                    <a:p>
                      <a:pPr marL="0" lvl="0" indent="0" algn="ctr" rtl="0">
                        <a:spcBef>
                          <a:spcPts val="0"/>
                        </a:spcBef>
                        <a:spcAft>
                          <a:spcPts val="0"/>
                        </a:spcAft>
                        <a:buNone/>
                      </a:pPr>
                      <a:r>
                        <a:rPr lang="en" sz="2000" dirty="0"/>
                        <a:t>Algo</a:t>
                      </a:r>
                      <a:endParaRPr sz="2000" dirty="0"/>
                    </a:p>
                  </a:txBody>
                  <a:tcPr marL="121900" marR="121900" marT="121900" marB="121900"/>
                </a:tc>
                <a:tc>
                  <a:txBody>
                    <a:bodyPr/>
                    <a:lstStyle/>
                    <a:p>
                      <a:pPr marL="0" lvl="0" indent="0" algn="ctr" rtl="0">
                        <a:spcBef>
                          <a:spcPts val="0"/>
                        </a:spcBef>
                        <a:spcAft>
                          <a:spcPts val="0"/>
                        </a:spcAft>
                        <a:buNone/>
                      </a:pPr>
                      <a:r>
                        <a:rPr lang="en" sz="2000" dirty="0"/>
                        <a:t>85</a:t>
                      </a:r>
                      <a:endParaRPr sz="2000" dirty="0"/>
                    </a:p>
                  </a:txBody>
                  <a:tcPr marL="121900" marR="121900" marT="121900" marB="121900"/>
                </a:tc>
                <a:extLst>
                  <a:ext uri="{0D108BD9-81ED-4DB2-BD59-A6C34878D82A}">
                    <a16:rowId xmlns:a16="http://schemas.microsoft.com/office/drawing/2014/main" val="10003"/>
                  </a:ext>
                </a:extLst>
              </a:tr>
              <a:tr h="325813">
                <a:tc>
                  <a:txBody>
                    <a:bodyPr/>
                    <a:lstStyle/>
                    <a:p>
                      <a:pPr marL="0" lvl="0" indent="0" algn="ctr" rtl="0">
                        <a:spcBef>
                          <a:spcPts val="0"/>
                        </a:spcBef>
                        <a:spcAft>
                          <a:spcPts val="0"/>
                        </a:spcAft>
                        <a:buNone/>
                      </a:pPr>
                      <a:r>
                        <a:rPr lang="en" sz="2000"/>
                        <a:t>222</a:t>
                      </a:r>
                      <a:endParaRPr sz="2000"/>
                    </a:p>
                  </a:txBody>
                  <a:tcPr marL="121900" marR="121900" marT="121900" marB="121900">
                    <a:solidFill>
                      <a:srgbClr val="FFFF00"/>
                    </a:solidFill>
                  </a:tcPr>
                </a:tc>
                <a:tc>
                  <a:txBody>
                    <a:bodyPr/>
                    <a:lstStyle/>
                    <a:p>
                      <a:pPr marL="0" lvl="0" indent="0" algn="ctr" rtl="0">
                        <a:spcBef>
                          <a:spcPts val="0"/>
                        </a:spcBef>
                        <a:spcAft>
                          <a:spcPts val="0"/>
                        </a:spcAft>
                        <a:buNone/>
                      </a:pPr>
                      <a:r>
                        <a:rPr lang="en" sz="2000"/>
                        <a:t>281</a:t>
                      </a:r>
                      <a:endParaRPr sz="2000"/>
                    </a:p>
                  </a:txBody>
                  <a:tcPr marL="121900" marR="121900" marT="121900" marB="121900"/>
                </a:tc>
                <a:tc>
                  <a:txBody>
                    <a:bodyPr/>
                    <a:lstStyle/>
                    <a:p>
                      <a:pPr marL="0" lvl="0" indent="0" algn="ctr" rtl="0">
                        <a:spcBef>
                          <a:spcPts val="0"/>
                        </a:spcBef>
                        <a:spcAft>
                          <a:spcPts val="0"/>
                        </a:spcAft>
                        <a:buNone/>
                      </a:pPr>
                      <a:r>
                        <a:rPr lang="en" sz="2000"/>
                        <a:t>Algo</a:t>
                      </a:r>
                      <a:endParaRPr sz="2000"/>
                    </a:p>
                  </a:txBody>
                  <a:tcPr marL="121900" marR="121900" marT="121900" marB="121900"/>
                </a:tc>
                <a:tc>
                  <a:txBody>
                    <a:bodyPr/>
                    <a:lstStyle/>
                    <a:p>
                      <a:pPr marL="0" lvl="0" indent="0" algn="ctr" rtl="0">
                        <a:spcBef>
                          <a:spcPts val="0"/>
                        </a:spcBef>
                        <a:spcAft>
                          <a:spcPts val="0"/>
                        </a:spcAft>
                        <a:buNone/>
                      </a:pPr>
                      <a:r>
                        <a:rPr lang="en" sz="2000" dirty="0"/>
                        <a:t>78</a:t>
                      </a:r>
                      <a:endParaRPr sz="2000" dirty="0"/>
                    </a:p>
                  </a:txBody>
                  <a:tcPr marL="121900" marR="121900" marT="121900" marB="121900"/>
                </a:tc>
                <a:extLst>
                  <a:ext uri="{0D108BD9-81ED-4DB2-BD59-A6C34878D82A}">
                    <a16:rowId xmlns:a16="http://schemas.microsoft.com/office/drawing/2014/main" val="10004"/>
                  </a:ext>
                </a:extLst>
              </a:tr>
            </a:tbl>
          </a:graphicData>
        </a:graphic>
      </p:graphicFrame>
      <p:sp>
        <p:nvSpPr>
          <p:cNvPr id="399" name="Google Shape;399;p50"/>
          <p:cNvSpPr txBox="1"/>
          <p:nvPr/>
        </p:nvSpPr>
        <p:spPr>
          <a:xfrm>
            <a:off x="7142067" y="5010767"/>
            <a:ext cx="2272400" cy="403600"/>
          </a:xfrm>
          <a:prstGeom prst="rect">
            <a:avLst/>
          </a:prstGeom>
          <a:noFill/>
          <a:ln>
            <a:noFill/>
          </a:ln>
        </p:spPr>
        <p:txBody>
          <a:bodyPr spcFirstLastPara="1" wrap="square" lIns="121900" tIns="121900" rIns="121900" bIns="121900" anchor="t" anchorCtr="0">
            <a:noAutofit/>
          </a:bodyPr>
          <a:lstStyle/>
          <a:p>
            <a:r>
              <a:rPr lang="en" sz="2400" dirty="0">
                <a:latin typeface="Lato"/>
                <a:ea typeface="Lato"/>
                <a:cs typeface="Lato"/>
                <a:sym typeface="Lato"/>
              </a:rPr>
              <a:t>Primary Key</a:t>
            </a:r>
            <a:endParaRPr sz="2400" dirty="0">
              <a:latin typeface="Lato"/>
              <a:ea typeface="Lato"/>
              <a:cs typeface="Lato"/>
              <a:sym typeface="Lato"/>
            </a:endParaRPr>
          </a:p>
        </p:txBody>
      </p:sp>
      <p:cxnSp>
        <p:nvCxnSpPr>
          <p:cNvPr id="400" name="Google Shape;400;p50"/>
          <p:cNvCxnSpPr/>
          <p:nvPr/>
        </p:nvCxnSpPr>
        <p:spPr>
          <a:xfrm rot="10800000">
            <a:off x="6357500" y="4983667"/>
            <a:ext cx="811600" cy="230000"/>
          </a:xfrm>
          <a:prstGeom prst="straightConnector1">
            <a:avLst/>
          </a:prstGeom>
          <a:noFill/>
          <a:ln w="9525" cap="flat" cmpd="sng">
            <a:solidFill>
              <a:schemeClr val="dk2"/>
            </a:solidFill>
            <a:prstDash val="solid"/>
            <a:round/>
            <a:headEnd type="none" w="med" len="med"/>
            <a:tailEnd type="triangle" w="med" len="med"/>
          </a:ln>
        </p:spPr>
      </p:cxnSp>
      <p:sp>
        <p:nvSpPr>
          <p:cNvPr id="401" name="Google Shape;401;p50"/>
          <p:cNvSpPr txBox="1"/>
          <p:nvPr/>
        </p:nvSpPr>
        <p:spPr>
          <a:xfrm>
            <a:off x="630131" y="666571"/>
            <a:ext cx="2272400" cy="403600"/>
          </a:xfrm>
          <a:prstGeom prst="rect">
            <a:avLst/>
          </a:prstGeom>
          <a:noFill/>
          <a:ln>
            <a:noFill/>
          </a:ln>
        </p:spPr>
        <p:txBody>
          <a:bodyPr spcFirstLastPara="1" wrap="square" lIns="121900" tIns="121900" rIns="121900" bIns="121900" anchor="t" anchorCtr="0">
            <a:noAutofit/>
          </a:bodyPr>
          <a:lstStyle/>
          <a:p>
            <a:r>
              <a:rPr lang="en" sz="2400" dirty="0">
                <a:latin typeface="Lato"/>
                <a:ea typeface="Lato"/>
                <a:cs typeface="Lato"/>
                <a:sym typeface="Lato"/>
              </a:rPr>
              <a:t>Foreign Key</a:t>
            </a:r>
            <a:endParaRPr sz="2400" dirty="0">
              <a:latin typeface="Lato"/>
              <a:ea typeface="Lato"/>
              <a:cs typeface="Lato"/>
              <a:sym typeface="Lato"/>
            </a:endParaRPr>
          </a:p>
        </p:txBody>
      </p:sp>
      <p:cxnSp>
        <p:nvCxnSpPr>
          <p:cNvPr id="402" name="Google Shape;402;p50"/>
          <p:cNvCxnSpPr>
            <a:stCxn id="401" idx="2"/>
          </p:cNvCxnSpPr>
          <p:nvPr/>
        </p:nvCxnSpPr>
        <p:spPr>
          <a:xfrm>
            <a:off x="1766331" y="1070171"/>
            <a:ext cx="1338800" cy="597200"/>
          </a:xfrm>
          <a:prstGeom prst="straightConnector1">
            <a:avLst/>
          </a:prstGeom>
          <a:noFill/>
          <a:ln w="9525" cap="flat" cmpd="sng">
            <a:solidFill>
              <a:schemeClr val="dk2"/>
            </a:solidFill>
            <a:prstDash val="solid"/>
            <a:round/>
            <a:headEnd type="none" w="med" len="med"/>
            <a:tailEnd type="triangle" w="med" len="med"/>
          </a:ln>
        </p:spPr>
      </p:cxnSp>
      <p:sp>
        <p:nvSpPr>
          <p:cNvPr id="5" name="Slide Number Placeholder 4">
            <a:extLst>
              <a:ext uri="{FF2B5EF4-FFF2-40B4-BE49-F238E27FC236}">
                <a16:creationId xmlns:a16="http://schemas.microsoft.com/office/drawing/2014/main" id="{153CBE78-5EFC-EB47-A49F-E8FF278F1B32}"/>
              </a:ext>
            </a:extLst>
          </p:cNvPr>
          <p:cNvSpPr>
            <a:spLocks noGrp="1"/>
          </p:cNvSpPr>
          <p:nvPr>
            <p:ph type="sldNum" idx="12"/>
          </p:nvPr>
        </p:nvSpPr>
        <p:spPr/>
        <p:txBody>
          <a:bodyPr/>
          <a:lstStyle/>
          <a:p>
            <a:fld id="{00000000-1234-1234-1234-123412341234}" type="slidenum">
              <a:rPr lang="en" smtClean="0"/>
              <a:pPr/>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1"/>
          <p:cNvSpPr txBox="1">
            <a:spLocks noGrp="1"/>
          </p:cNvSpPr>
          <p:nvPr>
            <p:ph type="title"/>
          </p:nvPr>
        </p:nvSpPr>
        <p:spPr>
          <a:xfrm>
            <a:off x="970200" y="277716"/>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How to merge two tables ? - </a:t>
            </a:r>
            <a:r>
              <a:rPr lang="en" sz="3200" b="1" dirty="0">
                <a:solidFill>
                  <a:srgbClr val="FF0000"/>
                </a:solidFill>
                <a:latin typeface="+mn-lt"/>
                <a:ea typeface="+mn-ea"/>
                <a:cs typeface="+mn-cs"/>
              </a:rPr>
              <a:t>Option 1</a:t>
            </a:r>
            <a:r>
              <a:rPr lang="en" sz="3200" b="1" dirty="0">
                <a:solidFill>
                  <a:schemeClr val="tx1"/>
                </a:solidFill>
                <a:latin typeface="+mn-lt"/>
                <a:ea typeface="+mn-ea"/>
                <a:cs typeface="+mn-cs"/>
              </a:rPr>
              <a:t> </a:t>
            </a:r>
            <a:endParaRPr sz="3200" b="1" dirty="0">
              <a:solidFill>
                <a:schemeClr val="tx1"/>
              </a:solidFill>
              <a:latin typeface="+mn-lt"/>
              <a:ea typeface="+mn-ea"/>
              <a:cs typeface="+mn-cs"/>
            </a:endParaRPr>
          </a:p>
        </p:txBody>
      </p:sp>
      <p:sp>
        <p:nvSpPr>
          <p:cNvPr id="408" name="Google Shape;408;p51"/>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dirty="0"/>
          </a:p>
          <a:p>
            <a:pPr marL="0" indent="0">
              <a:spcBef>
                <a:spcPts val="1867"/>
              </a:spcBef>
              <a:spcAft>
                <a:spcPts val="2133"/>
              </a:spcAft>
              <a:buNone/>
            </a:pPr>
            <a:endParaRPr sz="1867" dirty="0"/>
          </a:p>
        </p:txBody>
      </p:sp>
      <p:sp>
        <p:nvSpPr>
          <p:cNvPr id="409" name="Google Shape;409;p51"/>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10" name="Google Shape;410;p51"/>
          <p:cNvSpPr txBox="1">
            <a:spLocks noGrp="1"/>
          </p:cNvSpPr>
          <p:nvPr>
            <p:ph type="body" idx="1"/>
          </p:nvPr>
        </p:nvSpPr>
        <p:spPr>
          <a:xfrm>
            <a:off x="967800" y="1934484"/>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FirstName, </a:t>
            </a:r>
            <a:r>
              <a:rPr lang="en" sz="2400" dirty="0" err="1"/>
              <a:t>CourseName</a:t>
            </a:r>
            <a:r>
              <a:rPr lang="en" sz="2400" dirty="0"/>
              <a:t>, Grade</a:t>
            </a:r>
            <a:endParaRPr sz="2400" dirty="0"/>
          </a:p>
          <a:p>
            <a:pPr marL="0" indent="0">
              <a:lnSpc>
                <a:spcPct val="150000"/>
              </a:lnSpc>
              <a:spcBef>
                <a:spcPts val="1333"/>
              </a:spcBef>
              <a:buFont typeface="Arial" panose="020B0604020202020204" pitchFamily="34" charset="0"/>
              <a:buNone/>
            </a:pPr>
            <a:r>
              <a:rPr lang="en" sz="2400" dirty="0"/>
              <a:t>FROM Students as S, Courses as C</a:t>
            </a:r>
            <a:endParaRPr sz="2400" dirty="0"/>
          </a:p>
          <a:p>
            <a:pPr marL="0" indent="0">
              <a:lnSpc>
                <a:spcPct val="150000"/>
              </a:lnSpc>
              <a:spcBef>
                <a:spcPts val="1333"/>
              </a:spcBef>
              <a:buFont typeface="Arial" panose="020B0604020202020204" pitchFamily="34" charset="0"/>
              <a:buNone/>
            </a:pPr>
            <a:r>
              <a:rPr lang="en" sz="2400" dirty="0"/>
              <a:t>Where (</a:t>
            </a:r>
            <a:r>
              <a:rPr lang="en" sz="2400" dirty="0" err="1"/>
              <a:t>S.StudentID</a:t>
            </a:r>
            <a:r>
              <a:rPr lang="en" sz="2400" dirty="0"/>
              <a:t> = </a:t>
            </a:r>
            <a:r>
              <a:rPr lang="en" sz="2400" dirty="0" err="1"/>
              <a:t>C.StudentID</a:t>
            </a:r>
            <a:r>
              <a:rPr lang="en" sz="2400" dirty="0"/>
              <a:t>) and (</a:t>
            </a:r>
            <a:r>
              <a:rPr lang="en" sz="2400" dirty="0" err="1"/>
              <a:t>C.CourseName</a:t>
            </a:r>
            <a:r>
              <a:rPr lang="en" sz="2400" dirty="0"/>
              <a:t> = ‘Algo’)</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411" name="Google Shape;411;p51"/>
          <p:cNvPicPr preferRelativeResize="0"/>
          <p:nvPr/>
        </p:nvPicPr>
        <p:blipFill>
          <a:blip r:embed="rId3">
            <a:alphaModFix/>
          </a:blip>
          <a:stretch>
            <a:fillRect/>
          </a:stretch>
        </p:blipFill>
        <p:spPr>
          <a:xfrm>
            <a:off x="10570800" y="1859800"/>
            <a:ext cx="713600" cy="713600"/>
          </a:xfrm>
          <a:prstGeom prst="rect">
            <a:avLst/>
          </a:prstGeom>
          <a:noFill/>
          <a:ln>
            <a:noFill/>
          </a:ln>
        </p:spPr>
      </p:pic>
      <p:sp>
        <p:nvSpPr>
          <p:cNvPr id="2" name="Slide Number Placeholder 1">
            <a:extLst>
              <a:ext uri="{FF2B5EF4-FFF2-40B4-BE49-F238E27FC236}">
                <a16:creationId xmlns:a16="http://schemas.microsoft.com/office/drawing/2014/main" id="{D65FE2C6-F4DD-AB48-A774-99AC7DD44958}"/>
              </a:ext>
            </a:extLst>
          </p:cNvPr>
          <p:cNvSpPr>
            <a:spLocks noGrp="1"/>
          </p:cNvSpPr>
          <p:nvPr>
            <p:ph type="sldNum" idx="12"/>
          </p:nvPr>
        </p:nvSpPr>
        <p:spPr/>
        <p:txBody>
          <a:bodyPr/>
          <a:lstStyle/>
          <a:p>
            <a:fld id="{00000000-1234-1234-1234-123412341234}" type="slidenum">
              <a:rPr lang="en" smtClean="0"/>
              <a:pPr/>
              <a:t>7</a:t>
            </a:fld>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2"/>
          <p:cNvSpPr txBox="1">
            <a:spLocks noGrp="1"/>
          </p:cNvSpPr>
          <p:nvPr>
            <p:ph type="title"/>
          </p:nvPr>
        </p:nvSpPr>
        <p:spPr>
          <a:xfrm>
            <a:off x="970200" y="277716"/>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How to merge two tables ? - </a:t>
            </a:r>
            <a:r>
              <a:rPr lang="en" sz="3200" b="1" dirty="0">
                <a:solidFill>
                  <a:srgbClr val="FF0000"/>
                </a:solidFill>
                <a:latin typeface="+mn-lt"/>
                <a:ea typeface="+mn-ea"/>
                <a:cs typeface="+mn-cs"/>
              </a:rPr>
              <a:t>Option 2</a:t>
            </a:r>
            <a:endParaRPr sz="3200" b="1" dirty="0">
              <a:solidFill>
                <a:srgbClr val="FF0000"/>
              </a:solidFill>
              <a:latin typeface="+mn-lt"/>
              <a:ea typeface="+mn-ea"/>
              <a:cs typeface="+mn-cs"/>
            </a:endParaRPr>
          </a:p>
        </p:txBody>
      </p:sp>
      <p:sp>
        <p:nvSpPr>
          <p:cNvPr id="417" name="Google Shape;417;p52"/>
          <p:cNvSpPr txBox="1">
            <a:spLocks noGrp="1"/>
          </p:cNvSpPr>
          <p:nvPr>
            <p:ph type="body" idx="1"/>
          </p:nvPr>
        </p:nvSpPr>
        <p:spPr>
          <a:xfrm>
            <a:off x="967800" y="1566000"/>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dirty="0"/>
          </a:p>
          <a:p>
            <a:pPr marL="0" indent="0">
              <a:spcBef>
                <a:spcPts val="1867"/>
              </a:spcBef>
              <a:spcAft>
                <a:spcPts val="2133"/>
              </a:spcAft>
              <a:buNone/>
            </a:pPr>
            <a:endParaRPr sz="1867" dirty="0"/>
          </a:p>
        </p:txBody>
      </p:sp>
      <p:sp>
        <p:nvSpPr>
          <p:cNvPr id="418" name="Google Shape;418;p52"/>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19" name="Google Shape;419;p52"/>
          <p:cNvSpPr txBox="1">
            <a:spLocks noGrp="1"/>
          </p:cNvSpPr>
          <p:nvPr>
            <p:ph type="body" idx="1"/>
          </p:nvPr>
        </p:nvSpPr>
        <p:spPr>
          <a:xfrm>
            <a:off x="967800" y="1591067"/>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FirstName, </a:t>
            </a:r>
            <a:r>
              <a:rPr lang="en" sz="2400" dirty="0" err="1"/>
              <a:t>CourseName</a:t>
            </a:r>
            <a:r>
              <a:rPr lang="en" sz="2400" dirty="0"/>
              <a:t>, Grade</a:t>
            </a:r>
            <a:endParaRPr sz="2400" dirty="0"/>
          </a:p>
          <a:p>
            <a:pPr marL="0" indent="0">
              <a:lnSpc>
                <a:spcPct val="150000"/>
              </a:lnSpc>
              <a:spcBef>
                <a:spcPts val="1333"/>
              </a:spcBef>
              <a:buFont typeface="Arial" panose="020B0604020202020204" pitchFamily="34" charset="0"/>
              <a:buNone/>
            </a:pPr>
            <a:r>
              <a:rPr lang="en" sz="2400" dirty="0"/>
              <a:t>FROM Students as S JOIN Courses as C</a:t>
            </a:r>
            <a:endParaRPr sz="2400" dirty="0"/>
          </a:p>
          <a:p>
            <a:pPr marL="0" indent="0">
              <a:lnSpc>
                <a:spcPct val="150000"/>
              </a:lnSpc>
              <a:spcBef>
                <a:spcPts val="1333"/>
              </a:spcBef>
              <a:buFont typeface="Arial" panose="020B0604020202020204" pitchFamily="34" charset="0"/>
              <a:buNone/>
            </a:pPr>
            <a:r>
              <a:rPr lang="en" sz="2400" dirty="0"/>
              <a:t>ON </a:t>
            </a:r>
            <a:r>
              <a:rPr lang="en" sz="2400" dirty="0" err="1"/>
              <a:t>S.StudentID</a:t>
            </a:r>
            <a:r>
              <a:rPr lang="en" sz="2400" dirty="0"/>
              <a:t> = </a:t>
            </a:r>
            <a:r>
              <a:rPr lang="en" sz="2400" dirty="0" err="1"/>
              <a:t>C.StudentID</a:t>
            </a:r>
            <a:r>
              <a:rPr lang="en" sz="2400" dirty="0"/>
              <a:t>         </a:t>
            </a:r>
            <a:endParaRPr sz="2400" dirty="0"/>
          </a:p>
          <a:p>
            <a:pPr marL="0" indent="0">
              <a:lnSpc>
                <a:spcPct val="150000"/>
              </a:lnSpc>
              <a:spcBef>
                <a:spcPts val="1333"/>
              </a:spcBef>
              <a:buFont typeface="Arial" panose="020B0604020202020204" pitchFamily="34" charset="0"/>
              <a:buNone/>
            </a:pPr>
            <a:r>
              <a:rPr lang="en" sz="2400" dirty="0"/>
              <a:t>Where (</a:t>
            </a:r>
            <a:r>
              <a:rPr lang="en" sz="2400" dirty="0" err="1"/>
              <a:t>C.CourseName</a:t>
            </a:r>
            <a:r>
              <a:rPr lang="en" sz="2400" dirty="0"/>
              <a:t> = ‘Algo’)</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421" name="Google Shape;421;p52"/>
          <p:cNvPicPr preferRelativeResize="0"/>
          <p:nvPr/>
        </p:nvPicPr>
        <p:blipFill>
          <a:blip r:embed="rId3">
            <a:alphaModFix/>
          </a:blip>
          <a:stretch>
            <a:fillRect/>
          </a:stretch>
        </p:blipFill>
        <p:spPr>
          <a:xfrm>
            <a:off x="10593534" y="1766234"/>
            <a:ext cx="818732" cy="818732"/>
          </a:xfrm>
          <a:prstGeom prst="rect">
            <a:avLst/>
          </a:prstGeom>
          <a:noFill/>
          <a:ln>
            <a:noFill/>
          </a:ln>
        </p:spPr>
      </p:pic>
      <p:sp>
        <p:nvSpPr>
          <p:cNvPr id="2" name="Slide Number Placeholder 1">
            <a:extLst>
              <a:ext uri="{FF2B5EF4-FFF2-40B4-BE49-F238E27FC236}">
                <a16:creationId xmlns:a16="http://schemas.microsoft.com/office/drawing/2014/main" id="{7FF89D2D-3B27-B449-8B96-AC75486194E0}"/>
              </a:ext>
            </a:extLst>
          </p:cNvPr>
          <p:cNvSpPr>
            <a:spLocks noGrp="1"/>
          </p:cNvSpPr>
          <p:nvPr>
            <p:ph type="sldNum" idx="12"/>
          </p:nvPr>
        </p:nvSpPr>
        <p:spPr/>
        <p:txBody>
          <a:bodyPr/>
          <a:lstStyle/>
          <a:p>
            <a:fld id="{00000000-1234-1234-1234-123412341234}" type="slidenum">
              <a:rPr lang="en" smtClean="0"/>
              <a:pPr/>
              <a:t>8</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3"/>
          <p:cNvSpPr txBox="1">
            <a:spLocks noGrp="1"/>
          </p:cNvSpPr>
          <p:nvPr>
            <p:ph type="title"/>
          </p:nvPr>
        </p:nvSpPr>
        <p:spPr>
          <a:xfrm>
            <a:off x="970200" y="3577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ON VS. USING</a:t>
            </a:r>
            <a:endParaRPr sz="3200" b="1" dirty="0">
              <a:solidFill>
                <a:schemeClr val="tx1"/>
              </a:solidFill>
              <a:latin typeface="+mn-lt"/>
              <a:ea typeface="+mn-ea"/>
              <a:cs typeface="+mn-cs"/>
            </a:endParaRPr>
          </a:p>
        </p:txBody>
      </p:sp>
      <p:sp>
        <p:nvSpPr>
          <p:cNvPr id="427" name="Google Shape;427;p53"/>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28" name="Google Shape;428;p53"/>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29" name="Google Shape;429;p53"/>
          <p:cNvSpPr txBox="1">
            <a:spLocks noGrp="1"/>
          </p:cNvSpPr>
          <p:nvPr>
            <p:ph type="body" idx="1"/>
          </p:nvPr>
        </p:nvSpPr>
        <p:spPr>
          <a:xfrm>
            <a:off x="967800" y="1439333"/>
            <a:ext cx="10256400" cy="4347300"/>
          </a:xfrm>
          <a:prstGeom prst="rect">
            <a:avLst/>
          </a:prstGeom>
        </p:spPr>
        <p:txBody>
          <a:bodyPr spcFirstLastPara="1" vert="horz" wrap="square" lIns="121900" tIns="121900" rIns="121900" bIns="121900" rtlCol="0" anchor="t" anchorCtr="0">
            <a:noAutofit/>
          </a:bodyPr>
          <a:lstStyle/>
          <a:p>
            <a:pPr indent="-423323">
              <a:lnSpc>
                <a:spcPct val="150000"/>
              </a:lnSpc>
              <a:buFont typeface="Arial" panose="020B0604020202020204" pitchFamily="34" charset="0"/>
              <a:buChar char="➔"/>
            </a:pPr>
            <a:r>
              <a:rPr lang="en" sz="2400" dirty="0"/>
              <a:t>When using JOIN statement we need to understand according to which column we want to join the tables.</a:t>
            </a:r>
            <a:endParaRPr sz="2400" dirty="0"/>
          </a:p>
          <a:p>
            <a:pPr indent="-423323">
              <a:lnSpc>
                <a:spcPct val="150000"/>
              </a:lnSpc>
              <a:spcBef>
                <a:spcPts val="1333"/>
              </a:spcBef>
              <a:buFont typeface="Arial" panose="020B0604020202020204" pitchFamily="34" charset="0"/>
              <a:buChar char="➔"/>
            </a:pPr>
            <a:r>
              <a:rPr lang="en" sz="2400" dirty="0"/>
              <a:t>We will use ON when the columns name is not equal.</a:t>
            </a:r>
            <a:endParaRPr sz="2400" dirty="0"/>
          </a:p>
          <a:p>
            <a:pPr indent="-423323">
              <a:lnSpc>
                <a:spcPct val="150000"/>
              </a:lnSpc>
              <a:spcBef>
                <a:spcPts val="1333"/>
              </a:spcBef>
              <a:buFont typeface="Arial" panose="020B0604020202020204" pitchFamily="34" charset="0"/>
              <a:buChar char="➔"/>
            </a:pPr>
            <a:r>
              <a:rPr lang="en" sz="2400" dirty="0"/>
              <a:t>We will use USING when the columns name is equal.</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2" name="Slide Number Placeholder 1">
            <a:extLst>
              <a:ext uri="{FF2B5EF4-FFF2-40B4-BE49-F238E27FC236}">
                <a16:creationId xmlns:a16="http://schemas.microsoft.com/office/drawing/2014/main" id="{FC87667D-9F74-4E40-A14A-D42CFFE3595A}"/>
              </a:ext>
            </a:extLst>
          </p:cNvPr>
          <p:cNvSpPr>
            <a:spLocks noGrp="1"/>
          </p:cNvSpPr>
          <p:nvPr>
            <p:ph type="sldNum" idx="12"/>
          </p:nvPr>
        </p:nvSpPr>
        <p:spPr/>
        <p:txBody>
          <a:bodyPr/>
          <a:lstStyle/>
          <a:p>
            <a:fld id="{00000000-1234-1234-1234-123412341234}" type="slidenum">
              <a:rPr lang="en" smtClean="0"/>
              <a:pPr/>
              <a:t>9</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4"/>
          <p:cNvSpPr txBox="1">
            <a:spLocks noGrp="1"/>
          </p:cNvSpPr>
          <p:nvPr>
            <p:ph type="title"/>
          </p:nvPr>
        </p:nvSpPr>
        <p:spPr>
          <a:xfrm>
            <a:off x="896400" y="4097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How to merge two tables ? - </a:t>
            </a:r>
            <a:r>
              <a:rPr lang="en" sz="3200" b="1" dirty="0">
                <a:solidFill>
                  <a:schemeClr val="accent6"/>
                </a:solidFill>
                <a:latin typeface="+mn-lt"/>
                <a:ea typeface="+mn-ea"/>
                <a:cs typeface="+mn-cs"/>
              </a:rPr>
              <a:t>Option 3</a:t>
            </a:r>
            <a:endParaRPr sz="3200" b="1" dirty="0">
              <a:solidFill>
                <a:schemeClr val="accent6"/>
              </a:solidFill>
              <a:latin typeface="+mn-lt"/>
              <a:ea typeface="+mn-ea"/>
              <a:cs typeface="+mn-cs"/>
            </a:endParaRPr>
          </a:p>
        </p:txBody>
      </p:sp>
      <p:sp>
        <p:nvSpPr>
          <p:cNvPr id="435" name="Google Shape;435;p54"/>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36" name="Google Shape;436;p54"/>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37" name="Google Shape;437;p54"/>
          <p:cNvSpPr txBox="1">
            <a:spLocks noGrp="1"/>
          </p:cNvSpPr>
          <p:nvPr>
            <p:ph type="body" idx="1"/>
          </p:nvPr>
        </p:nvSpPr>
        <p:spPr>
          <a:xfrm>
            <a:off x="896400" y="1791667"/>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FirstName, </a:t>
            </a:r>
            <a:r>
              <a:rPr lang="en" sz="2400" dirty="0" err="1"/>
              <a:t>CourseName</a:t>
            </a:r>
            <a:r>
              <a:rPr lang="en" sz="2400" dirty="0"/>
              <a:t>, Grade</a:t>
            </a:r>
            <a:endParaRPr sz="2400" dirty="0"/>
          </a:p>
          <a:p>
            <a:pPr marL="0" indent="0">
              <a:lnSpc>
                <a:spcPct val="150000"/>
              </a:lnSpc>
              <a:spcBef>
                <a:spcPts val="1333"/>
              </a:spcBef>
              <a:buFont typeface="Arial" panose="020B0604020202020204" pitchFamily="34" charset="0"/>
              <a:buNone/>
            </a:pPr>
            <a:r>
              <a:rPr lang="en" sz="2400" dirty="0"/>
              <a:t>FROM Students JOIN Courses </a:t>
            </a:r>
            <a:endParaRPr sz="2400" dirty="0"/>
          </a:p>
          <a:p>
            <a:pPr marL="0" indent="0">
              <a:lnSpc>
                <a:spcPct val="150000"/>
              </a:lnSpc>
              <a:spcBef>
                <a:spcPts val="1333"/>
              </a:spcBef>
              <a:buFont typeface="Arial" panose="020B0604020202020204" pitchFamily="34" charset="0"/>
              <a:buNone/>
            </a:pPr>
            <a:r>
              <a:rPr lang="en" sz="2400" dirty="0"/>
              <a:t>USING (</a:t>
            </a:r>
            <a:r>
              <a:rPr lang="en" sz="2400" dirty="0" err="1"/>
              <a:t>StudentID</a:t>
            </a:r>
            <a:r>
              <a:rPr lang="en" sz="2400" dirty="0"/>
              <a:t>)         </a:t>
            </a:r>
            <a:endParaRPr sz="2400" dirty="0"/>
          </a:p>
          <a:p>
            <a:pPr marL="0" indent="0">
              <a:lnSpc>
                <a:spcPct val="150000"/>
              </a:lnSpc>
              <a:spcBef>
                <a:spcPts val="1333"/>
              </a:spcBef>
              <a:buFont typeface="Arial" panose="020B0604020202020204" pitchFamily="34" charset="0"/>
              <a:buNone/>
            </a:pPr>
            <a:r>
              <a:rPr lang="en" sz="2400" dirty="0"/>
              <a:t>Where (</a:t>
            </a:r>
            <a:r>
              <a:rPr lang="en" sz="2400" dirty="0" err="1"/>
              <a:t>CourseName</a:t>
            </a:r>
            <a:r>
              <a:rPr lang="en" sz="2400" dirty="0"/>
              <a:t> = ‘Algo’)</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438" name="Google Shape;438;p54"/>
          <p:cNvPicPr preferRelativeResize="0"/>
          <p:nvPr/>
        </p:nvPicPr>
        <p:blipFill>
          <a:blip r:embed="rId3">
            <a:alphaModFix/>
          </a:blip>
          <a:stretch>
            <a:fillRect/>
          </a:stretch>
        </p:blipFill>
        <p:spPr>
          <a:xfrm>
            <a:off x="5591334" y="4093484"/>
            <a:ext cx="5141999" cy="818733"/>
          </a:xfrm>
          <a:prstGeom prst="rect">
            <a:avLst/>
          </a:prstGeom>
          <a:noFill/>
          <a:ln>
            <a:noFill/>
          </a:ln>
        </p:spPr>
      </p:pic>
      <p:pic>
        <p:nvPicPr>
          <p:cNvPr id="439" name="Google Shape;439;p54"/>
          <p:cNvPicPr preferRelativeResize="0"/>
          <p:nvPr/>
        </p:nvPicPr>
        <p:blipFill>
          <a:blip r:embed="rId4">
            <a:alphaModFix/>
          </a:blip>
          <a:stretch>
            <a:fillRect/>
          </a:stretch>
        </p:blipFill>
        <p:spPr>
          <a:xfrm>
            <a:off x="10524000" y="1758200"/>
            <a:ext cx="891000" cy="891000"/>
          </a:xfrm>
          <a:prstGeom prst="rect">
            <a:avLst/>
          </a:prstGeom>
          <a:noFill/>
          <a:ln>
            <a:noFill/>
          </a:ln>
        </p:spPr>
      </p:pic>
      <p:sp>
        <p:nvSpPr>
          <p:cNvPr id="2" name="Slide Number Placeholder 1">
            <a:extLst>
              <a:ext uri="{FF2B5EF4-FFF2-40B4-BE49-F238E27FC236}">
                <a16:creationId xmlns:a16="http://schemas.microsoft.com/office/drawing/2014/main" id="{93CB6F94-E4B8-AD4E-B2B1-50BA77A8BCC6}"/>
              </a:ext>
            </a:extLst>
          </p:cNvPr>
          <p:cNvSpPr>
            <a:spLocks noGrp="1"/>
          </p:cNvSpPr>
          <p:nvPr>
            <p:ph type="sldNum" idx="12"/>
          </p:nvPr>
        </p:nvSpPr>
        <p:spPr/>
        <p:txBody>
          <a:bodyPr/>
          <a:lstStyle/>
          <a:p>
            <a:fld id="{00000000-1234-1234-1234-123412341234}" type="slidenum">
              <a:rPr lang="en" smtClean="0"/>
              <a:pPr/>
              <a:t>10</a:t>
            </a:fld>
            <a:endParaRPr lang="e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56"/>
          <p:cNvSpPr txBox="1">
            <a:spLocks noGrp="1"/>
          </p:cNvSpPr>
          <p:nvPr>
            <p:ph type="title"/>
          </p:nvPr>
        </p:nvSpPr>
        <p:spPr>
          <a:xfrm>
            <a:off x="972600" y="529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JOIN Types </a:t>
            </a:r>
            <a:endParaRPr sz="3200" b="1" dirty="0">
              <a:solidFill>
                <a:schemeClr val="tx1"/>
              </a:solidFill>
              <a:latin typeface="+mn-lt"/>
              <a:ea typeface="+mn-ea"/>
              <a:cs typeface="+mn-cs"/>
            </a:endParaRPr>
          </a:p>
        </p:txBody>
      </p:sp>
      <p:sp>
        <p:nvSpPr>
          <p:cNvPr id="450" name="Google Shape;450;p56"/>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51" name="Google Shape;451;p56"/>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52" name="Google Shape;452;p56"/>
          <p:cNvSpPr txBox="1">
            <a:spLocks noGrp="1"/>
          </p:cNvSpPr>
          <p:nvPr>
            <p:ph type="body" idx="1"/>
          </p:nvPr>
        </p:nvSpPr>
        <p:spPr>
          <a:xfrm>
            <a:off x="970200" y="1053100"/>
            <a:ext cx="10251600" cy="3014800"/>
          </a:xfrm>
          <a:prstGeom prst="rect">
            <a:avLst/>
          </a:prstGeom>
        </p:spPr>
        <p:txBody>
          <a:bodyPr spcFirstLastPara="1" vert="horz" wrap="square" lIns="121900" tIns="121900" rIns="121900" bIns="121900" rtlCol="0" anchor="t" anchorCtr="0">
            <a:noAutofit/>
          </a:bodyPr>
          <a:lstStyle/>
          <a:p>
            <a:pPr indent="-423323">
              <a:lnSpc>
                <a:spcPct val="150000"/>
              </a:lnSpc>
              <a:buFont typeface="Arial" panose="020B0604020202020204" pitchFamily="34" charset="0"/>
              <a:buChar char="➔"/>
            </a:pPr>
            <a:r>
              <a:rPr lang="en" sz="2400" dirty="0"/>
              <a:t>INNER JOIN</a:t>
            </a:r>
            <a:endParaRPr sz="2400" dirty="0"/>
          </a:p>
          <a:p>
            <a:pPr indent="-423323">
              <a:lnSpc>
                <a:spcPct val="150000"/>
              </a:lnSpc>
              <a:spcBef>
                <a:spcPts val="1333"/>
              </a:spcBef>
              <a:buFont typeface="Arial" panose="020B0604020202020204" pitchFamily="34" charset="0"/>
              <a:buChar char="➔"/>
            </a:pPr>
            <a:r>
              <a:rPr lang="en" sz="2400" dirty="0"/>
              <a:t>OUTER JOIN</a:t>
            </a:r>
            <a:endParaRPr sz="2400" dirty="0"/>
          </a:p>
          <a:p>
            <a:pPr lvl="1" indent="-423323">
              <a:lnSpc>
                <a:spcPct val="150000"/>
              </a:lnSpc>
              <a:spcBef>
                <a:spcPts val="1333"/>
              </a:spcBef>
              <a:buSzPts val="1300"/>
              <a:buFont typeface="Arial" panose="020B0604020202020204" pitchFamily="34" charset="0"/>
              <a:buChar char="◆"/>
            </a:pPr>
            <a:r>
              <a:rPr lang="en" dirty="0"/>
              <a:t>LEFT OUTER JOIN</a:t>
            </a:r>
            <a:endParaRPr dirty="0"/>
          </a:p>
          <a:p>
            <a:pPr lvl="1" indent="-423323">
              <a:lnSpc>
                <a:spcPct val="150000"/>
              </a:lnSpc>
              <a:spcBef>
                <a:spcPts val="1333"/>
              </a:spcBef>
              <a:buSzPts val="1300"/>
              <a:buFont typeface="Arial" panose="020B0604020202020204" pitchFamily="34" charset="0"/>
              <a:buChar char="◆"/>
            </a:pPr>
            <a:r>
              <a:rPr lang="en" dirty="0"/>
              <a:t>RIGHT OUTER JOIN</a:t>
            </a:r>
            <a:endParaRPr dirty="0"/>
          </a:p>
          <a:p>
            <a:pPr lvl="1" indent="-423323">
              <a:lnSpc>
                <a:spcPct val="150000"/>
              </a:lnSpc>
              <a:spcBef>
                <a:spcPts val="1333"/>
              </a:spcBef>
              <a:buSzPts val="1300"/>
              <a:buFont typeface="Arial" panose="020B0604020202020204" pitchFamily="34" charset="0"/>
              <a:buChar char="◆"/>
            </a:pPr>
            <a:r>
              <a:rPr lang="en" dirty="0"/>
              <a:t>FULL OUTER JOIN</a:t>
            </a:r>
            <a:endParaRPr dirty="0"/>
          </a:p>
          <a:p>
            <a:pPr marL="0" indent="0">
              <a:lnSpc>
                <a:spcPct val="150000"/>
              </a:lnSpc>
              <a:spcBef>
                <a:spcPts val="1333"/>
              </a:spcBef>
              <a:spcAft>
                <a:spcPts val="1333"/>
              </a:spcAft>
              <a:buFont typeface="Arial" panose="020B0604020202020204" pitchFamily="34" charset="0"/>
              <a:buNone/>
            </a:pPr>
            <a:endParaRPr sz="2400" dirty="0"/>
          </a:p>
        </p:txBody>
      </p:sp>
      <p:sp>
        <p:nvSpPr>
          <p:cNvPr id="2" name="Slide Number Placeholder 1">
            <a:extLst>
              <a:ext uri="{FF2B5EF4-FFF2-40B4-BE49-F238E27FC236}">
                <a16:creationId xmlns:a16="http://schemas.microsoft.com/office/drawing/2014/main" id="{415A5347-5E5C-4443-9D19-26ECEA999B6E}"/>
              </a:ext>
            </a:extLst>
          </p:cNvPr>
          <p:cNvSpPr>
            <a:spLocks noGrp="1"/>
          </p:cNvSpPr>
          <p:nvPr>
            <p:ph type="sldNum" idx="12"/>
          </p:nvPr>
        </p:nvSpPr>
        <p:spPr/>
        <p:txBody>
          <a:bodyPr/>
          <a:lstStyle/>
          <a:p>
            <a:fld id="{00000000-1234-1234-1234-123412341234}" type="slidenum">
              <a:rPr lang="en" smtClean="0"/>
              <a:pPr/>
              <a:t>11</a:t>
            </a:fld>
            <a:endParaRPr lang="e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7"/>
          <p:cNvSpPr txBox="1">
            <a:spLocks noGrp="1"/>
          </p:cNvSpPr>
          <p:nvPr>
            <p:ph type="title"/>
          </p:nvPr>
        </p:nvSpPr>
        <p:spPr>
          <a:xfrm>
            <a:off x="972600" y="193299"/>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Let’s start with an example..</a:t>
            </a:r>
            <a:endParaRPr sz="3200" b="1" dirty="0">
              <a:solidFill>
                <a:schemeClr val="tx1"/>
              </a:solidFill>
              <a:latin typeface="+mn-lt"/>
              <a:ea typeface="+mn-ea"/>
              <a:cs typeface="+mn-cs"/>
            </a:endParaRPr>
          </a:p>
        </p:txBody>
      </p:sp>
      <p:sp>
        <p:nvSpPr>
          <p:cNvPr id="458" name="Google Shape;458;p57"/>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59" name="Google Shape;459;p57"/>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60" name="Google Shape;460;p57"/>
          <p:cNvSpPr txBox="1">
            <a:spLocks noGrp="1"/>
          </p:cNvSpPr>
          <p:nvPr>
            <p:ph type="body" idx="1"/>
          </p:nvPr>
        </p:nvSpPr>
        <p:spPr>
          <a:xfrm>
            <a:off x="872067" y="1972733"/>
            <a:ext cx="10352133" cy="38139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Given 2 Table called R1, R2:</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pic>
        <p:nvPicPr>
          <p:cNvPr id="461" name="Google Shape;461;p57"/>
          <p:cNvPicPr preferRelativeResize="0"/>
          <p:nvPr/>
        </p:nvPicPr>
        <p:blipFill>
          <a:blip r:embed="rId3">
            <a:alphaModFix/>
          </a:blip>
          <a:stretch>
            <a:fillRect/>
          </a:stretch>
        </p:blipFill>
        <p:spPr>
          <a:xfrm>
            <a:off x="1107801" y="3705334"/>
            <a:ext cx="4385999" cy="2025133"/>
          </a:xfrm>
          <a:prstGeom prst="rect">
            <a:avLst/>
          </a:prstGeom>
          <a:noFill/>
          <a:ln>
            <a:noFill/>
          </a:ln>
        </p:spPr>
      </p:pic>
      <p:sp>
        <p:nvSpPr>
          <p:cNvPr id="462" name="Google Shape;462;p57"/>
          <p:cNvSpPr txBox="1"/>
          <p:nvPr/>
        </p:nvSpPr>
        <p:spPr>
          <a:xfrm>
            <a:off x="6183000" y="3437333"/>
            <a:ext cx="3010400" cy="403600"/>
          </a:xfrm>
          <a:prstGeom prst="rect">
            <a:avLst/>
          </a:prstGeom>
          <a:noFill/>
          <a:ln>
            <a:noFill/>
          </a:ln>
        </p:spPr>
        <p:txBody>
          <a:bodyPr spcFirstLastPara="1" wrap="square" lIns="121900" tIns="121900" rIns="121900" bIns="121900" anchor="t" anchorCtr="0">
            <a:noAutofit/>
          </a:bodyPr>
          <a:lstStyle/>
          <a:p>
            <a:r>
              <a:rPr lang="en" sz="2400">
                <a:latin typeface="Lato"/>
                <a:ea typeface="Lato"/>
                <a:cs typeface="Lato"/>
                <a:sym typeface="Lato"/>
              </a:rPr>
              <a:t>Mutual column is “Name”</a:t>
            </a:r>
            <a:endParaRPr sz="2400">
              <a:latin typeface="Lato"/>
              <a:ea typeface="Lato"/>
              <a:cs typeface="Lato"/>
              <a:sym typeface="Lato"/>
            </a:endParaRPr>
          </a:p>
        </p:txBody>
      </p:sp>
      <p:cxnSp>
        <p:nvCxnSpPr>
          <p:cNvPr id="463" name="Google Shape;463;p57"/>
          <p:cNvCxnSpPr/>
          <p:nvPr/>
        </p:nvCxnSpPr>
        <p:spPr>
          <a:xfrm flipH="1">
            <a:off x="4738600" y="3639133"/>
            <a:ext cx="1444400" cy="410800"/>
          </a:xfrm>
          <a:prstGeom prst="straightConnector1">
            <a:avLst/>
          </a:prstGeom>
          <a:noFill/>
          <a:ln w="9525" cap="flat" cmpd="sng">
            <a:solidFill>
              <a:schemeClr val="dk2"/>
            </a:solidFill>
            <a:prstDash val="solid"/>
            <a:round/>
            <a:headEnd type="none" w="med" len="med"/>
            <a:tailEnd type="triangle" w="med" len="med"/>
          </a:ln>
        </p:spPr>
      </p:cxnSp>
      <p:cxnSp>
        <p:nvCxnSpPr>
          <p:cNvPr id="464" name="Google Shape;464;p57"/>
          <p:cNvCxnSpPr>
            <a:stCxn id="462" idx="1"/>
          </p:cNvCxnSpPr>
          <p:nvPr/>
        </p:nvCxnSpPr>
        <p:spPr>
          <a:xfrm flipH="1">
            <a:off x="2578600" y="3639133"/>
            <a:ext cx="3604400" cy="276000"/>
          </a:xfrm>
          <a:prstGeom prst="straightConnector1">
            <a:avLst/>
          </a:prstGeom>
          <a:noFill/>
          <a:ln w="9525" cap="flat" cmpd="sng">
            <a:solidFill>
              <a:schemeClr val="dk2"/>
            </a:solidFill>
            <a:prstDash val="solid"/>
            <a:round/>
            <a:headEnd type="none" w="med" len="med"/>
            <a:tailEnd type="triangle" w="med" len="med"/>
          </a:ln>
        </p:spPr>
      </p:cxnSp>
      <p:sp>
        <p:nvSpPr>
          <p:cNvPr id="2" name="Slide Number Placeholder 1">
            <a:extLst>
              <a:ext uri="{FF2B5EF4-FFF2-40B4-BE49-F238E27FC236}">
                <a16:creationId xmlns:a16="http://schemas.microsoft.com/office/drawing/2014/main" id="{71AD432C-F86C-9B45-8EBD-37C8889169D3}"/>
              </a:ext>
            </a:extLst>
          </p:cNvPr>
          <p:cNvSpPr>
            <a:spLocks noGrp="1"/>
          </p:cNvSpPr>
          <p:nvPr>
            <p:ph type="sldNum" idx="12"/>
          </p:nvPr>
        </p:nvSpPr>
        <p:spPr/>
        <p:txBody>
          <a:bodyPr/>
          <a:lstStyle/>
          <a:p>
            <a:fld id="{00000000-1234-1234-1234-123412341234}" type="slidenum">
              <a:rPr lang="en" smtClean="0"/>
              <a:pPr/>
              <a:t>12</a:t>
            </a:fld>
            <a:endParaRPr lang="e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8"/>
          <p:cNvSpPr txBox="1">
            <a:spLocks noGrp="1"/>
          </p:cNvSpPr>
          <p:nvPr>
            <p:ph type="title"/>
          </p:nvPr>
        </p:nvSpPr>
        <p:spPr>
          <a:xfrm>
            <a:off x="887933" y="302533"/>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LEFT OUTER JOIN</a:t>
            </a:r>
            <a:endParaRPr sz="3200" b="1" dirty="0">
              <a:solidFill>
                <a:schemeClr val="tx1"/>
              </a:solidFill>
              <a:latin typeface="+mn-lt"/>
              <a:ea typeface="+mn-ea"/>
              <a:cs typeface="+mn-cs"/>
            </a:endParaRPr>
          </a:p>
        </p:txBody>
      </p:sp>
      <p:sp>
        <p:nvSpPr>
          <p:cNvPr id="470" name="Google Shape;470;p58"/>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71" name="Google Shape;471;p58"/>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pic>
        <p:nvPicPr>
          <p:cNvPr id="472" name="Google Shape;472;p58"/>
          <p:cNvPicPr preferRelativeResize="0"/>
          <p:nvPr/>
        </p:nvPicPr>
        <p:blipFill>
          <a:blip r:embed="rId3">
            <a:alphaModFix/>
          </a:blip>
          <a:stretch>
            <a:fillRect/>
          </a:stretch>
        </p:blipFill>
        <p:spPr>
          <a:xfrm>
            <a:off x="6994700" y="2524284"/>
            <a:ext cx="3387000" cy="1607533"/>
          </a:xfrm>
          <a:prstGeom prst="rect">
            <a:avLst/>
          </a:prstGeom>
          <a:noFill/>
          <a:ln>
            <a:noFill/>
          </a:ln>
        </p:spPr>
      </p:pic>
      <p:sp>
        <p:nvSpPr>
          <p:cNvPr id="473" name="Google Shape;473;p58"/>
          <p:cNvSpPr txBox="1"/>
          <p:nvPr/>
        </p:nvSpPr>
        <p:spPr>
          <a:xfrm>
            <a:off x="810899" y="2176433"/>
            <a:ext cx="3905033" cy="2052000"/>
          </a:xfrm>
          <a:prstGeom prst="rect">
            <a:avLst/>
          </a:prstGeom>
          <a:noFill/>
          <a:ln>
            <a:noFill/>
          </a:ln>
        </p:spPr>
        <p:txBody>
          <a:bodyPr spcFirstLastPara="1" wrap="square" lIns="121900" tIns="121900" rIns="121900" bIns="121900" anchor="t" anchorCtr="0">
            <a:noAutofit/>
          </a:bodyPr>
          <a:lstStyle/>
          <a:p>
            <a:pPr>
              <a:lnSpc>
                <a:spcPct val="150000"/>
              </a:lnSpc>
              <a:buSzPts val="1300"/>
              <a:buFont typeface="Arial" panose="020B0604020202020204" pitchFamily="34" charset="0"/>
            </a:pPr>
            <a:r>
              <a:rPr lang="en" sz="2400" dirty="0">
                <a:sym typeface="Lato"/>
              </a:rPr>
              <a:t>What happens here? Why </a:t>
            </a:r>
            <a:r>
              <a:rPr lang="en" sz="2400" dirty="0" err="1">
                <a:sym typeface="Lato"/>
              </a:rPr>
              <a:t>Avi</a:t>
            </a:r>
            <a:r>
              <a:rPr lang="en" sz="2400" dirty="0">
                <a:sym typeface="Lato"/>
              </a:rPr>
              <a:t> has “null” value? </a:t>
            </a:r>
            <a:endParaRPr sz="2400" dirty="0">
              <a:sym typeface="Lato"/>
            </a:endParaRPr>
          </a:p>
          <a:p>
            <a:pPr>
              <a:lnSpc>
                <a:spcPct val="150000"/>
              </a:lnSpc>
              <a:buSzPts val="1300"/>
              <a:buFont typeface="Arial" panose="020B0604020202020204" pitchFamily="34" charset="0"/>
            </a:pPr>
            <a:r>
              <a:rPr lang="en" sz="2400" dirty="0">
                <a:sym typeface="Lato"/>
              </a:rPr>
              <a:t>What happens if we use only “JOIN”?</a:t>
            </a:r>
            <a:endParaRPr sz="2400" dirty="0">
              <a:sym typeface="Lato"/>
            </a:endParaRPr>
          </a:p>
        </p:txBody>
      </p:sp>
      <p:cxnSp>
        <p:nvCxnSpPr>
          <p:cNvPr id="474" name="Google Shape;474;p58"/>
          <p:cNvCxnSpPr>
            <a:cxnSpLocks/>
            <a:stCxn id="473" idx="3"/>
            <a:endCxn id="472" idx="1"/>
          </p:cNvCxnSpPr>
          <p:nvPr/>
        </p:nvCxnSpPr>
        <p:spPr>
          <a:xfrm>
            <a:off x="4715932" y="3202433"/>
            <a:ext cx="2278768" cy="125618"/>
          </a:xfrm>
          <a:prstGeom prst="straightConnector1">
            <a:avLst/>
          </a:prstGeom>
          <a:noFill/>
          <a:ln w="9525" cap="flat" cmpd="sng">
            <a:solidFill>
              <a:schemeClr val="dk2"/>
            </a:solidFill>
            <a:prstDash val="solid"/>
            <a:round/>
            <a:headEnd type="none" w="med" len="med"/>
            <a:tailEnd type="triangle" w="med" len="med"/>
          </a:ln>
        </p:spPr>
      </p:cxnSp>
      <p:sp>
        <p:nvSpPr>
          <p:cNvPr id="5" name="Slide Number Placeholder 4">
            <a:extLst>
              <a:ext uri="{FF2B5EF4-FFF2-40B4-BE49-F238E27FC236}">
                <a16:creationId xmlns:a16="http://schemas.microsoft.com/office/drawing/2014/main" id="{E82A85BC-66EC-6540-B9CE-7F37D6714BA2}"/>
              </a:ext>
            </a:extLst>
          </p:cNvPr>
          <p:cNvSpPr>
            <a:spLocks noGrp="1"/>
          </p:cNvSpPr>
          <p:nvPr>
            <p:ph type="sldNum" idx="12"/>
          </p:nvPr>
        </p:nvSpPr>
        <p:spPr/>
        <p:txBody>
          <a:bodyPr/>
          <a:lstStyle/>
          <a:p>
            <a:fld id="{00000000-1234-1234-1234-123412341234}" type="slidenum">
              <a:rPr lang="en" smtClean="0"/>
              <a:pPr/>
              <a:t>13</a:t>
            </a:fld>
            <a:endParaRPr lang="e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59"/>
          <p:cNvSpPr txBox="1">
            <a:spLocks noGrp="1"/>
          </p:cNvSpPr>
          <p:nvPr>
            <p:ph type="title"/>
          </p:nvPr>
        </p:nvSpPr>
        <p:spPr>
          <a:xfrm>
            <a:off x="970200" y="31100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RIGHT OUTER JOIN</a:t>
            </a:r>
            <a:endParaRPr sz="3200" b="1" dirty="0">
              <a:solidFill>
                <a:schemeClr val="tx1"/>
              </a:solidFill>
              <a:latin typeface="+mn-lt"/>
              <a:ea typeface="+mn-ea"/>
              <a:cs typeface="+mn-cs"/>
            </a:endParaRPr>
          </a:p>
        </p:txBody>
      </p:sp>
      <p:sp>
        <p:nvSpPr>
          <p:cNvPr id="480" name="Google Shape;480;p59"/>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dirty="0"/>
          </a:p>
        </p:txBody>
      </p:sp>
      <p:sp>
        <p:nvSpPr>
          <p:cNvPr id="481" name="Google Shape;481;p59"/>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82" name="Google Shape;482;p59"/>
          <p:cNvSpPr txBox="1"/>
          <p:nvPr/>
        </p:nvSpPr>
        <p:spPr>
          <a:xfrm>
            <a:off x="986694" y="2354300"/>
            <a:ext cx="3971768" cy="2052000"/>
          </a:xfrm>
          <a:prstGeom prst="rect">
            <a:avLst/>
          </a:prstGeom>
          <a:noFill/>
          <a:ln>
            <a:noFill/>
          </a:ln>
        </p:spPr>
        <p:txBody>
          <a:bodyPr spcFirstLastPara="1" wrap="square" lIns="121900" tIns="121900" rIns="121900" bIns="121900" anchor="t" anchorCtr="0">
            <a:noAutofit/>
          </a:bodyPr>
          <a:lstStyle/>
          <a:p>
            <a:pPr>
              <a:lnSpc>
                <a:spcPct val="150000"/>
              </a:lnSpc>
              <a:buSzPts val="1300"/>
              <a:buFont typeface="Arial" panose="020B0604020202020204" pitchFamily="34" charset="0"/>
            </a:pPr>
            <a:r>
              <a:rPr lang="en" sz="2400" dirty="0">
                <a:sym typeface="Lato"/>
              </a:rPr>
              <a:t>What happens here? Why </a:t>
            </a:r>
            <a:r>
              <a:rPr lang="en" sz="2400" dirty="0" err="1">
                <a:sym typeface="Lato"/>
              </a:rPr>
              <a:t>Avi</a:t>
            </a:r>
            <a:r>
              <a:rPr lang="en" sz="2400" dirty="0">
                <a:sym typeface="Lato"/>
              </a:rPr>
              <a:t> has “null” value? </a:t>
            </a:r>
            <a:endParaRPr sz="2400" dirty="0">
              <a:sym typeface="Lato"/>
            </a:endParaRPr>
          </a:p>
          <a:p>
            <a:pPr>
              <a:lnSpc>
                <a:spcPct val="150000"/>
              </a:lnSpc>
              <a:buSzPts val="1300"/>
              <a:buFont typeface="Arial" panose="020B0604020202020204" pitchFamily="34" charset="0"/>
            </a:pPr>
            <a:r>
              <a:rPr lang="en" sz="2400" dirty="0">
                <a:sym typeface="Lato"/>
              </a:rPr>
              <a:t>What happens if we use only “JOIN”?</a:t>
            </a:r>
            <a:endParaRPr sz="2400" dirty="0">
              <a:sym typeface="Lato"/>
            </a:endParaRPr>
          </a:p>
        </p:txBody>
      </p:sp>
      <p:cxnSp>
        <p:nvCxnSpPr>
          <p:cNvPr id="483" name="Google Shape;483;p59"/>
          <p:cNvCxnSpPr>
            <a:cxnSpLocks/>
            <a:stCxn id="482" idx="3"/>
          </p:cNvCxnSpPr>
          <p:nvPr/>
        </p:nvCxnSpPr>
        <p:spPr>
          <a:xfrm>
            <a:off x="4958462" y="3380300"/>
            <a:ext cx="2035005" cy="48700"/>
          </a:xfrm>
          <a:prstGeom prst="straightConnector1">
            <a:avLst/>
          </a:prstGeom>
          <a:noFill/>
          <a:ln w="9525" cap="flat" cmpd="sng">
            <a:solidFill>
              <a:schemeClr val="dk2"/>
            </a:solidFill>
            <a:prstDash val="solid"/>
            <a:round/>
            <a:headEnd type="none" w="med" len="med"/>
            <a:tailEnd type="triangle" w="med" len="med"/>
          </a:ln>
        </p:spPr>
      </p:cxnSp>
      <p:pic>
        <p:nvPicPr>
          <p:cNvPr id="485" name="Google Shape;485;p59"/>
          <p:cNvPicPr preferRelativeResize="0"/>
          <p:nvPr/>
        </p:nvPicPr>
        <p:blipFill>
          <a:blip r:embed="rId3">
            <a:alphaModFix/>
          </a:blip>
          <a:stretch>
            <a:fillRect/>
          </a:stretch>
        </p:blipFill>
        <p:spPr>
          <a:xfrm>
            <a:off x="7233539" y="2597333"/>
            <a:ext cx="3383596" cy="1808967"/>
          </a:xfrm>
          <a:prstGeom prst="rect">
            <a:avLst/>
          </a:prstGeom>
          <a:noFill/>
          <a:ln>
            <a:noFill/>
          </a:ln>
        </p:spPr>
      </p:pic>
      <p:sp>
        <p:nvSpPr>
          <p:cNvPr id="5" name="Slide Number Placeholder 4">
            <a:extLst>
              <a:ext uri="{FF2B5EF4-FFF2-40B4-BE49-F238E27FC236}">
                <a16:creationId xmlns:a16="http://schemas.microsoft.com/office/drawing/2014/main" id="{E4C34B95-69E7-EB48-AC9D-E2C5192C4B37}"/>
              </a:ext>
            </a:extLst>
          </p:cNvPr>
          <p:cNvSpPr>
            <a:spLocks noGrp="1"/>
          </p:cNvSpPr>
          <p:nvPr>
            <p:ph type="sldNum" idx="12"/>
          </p:nvPr>
        </p:nvSpPr>
        <p:spPr/>
        <p:txBody>
          <a:bodyPr/>
          <a:lstStyle/>
          <a:p>
            <a:fld id="{00000000-1234-1234-1234-123412341234}" type="slidenum">
              <a:rPr lang="en" smtClean="0"/>
              <a:pPr/>
              <a:t>14</a:t>
            </a:fld>
            <a:endParaRPr lang="e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60"/>
          <p:cNvSpPr txBox="1">
            <a:spLocks noGrp="1"/>
          </p:cNvSpPr>
          <p:nvPr>
            <p:ph type="title"/>
          </p:nvPr>
        </p:nvSpPr>
        <p:spPr>
          <a:xfrm>
            <a:off x="896400" y="431316"/>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FULL OUTER JOIN</a:t>
            </a:r>
            <a:endParaRPr sz="3200" b="1" dirty="0">
              <a:solidFill>
                <a:schemeClr val="tx1"/>
              </a:solidFill>
              <a:latin typeface="+mn-lt"/>
              <a:ea typeface="+mn-ea"/>
              <a:cs typeface="+mn-cs"/>
            </a:endParaRPr>
          </a:p>
        </p:txBody>
      </p:sp>
      <p:sp>
        <p:nvSpPr>
          <p:cNvPr id="491" name="Google Shape;491;p60"/>
          <p:cNvSpPr txBox="1">
            <a:spLocks noGrp="1"/>
          </p:cNvSpPr>
          <p:nvPr>
            <p:ph type="body" idx="1"/>
          </p:nvPr>
        </p:nvSpPr>
        <p:spPr>
          <a:xfrm>
            <a:off x="972600" y="2365433"/>
            <a:ext cx="10251600" cy="3726000"/>
          </a:xfrm>
          <a:prstGeom prst="rect">
            <a:avLst/>
          </a:prstGeom>
        </p:spPr>
        <p:txBody>
          <a:bodyPr spcFirstLastPara="1" vert="horz" wrap="square" lIns="121900" tIns="121900" rIns="121900" bIns="121900" rtlCol="0" anchor="t" anchorCtr="0">
            <a:noAutofit/>
          </a:bodyPr>
          <a:lstStyle/>
          <a:p>
            <a:pPr marL="0" indent="0">
              <a:spcBef>
                <a:spcPts val="1867"/>
              </a:spcBef>
              <a:buNone/>
            </a:pPr>
            <a:endParaRPr sz="2267"/>
          </a:p>
          <a:p>
            <a:pPr marL="0" indent="0">
              <a:spcBef>
                <a:spcPts val="1867"/>
              </a:spcBef>
              <a:spcAft>
                <a:spcPts val="2133"/>
              </a:spcAft>
              <a:buNone/>
            </a:pPr>
            <a:endParaRPr sz="1867"/>
          </a:p>
        </p:txBody>
      </p:sp>
      <p:sp>
        <p:nvSpPr>
          <p:cNvPr id="492" name="Google Shape;492;p60"/>
          <p:cNvSpPr/>
          <p:nvPr/>
        </p:nvSpPr>
        <p:spPr>
          <a:xfrm>
            <a:off x="7180733" y="4806467"/>
            <a:ext cx="1143200" cy="403600"/>
          </a:xfrm>
          <a:prstGeom prst="rect">
            <a:avLst/>
          </a:prstGeom>
          <a:solidFill>
            <a:srgbClr val="FFFFFF"/>
          </a:solidFill>
          <a:ln>
            <a:noFill/>
          </a:ln>
        </p:spPr>
        <p:txBody>
          <a:bodyPr spcFirstLastPara="1" wrap="square" lIns="121900" tIns="121900" rIns="121900" bIns="121900" anchor="ctr" anchorCtr="0">
            <a:noAutofit/>
          </a:bodyPr>
          <a:lstStyle/>
          <a:p>
            <a:endParaRPr sz="2400"/>
          </a:p>
        </p:txBody>
      </p:sp>
      <p:sp>
        <p:nvSpPr>
          <p:cNvPr id="493" name="Google Shape;493;p60"/>
          <p:cNvSpPr txBox="1"/>
          <p:nvPr/>
        </p:nvSpPr>
        <p:spPr>
          <a:xfrm>
            <a:off x="649704" y="1952833"/>
            <a:ext cx="4112200" cy="2052000"/>
          </a:xfrm>
          <a:prstGeom prst="rect">
            <a:avLst/>
          </a:prstGeom>
          <a:noFill/>
          <a:ln>
            <a:noFill/>
          </a:ln>
        </p:spPr>
        <p:txBody>
          <a:bodyPr spcFirstLastPara="1" wrap="square" lIns="121900" tIns="121900" rIns="121900" bIns="121900" anchor="t" anchorCtr="0">
            <a:noAutofit/>
          </a:bodyPr>
          <a:lstStyle/>
          <a:p>
            <a:pPr>
              <a:lnSpc>
                <a:spcPct val="150000"/>
              </a:lnSpc>
              <a:buSzPts val="1300"/>
              <a:buFont typeface="Arial" panose="020B0604020202020204" pitchFamily="34" charset="0"/>
            </a:pPr>
            <a:r>
              <a:rPr lang="en" sz="2400" dirty="0">
                <a:sym typeface="Lato"/>
              </a:rPr>
              <a:t>What happens here? Why </a:t>
            </a:r>
            <a:r>
              <a:rPr lang="en" sz="2400" dirty="0" err="1">
                <a:sym typeface="Lato"/>
              </a:rPr>
              <a:t>Avi</a:t>
            </a:r>
            <a:r>
              <a:rPr lang="en" sz="2400" dirty="0">
                <a:sym typeface="Lato"/>
              </a:rPr>
              <a:t> has “null” value? </a:t>
            </a:r>
            <a:endParaRPr sz="2400" dirty="0">
              <a:sym typeface="Lato"/>
            </a:endParaRPr>
          </a:p>
          <a:p>
            <a:pPr>
              <a:lnSpc>
                <a:spcPct val="150000"/>
              </a:lnSpc>
              <a:buSzPts val="1300"/>
              <a:buFont typeface="Arial" panose="020B0604020202020204" pitchFamily="34" charset="0"/>
            </a:pPr>
            <a:r>
              <a:rPr lang="en" sz="2400" dirty="0">
                <a:sym typeface="Lato"/>
              </a:rPr>
              <a:t>What happens if we use only “JOIN”?</a:t>
            </a:r>
            <a:endParaRPr sz="2400" dirty="0">
              <a:sym typeface="Lato"/>
            </a:endParaRPr>
          </a:p>
        </p:txBody>
      </p:sp>
      <p:cxnSp>
        <p:nvCxnSpPr>
          <p:cNvPr id="494" name="Google Shape;494;p60"/>
          <p:cNvCxnSpPr>
            <a:cxnSpLocks/>
          </p:cNvCxnSpPr>
          <p:nvPr/>
        </p:nvCxnSpPr>
        <p:spPr>
          <a:xfrm>
            <a:off x="4087933" y="3736083"/>
            <a:ext cx="3092800" cy="72800"/>
          </a:xfrm>
          <a:prstGeom prst="straightConnector1">
            <a:avLst/>
          </a:prstGeom>
          <a:noFill/>
          <a:ln w="9525" cap="flat" cmpd="sng">
            <a:solidFill>
              <a:schemeClr val="dk2"/>
            </a:solidFill>
            <a:prstDash val="solid"/>
            <a:round/>
            <a:headEnd type="none" w="med" len="med"/>
            <a:tailEnd type="triangle" w="med" len="med"/>
          </a:ln>
        </p:spPr>
      </p:cxnSp>
      <p:pic>
        <p:nvPicPr>
          <p:cNvPr id="496" name="Google Shape;496;p60"/>
          <p:cNvPicPr preferRelativeResize="0"/>
          <p:nvPr/>
        </p:nvPicPr>
        <p:blipFill>
          <a:blip r:embed="rId3">
            <a:alphaModFix/>
          </a:blip>
          <a:stretch>
            <a:fillRect/>
          </a:stretch>
        </p:blipFill>
        <p:spPr>
          <a:xfrm>
            <a:off x="7430097" y="2887950"/>
            <a:ext cx="3318172" cy="1841867"/>
          </a:xfrm>
          <a:prstGeom prst="rect">
            <a:avLst/>
          </a:prstGeom>
          <a:noFill/>
          <a:ln>
            <a:noFill/>
          </a:ln>
        </p:spPr>
      </p:pic>
      <p:sp>
        <p:nvSpPr>
          <p:cNvPr id="2" name="Slide Number Placeholder 1">
            <a:extLst>
              <a:ext uri="{FF2B5EF4-FFF2-40B4-BE49-F238E27FC236}">
                <a16:creationId xmlns:a16="http://schemas.microsoft.com/office/drawing/2014/main" id="{413BB05A-7933-1E46-A363-259D7706D111}"/>
              </a:ext>
            </a:extLst>
          </p:cNvPr>
          <p:cNvSpPr>
            <a:spLocks noGrp="1"/>
          </p:cNvSpPr>
          <p:nvPr>
            <p:ph type="sldNum" idx="12"/>
          </p:nvPr>
        </p:nvSpPr>
        <p:spPr/>
        <p:txBody>
          <a:bodyPr/>
          <a:lstStyle/>
          <a:p>
            <a:fld id="{00000000-1234-1234-1234-123412341234}" type="slidenum">
              <a:rPr lang="en" smtClean="0"/>
              <a:pPr/>
              <a:t>15</a:t>
            </a:fld>
            <a:endParaRPr lang="e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83"/>
          <p:cNvSpPr txBox="1">
            <a:spLocks noGrp="1"/>
          </p:cNvSpPr>
          <p:nvPr>
            <p:ph type="body" idx="1"/>
          </p:nvPr>
        </p:nvSpPr>
        <p:spPr>
          <a:xfrm>
            <a:off x="972600" y="1202267"/>
            <a:ext cx="10251600" cy="4389633"/>
          </a:xfrm>
          <a:prstGeom prst="rect">
            <a:avLst/>
          </a:prstGeom>
        </p:spPr>
        <p:txBody>
          <a:bodyPr spcFirstLastPara="1" vert="horz" wrap="square" lIns="121900" tIns="121900" rIns="121900" bIns="121900" rtlCol="0" anchor="t" anchorCtr="0">
            <a:noAutofit/>
          </a:bodyPr>
          <a:lstStyle/>
          <a:p>
            <a:pPr>
              <a:lnSpc>
                <a:spcPct val="150000"/>
              </a:lnSpc>
              <a:buFont typeface="Arial" panose="020B0604020202020204" pitchFamily="34" charset="0"/>
              <a:buChar char="➔"/>
            </a:pPr>
            <a:r>
              <a:rPr lang="en" sz="2400" dirty="0"/>
              <a:t>Sometimes part of our data is NULL, from many reasons:</a:t>
            </a:r>
            <a:endParaRPr sz="2400" dirty="0"/>
          </a:p>
          <a:p>
            <a:pPr lvl="1">
              <a:lnSpc>
                <a:spcPct val="150000"/>
              </a:lnSpc>
              <a:spcBef>
                <a:spcPts val="1333"/>
              </a:spcBef>
              <a:buSzPts val="1300"/>
              <a:buFont typeface="Arial" panose="020B0604020202020204" pitchFamily="34" charset="0"/>
              <a:buChar char="◆"/>
            </a:pPr>
            <a:r>
              <a:rPr lang="en" dirty="0"/>
              <a:t>Result of left/right/full outer join</a:t>
            </a:r>
            <a:endParaRPr dirty="0"/>
          </a:p>
          <a:p>
            <a:pPr lvl="1">
              <a:lnSpc>
                <a:spcPct val="150000"/>
              </a:lnSpc>
              <a:spcBef>
                <a:spcPts val="1333"/>
              </a:spcBef>
              <a:buSzPts val="1300"/>
              <a:buFont typeface="Arial" panose="020B0604020202020204" pitchFamily="34" charset="0"/>
              <a:buChar char="◆"/>
            </a:pPr>
            <a:r>
              <a:rPr lang="en" dirty="0"/>
              <a:t>Missing data while insert a new row</a:t>
            </a:r>
            <a:endParaRPr dirty="0"/>
          </a:p>
          <a:p>
            <a:pPr lvl="1">
              <a:lnSpc>
                <a:spcPct val="150000"/>
              </a:lnSpc>
              <a:spcBef>
                <a:spcPts val="1333"/>
              </a:spcBef>
              <a:buSzPts val="1300"/>
              <a:buFont typeface="Arial" panose="020B0604020202020204" pitchFamily="34" charset="0"/>
              <a:buChar char="◆"/>
            </a:pPr>
            <a:r>
              <a:rPr lang="en" dirty="0"/>
              <a:t>etc.</a:t>
            </a:r>
            <a:endParaRPr dirty="0"/>
          </a:p>
          <a:p>
            <a:pPr>
              <a:lnSpc>
                <a:spcPct val="150000"/>
              </a:lnSpc>
              <a:spcBef>
                <a:spcPts val="1333"/>
              </a:spcBef>
              <a:buFont typeface="Arial" panose="020B0604020202020204" pitchFamily="34" charset="0"/>
              <a:buChar char="➔"/>
            </a:pPr>
            <a:r>
              <a:rPr lang="en" sz="2400" dirty="0"/>
              <a:t>What if we want to know who is the problematic data?</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653" name="Google Shape;653;p83"/>
          <p:cNvSpPr txBox="1">
            <a:spLocks noGrp="1"/>
          </p:cNvSpPr>
          <p:nvPr>
            <p:ph type="title"/>
          </p:nvPr>
        </p:nvSpPr>
        <p:spPr>
          <a:xfrm>
            <a:off x="9726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Handling NULL values</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C33E51C3-633E-4D43-9264-BD1A9FBAA61E}"/>
              </a:ext>
            </a:extLst>
          </p:cNvPr>
          <p:cNvSpPr>
            <a:spLocks noGrp="1"/>
          </p:cNvSpPr>
          <p:nvPr>
            <p:ph type="sldNum" idx="12"/>
          </p:nvPr>
        </p:nvSpPr>
        <p:spPr/>
        <p:txBody>
          <a:bodyPr/>
          <a:lstStyle/>
          <a:p>
            <a:fld id="{00000000-1234-1234-1234-123412341234}" type="slidenum">
              <a:rPr lang="en" smtClean="0"/>
              <a:pPr/>
              <a:t>16</a:t>
            </a:fld>
            <a:endParaRPr lang="e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84"/>
          <p:cNvSpPr txBox="1">
            <a:spLocks noGrp="1"/>
          </p:cNvSpPr>
          <p:nvPr>
            <p:ph type="body" idx="1"/>
          </p:nvPr>
        </p:nvSpPr>
        <p:spPr>
          <a:xfrm>
            <a:off x="871000" y="1349433"/>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Given 2 simple tables (Student and Courses, the favorite example):</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659" name="Google Shape;659;p84"/>
          <p:cNvSpPr txBox="1">
            <a:spLocks noGrp="1"/>
          </p:cNvSpPr>
          <p:nvPr>
            <p:ph type="title"/>
          </p:nvPr>
        </p:nvSpPr>
        <p:spPr>
          <a:xfrm>
            <a:off x="970200" y="-7330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Example </a:t>
            </a:r>
            <a:endParaRPr sz="3200" b="1" dirty="0">
              <a:solidFill>
                <a:schemeClr val="tx1"/>
              </a:solidFill>
              <a:latin typeface="+mn-lt"/>
              <a:ea typeface="+mn-ea"/>
              <a:cs typeface="+mn-cs"/>
            </a:endParaRPr>
          </a:p>
        </p:txBody>
      </p:sp>
      <p:pic>
        <p:nvPicPr>
          <p:cNvPr id="660" name="Google Shape;660;p84"/>
          <p:cNvPicPr preferRelativeResize="0"/>
          <p:nvPr/>
        </p:nvPicPr>
        <p:blipFill>
          <a:blip r:embed="rId3">
            <a:alphaModFix/>
          </a:blip>
          <a:stretch>
            <a:fillRect/>
          </a:stretch>
        </p:blipFill>
        <p:spPr>
          <a:xfrm>
            <a:off x="2534900" y="2263833"/>
            <a:ext cx="6923799" cy="3472467"/>
          </a:xfrm>
          <a:prstGeom prst="rect">
            <a:avLst/>
          </a:prstGeom>
          <a:noFill/>
          <a:ln>
            <a:noFill/>
          </a:ln>
        </p:spPr>
      </p:pic>
      <p:sp>
        <p:nvSpPr>
          <p:cNvPr id="2" name="Slide Number Placeholder 1">
            <a:extLst>
              <a:ext uri="{FF2B5EF4-FFF2-40B4-BE49-F238E27FC236}">
                <a16:creationId xmlns:a16="http://schemas.microsoft.com/office/drawing/2014/main" id="{6BD8E16D-D8CA-6449-A968-5A585CCD66CF}"/>
              </a:ext>
            </a:extLst>
          </p:cNvPr>
          <p:cNvSpPr>
            <a:spLocks noGrp="1"/>
          </p:cNvSpPr>
          <p:nvPr>
            <p:ph type="sldNum" idx="12"/>
          </p:nvPr>
        </p:nvSpPr>
        <p:spPr/>
        <p:txBody>
          <a:bodyPr/>
          <a:lstStyle/>
          <a:p>
            <a:fld id="{00000000-1234-1234-1234-123412341234}" type="slidenum">
              <a:rPr lang="en" smtClean="0"/>
              <a:pPr/>
              <a:t>17</a:t>
            </a:fld>
            <a:endParaRPr lang="e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85"/>
          <p:cNvSpPr txBox="1">
            <a:spLocks noGrp="1"/>
          </p:cNvSpPr>
          <p:nvPr>
            <p:ph type="body" idx="1"/>
          </p:nvPr>
        </p:nvSpPr>
        <p:spPr>
          <a:xfrm>
            <a:off x="701667" y="1374833"/>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FirstName, </a:t>
            </a:r>
            <a:r>
              <a:rPr lang="en" sz="2400" dirty="0" err="1"/>
              <a:t>LastName</a:t>
            </a:r>
            <a:r>
              <a:rPr lang="en" sz="2400" dirty="0"/>
              <a:t>, </a:t>
            </a:r>
            <a:r>
              <a:rPr lang="en" sz="2400" dirty="0" err="1"/>
              <a:t>CourseNumber</a:t>
            </a:r>
            <a:endParaRPr sz="2400" dirty="0"/>
          </a:p>
          <a:p>
            <a:pPr marL="0" indent="0">
              <a:lnSpc>
                <a:spcPct val="150000"/>
              </a:lnSpc>
              <a:spcBef>
                <a:spcPts val="1333"/>
              </a:spcBef>
              <a:buFont typeface="Arial" panose="020B0604020202020204" pitchFamily="34" charset="0"/>
              <a:buNone/>
            </a:pPr>
            <a:r>
              <a:rPr lang="en" sz="2400" dirty="0"/>
              <a:t>FROM Student LEFT OUTER JOIN Courses</a:t>
            </a:r>
            <a:endParaRPr sz="2400" dirty="0"/>
          </a:p>
          <a:p>
            <a:pPr marL="0" indent="0">
              <a:lnSpc>
                <a:spcPct val="150000"/>
              </a:lnSpc>
              <a:spcBef>
                <a:spcPts val="1333"/>
              </a:spcBef>
              <a:buFont typeface="Arial" panose="020B0604020202020204" pitchFamily="34" charset="0"/>
              <a:buNone/>
            </a:pPr>
            <a:r>
              <a:rPr lang="en" sz="2400" dirty="0"/>
              <a:t>USING (</a:t>
            </a:r>
            <a:r>
              <a:rPr lang="en" sz="2400" dirty="0" err="1"/>
              <a:t>StudentID</a:t>
            </a:r>
            <a:r>
              <a:rPr lang="en" sz="2400" dirty="0"/>
              <a:t>)</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666" name="Google Shape;666;p85"/>
          <p:cNvSpPr txBox="1">
            <a:spLocks noGrp="1"/>
          </p:cNvSpPr>
          <p:nvPr>
            <p:ph type="title"/>
          </p:nvPr>
        </p:nvSpPr>
        <p:spPr>
          <a:xfrm>
            <a:off x="9726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Example </a:t>
            </a:r>
            <a:endParaRPr sz="3200" b="1" dirty="0">
              <a:solidFill>
                <a:schemeClr val="tx1"/>
              </a:solidFill>
              <a:latin typeface="+mn-lt"/>
              <a:ea typeface="+mn-ea"/>
              <a:cs typeface="+mn-cs"/>
            </a:endParaRPr>
          </a:p>
        </p:txBody>
      </p:sp>
      <p:pic>
        <p:nvPicPr>
          <p:cNvPr id="667" name="Google Shape;667;p85"/>
          <p:cNvPicPr preferRelativeResize="0"/>
          <p:nvPr/>
        </p:nvPicPr>
        <p:blipFill>
          <a:blip r:embed="rId3">
            <a:alphaModFix/>
          </a:blip>
          <a:stretch>
            <a:fillRect/>
          </a:stretch>
        </p:blipFill>
        <p:spPr>
          <a:xfrm>
            <a:off x="3599134" y="3678434"/>
            <a:ext cx="7891199" cy="1804733"/>
          </a:xfrm>
          <a:prstGeom prst="rect">
            <a:avLst/>
          </a:prstGeom>
          <a:noFill/>
          <a:ln>
            <a:noFill/>
          </a:ln>
        </p:spPr>
      </p:pic>
      <p:sp>
        <p:nvSpPr>
          <p:cNvPr id="668" name="Google Shape;668;p85"/>
          <p:cNvSpPr/>
          <p:nvPr/>
        </p:nvSpPr>
        <p:spPr>
          <a:xfrm>
            <a:off x="9535867" y="5008531"/>
            <a:ext cx="996400" cy="375600"/>
          </a:xfrm>
          <a:prstGeom prst="roundRect">
            <a:avLst>
              <a:gd name="adj" fmla="val 16667"/>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 name="Slide Number Placeholder 1">
            <a:extLst>
              <a:ext uri="{FF2B5EF4-FFF2-40B4-BE49-F238E27FC236}">
                <a16:creationId xmlns:a16="http://schemas.microsoft.com/office/drawing/2014/main" id="{D87D169F-01A7-6E4C-9F41-4E3F4B967B1C}"/>
              </a:ext>
            </a:extLst>
          </p:cNvPr>
          <p:cNvSpPr>
            <a:spLocks noGrp="1"/>
          </p:cNvSpPr>
          <p:nvPr>
            <p:ph type="sldNum" idx="12"/>
          </p:nvPr>
        </p:nvSpPr>
        <p:spPr/>
        <p:txBody>
          <a:bodyPr/>
          <a:lstStyle/>
          <a:p>
            <a:fld id="{00000000-1234-1234-1234-123412341234}" type="slidenum">
              <a:rPr lang="en" smtClean="0"/>
              <a:pPr/>
              <a:t>18</a:t>
            </a:fld>
            <a:endParaRPr lang="e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86"/>
          <p:cNvSpPr txBox="1">
            <a:spLocks noGrp="1"/>
          </p:cNvSpPr>
          <p:nvPr>
            <p:ph type="body" idx="1"/>
          </p:nvPr>
        </p:nvSpPr>
        <p:spPr>
          <a:xfrm>
            <a:off x="1032932" y="1532467"/>
            <a:ext cx="10191267" cy="4254166"/>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We store the previous query on new table called </a:t>
            </a:r>
            <a:r>
              <a:rPr lang="en" sz="2400" dirty="0" err="1"/>
              <a:t>NewCourses</a:t>
            </a:r>
            <a:r>
              <a:rPr lang="en" sz="2400" dirty="0"/>
              <a:t>.</a:t>
            </a:r>
          </a:p>
          <a:p>
            <a:pPr marL="0" indent="0">
              <a:lnSpc>
                <a:spcPct val="150000"/>
              </a:lnSpc>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r>
              <a:rPr lang="en" sz="2400" dirty="0"/>
              <a:t>SELECT *</a:t>
            </a:r>
            <a:endParaRPr sz="2400" dirty="0"/>
          </a:p>
          <a:p>
            <a:pPr marL="0" indent="0">
              <a:lnSpc>
                <a:spcPct val="150000"/>
              </a:lnSpc>
              <a:spcBef>
                <a:spcPts val="1333"/>
              </a:spcBef>
              <a:buFont typeface="Arial" panose="020B0604020202020204" pitchFamily="34" charset="0"/>
              <a:buNone/>
            </a:pPr>
            <a:r>
              <a:rPr lang="en" sz="2400" dirty="0"/>
              <a:t>FROM </a:t>
            </a:r>
            <a:r>
              <a:rPr lang="en" sz="2400" dirty="0" err="1"/>
              <a:t>NewCourses</a:t>
            </a:r>
            <a:endParaRPr sz="2400" dirty="0"/>
          </a:p>
          <a:p>
            <a:pPr marL="0" indent="0">
              <a:lnSpc>
                <a:spcPct val="150000"/>
              </a:lnSpc>
              <a:spcBef>
                <a:spcPts val="1333"/>
              </a:spcBef>
              <a:buFont typeface="Arial" panose="020B0604020202020204" pitchFamily="34" charset="0"/>
              <a:buNone/>
            </a:pPr>
            <a:r>
              <a:rPr lang="en" sz="2400" dirty="0"/>
              <a:t>WHERE </a:t>
            </a:r>
            <a:r>
              <a:rPr lang="en" sz="2400" dirty="0" err="1"/>
              <a:t>CourseNumber</a:t>
            </a:r>
            <a:r>
              <a:rPr lang="en" sz="2400" dirty="0"/>
              <a:t> is NULL </a:t>
            </a: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674" name="Google Shape;674;p86"/>
          <p:cNvSpPr txBox="1">
            <a:spLocks noGrp="1"/>
          </p:cNvSpPr>
          <p:nvPr>
            <p:ph type="title"/>
          </p:nvPr>
        </p:nvSpPr>
        <p:spPr>
          <a:xfrm>
            <a:off x="970200" y="2934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Example </a:t>
            </a:r>
            <a:endParaRPr sz="3200" b="1" dirty="0">
              <a:solidFill>
                <a:schemeClr val="tx1"/>
              </a:solidFill>
              <a:latin typeface="+mn-lt"/>
              <a:ea typeface="+mn-ea"/>
              <a:cs typeface="+mn-cs"/>
            </a:endParaRPr>
          </a:p>
        </p:txBody>
      </p:sp>
      <p:pic>
        <p:nvPicPr>
          <p:cNvPr id="675" name="Google Shape;675;p86"/>
          <p:cNvPicPr preferRelativeResize="0"/>
          <p:nvPr/>
        </p:nvPicPr>
        <p:blipFill>
          <a:blip r:embed="rId3">
            <a:alphaModFix/>
          </a:blip>
          <a:stretch>
            <a:fillRect/>
          </a:stretch>
        </p:blipFill>
        <p:spPr>
          <a:xfrm>
            <a:off x="4886400" y="3117433"/>
            <a:ext cx="6335400" cy="811100"/>
          </a:xfrm>
          <a:prstGeom prst="rect">
            <a:avLst/>
          </a:prstGeom>
          <a:noFill/>
          <a:ln>
            <a:noFill/>
          </a:ln>
        </p:spPr>
      </p:pic>
      <p:sp>
        <p:nvSpPr>
          <p:cNvPr id="2" name="Slide Number Placeholder 1">
            <a:extLst>
              <a:ext uri="{FF2B5EF4-FFF2-40B4-BE49-F238E27FC236}">
                <a16:creationId xmlns:a16="http://schemas.microsoft.com/office/drawing/2014/main" id="{845B9465-687C-8640-9F40-854ABC0BE875}"/>
              </a:ext>
            </a:extLst>
          </p:cNvPr>
          <p:cNvSpPr>
            <a:spLocks noGrp="1"/>
          </p:cNvSpPr>
          <p:nvPr>
            <p:ph type="sldNum" idx="12"/>
          </p:nvPr>
        </p:nvSpPr>
        <p:spPr/>
        <p:txBody>
          <a:bodyPr/>
          <a:lstStyle/>
          <a:p>
            <a:fld id="{00000000-1234-1234-1234-123412341234}" type="slidenum">
              <a:rPr lang="en" smtClean="0"/>
              <a:pPr/>
              <a:t>19</a:t>
            </a:fld>
            <a:endParaRPr lang="e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87"/>
          <p:cNvSpPr txBox="1">
            <a:spLocks noGrp="1"/>
          </p:cNvSpPr>
          <p:nvPr>
            <p:ph type="body" idx="1"/>
          </p:nvPr>
        </p:nvSpPr>
        <p:spPr>
          <a:xfrm>
            <a:off x="846667" y="1134533"/>
            <a:ext cx="10377533" cy="4652100"/>
          </a:xfrm>
          <a:prstGeom prst="rect">
            <a:avLst/>
          </a:prstGeom>
        </p:spPr>
        <p:txBody>
          <a:bodyPr spcFirstLastPara="1" vert="horz" wrap="square" lIns="121900" tIns="121900" rIns="121900" bIns="121900" rtlCol="0" anchor="t" anchorCtr="0">
            <a:noAutofit/>
          </a:bodyPr>
          <a:lstStyle/>
          <a:p>
            <a:pPr>
              <a:lnSpc>
                <a:spcPct val="150000"/>
              </a:lnSpc>
              <a:buFont typeface="Arial" panose="020B0604020202020204" pitchFamily="34" charset="0"/>
              <a:buChar char="➔"/>
            </a:pPr>
            <a:r>
              <a:rPr lang="en" sz="2400" dirty="0"/>
              <a:t>As we use “is NULL” , we can use “is NOT NULL”.</a:t>
            </a:r>
            <a:endParaRPr sz="2400" dirty="0"/>
          </a:p>
          <a:p>
            <a:pPr indent="-440256">
              <a:lnSpc>
                <a:spcPct val="150000"/>
              </a:lnSpc>
              <a:spcBef>
                <a:spcPts val="1333"/>
              </a:spcBef>
              <a:spcAft>
                <a:spcPts val="1333"/>
              </a:spcAft>
              <a:buFont typeface="Arial" panose="020B0604020202020204" pitchFamily="34" charset="0"/>
              <a:buChar char="➔"/>
            </a:pPr>
            <a:r>
              <a:rPr lang="en" sz="2400" dirty="0">
                <a:highlight>
                  <a:srgbClr val="FFFF00"/>
                </a:highlight>
              </a:rPr>
              <a:t>Wrong Usage: FirstName = ‘NULL’ </a:t>
            </a:r>
            <a:endParaRPr sz="2400" dirty="0">
              <a:highlight>
                <a:srgbClr val="FFFF00"/>
              </a:highlight>
            </a:endParaRPr>
          </a:p>
        </p:txBody>
      </p:sp>
      <p:sp>
        <p:nvSpPr>
          <p:cNvPr id="681" name="Google Shape;681;p87"/>
          <p:cNvSpPr txBox="1">
            <a:spLocks noGrp="1"/>
          </p:cNvSpPr>
          <p:nvPr>
            <p:ph type="title"/>
          </p:nvPr>
        </p:nvSpPr>
        <p:spPr>
          <a:xfrm>
            <a:off x="9726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Important Notes</a:t>
            </a:r>
            <a:endParaRPr sz="3200" b="1" dirty="0">
              <a:solidFill>
                <a:schemeClr val="tx1"/>
              </a:solidFill>
              <a:latin typeface="+mn-lt"/>
              <a:ea typeface="+mn-ea"/>
              <a:cs typeface="+mn-cs"/>
            </a:endParaRPr>
          </a:p>
        </p:txBody>
      </p:sp>
      <p:cxnSp>
        <p:nvCxnSpPr>
          <p:cNvPr id="682" name="Google Shape;682;p87"/>
          <p:cNvCxnSpPr/>
          <p:nvPr/>
        </p:nvCxnSpPr>
        <p:spPr>
          <a:xfrm rot="10800000">
            <a:off x="6035433" y="2730250"/>
            <a:ext cx="1316400" cy="419600"/>
          </a:xfrm>
          <a:prstGeom prst="straightConnector1">
            <a:avLst/>
          </a:prstGeom>
          <a:noFill/>
          <a:ln w="9525" cap="flat" cmpd="sng">
            <a:solidFill>
              <a:schemeClr val="dk2"/>
            </a:solidFill>
            <a:prstDash val="solid"/>
            <a:round/>
            <a:headEnd type="none" w="med" len="med"/>
            <a:tailEnd type="triangle" w="med" len="med"/>
          </a:ln>
        </p:spPr>
      </p:cxnSp>
      <p:sp>
        <p:nvSpPr>
          <p:cNvPr id="683" name="Google Shape;683;p87"/>
          <p:cNvSpPr txBox="1"/>
          <p:nvPr/>
        </p:nvSpPr>
        <p:spPr>
          <a:xfrm>
            <a:off x="6537033" y="3252383"/>
            <a:ext cx="3718400" cy="636800"/>
          </a:xfrm>
          <a:prstGeom prst="rect">
            <a:avLst/>
          </a:prstGeom>
          <a:noFill/>
          <a:ln>
            <a:noFill/>
          </a:ln>
        </p:spPr>
        <p:txBody>
          <a:bodyPr spcFirstLastPara="1" wrap="square" lIns="121900" tIns="121900" rIns="121900" bIns="121900" anchor="t" anchorCtr="0">
            <a:noAutofit/>
          </a:bodyPr>
          <a:lstStyle/>
          <a:p>
            <a:r>
              <a:rPr lang="en" sz="2400" dirty="0">
                <a:latin typeface="Lato"/>
                <a:ea typeface="Lato"/>
                <a:cs typeface="Lato"/>
                <a:sym typeface="Lato"/>
              </a:rPr>
              <a:t>NULL is not a String!</a:t>
            </a:r>
            <a:endParaRPr sz="2400" dirty="0">
              <a:latin typeface="Lato"/>
              <a:ea typeface="Lato"/>
              <a:cs typeface="Lato"/>
              <a:sym typeface="Lato"/>
            </a:endParaRPr>
          </a:p>
        </p:txBody>
      </p:sp>
      <p:sp>
        <p:nvSpPr>
          <p:cNvPr id="2" name="Slide Number Placeholder 1">
            <a:extLst>
              <a:ext uri="{FF2B5EF4-FFF2-40B4-BE49-F238E27FC236}">
                <a16:creationId xmlns:a16="http://schemas.microsoft.com/office/drawing/2014/main" id="{D7045759-4DF2-CD4E-A750-09A177FCC070}"/>
              </a:ext>
            </a:extLst>
          </p:cNvPr>
          <p:cNvSpPr>
            <a:spLocks noGrp="1"/>
          </p:cNvSpPr>
          <p:nvPr>
            <p:ph type="sldNum" idx="12"/>
          </p:nvPr>
        </p:nvSpPr>
        <p:spPr/>
        <p:txBody>
          <a:bodyPr/>
          <a:lstStyle/>
          <a:p>
            <a:fld id="{00000000-1234-1234-1234-123412341234}" type="slidenum">
              <a:rPr lang="en" smtClean="0"/>
              <a:pPr/>
              <a:t>20</a:t>
            </a:fld>
            <a:endParaRPr lang="e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90"/>
          <p:cNvSpPr txBox="1">
            <a:spLocks noGrp="1"/>
          </p:cNvSpPr>
          <p:nvPr>
            <p:ph type="body" idx="1"/>
          </p:nvPr>
        </p:nvSpPr>
        <p:spPr>
          <a:xfrm>
            <a:off x="970200" y="1451033"/>
            <a:ext cx="10251600" cy="3014800"/>
          </a:xfrm>
          <a:prstGeom prst="rect">
            <a:avLst/>
          </a:prstGeom>
        </p:spPr>
        <p:txBody>
          <a:bodyPr spcFirstLastPara="1" vert="horz" wrap="square" lIns="121900" tIns="121900" rIns="121900" bIns="121900" rtlCol="0" anchor="t" anchorCtr="0">
            <a:noAutofit/>
          </a:bodyPr>
          <a:lstStyle/>
          <a:p>
            <a:pPr marL="0" indent="0">
              <a:buNone/>
            </a:pPr>
            <a:r>
              <a:rPr lang="en" dirty="0"/>
              <a:t>CREATE TABLE </a:t>
            </a:r>
            <a:r>
              <a:rPr lang="en" dirty="0" err="1">
                <a:solidFill>
                  <a:srgbClr val="FF0000"/>
                </a:solidFill>
              </a:rPr>
              <a:t>table_name</a:t>
            </a:r>
            <a:r>
              <a:rPr lang="en" dirty="0"/>
              <a:t>  </a:t>
            </a:r>
            <a:endParaRPr dirty="0"/>
          </a:p>
          <a:p>
            <a:pPr marL="0" indent="0">
              <a:spcBef>
                <a:spcPts val="1333"/>
              </a:spcBef>
              <a:buNone/>
            </a:pPr>
            <a:r>
              <a:rPr lang="en" dirty="0"/>
              <a:t>(</a:t>
            </a:r>
            <a:endParaRPr dirty="0"/>
          </a:p>
          <a:p>
            <a:pPr marL="0" indent="0">
              <a:spcBef>
                <a:spcPts val="1333"/>
              </a:spcBef>
              <a:buNone/>
            </a:pPr>
            <a:r>
              <a:rPr lang="en" dirty="0"/>
              <a:t>	</a:t>
            </a:r>
            <a:r>
              <a:rPr lang="en" dirty="0">
                <a:solidFill>
                  <a:srgbClr val="38761D"/>
                </a:solidFill>
              </a:rPr>
              <a:t>column_name1</a:t>
            </a:r>
            <a:r>
              <a:rPr lang="en" dirty="0"/>
              <a:t> </a:t>
            </a:r>
            <a:r>
              <a:rPr lang="en" dirty="0" err="1">
                <a:solidFill>
                  <a:srgbClr val="CC0000"/>
                </a:solidFill>
              </a:rPr>
              <a:t>data_type</a:t>
            </a:r>
            <a:r>
              <a:rPr lang="en" dirty="0">
                <a:solidFill>
                  <a:srgbClr val="CC0000"/>
                </a:solidFill>
              </a:rPr>
              <a:t>,</a:t>
            </a:r>
            <a:endParaRPr dirty="0">
              <a:solidFill>
                <a:srgbClr val="CC0000"/>
              </a:solidFill>
            </a:endParaRPr>
          </a:p>
          <a:p>
            <a:pPr marL="0" indent="0">
              <a:spcBef>
                <a:spcPts val="1333"/>
              </a:spcBef>
              <a:buNone/>
            </a:pPr>
            <a:r>
              <a:rPr lang="en" dirty="0"/>
              <a:t>	</a:t>
            </a:r>
            <a:r>
              <a:rPr lang="en" dirty="0">
                <a:solidFill>
                  <a:srgbClr val="38761D"/>
                </a:solidFill>
              </a:rPr>
              <a:t>column_name2</a:t>
            </a:r>
            <a:r>
              <a:rPr lang="en" dirty="0"/>
              <a:t> </a:t>
            </a:r>
            <a:r>
              <a:rPr lang="en" dirty="0" err="1">
                <a:solidFill>
                  <a:srgbClr val="CC0000"/>
                </a:solidFill>
              </a:rPr>
              <a:t>data_type</a:t>
            </a:r>
            <a:r>
              <a:rPr lang="en" dirty="0">
                <a:solidFill>
                  <a:srgbClr val="CC0000"/>
                </a:solidFill>
              </a:rPr>
              <a:t>,</a:t>
            </a:r>
            <a:endParaRPr dirty="0">
              <a:solidFill>
                <a:srgbClr val="CC0000"/>
              </a:solidFill>
            </a:endParaRPr>
          </a:p>
          <a:p>
            <a:pPr marL="0" indent="0">
              <a:spcBef>
                <a:spcPts val="1333"/>
              </a:spcBef>
              <a:buNone/>
            </a:pPr>
            <a:r>
              <a:rPr lang="en" dirty="0"/>
              <a:t>	</a:t>
            </a:r>
            <a:r>
              <a:rPr lang="en" dirty="0">
                <a:solidFill>
                  <a:srgbClr val="38761D"/>
                </a:solidFill>
              </a:rPr>
              <a:t>column_name3</a:t>
            </a:r>
            <a:r>
              <a:rPr lang="en" dirty="0"/>
              <a:t> </a:t>
            </a:r>
            <a:r>
              <a:rPr lang="en" dirty="0" err="1">
                <a:solidFill>
                  <a:srgbClr val="CC0000"/>
                </a:solidFill>
              </a:rPr>
              <a:t>data_type</a:t>
            </a:r>
            <a:r>
              <a:rPr lang="en" dirty="0">
                <a:solidFill>
                  <a:srgbClr val="CC0000"/>
                </a:solidFill>
              </a:rPr>
              <a:t>,</a:t>
            </a:r>
            <a:endParaRPr dirty="0">
              <a:solidFill>
                <a:srgbClr val="CC0000"/>
              </a:solidFill>
            </a:endParaRPr>
          </a:p>
          <a:p>
            <a:pPr marL="0" indent="0">
              <a:spcBef>
                <a:spcPts val="1333"/>
              </a:spcBef>
              <a:buNone/>
            </a:pPr>
            <a:r>
              <a:rPr lang="en" dirty="0"/>
              <a:t>	...</a:t>
            </a:r>
            <a:endParaRPr dirty="0"/>
          </a:p>
          <a:p>
            <a:pPr marL="0" indent="0">
              <a:spcBef>
                <a:spcPts val="1333"/>
              </a:spcBef>
              <a:buNone/>
            </a:pPr>
            <a:r>
              <a:rPr lang="en" dirty="0"/>
              <a:t>)</a:t>
            </a:r>
            <a:endParaRPr dirty="0"/>
          </a:p>
          <a:p>
            <a:pPr marL="0" indent="0">
              <a:spcBef>
                <a:spcPts val="1333"/>
              </a:spcBef>
              <a:buNone/>
            </a:pPr>
            <a:endParaRPr dirty="0"/>
          </a:p>
          <a:p>
            <a:pPr marL="0" indent="0">
              <a:spcBef>
                <a:spcPts val="1333"/>
              </a:spcBef>
              <a:buNone/>
            </a:pPr>
            <a:endParaRPr b="1" dirty="0"/>
          </a:p>
          <a:p>
            <a:pPr marL="0" indent="0">
              <a:spcBef>
                <a:spcPts val="1333"/>
              </a:spcBef>
              <a:spcAft>
                <a:spcPts val="1333"/>
              </a:spcAft>
              <a:buNone/>
            </a:pPr>
            <a:endParaRPr dirty="0"/>
          </a:p>
        </p:txBody>
      </p:sp>
      <p:sp>
        <p:nvSpPr>
          <p:cNvPr id="700" name="Google Shape;700;p90"/>
          <p:cNvSpPr txBox="1">
            <a:spLocks noGrp="1"/>
          </p:cNvSpPr>
          <p:nvPr>
            <p:ph type="title"/>
          </p:nvPr>
        </p:nvSpPr>
        <p:spPr>
          <a:xfrm>
            <a:off x="1031867" y="73333"/>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CREATE Tables</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1E54BB6D-4F3A-A943-9EB4-69521974B710}"/>
              </a:ext>
            </a:extLst>
          </p:cNvPr>
          <p:cNvSpPr>
            <a:spLocks noGrp="1"/>
          </p:cNvSpPr>
          <p:nvPr>
            <p:ph type="sldNum" idx="12"/>
          </p:nvPr>
        </p:nvSpPr>
        <p:spPr/>
        <p:txBody>
          <a:bodyPr/>
          <a:lstStyle/>
          <a:p>
            <a:fld id="{00000000-1234-1234-1234-123412341234}" type="slidenum">
              <a:rPr lang="en" smtClean="0"/>
              <a:pPr/>
              <a:t>21</a:t>
            </a:fld>
            <a:endParaRPr lang="e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92"/>
          <p:cNvSpPr txBox="1">
            <a:spLocks noGrp="1"/>
          </p:cNvSpPr>
          <p:nvPr>
            <p:ph type="body" idx="1"/>
          </p:nvPr>
        </p:nvSpPr>
        <p:spPr>
          <a:xfrm>
            <a:off x="970200" y="1230900"/>
            <a:ext cx="10251600" cy="3014800"/>
          </a:xfrm>
          <a:prstGeom prst="rect">
            <a:avLst/>
          </a:prstGeom>
        </p:spPr>
        <p:txBody>
          <a:bodyPr spcFirstLastPara="1" vert="horz" wrap="square" lIns="121900" tIns="121900" rIns="121900" bIns="121900" rtlCol="0" anchor="t" anchorCtr="0">
            <a:noAutofit/>
          </a:bodyPr>
          <a:lstStyle/>
          <a:p>
            <a:pPr marL="0" indent="0">
              <a:lnSpc>
                <a:spcPct val="100000"/>
              </a:lnSpc>
              <a:buFont typeface="Arial" panose="020B0604020202020204" pitchFamily="34" charset="0"/>
              <a:buNone/>
            </a:pPr>
            <a:r>
              <a:rPr lang="en" sz="2400" dirty="0"/>
              <a:t>CREATE TABLE Students </a:t>
            </a:r>
            <a:endParaRPr sz="2400" dirty="0"/>
          </a:p>
          <a:p>
            <a:pPr marL="0" indent="0">
              <a:lnSpc>
                <a:spcPct val="100000"/>
              </a:lnSpc>
              <a:spcBef>
                <a:spcPts val="1333"/>
              </a:spcBef>
              <a:buFont typeface="Arial" panose="020B0604020202020204" pitchFamily="34" charset="0"/>
              <a:buNone/>
            </a:pPr>
            <a:r>
              <a:rPr lang="en" sz="2400" dirty="0"/>
              <a:t>(</a:t>
            </a:r>
            <a:endParaRPr sz="2400" dirty="0"/>
          </a:p>
          <a:p>
            <a:pPr marL="0" indent="0">
              <a:lnSpc>
                <a:spcPct val="100000"/>
              </a:lnSpc>
              <a:spcBef>
                <a:spcPts val="1333"/>
              </a:spcBef>
              <a:buFont typeface="Arial" panose="020B0604020202020204" pitchFamily="34" charset="0"/>
              <a:buNone/>
            </a:pPr>
            <a:r>
              <a:rPr lang="en" sz="2400" dirty="0"/>
              <a:t>	Id int NOT NULL,</a:t>
            </a:r>
            <a:endParaRPr sz="2400" dirty="0"/>
          </a:p>
          <a:p>
            <a:pPr marL="0" indent="0">
              <a:lnSpc>
                <a:spcPct val="100000"/>
              </a:lnSpc>
              <a:spcBef>
                <a:spcPts val="1333"/>
              </a:spcBef>
              <a:buFont typeface="Arial" panose="020B0604020202020204" pitchFamily="34" charset="0"/>
              <a:buNone/>
            </a:pPr>
            <a:r>
              <a:rPr lang="en" sz="2400" dirty="0"/>
              <a:t>	</a:t>
            </a:r>
            <a:r>
              <a:rPr lang="en" sz="2400" dirty="0" err="1"/>
              <a:t>First_Name</a:t>
            </a:r>
            <a:r>
              <a:rPr lang="en" sz="2400" dirty="0"/>
              <a:t> text,</a:t>
            </a:r>
            <a:endParaRPr sz="2400" dirty="0"/>
          </a:p>
          <a:p>
            <a:pPr marL="0" indent="0">
              <a:lnSpc>
                <a:spcPct val="100000"/>
              </a:lnSpc>
              <a:spcBef>
                <a:spcPts val="1333"/>
              </a:spcBef>
              <a:buFont typeface="Arial" panose="020B0604020202020204" pitchFamily="34" charset="0"/>
              <a:buNone/>
            </a:pPr>
            <a:r>
              <a:rPr lang="en" sz="2400" dirty="0"/>
              <a:t>	</a:t>
            </a:r>
            <a:r>
              <a:rPr lang="en" sz="2400" dirty="0" err="1"/>
              <a:t>Last_Name</a:t>
            </a:r>
            <a:r>
              <a:rPr lang="en" sz="2400" dirty="0"/>
              <a:t> text,</a:t>
            </a:r>
            <a:endParaRPr sz="2400" dirty="0"/>
          </a:p>
          <a:p>
            <a:pPr marL="0" indent="0">
              <a:lnSpc>
                <a:spcPct val="100000"/>
              </a:lnSpc>
              <a:spcBef>
                <a:spcPts val="1333"/>
              </a:spcBef>
              <a:buFont typeface="Arial" panose="020B0604020202020204" pitchFamily="34" charset="0"/>
              <a:buNone/>
            </a:pPr>
            <a:r>
              <a:rPr lang="en" sz="2400" dirty="0"/>
              <a:t>	</a:t>
            </a:r>
            <a:r>
              <a:rPr lang="en" sz="2400" dirty="0" err="1"/>
              <a:t>Birth_Date</a:t>
            </a:r>
            <a:r>
              <a:rPr lang="en" sz="2400" dirty="0"/>
              <a:t> date,	</a:t>
            </a:r>
            <a:endParaRPr sz="2400" dirty="0"/>
          </a:p>
          <a:p>
            <a:pPr marL="0" indent="0">
              <a:lnSpc>
                <a:spcPct val="100000"/>
              </a:lnSpc>
              <a:spcBef>
                <a:spcPts val="1333"/>
              </a:spcBef>
              <a:buFont typeface="Arial" panose="020B0604020202020204" pitchFamily="34" charset="0"/>
              <a:buNone/>
            </a:pPr>
            <a:r>
              <a:rPr lang="en" sz="2400" dirty="0"/>
              <a:t>	</a:t>
            </a:r>
            <a:r>
              <a:rPr lang="en" sz="2400" dirty="0" err="1"/>
              <a:t>Hour_Salary</a:t>
            </a:r>
            <a:r>
              <a:rPr lang="en" sz="2400" dirty="0"/>
              <a:t> float</a:t>
            </a:r>
            <a:endParaRPr sz="2400" dirty="0"/>
          </a:p>
          <a:p>
            <a:pPr marL="0" indent="0">
              <a:lnSpc>
                <a:spcPct val="100000"/>
              </a:lnSpc>
              <a:spcBef>
                <a:spcPts val="1333"/>
              </a:spcBef>
              <a:buFont typeface="Arial" panose="020B0604020202020204" pitchFamily="34" charset="0"/>
              <a:buNone/>
            </a:pPr>
            <a:r>
              <a:rPr lang="en" sz="2400" dirty="0"/>
              <a:t>)</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711" name="Google Shape;711;p92"/>
          <p:cNvSpPr txBox="1">
            <a:spLocks noGrp="1"/>
          </p:cNvSpPr>
          <p:nvPr>
            <p:ph type="title"/>
          </p:nvPr>
        </p:nvSpPr>
        <p:spPr>
          <a:xfrm>
            <a:off x="9726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1 - Define your table schema + types</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C71E985F-1F4E-C347-AE0D-9DADF8EE40F7}"/>
              </a:ext>
            </a:extLst>
          </p:cNvPr>
          <p:cNvSpPr>
            <a:spLocks noGrp="1"/>
          </p:cNvSpPr>
          <p:nvPr>
            <p:ph type="sldNum" idx="12"/>
          </p:nvPr>
        </p:nvSpPr>
        <p:spPr/>
        <p:txBody>
          <a:bodyPr/>
          <a:lstStyle/>
          <a:p>
            <a:fld id="{00000000-1234-1234-1234-123412341234}" type="slidenum">
              <a:rPr lang="en" smtClean="0"/>
              <a:pPr/>
              <a:t>22</a:t>
            </a:fld>
            <a:endParaRPr lang="e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93"/>
          <p:cNvSpPr txBox="1">
            <a:spLocks noGrp="1"/>
          </p:cNvSpPr>
          <p:nvPr>
            <p:ph type="body" idx="1"/>
          </p:nvPr>
        </p:nvSpPr>
        <p:spPr>
          <a:xfrm>
            <a:off x="972600" y="1705033"/>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INSERT INTO Students</a:t>
            </a:r>
            <a:endParaRPr sz="2400" dirty="0"/>
          </a:p>
          <a:p>
            <a:pPr marL="0" indent="0">
              <a:lnSpc>
                <a:spcPct val="150000"/>
              </a:lnSpc>
              <a:spcBef>
                <a:spcPts val="1333"/>
              </a:spcBef>
              <a:buFont typeface="Arial" panose="020B0604020202020204" pitchFamily="34" charset="0"/>
              <a:buNone/>
            </a:pPr>
            <a:r>
              <a:rPr lang="en" sz="2400" dirty="0"/>
              <a:t>VALUES(123456789, ‘Israel’, ‘Israeli’, ‘1980-03-20’, 120.40)</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717" name="Google Shape;717;p93"/>
          <p:cNvSpPr txBox="1">
            <a:spLocks noGrp="1"/>
          </p:cNvSpPr>
          <p:nvPr>
            <p:ph type="title"/>
          </p:nvPr>
        </p:nvSpPr>
        <p:spPr>
          <a:xfrm>
            <a:off x="972600" y="90267"/>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2 - Insert Values (with the same order!)</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CD0441D8-77CB-C14A-AB5D-628AE744CCF6}"/>
              </a:ext>
            </a:extLst>
          </p:cNvPr>
          <p:cNvSpPr>
            <a:spLocks noGrp="1"/>
          </p:cNvSpPr>
          <p:nvPr>
            <p:ph type="sldNum" idx="12"/>
          </p:nvPr>
        </p:nvSpPr>
        <p:spPr/>
        <p:txBody>
          <a:bodyPr/>
          <a:lstStyle/>
          <a:p>
            <a:fld id="{00000000-1234-1234-1234-123412341234}" type="slidenum">
              <a:rPr lang="en" smtClean="0"/>
              <a:pPr/>
              <a:t>23</a:t>
            </a:fld>
            <a:endParaRPr lang="e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94"/>
          <p:cNvSpPr txBox="1">
            <a:spLocks noGrp="1"/>
          </p:cNvSpPr>
          <p:nvPr>
            <p:ph type="body" idx="1"/>
          </p:nvPr>
        </p:nvSpPr>
        <p:spPr>
          <a:xfrm>
            <a:off x="970200" y="1140631"/>
            <a:ext cx="10251600" cy="3014800"/>
          </a:xfrm>
          <a:prstGeom prst="rect">
            <a:avLst/>
          </a:prstGeom>
        </p:spPr>
        <p:txBody>
          <a:bodyPr spcFirstLastPara="1" vert="horz" wrap="square" lIns="121900" tIns="121900" rIns="121900" bIns="121900" rtlCol="0" anchor="t" anchorCtr="0">
            <a:noAutofit/>
          </a:bodyPr>
          <a:lstStyle/>
          <a:p>
            <a:pPr marL="0" indent="0">
              <a:lnSpc>
                <a:spcPct val="150000"/>
              </a:lnSpc>
              <a:buFont typeface="Arial" panose="020B0604020202020204" pitchFamily="34" charset="0"/>
              <a:buNone/>
            </a:pPr>
            <a:r>
              <a:rPr lang="en" sz="2400" dirty="0"/>
              <a:t>SELECT *</a:t>
            </a:r>
            <a:endParaRPr sz="2400" dirty="0"/>
          </a:p>
          <a:p>
            <a:pPr marL="0" indent="0">
              <a:lnSpc>
                <a:spcPct val="150000"/>
              </a:lnSpc>
              <a:spcBef>
                <a:spcPts val="1333"/>
              </a:spcBef>
              <a:buFont typeface="Arial" panose="020B0604020202020204" pitchFamily="34" charset="0"/>
              <a:buNone/>
            </a:pPr>
            <a:r>
              <a:rPr lang="en" sz="2400" dirty="0"/>
              <a:t>FROM Students</a:t>
            </a: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buFont typeface="Arial" panose="020B0604020202020204" pitchFamily="34" charset="0"/>
              <a:buNone/>
            </a:pPr>
            <a:endParaRPr sz="2400" dirty="0"/>
          </a:p>
          <a:p>
            <a:pPr marL="0" indent="0">
              <a:lnSpc>
                <a:spcPct val="150000"/>
              </a:lnSpc>
              <a:spcBef>
                <a:spcPts val="1333"/>
              </a:spcBef>
              <a:spcAft>
                <a:spcPts val="1333"/>
              </a:spcAft>
              <a:buFont typeface="Arial" panose="020B0604020202020204" pitchFamily="34" charset="0"/>
              <a:buNone/>
            </a:pPr>
            <a:endParaRPr sz="2400" dirty="0"/>
          </a:p>
        </p:txBody>
      </p:sp>
      <p:sp>
        <p:nvSpPr>
          <p:cNvPr id="723" name="Google Shape;723;p94"/>
          <p:cNvSpPr txBox="1">
            <a:spLocks noGrp="1"/>
          </p:cNvSpPr>
          <p:nvPr>
            <p:ph type="title"/>
          </p:nvPr>
        </p:nvSpPr>
        <p:spPr>
          <a:xfrm>
            <a:off x="869168" y="-87534"/>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a:solidFill>
                  <a:schemeClr val="tx1"/>
                </a:solidFill>
                <a:latin typeface="+mn-lt"/>
                <a:ea typeface="+mn-ea"/>
                <a:cs typeface="+mn-cs"/>
              </a:rPr>
              <a:t>3 - Check your Insertion</a:t>
            </a:r>
            <a:endParaRPr sz="3200" b="1" dirty="0">
              <a:solidFill>
                <a:schemeClr val="tx1"/>
              </a:solidFill>
              <a:latin typeface="+mn-lt"/>
              <a:ea typeface="+mn-ea"/>
              <a:cs typeface="+mn-cs"/>
            </a:endParaRPr>
          </a:p>
        </p:txBody>
      </p:sp>
      <p:pic>
        <p:nvPicPr>
          <p:cNvPr id="724" name="Google Shape;724;p94"/>
          <p:cNvPicPr preferRelativeResize="0"/>
          <p:nvPr/>
        </p:nvPicPr>
        <p:blipFill>
          <a:blip r:embed="rId3">
            <a:alphaModFix/>
          </a:blip>
          <a:stretch>
            <a:fillRect/>
          </a:stretch>
        </p:blipFill>
        <p:spPr>
          <a:xfrm>
            <a:off x="1508000" y="2997199"/>
            <a:ext cx="8973935" cy="1011067"/>
          </a:xfrm>
          <a:prstGeom prst="rect">
            <a:avLst/>
          </a:prstGeom>
          <a:noFill/>
          <a:ln>
            <a:noFill/>
          </a:ln>
        </p:spPr>
      </p:pic>
      <p:sp>
        <p:nvSpPr>
          <p:cNvPr id="2" name="Slide Number Placeholder 1">
            <a:extLst>
              <a:ext uri="{FF2B5EF4-FFF2-40B4-BE49-F238E27FC236}">
                <a16:creationId xmlns:a16="http://schemas.microsoft.com/office/drawing/2014/main" id="{B3F7A60D-F334-0E42-B731-399C5C9DFC69}"/>
              </a:ext>
            </a:extLst>
          </p:cNvPr>
          <p:cNvSpPr>
            <a:spLocks noGrp="1"/>
          </p:cNvSpPr>
          <p:nvPr>
            <p:ph type="sldNum" idx="12"/>
          </p:nvPr>
        </p:nvSpPr>
        <p:spPr/>
        <p:txBody>
          <a:bodyPr/>
          <a:lstStyle/>
          <a:p>
            <a:fld id="{00000000-1234-1234-1234-123412341234}" type="slidenum">
              <a:rPr lang="en" smtClean="0"/>
              <a:pPr/>
              <a:t>24</a:t>
            </a:fld>
            <a:endParaRPr lang="e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08"/>
          <p:cNvSpPr txBox="1">
            <a:spLocks noGrp="1"/>
          </p:cNvSpPr>
          <p:nvPr>
            <p:ph type="body" idx="1"/>
          </p:nvPr>
        </p:nvSpPr>
        <p:spPr>
          <a:xfrm>
            <a:off x="735533" y="1191700"/>
            <a:ext cx="10251600" cy="3014800"/>
          </a:xfrm>
          <a:prstGeom prst="rect">
            <a:avLst/>
          </a:prstGeom>
        </p:spPr>
        <p:txBody>
          <a:bodyPr spcFirstLastPara="1" vert="horz" wrap="square" lIns="121900" tIns="121900" rIns="121900" bIns="121900" rtlCol="0" anchor="t" anchorCtr="0">
            <a:noAutofit/>
          </a:bodyPr>
          <a:lstStyle/>
          <a:p>
            <a:pPr marL="0" indent="0">
              <a:buNone/>
            </a:pPr>
            <a:r>
              <a:rPr lang="en" sz="2400" dirty="0">
                <a:solidFill>
                  <a:srgbClr val="CC0000"/>
                </a:solidFill>
              </a:rPr>
              <a:t>We want to find the city name where all amounts bigger (or equals) than </a:t>
            </a:r>
            <a:r>
              <a:rPr lang="en" sz="2400" dirty="0">
                <a:solidFill>
                  <a:srgbClr val="1155CC"/>
                </a:solidFill>
              </a:rPr>
              <a:t>all average amount of all cities.</a:t>
            </a:r>
            <a:endParaRPr sz="2400" b="1" dirty="0">
              <a:solidFill>
                <a:srgbClr val="1155CC"/>
              </a:solidFill>
            </a:endParaRPr>
          </a:p>
          <a:p>
            <a:pPr marL="0" indent="0">
              <a:spcBef>
                <a:spcPts val="1333"/>
              </a:spcBef>
              <a:buNone/>
            </a:pPr>
            <a:r>
              <a:rPr lang="en" sz="2400" dirty="0"/>
              <a:t>SELECT City</a:t>
            </a:r>
            <a:endParaRPr sz="2400" dirty="0"/>
          </a:p>
          <a:p>
            <a:pPr marL="0" indent="0">
              <a:spcBef>
                <a:spcPts val="1333"/>
              </a:spcBef>
              <a:buNone/>
            </a:pPr>
            <a:r>
              <a:rPr lang="en" sz="2400" dirty="0"/>
              <a:t>FROM Students</a:t>
            </a:r>
            <a:endParaRPr sz="2400" dirty="0"/>
          </a:p>
          <a:p>
            <a:pPr marL="0" indent="0">
              <a:spcBef>
                <a:spcPts val="1333"/>
              </a:spcBef>
              <a:buNone/>
            </a:pPr>
            <a:r>
              <a:rPr lang="en" sz="2400" dirty="0"/>
              <a:t>GROUP BY City</a:t>
            </a:r>
            <a:endParaRPr sz="2400" dirty="0"/>
          </a:p>
          <a:p>
            <a:pPr marL="0" indent="0">
              <a:spcBef>
                <a:spcPts val="1333"/>
              </a:spcBef>
              <a:buNone/>
            </a:pPr>
            <a:r>
              <a:rPr lang="en" sz="2400" dirty="0"/>
              <a:t>HAVING AVG(Amount) &gt;= ALL (SELECT AVG(Amount)</a:t>
            </a:r>
            <a:endParaRPr sz="2400" dirty="0"/>
          </a:p>
          <a:p>
            <a:pPr marL="0" indent="0">
              <a:spcBef>
                <a:spcPts val="1333"/>
              </a:spcBef>
              <a:buNone/>
            </a:pPr>
            <a:r>
              <a:rPr lang="en" sz="2400" dirty="0"/>
              <a:t>					FROM Students</a:t>
            </a:r>
            <a:endParaRPr sz="2400" dirty="0"/>
          </a:p>
          <a:p>
            <a:pPr marL="0" indent="0">
              <a:spcBef>
                <a:spcPts val="1333"/>
              </a:spcBef>
              <a:buNone/>
            </a:pPr>
            <a:r>
              <a:rPr lang="en" sz="2400" dirty="0"/>
              <a:t>					GROUP BY City)</a:t>
            </a:r>
            <a:endParaRPr sz="2400" dirty="0"/>
          </a:p>
          <a:p>
            <a:pPr marL="0" indent="0">
              <a:spcBef>
                <a:spcPts val="1333"/>
              </a:spcBef>
              <a:buNone/>
            </a:pPr>
            <a:endParaRPr sz="2400" dirty="0"/>
          </a:p>
          <a:p>
            <a:pPr marL="0" indent="0">
              <a:spcBef>
                <a:spcPts val="1333"/>
              </a:spcBef>
              <a:spcAft>
                <a:spcPts val="1333"/>
              </a:spcAft>
              <a:buNone/>
            </a:pPr>
            <a:endParaRPr sz="2400" dirty="0"/>
          </a:p>
        </p:txBody>
      </p:sp>
      <p:sp>
        <p:nvSpPr>
          <p:cNvPr id="813" name="Google Shape;813;p108"/>
          <p:cNvSpPr txBox="1">
            <a:spLocks noGrp="1"/>
          </p:cNvSpPr>
          <p:nvPr>
            <p:ph type="title"/>
          </p:nvPr>
        </p:nvSpPr>
        <p:spPr>
          <a:xfrm>
            <a:off x="970200" y="29033"/>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err="1">
                <a:solidFill>
                  <a:schemeClr val="tx1"/>
                </a:solidFill>
                <a:latin typeface="+mn-lt"/>
                <a:ea typeface="+mn-ea"/>
                <a:cs typeface="+mn-cs"/>
              </a:rPr>
              <a:t>SubQuery</a:t>
            </a:r>
            <a:r>
              <a:rPr lang="en" sz="3200" b="1" dirty="0">
                <a:solidFill>
                  <a:schemeClr val="tx1"/>
                </a:solidFill>
                <a:latin typeface="+mn-lt"/>
                <a:ea typeface="+mn-ea"/>
                <a:cs typeface="+mn-cs"/>
              </a:rPr>
              <a:t> with ALL</a:t>
            </a:r>
            <a:endParaRPr sz="3200" b="1" dirty="0">
              <a:solidFill>
                <a:schemeClr val="tx1"/>
              </a:solidFill>
              <a:latin typeface="+mn-lt"/>
              <a:ea typeface="+mn-ea"/>
              <a:cs typeface="+mn-cs"/>
            </a:endParaRPr>
          </a:p>
        </p:txBody>
      </p:sp>
      <p:pic>
        <p:nvPicPr>
          <p:cNvPr id="814" name="Google Shape;814;p108"/>
          <p:cNvPicPr preferRelativeResize="0"/>
          <p:nvPr/>
        </p:nvPicPr>
        <p:blipFill>
          <a:blip r:embed="rId3">
            <a:alphaModFix/>
          </a:blip>
          <a:stretch>
            <a:fillRect/>
          </a:stretch>
        </p:blipFill>
        <p:spPr>
          <a:xfrm>
            <a:off x="8034699" y="2474667"/>
            <a:ext cx="675800" cy="1156800"/>
          </a:xfrm>
          <a:prstGeom prst="rect">
            <a:avLst/>
          </a:prstGeom>
          <a:noFill/>
          <a:ln>
            <a:noFill/>
          </a:ln>
        </p:spPr>
      </p:pic>
      <p:cxnSp>
        <p:nvCxnSpPr>
          <p:cNvPr id="815" name="Google Shape;815;p108"/>
          <p:cNvCxnSpPr>
            <a:stCxn id="814" idx="2"/>
          </p:cNvCxnSpPr>
          <p:nvPr/>
        </p:nvCxnSpPr>
        <p:spPr>
          <a:xfrm flipH="1">
            <a:off x="7627799" y="3631467"/>
            <a:ext cx="744800" cy="229200"/>
          </a:xfrm>
          <a:prstGeom prst="straightConnector1">
            <a:avLst/>
          </a:prstGeom>
          <a:noFill/>
          <a:ln w="9525" cap="flat" cmpd="sng">
            <a:solidFill>
              <a:schemeClr val="dk2"/>
            </a:solidFill>
            <a:prstDash val="solid"/>
            <a:round/>
            <a:headEnd type="none" w="med" len="med"/>
            <a:tailEnd type="triangle" w="med" len="med"/>
          </a:ln>
        </p:spPr>
      </p:cxnSp>
      <p:pic>
        <p:nvPicPr>
          <p:cNvPr id="816" name="Google Shape;816;p108"/>
          <p:cNvPicPr preferRelativeResize="0"/>
          <p:nvPr/>
        </p:nvPicPr>
        <p:blipFill>
          <a:blip r:embed="rId4">
            <a:alphaModFix/>
          </a:blip>
          <a:stretch>
            <a:fillRect/>
          </a:stretch>
        </p:blipFill>
        <p:spPr>
          <a:xfrm>
            <a:off x="8514467" y="4206499"/>
            <a:ext cx="2128133" cy="1282967"/>
          </a:xfrm>
          <a:prstGeom prst="rect">
            <a:avLst/>
          </a:prstGeom>
          <a:noFill/>
          <a:ln>
            <a:noFill/>
          </a:ln>
        </p:spPr>
      </p:pic>
      <p:sp>
        <p:nvSpPr>
          <p:cNvPr id="2" name="Slide Number Placeholder 1">
            <a:extLst>
              <a:ext uri="{FF2B5EF4-FFF2-40B4-BE49-F238E27FC236}">
                <a16:creationId xmlns:a16="http://schemas.microsoft.com/office/drawing/2014/main" id="{AF8414FA-69E5-D249-930A-B2E542F8B206}"/>
              </a:ext>
            </a:extLst>
          </p:cNvPr>
          <p:cNvSpPr>
            <a:spLocks noGrp="1"/>
          </p:cNvSpPr>
          <p:nvPr>
            <p:ph type="sldNum" idx="12"/>
          </p:nvPr>
        </p:nvSpPr>
        <p:spPr/>
        <p:txBody>
          <a:bodyPr/>
          <a:lstStyle/>
          <a:p>
            <a:fld id="{00000000-1234-1234-1234-123412341234}" type="slidenum">
              <a:rPr lang="en" smtClean="0"/>
              <a:pPr/>
              <a:t>25</a:t>
            </a:fld>
            <a:endParaRPr lang="e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109"/>
          <p:cNvSpPr txBox="1">
            <a:spLocks noGrp="1"/>
          </p:cNvSpPr>
          <p:nvPr>
            <p:ph type="body" idx="1"/>
          </p:nvPr>
        </p:nvSpPr>
        <p:spPr>
          <a:xfrm>
            <a:off x="904867" y="1222433"/>
            <a:ext cx="10251600" cy="3014800"/>
          </a:xfrm>
          <a:prstGeom prst="rect">
            <a:avLst/>
          </a:prstGeom>
        </p:spPr>
        <p:txBody>
          <a:bodyPr spcFirstLastPara="1" vert="horz" wrap="square" lIns="121900" tIns="121900" rIns="121900" bIns="121900" rtlCol="0" anchor="t" anchorCtr="0">
            <a:noAutofit/>
          </a:bodyPr>
          <a:lstStyle/>
          <a:p>
            <a:pPr marL="0" indent="0">
              <a:buNone/>
            </a:pPr>
            <a:r>
              <a:rPr lang="en" sz="2400" dirty="0">
                <a:solidFill>
                  <a:srgbClr val="CC0000"/>
                </a:solidFill>
              </a:rPr>
              <a:t>We want to find all names which lives in one of the following cities: </a:t>
            </a:r>
            <a:r>
              <a:rPr lang="en" sz="2400" dirty="0" err="1">
                <a:solidFill>
                  <a:srgbClr val="CC0000"/>
                </a:solidFill>
              </a:rPr>
              <a:t>Eilat</a:t>
            </a:r>
            <a:r>
              <a:rPr lang="en" sz="2400" dirty="0">
                <a:solidFill>
                  <a:srgbClr val="CC0000"/>
                </a:solidFill>
              </a:rPr>
              <a:t>, Haifa, Jerusalem.</a:t>
            </a:r>
            <a:endParaRPr sz="2400" b="1" dirty="0">
              <a:solidFill>
                <a:srgbClr val="1155CC"/>
              </a:solidFill>
            </a:endParaRPr>
          </a:p>
          <a:p>
            <a:pPr marL="0" indent="0">
              <a:spcBef>
                <a:spcPts val="1333"/>
              </a:spcBef>
              <a:buNone/>
            </a:pPr>
            <a:r>
              <a:rPr lang="en" sz="2400" dirty="0"/>
              <a:t>SELECT Name</a:t>
            </a:r>
            <a:endParaRPr sz="2400" dirty="0"/>
          </a:p>
          <a:p>
            <a:pPr marL="0" indent="0">
              <a:spcBef>
                <a:spcPts val="1333"/>
              </a:spcBef>
              <a:buNone/>
            </a:pPr>
            <a:r>
              <a:rPr lang="en" sz="2400" dirty="0"/>
              <a:t>FROM Students</a:t>
            </a:r>
            <a:endParaRPr sz="2400" dirty="0"/>
          </a:p>
          <a:p>
            <a:pPr marL="0" indent="0">
              <a:spcBef>
                <a:spcPts val="1333"/>
              </a:spcBef>
              <a:buNone/>
            </a:pPr>
            <a:r>
              <a:rPr lang="en" sz="2400" dirty="0"/>
              <a:t>WHERE City IN (‘</a:t>
            </a:r>
            <a:r>
              <a:rPr lang="en" sz="2400" dirty="0" err="1"/>
              <a:t>Eilat</a:t>
            </a:r>
            <a:r>
              <a:rPr lang="en" sz="2400" dirty="0"/>
              <a:t>’, ‘Haifa’, ‘Jerusalem’)</a:t>
            </a:r>
            <a:endParaRPr sz="2400" dirty="0"/>
          </a:p>
          <a:p>
            <a:pPr marL="0" indent="0">
              <a:spcBef>
                <a:spcPts val="1333"/>
              </a:spcBef>
              <a:buNone/>
            </a:pPr>
            <a:endParaRPr sz="2400" dirty="0"/>
          </a:p>
          <a:p>
            <a:pPr marL="0" indent="0">
              <a:spcBef>
                <a:spcPts val="1333"/>
              </a:spcBef>
              <a:spcAft>
                <a:spcPts val="1333"/>
              </a:spcAft>
              <a:buNone/>
            </a:pPr>
            <a:endParaRPr sz="2400" dirty="0"/>
          </a:p>
        </p:txBody>
      </p:sp>
      <p:sp>
        <p:nvSpPr>
          <p:cNvPr id="822" name="Google Shape;822;p109"/>
          <p:cNvSpPr txBox="1">
            <a:spLocks noGrp="1"/>
          </p:cNvSpPr>
          <p:nvPr>
            <p:ph type="title"/>
          </p:nvPr>
        </p:nvSpPr>
        <p:spPr>
          <a:xfrm>
            <a:off x="970200" y="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err="1">
                <a:solidFill>
                  <a:schemeClr val="tx1"/>
                </a:solidFill>
                <a:latin typeface="+mn-lt"/>
                <a:ea typeface="+mn-ea"/>
                <a:cs typeface="+mn-cs"/>
              </a:rPr>
              <a:t>SubQuery</a:t>
            </a:r>
            <a:r>
              <a:rPr lang="en" sz="3200" b="1" dirty="0">
                <a:solidFill>
                  <a:schemeClr val="tx1"/>
                </a:solidFill>
                <a:latin typeface="+mn-lt"/>
                <a:ea typeface="+mn-ea"/>
                <a:cs typeface="+mn-cs"/>
              </a:rPr>
              <a:t> with IN</a:t>
            </a:r>
            <a:endParaRPr sz="3200" b="1" dirty="0">
              <a:solidFill>
                <a:schemeClr val="tx1"/>
              </a:solidFill>
              <a:latin typeface="+mn-lt"/>
              <a:ea typeface="+mn-ea"/>
              <a:cs typeface="+mn-cs"/>
            </a:endParaRPr>
          </a:p>
        </p:txBody>
      </p:sp>
      <p:pic>
        <p:nvPicPr>
          <p:cNvPr id="823" name="Google Shape;823;p109"/>
          <p:cNvPicPr preferRelativeResize="0"/>
          <p:nvPr/>
        </p:nvPicPr>
        <p:blipFill>
          <a:blip r:embed="rId3">
            <a:alphaModFix/>
          </a:blip>
          <a:stretch>
            <a:fillRect/>
          </a:stretch>
        </p:blipFill>
        <p:spPr>
          <a:xfrm>
            <a:off x="8221133" y="3698866"/>
            <a:ext cx="2358936" cy="1047200"/>
          </a:xfrm>
          <a:prstGeom prst="rect">
            <a:avLst/>
          </a:prstGeom>
          <a:noFill/>
          <a:ln>
            <a:noFill/>
          </a:ln>
        </p:spPr>
      </p:pic>
      <p:sp>
        <p:nvSpPr>
          <p:cNvPr id="2" name="Slide Number Placeholder 1">
            <a:extLst>
              <a:ext uri="{FF2B5EF4-FFF2-40B4-BE49-F238E27FC236}">
                <a16:creationId xmlns:a16="http://schemas.microsoft.com/office/drawing/2014/main" id="{8FC9A15C-A9EB-5B42-A30D-51C42C214FE7}"/>
              </a:ext>
            </a:extLst>
          </p:cNvPr>
          <p:cNvSpPr>
            <a:spLocks noGrp="1"/>
          </p:cNvSpPr>
          <p:nvPr>
            <p:ph type="sldNum" idx="12"/>
          </p:nvPr>
        </p:nvSpPr>
        <p:spPr/>
        <p:txBody>
          <a:bodyPr/>
          <a:lstStyle/>
          <a:p>
            <a:fld id="{00000000-1234-1234-1234-123412341234}" type="slidenum">
              <a:rPr lang="en" smtClean="0"/>
              <a:pPr/>
              <a:t>26</a:t>
            </a:fld>
            <a:endParaRPr lang="e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110"/>
          <p:cNvSpPr txBox="1">
            <a:spLocks noGrp="1"/>
          </p:cNvSpPr>
          <p:nvPr>
            <p:ph type="body" idx="1"/>
          </p:nvPr>
        </p:nvSpPr>
        <p:spPr>
          <a:xfrm>
            <a:off x="972600" y="1244600"/>
            <a:ext cx="10251600" cy="4177966"/>
          </a:xfrm>
          <a:prstGeom prst="rect">
            <a:avLst/>
          </a:prstGeom>
        </p:spPr>
        <p:txBody>
          <a:bodyPr spcFirstLastPara="1" vert="horz" wrap="square" lIns="121900" tIns="121900" rIns="121900" bIns="121900" rtlCol="0" anchor="t" anchorCtr="0">
            <a:noAutofit/>
          </a:bodyPr>
          <a:lstStyle/>
          <a:p>
            <a:pPr marL="0" indent="0">
              <a:buNone/>
            </a:pPr>
            <a:r>
              <a:rPr lang="en-US" sz="2400" dirty="0"/>
              <a:t>What is the output of the following query?</a:t>
            </a:r>
          </a:p>
          <a:p>
            <a:pPr marL="0" indent="0">
              <a:spcBef>
                <a:spcPts val="1333"/>
              </a:spcBef>
              <a:buNone/>
            </a:pPr>
            <a:r>
              <a:rPr lang="en-US" sz="2400" dirty="0"/>
              <a:t>SELECT SUM(Amount)</a:t>
            </a:r>
          </a:p>
          <a:p>
            <a:pPr marL="0" indent="0">
              <a:spcBef>
                <a:spcPts val="1333"/>
              </a:spcBef>
              <a:buNone/>
            </a:pPr>
            <a:r>
              <a:rPr lang="en-US" sz="2400" dirty="0"/>
              <a:t>FROM Students</a:t>
            </a:r>
          </a:p>
          <a:p>
            <a:pPr marL="0" indent="0">
              <a:spcBef>
                <a:spcPts val="1333"/>
              </a:spcBef>
              <a:buNone/>
            </a:pPr>
            <a:r>
              <a:rPr lang="en-US" sz="2400" dirty="0"/>
              <a:t>WHERE EXISTS (</a:t>
            </a:r>
            <a:r>
              <a:rPr lang="en-US" sz="2400" dirty="0">
                <a:solidFill>
                  <a:srgbClr val="FF0000"/>
                </a:solidFill>
              </a:rPr>
              <a:t>SELECT *</a:t>
            </a:r>
          </a:p>
          <a:p>
            <a:pPr marL="0" indent="0">
              <a:spcBef>
                <a:spcPts val="1333"/>
              </a:spcBef>
              <a:buNone/>
            </a:pPr>
            <a:r>
              <a:rPr lang="en-US" sz="2400" dirty="0">
                <a:solidFill>
                  <a:srgbClr val="FF0000"/>
                </a:solidFill>
              </a:rPr>
              <a:t>		         FROM </a:t>
            </a:r>
            <a:r>
              <a:rPr lang="en-US" sz="2400" dirty="0" err="1">
                <a:solidFill>
                  <a:srgbClr val="FF0000"/>
                </a:solidFill>
              </a:rPr>
              <a:t>AgudaMembers</a:t>
            </a:r>
            <a:r>
              <a:rPr lang="en-US" sz="2400" dirty="0">
                <a:solidFill>
                  <a:srgbClr val="FF0000"/>
                </a:solidFill>
              </a:rPr>
              <a:t> as AM</a:t>
            </a:r>
          </a:p>
          <a:p>
            <a:pPr marL="0" indent="0">
              <a:spcBef>
                <a:spcPts val="1333"/>
              </a:spcBef>
              <a:buNone/>
            </a:pPr>
            <a:r>
              <a:rPr lang="en-US" sz="2400" dirty="0">
                <a:solidFill>
                  <a:srgbClr val="FF0000"/>
                </a:solidFill>
              </a:rPr>
              <a:t>		         WHERE </a:t>
            </a:r>
            <a:r>
              <a:rPr lang="en-US" sz="2400" dirty="0" err="1">
                <a:solidFill>
                  <a:srgbClr val="FF0000"/>
                </a:solidFill>
              </a:rPr>
              <a:t>AM.Name</a:t>
            </a:r>
            <a:r>
              <a:rPr lang="en-US" sz="2400" dirty="0">
                <a:solidFill>
                  <a:srgbClr val="FF0000"/>
                </a:solidFill>
              </a:rPr>
              <a:t> = </a:t>
            </a:r>
            <a:r>
              <a:rPr lang="en-US" sz="2400" dirty="0" err="1">
                <a:solidFill>
                  <a:srgbClr val="FF0000"/>
                </a:solidFill>
              </a:rPr>
              <a:t>Students.Name</a:t>
            </a:r>
            <a:r>
              <a:rPr lang="en-US" sz="2400" dirty="0"/>
              <a:t>)</a:t>
            </a:r>
          </a:p>
          <a:p>
            <a:pPr marL="0" indent="0">
              <a:spcBef>
                <a:spcPts val="1333"/>
              </a:spcBef>
              <a:buNone/>
            </a:pPr>
            <a:endParaRPr lang="en-US" sz="2400" dirty="0"/>
          </a:p>
          <a:p>
            <a:pPr marL="0" indent="0">
              <a:spcBef>
                <a:spcPts val="1333"/>
              </a:spcBef>
              <a:spcAft>
                <a:spcPts val="1333"/>
              </a:spcAft>
              <a:buNone/>
            </a:pPr>
            <a:endParaRPr lang="en-US" sz="2400" dirty="0"/>
          </a:p>
        </p:txBody>
      </p:sp>
      <p:sp>
        <p:nvSpPr>
          <p:cNvPr id="829" name="Google Shape;829;p110"/>
          <p:cNvSpPr txBox="1">
            <a:spLocks noGrp="1"/>
          </p:cNvSpPr>
          <p:nvPr>
            <p:ph type="title"/>
          </p:nvPr>
        </p:nvSpPr>
        <p:spPr>
          <a:xfrm>
            <a:off x="972600" y="-121400"/>
            <a:ext cx="10251600" cy="713600"/>
          </a:xfrm>
          <a:prstGeom prst="rect">
            <a:avLst/>
          </a:prstGeom>
        </p:spPr>
        <p:txBody>
          <a:bodyPr spcFirstLastPara="1" vert="horz" wrap="square" lIns="121900" tIns="121900" rIns="121900" bIns="121900" rtlCol="0" anchor="t" anchorCtr="0">
            <a:noAutofit/>
          </a:bodyPr>
          <a:lstStyle/>
          <a:p>
            <a:pPr algn="ctr">
              <a:lnSpc>
                <a:spcPct val="150000"/>
              </a:lnSpc>
              <a:spcBef>
                <a:spcPts val="1000"/>
              </a:spcBef>
            </a:pPr>
            <a:r>
              <a:rPr lang="en" sz="3200" b="1" dirty="0" err="1">
                <a:solidFill>
                  <a:schemeClr val="tx1"/>
                </a:solidFill>
                <a:latin typeface="+mn-lt"/>
                <a:ea typeface="+mn-ea"/>
                <a:cs typeface="+mn-cs"/>
              </a:rPr>
              <a:t>SubQuery</a:t>
            </a:r>
            <a:r>
              <a:rPr lang="en" sz="3200" b="1" dirty="0">
                <a:solidFill>
                  <a:schemeClr val="tx1"/>
                </a:solidFill>
                <a:latin typeface="+mn-lt"/>
                <a:ea typeface="+mn-ea"/>
                <a:cs typeface="+mn-cs"/>
              </a:rPr>
              <a:t> with EXIST</a:t>
            </a:r>
            <a:endParaRPr sz="3200" b="1" dirty="0">
              <a:solidFill>
                <a:schemeClr val="tx1"/>
              </a:solidFill>
              <a:latin typeface="+mn-lt"/>
              <a:ea typeface="+mn-ea"/>
              <a:cs typeface="+mn-cs"/>
            </a:endParaRPr>
          </a:p>
        </p:txBody>
      </p:sp>
      <p:sp>
        <p:nvSpPr>
          <p:cNvPr id="2" name="Slide Number Placeholder 1">
            <a:extLst>
              <a:ext uri="{FF2B5EF4-FFF2-40B4-BE49-F238E27FC236}">
                <a16:creationId xmlns:a16="http://schemas.microsoft.com/office/drawing/2014/main" id="{38B2A843-576C-384B-8D0B-B60172BF4FAF}"/>
              </a:ext>
            </a:extLst>
          </p:cNvPr>
          <p:cNvSpPr>
            <a:spLocks noGrp="1"/>
          </p:cNvSpPr>
          <p:nvPr>
            <p:ph type="sldNum" idx="12"/>
          </p:nvPr>
        </p:nvSpPr>
        <p:spPr/>
        <p:txBody>
          <a:bodyPr/>
          <a:lstStyle/>
          <a:p>
            <a:fld id="{00000000-1234-1234-1234-123412341234}" type="slidenum">
              <a:rPr lang="en" smtClean="0"/>
              <a:pPr/>
              <a:t>27</a:t>
            </a:fld>
            <a:endParaRPr lang="e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pic>
        <p:nvPicPr>
          <p:cNvPr id="835" name="Google Shape;835;p111"/>
          <p:cNvPicPr preferRelativeResize="0"/>
          <p:nvPr/>
        </p:nvPicPr>
        <p:blipFill>
          <a:blip r:embed="rId3">
            <a:alphaModFix/>
          </a:blip>
          <a:stretch>
            <a:fillRect/>
          </a:stretch>
        </p:blipFill>
        <p:spPr>
          <a:xfrm>
            <a:off x="4304167" y="2582333"/>
            <a:ext cx="3061833" cy="1502834"/>
          </a:xfrm>
          <a:prstGeom prst="rect">
            <a:avLst/>
          </a:prstGeom>
          <a:noFill/>
          <a:ln>
            <a:noFill/>
          </a:ln>
        </p:spPr>
      </p:pic>
      <p:sp>
        <p:nvSpPr>
          <p:cNvPr id="4" name="Slide Number Placeholder 3">
            <a:extLst>
              <a:ext uri="{FF2B5EF4-FFF2-40B4-BE49-F238E27FC236}">
                <a16:creationId xmlns:a16="http://schemas.microsoft.com/office/drawing/2014/main" id="{9A1B10FB-313C-5F43-9745-67E0C9795990}"/>
              </a:ext>
            </a:extLst>
          </p:cNvPr>
          <p:cNvSpPr>
            <a:spLocks noGrp="1"/>
          </p:cNvSpPr>
          <p:nvPr>
            <p:ph type="sldNum" idx="12"/>
          </p:nvPr>
        </p:nvSpPr>
        <p:spPr/>
        <p:txBody>
          <a:bodyPr/>
          <a:lstStyle/>
          <a:p>
            <a:fld id="{00000000-1234-1234-1234-123412341234}" type="slidenum">
              <a:rPr lang="en" smtClean="0"/>
              <a:pPr/>
              <a:t>28</a:t>
            </a:fld>
            <a:endParaRPr lang="e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29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Window Functions</a:t>
            </a:r>
          </a:p>
        </p:txBody>
      </p:sp>
    </p:spTree>
    <p:extLst>
      <p:ext uri="{BB962C8B-B14F-4D97-AF65-F5344CB8AC3E}">
        <p14:creationId xmlns:p14="http://schemas.microsoft.com/office/powerpoint/2010/main" val="403858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What is Window Functions?</a:t>
            </a:r>
          </a:p>
          <a:p>
            <a:pPr>
              <a:lnSpc>
                <a:spcPct val="150000"/>
              </a:lnSpc>
            </a:pPr>
            <a:r>
              <a:rPr lang="en-US" sz="2400" dirty="0"/>
              <a:t>Window functions are used to </a:t>
            </a:r>
            <a:r>
              <a:rPr lang="en-US" sz="2400" b="1" dirty="0"/>
              <a:t>perform a calculation on an aggregate value</a:t>
            </a:r>
            <a:r>
              <a:rPr lang="en-US" sz="2400" dirty="0"/>
              <a:t> based on a set of rows and return multiple rows for each group. </a:t>
            </a:r>
          </a:p>
          <a:p>
            <a:pPr marL="342900" indent="-342900">
              <a:lnSpc>
                <a:spcPct val="150000"/>
              </a:lnSpc>
              <a:buFontTx/>
              <a:buChar char="-"/>
            </a:pPr>
            <a:r>
              <a:rPr lang="en-US" sz="2400" dirty="0"/>
              <a:t>The window word represents the group of rows on which the function will be operated.</a:t>
            </a:r>
          </a:p>
          <a:p>
            <a:pPr marL="342900" indent="-342900">
              <a:lnSpc>
                <a:spcPct val="150000"/>
              </a:lnSpc>
              <a:buFontTx/>
              <a:buChar char="-"/>
            </a:pPr>
            <a:r>
              <a:rPr lang="en-US" sz="2400" dirty="0"/>
              <a:t>Performs a calculation in the same way that the aggregate functions would perform.</a:t>
            </a:r>
          </a:p>
          <a:p>
            <a:pPr marL="342900" indent="-342900">
              <a:lnSpc>
                <a:spcPct val="150000"/>
              </a:lnSpc>
              <a:buFontTx/>
              <a:buChar char="-"/>
            </a:pPr>
            <a:r>
              <a:rPr lang="en-US" sz="2400" dirty="0"/>
              <a:t>Window functions work on a group of rows and return a total value for each row. As a result, each row retains its distinct identity.</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68439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What is Window Functions?</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descr="Intro to SQL Window Functions | Toptal">
            <a:extLst>
              <a:ext uri="{FF2B5EF4-FFF2-40B4-BE49-F238E27FC236}">
                <a16:creationId xmlns:a16="http://schemas.microsoft.com/office/drawing/2014/main" id="{61FEDA1A-92C9-D740-AEE8-2C2C9343C9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020"/>
          <a:stretch/>
        </p:blipFill>
        <p:spPr bwMode="auto">
          <a:xfrm>
            <a:off x="719665" y="2188535"/>
            <a:ext cx="10110270" cy="273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847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Syntax</a:t>
            </a:r>
          </a:p>
          <a:p>
            <a:br>
              <a:rPr lang="en-US" sz="2400" dirty="0"/>
            </a:br>
            <a:endParaRPr lang="en-US" sz="2400" dirty="0"/>
          </a:p>
          <a:p>
            <a:endParaRPr lang="en-US" sz="2400" dirty="0"/>
          </a:p>
          <a:p>
            <a:endParaRPr lang="en-US" sz="2400" dirty="0"/>
          </a:p>
          <a:p>
            <a:pPr>
              <a:lnSpc>
                <a:spcPct val="150000"/>
              </a:lnSpc>
            </a:pPr>
            <a:r>
              <a:rPr lang="en-US" sz="2400" b="1" dirty="0" err="1"/>
              <a:t>window_function</a:t>
            </a:r>
            <a:r>
              <a:rPr lang="en-US" sz="2400" b="1" dirty="0"/>
              <a:t>:</a:t>
            </a:r>
            <a:r>
              <a:rPr lang="en-US" sz="2400" dirty="0"/>
              <a:t> It indicates the name of your window function.</a:t>
            </a:r>
          </a:p>
          <a:p>
            <a:pPr>
              <a:lnSpc>
                <a:spcPct val="150000"/>
              </a:lnSpc>
            </a:pPr>
            <a:r>
              <a:rPr lang="en-US" sz="2400" b="1" dirty="0"/>
              <a:t>ALL (optional):</a:t>
            </a:r>
            <a:r>
              <a:rPr lang="en-US" sz="2400" dirty="0"/>
              <a:t> count all values along with duplicates. We </a:t>
            </a:r>
            <a:r>
              <a:rPr lang="en-US" sz="2400" u="sng" dirty="0"/>
              <a:t>cannot</a:t>
            </a:r>
            <a:r>
              <a:rPr lang="en-US" sz="2400" dirty="0"/>
              <a:t> use the DISTINCT keyword in window functions.</a:t>
            </a:r>
          </a:p>
          <a:p>
            <a:pPr>
              <a:lnSpc>
                <a:spcPct val="150000"/>
              </a:lnSpc>
            </a:pPr>
            <a:r>
              <a:rPr lang="en-US" sz="2400" b="1" dirty="0"/>
              <a:t>Expression:</a:t>
            </a:r>
            <a:r>
              <a:rPr lang="en-US" sz="2400" dirty="0"/>
              <a:t> the column name for which we calculate an aggregated value.</a:t>
            </a:r>
          </a:p>
          <a:p>
            <a:endParaRPr lang="en-US" dirty="0"/>
          </a:p>
          <a:p>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TextBox 2">
            <a:extLst>
              <a:ext uri="{FF2B5EF4-FFF2-40B4-BE49-F238E27FC236}">
                <a16:creationId xmlns:a16="http://schemas.microsoft.com/office/drawing/2014/main" id="{F15D8147-8680-E34A-8B7C-4D77A2FA40F8}"/>
              </a:ext>
            </a:extLst>
          </p:cNvPr>
          <p:cNvSpPr txBox="1"/>
          <p:nvPr/>
        </p:nvSpPr>
        <p:spPr>
          <a:xfrm>
            <a:off x="4038600" y="1126067"/>
            <a:ext cx="4555067" cy="1754326"/>
          </a:xfrm>
          <a:prstGeom prst="rect">
            <a:avLst/>
          </a:prstGeom>
          <a:noFill/>
        </p:spPr>
        <p:txBody>
          <a:bodyPr wrap="square" rtlCol="0">
            <a:spAutoFit/>
          </a:bodyPr>
          <a:lstStyle/>
          <a:p>
            <a:r>
              <a:rPr lang="en-US" dirty="0" err="1"/>
              <a:t>window_function_name</a:t>
            </a:r>
            <a:r>
              <a:rPr lang="en-US" dirty="0"/>
              <a:t>([ALL] expression)     </a:t>
            </a:r>
          </a:p>
          <a:p>
            <a:r>
              <a:rPr lang="en-US" dirty="0"/>
              <a:t>OVER (    </a:t>
            </a:r>
          </a:p>
          <a:p>
            <a:r>
              <a:rPr lang="en-US" dirty="0"/>
              <a:t>    [</a:t>
            </a:r>
            <a:r>
              <a:rPr lang="en-US" dirty="0" err="1"/>
              <a:t>partition_defintion</a:t>
            </a:r>
            <a:r>
              <a:rPr lang="en-US" dirty="0"/>
              <a:t>]    </a:t>
            </a:r>
          </a:p>
          <a:p>
            <a:r>
              <a:rPr lang="en-US" dirty="0"/>
              <a:t>    [</a:t>
            </a:r>
            <a:r>
              <a:rPr lang="en-US" dirty="0" err="1"/>
              <a:t>order_definition</a:t>
            </a:r>
            <a:r>
              <a:rPr lang="en-US" dirty="0"/>
              <a:t>]   </a:t>
            </a:r>
          </a:p>
          <a:p>
            <a:r>
              <a:rPr lang="en-US" dirty="0"/>
              <a:t>)   </a:t>
            </a:r>
          </a:p>
          <a:p>
            <a:endParaRPr lang="en-IL" dirty="0"/>
          </a:p>
        </p:txBody>
      </p:sp>
    </p:spTree>
    <p:extLst>
      <p:ext uri="{BB962C8B-B14F-4D97-AF65-F5344CB8AC3E}">
        <p14:creationId xmlns:p14="http://schemas.microsoft.com/office/powerpoint/2010/main" val="138038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Syntax</a:t>
            </a:r>
          </a:p>
          <a:p>
            <a:pPr>
              <a:lnSpc>
                <a:spcPct val="150000"/>
              </a:lnSpc>
            </a:pPr>
            <a:r>
              <a:rPr lang="en-US" sz="2400" b="1" dirty="0"/>
              <a:t>OVER:</a:t>
            </a:r>
            <a:r>
              <a:rPr lang="en-US" sz="2400" dirty="0"/>
              <a:t> It specifies the window clauses for aggregate functions.</a:t>
            </a:r>
          </a:p>
          <a:p>
            <a:pPr>
              <a:lnSpc>
                <a:spcPct val="150000"/>
              </a:lnSpc>
            </a:pPr>
            <a:r>
              <a:rPr lang="en-US" sz="2400" b="1" dirty="0"/>
              <a:t>PARTITION BY:</a:t>
            </a:r>
            <a:r>
              <a:rPr lang="en-US" sz="2400" dirty="0"/>
              <a:t> This clause divides the rows into partitions, and then a window function is operated on each partition. </a:t>
            </a:r>
          </a:p>
          <a:p>
            <a:pPr>
              <a:lnSpc>
                <a:spcPct val="150000"/>
              </a:lnSpc>
            </a:pPr>
            <a:r>
              <a:rPr lang="en-US" sz="2400" b="1" dirty="0"/>
              <a:t>ORDER BY:</a:t>
            </a:r>
            <a:r>
              <a:rPr lang="en-US" sz="2400" dirty="0"/>
              <a:t> It is used to specify the order of rows within each partition. </a:t>
            </a:r>
          </a:p>
          <a:p>
            <a:pPr>
              <a:lnSpc>
                <a:spcPct val="150000"/>
              </a:lnSpc>
            </a:pPr>
            <a:r>
              <a:rPr lang="en-US" sz="2400" u="sng" dirty="0"/>
              <a:t>When this clause is not defined, SQL Server will use the ORDER BY for the entire table.</a:t>
            </a:r>
          </a:p>
          <a:p>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22673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Window Functions Types</a:t>
            </a:r>
          </a:p>
          <a:p>
            <a:pPr>
              <a:lnSpc>
                <a:spcPct val="150000"/>
              </a:lnSpc>
            </a:pPr>
            <a:r>
              <a:rPr lang="en-US" sz="2400" b="1" dirty="0"/>
              <a:t>Aggregate Window Functions</a:t>
            </a:r>
          </a:p>
          <a:p>
            <a:pPr>
              <a:lnSpc>
                <a:spcPct val="150000"/>
              </a:lnSpc>
            </a:pPr>
            <a:r>
              <a:rPr lang="en-US" sz="2400" b="1" dirty="0"/>
              <a:t>	</a:t>
            </a:r>
            <a:r>
              <a:rPr lang="en-US" sz="2400" dirty="0"/>
              <a:t>Operated on multiple rows. SUM(), MAX(), MIN(), AVG(), COUNT(), etc.</a:t>
            </a:r>
          </a:p>
          <a:p>
            <a:pPr>
              <a:lnSpc>
                <a:spcPct val="150000"/>
              </a:lnSpc>
            </a:pPr>
            <a:r>
              <a:rPr lang="en-US" sz="2400" b="1" dirty="0"/>
              <a:t>Ranking Window Functions</a:t>
            </a:r>
          </a:p>
          <a:p>
            <a:pPr>
              <a:lnSpc>
                <a:spcPct val="150000"/>
              </a:lnSpc>
            </a:pPr>
            <a:r>
              <a:rPr lang="en-US" sz="2400" b="1" dirty="0"/>
              <a:t>	</a:t>
            </a:r>
            <a:r>
              <a:rPr lang="en-US" sz="2400" dirty="0"/>
              <a:t>Ranks each row of a partition in a table. </a:t>
            </a:r>
          </a:p>
          <a:p>
            <a:pPr>
              <a:lnSpc>
                <a:spcPct val="150000"/>
              </a:lnSpc>
            </a:pPr>
            <a:r>
              <a:rPr lang="en-US" sz="2400" dirty="0"/>
              <a:t>	RANK(), DENSE_RANK(), ROW_NUMBER(), NTILE(), etc.</a:t>
            </a:r>
          </a:p>
          <a:p>
            <a:pPr>
              <a:lnSpc>
                <a:spcPct val="150000"/>
              </a:lnSpc>
            </a:pPr>
            <a:r>
              <a:rPr lang="en-US" sz="2400" b="1" dirty="0"/>
              <a:t>Value Window Functions</a:t>
            </a:r>
          </a:p>
          <a:p>
            <a:pPr>
              <a:lnSpc>
                <a:spcPct val="150000"/>
              </a:lnSpc>
            </a:pPr>
            <a:r>
              <a:rPr lang="en-US" sz="2400" dirty="0"/>
              <a:t>	Locally represented by a power series. </a:t>
            </a:r>
          </a:p>
          <a:p>
            <a:pPr>
              <a:lnSpc>
                <a:spcPct val="150000"/>
              </a:lnSpc>
            </a:pPr>
            <a:r>
              <a:rPr lang="en-US" sz="2400" dirty="0"/>
              <a:t>	LAG(), LEAD(), FIRST_VALUE(), LAST_VALUE(), etc.</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803332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Sales Table</a:t>
            </a:r>
          </a:p>
          <a:p>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78F10A0D-BAE7-6440-8924-65F0B82B490B}"/>
              </a:ext>
            </a:extLst>
          </p:cNvPr>
          <p:cNvSpPr txBox="1"/>
          <p:nvPr/>
        </p:nvSpPr>
        <p:spPr>
          <a:xfrm>
            <a:off x="4055533" y="1377465"/>
            <a:ext cx="4555067" cy="3737946"/>
          </a:xfrm>
          <a:prstGeom prst="rect">
            <a:avLst/>
          </a:prstGeom>
          <a:noFill/>
        </p:spPr>
        <p:txBody>
          <a:bodyPr wrap="square" rtlCol="0">
            <a:spAutoFit/>
          </a:bodyPr>
          <a:lstStyle/>
          <a:p>
            <a:pPr>
              <a:lnSpc>
                <a:spcPct val="150000"/>
              </a:lnSpc>
            </a:pPr>
            <a:r>
              <a:rPr lang="en-US" sz="2000" b="1" dirty="0"/>
              <a:t>CREATE</a:t>
            </a:r>
            <a:r>
              <a:rPr lang="en-US" sz="2000" dirty="0"/>
              <a:t> </a:t>
            </a:r>
            <a:r>
              <a:rPr lang="en-US" sz="2000" b="1" dirty="0"/>
              <a:t>TABLE</a:t>
            </a:r>
            <a:r>
              <a:rPr lang="en-US" sz="2000" dirty="0"/>
              <a:t> Sales(    </a:t>
            </a:r>
          </a:p>
          <a:p>
            <a:pPr>
              <a:lnSpc>
                <a:spcPct val="150000"/>
              </a:lnSpc>
            </a:pPr>
            <a:r>
              <a:rPr lang="en-US" sz="2000" dirty="0"/>
              <a:t>    Employee </a:t>
            </a:r>
            <a:r>
              <a:rPr lang="en-US" sz="2000" b="1" dirty="0"/>
              <a:t>VARCHAR</a:t>
            </a:r>
            <a:r>
              <a:rPr lang="en-US" sz="2000" dirty="0"/>
              <a:t>(45) NOT NULL,    </a:t>
            </a:r>
          </a:p>
          <a:p>
            <a:pPr>
              <a:lnSpc>
                <a:spcPct val="150000"/>
              </a:lnSpc>
            </a:pPr>
            <a:r>
              <a:rPr lang="en-US" sz="2000" dirty="0"/>
              <a:t>    Year </a:t>
            </a:r>
            <a:r>
              <a:rPr lang="en-US" sz="2000" b="1" dirty="0"/>
              <a:t>INT</a:t>
            </a:r>
            <a:r>
              <a:rPr lang="en-US" sz="2000" dirty="0"/>
              <a:t> NOT NULL,  </a:t>
            </a:r>
          </a:p>
          <a:p>
            <a:pPr>
              <a:lnSpc>
                <a:spcPct val="150000"/>
              </a:lnSpc>
            </a:pPr>
            <a:r>
              <a:rPr lang="en-US" sz="2000" dirty="0"/>
              <a:t>    Country </a:t>
            </a:r>
            <a:r>
              <a:rPr lang="en-US" sz="2000" b="1" dirty="0"/>
              <a:t>VARCHAR</a:t>
            </a:r>
            <a:r>
              <a:rPr lang="en-US" sz="2000" dirty="0"/>
              <a:t>(45) NOT NULL,    </a:t>
            </a:r>
          </a:p>
          <a:p>
            <a:pPr>
              <a:lnSpc>
                <a:spcPct val="150000"/>
              </a:lnSpc>
            </a:pPr>
            <a:r>
              <a:rPr lang="en-US" sz="2000" dirty="0"/>
              <a:t>    Product </a:t>
            </a:r>
            <a:r>
              <a:rPr lang="en-US" sz="2000" b="1" dirty="0"/>
              <a:t>VARCHAR</a:t>
            </a:r>
            <a:r>
              <a:rPr lang="en-US" sz="2000" dirty="0"/>
              <a:t>(45) NOT NULL,    </a:t>
            </a:r>
          </a:p>
          <a:p>
            <a:pPr>
              <a:lnSpc>
                <a:spcPct val="150000"/>
              </a:lnSpc>
            </a:pPr>
            <a:r>
              <a:rPr lang="en-US" sz="2000" dirty="0"/>
              <a:t>    Amount </a:t>
            </a:r>
            <a:r>
              <a:rPr lang="en-US" sz="2000" b="1" dirty="0"/>
              <a:t>DECIMAL</a:t>
            </a:r>
            <a:r>
              <a:rPr lang="en-US" sz="2000" dirty="0"/>
              <a:t>(12,2) NOT NULL,    </a:t>
            </a:r>
          </a:p>
          <a:p>
            <a:pPr>
              <a:lnSpc>
                <a:spcPct val="150000"/>
              </a:lnSpc>
            </a:pPr>
            <a:r>
              <a:rPr lang="en-US" sz="2000" dirty="0"/>
              <a:t>    </a:t>
            </a:r>
            <a:r>
              <a:rPr lang="en-US" sz="2000" b="1" dirty="0"/>
              <a:t>PRIMARY</a:t>
            </a:r>
            <a:r>
              <a:rPr lang="en-US" sz="2000" dirty="0"/>
              <a:t> </a:t>
            </a:r>
            <a:r>
              <a:rPr lang="en-US" sz="2000" b="1" dirty="0"/>
              <a:t>KEY</a:t>
            </a:r>
            <a:r>
              <a:rPr lang="en-US" sz="2000" dirty="0"/>
              <a:t>(Employee, Year)    </a:t>
            </a:r>
          </a:p>
          <a:p>
            <a:pPr>
              <a:lnSpc>
                <a:spcPct val="150000"/>
              </a:lnSpc>
            </a:pPr>
            <a:r>
              <a:rPr lang="en-US" sz="2000" dirty="0"/>
              <a:t>);   </a:t>
            </a:r>
          </a:p>
        </p:txBody>
      </p:sp>
    </p:spTree>
    <p:extLst>
      <p:ext uri="{BB962C8B-B14F-4D97-AF65-F5344CB8AC3E}">
        <p14:creationId xmlns:p14="http://schemas.microsoft.com/office/powerpoint/2010/main" val="61639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Aggregration Window Functions</a:t>
            </a:r>
          </a:p>
        </p:txBody>
      </p:sp>
    </p:spTree>
    <p:extLst>
      <p:ext uri="{BB962C8B-B14F-4D97-AF65-F5344CB8AC3E}">
        <p14:creationId xmlns:p14="http://schemas.microsoft.com/office/powerpoint/2010/main" val="1385870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Sum</a:t>
            </a:r>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br>
              <a:rPr lang="en-US" sz="2400" dirty="0"/>
            </a:br>
            <a:r>
              <a:rPr lang="en-US" sz="2400" dirty="0"/>
              <a:t>Result: aggregates the data </a:t>
            </a:r>
            <a:r>
              <a:rPr lang="en-US" sz="2400" b="1" dirty="0"/>
              <a:t>for each country </a:t>
            </a:r>
            <a:r>
              <a:rPr lang="en-US" sz="2400" dirty="0"/>
              <a:t>and displays the sum of </a:t>
            </a:r>
            <a:r>
              <a:rPr lang="en-US" sz="2400" b="1" dirty="0"/>
              <a:t>total sales </a:t>
            </a:r>
            <a:r>
              <a:rPr lang="en-US" sz="2400" dirty="0"/>
              <a:t>for each of them. It also inserts another column for the total sales as  Total so that each row retains its identity.</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78F10A0D-BAE7-6440-8924-65F0B82B490B}"/>
              </a:ext>
            </a:extLst>
          </p:cNvPr>
          <p:cNvSpPr txBox="1"/>
          <p:nvPr/>
        </p:nvSpPr>
        <p:spPr>
          <a:xfrm>
            <a:off x="2015067" y="1432068"/>
            <a:ext cx="8771465" cy="1697068"/>
          </a:xfrm>
          <a:prstGeom prst="rect">
            <a:avLst/>
          </a:prstGeom>
          <a:noFill/>
        </p:spPr>
        <p:txBody>
          <a:bodyPr wrap="square" rtlCol="0">
            <a:spAutoFit/>
          </a:bodyPr>
          <a:lstStyle/>
          <a:p>
            <a:pPr>
              <a:lnSpc>
                <a:spcPct val="150000"/>
              </a:lnSpc>
            </a:pPr>
            <a:r>
              <a:rPr lang="en-US" sz="2400" b="1" dirty="0"/>
              <a:t>SELECT</a:t>
            </a:r>
            <a:r>
              <a:rPr lang="en-US" sz="2400" dirty="0"/>
              <a:t> Employee, Year, Country, Product, Amount, </a:t>
            </a:r>
            <a:r>
              <a:rPr lang="en-US" sz="2400" b="1" dirty="0"/>
              <a:t>SUM</a:t>
            </a:r>
            <a:r>
              <a:rPr lang="en-US" sz="2400" dirty="0"/>
              <a:t>(Amount)   </a:t>
            </a:r>
          </a:p>
          <a:p>
            <a:pPr>
              <a:lnSpc>
                <a:spcPct val="150000"/>
              </a:lnSpc>
            </a:pPr>
            <a:r>
              <a:rPr lang="en-US" sz="2400" b="1" dirty="0"/>
              <a:t>OVER</a:t>
            </a:r>
            <a:r>
              <a:rPr lang="en-US" sz="2400" dirty="0"/>
              <a:t>(</a:t>
            </a:r>
            <a:r>
              <a:rPr lang="en-US" sz="2400" b="1" dirty="0"/>
              <a:t>PARTITION</a:t>
            </a:r>
            <a:r>
              <a:rPr lang="en-US" sz="2400" dirty="0"/>
              <a:t> </a:t>
            </a:r>
            <a:r>
              <a:rPr lang="en-US" sz="2400" b="1" dirty="0"/>
              <a:t>BY</a:t>
            </a:r>
            <a:r>
              <a:rPr lang="en-US" sz="2400" dirty="0"/>
              <a:t> Country) </a:t>
            </a:r>
            <a:r>
              <a:rPr lang="en-US" sz="2400" b="1" dirty="0"/>
              <a:t>as</a:t>
            </a:r>
            <a:r>
              <a:rPr lang="en-US" sz="2400" dirty="0"/>
              <a:t> Total</a:t>
            </a:r>
          </a:p>
          <a:p>
            <a:pPr>
              <a:lnSpc>
                <a:spcPct val="150000"/>
              </a:lnSpc>
            </a:pPr>
            <a:r>
              <a:rPr lang="en-US" sz="2400" b="1" dirty="0"/>
              <a:t>FROM</a:t>
            </a:r>
            <a:r>
              <a:rPr lang="en-US" sz="2400" dirty="0"/>
              <a:t> Sales</a:t>
            </a:r>
          </a:p>
        </p:txBody>
      </p:sp>
    </p:spTree>
    <p:extLst>
      <p:ext uri="{BB962C8B-B14F-4D97-AF65-F5344CB8AC3E}">
        <p14:creationId xmlns:p14="http://schemas.microsoft.com/office/powerpoint/2010/main" val="416882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Sum</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7" name="Table 6">
            <a:extLst>
              <a:ext uri="{FF2B5EF4-FFF2-40B4-BE49-F238E27FC236}">
                <a16:creationId xmlns:a16="http://schemas.microsoft.com/office/drawing/2014/main" id="{1FC10A8F-0719-C64A-8A24-B6BFD01A9918}"/>
              </a:ext>
            </a:extLst>
          </p:cNvPr>
          <p:cNvGraphicFramePr>
            <a:graphicFrameLocks noGrp="1"/>
          </p:cNvGraphicFramePr>
          <p:nvPr>
            <p:extLst>
              <p:ext uri="{D42A27DB-BD31-4B8C-83A1-F6EECF244321}">
                <p14:modId xmlns:p14="http://schemas.microsoft.com/office/powerpoint/2010/main" val="1701326208"/>
              </p:ext>
            </p:extLst>
          </p:nvPr>
        </p:nvGraphicFramePr>
        <p:xfrm>
          <a:off x="2311400" y="2133918"/>
          <a:ext cx="7408336" cy="2225040"/>
        </p:xfrm>
        <a:graphic>
          <a:graphicData uri="http://schemas.openxmlformats.org/drawingml/2006/table">
            <a:tbl>
              <a:tblPr firstRow="1" bandRow="1">
                <a:tableStyleId>{2D5ABB26-0587-4C30-8999-92F81FD0307C}</a:tableStyleId>
              </a:tblPr>
              <a:tblGrid>
                <a:gridCol w="1574799">
                  <a:extLst>
                    <a:ext uri="{9D8B030D-6E8A-4147-A177-3AD203B41FA5}">
                      <a16:colId xmlns:a16="http://schemas.microsoft.com/office/drawing/2014/main" val="3772329477"/>
                    </a:ext>
                  </a:extLst>
                </a:gridCol>
                <a:gridCol w="899345">
                  <a:extLst>
                    <a:ext uri="{9D8B030D-6E8A-4147-A177-3AD203B41FA5}">
                      <a16:colId xmlns:a16="http://schemas.microsoft.com/office/drawing/2014/main" val="1545367180"/>
                    </a:ext>
                  </a:extLst>
                </a:gridCol>
                <a:gridCol w="1233548">
                  <a:extLst>
                    <a:ext uri="{9D8B030D-6E8A-4147-A177-3AD203B41FA5}">
                      <a16:colId xmlns:a16="http://schemas.microsoft.com/office/drawing/2014/main" val="1182363303"/>
                    </a:ext>
                  </a:extLst>
                </a:gridCol>
                <a:gridCol w="1233548">
                  <a:extLst>
                    <a:ext uri="{9D8B030D-6E8A-4147-A177-3AD203B41FA5}">
                      <a16:colId xmlns:a16="http://schemas.microsoft.com/office/drawing/2014/main" val="830078903"/>
                    </a:ext>
                  </a:extLst>
                </a:gridCol>
                <a:gridCol w="1233548">
                  <a:extLst>
                    <a:ext uri="{9D8B030D-6E8A-4147-A177-3AD203B41FA5}">
                      <a16:colId xmlns:a16="http://schemas.microsoft.com/office/drawing/2014/main" val="1355601158"/>
                    </a:ext>
                  </a:extLst>
                </a:gridCol>
                <a:gridCol w="1233548">
                  <a:extLst>
                    <a:ext uri="{9D8B030D-6E8A-4147-A177-3AD203B41FA5}">
                      <a16:colId xmlns:a16="http://schemas.microsoft.com/office/drawing/2014/main" val="1176974619"/>
                    </a:ext>
                  </a:extLst>
                </a:gridCol>
              </a:tblGrid>
              <a:tr h="370840">
                <a:tc>
                  <a:txBody>
                    <a:bodyPr/>
                    <a:lstStyle/>
                    <a:p>
                      <a:r>
                        <a:rPr lang="en-US" b="1" dirty="0"/>
                        <a:t>Employee</a:t>
                      </a:r>
                      <a:endParaRPr lang="en-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Country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Total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13319"/>
                  </a:ext>
                </a:extLst>
              </a:tr>
              <a:tr h="370840">
                <a:tc>
                  <a:txBody>
                    <a:bodyPr/>
                    <a:lstStyle/>
                    <a:p>
                      <a:r>
                        <a:rPr lang="en-IL" dirty="0"/>
                        <a:t>Or Peretz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Computer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45000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9249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Or Peretz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Computer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45000</a:t>
                      </a: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523361"/>
                  </a:ext>
                </a:extLst>
              </a:tr>
              <a:tr h="370840">
                <a:tc>
                  <a:txBody>
                    <a:bodyPr/>
                    <a:lstStyle/>
                    <a:p>
                      <a:r>
                        <a:rPr lang="en-IL" dirty="0"/>
                        <a:t>Or Peretz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rPr>
                        <a:t>45000</a:t>
                      </a: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095924"/>
                  </a:ext>
                </a:extLst>
              </a:tr>
              <a:tr h="370840">
                <a:tc>
                  <a:txBody>
                    <a:bodyPr/>
                    <a:lstStyle/>
                    <a:p>
                      <a:r>
                        <a:rPr lang="en-IL" dirty="0"/>
                        <a:t>Omer Doron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USA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30000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32532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Omer Doron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USA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Mobile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30000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531990"/>
                  </a:ext>
                </a:extLst>
              </a:tr>
            </a:tbl>
          </a:graphicData>
        </a:graphic>
      </p:graphicFrame>
      <p:sp>
        <p:nvSpPr>
          <p:cNvPr id="3" name="Oval 2">
            <a:extLst>
              <a:ext uri="{FF2B5EF4-FFF2-40B4-BE49-F238E27FC236}">
                <a16:creationId xmlns:a16="http://schemas.microsoft.com/office/drawing/2014/main" id="{4C6C0266-4C2D-BA4C-87C0-7DE4D032999E}"/>
              </a:ext>
            </a:extLst>
          </p:cNvPr>
          <p:cNvSpPr/>
          <p:nvPr/>
        </p:nvSpPr>
        <p:spPr>
          <a:xfrm>
            <a:off x="8221133" y="2472266"/>
            <a:ext cx="1397000" cy="11599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66100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Avg</a:t>
            </a:r>
          </a:p>
          <a:p>
            <a:pPr>
              <a:lnSpc>
                <a:spcPct val="150000"/>
              </a:lnSpc>
            </a:pPr>
            <a:endParaRPr lang="en-US" sz="2400" b="1" dirty="0"/>
          </a:p>
          <a:p>
            <a:pPr>
              <a:lnSpc>
                <a:spcPct val="150000"/>
              </a:lnSpc>
            </a:pPr>
            <a:endParaRPr lang="en-US" sz="2400" b="1" dirty="0"/>
          </a:p>
          <a:p>
            <a:pPr>
              <a:lnSpc>
                <a:spcPct val="150000"/>
              </a:lnSpc>
            </a:pPr>
            <a:endParaRPr lang="en-US" sz="2400" b="1" dirty="0"/>
          </a:p>
          <a:p>
            <a:pPr>
              <a:lnSpc>
                <a:spcPct val="150000"/>
              </a:lnSpc>
            </a:pPr>
            <a:endParaRPr lang="en-US" sz="2400" b="1" dirty="0"/>
          </a:p>
          <a:p>
            <a:pPr>
              <a:lnSpc>
                <a:spcPct val="150000"/>
              </a:lnSpc>
            </a:pPr>
            <a:r>
              <a:rPr lang="en-US" sz="2400" dirty="0"/>
              <a:t>Result</a:t>
            </a:r>
            <a:r>
              <a:rPr lang="en-US" sz="2400" b="1" dirty="0"/>
              <a:t>: </a:t>
            </a:r>
            <a:r>
              <a:rPr lang="en-US" sz="2400" dirty="0"/>
              <a:t>produce the average sales for each country and each year. Here we have specified more than one average by specifying multiple fields in the partition list.</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39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dirty="0"/>
              <a:t>Or </a:t>
            </a:r>
            <a:r>
              <a:rPr lang="en-US" dirty="0" err="1"/>
              <a:t>Peretz</a:t>
            </a:r>
            <a:endParaRPr lang="en-IL" dirty="0"/>
          </a:p>
        </p:txBody>
      </p:sp>
      <p:sp>
        <p:nvSpPr>
          <p:cNvPr id="6" name="TextBox 5">
            <a:extLst>
              <a:ext uri="{FF2B5EF4-FFF2-40B4-BE49-F238E27FC236}">
                <a16:creationId xmlns:a16="http://schemas.microsoft.com/office/drawing/2014/main" id="{78F10A0D-BAE7-6440-8924-65F0B82B490B}"/>
              </a:ext>
            </a:extLst>
          </p:cNvPr>
          <p:cNvSpPr txBox="1"/>
          <p:nvPr/>
        </p:nvSpPr>
        <p:spPr>
          <a:xfrm>
            <a:off x="1888066" y="1488276"/>
            <a:ext cx="9279467" cy="1697068"/>
          </a:xfrm>
          <a:prstGeom prst="rect">
            <a:avLst/>
          </a:prstGeom>
          <a:noFill/>
        </p:spPr>
        <p:txBody>
          <a:bodyPr wrap="square" rtlCol="0">
            <a:spAutoFit/>
          </a:bodyPr>
          <a:lstStyle/>
          <a:p>
            <a:pPr>
              <a:lnSpc>
                <a:spcPct val="150000"/>
              </a:lnSpc>
            </a:pPr>
            <a:r>
              <a:rPr lang="en-US" sz="2400" b="1" dirty="0"/>
              <a:t>SELECT</a:t>
            </a:r>
            <a:r>
              <a:rPr lang="en-US" sz="2400" dirty="0"/>
              <a:t> Employee, Year, Country, Product, Amount, AVG(Amount)   </a:t>
            </a:r>
          </a:p>
          <a:p>
            <a:pPr>
              <a:lnSpc>
                <a:spcPct val="150000"/>
              </a:lnSpc>
            </a:pPr>
            <a:r>
              <a:rPr lang="en-US" sz="2400" b="1" dirty="0"/>
              <a:t>OVER</a:t>
            </a:r>
            <a:r>
              <a:rPr lang="en-US" sz="2400" dirty="0"/>
              <a:t>(</a:t>
            </a:r>
            <a:r>
              <a:rPr lang="en-US" sz="2400" b="1" dirty="0"/>
              <a:t>PARTITION</a:t>
            </a:r>
            <a:r>
              <a:rPr lang="en-US" sz="2400" dirty="0"/>
              <a:t> </a:t>
            </a:r>
            <a:r>
              <a:rPr lang="en-US" sz="2400" b="1" dirty="0"/>
              <a:t>BY</a:t>
            </a:r>
            <a:r>
              <a:rPr lang="en-US" sz="2400" dirty="0"/>
              <a:t> Country, YEAR(Year)) </a:t>
            </a:r>
            <a:r>
              <a:rPr lang="en-US" sz="2400" b="1" dirty="0"/>
              <a:t>as</a:t>
            </a:r>
            <a:r>
              <a:rPr lang="en-US" sz="2400" dirty="0"/>
              <a:t> </a:t>
            </a:r>
            <a:r>
              <a:rPr lang="en-US" sz="2400" dirty="0" err="1"/>
              <a:t>AvgSales</a:t>
            </a:r>
            <a:endParaRPr lang="en-US" sz="2400" dirty="0"/>
          </a:p>
          <a:p>
            <a:pPr>
              <a:lnSpc>
                <a:spcPct val="150000"/>
              </a:lnSpc>
            </a:pPr>
            <a:r>
              <a:rPr lang="en-US" sz="2400" b="1" dirty="0"/>
              <a:t>FROM</a:t>
            </a:r>
            <a:r>
              <a:rPr lang="en-US" sz="2400" dirty="0"/>
              <a:t> Sales;   </a:t>
            </a:r>
          </a:p>
        </p:txBody>
      </p:sp>
    </p:spTree>
    <p:extLst>
      <p:ext uri="{BB962C8B-B14F-4D97-AF65-F5344CB8AC3E}">
        <p14:creationId xmlns:p14="http://schemas.microsoft.com/office/powerpoint/2010/main" val="1966948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Avg</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7" name="Table 6">
            <a:extLst>
              <a:ext uri="{FF2B5EF4-FFF2-40B4-BE49-F238E27FC236}">
                <a16:creationId xmlns:a16="http://schemas.microsoft.com/office/drawing/2014/main" id="{1FC10A8F-0719-C64A-8A24-B6BFD01A9918}"/>
              </a:ext>
            </a:extLst>
          </p:cNvPr>
          <p:cNvGraphicFramePr>
            <a:graphicFrameLocks noGrp="1"/>
          </p:cNvGraphicFramePr>
          <p:nvPr>
            <p:extLst>
              <p:ext uri="{D42A27DB-BD31-4B8C-83A1-F6EECF244321}">
                <p14:modId xmlns:p14="http://schemas.microsoft.com/office/powerpoint/2010/main" val="2763560231"/>
              </p:ext>
            </p:extLst>
          </p:nvPr>
        </p:nvGraphicFramePr>
        <p:xfrm>
          <a:off x="2311400" y="2133918"/>
          <a:ext cx="7408336" cy="2225040"/>
        </p:xfrm>
        <a:graphic>
          <a:graphicData uri="http://schemas.openxmlformats.org/drawingml/2006/table">
            <a:tbl>
              <a:tblPr firstRow="1" bandRow="1">
                <a:tableStyleId>{2D5ABB26-0587-4C30-8999-92F81FD0307C}</a:tableStyleId>
              </a:tblPr>
              <a:tblGrid>
                <a:gridCol w="1574799">
                  <a:extLst>
                    <a:ext uri="{9D8B030D-6E8A-4147-A177-3AD203B41FA5}">
                      <a16:colId xmlns:a16="http://schemas.microsoft.com/office/drawing/2014/main" val="3772329477"/>
                    </a:ext>
                  </a:extLst>
                </a:gridCol>
                <a:gridCol w="899345">
                  <a:extLst>
                    <a:ext uri="{9D8B030D-6E8A-4147-A177-3AD203B41FA5}">
                      <a16:colId xmlns:a16="http://schemas.microsoft.com/office/drawing/2014/main" val="1545367180"/>
                    </a:ext>
                  </a:extLst>
                </a:gridCol>
                <a:gridCol w="1233548">
                  <a:extLst>
                    <a:ext uri="{9D8B030D-6E8A-4147-A177-3AD203B41FA5}">
                      <a16:colId xmlns:a16="http://schemas.microsoft.com/office/drawing/2014/main" val="1182363303"/>
                    </a:ext>
                  </a:extLst>
                </a:gridCol>
                <a:gridCol w="1233548">
                  <a:extLst>
                    <a:ext uri="{9D8B030D-6E8A-4147-A177-3AD203B41FA5}">
                      <a16:colId xmlns:a16="http://schemas.microsoft.com/office/drawing/2014/main" val="830078903"/>
                    </a:ext>
                  </a:extLst>
                </a:gridCol>
                <a:gridCol w="1233548">
                  <a:extLst>
                    <a:ext uri="{9D8B030D-6E8A-4147-A177-3AD203B41FA5}">
                      <a16:colId xmlns:a16="http://schemas.microsoft.com/office/drawing/2014/main" val="1355601158"/>
                    </a:ext>
                  </a:extLst>
                </a:gridCol>
                <a:gridCol w="1233548">
                  <a:extLst>
                    <a:ext uri="{9D8B030D-6E8A-4147-A177-3AD203B41FA5}">
                      <a16:colId xmlns:a16="http://schemas.microsoft.com/office/drawing/2014/main" val="1176974619"/>
                    </a:ext>
                  </a:extLst>
                </a:gridCol>
              </a:tblGrid>
              <a:tr h="370840">
                <a:tc>
                  <a:txBody>
                    <a:bodyPr/>
                    <a:lstStyle/>
                    <a:p>
                      <a:r>
                        <a:rPr lang="en-US" b="1" dirty="0"/>
                        <a:t>Employee</a:t>
                      </a:r>
                      <a:endParaRPr lang="en-IL"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Country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AvgSales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13319"/>
                  </a:ext>
                </a:extLst>
              </a:tr>
              <a:tr h="370840">
                <a:tc>
                  <a:txBody>
                    <a:bodyPr/>
                    <a:lstStyle/>
                    <a:p>
                      <a:r>
                        <a:rPr lang="en-IL" dirty="0"/>
                        <a:t>Or Peretz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Computer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9249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Or Peretz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Computer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523361"/>
                  </a:ext>
                </a:extLst>
              </a:tr>
              <a:tr h="370840">
                <a:tc>
                  <a:txBody>
                    <a:bodyPr/>
                    <a:lstStyle/>
                    <a:p>
                      <a:r>
                        <a:rPr lang="en-IL" dirty="0"/>
                        <a:t>Or Peretz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095924"/>
                  </a:ext>
                </a:extLst>
              </a:tr>
              <a:tr h="370840">
                <a:tc>
                  <a:txBody>
                    <a:bodyPr/>
                    <a:lstStyle/>
                    <a:p>
                      <a:r>
                        <a:rPr lang="en-IL" dirty="0"/>
                        <a:t>Omer Doron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USA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32532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Omer Doron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USA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Mobile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531990"/>
                  </a:ext>
                </a:extLst>
              </a:tr>
            </a:tbl>
          </a:graphicData>
        </a:graphic>
      </p:graphicFrame>
      <p:sp>
        <p:nvSpPr>
          <p:cNvPr id="6" name="Rectangle 5">
            <a:extLst>
              <a:ext uri="{FF2B5EF4-FFF2-40B4-BE49-F238E27FC236}">
                <a16:creationId xmlns:a16="http://schemas.microsoft.com/office/drawing/2014/main" id="{64B0C05A-453E-4842-8DE5-D5714A21D36A}"/>
              </a:ext>
            </a:extLst>
          </p:cNvPr>
          <p:cNvSpPr/>
          <p:nvPr/>
        </p:nvSpPr>
        <p:spPr>
          <a:xfrm>
            <a:off x="7018867" y="3547533"/>
            <a:ext cx="2810933" cy="9990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Rectangle 7">
            <a:extLst>
              <a:ext uri="{FF2B5EF4-FFF2-40B4-BE49-F238E27FC236}">
                <a16:creationId xmlns:a16="http://schemas.microsoft.com/office/drawing/2014/main" id="{465A40F6-593C-284C-9D9D-216384071115}"/>
              </a:ext>
            </a:extLst>
          </p:cNvPr>
          <p:cNvSpPr/>
          <p:nvPr/>
        </p:nvSpPr>
        <p:spPr>
          <a:xfrm>
            <a:off x="4622800" y="3547533"/>
            <a:ext cx="1405467"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41886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Count</a:t>
            </a:r>
          </a:p>
          <a:p>
            <a:pPr>
              <a:lnSpc>
                <a:spcPct val="150000"/>
              </a:lnSpc>
            </a:pPr>
            <a:r>
              <a:rPr lang="en-US" sz="2400" dirty="0"/>
              <a:t> The count function will return the total number of rows or records present in the table or group. The regular aggregate function uses the DISTINCT keyword not to count the duplicates rows. </a:t>
            </a:r>
            <a:r>
              <a:rPr lang="en-US" sz="2400" b="1" dirty="0"/>
              <a:t>But the window count function does not support this keyword</a:t>
            </a:r>
            <a:r>
              <a:rPr lang="en-US" sz="2400" dirty="0"/>
              <a:t>. </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78F10A0D-BAE7-6440-8924-65F0B82B490B}"/>
              </a:ext>
            </a:extLst>
          </p:cNvPr>
          <p:cNvSpPr txBox="1"/>
          <p:nvPr/>
        </p:nvSpPr>
        <p:spPr>
          <a:xfrm>
            <a:off x="1574799" y="3429000"/>
            <a:ext cx="9584266" cy="1697068"/>
          </a:xfrm>
          <a:prstGeom prst="rect">
            <a:avLst/>
          </a:prstGeom>
          <a:noFill/>
        </p:spPr>
        <p:txBody>
          <a:bodyPr wrap="square" rtlCol="0">
            <a:spAutoFit/>
          </a:bodyPr>
          <a:lstStyle/>
          <a:p>
            <a:pPr>
              <a:lnSpc>
                <a:spcPct val="150000"/>
              </a:lnSpc>
            </a:pPr>
            <a:r>
              <a:rPr lang="en-US" sz="2400" b="1" dirty="0"/>
              <a:t>SELECT</a:t>
            </a:r>
            <a:r>
              <a:rPr lang="en-US" sz="2400" dirty="0"/>
              <a:t> Employee, Year, Country, Product, Amount, COUNT(Product)   </a:t>
            </a:r>
          </a:p>
          <a:p>
            <a:pPr>
              <a:lnSpc>
                <a:spcPct val="150000"/>
              </a:lnSpc>
            </a:pPr>
            <a:r>
              <a:rPr lang="en-US" sz="2400" b="1" dirty="0"/>
              <a:t>OVER</a:t>
            </a:r>
            <a:r>
              <a:rPr lang="en-US" sz="2400" dirty="0"/>
              <a:t>(</a:t>
            </a:r>
            <a:r>
              <a:rPr lang="en-US" sz="2400" b="1" dirty="0"/>
              <a:t>PARTITION</a:t>
            </a:r>
            <a:r>
              <a:rPr lang="en-US" sz="2400" dirty="0"/>
              <a:t> </a:t>
            </a:r>
            <a:r>
              <a:rPr lang="en-US" sz="2400" b="1" dirty="0"/>
              <a:t>BY</a:t>
            </a:r>
            <a:r>
              <a:rPr lang="en-US" sz="2400" dirty="0"/>
              <a:t> Country) </a:t>
            </a:r>
            <a:r>
              <a:rPr lang="en-US" sz="2400" b="1" dirty="0"/>
              <a:t>As</a:t>
            </a:r>
            <a:r>
              <a:rPr lang="en-US" sz="2400" dirty="0"/>
              <a:t> </a:t>
            </a:r>
            <a:r>
              <a:rPr lang="en-US" sz="2400" dirty="0" err="1"/>
              <a:t>TotalProduct</a:t>
            </a:r>
            <a:endParaRPr lang="en-US" sz="2400" dirty="0"/>
          </a:p>
          <a:p>
            <a:pPr>
              <a:lnSpc>
                <a:spcPct val="150000"/>
              </a:lnSpc>
            </a:pPr>
            <a:r>
              <a:rPr lang="en-US" sz="2400" b="1" dirty="0"/>
              <a:t>FROM</a:t>
            </a:r>
            <a:r>
              <a:rPr lang="en-US" sz="2400" dirty="0"/>
              <a:t> Sales;  </a:t>
            </a:r>
          </a:p>
        </p:txBody>
      </p:sp>
    </p:spTree>
    <p:extLst>
      <p:ext uri="{BB962C8B-B14F-4D97-AF65-F5344CB8AC3E}">
        <p14:creationId xmlns:p14="http://schemas.microsoft.com/office/powerpoint/2010/main" val="4012369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Max</a:t>
            </a:r>
          </a:p>
          <a:p>
            <a:pPr>
              <a:lnSpc>
                <a:spcPct val="150000"/>
              </a:lnSpc>
            </a:pPr>
            <a:r>
              <a:rPr lang="en-US" sz="2400" dirty="0"/>
              <a:t> This function returns the maximum value for a specified group. When we have not defined the group, it will return the maximum value for the entire table.</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78F10A0D-BAE7-6440-8924-65F0B82B490B}"/>
              </a:ext>
            </a:extLst>
          </p:cNvPr>
          <p:cNvSpPr txBox="1"/>
          <p:nvPr/>
        </p:nvSpPr>
        <p:spPr>
          <a:xfrm>
            <a:off x="1769534" y="2810934"/>
            <a:ext cx="9584266" cy="1697068"/>
          </a:xfrm>
          <a:prstGeom prst="rect">
            <a:avLst/>
          </a:prstGeom>
          <a:noFill/>
        </p:spPr>
        <p:txBody>
          <a:bodyPr wrap="square" rtlCol="0">
            <a:spAutoFit/>
          </a:bodyPr>
          <a:lstStyle/>
          <a:p>
            <a:pPr>
              <a:lnSpc>
                <a:spcPct val="150000"/>
              </a:lnSpc>
            </a:pPr>
            <a:r>
              <a:rPr lang="en-US" sz="2400" b="1" dirty="0"/>
              <a:t>SELECT</a:t>
            </a:r>
            <a:r>
              <a:rPr lang="en-US" sz="2400" dirty="0"/>
              <a:t> Employee, Year, Country, Product, Amount, MAX(Product)   </a:t>
            </a:r>
          </a:p>
          <a:p>
            <a:pPr>
              <a:lnSpc>
                <a:spcPct val="150000"/>
              </a:lnSpc>
            </a:pPr>
            <a:r>
              <a:rPr lang="en-US" sz="2400" b="1" dirty="0"/>
              <a:t>OVER</a:t>
            </a:r>
            <a:r>
              <a:rPr lang="en-US" sz="2400" dirty="0"/>
              <a:t>(</a:t>
            </a:r>
            <a:r>
              <a:rPr lang="en-US" sz="2400" b="1" dirty="0"/>
              <a:t>PARTITION</a:t>
            </a:r>
            <a:r>
              <a:rPr lang="en-US" sz="2400" dirty="0"/>
              <a:t> </a:t>
            </a:r>
            <a:r>
              <a:rPr lang="en-US" sz="2400" b="1" dirty="0"/>
              <a:t>BY</a:t>
            </a:r>
            <a:r>
              <a:rPr lang="en-US" sz="2400" dirty="0"/>
              <a:t> Country) </a:t>
            </a:r>
            <a:r>
              <a:rPr lang="en-US" sz="2400" b="1" dirty="0"/>
              <a:t>As</a:t>
            </a:r>
            <a:r>
              <a:rPr lang="en-US" sz="2400" dirty="0"/>
              <a:t> </a:t>
            </a:r>
            <a:r>
              <a:rPr lang="en-US" sz="2400" dirty="0" err="1"/>
              <a:t>TotalProduct</a:t>
            </a:r>
            <a:endParaRPr lang="en-US" sz="2400" dirty="0"/>
          </a:p>
          <a:p>
            <a:pPr>
              <a:lnSpc>
                <a:spcPct val="150000"/>
              </a:lnSpc>
            </a:pPr>
            <a:r>
              <a:rPr lang="en-US" sz="2400" b="1" dirty="0"/>
              <a:t>FROM</a:t>
            </a:r>
            <a:r>
              <a:rPr lang="en-US" sz="2400" dirty="0"/>
              <a:t> Sales;  </a:t>
            </a:r>
          </a:p>
        </p:txBody>
      </p:sp>
    </p:spTree>
    <p:extLst>
      <p:ext uri="{BB962C8B-B14F-4D97-AF65-F5344CB8AC3E}">
        <p14:creationId xmlns:p14="http://schemas.microsoft.com/office/powerpoint/2010/main" val="2057332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Ranking Window Functions</a:t>
            </a:r>
          </a:p>
        </p:txBody>
      </p:sp>
    </p:spTree>
    <p:extLst>
      <p:ext uri="{BB962C8B-B14F-4D97-AF65-F5344CB8AC3E}">
        <p14:creationId xmlns:p14="http://schemas.microsoft.com/office/powerpoint/2010/main" val="2221477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Ranking Window Functions</a:t>
            </a:r>
          </a:p>
          <a:p>
            <a:pPr>
              <a:lnSpc>
                <a:spcPct val="150000"/>
              </a:lnSpc>
            </a:pPr>
            <a:r>
              <a:rPr lang="en-US" sz="2400" dirty="0"/>
              <a:t>The RANKING function </a:t>
            </a:r>
            <a:r>
              <a:rPr lang="en-US" sz="2400" b="1" dirty="0"/>
              <a:t>ranks the values in a defined column</a:t>
            </a:r>
            <a:r>
              <a:rPr lang="en-US" sz="2400" dirty="0"/>
              <a:t> and categorizes them based on their rank. The following are the ranking functions supported in SQL Server:</a:t>
            </a:r>
          </a:p>
          <a:p>
            <a:pPr>
              <a:lnSpc>
                <a:spcPct val="150000"/>
              </a:lnSpc>
            </a:pPr>
            <a:r>
              <a:rPr lang="en-US" sz="2400" dirty="0"/>
              <a:t>RANK(), DENSE_RANK(), ROW_NUMBER(), and NTILE().</a:t>
            </a:r>
          </a:p>
          <a:p>
            <a:pPr>
              <a:lnSpc>
                <a:spcPct val="150000"/>
              </a:lnSpc>
            </a:pPr>
            <a:endParaRPr lang="en-US" sz="2400" dirty="0"/>
          </a:p>
          <a:p>
            <a:pPr>
              <a:lnSpc>
                <a:spcPct val="150000"/>
              </a:lnSpc>
            </a:pPr>
            <a:r>
              <a:rPr lang="en-US" sz="2400" dirty="0"/>
              <a:t>Data for examples:</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3" name="Table 6">
            <a:extLst>
              <a:ext uri="{FF2B5EF4-FFF2-40B4-BE49-F238E27FC236}">
                <a16:creationId xmlns:a16="http://schemas.microsoft.com/office/drawing/2014/main" id="{B8C58593-49FC-A844-B449-8E54362189B2}"/>
              </a:ext>
            </a:extLst>
          </p:cNvPr>
          <p:cNvGraphicFramePr>
            <a:graphicFrameLocks noGrp="1"/>
          </p:cNvGraphicFramePr>
          <p:nvPr>
            <p:extLst>
              <p:ext uri="{D42A27DB-BD31-4B8C-83A1-F6EECF244321}">
                <p14:modId xmlns:p14="http://schemas.microsoft.com/office/powerpoint/2010/main" val="2452221672"/>
              </p:ext>
            </p:extLst>
          </p:nvPr>
        </p:nvGraphicFramePr>
        <p:xfrm>
          <a:off x="5037665" y="3064510"/>
          <a:ext cx="3699935" cy="3291840"/>
        </p:xfrm>
        <a:graphic>
          <a:graphicData uri="http://schemas.openxmlformats.org/drawingml/2006/table">
            <a:tbl>
              <a:tblPr firstRow="1" bandRow="1">
                <a:tableStyleId>{2D5ABB26-0587-4C30-8999-92F81FD0307C}</a:tableStyleId>
              </a:tblPr>
              <a:tblGrid>
                <a:gridCol w="1245035">
                  <a:extLst>
                    <a:ext uri="{9D8B030D-6E8A-4147-A177-3AD203B41FA5}">
                      <a16:colId xmlns:a16="http://schemas.microsoft.com/office/drawing/2014/main" val="3772329477"/>
                    </a:ext>
                  </a:extLst>
                </a:gridCol>
                <a:gridCol w="1223933">
                  <a:extLst>
                    <a:ext uri="{9D8B030D-6E8A-4147-A177-3AD203B41FA5}">
                      <a16:colId xmlns:a16="http://schemas.microsoft.com/office/drawing/2014/main" val="1545367180"/>
                    </a:ext>
                  </a:extLst>
                </a:gridCol>
                <a:gridCol w="1230967">
                  <a:extLst>
                    <a:ext uri="{9D8B030D-6E8A-4147-A177-3AD203B41FA5}">
                      <a16:colId xmlns:a16="http://schemas.microsoft.com/office/drawing/2014/main" val="1182363303"/>
                    </a:ext>
                  </a:extLst>
                </a:gridCol>
              </a:tblGrid>
              <a:tr h="348106">
                <a:tc>
                  <a:txBody>
                    <a:bodyPr/>
                    <a:lstStyle/>
                    <a:p>
                      <a:r>
                        <a:rPr lang="en-US" b="1" dirty="0"/>
                        <a:t>F</a:t>
                      </a:r>
                      <a:r>
                        <a:rPr lang="en-IL" b="1" dirty="0"/>
                        <a:t>irstName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LastName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13319"/>
                  </a:ext>
                </a:extLst>
              </a:tr>
              <a:tr h="348106">
                <a:tc>
                  <a:txBody>
                    <a:bodyPr/>
                    <a:lstStyle/>
                    <a:p>
                      <a:r>
                        <a:rPr lang="en-IL" dirty="0"/>
                        <a:t>Luisa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Evans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Texas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924997"/>
                  </a:ext>
                </a:extLst>
              </a:tr>
              <a:tr h="348106">
                <a:tc>
                  <a:txBody>
                    <a:bodyPr/>
                    <a:lstStyle/>
                    <a:p>
                      <a:r>
                        <a:rPr lang="en-IL" dirty="0"/>
                        <a:t>Paul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Ward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Alaska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523361"/>
                  </a:ext>
                </a:extLst>
              </a:tr>
              <a:tr h="348106">
                <a:tc>
                  <a:txBody>
                    <a:bodyPr/>
                    <a:lstStyle/>
                    <a:p>
                      <a:r>
                        <a:rPr lang="en-IL" dirty="0"/>
                        <a:t>Peter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Bennett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California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095924"/>
                  </a:ext>
                </a:extLst>
              </a:tr>
              <a:tr h="348106">
                <a:tc>
                  <a:txBody>
                    <a:bodyPr/>
                    <a:lstStyle/>
                    <a:p>
                      <a:r>
                        <a:rPr lang="en-IL" dirty="0"/>
                        <a:t>Carlos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Patterson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New York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325320"/>
                  </a:ext>
                </a:extLst>
              </a:tr>
              <a:tr h="348106">
                <a:tc>
                  <a:txBody>
                    <a:bodyPr/>
                    <a:lstStyle/>
                    <a:p>
                      <a:r>
                        <a:rPr lang="en-IL" dirty="0"/>
                        <a:t>Rose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Huges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Florida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362098"/>
                  </a:ext>
                </a:extLst>
              </a:tr>
              <a:tr h="348106">
                <a:tc>
                  <a:txBody>
                    <a:bodyPr/>
                    <a:lstStyle/>
                    <a:p>
                      <a:r>
                        <a:rPr lang="en-IL" dirty="0"/>
                        <a:t>Marielia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Simmons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Texas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129077"/>
                  </a:ext>
                </a:extLst>
              </a:tr>
              <a:tr h="348106">
                <a:tc>
                  <a:txBody>
                    <a:bodyPr/>
                    <a:lstStyle/>
                    <a:p>
                      <a:r>
                        <a:rPr lang="en-IL" dirty="0"/>
                        <a:t>Antonio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Butler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New York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719186"/>
                  </a:ext>
                </a:extLst>
              </a:tr>
              <a:tr h="348106">
                <a:tc>
                  <a:txBody>
                    <a:bodyPr/>
                    <a:lstStyle/>
                    <a:p>
                      <a:r>
                        <a:rPr lang="en-IL" dirty="0"/>
                        <a:t>Diego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California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091025"/>
                  </a:ext>
                </a:extLst>
              </a:tr>
            </a:tbl>
          </a:graphicData>
        </a:graphic>
      </p:graphicFrame>
    </p:spTree>
    <p:extLst>
      <p:ext uri="{BB962C8B-B14F-4D97-AF65-F5344CB8AC3E}">
        <p14:creationId xmlns:p14="http://schemas.microsoft.com/office/powerpoint/2010/main" val="229080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Rank</a:t>
            </a:r>
          </a:p>
          <a:p>
            <a:pPr>
              <a:lnSpc>
                <a:spcPct val="150000"/>
              </a:lnSpc>
            </a:pPr>
            <a:r>
              <a:rPr lang="en-US" sz="2400" dirty="0"/>
              <a:t>It's used to </a:t>
            </a:r>
            <a:r>
              <a:rPr lang="en-US" sz="2400" b="1" dirty="0"/>
              <a:t>generate a unique rank</a:t>
            </a:r>
            <a:r>
              <a:rPr lang="en-US" sz="2400" dirty="0"/>
              <a:t> for each row in a table based on the specified value. </a:t>
            </a:r>
          </a:p>
          <a:p>
            <a:pPr>
              <a:lnSpc>
                <a:spcPct val="150000"/>
              </a:lnSpc>
            </a:pPr>
            <a:r>
              <a:rPr lang="en-US" sz="2400" dirty="0"/>
              <a:t>If this function gets the two records with the same value, it will assign the same rank to both records and skip the next ranking. </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7" name="TextBox 6">
            <a:extLst>
              <a:ext uri="{FF2B5EF4-FFF2-40B4-BE49-F238E27FC236}">
                <a16:creationId xmlns:a16="http://schemas.microsoft.com/office/drawing/2014/main" id="{40F8EB53-2E3E-DA4B-B863-49965F79714A}"/>
              </a:ext>
            </a:extLst>
          </p:cNvPr>
          <p:cNvSpPr txBox="1"/>
          <p:nvPr/>
        </p:nvSpPr>
        <p:spPr>
          <a:xfrm>
            <a:off x="2971800" y="3277802"/>
            <a:ext cx="6857999" cy="1697068"/>
          </a:xfrm>
          <a:prstGeom prst="rect">
            <a:avLst/>
          </a:prstGeom>
          <a:noFill/>
        </p:spPr>
        <p:txBody>
          <a:bodyPr wrap="square" rtlCol="0">
            <a:spAutoFit/>
          </a:bodyPr>
          <a:lstStyle/>
          <a:p>
            <a:pPr>
              <a:lnSpc>
                <a:spcPct val="150000"/>
              </a:lnSpc>
            </a:pPr>
            <a:r>
              <a:rPr lang="en-US" sz="2400" b="1" dirty="0"/>
              <a:t>SELECT</a:t>
            </a:r>
            <a:r>
              <a:rPr lang="en-US" sz="2400" dirty="0"/>
              <a:t> FirstName, </a:t>
            </a:r>
            <a:r>
              <a:rPr lang="en-US" sz="2400" dirty="0" err="1"/>
              <a:t>LastName</a:t>
            </a:r>
            <a:r>
              <a:rPr lang="en-US" sz="2400" dirty="0"/>
              <a:t>, City,     </a:t>
            </a:r>
          </a:p>
          <a:p>
            <a:pPr>
              <a:lnSpc>
                <a:spcPct val="150000"/>
              </a:lnSpc>
            </a:pPr>
            <a:r>
              <a:rPr lang="en-US" sz="2400" dirty="0"/>
              <a:t>RANK () OVER (</a:t>
            </a:r>
            <a:r>
              <a:rPr lang="en-US" sz="2400" b="1" dirty="0"/>
              <a:t>ORDER</a:t>
            </a:r>
            <a:r>
              <a:rPr lang="en-US" sz="2400" dirty="0"/>
              <a:t> </a:t>
            </a:r>
            <a:r>
              <a:rPr lang="en-US" sz="2400" b="1" dirty="0"/>
              <a:t>BY</a:t>
            </a:r>
            <a:r>
              <a:rPr lang="en-US" sz="2400" dirty="0"/>
              <a:t>  City) </a:t>
            </a:r>
            <a:r>
              <a:rPr lang="en-US" sz="2400" b="1" dirty="0"/>
              <a:t>AS</a:t>
            </a:r>
            <a:r>
              <a:rPr lang="en-US" sz="2400" dirty="0"/>
              <a:t> </a:t>
            </a:r>
            <a:r>
              <a:rPr lang="en-US" sz="2400" dirty="0" err="1"/>
              <a:t>RankNo</a:t>
            </a:r>
            <a:r>
              <a:rPr lang="en-US" sz="2400" dirty="0"/>
              <a:t>     </a:t>
            </a:r>
          </a:p>
          <a:p>
            <a:pPr>
              <a:lnSpc>
                <a:spcPct val="150000"/>
              </a:lnSpc>
            </a:pPr>
            <a:r>
              <a:rPr lang="en-US" sz="2400" b="1" dirty="0"/>
              <a:t>FROM</a:t>
            </a:r>
            <a:r>
              <a:rPr lang="en-US" sz="2400" dirty="0"/>
              <a:t> table;   </a:t>
            </a:r>
          </a:p>
        </p:txBody>
      </p:sp>
    </p:spTree>
    <p:extLst>
      <p:ext uri="{BB962C8B-B14F-4D97-AF65-F5344CB8AC3E}">
        <p14:creationId xmlns:p14="http://schemas.microsoft.com/office/powerpoint/2010/main" val="143776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Rank</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6" name="Table 6">
            <a:extLst>
              <a:ext uri="{FF2B5EF4-FFF2-40B4-BE49-F238E27FC236}">
                <a16:creationId xmlns:a16="http://schemas.microsoft.com/office/drawing/2014/main" id="{4C68C9D0-3A91-D749-BBB1-E06E4ECC6CA3}"/>
              </a:ext>
            </a:extLst>
          </p:cNvPr>
          <p:cNvGraphicFramePr>
            <a:graphicFrameLocks noGrp="1"/>
          </p:cNvGraphicFramePr>
          <p:nvPr>
            <p:extLst>
              <p:ext uri="{D42A27DB-BD31-4B8C-83A1-F6EECF244321}">
                <p14:modId xmlns:p14="http://schemas.microsoft.com/office/powerpoint/2010/main" val="4278713811"/>
              </p:ext>
            </p:extLst>
          </p:nvPr>
        </p:nvGraphicFramePr>
        <p:xfrm>
          <a:off x="3420532" y="1477219"/>
          <a:ext cx="5350936" cy="3903561"/>
        </p:xfrm>
        <a:graphic>
          <a:graphicData uri="http://schemas.openxmlformats.org/drawingml/2006/table">
            <a:tbl>
              <a:tblPr firstRow="1" bandRow="1">
                <a:tableStyleId>{2D5ABB26-0587-4C30-8999-92F81FD0307C}</a:tableStyleId>
              </a:tblPr>
              <a:tblGrid>
                <a:gridCol w="1351093">
                  <a:extLst>
                    <a:ext uri="{9D8B030D-6E8A-4147-A177-3AD203B41FA5}">
                      <a16:colId xmlns:a16="http://schemas.microsoft.com/office/drawing/2014/main" val="3772329477"/>
                    </a:ext>
                  </a:extLst>
                </a:gridCol>
                <a:gridCol w="1328193">
                  <a:extLst>
                    <a:ext uri="{9D8B030D-6E8A-4147-A177-3AD203B41FA5}">
                      <a16:colId xmlns:a16="http://schemas.microsoft.com/office/drawing/2014/main" val="1545367180"/>
                    </a:ext>
                  </a:extLst>
                </a:gridCol>
                <a:gridCol w="1335825">
                  <a:extLst>
                    <a:ext uri="{9D8B030D-6E8A-4147-A177-3AD203B41FA5}">
                      <a16:colId xmlns:a16="http://schemas.microsoft.com/office/drawing/2014/main" val="1182363303"/>
                    </a:ext>
                  </a:extLst>
                </a:gridCol>
                <a:gridCol w="1335825">
                  <a:extLst>
                    <a:ext uri="{9D8B030D-6E8A-4147-A177-3AD203B41FA5}">
                      <a16:colId xmlns:a16="http://schemas.microsoft.com/office/drawing/2014/main" val="2048605989"/>
                    </a:ext>
                  </a:extLst>
                </a:gridCol>
              </a:tblGrid>
              <a:tr h="433729">
                <a:tc>
                  <a:txBody>
                    <a:bodyPr/>
                    <a:lstStyle/>
                    <a:p>
                      <a:r>
                        <a:rPr lang="en-US" b="1" dirty="0"/>
                        <a:t>F</a:t>
                      </a:r>
                      <a:r>
                        <a:rPr lang="en-IL" b="1" dirty="0"/>
                        <a:t>irstName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LastName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RankNo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13319"/>
                  </a:ext>
                </a:extLst>
              </a:tr>
              <a:tr h="433729">
                <a:tc>
                  <a:txBody>
                    <a:bodyPr/>
                    <a:lstStyle/>
                    <a:p>
                      <a:r>
                        <a:rPr lang="en-IL" dirty="0"/>
                        <a:t>Paul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Ward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Alaska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1172246"/>
                  </a:ext>
                </a:extLst>
              </a:tr>
              <a:tr h="433729">
                <a:tc>
                  <a:txBody>
                    <a:bodyPr/>
                    <a:lstStyle/>
                    <a:p>
                      <a:r>
                        <a:rPr lang="en-IL" dirty="0"/>
                        <a:t>Peter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Bennett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California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9131067"/>
                  </a:ext>
                </a:extLst>
              </a:tr>
              <a:tr h="433729">
                <a:tc>
                  <a:txBody>
                    <a:bodyPr/>
                    <a:lstStyle/>
                    <a:p>
                      <a:r>
                        <a:rPr lang="en-IL" dirty="0"/>
                        <a:t>Diego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California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6368313"/>
                  </a:ext>
                </a:extLst>
              </a:tr>
              <a:tr h="433729">
                <a:tc>
                  <a:txBody>
                    <a:bodyPr/>
                    <a:lstStyle/>
                    <a:p>
                      <a:r>
                        <a:rPr lang="en-IL" dirty="0"/>
                        <a:t>Rose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Huges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Florida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9208545"/>
                  </a:ext>
                </a:extLst>
              </a:tr>
              <a:tr h="433729">
                <a:tc>
                  <a:txBody>
                    <a:bodyPr/>
                    <a:lstStyle/>
                    <a:p>
                      <a:r>
                        <a:rPr lang="en-IL" dirty="0"/>
                        <a:t>Carlos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Patterson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New York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7824874"/>
                  </a:ext>
                </a:extLst>
              </a:tr>
              <a:tr h="433729">
                <a:tc>
                  <a:txBody>
                    <a:bodyPr/>
                    <a:lstStyle/>
                    <a:p>
                      <a:r>
                        <a:rPr lang="en-IL" dirty="0"/>
                        <a:t>Antonio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Butler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New York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924997"/>
                  </a:ext>
                </a:extLst>
              </a:tr>
              <a:tr h="433729">
                <a:tc>
                  <a:txBody>
                    <a:bodyPr/>
                    <a:lstStyle/>
                    <a:p>
                      <a:r>
                        <a:rPr lang="en-IL" dirty="0"/>
                        <a:t>Luisa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Evans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Texas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523361"/>
                  </a:ext>
                </a:extLst>
              </a:tr>
              <a:tr h="433729">
                <a:tc>
                  <a:txBody>
                    <a:bodyPr/>
                    <a:lstStyle/>
                    <a:p>
                      <a:r>
                        <a:rPr lang="en-IL" dirty="0"/>
                        <a:t>Marielia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Simmons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Texas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095924"/>
                  </a:ext>
                </a:extLst>
              </a:tr>
            </a:tbl>
          </a:graphicData>
        </a:graphic>
      </p:graphicFrame>
    </p:spTree>
    <p:extLst>
      <p:ext uri="{BB962C8B-B14F-4D97-AF65-F5344CB8AC3E}">
        <p14:creationId xmlns:p14="http://schemas.microsoft.com/office/powerpoint/2010/main" val="3916611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Dense Rank</a:t>
            </a:r>
          </a:p>
          <a:p>
            <a:pPr>
              <a:lnSpc>
                <a:spcPct val="150000"/>
              </a:lnSpc>
            </a:pPr>
            <a:r>
              <a:rPr lang="en-US" sz="2400" dirty="0"/>
              <a:t>It works the same as the RANK() function except that it does not skip any rank. It always assigns rank in consecutive order. It means that when two records are found equal, this function will assign the same rank to both records and the next rank being the next sequential number.</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78F10A0D-BAE7-6440-8924-65F0B82B490B}"/>
              </a:ext>
            </a:extLst>
          </p:cNvPr>
          <p:cNvSpPr txBox="1"/>
          <p:nvPr/>
        </p:nvSpPr>
        <p:spPr>
          <a:xfrm>
            <a:off x="2946399" y="3685224"/>
            <a:ext cx="8154459" cy="1697068"/>
          </a:xfrm>
          <a:prstGeom prst="rect">
            <a:avLst/>
          </a:prstGeom>
          <a:noFill/>
        </p:spPr>
        <p:txBody>
          <a:bodyPr wrap="square" rtlCol="0">
            <a:spAutoFit/>
          </a:bodyPr>
          <a:lstStyle/>
          <a:p>
            <a:pPr>
              <a:lnSpc>
                <a:spcPct val="150000"/>
              </a:lnSpc>
            </a:pPr>
            <a:r>
              <a:rPr lang="en-US" sz="2400" b="1" dirty="0"/>
              <a:t>SELECT</a:t>
            </a:r>
            <a:r>
              <a:rPr lang="en-US" sz="2400" dirty="0"/>
              <a:t> FirstName, </a:t>
            </a:r>
            <a:r>
              <a:rPr lang="en-US" sz="2400" dirty="0" err="1"/>
              <a:t>LastName</a:t>
            </a:r>
            <a:r>
              <a:rPr lang="en-US" sz="2400" dirty="0"/>
              <a:t>, City,   </a:t>
            </a:r>
          </a:p>
          <a:p>
            <a:pPr>
              <a:lnSpc>
                <a:spcPct val="150000"/>
              </a:lnSpc>
            </a:pPr>
            <a:r>
              <a:rPr lang="en-US" sz="2400" dirty="0"/>
              <a:t>DENSE_RANK() OVER (</a:t>
            </a:r>
            <a:r>
              <a:rPr lang="en-US" sz="2400" b="1" dirty="0"/>
              <a:t>ORDER</a:t>
            </a:r>
            <a:r>
              <a:rPr lang="en-US" sz="2400" dirty="0"/>
              <a:t> </a:t>
            </a:r>
            <a:r>
              <a:rPr lang="en-US" sz="2400" b="1" dirty="0"/>
              <a:t>BY</a:t>
            </a:r>
            <a:r>
              <a:rPr lang="en-US" sz="2400" dirty="0"/>
              <a:t> city) </a:t>
            </a:r>
            <a:r>
              <a:rPr lang="en-US" sz="2400" b="1" dirty="0"/>
              <a:t>AS</a:t>
            </a:r>
            <a:r>
              <a:rPr lang="en-US" sz="2400" dirty="0"/>
              <a:t> </a:t>
            </a:r>
            <a:r>
              <a:rPr lang="en-US" sz="2400" dirty="0" err="1"/>
              <a:t>RankNo</a:t>
            </a:r>
            <a:r>
              <a:rPr lang="en-US" sz="2400" dirty="0"/>
              <a:t>     </a:t>
            </a:r>
          </a:p>
          <a:p>
            <a:pPr>
              <a:lnSpc>
                <a:spcPct val="150000"/>
              </a:lnSpc>
            </a:pPr>
            <a:r>
              <a:rPr lang="en-US" sz="2400" b="1" dirty="0"/>
              <a:t>FROM</a:t>
            </a:r>
            <a:r>
              <a:rPr lang="en-US" sz="2400" dirty="0"/>
              <a:t> table   </a:t>
            </a:r>
          </a:p>
        </p:txBody>
      </p:sp>
    </p:spTree>
    <p:extLst>
      <p:ext uri="{BB962C8B-B14F-4D97-AF65-F5344CB8AC3E}">
        <p14:creationId xmlns:p14="http://schemas.microsoft.com/office/powerpoint/2010/main" val="1622932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Dense Rank</a:t>
            </a:r>
          </a:p>
          <a:p>
            <a:pPr>
              <a:lnSpc>
                <a:spcPct val="150000"/>
              </a:lnSpc>
            </a:pP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7" name="Table 6">
            <a:extLst>
              <a:ext uri="{FF2B5EF4-FFF2-40B4-BE49-F238E27FC236}">
                <a16:creationId xmlns:a16="http://schemas.microsoft.com/office/drawing/2014/main" id="{17B6287D-9866-6740-93C3-61D1A041651F}"/>
              </a:ext>
            </a:extLst>
          </p:cNvPr>
          <p:cNvGraphicFramePr>
            <a:graphicFrameLocks noGrp="1"/>
          </p:cNvGraphicFramePr>
          <p:nvPr>
            <p:extLst>
              <p:ext uri="{D42A27DB-BD31-4B8C-83A1-F6EECF244321}">
                <p14:modId xmlns:p14="http://schemas.microsoft.com/office/powerpoint/2010/main" val="2096398492"/>
              </p:ext>
            </p:extLst>
          </p:nvPr>
        </p:nvGraphicFramePr>
        <p:xfrm>
          <a:off x="3420532" y="1477219"/>
          <a:ext cx="5350936" cy="3903561"/>
        </p:xfrm>
        <a:graphic>
          <a:graphicData uri="http://schemas.openxmlformats.org/drawingml/2006/table">
            <a:tbl>
              <a:tblPr firstRow="1" bandRow="1">
                <a:tableStyleId>{2D5ABB26-0587-4C30-8999-92F81FD0307C}</a:tableStyleId>
              </a:tblPr>
              <a:tblGrid>
                <a:gridCol w="1351093">
                  <a:extLst>
                    <a:ext uri="{9D8B030D-6E8A-4147-A177-3AD203B41FA5}">
                      <a16:colId xmlns:a16="http://schemas.microsoft.com/office/drawing/2014/main" val="3772329477"/>
                    </a:ext>
                  </a:extLst>
                </a:gridCol>
                <a:gridCol w="1328193">
                  <a:extLst>
                    <a:ext uri="{9D8B030D-6E8A-4147-A177-3AD203B41FA5}">
                      <a16:colId xmlns:a16="http://schemas.microsoft.com/office/drawing/2014/main" val="1545367180"/>
                    </a:ext>
                  </a:extLst>
                </a:gridCol>
                <a:gridCol w="1335825">
                  <a:extLst>
                    <a:ext uri="{9D8B030D-6E8A-4147-A177-3AD203B41FA5}">
                      <a16:colId xmlns:a16="http://schemas.microsoft.com/office/drawing/2014/main" val="1182363303"/>
                    </a:ext>
                  </a:extLst>
                </a:gridCol>
                <a:gridCol w="1335825">
                  <a:extLst>
                    <a:ext uri="{9D8B030D-6E8A-4147-A177-3AD203B41FA5}">
                      <a16:colId xmlns:a16="http://schemas.microsoft.com/office/drawing/2014/main" val="2048605989"/>
                    </a:ext>
                  </a:extLst>
                </a:gridCol>
              </a:tblGrid>
              <a:tr h="433729">
                <a:tc>
                  <a:txBody>
                    <a:bodyPr/>
                    <a:lstStyle/>
                    <a:p>
                      <a:r>
                        <a:rPr lang="en-US" b="1" dirty="0"/>
                        <a:t>F</a:t>
                      </a:r>
                      <a:r>
                        <a:rPr lang="en-IL" b="1" dirty="0"/>
                        <a:t>irstName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LastName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RankNo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13319"/>
                  </a:ext>
                </a:extLst>
              </a:tr>
              <a:tr h="433729">
                <a:tc>
                  <a:txBody>
                    <a:bodyPr/>
                    <a:lstStyle/>
                    <a:p>
                      <a:r>
                        <a:rPr lang="en-IL" dirty="0"/>
                        <a:t>Paul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Ward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Alaska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1172246"/>
                  </a:ext>
                </a:extLst>
              </a:tr>
              <a:tr h="433729">
                <a:tc>
                  <a:txBody>
                    <a:bodyPr/>
                    <a:lstStyle/>
                    <a:p>
                      <a:r>
                        <a:rPr lang="en-IL" dirty="0"/>
                        <a:t>Peter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Bennett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California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9131067"/>
                  </a:ext>
                </a:extLst>
              </a:tr>
              <a:tr h="433729">
                <a:tc>
                  <a:txBody>
                    <a:bodyPr/>
                    <a:lstStyle/>
                    <a:p>
                      <a:r>
                        <a:rPr lang="en-IL" dirty="0"/>
                        <a:t>Diego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California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6368313"/>
                  </a:ext>
                </a:extLst>
              </a:tr>
              <a:tr h="433729">
                <a:tc>
                  <a:txBody>
                    <a:bodyPr/>
                    <a:lstStyle/>
                    <a:p>
                      <a:r>
                        <a:rPr lang="en-IL" dirty="0"/>
                        <a:t>Rose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Huges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Florida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9208545"/>
                  </a:ext>
                </a:extLst>
              </a:tr>
              <a:tr h="433729">
                <a:tc>
                  <a:txBody>
                    <a:bodyPr/>
                    <a:lstStyle/>
                    <a:p>
                      <a:r>
                        <a:rPr lang="en-IL" dirty="0"/>
                        <a:t>Carlos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Patterson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New York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7824874"/>
                  </a:ext>
                </a:extLst>
              </a:tr>
              <a:tr h="433729">
                <a:tc>
                  <a:txBody>
                    <a:bodyPr/>
                    <a:lstStyle/>
                    <a:p>
                      <a:r>
                        <a:rPr lang="en-IL" dirty="0"/>
                        <a:t>Antonio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Butler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New York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924997"/>
                  </a:ext>
                </a:extLst>
              </a:tr>
              <a:tr h="433729">
                <a:tc>
                  <a:txBody>
                    <a:bodyPr/>
                    <a:lstStyle/>
                    <a:p>
                      <a:r>
                        <a:rPr lang="en-IL" dirty="0"/>
                        <a:t>Luisa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Evans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Texas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523361"/>
                  </a:ext>
                </a:extLst>
              </a:tr>
              <a:tr h="433729">
                <a:tc>
                  <a:txBody>
                    <a:bodyPr/>
                    <a:lstStyle/>
                    <a:p>
                      <a:r>
                        <a:rPr lang="en-IL" dirty="0"/>
                        <a:t>Marielia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Simmons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Texas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095924"/>
                  </a:ext>
                </a:extLst>
              </a:tr>
            </a:tbl>
          </a:graphicData>
        </a:graphic>
      </p:graphicFrame>
    </p:spTree>
    <p:extLst>
      <p:ext uri="{BB962C8B-B14F-4D97-AF65-F5344CB8AC3E}">
        <p14:creationId xmlns:p14="http://schemas.microsoft.com/office/powerpoint/2010/main" val="39283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a:t>
            </a:r>
            <a:r>
              <a:rPr lang="en-US" sz="3200" b="1" dirty="0" err="1"/>
              <a:t>Ntile</a:t>
            </a:r>
            <a:endParaRPr lang="en-US" sz="3200" b="1" dirty="0"/>
          </a:p>
          <a:p>
            <a:pPr>
              <a:lnSpc>
                <a:spcPct val="150000"/>
              </a:lnSpc>
            </a:pPr>
            <a:r>
              <a:rPr lang="en-US" sz="2400" dirty="0"/>
              <a:t>This window function </a:t>
            </a:r>
            <a:r>
              <a:rPr lang="en-US" sz="2400" b="1" dirty="0"/>
              <a:t>distributes rows into a pre-defined number (N) of approximately equal groups</a:t>
            </a:r>
            <a:r>
              <a:rPr lang="en-US" sz="2400" dirty="0"/>
              <a:t>. It enables us to determine which percentile (or quartile, or other subdivision) a particular row belongs to.</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49</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78F10A0D-BAE7-6440-8924-65F0B82B490B}"/>
              </a:ext>
            </a:extLst>
          </p:cNvPr>
          <p:cNvSpPr txBox="1"/>
          <p:nvPr/>
        </p:nvSpPr>
        <p:spPr>
          <a:xfrm>
            <a:off x="2853266" y="3589867"/>
            <a:ext cx="8585199" cy="1697068"/>
          </a:xfrm>
          <a:prstGeom prst="rect">
            <a:avLst/>
          </a:prstGeom>
          <a:noFill/>
        </p:spPr>
        <p:txBody>
          <a:bodyPr wrap="square" rtlCol="0">
            <a:spAutoFit/>
          </a:bodyPr>
          <a:lstStyle/>
          <a:p>
            <a:pPr>
              <a:lnSpc>
                <a:spcPct val="150000"/>
              </a:lnSpc>
            </a:pPr>
            <a:r>
              <a:rPr lang="en-US" sz="2400" b="1" dirty="0"/>
              <a:t>SELECT</a:t>
            </a:r>
            <a:r>
              <a:rPr lang="en-US" sz="2400" dirty="0"/>
              <a:t> FirstName, </a:t>
            </a:r>
            <a:r>
              <a:rPr lang="en-US" sz="2400" dirty="0" err="1"/>
              <a:t>LastName</a:t>
            </a:r>
            <a:r>
              <a:rPr lang="en-US" sz="2400" dirty="0"/>
              <a:t>, City,   </a:t>
            </a:r>
          </a:p>
          <a:p>
            <a:pPr>
              <a:lnSpc>
                <a:spcPct val="150000"/>
              </a:lnSpc>
            </a:pPr>
            <a:r>
              <a:rPr lang="en-US" sz="2400" dirty="0"/>
              <a:t>NTILE(3) OVER ( </a:t>
            </a:r>
            <a:r>
              <a:rPr lang="en-US" sz="2400" b="1" dirty="0"/>
              <a:t>ORDER</a:t>
            </a:r>
            <a:r>
              <a:rPr lang="en-US" sz="2400" dirty="0"/>
              <a:t> </a:t>
            </a:r>
            <a:r>
              <a:rPr lang="en-US" sz="2400" b="1" dirty="0"/>
              <a:t>BY</a:t>
            </a:r>
            <a:r>
              <a:rPr lang="en-US" sz="2400" dirty="0"/>
              <a:t> city) </a:t>
            </a:r>
            <a:r>
              <a:rPr lang="en-US" sz="2400" b="1" dirty="0"/>
              <a:t>AS</a:t>
            </a:r>
            <a:r>
              <a:rPr lang="en-US" sz="2400" dirty="0"/>
              <a:t> </a:t>
            </a:r>
            <a:r>
              <a:rPr lang="en-US" sz="2400" dirty="0" err="1"/>
              <a:t>RankNo</a:t>
            </a:r>
            <a:r>
              <a:rPr lang="en-US" sz="2400" dirty="0"/>
              <a:t>     </a:t>
            </a:r>
          </a:p>
          <a:p>
            <a:pPr>
              <a:lnSpc>
                <a:spcPct val="150000"/>
              </a:lnSpc>
            </a:pPr>
            <a:r>
              <a:rPr lang="en-US" sz="2400" b="1" dirty="0"/>
              <a:t>FROM</a:t>
            </a:r>
            <a:r>
              <a:rPr lang="en-US" sz="2400" dirty="0"/>
              <a:t> table </a:t>
            </a:r>
          </a:p>
        </p:txBody>
      </p:sp>
    </p:spTree>
    <p:extLst>
      <p:ext uri="{BB962C8B-B14F-4D97-AF65-F5344CB8AC3E}">
        <p14:creationId xmlns:p14="http://schemas.microsoft.com/office/powerpoint/2010/main" val="284958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a:t>
            </a:r>
            <a:r>
              <a:rPr lang="en-US" sz="3200" b="1" dirty="0" err="1"/>
              <a:t>Ntile</a:t>
            </a:r>
            <a:endParaRPr lang="en-US" sz="3200" b="1"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50</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9" name="Table 8">
            <a:extLst>
              <a:ext uri="{FF2B5EF4-FFF2-40B4-BE49-F238E27FC236}">
                <a16:creationId xmlns:a16="http://schemas.microsoft.com/office/drawing/2014/main" id="{2BDD3FE1-4CE1-E945-AA60-74E0B3703845}"/>
              </a:ext>
            </a:extLst>
          </p:cNvPr>
          <p:cNvGraphicFramePr>
            <a:graphicFrameLocks noGrp="1"/>
          </p:cNvGraphicFramePr>
          <p:nvPr>
            <p:extLst>
              <p:ext uri="{D42A27DB-BD31-4B8C-83A1-F6EECF244321}">
                <p14:modId xmlns:p14="http://schemas.microsoft.com/office/powerpoint/2010/main" val="4100880045"/>
              </p:ext>
            </p:extLst>
          </p:nvPr>
        </p:nvGraphicFramePr>
        <p:xfrm>
          <a:off x="3259664" y="1477219"/>
          <a:ext cx="5350936" cy="3903561"/>
        </p:xfrm>
        <a:graphic>
          <a:graphicData uri="http://schemas.openxmlformats.org/drawingml/2006/table">
            <a:tbl>
              <a:tblPr firstRow="1" bandRow="1">
                <a:tableStyleId>{2D5ABB26-0587-4C30-8999-92F81FD0307C}</a:tableStyleId>
              </a:tblPr>
              <a:tblGrid>
                <a:gridCol w="1351093">
                  <a:extLst>
                    <a:ext uri="{9D8B030D-6E8A-4147-A177-3AD203B41FA5}">
                      <a16:colId xmlns:a16="http://schemas.microsoft.com/office/drawing/2014/main" val="3772329477"/>
                    </a:ext>
                  </a:extLst>
                </a:gridCol>
                <a:gridCol w="1328193">
                  <a:extLst>
                    <a:ext uri="{9D8B030D-6E8A-4147-A177-3AD203B41FA5}">
                      <a16:colId xmlns:a16="http://schemas.microsoft.com/office/drawing/2014/main" val="1545367180"/>
                    </a:ext>
                  </a:extLst>
                </a:gridCol>
                <a:gridCol w="1335825">
                  <a:extLst>
                    <a:ext uri="{9D8B030D-6E8A-4147-A177-3AD203B41FA5}">
                      <a16:colId xmlns:a16="http://schemas.microsoft.com/office/drawing/2014/main" val="1182363303"/>
                    </a:ext>
                  </a:extLst>
                </a:gridCol>
                <a:gridCol w="1335825">
                  <a:extLst>
                    <a:ext uri="{9D8B030D-6E8A-4147-A177-3AD203B41FA5}">
                      <a16:colId xmlns:a16="http://schemas.microsoft.com/office/drawing/2014/main" val="2048605989"/>
                    </a:ext>
                  </a:extLst>
                </a:gridCol>
              </a:tblGrid>
              <a:tr h="433729">
                <a:tc>
                  <a:txBody>
                    <a:bodyPr/>
                    <a:lstStyle/>
                    <a:p>
                      <a:r>
                        <a:rPr lang="en-US" b="1" dirty="0"/>
                        <a:t>F</a:t>
                      </a:r>
                      <a:r>
                        <a:rPr lang="en-IL" b="1" dirty="0"/>
                        <a:t>irstName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LastName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RankNo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13319"/>
                  </a:ext>
                </a:extLst>
              </a:tr>
              <a:tr h="433729">
                <a:tc>
                  <a:txBody>
                    <a:bodyPr/>
                    <a:lstStyle/>
                    <a:p>
                      <a:r>
                        <a:rPr lang="en-IL" dirty="0"/>
                        <a:t>Paul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Ward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Alaska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1172246"/>
                  </a:ext>
                </a:extLst>
              </a:tr>
              <a:tr h="433729">
                <a:tc>
                  <a:txBody>
                    <a:bodyPr/>
                    <a:lstStyle/>
                    <a:p>
                      <a:r>
                        <a:rPr lang="en-IL" dirty="0"/>
                        <a:t>Peter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Bennett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California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9131067"/>
                  </a:ext>
                </a:extLst>
              </a:tr>
              <a:tr h="433729">
                <a:tc>
                  <a:txBody>
                    <a:bodyPr/>
                    <a:lstStyle/>
                    <a:p>
                      <a:r>
                        <a:rPr lang="en-IL" dirty="0"/>
                        <a:t>Diego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California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6368313"/>
                  </a:ext>
                </a:extLst>
              </a:tr>
              <a:tr h="433729">
                <a:tc>
                  <a:txBody>
                    <a:bodyPr/>
                    <a:lstStyle/>
                    <a:p>
                      <a:r>
                        <a:rPr lang="en-IL" dirty="0"/>
                        <a:t>Rose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Huges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Florida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9208545"/>
                  </a:ext>
                </a:extLst>
              </a:tr>
              <a:tr h="433729">
                <a:tc>
                  <a:txBody>
                    <a:bodyPr/>
                    <a:lstStyle/>
                    <a:p>
                      <a:r>
                        <a:rPr lang="en-IL" dirty="0"/>
                        <a:t>Carlos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Patterson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New York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7824874"/>
                  </a:ext>
                </a:extLst>
              </a:tr>
              <a:tr h="433729">
                <a:tc>
                  <a:txBody>
                    <a:bodyPr/>
                    <a:lstStyle/>
                    <a:p>
                      <a:r>
                        <a:rPr lang="en-IL" dirty="0"/>
                        <a:t>Antonio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Butler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New York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924997"/>
                  </a:ext>
                </a:extLst>
              </a:tr>
              <a:tr h="433729">
                <a:tc>
                  <a:txBody>
                    <a:bodyPr/>
                    <a:lstStyle/>
                    <a:p>
                      <a:r>
                        <a:rPr lang="en-IL" dirty="0"/>
                        <a:t>Luisa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Evans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Texas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523361"/>
                  </a:ext>
                </a:extLst>
              </a:tr>
              <a:tr h="433729">
                <a:tc>
                  <a:txBody>
                    <a:bodyPr/>
                    <a:lstStyle/>
                    <a:p>
                      <a:r>
                        <a:rPr lang="en-IL" dirty="0"/>
                        <a:t>Marielia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Simmons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Texas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095924"/>
                  </a:ext>
                </a:extLst>
              </a:tr>
            </a:tbl>
          </a:graphicData>
        </a:graphic>
      </p:graphicFrame>
    </p:spTree>
    <p:extLst>
      <p:ext uri="{BB962C8B-B14F-4D97-AF65-F5344CB8AC3E}">
        <p14:creationId xmlns:p14="http://schemas.microsoft.com/office/powerpoint/2010/main" val="26103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51</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Value Window Functions</a:t>
            </a:r>
          </a:p>
        </p:txBody>
      </p:sp>
    </p:spTree>
    <p:extLst>
      <p:ext uri="{BB962C8B-B14F-4D97-AF65-F5344CB8AC3E}">
        <p14:creationId xmlns:p14="http://schemas.microsoft.com/office/powerpoint/2010/main" val="20901577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Value Window Functions</a:t>
            </a:r>
          </a:p>
          <a:p>
            <a:pPr>
              <a:lnSpc>
                <a:spcPct val="150000"/>
              </a:lnSpc>
            </a:pPr>
            <a:r>
              <a:rPr lang="en-US" sz="2400" dirty="0"/>
              <a:t>The LEAD and LAG functions are used to </a:t>
            </a:r>
            <a:r>
              <a:rPr lang="en-US" sz="2400" b="1" dirty="0"/>
              <a:t>get the preceding and succeeding values</a:t>
            </a:r>
            <a:r>
              <a:rPr lang="en-US" sz="2400" dirty="0"/>
              <a:t> of specified rows from the current row within its partition.</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52</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7" name="TextBox 6">
            <a:extLst>
              <a:ext uri="{FF2B5EF4-FFF2-40B4-BE49-F238E27FC236}">
                <a16:creationId xmlns:a16="http://schemas.microsoft.com/office/drawing/2014/main" id="{95407542-DCE1-0047-B243-4BC274EB0AB8}"/>
              </a:ext>
            </a:extLst>
          </p:cNvPr>
          <p:cNvSpPr txBox="1"/>
          <p:nvPr/>
        </p:nvSpPr>
        <p:spPr>
          <a:xfrm>
            <a:off x="4038600" y="2519208"/>
            <a:ext cx="4572000" cy="3737946"/>
          </a:xfrm>
          <a:prstGeom prst="rect">
            <a:avLst/>
          </a:prstGeom>
          <a:noFill/>
        </p:spPr>
        <p:txBody>
          <a:bodyPr wrap="square" rtlCol="0">
            <a:spAutoFit/>
          </a:bodyPr>
          <a:lstStyle/>
          <a:p>
            <a:pPr>
              <a:lnSpc>
                <a:spcPct val="150000"/>
              </a:lnSpc>
            </a:pPr>
            <a:r>
              <a:rPr lang="en-US" sz="2000" b="1" dirty="0"/>
              <a:t>CREATE</a:t>
            </a:r>
            <a:r>
              <a:rPr lang="en-US" sz="2000" dirty="0"/>
              <a:t> </a:t>
            </a:r>
            <a:r>
              <a:rPr lang="en-US" sz="2000" b="1" dirty="0"/>
              <a:t>TABLE</a:t>
            </a:r>
            <a:r>
              <a:rPr lang="en-US" sz="2000" dirty="0"/>
              <a:t> Sales(    </a:t>
            </a:r>
          </a:p>
          <a:p>
            <a:pPr>
              <a:lnSpc>
                <a:spcPct val="150000"/>
              </a:lnSpc>
            </a:pPr>
            <a:r>
              <a:rPr lang="en-US" sz="2000" dirty="0"/>
              <a:t>    Employee </a:t>
            </a:r>
            <a:r>
              <a:rPr lang="en-US" sz="2000" b="1" dirty="0"/>
              <a:t>VARCHAR</a:t>
            </a:r>
            <a:r>
              <a:rPr lang="en-US" sz="2000" dirty="0"/>
              <a:t>(45) NOT NULL,    </a:t>
            </a:r>
          </a:p>
          <a:p>
            <a:pPr>
              <a:lnSpc>
                <a:spcPct val="150000"/>
              </a:lnSpc>
            </a:pPr>
            <a:r>
              <a:rPr lang="en-US" sz="2000" dirty="0"/>
              <a:t>    Year </a:t>
            </a:r>
            <a:r>
              <a:rPr lang="en-US" sz="2000" b="1" dirty="0"/>
              <a:t>INT</a:t>
            </a:r>
            <a:r>
              <a:rPr lang="en-US" sz="2000" dirty="0"/>
              <a:t> NOT NULL,  </a:t>
            </a:r>
          </a:p>
          <a:p>
            <a:pPr>
              <a:lnSpc>
                <a:spcPct val="150000"/>
              </a:lnSpc>
            </a:pPr>
            <a:r>
              <a:rPr lang="en-US" sz="2000" dirty="0"/>
              <a:t>    Country </a:t>
            </a:r>
            <a:r>
              <a:rPr lang="en-US" sz="2000" b="1" dirty="0"/>
              <a:t>VARCHAR</a:t>
            </a:r>
            <a:r>
              <a:rPr lang="en-US" sz="2000" dirty="0"/>
              <a:t>(45) NOT NULL,    </a:t>
            </a:r>
          </a:p>
          <a:p>
            <a:pPr>
              <a:lnSpc>
                <a:spcPct val="150000"/>
              </a:lnSpc>
            </a:pPr>
            <a:r>
              <a:rPr lang="en-US" sz="2000" dirty="0"/>
              <a:t>    Product </a:t>
            </a:r>
            <a:r>
              <a:rPr lang="en-US" sz="2000" b="1" dirty="0"/>
              <a:t>VARCHAR</a:t>
            </a:r>
            <a:r>
              <a:rPr lang="en-US" sz="2000" dirty="0"/>
              <a:t>(45) NOT NULL,    </a:t>
            </a:r>
          </a:p>
          <a:p>
            <a:pPr>
              <a:lnSpc>
                <a:spcPct val="150000"/>
              </a:lnSpc>
            </a:pPr>
            <a:r>
              <a:rPr lang="en-US" sz="2000" dirty="0"/>
              <a:t>    Amount </a:t>
            </a:r>
            <a:r>
              <a:rPr lang="en-US" sz="2000" b="1" dirty="0"/>
              <a:t>DECIMAL</a:t>
            </a:r>
            <a:r>
              <a:rPr lang="en-US" sz="2000" dirty="0"/>
              <a:t>(12,2) NOT NULL,    </a:t>
            </a:r>
          </a:p>
          <a:p>
            <a:pPr>
              <a:lnSpc>
                <a:spcPct val="150000"/>
              </a:lnSpc>
            </a:pPr>
            <a:r>
              <a:rPr lang="en-US" sz="2000" dirty="0"/>
              <a:t>    </a:t>
            </a:r>
            <a:r>
              <a:rPr lang="en-US" sz="2000" b="1" dirty="0"/>
              <a:t>PRIMARY</a:t>
            </a:r>
            <a:r>
              <a:rPr lang="en-US" sz="2000" dirty="0"/>
              <a:t> </a:t>
            </a:r>
            <a:r>
              <a:rPr lang="en-US" sz="2000" b="1" dirty="0"/>
              <a:t>KEY</a:t>
            </a:r>
            <a:r>
              <a:rPr lang="en-US" sz="2000" dirty="0"/>
              <a:t>(Employee, Year)    </a:t>
            </a:r>
          </a:p>
          <a:p>
            <a:pPr>
              <a:lnSpc>
                <a:spcPct val="150000"/>
              </a:lnSpc>
            </a:pPr>
            <a:r>
              <a:rPr lang="en-US" sz="2000" dirty="0"/>
              <a:t>);   </a:t>
            </a:r>
          </a:p>
        </p:txBody>
      </p:sp>
    </p:spTree>
    <p:extLst>
      <p:ext uri="{BB962C8B-B14F-4D97-AF65-F5344CB8AC3E}">
        <p14:creationId xmlns:p14="http://schemas.microsoft.com/office/powerpoint/2010/main" val="4060955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Lead</a:t>
            </a:r>
          </a:p>
          <a:p>
            <a:pPr>
              <a:lnSpc>
                <a:spcPct val="150000"/>
              </a:lnSpc>
            </a:pPr>
            <a:endParaRPr lang="en-US" sz="2400" b="1" dirty="0"/>
          </a:p>
          <a:p>
            <a:pPr>
              <a:lnSpc>
                <a:spcPct val="150000"/>
              </a:lnSpc>
            </a:pPr>
            <a:endParaRPr lang="en-US" sz="2400" b="1" dirty="0"/>
          </a:p>
          <a:p>
            <a:pPr>
              <a:lnSpc>
                <a:spcPct val="150000"/>
              </a:lnSpc>
            </a:pPr>
            <a:endParaRPr lang="en-US" sz="2400" b="1" dirty="0"/>
          </a:p>
          <a:p>
            <a:pPr>
              <a:lnSpc>
                <a:spcPct val="150000"/>
              </a:lnSpc>
            </a:pPr>
            <a:r>
              <a:rPr lang="en-US" sz="2400" dirty="0"/>
              <a:t>Result: returns the amount and next amount detail of each employee. </a:t>
            </a:r>
          </a:p>
          <a:p>
            <a:pPr>
              <a:lnSpc>
                <a:spcPct val="150000"/>
              </a:lnSpc>
            </a:pPr>
            <a:r>
              <a:rPr lang="en-US" sz="2400" dirty="0"/>
              <a:t>It first split the result based on the </a:t>
            </a:r>
            <a:r>
              <a:rPr lang="en-US" sz="2400" b="1" dirty="0"/>
              <a:t>year</a:t>
            </a:r>
            <a:r>
              <a:rPr lang="en-US" sz="2400" dirty="0"/>
              <a:t> and then sorted each partition using the </a:t>
            </a:r>
            <a:r>
              <a:rPr lang="en-US" sz="2400" b="1" dirty="0"/>
              <a:t>country</a:t>
            </a:r>
            <a:r>
              <a:rPr lang="en-US" sz="2400" dirty="0"/>
              <a:t> column. </a:t>
            </a:r>
          </a:p>
          <a:p>
            <a:pPr>
              <a:lnSpc>
                <a:spcPct val="150000"/>
              </a:lnSpc>
            </a:pPr>
            <a:r>
              <a:rPr lang="en-US" sz="2400" dirty="0"/>
              <a:t>LEAD() - function on each partition to get the next sales detail.</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53</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78F10A0D-BAE7-6440-8924-65F0B82B490B}"/>
              </a:ext>
            </a:extLst>
          </p:cNvPr>
          <p:cNvSpPr txBox="1"/>
          <p:nvPr/>
        </p:nvSpPr>
        <p:spPr>
          <a:xfrm>
            <a:off x="1456267" y="1170570"/>
            <a:ext cx="10735733" cy="1697068"/>
          </a:xfrm>
          <a:prstGeom prst="rect">
            <a:avLst/>
          </a:prstGeom>
          <a:noFill/>
        </p:spPr>
        <p:txBody>
          <a:bodyPr wrap="square" rtlCol="0">
            <a:spAutoFit/>
          </a:bodyPr>
          <a:lstStyle/>
          <a:p>
            <a:pPr>
              <a:lnSpc>
                <a:spcPct val="150000"/>
              </a:lnSpc>
            </a:pPr>
            <a:r>
              <a:rPr lang="en-US" sz="2400" b="1" dirty="0"/>
              <a:t>SELECT</a:t>
            </a:r>
            <a:r>
              <a:rPr lang="en-US" sz="2400" dirty="0"/>
              <a:t> Year, Product, Country, Amount,       </a:t>
            </a:r>
          </a:p>
          <a:p>
            <a:pPr>
              <a:lnSpc>
                <a:spcPct val="150000"/>
              </a:lnSpc>
            </a:pPr>
            <a:r>
              <a:rPr lang="en-US" sz="2400" dirty="0"/>
              <a:t>LEAD(Amount,1) OVER (PARTITION </a:t>
            </a:r>
            <a:r>
              <a:rPr lang="en-US" sz="2400" b="1" dirty="0"/>
              <a:t>BY</a:t>
            </a:r>
            <a:r>
              <a:rPr lang="en-US" sz="2400" dirty="0"/>
              <a:t> Year </a:t>
            </a:r>
            <a:r>
              <a:rPr lang="en-US" sz="2400" b="1" dirty="0"/>
              <a:t>ORDER</a:t>
            </a:r>
            <a:r>
              <a:rPr lang="en-US" sz="2400" dirty="0"/>
              <a:t> </a:t>
            </a:r>
            <a:r>
              <a:rPr lang="en-US" sz="2400" b="1" dirty="0"/>
              <a:t>BY</a:t>
            </a:r>
            <a:r>
              <a:rPr lang="en-US" sz="2400" dirty="0"/>
              <a:t> Country) </a:t>
            </a:r>
            <a:r>
              <a:rPr lang="en-US" sz="2400" b="1" dirty="0"/>
              <a:t>AS</a:t>
            </a:r>
            <a:r>
              <a:rPr lang="en-US" sz="2400" dirty="0"/>
              <a:t> </a:t>
            </a:r>
            <a:r>
              <a:rPr lang="en-US" sz="2400" dirty="0" err="1"/>
              <a:t>NextAmount</a:t>
            </a:r>
            <a:endParaRPr lang="en-US" sz="2400" dirty="0"/>
          </a:p>
          <a:p>
            <a:pPr>
              <a:lnSpc>
                <a:spcPct val="150000"/>
              </a:lnSpc>
            </a:pPr>
            <a:r>
              <a:rPr lang="en-US" sz="2400" b="1" dirty="0"/>
              <a:t>FROM</a:t>
            </a:r>
            <a:r>
              <a:rPr lang="en-US" sz="2400" dirty="0"/>
              <a:t> Sales</a:t>
            </a:r>
          </a:p>
        </p:txBody>
      </p:sp>
    </p:spTree>
    <p:extLst>
      <p:ext uri="{BB962C8B-B14F-4D97-AF65-F5344CB8AC3E}">
        <p14:creationId xmlns:p14="http://schemas.microsoft.com/office/powerpoint/2010/main" val="27945690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Lead</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54</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7" name="Table 6">
            <a:extLst>
              <a:ext uri="{FF2B5EF4-FFF2-40B4-BE49-F238E27FC236}">
                <a16:creationId xmlns:a16="http://schemas.microsoft.com/office/drawing/2014/main" id="{82F77F26-235A-0046-B3D6-507042828C7F}"/>
              </a:ext>
            </a:extLst>
          </p:cNvPr>
          <p:cNvGraphicFramePr>
            <a:graphicFrameLocks noGrp="1"/>
          </p:cNvGraphicFramePr>
          <p:nvPr>
            <p:extLst>
              <p:ext uri="{D42A27DB-BD31-4B8C-83A1-F6EECF244321}">
                <p14:modId xmlns:p14="http://schemas.microsoft.com/office/powerpoint/2010/main" val="3381863723"/>
              </p:ext>
            </p:extLst>
          </p:nvPr>
        </p:nvGraphicFramePr>
        <p:xfrm>
          <a:off x="2904064" y="2133918"/>
          <a:ext cx="6646334" cy="2225040"/>
        </p:xfrm>
        <a:graphic>
          <a:graphicData uri="http://schemas.openxmlformats.org/drawingml/2006/table">
            <a:tbl>
              <a:tblPr firstRow="1" bandRow="1">
                <a:tableStyleId>{2D5ABB26-0587-4C30-8999-92F81FD0307C}</a:tableStyleId>
              </a:tblPr>
              <a:tblGrid>
                <a:gridCol w="1039102">
                  <a:extLst>
                    <a:ext uri="{9D8B030D-6E8A-4147-A177-3AD203B41FA5}">
                      <a16:colId xmlns:a16="http://schemas.microsoft.com/office/drawing/2014/main" val="1545367180"/>
                    </a:ext>
                  </a:extLst>
                </a:gridCol>
                <a:gridCol w="1331512">
                  <a:extLst>
                    <a:ext uri="{9D8B030D-6E8A-4147-A177-3AD203B41FA5}">
                      <a16:colId xmlns:a16="http://schemas.microsoft.com/office/drawing/2014/main" val="3388099423"/>
                    </a:ext>
                  </a:extLst>
                </a:gridCol>
                <a:gridCol w="1425240">
                  <a:extLst>
                    <a:ext uri="{9D8B030D-6E8A-4147-A177-3AD203B41FA5}">
                      <a16:colId xmlns:a16="http://schemas.microsoft.com/office/drawing/2014/main" val="1182363303"/>
                    </a:ext>
                  </a:extLst>
                </a:gridCol>
                <a:gridCol w="1425240">
                  <a:extLst>
                    <a:ext uri="{9D8B030D-6E8A-4147-A177-3AD203B41FA5}">
                      <a16:colId xmlns:a16="http://schemas.microsoft.com/office/drawing/2014/main" val="1355601158"/>
                    </a:ext>
                  </a:extLst>
                </a:gridCol>
                <a:gridCol w="1425240">
                  <a:extLst>
                    <a:ext uri="{9D8B030D-6E8A-4147-A177-3AD203B41FA5}">
                      <a16:colId xmlns:a16="http://schemas.microsoft.com/office/drawing/2014/main" val="1176974619"/>
                    </a:ext>
                  </a:extLst>
                </a:gridCol>
              </a:tblGrid>
              <a:tr h="370840">
                <a:tc>
                  <a:txBody>
                    <a:bodyPr/>
                    <a:lstStyle/>
                    <a:p>
                      <a:r>
                        <a:rPr lang="en-IL" b="1" dirty="0"/>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Country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NextAmount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13319"/>
                  </a:ext>
                </a:extLst>
              </a:tr>
              <a:tr h="370840">
                <a:tc>
                  <a:txBody>
                    <a:bodyPr/>
                    <a:lstStyle/>
                    <a:p>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Computer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Canada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9249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Laptop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5233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095924"/>
                  </a:ext>
                </a:extLst>
              </a:tr>
              <a:tr h="370840">
                <a:tc>
                  <a:txBody>
                    <a:bodyPr/>
                    <a:lstStyle/>
                    <a:p>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Canada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325320"/>
                  </a:ext>
                </a:extLst>
              </a:tr>
              <a:tr h="370840">
                <a:tc>
                  <a:txBody>
                    <a:bodyPr/>
                    <a:lstStyle/>
                    <a:p>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Mobile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USA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531990"/>
                  </a:ext>
                </a:extLst>
              </a:tr>
            </a:tbl>
          </a:graphicData>
        </a:graphic>
      </p:graphicFrame>
    </p:spTree>
    <p:extLst>
      <p:ext uri="{BB962C8B-B14F-4D97-AF65-F5344CB8AC3E}">
        <p14:creationId xmlns:p14="http://schemas.microsoft.com/office/powerpoint/2010/main" val="323418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Lad</a:t>
            </a:r>
          </a:p>
          <a:p>
            <a:pPr>
              <a:lnSpc>
                <a:spcPct val="150000"/>
              </a:lnSpc>
            </a:pPr>
            <a:endParaRPr lang="en-US" sz="2400" b="1" dirty="0"/>
          </a:p>
          <a:p>
            <a:pPr>
              <a:lnSpc>
                <a:spcPct val="150000"/>
              </a:lnSpc>
            </a:pPr>
            <a:endParaRPr lang="en-US" sz="2400" b="1" dirty="0"/>
          </a:p>
          <a:p>
            <a:pPr>
              <a:lnSpc>
                <a:spcPct val="150000"/>
              </a:lnSpc>
            </a:pPr>
            <a:endParaRPr lang="en-US" sz="2400" b="1" dirty="0"/>
          </a:p>
          <a:p>
            <a:pPr>
              <a:lnSpc>
                <a:spcPct val="150000"/>
              </a:lnSpc>
            </a:pPr>
            <a:r>
              <a:rPr lang="en-US" sz="2400" dirty="0"/>
              <a:t>Result: returns the amount and previous amount detail of each employee. </a:t>
            </a:r>
          </a:p>
          <a:p>
            <a:pPr>
              <a:lnSpc>
                <a:spcPct val="150000"/>
              </a:lnSpc>
            </a:pPr>
            <a:r>
              <a:rPr lang="en-US" sz="2400" dirty="0"/>
              <a:t>It first split the result based on the </a:t>
            </a:r>
            <a:r>
              <a:rPr lang="en-US" sz="2400" b="1" dirty="0"/>
              <a:t>year</a:t>
            </a:r>
            <a:r>
              <a:rPr lang="en-US" sz="2400" dirty="0"/>
              <a:t> and then sorted each partition using the </a:t>
            </a:r>
            <a:r>
              <a:rPr lang="en-US" sz="2400" b="1" dirty="0"/>
              <a:t>country</a:t>
            </a:r>
            <a:r>
              <a:rPr lang="en-US" sz="2400" dirty="0"/>
              <a:t> column. </a:t>
            </a:r>
          </a:p>
          <a:p>
            <a:pPr>
              <a:lnSpc>
                <a:spcPct val="150000"/>
              </a:lnSpc>
            </a:pPr>
            <a:r>
              <a:rPr lang="en-US" sz="2400" b="1" dirty="0"/>
              <a:t>Lad</a:t>
            </a:r>
            <a:r>
              <a:rPr lang="en-US" sz="2400" dirty="0"/>
              <a:t>() - function on each partition to get the previous sales detail.</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55</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78F10A0D-BAE7-6440-8924-65F0B82B490B}"/>
              </a:ext>
            </a:extLst>
          </p:cNvPr>
          <p:cNvSpPr txBox="1"/>
          <p:nvPr/>
        </p:nvSpPr>
        <p:spPr>
          <a:xfrm>
            <a:off x="1278466" y="1111304"/>
            <a:ext cx="10735733" cy="1697068"/>
          </a:xfrm>
          <a:prstGeom prst="rect">
            <a:avLst/>
          </a:prstGeom>
          <a:noFill/>
        </p:spPr>
        <p:txBody>
          <a:bodyPr wrap="square" rtlCol="0">
            <a:spAutoFit/>
          </a:bodyPr>
          <a:lstStyle/>
          <a:p>
            <a:pPr>
              <a:lnSpc>
                <a:spcPct val="150000"/>
              </a:lnSpc>
            </a:pPr>
            <a:r>
              <a:rPr lang="en-US" sz="2400" b="1" dirty="0"/>
              <a:t>SELECT</a:t>
            </a:r>
            <a:r>
              <a:rPr lang="en-US" sz="2400" dirty="0"/>
              <a:t> Year, Product, Country, Amount,       </a:t>
            </a:r>
          </a:p>
          <a:p>
            <a:pPr>
              <a:lnSpc>
                <a:spcPct val="150000"/>
              </a:lnSpc>
            </a:pPr>
            <a:r>
              <a:rPr lang="en-US" sz="2400" dirty="0"/>
              <a:t>LAG(Amount, 1) OVER (PARTITION </a:t>
            </a:r>
            <a:r>
              <a:rPr lang="en-US" sz="2400" b="1" dirty="0"/>
              <a:t>BY</a:t>
            </a:r>
            <a:r>
              <a:rPr lang="en-US" sz="2400" dirty="0"/>
              <a:t> Year </a:t>
            </a:r>
            <a:r>
              <a:rPr lang="en-US" sz="2400" b="1" dirty="0"/>
              <a:t>ORDER</a:t>
            </a:r>
            <a:r>
              <a:rPr lang="en-US" sz="2400" dirty="0"/>
              <a:t> </a:t>
            </a:r>
            <a:r>
              <a:rPr lang="en-US" sz="2400" b="1" dirty="0"/>
              <a:t>BY</a:t>
            </a:r>
            <a:r>
              <a:rPr lang="en-US" sz="2400" dirty="0"/>
              <a:t> Country) </a:t>
            </a:r>
            <a:r>
              <a:rPr lang="en-US" sz="2400" b="1" dirty="0"/>
              <a:t>AS</a:t>
            </a:r>
            <a:r>
              <a:rPr lang="en-US" sz="2400" dirty="0"/>
              <a:t> </a:t>
            </a:r>
            <a:r>
              <a:rPr lang="en-US" sz="2400" dirty="0" err="1"/>
              <a:t>PrevAmount</a:t>
            </a:r>
            <a:r>
              <a:rPr lang="en-US" sz="2400" dirty="0"/>
              <a:t>      </a:t>
            </a:r>
          </a:p>
          <a:p>
            <a:pPr>
              <a:lnSpc>
                <a:spcPct val="150000"/>
              </a:lnSpc>
            </a:pPr>
            <a:r>
              <a:rPr lang="en-US" sz="2400" b="1" dirty="0"/>
              <a:t>FROM</a:t>
            </a:r>
            <a:r>
              <a:rPr lang="en-US" sz="2400" dirty="0"/>
              <a:t> Sales</a:t>
            </a:r>
          </a:p>
        </p:txBody>
      </p:sp>
    </p:spTree>
    <p:extLst>
      <p:ext uri="{BB962C8B-B14F-4D97-AF65-F5344CB8AC3E}">
        <p14:creationId xmlns:p14="http://schemas.microsoft.com/office/powerpoint/2010/main" val="12338177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 - Lad</a:t>
            </a:r>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56</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7" name="Table 6">
            <a:extLst>
              <a:ext uri="{FF2B5EF4-FFF2-40B4-BE49-F238E27FC236}">
                <a16:creationId xmlns:a16="http://schemas.microsoft.com/office/drawing/2014/main" id="{82F77F26-235A-0046-B3D6-507042828C7F}"/>
              </a:ext>
            </a:extLst>
          </p:cNvPr>
          <p:cNvGraphicFramePr>
            <a:graphicFrameLocks noGrp="1"/>
          </p:cNvGraphicFramePr>
          <p:nvPr>
            <p:extLst>
              <p:ext uri="{D42A27DB-BD31-4B8C-83A1-F6EECF244321}">
                <p14:modId xmlns:p14="http://schemas.microsoft.com/office/powerpoint/2010/main" val="368227321"/>
              </p:ext>
            </p:extLst>
          </p:nvPr>
        </p:nvGraphicFramePr>
        <p:xfrm>
          <a:off x="2904064" y="2133918"/>
          <a:ext cx="6646334" cy="2225040"/>
        </p:xfrm>
        <a:graphic>
          <a:graphicData uri="http://schemas.openxmlformats.org/drawingml/2006/table">
            <a:tbl>
              <a:tblPr firstRow="1" bandRow="1">
                <a:tableStyleId>{2D5ABB26-0587-4C30-8999-92F81FD0307C}</a:tableStyleId>
              </a:tblPr>
              <a:tblGrid>
                <a:gridCol w="1039102">
                  <a:extLst>
                    <a:ext uri="{9D8B030D-6E8A-4147-A177-3AD203B41FA5}">
                      <a16:colId xmlns:a16="http://schemas.microsoft.com/office/drawing/2014/main" val="1545367180"/>
                    </a:ext>
                  </a:extLst>
                </a:gridCol>
                <a:gridCol w="1331512">
                  <a:extLst>
                    <a:ext uri="{9D8B030D-6E8A-4147-A177-3AD203B41FA5}">
                      <a16:colId xmlns:a16="http://schemas.microsoft.com/office/drawing/2014/main" val="3388099423"/>
                    </a:ext>
                  </a:extLst>
                </a:gridCol>
                <a:gridCol w="1425240">
                  <a:extLst>
                    <a:ext uri="{9D8B030D-6E8A-4147-A177-3AD203B41FA5}">
                      <a16:colId xmlns:a16="http://schemas.microsoft.com/office/drawing/2014/main" val="1182363303"/>
                    </a:ext>
                  </a:extLst>
                </a:gridCol>
                <a:gridCol w="1425240">
                  <a:extLst>
                    <a:ext uri="{9D8B030D-6E8A-4147-A177-3AD203B41FA5}">
                      <a16:colId xmlns:a16="http://schemas.microsoft.com/office/drawing/2014/main" val="1355601158"/>
                    </a:ext>
                  </a:extLst>
                </a:gridCol>
                <a:gridCol w="1425240">
                  <a:extLst>
                    <a:ext uri="{9D8B030D-6E8A-4147-A177-3AD203B41FA5}">
                      <a16:colId xmlns:a16="http://schemas.microsoft.com/office/drawing/2014/main" val="1176974619"/>
                    </a:ext>
                  </a:extLst>
                </a:gridCol>
              </a:tblGrid>
              <a:tr h="370840">
                <a:tc>
                  <a:txBody>
                    <a:bodyPr/>
                    <a:lstStyle/>
                    <a:p>
                      <a:r>
                        <a:rPr lang="en-IL" b="1" dirty="0"/>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Country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NextAmount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13319"/>
                  </a:ext>
                </a:extLst>
              </a:tr>
              <a:tr h="370840">
                <a:tc>
                  <a:txBody>
                    <a:bodyPr/>
                    <a:lstStyle/>
                    <a:p>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Computer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Canada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9249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Laptop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5233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095924"/>
                  </a:ext>
                </a:extLst>
              </a:tr>
              <a:tr h="370840">
                <a:tc>
                  <a:txBody>
                    <a:bodyPr/>
                    <a:lstStyle/>
                    <a:p>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Canada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325320"/>
                  </a:ext>
                </a:extLst>
              </a:tr>
              <a:tr h="370840">
                <a:tc>
                  <a:txBody>
                    <a:bodyPr/>
                    <a:lstStyle/>
                    <a:p>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Mobile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USA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531990"/>
                  </a:ext>
                </a:extLst>
              </a:tr>
            </a:tbl>
          </a:graphicData>
        </a:graphic>
      </p:graphicFrame>
    </p:spTree>
    <p:extLst>
      <p:ext uri="{BB962C8B-B14F-4D97-AF65-F5344CB8AC3E}">
        <p14:creationId xmlns:p14="http://schemas.microsoft.com/office/powerpoint/2010/main" val="562153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First and Last Values</a:t>
            </a:r>
          </a:p>
          <a:p>
            <a:pPr>
              <a:lnSpc>
                <a:spcPct val="150000"/>
              </a:lnSpc>
            </a:pPr>
            <a:r>
              <a:rPr lang="en-US" sz="2400" dirty="0"/>
              <a:t>These functions are used to find the first and last record in the table or a partition if the PARTITION BY clause is specified. </a:t>
            </a:r>
          </a:p>
          <a:p>
            <a:pPr>
              <a:lnSpc>
                <a:spcPct val="150000"/>
              </a:lnSpc>
            </a:pPr>
            <a:r>
              <a:rPr lang="en-US" sz="2400" b="1" dirty="0"/>
              <a:t>Note</a:t>
            </a:r>
            <a:r>
              <a:rPr lang="en-US" sz="2400" dirty="0"/>
              <a:t>: these functions are mandatory to use the ORDER BY clause. </a:t>
            </a:r>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57</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TextBox 5">
            <a:extLst>
              <a:ext uri="{FF2B5EF4-FFF2-40B4-BE49-F238E27FC236}">
                <a16:creationId xmlns:a16="http://schemas.microsoft.com/office/drawing/2014/main" id="{78F10A0D-BAE7-6440-8924-65F0B82B490B}"/>
              </a:ext>
            </a:extLst>
          </p:cNvPr>
          <p:cNvSpPr txBox="1"/>
          <p:nvPr/>
        </p:nvSpPr>
        <p:spPr>
          <a:xfrm>
            <a:off x="1024467" y="3303410"/>
            <a:ext cx="10892365" cy="3086807"/>
          </a:xfrm>
          <a:prstGeom prst="rect">
            <a:avLst/>
          </a:prstGeom>
          <a:noFill/>
        </p:spPr>
        <p:txBody>
          <a:bodyPr wrap="square" rtlCol="0">
            <a:spAutoFit/>
          </a:bodyPr>
          <a:lstStyle/>
          <a:p>
            <a:pPr>
              <a:lnSpc>
                <a:spcPct val="150000"/>
              </a:lnSpc>
            </a:pPr>
            <a:r>
              <a:rPr lang="en-US" sz="2200" b="1" dirty="0"/>
              <a:t>SELECT</a:t>
            </a:r>
            <a:r>
              <a:rPr lang="en-US" sz="2200" dirty="0"/>
              <a:t> Year, Product, Country, Amount,       </a:t>
            </a:r>
          </a:p>
          <a:p>
            <a:pPr>
              <a:lnSpc>
                <a:spcPct val="150000"/>
              </a:lnSpc>
            </a:pPr>
            <a:r>
              <a:rPr lang="en-US" sz="2200" dirty="0"/>
              <a:t>FIRST_VALUE(Amount) OVER(PARTITION </a:t>
            </a:r>
            <a:r>
              <a:rPr lang="en-US" sz="2200" b="1" dirty="0"/>
              <a:t>BY</a:t>
            </a:r>
            <a:r>
              <a:rPr lang="en-US" sz="2200" dirty="0"/>
              <a:t> Country </a:t>
            </a:r>
            <a:r>
              <a:rPr lang="en-US" sz="2200" b="1" dirty="0"/>
              <a:t>ORDER</a:t>
            </a:r>
            <a:r>
              <a:rPr lang="en-US" sz="2200" dirty="0"/>
              <a:t> </a:t>
            </a:r>
            <a:r>
              <a:rPr lang="en-US" sz="2200" b="1" dirty="0"/>
              <a:t>BY</a:t>
            </a:r>
            <a:r>
              <a:rPr lang="en-US" sz="2200" dirty="0"/>
              <a:t> Country) </a:t>
            </a:r>
            <a:r>
              <a:rPr lang="en-US" sz="2200" dirty="0" err="1"/>
              <a:t>FirstAmount</a:t>
            </a:r>
            <a:r>
              <a:rPr lang="en-US" sz="2200" dirty="0"/>
              <a:t>,  </a:t>
            </a:r>
          </a:p>
          <a:p>
            <a:pPr>
              <a:lnSpc>
                <a:spcPct val="150000"/>
              </a:lnSpc>
            </a:pPr>
            <a:r>
              <a:rPr lang="en-US" sz="2200" dirty="0"/>
              <a:t>LAST_VALUE(Amount) OVER(PARTITION </a:t>
            </a:r>
            <a:r>
              <a:rPr lang="en-US" sz="2200" b="1" dirty="0"/>
              <a:t>BY</a:t>
            </a:r>
            <a:r>
              <a:rPr lang="en-US" sz="2200" dirty="0"/>
              <a:t> Country </a:t>
            </a:r>
            <a:r>
              <a:rPr lang="en-US" sz="2200" b="1" dirty="0"/>
              <a:t>ORDER</a:t>
            </a:r>
            <a:r>
              <a:rPr lang="en-US" sz="2200" dirty="0"/>
              <a:t> </a:t>
            </a:r>
            <a:r>
              <a:rPr lang="en-US" sz="2200" b="1" dirty="0"/>
              <a:t>BY</a:t>
            </a:r>
            <a:r>
              <a:rPr lang="en-US" sz="2200" dirty="0"/>
              <a:t> Country) </a:t>
            </a:r>
            <a:r>
              <a:rPr lang="en-US" sz="2200" dirty="0" err="1"/>
              <a:t>LastAmount</a:t>
            </a:r>
            <a:endParaRPr lang="en-US" sz="2200" dirty="0"/>
          </a:p>
          <a:p>
            <a:pPr>
              <a:lnSpc>
                <a:spcPct val="150000"/>
              </a:lnSpc>
            </a:pPr>
            <a:r>
              <a:rPr lang="en-US" sz="2200" b="1" dirty="0"/>
              <a:t>FROM</a:t>
            </a:r>
            <a:r>
              <a:rPr lang="en-US" sz="2200" dirty="0"/>
              <a:t> Sales</a:t>
            </a:r>
          </a:p>
          <a:p>
            <a:pPr>
              <a:lnSpc>
                <a:spcPct val="150000"/>
              </a:lnSpc>
            </a:pPr>
            <a:br>
              <a:rPr lang="en-US" sz="2200" dirty="0"/>
            </a:br>
            <a:endParaRPr lang="en-US" sz="2200" dirty="0"/>
          </a:p>
        </p:txBody>
      </p:sp>
    </p:spTree>
    <p:extLst>
      <p:ext uri="{BB962C8B-B14F-4D97-AF65-F5344CB8AC3E}">
        <p14:creationId xmlns:p14="http://schemas.microsoft.com/office/powerpoint/2010/main" val="175274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First and Last Values</a:t>
            </a:r>
          </a:p>
          <a:p>
            <a:br>
              <a:rPr lang="en-US" sz="2400" dirty="0"/>
            </a:br>
            <a:endParaRPr lang="en-US" sz="2400" dirty="0"/>
          </a:p>
        </p:txBody>
      </p:sp>
      <p:sp>
        <p:nvSpPr>
          <p:cNvPr id="4" name="Slide Number Placeholder 3">
            <a:extLst>
              <a:ext uri="{FF2B5EF4-FFF2-40B4-BE49-F238E27FC236}">
                <a16:creationId xmlns:a16="http://schemas.microsoft.com/office/drawing/2014/main" id="{E66ACA64-1602-4D57-9A3D-3E1EFB449BD0}"/>
              </a:ext>
            </a:extLst>
          </p:cNvPr>
          <p:cNvSpPr>
            <a:spLocks noGrp="1"/>
          </p:cNvSpPr>
          <p:nvPr>
            <p:ph type="sldNum" sz="quarter" idx="12"/>
          </p:nvPr>
        </p:nvSpPr>
        <p:spPr/>
        <p:txBody>
          <a:bodyPr/>
          <a:lstStyle/>
          <a:p>
            <a:fld id="{C9D69B18-316A-457F-86C2-CFE4F951EE27}" type="slidenum">
              <a:rPr lang="en-IL" smtClean="0"/>
              <a:pPr/>
              <a:t>58</a:t>
            </a:fld>
            <a:endParaRPr lang="en-IL"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7" name="Table 6">
            <a:extLst>
              <a:ext uri="{FF2B5EF4-FFF2-40B4-BE49-F238E27FC236}">
                <a16:creationId xmlns:a16="http://schemas.microsoft.com/office/drawing/2014/main" id="{8C08EE48-7B28-1840-98F4-E5642DE71904}"/>
              </a:ext>
            </a:extLst>
          </p:cNvPr>
          <p:cNvGraphicFramePr>
            <a:graphicFrameLocks noGrp="1"/>
          </p:cNvGraphicFramePr>
          <p:nvPr>
            <p:extLst>
              <p:ext uri="{D42A27DB-BD31-4B8C-83A1-F6EECF244321}">
                <p14:modId xmlns:p14="http://schemas.microsoft.com/office/powerpoint/2010/main" val="1263279973"/>
              </p:ext>
            </p:extLst>
          </p:nvPr>
        </p:nvGraphicFramePr>
        <p:xfrm>
          <a:off x="1873250" y="2266882"/>
          <a:ext cx="8445499" cy="2225040"/>
        </p:xfrm>
        <a:graphic>
          <a:graphicData uri="http://schemas.openxmlformats.org/drawingml/2006/table">
            <a:tbl>
              <a:tblPr firstRow="1" bandRow="1">
                <a:tableStyleId>{2D5ABB26-0587-4C30-8999-92F81FD0307C}</a:tableStyleId>
              </a:tblPr>
              <a:tblGrid>
                <a:gridCol w="1087239">
                  <a:extLst>
                    <a:ext uri="{9D8B030D-6E8A-4147-A177-3AD203B41FA5}">
                      <a16:colId xmlns:a16="http://schemas.microsoft.com/office/drawing/2014/main" val="1545367180"/>
                    </a:ext>
                  </a:extLst>
                </a:gridCol>
                <a:gridCol w="1393196">
                  <a:extLst>
                    <a:ext uri="{9D8B030D-6E8A-4147-A177-3AD203B41FA5}">
                      <a16:colId xmlns:a16="http://schemas.microsoft.com/office/drawing/2014/main" val="3388099423"/>
                    </a:ext>
                  </a:extLst>
                </a:gridCol>
                <a:gridCol w="1491266">
                  <a:extLst>
                    <a:ext uri="{9D8B030D-6E8A-4147-A177-3AD203B41FA5}">
                      <a16:colId xmlns:a16="http://schemas.microsoft.com/office/drawing/2014/main" val="1182363303"/>
                    </a:ext>
                  </a:extLst>
                </a:gridCol>
                <a:gridCol w="1491266">
                  <a:extLst>
                    <a:ext uri="{9D8B030D-6E8A-4147-A177-3AD203B41FA5}">
                      <a16:colId xmlns:a16="http://schemas.microsoft.com/office/drawing/2014/main" val="1355601158"/>
                    </a:ext>
                  </a:extLst>
                </a:gridCol>
                <a:gridCol w="1491266">
                  <a:extLst>
                    <a:ext uri="{9D8B030D-6E8A-4147-A177-3AD203B41FA5}">
                      <a16:colId xmlns:a16="http://schemas.microsoft.com/office/drawing/2014/main" val="1176974619"/>
                    </a:ext>
                  </a:extLst>
                </a:gridCol>
                <a:gridCol w="1491266">
                  <a:extLst>
                    <a:ext uri="{9D8B030D-6E8A-4147-A177-3AD203B41FA5}">
                      <a16:colId xmlns:a16="http://schemas.microsoft.com/office/drawing/2014/main" val="549629970"/>
                    </a:ext>
                  </a:extLst>
                </a:gridCol>
              </a:tblGrid>
              <a:tr h="370840">
                <a:tc>
                  <a:txBody>
                    <a:bodyPr/>
                    <a:lstStyle/>
                    <a:p>
                      <a:r>
                        <a:rPr lang="en-IL" b="1" dirty="0"/>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Country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FirstAmount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b="1" dirty="0"/>
                        <a:t>LastAmount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713319"/>
                  </a:ext>
                </a:extLst>
              </a:tr>
              <a:tr h="370840">
                <a:tc>
                  <a:txBody>
                    <a:bodyPr/>
                    <a:lstStyle/>
                    <a:p>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Computer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Canada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99249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Laptop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Canada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45233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L" dirty="0"/>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10000</a:t>
                      </a: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20000</a:t>
                      </a: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9095924"/>
                  </a:ext>
                </a:extLst>
              </a:tr>
              <a:tr h="370840">
                <a:tc>
                  <a:txBody>
                    <a:bodyPr/>
                    <a:lstStyle/>
                    <a:p>
                      <a:r>
                        <a:rPr lang="en-IL" dirty="0"/>
                        <a:t>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15000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10000</a:t>
                      </a: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L" sz="1800" b="0" i="0" u="none" strike="noStrike" kern="1200" cap="none" spc="0" normalizeH="0" baseline="0" noProof="0">
                          <a:ln>
                            <a:noFill/>
                          </a:ln>
                          <a:solidFill>
                            <a:prstClr val="black"/>
                          </a:solidFill>
                          <a:effectLst/>
                          <a:uLnTx/>
                          <a:uFillTx/>
                          <a:latin typeface="Calibri" panose="020F0502020204030204"/>
                          <a:ea typeface="+mn-ea"/>
                          <a:cs typeface="+mn-cs"/>
                        </a:rPr>
                        <a:t>20000</a:t>
                      </a: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325320"/>
                  </a:ext>
                </a:extLst>
              </a:tr>
              <a:tr h="370840">
                <a:tc>
                  <a:txBody>
                    <a:bodyPr/>
                    <a:lstStyle/>
                    <a:p>
                      <a:r>
                        <a:rPr lang="en-IL" dirty="0"/>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Mobile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Israel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L" dirty="0"/>
                        <a:t>20000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rPr>
                        <a:t>10000</a:t>
                      </a: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IL" sz="1800" b="0" i="0" u="none" strike="noStrike" kern="1200" cap="none" spc="0" normalizeH="0" baseline="0" noProof="0" dirty="0">
                          <a:ln>
                            <a:noFill/>
                          </a:ln>
                          <a:solidFill>
                            <a:prstClr val="black"/>
                          </a:solidFill>
                          <a:effectLst/>
                          <a:uLnTx/>
                          <a:uFillTx/>
                          <a:latin typeface="Calibri" panose="020F0502020204030204"/>
                          <a:ea typeface="+mn-ea"/>
                          <a:cs typeface="+mn-cs"/>
                        </a:rPr>
                        <a:t>20000</a:t>
                      </a:r>
                      <a:endParaRPr lang="en-IL"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531990"/>
                  </a:ext>
                </a:extLst>
              </a:tr>
            </a:tbl>
          </a:graphicData>
        </a:graphic>
      </p:graphicFrame>
    </p:spTree>
    <p:extLst>
      <p:ext uri="{BB962C8B-B14F-4D97-AF65-F5344CB8AC3E}">
        <p14:creationId xmlns:p14="http://schemas.microsoft.com/office/powerpoint/2010/main" val="798716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15300</TotalTime>
  <Words>2502</Words>
  <Application>Microsoft Macintosh PowerPoint</Application>
  <PresentationFormat>Widescreen</PresentationFormat>
  <Paragraphs>728</Paragraphs>
  <Slides>58</Slides>
  <Notes>57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Calibri Light</vt:lpstr>
      <vt:lpstr>Lato</vt:lpstr>
      <vt:lpstr>Office Theme</vt:lpstr>
      <vt:lpstr>Business Intelligence</vt:lpstr>
      <vt:lpstr>PowerPoint Presentation</vt:lpstr>
      <vt:lpstr>SQL - Structured Query Language</vt:lpstr>
      <vt:lpstr>SQL </vt:lpstr>
      <vt:lpstr>Overview</vt:lpstr>
      <vt:lpstr>PowerPoint Presentation</vt:lpstr>
      <vt:lpstr>How to merge two tables ? - Option 1 </vt:lpstr>
      <vt:lpstr>How to merge two tables ? - Option 2</vt:lpstr>
      <vt:lpstr>ON VS. USING</vt:lpstr>
      <vt:lpstr>How to merge two tables ? - Option 3</vt:lpstr>
      <vt:lpstr>JOIN Types </vt:lpstr>
      <vt:lpstr>Let’s start with an example..</vt:lpstr>
      <vt:lpstr>LEFT OUTER JOIN</vt:lpstr>
      <vt:lpstr>RIGHT OUTER JOIN</vt:lpstr>
      <vt:lpstr>FULL OUTER JOIN</vt:lpstr>
      <vt:lpstr>Handling NULL values</vt:lpstr>
      <vt:lpstr>Example </vt:lpstr>
      <vt:lpstr>Example </vt:lpstr>
      <vt:lpstr>Example </vt:lpstr>
      <vt:lpstr>Important Notes</vt:lpstr>
      <vt:lpstr>CREATE Tables</vt:lpstr>
      <vt:lpstr>1 - Define your table schema + types</vt:lpstr>
      <vt:lpstr>2 - Insert Values (with the same order!)</vt:lpstr>
      <vt:lpstr>3 - Check your Insertion</vt:lpstr>
      <vt:lpstr>SubQuery with ALL</vt:lpstr>
      <vt:lpstr>SubQuery with IN</vt:lpstr>
      <vt:lpstr>SubQuery with EXIST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dc:title>
  <dc:creator>Lev</dc:creator>
  <cp:lastModifiedBy>or perets</cp:lastModifiedBy>
  <cp:revision>317</cp:revision>
  <dcterms:created xsi:type="dcterms:W3CDTF">2021-02-09T13:47:38Z</dcterms:created>
  <dcterms:modified xsi:type="dcterms:W3CDTF">2023-02-15T14:55:20Z</dcterms:modified>
</cp:coreProperties>
</file>