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7" r:id="rId2"/>
    <p:sldId id="335" r:id="rId3"/>
    <p:sldId id="330" r:id="rId4"/>
    <p:sldId id="333" r:id="rId5"/>
    <p:sldId id="334" r:id="rId6"/>
    <p:sldId id="332" r:id="rId7"/>
    <p:sldId id="352" r:id="rId8"/>
    <p:sldId id="389" r:id="rId9"/>
    <p:sldId id="381" r:id="rId10"/>
    <p:sldId id="401" r:id="rId11"/>
    <p:sldId id="420" r:id="rId12"/>
    <p:sldId id="421" r:id="rId13"/>
    <p:sldId id="422" r:id="rId14"/>
    <p:sldId id="390" r:id="rId15"/>
    <p:sldId id="391" r:id="rId16"/>
    <p:sldId id="392" r:id="rId17"/>
    <p:sldId id="399" r:id="rId18"/>
    <p:sldId id="437" r:id="rId19"/>
    <p:sldId id="438" r:id="rId20"/>
    <p:sldId id="439" r:id="rId21"/>
    <p:sldId id="440" r:id="rId22"/>
    <p:sldId id="400" r:id="rId23"/>
    <p:sldId id="393" r:id="rId24"/>
    <p:sldId id="396" r:id="rId25"/>
    <p:sldId id="383" r:id="rId26"/>
    <p:sldId id="404" r:id="rId27"/>
    <p:sldId id="402" r:id="rId28"/>
    <p:sldId id="407" r:id="rId29"/>
    <p:sldId id="408" r:id="rId30"/>
    <p:sldId id="384" r:id="rId31"/>
    <p:sldId id="409" r:id="rId32"/>
    <p:sldId id="410" r:id="rId33"/>
    <p:sldId id="411" r:id="rId34"/>
    <p:sldId id="418" r:id="rId35"/>
    <p:sldId id="413" r:id="rId36"/>
    <p:sldId id="415" r:id="rId37"/>
    <p:sldId id="423" r:id="rId38"/>
    <p:sldId id="424" r:id="rId39"/>
    <p:sldId id="425" r:id="rId40"/>
    <p:sldId id="426" r:id="rId41"/>
    <p:sldId id="256" r:id="rId42"/>
    <p:sldId id="290" r:id="rId43"/>
    <p:sldId id="287" r:id="rId44"/>
    <p:sldId id="288" r:id="rId45"/>
    <p:sldId id="289" r:id="rId46"/>
    <p:sldId id="292" r:id="rId47"/>
    <p:sldId id="281" r:id="rId48"/>
    <p:sldId id="387" r:id="rId49"/>
    <p:sldId id="417" r:id="rId50"/>
    <p:sldId id="427" r:id="rId51"/>
    <p:sldId id="271" r:id="rId52"/>
    <p:sldId id="265" r:id="rId53"/>
    <p:sldId id="441" r:id="rId54"/>
    <p:sldId id="430" r:id="rId55"/>
    <p:sldId id="442" r:id="rId56"/>
    <p:sldId id="443" r:id="rId57"/>
    <p:sldId id="382" r:id="rId58"/>
    <p:sldId id="451" r:id="rId59"/>
    <p:sldId id="452" r:id="rId60"/>
    <p:sldId id="454" r:id="rId61"/>
    <p:sldId id="457" r:id="rId62"/>
    <p:sldId id="459" r:id="rId63"/>
    <p:sldId id="455" r:id="rId64"/>
    <p:sldId id="456" r:id="rId65"/>
    <p:sldId id="446" r:id="rId66"/>
    <p:sldId id="394" r:id="rId67"/>
    <p:sldId id="447" r:id="rId68"/>
    <p:sldId id="395" r:id="rId69"/>
    <p:sldId id="444" r:id="rId70"/>
    <p:sldId id="397" r:id="rId71"/>
    <p:sldId id="445" r:id="rId72"/>
    <p:sldId id="448" r:id="rId73"/>
    <p:sldId id="449" r:id="rId74"/>
    <p:sldId id="450" r:id="rId75"/>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4" autoAdjust="0"/>
    <p:restoredTop sz="94479"/>
  </p:normalViewPr>
  <p:slideViewPr>
    <p:cSldViewPr snapToGrid="0">
      <p:cViewPr varScale="1">
        <p:scale>
          <a:sx n="103" d="100"/>
          <a:sy n="103" d="100"/>
        </p:scale>
        <p:origin x="1456" y="17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1627A4-B3FA-7F42-833D-D87F46AA85F8}" type="doc">
      <dgm:prSet loTypeId="urn:microsoft.com/office/officeart/2005/8/layout/pyramid1" loCatId="" qsTypeId="urn:microsoft.com/office/officeart/2005/8/quickstyle/simple1" qsCatId="simple" csTypeId="urn:microsoft.com/office/officeart/2005/8/colors/accent1_2" csCatId="accent1" phldr="1"/>
      <dgm:spPr/>
    </dgm:pt>
    <dgm:pt modelId="{43ADB517-D8ED-CC44-B4BC-E06B943F15F3}">
      <dgm:prSet phldrT="[Text]"/>
      <dgm:spPr>
        <a:solidFill>
          <a:srgbClr val="00B0F0"/>
        </a:solidFill>
      </dgm:spPr>
      <dgm:t>
        <a:bodyPr/>
        <a:lstStyle/>
        <a:p>
          <a:r>
            <a:rPr lang="en-US" dirty="0"/>
            <a:t>Wisdom</a:t>
          </a:r>
        </a:p>
      </dgm:t>
    </dgm:pt>
    <dgm:pt modelId="{D8EAD1C2-63CE-3945-8CE8-B6EADDDECB79}" type="parTrans" cxnId="{8042EB2A-6677-2C46-B67E-71747528E651}">
      <dgm:prSet/>
      <dgm:spPr/>
      <dgm:t>
        <a:bodyPr/>
        <a:lstStyle/>
        <a:p>
          <a:endParaRPr lang="en-US"/>
        </a:p>
      </dgm:t>
    </dgm:pt>
    <dgm:pt modelId="{5D9B81B5-1294-2742-B814-04793B591FF9}" type="sibTrans" cxnId="{8042EB2A-6677-2C46-B67E-71747528E651}">
      <dgm:prSet/>
      <dgm:spPr/>
      <dgm:t>
        <a:bodyPr/>
        <a:lstStyle/>
        <a:p>
          <a:endParaRPr lang="en-US"/>
        </a:p>
      </dgm:t>
    </dgm:pt>
    <dgm:pt modelId="{A1C21A2D-6486-8141-B37D-CF79BF2B48DB}">
      <dgm:prSet phldrT="[Text]"/>
      <dgm:spPr>
        <a:solidFill>
          <a:schemeClr val="accent6"/>
        </a:solidFill>
      </dgm:spPr>
      <dgm:t>
        <a:bodyPr/>
        <a:lstStyle/>
        <a:p>
          <a:r>
            <a:rPr lang="en-US" dirty="0"/>
            <a:t>Knowledge</a:t>
          </a:r>
        </a:p>
      </dgm:t>
    </dgm:pt>
    <dgm:pt modelId="{1445B8EE-445A-8141-87B8-F68290A304A5}" type="parTrans" cxnId="{8D1ABC9A-0B5C-274D-8604-5E49DBECA60B}">
      <dgm:prSet/>
      <dgm:spPr/>
      <dgm:t>
        <a:bodyPr/>
        <a:lstStyle/>
        <a:p>
          <a:endParaRPr lang="en-US"/>
        </a:p>
      </dgm:t>
    </dgm:pt>
    <dgm:pt modelId="{87899284-C603-0B4B-ADAE-BF436EE8B250}" type="sibTrans" cxnId="{8D1ABC9A-0B5C-274D-8604-5E49DBECA60B}">
      <dgm:prSet/>
      <dgm:spPr/>
      <dgm:t>
        <a:bodyPr/>
        <a:lstStyle/>
        <a:p>
          <a:endParaRPr lang="en-US"/>
        </a:p>
      </dgm:t>
    </dgm:pt>
    <dgm:pt modelId="{82B302DC-45AD-5E40-9A2A-43A8ACC07616}">
      <dgm:prSet phldrT="[Text]"/>
      <dgm:spPr>
        <a:solidFill>
          <a:schemeClr val="accent2"/>
        </a:solidFill>
      </dgm:spPr>
      <dgm:t>
        <a:bodyPr/>
        <a:lstStyle/>
        <a:p>
          <a:r>
            <a:rPr lang="en-US" dirty="0"/>
            <a:t>Information</a:t>
          </a:r>
        </a:p>
      </dgm:t>
    </dgm:pt>
    <dgm:pt modelId="{4A8A3D16-C5B1-2849-8FEE-8EF3ADC7D4EF}" type="parTrans" cxnId="{0B6DF5AB-C1FC-6A4F-9D29-5FA7E6A0EA52}">
      <dgm:prSet/>
      <dgm:spPr/>
      <dgm:t>
        <a:bodyPr/>
        <a:lstStyle/>
        <a:p>
          <a:endParaRPr lang="en-US"/>
        </a:p>
      </dgm:t>
    </dgm:pt>
    <dgm:pt modelId="{0FA13AF8-C770-4C40-BE8F-29A41C10D28E}" type="sibTrans" cxnId="{0B6DF5AB-C1FC-6A4F-9D29-5FA7E6A0EA52}">
      <dgm:prSet/>
      <dgm:spPr/>
      <dgm:t>
        <a:bodyPr/>
        <a:lstStyle/>
        <a:p>
          <a:endParaRPr lang="en-US"/>
        </a:p>
      </dgm:t>
    </dgm:pt>
    <dgm:pt modelId="{C1C768C2-F897-9C47-B8E1-559E5BE15DFD}">
      <dgm:prSet phldrT="[Text]"/>
      <dgm:spPr/>
      <dgm:t>
        <a:bodyPr/>
        <a:lstStyle/>
        <a:p>
          <a:r>
            <a:rPr lang="en-US" dirty="0"/>
            <a:t>Data</a:t>
          </a:r>
        </a:p>
      </dgm:t>
    </dgm:pt>
    <dgm:pt modelId="{C2E50788-9810-EA42-BDFA-396D0B0F247C}" type="parTrans" cxnId="{B518540F-7A3E-A74F-8F6A-6A366E48B610}">
      <dgm:prSet/>
      <dgm:spPr/>
      <dgm:t>
        <a:bodyPr/>
        <a:lstStyle/>
        <a:p>
          <a:endParaRPr lang="en-US"/>
        </a:p>
      </dgm:t>
    </dgm:pt>
    <dgm:pt modelId="{9AB90C2E-079B-3249-B0E8-04B880F05F34}" type="sibTrans" cxnId="{B518540F-7A3E-A74F-8F6A-6A366E48B610}">
      <dgm:prSet/>
      <dgm:spPr/>
      <dgm:t>
        <a:bodyPr/>
        <a:lstStyle/>
        <a:p>
          <a:endParaRPr lang="en-US"/>
        </a:p>
      </dgm:t>
    </dgm:pt>
    <dgm:pt modelId="{FD05FD4C-7CE6-9B4E-B689-378CB75B5899}" type="pres">
      <dgm:prSet presAssocID="{421627A4-B3FA-7F42-833D-D87F46AA85F8}" presName="Name0" presStyleCnt="0">
        <dgm:presLayoutVars>
          <dgm:dir/>
          <dgm:animLvl val="lvl"/>
          <dgm:resizeHandles val="exact"/>
        </dgm:presLayoutVars>
      </dgm:prSet>
      <dgm:spPr/>
    </dgm:pt>
    <dgm:pt modelId="{07EB59CC-423E-C94B-B771-8D0978EC973C}" type="pres">
      <dgm:prSet presAssocID="{43ADB517-D8ED-CC44-B4BC-E06B943F15F3}" presName="Name8" presStyleCnt="0"/>
      <dgm:spPr/>
    </dgm:pt>
    <dgm:pt modelId="{4FB1A781-9C58-B145-8442-B550F0DAFEFD}" type="pres">
      <dgm:prSet presAssocID="{43ADB517-D8ED-CC44-B4BC-E06B943F15F3}" presName="level" presStyleLbl="node1" presStyleIdx="0" presStyleCnt="4">
        <dgm:presLayoutVars>
          <dgm:chMax val="1"/>
          <dgm:bulletEnabled val="1"/>
        </dgm:presLayoutVars>
      </dgm:prSet>
      <dgm:spPr/>
    </dgm:pt>
    <dgm:pt modelId="{209C3B01-ABBE-D149-AB75-6BE811881F69}" type="pres">
      <dgm:prSet presAssocID="{43ADB517-D8ED-CC44-B4BC-E06B943F15F3}" presName="levelTx" presStyleLbl="revTx" presStyleIdx="0" presStyleCnt="0">
        <dgm:presLayoutVars>
          <dgm:chMax val="1"/>
          <dgm:bulletEnabled val="1"/>
        </dgm:presLayoutVars>
      </dgm:prSet>
      <dgm:spPr/>
    </dgm:pt>
    <dgm:pt modelId="{568D2A80-5802-534F-AF0E-A3FCEE300D61}" type="pres">
      <dgm:prSet presAssocID="{A1C21A2D-6486-8141-B37D-CF79BF2B48DB}" presName="Name8" presStyleCnt="0"/>
      <dgm:spPr/>
    </dgm:pt>
    <dgm:pt modelId="{C96F8041-E386-7744-96ED-D294DE74A73F}" type="pres">
      <dgm:prSet presAssocID="{A1C21A2D-6486-8141-B37D-CF79BF2B48DB}" presName="level" presStyleLbl="node1" presStyleIdx="1" presStyleCnt="4">
        <dgm:presLayoutVars>
          <dgm:chMax val="1"/>
          <dgm:bulletEnabled val="1"/>
        </dgm:presLayoutVars>
      </dgm:prSet>
      <dgm:spPr/>
    </dgm:pt>
    <dgm:pt modelId="{AA6AF6CF-781A-A54A-9154-13860090E5F9}" type="pres">
      <dgm:prSet presAssocID="{A1C21A2D-6486-8141-B37D-CF79BF2B48DB}" presName="levelTx" presStyleLbl="revTx" presStyleIdx="0" presStyleCnt="0">
        <dgm:presLayoutVars>
          <dgm:chMax val="1"/>
          <dgm:bulletEnabled val="1"/>
        </dgm:presLayoutVars>
      </dgm:prSet>
      <dgm:spPr/>
    </dgm:pt>
    <dgm:pt modelId="{9E1A0E00-2AD1-5D42-ACC3-DF49C67B3EAA}" type="pres">
      <dgm:prSet presAssocID="{82B302DC-45AD-5E40-9A2A-43A8ACC07616}" presName="Name8" presStyleCnt="0"/>
      <dgm:spPr/>
    </dgm:pt>
    <dgm:pt modelId="{F7C26E76-72B1-CA47-8048-8F2AD49BBE3E}" type="pres">
      <dgm:prSet presAssocID="{82B302DC-45AD-5E40-9A2A-43A8ACC07616}" presName="level" presStyleLbl="node1" presStyleIdx="2" presStyleCnt="4">
        <dgm:presLayoutVars>
          <dgm:chMax val="1"/>
          <dgm:bulletEnabled val="1"/>
        </dgm:presLayoutVars>
      </dgm:prSet>
      <dgm:spPr/>
    </dgm:pt>
    <dgm:pt modelId="{F226CD5D-E209-5245-AF47-15720D3C6171}" type="pres">
      <dgm:prSet presAssocID="{82B302DC-45AD-5E40-9A2A-43A8ACC07616}" presName="levelTx" presStyleLbl="revTx" presStyleIdx="0" presStyleCnt="0">
        <dgm:presLayoutVars>
          <dgm:chMax val="1"/>
          <dgm:bulletEnabled val="1"/>
        </dgm:presLayoutVars>
      </dgm:prSet>
      <dgm:spPr/>
    </dgm:pt>
    <dgm:pt modelId="{B8DBE67E-3DD1-F747-932C-58647FF27DAB}" type="pres">
      <dgm:prSet presAssocID="{C1C768C2-F897-9C47-B8E1-559E5BE15DFD}" presName="Name8" presStyleCnt="0"/>
      <dgm:spPr/>
    </dgm:pt>
    <dgm:pt modelId="{4AE32D93-EB3C-8447-B4EE-4AD064011425}" type="pres">
      <dgm:prSet presAssocID="{C1C768C2-F897-9C47-B8E1-559E5BE15DFD}" presName="level" presStyleLbl="node1" presStyleIdx="3" presStyleCnt="4">
        <dgm:presLayoutVars>
          <dgm:chMax val="1"/>
          <dgm:bulletEnabled val="1"/>
        </dgm:presLayoutVars>
      </dgm:prSet>
      <dgm:spPr/>
    </dgm:pt>
    <dgm:pt modelId="{E6FFD3E5-D8F2-E145-8B5C-ED4329A630E4}" type="pres">
      <dgm:prSet presAssocID="{C1C768C2-F897-9C47-B8E1-559E5BE15DFD}" presName="levelTx" presStyleLbl="revTx" presStyleIdx="0" presStyleCnt="0">
        <dgm:presLayoutVars>
          <dgm:chMax val="1"/>
          <dgm:bulletEnabled val="1"/>
        </dgm:presLayoutVars>
      </dgm:prSet>
      <dgm:spPr/>
    </dgm:pt>
  </dgm:ptLst>
  <dgm:cxnLst>
    <dgm:cxn modelId="{B518540F-7A3E-A74F-8F6A-6A366E48B610}" srcId="{421627A4-B3FA-7F42-833D-D87F46AA85F8}" destId="{C1C768C2-F897-9C47-B8E1-559E5BE15DFD}" srcOrd="3" destOrd="0" parTransId="{C2E50788-9810-EA42-BDFA-396D0B0F247C}" sibTransId="{9AB90C2E-079B-3249-B0E8-04B880F05F34}"/>
    <dgm:cxn modelId="{8042EB2A-6677-2C46-B67E-71747528E651}" srcId="{421627A4-B3FA-7F42-833D-D87F46AA85F8}" destId="{43ADB517-D8ED-CC44-B4BC-E06B943F15F3}" srcOrd="0" destOrd="0" parTransId="{D8EAD1C2-63CE-3945-8CE8-B6EADDDECB79}" sibTransId="{5D9B81B5-1294-2742-B814-04793B591FF9}"/>
    <dgm:cxn modelId="{A355E62B-FA1C-6546-A545-90FA821D15E4}" type="presOf" srcId="{82B302DC-45AD-5E40-9A2A-43A8ACC07616}" destId="{F7C26E76-72B1-CA47-8048-8F2AD49BBE3E}" srcOrd="0" destOrd="0" presId="urn:microsoft.com/office/officeart/2005/8/layout/pyramid1"/>
    <dgm:cxn modelId="{7C794142-FCE4-F74D-A282-7B6C195D67BD}" type="presOf" srcId="{C1C768C2-F897-9C47-B8E1-559E5BE15DFD}" destId="{4AE32D93-EB3C-8447-B4EE-4AD064011425}" srcOrd="0" destOrd="0" presId="urn:microsoft.com/office/officeart/2005/8/layout/pyramid1"/>
    <dgm:cxn modelId="{A01D8B74-449F-4947-9A02-74C2A9A78AE8}" type="presOf" srcId="{82B302DC-45AD-5E40-9A2A-43A8ACC07616}" destId="{F226CD5D-E209-5245-AF47-15720D3C6171}" srcOrd="1" destOrd="0" presId="urn:microsoft.com/office/officeart/2005/8/layout/pyramid1"/>
    <dgm:cxn modelId="{8D1ABC9A-0B5C-274D-8604-5E49DBECA60B}" srcId="{421627A4-B3FA-7F42-833D-D87F46AA85F8}" destId="{A1C21A2D-6486-8141-B37D-CF79BF2B48DB}" srcOrd="1" destOrd="0" parTransId="{1445B8EE-445A-8141-87B8-F68290A304A5}" sibTransId="{87899284-C603-0B4B-ADAE-BF436EE8B250}"/>
    <dgm:cxn modelId="{8715BDA4-B8B7-3C49-BB3B-623A5FE67B79}" type="presOf" srcId="{C1C768C2-F897-9C47-B8E1-559E5BE15DFD}" destId="{E6FFD3E5-D8F2-E145-8B5C-ED4329A630E4}" srcOrd="1" destOrd="0" presId="urn:microsoft.com/office/officeart/2005/8/layout/pyramid1"/>
    <dgm:cxn modelId="{0B6DF5AB-C1FC-6A4F-9D29-5FA7E6A0EA52}" srcId="{421627A4-B3FA-7F42-833D-D87F46AA85F8}" destId="{82B302DC-45AD-5E40-9A2A-43A8ACC07616}" srcOrd="2" destOrd="0" parTransId="{4A8A3D16-C5B1-2849-8FEE-8EF3ADC7D4EF}" sibTransId="{0FA13AF8-C770-4C40-BE8F-29A41C10D28E}"/>
    <dgm:cxn modelId="{E9ECA0C4-094E-BF47-AA45-F24B4618B32D}" type="presOf" srcId="{43ADB517-D8ED-CC44-B4BC-E06B943F15F3}" destId="{4FB1A781-9C58-B145-8442-B550F0DAFEFD}" srcOrd="0" destOrd="0" presId="urn:microsoft.com/office/officeart/2005/8/layout/pyramid1"/>
    <dgm:cxn modelId="{3C1986D7-8032-4444-B59F-7EA15AE06FFB}" type="presOf" srcId="{A1C21A2D-6486-8141-B37D-CF79BF2B48DB}" destId="{C96F8041-E386-7744-96ED-D294DE74A73F}" srcOrd="0" destOrd="0" presId="urn:microsoft.com/office/officeart/2005/8/layout/pyramid1"/>
    <dgm:cxn modelId="{E144C0E0-8F72-0744-BC70-544A0804751E}" type="presOf" srcId="{43ADB517-D8ED-CC44-B4BC-E06B943F15F3}" destId="{209C3B01-ABBE-D149-AB75-6BE811881F69}" srcOrd="1" destOrd="0" presId="urn:microsoft.com/office/officeart/2005/8/layout/pyramid1"/>
    <dgm:cxn modelId="{588B33E3-C63B-5E4D-B861-434FD17CB4F8}" type="presOf" srcId="{A1C21A2D-6486-8141-B37D-CF79BF2B48DB}" destId="{AA6AF6CF-781A-A54A-9154-13860090E5F9}" srcOrd="1" destOrd="0" presId="urn:microsoft.com/office/officeart/2005/8/layout/pyramid1"/>
    <dgm:cxn modelId="{9C2A41FA-BAD2-064D-ABD8-A0773B4ED3F4}" type="presOf" srcId="{421627A4-B3FA-7F42-833D-D87F46AA85F8}" destId="{FD05FD4C-7CE6-9B4E-B689-378CB75B5899}" srcOrd="0" destOrd="0" presId="urn:microsoft.com/office/officeart/2005/8/layout/pyramid1"/>
    <dgm:cxn modelId="{AE40C10E-1D20-FA45-A5A1-2AF55E996581}" type="presParOf" srcId="{FD05FD4C-7CE6-9B4E-B689-378CB75B5899}" destId="{07EB59CC-423E-C94B-B771-8D0978EC973C}" srcOrd="0" destOrd="0" presId="urn:microsoft.com/office/officeart/2005/8/layout/pyramid1"/>
    <dgm:cxn modelId="{363554D0-4EF3-7845-BE15-25C0CED579AB}" type="presParOf" srcId="{07EB59CC-423E-C94B-B771-8D0978EC973C}" destId="{4FB1A781-9C58-B145-8442-B550F0DAFEFD}" srcOrd="0" destOrd="0" presId="urn:microsoft.com/office/officeart/2005/8/layout/pyramid1"/>
    <dgm:cxn modelId="{3CEC180B-5236-3048-BCAC-1F58F931F2F0}" type="presParOf" srcId="{07EB59CC-423E-C94B-B771-8D0978EC973C}" destId="{209C3B01-ABBE-D149-AB75-6BE811881F69}" srcOrd="1" destOrd="0" presId="urn:microsoft.com/office/officeart/2005/8/layout/pyramid1"/>
    <dgm:cxn modelId="{25680F74-FD44-F748-84F6-1383AD21F24D}" type="presParOf" srcId="{FD05FD4C-7CE6-9B4E-B689-378CB75B5899}" destId="{568D2A80-5802-534F-AF0E-A3FCEE300D61}" srcOrd="1" destOrd="0" presId="urn:microsoft.com/office/officeart/2005/8/layout/pyramid1"/>
    <dgm:cxn modelId="{5F1A307A-02B5-3642-BF66-717E2AABF712}" type="presParOf" srcId="{568D2A80-5802-534F-AF0E-A3FCEE300D61}" destId="{C96F8041-E386-7744-96ED-D294DE74A73F}" srcOrd="0" destOrd="0" presId="urn:microsoft.com/office/officeart/2005/8/layout/pyramid1"/>
    <dgm:cxn modelId="{55680953-476C-C04C-8B3C-8A12CCDE2386}" type="presParOf" srcId="{568D2A80-5802-534F-AF0E-A3FCEE300D61}" destId="{AA6AF6CF-781A-A54A-9154-13860090E5F9}" srcOrd="1" destOrd="0" presId="urn:microsoft.com/office/officeart/2005/8/layout/pyramid1"/>
    <dgm:cxn modelId="{9242A096-B811-CD47-8BFC-8AAC97474893}" type="presParOf" srcId="{FD05FD4C-7CE6-9B4E-B689-378CB75B5899}" destId="{9E1A0E00-2AD1-5D42-ACC3-DF49C67B3EAA}" srcOrd="2" destOrd="0" presId="urn:microsoft.com/office/officeart/2005/8/layout/pyramid1"/>
    <dgm:cxn modelId="{157E1836-AE71-804F-A46F-F8979F81A813}" type="presParOf" srcId="{9E1A0E00-2AD1-5D42-ACC3-DF49C67B3EAA}" destId="{F7C26E76-72B1-CA47-8048-8F2AD49BBE3E}" srcOrd="0" destOrd="0" presId="urn:microsoft.com/office/officeart/2005/8/layout/pyramid1"/>
    <dgm:cxn modelId="{0751880E-32FF-B54E-9200-F361EE24F344}" type="presParOf" srcId="{9E1A0E00-2AD1-5D42-ACC3-DF49C67B3EAA}" destId="{F226CD5D-E209-5245-AF47-15720D3C6171}" srcOrd="1" destOrd="0" presId="urn:microsoft.com/office/officeart/2005/8/layout/pyramid1"/>
    <dgm:cxn modelId="{46B2514C-8FFF-5249-93D0-693B214545FB}" type="presParOf" srcId="{FD05FD4C-7CE6-9B4E-B689-378CB75B5899}" destId="{B8DBE67E-3DD1-F747-932C-58647FF27DAB}" srcOrd="3" destOrd="0" presId="urn:microsoft.com/office/officeart/2005/8/layout/pyramid1"/>
    <dgm:cxn modelId="{6F87B027-5E8F-F841-9333-15003574CBEE}" type="presParOf" srcId="{B8DBE67E-3DD1-F747-932C-58647FF27DAB}" destId="{4AE32D93-EB3C-8447-B4EE-4AD064011425}" srcOrd="0" destOrd="0" presId="urn:microsoft.com/office/officeart/2005/8/layout/pyramid1"/>
    <dgm:cxn modelId="{07FEEF4E-5F18-6D45-9E16-ED997358C2E3}" type="presParOf" srcId="{B8DBE67E-3DD1-F747-932C-58647FF27DAB}" destId="{E6FFD3E5-D8F2-E145-8B5C-ED4329A630E4}"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FB1A781-9C58-B145-8442-B550F0DAFEFD}">
      <dsp:nvSpPr>
        <dsp:cNvPr id="0" name=""/>
        <dsp:cNvSpPr/>
      </dsp:nvSpPr>
      <dsp:spPr>
        <a:xfrm>
          <a:off x="2016125" y="0"/>
          <a:ext cx="1344083" cy="1004358"/>
        </a:xfrm>
        <a:prstGeom prst="trapezoid">
          <a:avLst>
            <a:gd name="adj" fmla="val 66913"/>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Wisdom</a:t>
          </a:r>
        </a:p>
      </dsp:txBody>
      <dsp:txXfrm>
        <a:off x="2016125" y="0"/>
        <a:ext cx="1344083" cy="1004358"/>
      </dsp:txXfrm>
    </dsp:sp>
    <dsp:sp modelId="{C96F8041-E386-7744-96ED-D294DE74A73F}">
      <dsp:nvSpPr>
        <dsp:cNvPr id="0" name=""/>
        <dsp:cNvSpPr/>
      </dsp:nvSpPr>
      <dsp:spPr>
        <a:xfrm>
          <a:off x="1344083" y="1004358"/>
          <a:ext cx="2688166" cy="1004358"/>
        </a:xfrm>
        <a:prstGeom prst="trapezoid">
          <a:avLst>
            <a:gd name="adj" fmla="val 66913"/>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Knowledge</a:t>
          </a:r>
        </a:p>
      </dsp:txBody>
      <dsp:txXfrm>
        <a:off x="1814512" y="1004358"/>
        <a:ext cx="1747308" cy="1004358"/>
      </dsp:txXfrm>
    </dsp:sp>
    <dsp:sp modelId="{F7C26E76-72B1-CA47-8048-8F2AD49BBE3E}">
      <dsp:nvSpPr>
        <dsp:cNvPr id="0" name=""/>
        <dsp:cNvSpPr/>
      </dsp:nvSpPr>
      <dsp:spPr>
        <a:xfrm>
          <a:off x="672041" y="2008716"/>
          <a:ext cx="4032250" cy="1004358"/>
        </a:xfrm>
        <a:prstGeom prst="trapezoid">
          <a:avLst>
            <a:gd name="adj" fmla="val 66913"/>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Information</a:t>
          </a:r>
        </a:p>
      </dsp:txBody>
      <dsp:txXfrm>
        <a:off x="1377685" y="2008716"/>
        <a:ext cx="2620962" cy="1004358"/>
      </dsp:txXfrm>
    </dsp:sp>
    <dsp:sp modelId="{4AE32D93-EB3C-8447-B4EE-4AD064011425}">
      <dsp:nvSpPr>
        <dsp:cNvPr id="0" name=""/>
        <dsp:cNvSpPr/>
      </dsp:nvSpPr>
      <dsp:spPr>
        <a:xfrm>
          <a:off x="0" y="3013074"/>
          <a:ext cx="5376333" cy="1004358"/>
        </a:xfrm>
        <a:prstGeom prst="trapezoid">
          <a:avLst>
            <a:gd name="adj" fmla="val 66913"/>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6830" tIns="36830" rIns="36830" bIns="36830" numCol="1" spcCol="1270" anchor="ctr" anchorCtr="0">
          <a:noAutofit/>
        </a:bodyPr>
        <a:lstStyle/>
        <a:p>
          <a:pPr marL="0" lvl="0" indent="0" algn="ctr" defTabSz="1289050">
            <a:lnSpc>
              <a:spcPct val="90000"/>
            </a:lnSpc>
            <a:spcBef>
              <a:spcPct val="0"/>
            </a:spcBef>
            <a:spcAft>
              <a:spcPct val="35000"/>
            </a:spcAft>
            <a:buNone/>
          </a:pPr>
          <a:r>
            <a:rPr lang="en-US" sz="2900" kern="1200" dirty="0"/>
            <a:t>Data</a:t>
          </a:r>
        </a:p>
      </dsp:txBody>
      <dsp:txXfrm>
        <a:off x="940858" y="3013074"/>
        <a:ext cx="3494617" cy="100435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B63F32-7DA3-4013-BE26-9191402E55C8}" type="datetimeFigureOut">
              <a:rPr lang="en-IL" smtClean="0"/>
              <a:t>27/02/2023</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08866D-0BA4-4B03-8FA8-A96EE1FB39D0}" type="slidenum">
              <a:rPr lang="en-IL" smtClean="0"/>
              <a:t>‹#›</a:t>
            </a:fld>
            <a:endParaRPr lang="en-IL"/>
          </a:p>
        </p:txBody>
      </p:sp>
    </p:spTree>
    <p:extLst>
      <p:ext uri="{BB962C8B-B14F-4D97-AF65-F5344CB8AC3E}">
        <p14:creationId xmlns:p14="http://schemas.microsoft.com/office/powerpoint/2010/main" val="24211533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a:t>
            </a:fld>
            <a:endParaRPr lang="en-IL"/>
          </a:p>
        </p:txBody>
      </p:sp>
    </p:spTree>
    <p:extLst>
      <p:ext uri="{BB962C8B-B14F-4D97-AF65-F5344CB8AC3E}">
        <p14:creationId xmlns:p14="http://schemas.microsoft.com/office/powerpoint/2010/main" val="14301097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8</a:t>
            </a:fld>
            <a:endParaRPr lang="en-IL"/>
          </a:p>
        </p:txBody>
      </p:sp>
    </p:spTree>
    <p:extLst>
      <p:ext uri="{BB962C8B-B14F-4D97-AF65-F5344CB8AC3E}">
        <p14:creationId xmlns:p14="http://schemas.microsoft.com/office/powerpoint/2010/main" val="19884690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9</a:t>
            </a:fld>
            <a:endParaRPr lang="en-IL"/>
          </a:p>
        </p:txBody>
      </p:sp>
    </p:spTree>
    <p:extLst>
      <p:ext uri="{BB962C8B-B14F-4D97-AF65-F5344CB8AC3E}">
        <p14:creationId xmlns:p14="http://schemas.microsoft.com/office/powerpoint/2010/main" val="6959297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10</a:t>
            </a:fld>
            <a:endParaRPr lang="en-IL"/>
          </a:p>
        </p:txBody>
      </p:sp>
    </p:spTree>
    <p:extLst>
      <p:ext uri="{BB962C8B-B14F-4D97-AF65-F5344CB8AC3E}">
        <p14:creationId xmlns:p14="http://schemas.microsoft.com/office/powerpoint/2010/main" val="1871029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11</a:t>
            </a:fld>
            <a:endParaRPr lang="en-IL"/>
          </a:p>
        </p:txBody>
      </p:sp>
    </p:spTree>
    <p:extLst>
      <p:ext uri="{BB962C8B-B14F-4D97-AF65-F5344CB8AC3E}">
        <p14:creationId xmlns:p14="http://schemas.microsoft.com/office/powerpoint/2010/main" val="801100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12</a:t>
            </a:fld>
            <a:endParaRPr lang="en-IL"/>
          </a:p>
        </p:txBody>
      </p:sp>
    </p:spTree>
    <p:extLst>
      <p:ext uri="{BB962C8B-B14F-4D97-AF65-F5344CB8AC3E}">
        <p14:creationId xmlns:p14="http://schemas.microsoft.com/office/powerpoint/2010/main" val="1336344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13</a:t>
            </a:fld>
            <a:endParaRPr lang="en-IL"/>
          </a:p>
        </p:txBody>
      </p:sp>
    </p:spTree>
    <p:extLst>
      <p:ext uri="{BB962C8B-B14F-4D97-AF65-F5344CB8AC3E}">
        <p14:creationId xmlns:p14="http://schemas.microsoft.com/office/powerpoint/2010/main" val="38255209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14</a:t>
            </a:fld>
            <a:endParaRPr lang="en-IL"/>
          </a:p>
        </p:txBody>
      </p:sp>
    </p:spTree>
    <p:extLst>
      <p:ext uri="{BB962C8B-B14F-4D97-AF65-F5344CB8AC3E}">
        <p14:creationId xmlns:p14="http://schemas.microsoft.com/office/powerpoint/2010/main" val="14303959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15</a:t>
            </a:fld>
            <a:endParaRPr lang="en-IL"/>
          </a:p>
        </p:txBody>
      </p:sp>
    </p:spTree>
    <p:extLst>
      <p:ext uri="{BB962C8B-B14F-4D97-AF65-F5344CB8AC3E}">
        <p14:creationId xmlns:p14="http://schemas.microsoft.com/office/powerpoint/2010/main" val="2590880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16</a:t>
            </a:fld>
            <a:endParaRPr lang="en-IL"/>
          </a:p>
        </p:txBody>
      </p:sp>
    </p:spTree>
    <p:extLst>
      <p:ext uri="{BB962C8B-B14F-4D97-AF65-F5344CB8AC3E}">
        <p14:creationId xmlns:p14="http://schemas.microsoft.com/office/powerpoint/2010/main" val="17553342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17</a:t>
            </a:fld>
            <a:endParaRPr lang="en-IL"/>
          </a:p>
        </p:txBody>
      </p:sp>
    </p:spTree>
    <p:extLst>
      <p:ext uri="{BB962C8B-B14F-4D97-AF65-F5344CB8AC3E}">
        <p14:creationId xmlns:p14="http://schemas.microsoft.com/office/powerpoint/2010/main" val="3046649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18</a:t>
            </a:fld>
            <a:endParaRPr lang="en-IL"/>
          </a:p>
        </p:txBody>
      </p:sp>
    </p:spTree>
    <p:extLst>
      <p:ext uri="{BB962C8B-B14F-4D97-AF65-F5344CB8AC3E}">
        <p14:creationId xmlns:p14="http://schemas.microsoft.com/office/powerpoint/2010/main" val="8961958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19</a:t>
            </a:fld>
            <a:endParaRPr lang="en-IL"/>
          </a:p>
        </p:txBody>
      </p:sp>
    </p:spTree>
    <p:extLst>
      <p:ext uri="{BB962C8B-B14F-4D97-AF65-F5344CB8AC3E}">
        <p14:creationId xmlns:p14="http://schemas.microsoft.com/office/powerpoint/2010/main" val="3848317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20</a:t>
            </a:fld>
            <a:endParaRPr lang="en-IL"/>
          </a:p>
        </p:txBody>
      </p:sp>
    </p:spTree>
    <p:extLst>
      <p:ext uri="{BB962C8B-B14F-4D97-AF65-F5344CB8AC3E}">
        <p14:creationId xmlns:p14="http://schemas.microsoft.com/office/powerpoint/2010/main" val="41591428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21</a:t>
            </a:fld>
            <a:endParaRPr lang="en-IL"/>
          </a:p>
        </p:txBody>
      </p:sp>
    </p:spTree>
    <p:extLst>
      <p:ext uri="{BB962C8B-B14F-4D97-AF65-F5344CB8AC3E}">
        <p14:creationId xmlns:p14="http://schemas.microsoft.com/office/powerpoint/2010/main" val="2741225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22</a:t>
            </a:fld>
            <a:endParaRPr lang="en-IL"/>
          </a:p>
        </p:txBody>
      </p:sp>
    </p:spTree>
    <p:extLst>
      <p:ext uri="{BB962C8B-B14F-4D97-AF65-F5344CB8AC3E}">
        <p14:creationId xmlns:p14="http://schemas.microsoft.com/office/powerpoint/2010/main" val="15405623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23</a:t>
            </a:fld>
            <a:endParaRPr lang="en-IL"/>
          </a:p>
        </p:txBody>
      </p:sp>
    </p:spTree>
    <p:extLst>
      <p:ext uri="{BB962C8B-B14F-4D97-AF65-F5344CB8AC3E}">
        <p14:creationId xmlns:p14="http://schemas.microsoft.com/office/powerpoint/2010/main" val="22021913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24</a:t>
            </a:fld>
            <a:endParaRPr lang="en-IL"/>
          </a:p>
        </p:txBody>
      </p:sp>
    </p:spTree>
    <p:extLst>
      <p:ext uri="{BB962C8B-B14F-4D97-AF65-F5344CB8AC3E}">
        <p14:creationId xmlns:p14="http://schemas.microsoft.com/office/powerpoint/2010/main" val="22425660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25</a:t>
            </a:fld>
            <a:endParaRPr lang="en-IL"/>
          </a:p>
        </p:txBody>
      </p:sp>
    </p:spTree>
    <p:extLst>
      <p:ext uri="{BB962C8B-B14F-4D97-AF65-F5344CB8AC3E}">
        <p14:creationId xmlns:p14="http://schemas.microsoft.com/office/powerpoint/2010/main" val="4243115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26</a:t>
            </a:fld>
            <a:endParaRPr lang="en-IL"/>
          </a:p>
        </p:txBody>
      </p:sp>
    </p:spTree>
    <p:extLst>
      <p:ext uri="{BB962C8B-B14F-4D97-AF65-F5344CB8AC3E}">
        <p14:creationId xmlns:p14="http://schemas.microsoft.com/office/powerpoint/2010/main" val="13915813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27</a:t>
            </a:fld>
            <a:endParaRPr lang="en-IL"/>
          </a:p>
        </p:txBody>
      </p:sp>
    </p:spTree>
    <p:extLst>
      <p:ext uri="{BB962C8B-B14F-4D97-AF65-F5344CB8AC3E}">
        <p14:creationId xmlns:p14="http://schemas.microsoft.com/office/powerpoint/2010/main" val="165071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28</a:t>
            </a:fld>
            <a:endParaRPr lang="en-IL"/>
          </a:p>
        </p:txBody>
      </p:sp>
    </p:spTree>
    <p:extLst>
      <p:ext uri="{BB962C8B-B14F-4D97-AF65-F5344CB8AC3E}">
        <p14:creationId xmlns:p14="http://schemas.microsoft.com/office/powerpoint/2010/main" val="5447833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29</a:t>
            </a:fld>
            <a:endParaRPr lang="en-IL"/>
          </a:p>
        </p:txBody>
      </p:sp>
    </p:spTree>
    <p:extLst>
      <p:ext uri="{BB962C8B-B14F-4D97-AF65-F5344CB8AC3E}">
        <p14:creationId xmlns:p14="http://schemas.microsoft.com/office/powerpoint/2010/main" val="24546558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30</a:t>
            </a:fld>
            <a:endParaRPr lang="en-IL"/>
          </a:p>
        </p:txBody>
      </p:sp>
    </p:spTree>
    <p:extLst>
      <p:ext uri="{BB962C8B-B14F-4D97-AF65-F5344CB8AC3E}">
        <p14:creationId xmlns:p14="http://schemas.microsoft.com/office/powerpoint/2010/main" val="207343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31</a:t>
            </a:fld>
            <a:endParaRPr lang="en-IL"/>
          </a:p>
        </p:txBody>
      </p:sp>
    </p:spTree>
    <p:extLst>
      <p:ext uri="{BB962C8B-B14F-4D97-AF65-F5344CB8AC3E}">
        <p14:creationId xmlns:p14="http://schemas.microsoft.com/office/powerpoint/2010/main" val="217026880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32</a:t>
            </a:fld>
            <a:endParaRPr lang="en-IL"/>
          </a:p>
        </p:txBody>
      </p:sp>
    </p:spTree>
    <p:extLst>
      <p:ext uri="{BB962C8B-B14F-4D97-AF65-F5344CB8AC3E}">
        <p14:creationId xmlns:p14="http://schemas.microsoft.com/office/powerpoint/2010/main" val="10208760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33</a:t>
            </a:fld>
            <a:endParaRPr lang="en-IL"/>
          </a:p>
        </p:txBody>
      </p:sp>
    </p:spTree>
    <p:extLst>
      <p:ext uri="{BB962C8B-B14F-4D97-AF65-F5344CB8AC3E}">
        <p14:creationId xmlns:p14="http://schemas.microsoft.com/office/powerpoint/2010/main" val="35784862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34</a:t>
            </a:fld>
            <a:endParaRPr lang="en-IL"/>
          </a:p>
        </p:txBody>
      </p:sp>
    </p:spTree>
    <p:extLst>
      <p:ext uri="{BB962C8B-B14F-4D97-AF65-F5344CB8AC3E}">
        <p14:creationId xmlns:p14="http://schemas.microsoft.com/office/powerpoint/2010/main" val="25343838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35</a:t>
            </a:fld>
            <a:endParaRPr lang="en-IL"/>
          </a:p>
        </p:txBody>
      </p:sp>
    </p:spTree>
    <p:extLst>
      <p:ext uri="{BB962C8B-B14F-4D97-AF65-F5344CB8AC3E}">
        <p14:creationId xmlns:p14="http://schemas.microsoft.com/office/powerpoint/2010/main" val="24620480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36</a:t>
            </a:fld>
            <a:endParaRPr lang="en-IL"/>
          </a:p>
        </p:txBody>
      </p:sp>
    </p:spTree>
    <p:extLst>
      <p:ext uri="{BB962C8B-B14F-4D97-AF65-F5344CB8AC3E}">
        <p14:creationId xmlns:p14="http://schemas.microsoft.com/office/powerpoint/2010/main" val="32166956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37</a:t>
            </a:fld>
            <a:endParaRPr lang="en-IL"/>
          </a:p>
        </p:txBody>
      </p:sp>
    </p:spTree>
    <p:extLst>
      <p:ext uri="{BB962C8B-B14F-4D97-AF65-F5344CB8AC3E}">
        <p14:creationId xmlns:p14="http://schemas.microsoft.com/office/powerpoint/2010/main" val="39075194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38</a:t>
            </a:fld>
            <a:endParaRPr lang="en-IL"/>
          </a:p>
        </p:txBody>
      </p:sp>
    </p:spTree>
    <p:extLst>
      <p:ext uri="{BB962C8B-B14F-4D97-AF65-F5344CB8AC3E}">
        <p14:creationId xmlns:p14="http://schemas.microsoft.com/office/powerpoint/2010/main" val="28412646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39</a:t>
            </a:fld>
            <a:endParaRPr lang="en-IL"/>
          </a:p>
        </p:txBody>
      </p:sp>
    </p:spTree>
    <p:extLst>
      <p:ext uri="{BB962C8B-B14F-4D97-AF65-F5344CB8AC3E}">
        <p14:creationId xmlns:p14="http://schemas.microsoft.com/office/powerpoint/2010/main" val="221385953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40</a:t>
            </a:fld>
            <a:endParaRPr lang="en-IL"/>
          </a:p>
        </p:txBody>
      </p:sp>
    </p:spTree>
    <p:extLst>
      <p:ext uri="{BB962C8B-B14F-4D97-AF65-F5344CB8AC3E}">
        <p14:creationId xmlns:p14="http://schemas.microsoft.com/office/powerpoint/2010/main" val="159047057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41</a:t>
            </a:fld>
            <a:endParaRPr lang="en-IL"/>
          </a:p>
        </p:txBody>
      </p:sp>
    </p:spTree>
    <p:extLst>
      <p:ext uri="{BB962C8B-B14F-4D97-AF65-F5344CB8AC3E}">
        <p14:creationId xmlns:p14="http://schemas.microsoft.com/office/powerpoint/2010/main" val="2829722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48</a:t>
            </a:fld>
            <a:endParaRPr lang="en-IL"/>
          </a:p>
        </p:txBody>
      </p:sp>
    </p:spTree>
    <p:extLst>
      <p:ext uri="{BB962C8B-B14F-4D97-AF65-F5344CB8AC3E}">
        <p14:creationId xmlns:p14="http://schemas.microsoft.com/office/powerpoint/2010/main" val="18509589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49</a:t>
            </a:fld>
            <a:endParaRPr lang="en-IL"/>
          </a:p>
        </p:txBody>
      </p:sp>
    </p:spTree>
    <p:extLst>
      <p:ext uri="{BB962C8B-B14F-4D97-AF65-F5344CB8AC3E}">
        <p14:creationId xmlns:p14="http://schemas.microsoft.com/office/powerpoint/2010/main" val="90367643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50</a:t>
            </a:fld>
            <a:endParaRPr lang="en-IL"/>
          </a:p>
        </p:txBody>
      </p:sp>
    </p:spTree>
    <p:extLst>
      <p:ext uri="{BB962C8B-B14F-4D97-AF65-F5344CB8AC3E}">
        <p14:creationId xmlns:p14="http://schemas.microsoft.com/office/powerpoint/2010/main" val="373422053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all in how you slice it…</a:t>
            </a:r>
          </a:p>
        </p:txBody>
      </p:sp>
      <p:sp>
        <p:nvSpPr>
          <p:cNvPr id="4" name="Slide Number Placeholder 3"/>
          <p:cNvSpPr>
            <a:spLocks noGrp="1"/>
          </p:cNvSpPr>
          <p:nvPr>
            <p:ph type="sldNum" sz="quarter" idx="10"/>
          </p:nvPr>
        </p:nvSpPr>
        <p:spPr/>
        <p:txBody>
          <a:bodyPr/>
          <a:lstStyle/>
          <a:p>
            <a:pPr>
              <a:defRPr/>
            </a:pPr>
            <a:fld id="{498B7675-986A-4C4B-ADA0-FFB57BC6EEDE}" type="slidenum">
              <a:rPr lang="en-US" smtClean="0"/>
              <a:pPr>
                <a:defRPr/>
              </a:pPr>
              <a:t>51</a:t>
            </a:fld>
            <a:endParaRPr lang="en-US"/>
          </a:p>
        </p:txBody>
      </p:sp>
    </p:spTree>
    <p:extLst>
      <p:ext uri="{BB962C8B-B14F-4D97-AF65-F5344CB8AC3E}">
        <p14:creationId xmlns:p14="http://schemas.microsoft.com/office/powerpoint/2010/main" val="339792575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54</a:t>
            </a:fld>
            <a:endParaRPr lang="en-IL"/>
          </a:p>
        </p:txBody>
      </p:sp>
    </p:spTree>
    <p:extLst>
      <p:ext uri="{BB962C8B-B14F-4D97-AF65-F5344CB8AC3E}">
        <p14:creationId xmlns:p14="http://schemas.microsoft.com/office/powerpoint/2010/main" val="31155368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55</a:t>
            </a:fld>
            <a:endParaRPr lang="en-IL"/>
          </a:p>
        </p:txBody>
      </p:sp>
    </p:spTree>
    <p:extLst>
      <p:ext uri="{BB962C8B-B14F-4D97-AF65-F5344CB8AC3E}">
        <p14:creationId xmlns:p14="http://schemas.microsoft.com/office/powerpoint/2010/main" val="15247282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56</a:t>
            </a:fld>
            <a:endParaRPr lang="en-IL"/>
          </a:p>
        </p:txBody>
      </p:sp>
    </p:spTree>
    <p:extLst>
      <p:ext uri="{BB962C8B-B14F-4D97-AF65-F5344CB8AC3E}">
        <p14:creationId xmlns:p14="http://schemas.microsoft.com/office/powerpoint/2010/main" val="69592974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57</a:t>
            </a:fld>
            <a:endParaRPr lang="en-IL"/>
          </a:p>
        </p:txBody>
      </p:sp>
    </p:spTree>
    <p:extLst>
      <p:ext uri="{BB962C8B-B14F-4D97-AF65-F5344CB8AC3E}">
        <p14:creationId xmlns:p14="http://schemas.microsoft.com/office/powerpoint/2010/main" val="32723640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58</a:t>
            </a:fld>
            <a:endParaRPr lang="en-IL"/>
          </a:p>
        </p:txBody>
      </p:sp>
    </p:spTree>
    <p:extLst>
      <p:ext uri="{BB962C8B-B14F-4D97-AF65-F5344CB8AC3E}">
        <p14:creationId xmlns:p14="http://schemas.microsoft.com/office/powerpoint/2010/main" val="12823763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59</a:t>
            </a:fld>
            <a:endParaRPr lang="en-IL"/>
          </a:p>
        </p:txBody>
      </p:sp>
    </p:spTree>
    <p:extLst>
      <p:ext uri="{BB962C8B-B14F-4D97-AF65-F5344CB8AC3E}">
        <p14:creationId xmlns:p14="http://schemas.microsoft.com/office/powerpoint/2010/main" val="20697697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60</a:t>
            </a:fld>
            <a:endParaRPr lang="en-IL"/>
          </a:p>
        </p:txBody>
      </p:sp>
    </p:spTree>
    <p:extLst>
      <p:ext uri="{BB962C8B-B14F-4D97-AF65-F5344CB8AC3E}">
        <p14:creationId xmlns:p14="http://schemas.microsoft.com/office/powerpoint/2010/main" val="20420402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61</a:t>
            </a:fld>
            <a:endParaRPr lang="en-IL"/>
          </a:p>
        </p:txBody>
      </p:sp>
    </p:spTree>
    <p:extLst>
      <p:ext uri="{BB962C8B-B14F-4D97-AF65-F5344CB8AC3E}">
        <p14:creationId xmlns:p14="http://schemas.microsoft.com/office/powerpoint/2010/main" val="110670353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62</a:t>
            </a:fld>
            <a:endParaRPr lang="en-IL"/>
          </a:p>
        </p:txBody>
      </p:sp>
    </p:spTree>
    <p:extLst>
      <p:ext uri="{BB962C8B-B14F-4D97-AF65-F5344CB8AC3E}">
        <p14:creationId xmlns:p14="http://schemas.microsoft.com/office/powerpoint/2010/main" val="30527085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63</a:t>
            </a:fld>
            <a:endParaRPr lang="en-IL"/>
          </a:p>
        </p:txBody>
      </p:sp>
    </p:spTree>
    <p:extLst>
      <p:ext uri="{BB962C8B-B14F-4D97-AF65-F5344CB8AC3E}">
        <p14:creationId xmlns:p14="http://schemas.microsoft.com/office/powerpoint/2010/main" val="137532236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64</a:t>
            </a:fld>
            <a:endParaRPr lang="en-IL"/>
          </a:p>
        </p:txBody>
      </p:sp>
    </p:spTree>
    <p:extLst>
      <p:ext uri="{BB962C8B-B14F-4D97-AF65-F5344CB8AC3E}">
        <p14:creationId xmlns:p14="http://schemas.microsoft.com/office/powerpoint/2010/main" val="18412021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65</a:t>
            </a:fld>
            <a:endParaRPr lang="en-IL"/>
          </a:p>
        </p:txBody>
      </p:sp>
    </p:spTree>
    <p:extLst>
      <p:ext uri="{BB962C8B-B14F-4D97-AF65-F5344CB8AC3E}">
        <p14:creationId xmlns:p14="http://schemas.microsoft.com/office/powerpoint/2010/main" val="33682172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66</a:t>
            </a:fld>
            <a:endParaRPr lang="en-IL"/>
          </a:p>
        </p:txBody>
      </p:sp>
    </p:spTree>
    <p:extLst>
      <p:ext uri="{BB962C8B-B14F-4D97-AF65-F5344CB8AC3E}">
        <p14:creationId xmlns:p14="http://schemas.microsoft.com/office/powerpoint/2010/main" val="63713469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67</a:t>
            </a:fld>
            <a:endParaRPr lang="en-IL"/>
          </a:p>
        </p:txBody>
      </p:sp>
    </p:spTree>
    <p:extLst>
      <p:ext uri="{BB962C8B-B14F-4D97-AF65-F5344CB8AC3E}">
        <p14:creationId xmlns:p14="http://schemas.microsoft.com/office/powerpoint/2010/main" val="88001810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68</a:t>
            </a:fld>
            <a:endParaRPr lang="en-IL"/>
          </a:p>
        </p:txBody>
      </p:sp>
    </p:spTree>
    <p:extLst>
      <p:ext uri="{BB962C8B-B14F-4D97-AF65-F5344CB8AC3E}">
        <p14:creationId xmlns:p14="http://schemas.microsoft.com/office/powerpoint/2010/main" val="30229894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69</a:t>
            </a:fld>
            <a:endParaRPr lang="en-IL"/>
          </a:p>
        </p:txBody>
      </p:sp>
    </p:spTree>
    <p:extLst>
      <p:ext uri="{BB962C8B-B14F-4D97-AF65-F5344CB8AC3E}">
        <p14:creationId xmlns:p14="http://schemas.microsoft.com/office/powerpoint/2010/main" val="34832519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70</a:t>
            </a:fld>
            <a:endParaRPr lang="en-IL"/>
          </a:p>
        </p:txBody>
      </p:sp>
    </p:spTree>
    <p:extLst>
      <p:ext uri="{BB962C8B-B14F-4D97-AF65-F5344CB8AC3E}">
        <p14:creationId xmlns:p14="http://schemas.microsoft.com/office/powerpoint/2010/main" val="41287188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71</a:t>
            </a:fld>
            <a:endParaRPr lang="en-IL"/>
          </a:p>
        </p:txBody>
      </p:sp>
    </p:spTree>
    <p:extLst>
      <p:ext uri="{BB962C8B-B14F-4D97-AF65-F5344CB8AC3E}">
        <p14:creationId xmlns:p14="http://schemas.microsoft.com/office/powerpoint/2010/main" val="344250689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72</a:t>
            </a:fld>
            <a:endParaRPr lang="en-IL"/>
          </a:p>
        </p:txBody>
      </p:sp>
    </p:spTree>
    <p:extLst>
      <p:ext uri="{BB962C8B-B14F-4D97-AF65-F5344CB8AC3E}">
        <p14:creationId xmlns:p14="http://schemas.microsoft.com/office/powerpoint/2010/main" val="217495110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73</a:t>
            </a:fld>
            <a:endParaRPr lang="en-IL"/>
          </a:p>
        </p:txBody>
      </p:sp>
    </p:spTree>
    <p:extLst>
      <p:ext uri="{BB962C8B-B14F-4D97-AF65-F5344CB8AC3E}">
        <p14:creationId xmlns:p14="http://schemas.microsoft.com/office/powerpoint/2010/main" val="229416339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L" dirty="0"/>
          </a:p>
        </p:txBody>
      </p:sp>
      <p:sp>
        <p:nvSpPr>
          <p:cNvPr id="4" name="Slide Number Placeholder 3"/>
          <p:cNvSpPr>
            <a:spLocks noGrp="1"/>
          </p:cNvSpPr>
          <p:nvPr>
            <p:ph type="sldNum" sz="quarter" idx="5"/>
          </p:nvPr>
        </p:nvSpPr>
        <p:spPr/>
        <p:txBody>
          <a:bodyPr/>
          <a:lstStyle/>
          <a:p>
            <a:fld id="{4C08866D-0BA4-4B03-8FA8-A96EE1FB39D0}" type="slidenum">
              <a:rPr lang="en-IL" smtClean="0"/>
              <a:t>74</a:t>
            </a:fld>
            <a:endParaRPr lang="en-IL"/>
          </a:p>
        </p:txBody>
      </p:sp>
    </p:spTree>
    <p:extLst>
      <p:ext uri="{BB962C8B-B14F-4D97-AF65-F5344CB8AC3E}">
        <p14:creationId xmlns:p14="http://schemas.microsoft.com/office/powerpoint/2010/main" val="3443961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553BB-FAA3-46ED-8326-AD7EE26F78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06B615E8-3C95-4096-8039-02C1046EA5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95CE2517-A02E-4027-BA2C-117CE149DB30}"/>
              </a:ext>
            </a:extLst>
          </p:cNvPr>
          <p:cNvSpPr>
            <a:spLocks noGrp="1"/>
          </p:cNvSpPr>
          <p:nvPr>
            <p:ph type="dt" sz="half" idx="10"/>
          </p:nvPr>
        </p:nvSpPr>
        <p:spPr/>
        <p:txBody>
          <a:bodyPr/>
          <a:lstStyle/>
          <a:p>
            <a:fld id="{B5608ECB-1E30-E243-BFE9-0EBF7B499184}" type="datetime8">
              <a:rPr lang="en-US" smtClean="0"/>
              <a:t>2/27/23 8:21 AM</a:t>
            </a:fld>
            <a:endParaRPr lang="en-IL"/>
          </a:p>
        </p:txBody>
      </p:sp>
      <p:sp>
        <p:nvSpPr>
          <p:cNvPr id="5" name="Footer Placeholder 4">
            <a:extLst>
              <a:ext uri="{FF2B5EF4-FFF2-40B4-BE49-F238E27FC236}">
                <a16:creationId xmlns:a16="http://schemas.microsoft.com/office/drawing/2014/main" id="{C6E5C8B8-C77F-4E96-831A-FC160B4AF490}"/>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6A7E7471-5067-4CA0-9D60-D86D047E9514}"/>
              </a:ext>
            </a:extLst>
          </p:cNvPr>
          <p:cNvSpPr>
            <a:spLocks noGrp="1"/>
          </p:cNvSpPr>
          <p:nvPr>
            <p:ph type="sldNum" sz="quarter" idx="12"/>
          </p:nvPr>
        </p:nvSpPr>
        <p:spPr/>
        <p:txBody>
          <a:bodyPr/>
          <a:lstStyle>
            <a:lvl1pPr>
              <a:defRPr sz="1800"/>
            </a:lvl1pPr>
          </a:lstStyle>
          <a:p>
            <a:fld id="{B62643F8-DFCD-4B5F-9519-933435FA18FB}" type="slidenum">
              <a:rPr lang="en-IL" smtClean="0"/>
              <a:pPr/>
              <a:t>‹#›</a:t>
            </a:fld>
            <a:endParaRPr lang="en-IL" dirty="0"/>
          </a:p>
        </p:txBody>
      </p:sp>
    </p:spTree>
    <p:extLst>
      <p:ext uri="{BB962C8B-B14F-4D97-AF65-F5344CB8AC3E}">
        <p14:creationId xmlns:p14="http://schemas.microsoft.com/office/powerpoint/2010/main" val="27201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2" name="Content Placeholder 2">
            <a:extLst>
              <a:ext uri="{FF2B5EF4-FFF2-40B4-BE49-F238E27FC236}">
                <a16:creationId xmlns:a16="http://schemas.microsoft.com/office/drawing/2014/main" id="{8257D3F8-87F0-4DF5-8F98-66DFD99EE7B2}"/>
              </a:ext>
            </a:extLst>
          </p:cNvPr>
          <p:cNvSpPr>
            <a:spLocks noGrp="1"/>
          </p:cNvSpPr>
          <p:nvPr>
            <p:ph idx="1"/>
          </p:nvPr>
        </p:nvSpPr>
        <p:spPr>
          <a:xfrm>
            <a:off x="838200" y="583474"/>
            <a:ext cx="10515600" cy="5593489"/>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L" dirty="0"/>
          </a:p>
        </p:txBody>
      </p:sp>
      <p:sp>
        <p:nvSpPr>
          <p:cNvPr id="13" name="Date Placeholder 3">
            <a:extLst>
              <a:ext uri="{FF2B5EF4-FFF2-40B4-BE49-F238E27FC236}">
                <a16:creationId xmlns:a16="http://schemas.microsoft.com/office/drawing/2014/main" id="{BCDE1D59-793A-43B8-B383-259A90AD5274}"/>
              </a:ext>
            </a:extLst>
          </p:cNvPr>
          <p:cNvSpPr>
            <a:spLocks noGrp="1"/>
          </p:cNvSpPr>
          <p:nvPr>
            <p:ph type="dt" sz="half" idx="10"/>
          </p:nvPr>
        </p:nvSpPr>
        <p:spPr>
          <a:xfrm>
            <a:off x="838200" y="6356350"/>
            <a:ext cx="2743200" cy="365125"/>
          </a:xfrm>
        </p:spPr>
        <p:txBody>
          <a:bodyPr/>
          <a:lstStyle/>
          <a:p>
            <a:fld id="{36D56728-2C9D-BA41-8F1F-49009F347789}" type="datetime8">
              <a:rPr lang="en-US" smtClean="0"/>
              <a:t>2/27/23 8:21 AM</a:t>
            </a:fld>
            <a:endParaRPr lang="en-IL"/>
          </a:p>
        </p:txBody>
      </p:sp>
      <p:sp>
        <p:nvSpPr>
          <p:cNvPr id="14" name="Footer Placeholder 4">
            <a:extLst>
              <a:ext uri="{FF2B5EF4-FFF2-40B4-BE49-F238E27FC236}">
                <a16:creationId xmlns:a16="http://schemas.microsoft.com/office/drawing/2014/main" id="{AA69F713-2159-4167-B614-5042E8DE4D6E}"/>
              </a:ext>
            </a:extLst>
          </p:cNvPr>
          <p:cNvSpPr>
            <a:spLocks noGrp="1"/>
          </p:cNvSpPr>
          <p:nvPr>
            <p:ph type="ftr" sz="quarter" idx="11"/>
          </p:nvPr>
        </p:nvSpPr>
        <p:spPr>
          <a:xfrm>
            <a:off x="4038600" y="6356350"/>
            <a:ext cx="4114800" cy="365125"/>
          </a:xfrm>
        </p:spPr>
        <p:txBody>
          <a:bodyPr/>
          <a:lstStyle/>
          <a:p>
            <a:r>
              <a:rPr lang="en-US"/>
              <a:t>Or Peretz</a:t>
            </a:r>
            <a:endParaRPr lang="en-IL"/>
          </a:p>
        </p:txBody>
      </p:sp>
      <p:sp>
        <p:nvSpPr>
          <p:cNvPr id="15" name="Slide Number Placeholder 5">
            <a:extLst>
              <a:ext uri="{FF2B5EF4-FFF2-40B4-BE49-F238E27FC236}">
                <a16:creationId xmlns:a16="http://schemas.microsoft.com/office/drawing/2014/main" id="{5F40A595-FC21-4942-AC1C-EC8D0EE8F289}"/>
              </a:ext>
            </a:extLst>
          </p:cNvPr>
          <p:cNvSpPr>
            <a:spLocks noGrp="1"/>
          </p:cNvSpPr>
          <p:nvPr>
            <p:ph type="sldNum" sz="quarter" idx="12"/>
          </p:nvPr>
        </p:nvSpPr>
        <p:spPr>
          <a:xfrm>
            <a:off x="8610600" y="6356350"/>
            <a:ext cx="2743200" cy="365125"/>
          </a:xfrm>
        </p:spPr>
        <p:txBody>
          <a:bodyPr/>
          <a:lstStyle>
            <a:lvl1pPr>
              <a:defRPr sz="1800"/>
            </a:lvl1pPr>
          </a:lstStyle>
          <a:p>
            <a:fld id="{C9D69B18-316A-457F-86C2-CFE4F951EE27}" type="slidenum">
              <a:rPr lang="en-IL" smtClean="0"/>
              <a:pPr/>
              <a:t>‹#›</a:t>
            </a:fld>
            <a:endParaRPr lang="en-IL" dirty="0"/>
          </a:p>
        </p:txBody>
      </p:sp>
    </p:spTree>
    <p:extLst>
      <p:ext uri="{BB962C8B-B14F-4D97-AF65-F5344CB8AC3E}">
        <p14:creationId xmlns:p14="http://schemas.microsoft.com/office/powerpoint/2010/main" val="3395765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uiExpand="1" build="p">
        <p:tmplLst>
          <p:tmpl lvl="1">
            <p:tnLst>
              <p:par>
                <p:cTn presetID="1" presetClass="entr" presetSubtype="0" fill="hold" nodeType="with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2">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3">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4">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 lvl="5">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6DB71-F16A-411E-A1F0-229842FF42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55FEC0A3-903B-4C81-96AA-FA5FE78795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621F274-0FDC-4FF1-AD1D-E33CBC0B8BE3}"/>
              </a:ext>
            </a:extLst>
          </p:cNvPr>
          <p:cNvSpPr>
            <a:spLocks noGrp="1"/>
          </p:cNvSpPr>
          <p:nvPr>
            <p:ph type="dt" sz="half" idx="10"/>
          </p:nvPr>
        </p:nvSpPr>
        <p:spPr/>
        <p:txBody>
          <a:bodyPr/>
          <a:lstStyle/>
          <a:p>
            <a:fld id="{016DEB36-7065-D348-8011-7BBD5839076F}" type="datetime8">
              <a:rPr lang="en-US" smtClean="0"/>
              <a:t>2/27/23 8:21 AM</a:t>
            </a:fld>
            <a:endParaRPr lang="en-IL"/>
          </a:p>
        </p:txBody>
      </p:sp>
      <p:sp>
        <p:nvSpPr>
          <p:cNvPr id="5" name="Footer Placeholder 4">
            <a:extLst>
              <a:ext uri="{FF2B5EF4-FFF2-40B4-BE49-F238E27FC236}">
                <a16:creationId xmlns:a16="http://schemas.microsoft.com/office/drawing/2014/main" id="{C5317186-B90F-456C-A210-0CD662FC94AE}"/>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44DCF8B6-F957-4C26-89F8-62EE0895ACB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99978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6BCB62-2976-4F72-B0D1-D7D5CC8DFE10}"/>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0E570335-BA28-442F-B929-834D11AFBB7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443D0261-93E1-42EC-B45C-7A9C69E6DB7A}"/>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8ED1B8B7-4BAF-485E-8E14-0A3937A2E61B}"/>
              </a:ext>
            </a:extLst>
          </p:cNvPr>
          <p:cNvSpPr>
            <a:spLocks noGrp="1"/>
          </p:cNvSpPr>
          <p:nvPr>
            <p:ph type="dt" sz="half" idx="10"/>
          </p:nvPr>
        </p:nvSpPr>
        <p:spPr/>
        <p:txBody>
          <a:bodyPr/>
          <a:lstStyle/>
          <a:p>
            <a:fld id="{EE2EAB42-8F2C-DE49-A909-5C610FF9F5E7}" type="datetime8">
              <a:rPr lang="en-US" smtClean="0"/>
              <a:t>2/27/23 8:21 AM</a:t>
            </a:fld>
            <a:endParaRPr lang="en-IL"/>
          </a:p>
        </p:txBody>
      </p:sp>
      <p:sp>
        <p:nvSpPr>
          <p:cNvPr id="6" name="Footer Placeholder 5">
            <a:extLst>
              <a:ext uri="{FF2B5EF4-FFF2-40B4-BE49-F238E27FC236}">
                <a16:creationId xmlns:a16="http://schemas.microsoft.com/office/drawing/2014/main" id="{5FD101D7-C282-4291-A047-A469118DB9A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54E3ACF7-1919-4005-8D18-C065FE37BAF5}"/>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158286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5D40-5A05-454B-BF8D-2ADD226269A0}"/>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F1CDEE7E-1856-4D6C-95E1-B25F3B5CF8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B6B7349D-B192-40B0-A682-C3914DCE58B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0C86D532-BD26-45AE-91E7-2BCEE71DE7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139C4E2-6DDF-4BCE-9E96-2FEA03A9195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371B11A-C4F8-4F85-A0D5-34A703DD1683}"/>
              </a:ext>
            </a:extLst>
          </p:cNvPr>
          <p:cNvSpPr>
            <a:spLocks noGrp="1"/>
          </p:cNvSpPr>
          <p:nvPr>
            <p:ph type="dt" sz="half" idx="10"/>
          </p:nvPr>
        </p:nvSpPr>
        <p:spPr/>
        <p:txBody>
          <a:bodyPr/>
          <a:lstStyle/>
          <a:p>
            <a:fld id="{D0B80D53-5A98-574B-B3C2-D64EA0F0C1F8}" type="datetime8">
              <a:rPr lang="en-US" smtClean="0"/>
              <a:t>2/27/23 8:21 AM</a:t>
            </a:fld>
            <a:endParaRPr lang="en-IL"/>
          </a:p>
        </p:txBody>
      </p:sp>
      <p:sp>
        <p:nvSpPr>
          <p:cNvPr id="8" name="Footer Placeholder 7">
            <a:extLst>
              <a:ext uri="{FF2B5EF4-FFF2-40B4-BE49-F238E27FC236}">
                <a16:creationId xmlns:a16="http://schemas.microsoft.com/office/drawing/2014/main" id="{3CF8E969-DC51-428E-A40E-10E237847C2B}"/>
              </a:ext>
            </a:extLst>
          </p:cNvPr>
          <p:cNvSpPr>
            <a:spLocks noGrp="1"/>
          </p:cNvSpPr>
          <p:nvPr>
            <p:ph type="ftr" sz="quarter" idx="11"/>
          </p:nvPr>
        </p:nvSpPr>
        <p:spPr/>
        <p:txBody>
          <a:bodyPr/>
          <a:lstStyle/>
          <a:p>
            <a:r>
              <a:rPr lang="en-US"/>
              <a:t>Or Peretz</a:t>
            </a:r>
            <a:endParaRPr lang="en-IL"/>
          </a:p>
        </p:txBody>
      </p:sp>
      <p:sp>
        <p:nvSpPr>
          <p:cNvPr id="9" name="Slide Number Placeholder 8">
            <a:extLst>
              <a:ext uri="{FF2B5EF4-FFF2-40B4-BE49-F238E27FC236}">
                <a16:creationId xmlns:a16="http://schemas.microsoft.com/office/drawing/2014/main" id="{3AF4C0B3-7D21-431B-8C06-6364026C9DAB}"/>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173000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CF8A9-2FB1-463C-A055-7D8DEF623488}"/>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D4834B02-6F21-4BD3-9253-024380CFAB64}"/>
              </a:ext>
            </a:extLst>
          </p:cNvPr>
          <p:cNvSpPr>
            <a:spLocks noGrp="1"/>
          </p:cNvSpPr>
          <p:nvPr>
            <p:ph type="dt" sz="half" idx="10"/>
          </p:nvPr>
        </p:nvSpPr>
        <p:spPr/>
        <p:txBody>
          <a:bodyPr/>
          <a:lstStyle/>
          <a:p>
            <a:fld id="{9639C911-8A4D-F442-998D-47CB0AF94409}" type="datetime8">
              <a:rPr lang="en-US" smtClean="0"/>
              <a:t>2/27/23 8:21 AM</a:t>
            </a:fld>
            <a:endParaRPr lang="en-IL"/>
          </a:p>
        </p:txBody>
      </p:sp>
      <p:sp>
        <p:nvSpPr>
          <p:cNvPr id="4" name="Footer Placeholder 3">
            <a:extLst>
              <a:ext uri="{FF2B5EF4-FFF2-40B4-BE49-F238E27FC236}">
                <a16:creationId xmlns:a16="http://schemas.microsoft.com/office/drawing/2014/main" id="{6E6109D8-60DE-4EAE-9FA4-4743AF1B53C8}"/>
              </a:ext>
            </a:extLst>
          </p:cNvPr>
          <p:cNvSpPr>
            <a:spLocks noGrp="1"/>
          </p:cNvSpPr>
          <p:nvPr>
            <p:ph type="ftr" sz="quarter" idx="11"/>
          </p:nvPr>
        </p:nvSpPr>
        <p:spPr/>
        <p:txBody>
          <a:bodyPr/>
          <a:lstStyle/>
          <a:p>
            <a:r>
              <a:rPr lang="en-US"/>
              <a:t>Or Peretz</a:t>
            </a:r>
            <a:endParaRPr lang="en-IL"/>
          </a:p>
        </p:txBody>
      </p:sp>
      <p:sp>
        <p:nvSpPr>
          <p:cNvPr id="5" name="Slide Number Placeholder 4">
            <a:extLst>
              <a:ext uri="{FF2B5EF4-FFF2-40B4-BE49-F238E27FC236}">
                <a16:creationId xmlns:a16="http://schemas.microsoft.com/office/drawing/2014/main" id="{5C2833B9-F0EF-4F2D-B1F5-59A0518ACC67}"/>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4047048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F94F9A-B863-4CA1-A3D9-2612454CB5E8}"/>
              </a:ext>
            </a:extLst>
          </p:cNvPr>
          <p:cNvSpPr>
            <a:spLocks noGrp="1"/>
          </p:cNvSpPr>
          <p:nvPr>
            <p:ph type="dt" sz="half" idx="10"/>
          </p:nvPr>
        </p:nvSpPr>
        <p:spPr/>
        <p:txBody>
          <a:bodyPr/>
          <a:lstStyle/>
          <a:p>
            <a:fld id="{1E16C687-3B5F-2843-97BF-78FF3CB52139}" type="datetime8">
              <a:rPr lang="en-US" smtClean="0"/>
              <a:t>2/27/23 8:21 AM</a:t>
            </a:fld>
            <a:endParaRPr lang="en-IL"/>
          </a:p>
        </p:txBody>
      </p:sp>
      <p:sp>
        <p:nvSpPr>
          <p:cNvPr id="3" name="Footer Placeholder 2">
            <a:extLst>
              <a:ext uri="{FF2B5EF4-FFF2-40B4-BE49-F238E27FC236}">
                <a16:creationId xmlns:a16="http://schemas.microsoft.com/office/drawing/2014/main" id="{05856BA7-0F82-4B54-82BF-04EC0B081685}"/>
              </a:ext>
            </a:extLst>
          </p:cNvPr>
          <p:cNvSpPr>
            <a:spLocks noGrp="1"/>
          </p:cNvSpPr>
          <p:nvPr>
            <p:ph type="ftr" sz="quarter" idx="11"/>
          </p:nvPr>
        </p:nvSpPr>
        <p:spPr/>
        <p:txBody>
          <a:bodyPr/>
          <a:lstStyle/>
          <a:p>
            <a:r>
              <a:rPr lang="en-US"/>
              <a:t>Or Peretz</a:t>
            </a:r>
            <a:endParaRPr lang="en-IL"/>
          </a:p>
        </p:txBody>
      </p:sp>
      <p:sp>
        <p:nvSpPr>
          <p:cNvPr id="4" name="Slide Number Placeholder 3">
            <a:extLst>
              <a:ext uri="{FF2B5EF4-FFF2-40B4-BE49-F238E27FC236}">
                <a16:creationId xmlns:a16="http://schemas.microsoft.com/office/drawing/2014/main" id="{026A46C4-110C-4F16-A55B-2CA103D5BC6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290415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DF8D4-37EB-4208-8EBF-A36DA15D5A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F119644F-4231-4135-985A-E35BB7DF79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DDAC084D-8409-4F23-A4F3-946B11E92E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857D6E5-0ADE-47F1-BF75-064C0FC0B6AA}"/>
              </a:ext>
            </a:extLst>
          </p:cNvPr>
          <p:cNvSpPr>
            <a:spLocks noGrp="1"/>
          </p:cNvSpPr>
          <p:nvPr>
            <p:ph type="dt" sz="half" idx="10"/>
          </p:nvPr>
        </p:nvSpPr>
        <p:spPr/>
        <p:txBody>
          <a:bodyPr/>
          <a:lstStyle/>
          <a:p>
            <a:fld id="{EF445F86-2D8C-BD4C-B0B2-C9CC361C1235}" type="datetime8">
              <a:rPr lang="en-US" smtClean="0"/>
              <a:t>2/27/23 8:21 AM</a:t>
            </a:fld>
            <a:endParaRPr lang="en-IL"/>
          </a:p>
        </p:txBody>
      </p:sp>
      <p:sp>
        <p:nvSpPr>
          <p:cNvPr id="6" name="Footer Placeholder 5">
            <a:extLst>
              <a:ext uri="{FF2B5EF4-FFF2-40B4-BE49-F238E27FC236}">
                <a16:creationId xmlns:a16="http://schemas.microsoft.com/office/drawing/2014/main" id="{E3A95BE5-8107-4C77-A0C7-320528011EF6}"/>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D2B29687-8674-4B44-BCA8-CA55A7F66AEE}"/>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35512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DB8B-F360-41C1-9E59-41BC175C2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6329284B-956D-4A04-AA87-11920CE3AB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6CDA7EC3-09A8-4251-B03C-6044FAB1E4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8F06FFE-DADD-4559-BD8F-E4090E8513DA}"/>
              </a:ext>
            </a:extLst>
          </p:cNvPr>
          <p:cNvSpPr>
            <a:spLocks noGrp="1"/>
          </p:cNvSpPr>
          <p:nvPr>
            <p:ph type="dt" sz="half" idx="10"/>
          </p:nvPr>
        </p:nvSpPr>
        <p:spPr/>
        <p:txBody>
          <a:bodyPr/>
          <a:lstStyle/>
          <a:p>
            <a:fld id="{39F3AA76-EAF3-0A47-A51C-C9D875AB5BFE}" type="datetime8">
              <a:rPr lang="en-US" smtClean="0"/>
              <a:t>2/27/23 8:21 AM</a:t>
            </a:fld>
            <a:endParaRPr lang="en-IL"/>
          </a:p>
        </p:txBody>
      </p:sp>
      <p:sp>
        <p:nvSpPr>
          <p:cNvPr id="6" name="Footer Placeholder 5">
            <a:extLst>
              <a:ext uri="{FF2B5EF4-FFF2-40B4-BE49-F238E27FC236}">
                <a16:creationId xmlns:a16="http://schemas.microsoft.com/office/drawing/2014/main" id="{487A7321-97EB-4815-A837-E4FF27362FFC}"/>
              </a:ext>
            </a:extLst>
          </p:cNvPr>
          <p:cNvSpPr>
            <a:spLocks noGrp="1"/>
          </p:cNvSpPr>
          <p:nvPr>
            <p:ph type="ftr" sz="quarter" idx="11"/>
          </p:nvPr>
        </p:nvSpPr>
        <p:spPr/>
        <p:txBody>
          <a:bodyPr/>
          <a:lstStyle/>
          <a:p>
            <a:r>
              <a:rPr lang="en-US"/>
              <a:t>Or Peretz</a:t>
            </a:r>
            <a:endParaRPr lang="en-IL"/>
          </a:p>
        </p:txBody>
      </p:sp>
      <p:sp>
        <p:nvSpPr>
          <p:cNvPr id="7" name="Slide Number Placeholder 6">
            <a:extLst>
              <a:ext uri="{FF2B5EF4-FFF2-40B4-BE49-F238E27FC236}">
                <a16:creationId xmlns:a16="http://schemas.microsoft.com/office/drawing/2014/main" id="{BAA3595F-1D61-441A-9A46-FC01E1605B5C}"/>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3829192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6D421-C27E-4305-9BA4-ABDBC270E32E}"/>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D369482A-BFEA-4A85-973C-0414EA50857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2DCE6C9-3B2C-4E59-B407-9DEAA5194AB0}"/>
              </a:ext>
            </a:extLst>
          </p:cNvPr>
          <p:cNvSpPr>
            <a:spLocks noGrp="1"/>
          </p:cNvSpPr>
          <p:nvPr>
            <p:ph type="dt" sz="half" idx="10"/>
          </p:nvPr>
        </p:nvSpPr>
        <p:spPr/>
        <p:txBody>
          <a:bodyPr/>
          <a:lstStyle/>
          <a:p>
            <a:fld id="{97EB2AE8-165A-CB44-B045-2D657756B626}" type="datetime8">
              <a:rPr lang="en-US" smtClean="0"/>
              <a:t>2/27/23 8:21 AM</a:t>
            </a:fld>
            <a:endParaRPr lang="en-IL"/>
          </a:p>
        </p:txBody>
      </p:sp>
      <p:sp>
        <p:nvSpPr>
          <p:cNvPr id="5" name="Footer Placeholder 4">
            <a:extLst>
              <a:ext uri="{FF2B5EF4-FFF2-40B4-BE49-F238E27FC236}">
                <a16:creationId xmlns:a16="http://schemas.microsoft.com/office/drawing/2014/main" id="{157B3FA1-84D5-4374-B090-8EED7F0EE76B}"/>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0BB37D06-0BF6-4041-954F-C1D4B14F038F}"/>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5062170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A0116A-EF9A-40BC-BE26-84DF8D33F6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E3EB09AB-DE01-41A1-8BED-34FC1B482ADA}"/>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6A0832B-4F28-4DE3-AF6D-37975A09FE91}"/>
              </a:ext>
            </a:extLst>
          </p:cNvPr>
          <p:cNvSpPr>
            <a:spLocks noGrp="1"/>
          </p:cNvSpPr>
          <p:nvPr>
            <p:ph type="dt" sz="half" idx="10"/>
          </p:nvPr>
        </p:nvSpPr>
        <p:spPr/>
        <p:txBody>
          <a:bodyPr/>
          <a:lstStyle/>
          <a:p>
            <a:fld id="{D1592F5A-76CE-DD4B-B71C-7BBA8804EA33}" type="datetime8">
              <a:rPr lang="en-US" smtClean="0"/>
              <a:t>2/27/23 8:21 AM</a:t>
            </a:fld>
            <a:endParaRPr lang="en-IL"/>
          </a:p>
        </p:txBody>
      </p:sp>
      <p:sp>
        <p:nvSpPr>
          <p:cNvPr id="5" name="Footer Placeholder 4">
            <a:extLst>
              <a:ext uri="{FF2B5EF4-FFF2-40B4-BE49-F238E27FC236}">
                <a16:creationId xmlns:a16="http://schemas.microsoft.com/office/drawing/2014/main" id="{18F064A4-73D9-4140-BB4B-47A62F8CBA11}"/>
              </a:ext>
            </a:extLst>
          </p:cNvPr>
          <p:cNvSpPr>
            <a:spLocks noGrp="1"/>
          </p:cNvSpPr>
          <p:nvPr>
            <p:ph type="ftr" sz="quarter" idx="11"/>
          </p:nvPr>
        </p:nvSpPr>
        <p:spPr/>
        <p:txBody>
          <a:bodyPr/>
          <a:lstStyle/>
          <a:p>
            <a:r>
              <a:rPr lang="en-US"/>
              <a:t>Or Peretz</a:t>
            </a:r>
            <a:endParaRPr lang="en-IL"/>
          </a:p>
        </p:txBody>
      </p:sp>
      <p:sp>
        <p:nvSpPr>
          <p:cNvPr id="6" name="Slide Number Placeholder 5">
            <a:extLst>
              <a:ext uri="{FF2B5EF4-FFF2-40B4-BE49-F238E27FC236}">
                <a16:creationId xmlns:a16="http://schemas.microsoft.com/office/drawing/2014/main" id="{2241DA01-1032-4191-848B-F8A71F653C29}"/>
              </a:ext>
            </a:extLst>
          </p:cNvPr>
          <p:cNvSpPr>
            <a:spLocks noGrp="1"/>
          </p:cNvSpPr>
          <p:nvPr>
            <p:ph type="sldNum" sz="quarter" idx="12"/>
          </p:nvPr>
        </p:nvSpPr>
        <p:spPr/>
        <p:txBody>
          <a:bodyPr/>
          <a:lstStyle/>
          <a:p>
            <a:fld id="{B62643F8-DFCD-4B5F-9519-933435FA18FB}" type="slidenum">
              <a:rPr lang="en-IL" smtClean="0"/>
              <a:t>‹#›</a:t>
            </a:fld>
            <a:endParaRPr lang="en-IL"/>
          </a:p>
        </p:txBody>
      </p:sp>
    </p:spTree>
    <p:extLst>
      <p:ext uri="{BB962C8B-B14F-4D97-AF65-F5344CB8AC3E}">
        <p14:creationId xmlns:p14="http://schemas.microsoft.com/office/powerpoint/2010/main" val="24741138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40982F3-D63B-2346-B8C4-242636890BA4}" type="datetime8">
              <a:rPr lang="en-US" smtClean="0"/>
              <a:t>2/27/23 8:21 AM</a:t>
            </a:fld>
            <a:endParaRPr lang="en-US"/>
          </a:p>
        </p:txBody>
      </p:sp>
      <p:sp>
        <p:nvSpPr>
          <p:cNvPr id="5" name="Footer Placeholder 4"/>
          <p:cNvSpPr>
            <a:spLocks noGrp="1"/>
          </p:cNvSpPr>
          <p:nvPr>
            <p:ph type="ftr" sz="quarter" idx="11"/>
          </p:nvPr>
        </p:nvSpPr>
        <p:spPr/>
        <p:txBody>
          <a:bodyPr/>
          <a:lstStyle/>
          <a:p>
            <a:r>
              <a:rPr lang="en-US"/>
              <a:t>Or Peretz</a:t>
            </a:r>
          </a:p>
        </p:txBody>
      </p:sp>
      <p:sp>
        <p:nvSpPr>
          <p:cNvPr id="6" name="Slide Number Placeholder 5"/>
          <p:cNvSpPr>
            <a:spLocks noGrp="1"/>
          </p:cNvSpPr>
          <p:nvPr>
            <p:ph type="sldNum" sz="quarter" idx="12"/>
          </p:nvPr>
        </p:nvSpPr>
        <p:spPr/>
        <p:txBody>
          <a:bodyPr/>
          <a:lstStyle/>
          <a:p>
            <a:fld id="{F095E00D-78CB-4C0B-AD70-37EA297711DE}" type="slidenum">
              <a:rPr lang="en-US" smtClean="0"/>
              <a:t>‹#›</a:t>
            </a:fld>
            <a:endParaRPr lang="en-US"/>
          </a:p>
        </p:txBody>
      </p:sp>
    </p:spTree>
    <p:extLst>
      <p:ext uri="{BB962C8B-B14F-4D97-AF65-F5344CB8AC3E}">
        <p14:creationId xmlns:p14="http://schemas.microsoft.com/office/powerpoint/2010/main" val="963889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D5FF43-15EB-48BF-9377-EC78CBDCCBE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548A9A9A-96AC-434D-8596-80E7719973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0477151C-500A-4CAF-8B1B-C429EEE2CD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6C850B-1D80-C94A-9B85-F923F16457E8}" type="datetime8">
              <a:rPr lang="en-US" smtClean="0"/>
              <a:t>2/27/23 8:21 AM</a:t>
            </a:fld>
            <a:endParaRPr lang="en-IL"/>
          </a:p>
        </p:txBody>
      </p:sp>
      <p:sp>
        <p:nvSpPr>
          <p:cNvPr id="5" name="Footer Placeholder 4">
            <a:extLst>
              <a:ext uri="{FF2B5EF4-FFF2-40B4-BE49-F238E27FC236}">
                <a16:creationId xmlns:a16="http://schemas.microsoft.com/office/drawing/2014/main" id="{481936C9-3550-4463-A834-A8233EB9F3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Or Peretz</a:t>
            </a:r>
            <a:endParaRPr lang="en-IL"/>
          </a:p>
        </p:txBody>
      </p:sp>
      <p:sp>
        <p:nvSpPr>
          <p:cNvPr id="6" name="Slide Number Placeholder 5">
            <a:extLst>
              <a:ext uri="{FF2B5EF4-FFF2-40B4-BE49-F238E27FC236}">
                <a16:creationId xmlns:a16="http://schemas.microsoft.com/office/drawing/2014/main" id="{77370A5C-A380-420D-86FA-95B4F828D7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643F8-DFCD-4B5F-9519-933435FA18FB}" type="slidenum">
              <a:rPr lang="en-IL" smtClean="0"/>
              <a:t>‹#›</a:t>
            </a:fld>
            <a:endParaRPr lang="en-IL"/>
          </a:p>
        </p:txBody>
      </p:sp>
    </p:spTree>
    <p:extLst>
      <p:ext uri="{BB962C8B-B14F-4D97-AF65-F5344CB8AC3E}">
        <p14:creationId xmlns:p14="http://schemas.microsoft.com/office/powerpoint/2010/main" val="2004471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185352" y="395416"/>
            <a:ext cx="11794982" cy="3409557"/>
          </a:xfrm>
        </p:spPr>
        <p:txBody>
          <a:bodyPr>
            <a:normAutofit/>
          </a:bodyPr>
          <a:lstStyle/>
          <a:p>
            <a:pPr algn="ctr" defTabSz="914400" rtl="0" eaLnBrk="1" latinLnBrk="0" hangingPunct="1">
              <a:lnSpc>
                <a:spcPct val="90000"/>
              </a:lnSpc>
              <a:spcBef>
                <a:spcPct val="0"/>
              </a:spcBef>
              <a:buNone/>
            </a:pPr>
            <a:r>
              <a:rPr lang="en-US" u="sng" dirty="0">
                <a:cs typeface="+mn-cs"/>
              </a:rPr>
              <a:t>Business Intelligence</a:t>
            </a:r>
            <a:endParaRPr lang="en-IL" u="sng" dirty="0">
              <a:cs typeface="+mn-cs"/>
            </a:endParaRPr>
          </a:p>
        </p:txBody>
      </p:sp>
      <p:sp>
        <p:nvSpPr>
          <p:cNvPr id="3" name="Subtitle 2">
            <a:extLst>
              <a:ext uri="{FF2B5EF4-FFF2-40B4-BE49-F238E27FC236}">
                <a16:creationId xmlns:a16="http://schemas.microsoft.com/office/drawing/2014/main" id="{E954BFDD-2D28-4F88-A89F-35EB6574CAC6}"/>
              </a:ext>
            </a:extLst>
          </p:cNvPr>
          <p:cNvSpPr>
            <a:spLocks noGrp="1"/>
          </p:cNvSpPr>
          <p:nvPr>
            <p:ph type="subTitle" idx="1"/>
          </p:nvPr>
        </p:nvSpPr>
        <p:spPr>
          <a:xfrm>
            <a:off x="1510843" y="4276585"/>
            <a:ext cx="9144000" cy="1655762"/>
          </a:xfrm>
        </p:spPr>
        <p:txBody>
          <a:bodyPr>
            <a:normAutofit/>
          </a:bodyPr>
          <a:lstStyle/>
          <a:p>
            <a:pPr marL="0" indent="0" algn="ctr" defTabSz="914400" rtl="1" eaLnBrk="1" latinLnBrk="0" hangingPunct="1">
              <a:lnSpc>
                <a:spcPct val="90000"/>
              </a:lnSpc>
              <a:spcBef>
                <a:spcPts val="1000"/>
              </a:spcBef>
              <a:buFont typeface="Arial" panose="020B0604020202020204" pitchFamily="34" charset="0"/>
              <a:buNone/>
            </a:pPr>
            <a:r>
              <a:rPr lang="en-US" sz="3600" dirty="0"/>
              <a:t>Lecture 1</a:t>
            </a:r>
          </a:p>
          <a:p>
            <a:pPr marL="0" indent="0" algn="ctr" defTabSz="914400" rtl="1" eaLnBrk="1" latinLnBrk="0" hangingPunct="1">
              <a:lnSpc>
                <a:spcPct val="90000"/>
              </a:lnSpc>
              <a:spcBef>
                <a:spcPts val="1000"/>
              </a:spcBef>
              <a:buFont typeface="Arial" panose="020B0604020202020204" pitchFamily="34" charset="0"/>
              <a:buNone/>
            </a:pPr>
            <a:endParaRPr lang="en-IL" sz="3600" dirty="0"/>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30173087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425458-3AC0-4977-A476-AD5A91A7871F}"/>
              </a:ext>
            </a:extLst>
          </p:cNvPr>
          <p:cNvSpPr txBox="1"/>
          <p:nvPr/>
        </p:nvSpPr>
        <p:spPr>
          <a:xfrm>
            <a:off x="838200" y="371187"/>
            <a:ext cx="10746850" cy="5985163"/>
          </a:xfrm>
          <a:prstGeom prst="rect">
            <a:avLst/>
          </a:prstGeom>
          <a:solidFill>
            <a:schemeClr val="accent2">
              <a:lumMod val="20000"/>
              <a:lumOff val="80000"/>
            </a:schemeClr>
          </a:solidFill>
        </p:spPr>
        <p:txBody>
          <a:bodyPr wrap="square" rtlCol="0">
            <a:spAutoFit/>
          </a:bodyPr>
          <a:lstStyle/>
          <a:p>
            <a:pPr marL="0" algn="l" defTabSz="914400" rtl="0" eaLnBrk="1" latinLnBrk="0" hangingPunct="1"/>
            <a:endParaRPr lang="en-US" sz="2400" dirty="0"/>
          </a:p>
        </p:txBody>
      </p:sp>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922866" y="371188"/>
            <a:ext cx="10430933" cy="5805776"/>
          </a:xfrm>
        </p:spPr>
        <p:txBody>
          <a:bodyPr>
            <a:normAutofit lnSpcReduction="10000"/>
          </a:bodyPr>
          <a:lstStyle/>
          <a:p>
            <a:pPr marL="0" indent="0" algn="l" defTabSz="914400" eaLnBrk="1" latinLnBrk="0" hangingPunct="1">
              <a:lnSpc>
                <a:spcPct val="150000"/>
              </a:lnSpc>
              <a:spcBef>
                <a:spcPts val="1000"/>
              </a:spcBef>
              <a:buFont typeface="Arial" panose="020B0604020202020204" pitchFamily="34" charset="0"/>
              <a:buNone/>
            </a:pPr>
            <a:r>
              <a:rPr lang="en-US" b="1" dirty="0"/>
              <a:t>About Me</a:t>
            </a:r>
            <a:br>
              <a:rPr lang="en-US" b="1" dirty="0"/>
            </a:br>
            <a:r>
              <a:rPr lang="en-US" sz="2400" b="1" u="sng" dirty="0"/>
              <a:t>Current</a:t>
            </a:r>
            <a:endParaRPr lang="en-US" b="1" u="sng" dirty="0"/>
          </a:p>
          <a:p>
            <a:pPr marL="457200" indent="-457200" algn="l" defTabSz="914400" eaLnBrk="1" latinLnBrk="0" hangingPunct="1">
              <a:lnSpc>
                <a:spcPct val="150000"/>
              </a:lnSpc>
              <a:spcBef>
                <a:spcPts val="1000"/>
              </a:spcBef>
              <a:buFontTx/>
              <a:buChar char="-"/>
            </a:pPr>
            <a:r>
              <a:rPr lang="en-US" sz="2400" dirty="0"/>
              <a:t>(in progress) </a:t>
            </a:r>
            <a:r>
              <a:rPr lang="en-US" sz="2400" dirty="0" err="1"/>
              <a:t>Ph.D</a:t>
            </a:r>
            <a:r>
              <a:rPr lang="en-US" sz="2400" dirty="0"/>
              <a:t> in Information/Data Science </a:t>
            </a:r>
          </a:p>
          <a:p>
            <a:pPr marL="457200" indent="-457200" algn="l" defTabSz="914400" eaLnBrk="1" latinLnBrk="0" hangingPunct="1">
              <a:lnSpc>
                <a:spcPct val="150000"/>
              </a:lnSpc>
              <a:spcBef>
                <a:spcPts val="1000"/>
              </a:spcBef>
              <a:buFontTx/>
              <a:buChar char="-"/>
            </a:pPr>
            <a:r>
              <a:rPr lang="en-US" sz="2400" dirty="0"/>
              <a:t>Lecturer / Researcher – Probabilistic models, Massive data methodologies, Music technology and collaborative platforms</a:t>
            </a:r>
          </a:p>
          <a:p>
            <a:pPr>
              <a:lnSpc>
                <a:spcPct val="150000"/>
              </a:lnSpc>
            </a:pPr>
            <a:r>
              <a:rPr lang="en-US" sz="2400" b="1" u="sng" dirty="0"/>
              <a:t>Past</a:t>
            </a:r>
            <a:endParaRPr lang="en-US" sz="2400" dirty="0"/>
          </a:p>
          <a:p>
            <a:pPr marL="457200" indent="-457200">
              <a:lnSpc>
                <a:spcPct val="150000"/>
              </a:lnSpc>
              <a:buFontTx/>
              <a:buChar char="-"/>
            </a:pPr>
            <a:r>
              <a:rPr lang="en-US" sz="2400" dirty="0" err="1"/>
              <a:t>BS.c</a:t>
            </a:r>
            <a:r>
              <a:rPr lang="en-US" sz="2400" dirty="0"/>
              <a:t> in Computer Science (learning environments and algorithms)</a:t>
            </a:r>
          </a:p>
          <a:p>
            <a:pPr marL="457200" indent="-457200">
              <a:lnSpc>
                <a:spcPct val="150000"/>
              </a:lnSpc>
              <a:buFontTx/>
              <a:buChar char="-"/>
            </a:pPr>
            <a:r>
              <a:rPr lang="en-US" sz="2400" dirty="0" err="1"/>
              <a:t>MS.c</a:t>
            </a:r>
            <a:r>
              <a:rPr lang="en-US" sz="2400" dirty="0"/>
              <a:t> in Computer Science (collaborative platforms and science education)</a:t>
            </a:r>
            <a:endParaRPr lang="en-US" dirty="0"/>
          </a:p>
          <a:p>
            <a:pPr marL="457200" indent="-457200">
              <a:lnSpc>
                <a:spcPct val="150000"/>
              </a:lnSpc>
              <a:buFontTx/>
              <a:buChar char="-"/>
            </a:pPr>
            <a:r>
              <a:rPr lang="en-US" sz="2400" dirty="0"/>
              <a:t>Full stack software engineer</a:t>
            </a:r>
          </a:p>
        </p:txBody>
      </p:sp>
      <p:sp>
        <p:nvSpPr>
          <p:cNvPr id="5" name="Footer Placeholder 4">
            <a:extLst>
              <a:ext uri="{FF2B5EF4-FFF2-40B4-BE49-F238E27FC236}">
                <a16:creationId xmlns:a16="http://schemas.microsoft.com/office/drawing/2014/main" id="{40803E65-83D3-354B-8CF1-A1C85FDB349A}"/>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032302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425458-3AC0-4977-A476-AD5A91A7871F}"/>
              </a:ext>
            </a:extLst>
          </p:cNvPr>
          <p:cNvSpPr txBox="1"/>
          <p:nvPr/>
        </p:nvSpPr>
        <p:spPr>
          <a:xfrm>
            <a:off x="838200" y="371187"/>
            <a:ext cx="10746850" cy="5985163"/>
          </a:xfrm>
          <a:prstGeom prst="rect">
            <a:avLst/>
          </a:prstGeom>
          <a:solidFill>
            <a:schemeClr val="accent2">
              <a:lumMod val="20000"/>
              <a:lumOff val="80000"/>
            </a:schemeClr>
          </a:solidFill>
        </p:spPr>
        <p:txBody>
          <a:bodyPr wrap="square" rtlCol="0">
            <a:spAutoFit/>
          </a:bodyPr>
          <a:lstStyle/>
          <a:p>
            <a:pPr marL="0" algn="r" defTabSz="914400" rtl="1" eaLnBrk="1" latinLnBrk="0" hangingPunct="1"/>
            <a:endParaRPr lang="en-US" sz="2400" dirty="0"/>
          </a:p>
        </p:txBody>
      </p:sp>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922866" y="371188"/>
            <a:ext cx="10430933" cy="5805776"/>
          </a:xfrm>
        </p:spPr>
        <p:txBody>
          <a:bodyPr>
            <a:normAutofit/>
          </a:bodyPr>
          <a:lstStyle/>
          <a:p>
            <a:pPr marL="0" indent="0" algn="l" defTabSz="914400" eaLnBrk="1" latinLnBrk="0" hangingPunct="1">
              <a:lnSpc>
                <a:spcPct val="150000"/>
              </a:lnSpc>
              <a:spcBef>
                <a:spcPts val="1000"/>
              </a:spcBef>
              <a:buFont typeface="Arial" panose="020B0604020202020204" pitchFamily="34" charset="0"/>
              <a:buNone/>
            </a:pPr>
            <a:r>
              <a:rPr lang="en-US" b="1" dirty="0"/>
              <a:t>Logistics:</a:t>
            </a:r>
          </a:p>
          <a:p>
            <a:pPr marL="514350" indent="-514350" algn="l" defTabSz="914400" eaLnBrk="1" latinLnBrk="0" hangingPunct="1">
              <a:lnSpc>
                <a:spcPct val="150000"/>
              </a:lnSpc>
              <a:spcBef>
                <a:spcPts val="1000"/>
              </a:spcBef>
              <a:buFont typeface="Arial" panose="020B0604020202020204" pitchFamily="34" charset="0"/>
              <a:buAutoNum type="arabicPeriod"/>
            </a:pPr>
            <a:r>
              <a:rPr lang="en-US" dirty="0"/>
              <a:t>3 weekly hours </a:t>
            </a:r>
          </a:p>
          <a:p>
            <a:pPr marL="514350" indent="-514350" algn="l" defTabSz="914400" eaLnBrk="1" latinLnBrk="0" hangingPunct="1">
              <a:lnSpc>
                <a:spcPct val="150000"/>
              </a:lnSpc>
              <a:spcBef>
                <a:spcPts val="1000"/>
              </a:spcBef>
              <a:buFont typeface="Arial" panose="020B0604020202020204" pitchFamily="34" charset="0"/>
              <a:buAutoNum type="arabicPeriod"/>
            </a:pPr>
            <a:r>
              <a:rPr lang="en-US" dirty="0"/>
              <a:t>Assignments (30%), Project (70%)</a:t>
            </a:r>
          </a:p>
          <a:p>
            <a:pPr marL="514350" indent="-514350" algn="l" defTabSz="914400" eaLnBrk="1" latinLnBrk="0" hangingPunct="1">
              <a:lnSpc>
                <a:spcPct val="150000"/>
              </a:lnSpc>
              <a:spcBef>
                <a:spcPts val="1000"/>
              </a:spcBef>
              <a:buFont typeface="Arial" panose="020B0604020202020204" pitchFamily="34" charset="0"/>
              <a:buAutoNum type="arabicPeriod"/>
            </a:pPr>
            <a:r>
              <a:rPr lang="en-US" dirty="0"/>
              <a:t>Communication through Moodle / Email</a:t>
            </a:r>
          </a:p>
          <a:p>
            <a:pPr marL="514350" indent="-514350" algn="l" defTabSz="914400" eaLnBrk="1" latinLnBrk="0" hangingPunct="1">
              <a:lnSpc>
                <a:spcPct val="150000"/>
              </a:lnSpc>
              <a:spcBef>
                <a:spcPts val="1000"/>
              </a:spcBef>
              <a:buFont typeface="Arial" panose="020B0604020202020204" pitchFamily="34" charset="0"/>
              <a:buAutoNum type="arabicPeriod"/>
            </a:pPr>
            <a:r>
              <a:rPr lang="en-US" dirty="0"/>
              <a:t>Weekly reception hour</a:t>
            </a:r>
          </a:p>
          <a:p>
            <a:pPr marL="514350" indent="-514350" algn="l" defTabSz="914400" eaLnBrk="1" latinLnBrk="0" hangingPunct="1">
              <a:lnSpc>
                <a:spcPct val="150000"/>
              </a:lnSpc>
              <a:spcBef>
                <a:spcPts val="1000"/>
              </a:spcBef>
              <a:buFont typeface="Arial" panose="020B0604020202020204" pitchFamily="34" charset="0"/>
              <a:buAutoNum type="arabicPeriod"/>
            </a:pPr>
            <a:r>
              <a:rPr lang="en-US" dirty="0"/>
              <a:t>Email - </a:t>
            </a:r>
            <a:r>
              <a:rPr lang="en-US" dirty="0" err="1"/>
              <a:t>or.izhakp@afeka.ac.il</a:t>
            </a:r>
            <a:endParaRPr lang="en-US" dirty="0"/>
          </a:p>
          <a:p>
            <a:pPr algn="l" defTabSz="914400" eaLnBrk="1" latinLnBrk="0" hangingPunct="1">
              <a:lnSpc>
                <a:spcPct val="150000"/>
              </a:lnSpc>
              <a:spcBef>
                <a:spcPts val="1000"/>
              </a:spcBef>
            </a:pPr>
            <a:endParaRPr lang="he-IL" dirty="0"/>
          </a:p>
        </p:txBody>
      </p:sp>
      <p:sp>
        <p:nvSpPr>
          <p:cNvPr id="5" name="Footer Placeholder 4">
            <a:extLst>
              <a:ext uri="{FF2B5EF4-FFF2-40B4-BE49-F238E27FC236}">
                <a16:creationId xmlns:a16="http://schemas.microsoft.com/office/drawing/2014/main" id="{40803E65-83D3-354B-8CF1-A1C85FDB349A}"/>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725403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425458-3AC0-4977-A476-AD5A91A7871F}"/>
              </a:ext>
            </a:extLst>
          </p:cNvPr>
          <p:cNvSpPr txBox="1"/>
          <p:nvPr/>
        </p:nvSpPr>
        <p:spPr>
          <a:xfrm>
            <a:off x="838200" y="371187"/>
            <a:ext cx="10746850" cy="5985163"/>
          </a:xfrm>
          <a:prstGeom prst="rect">
            <a:avLst/>
          </a:prstGeom>
          <a:solidFill>
            <a:schemeClr val="accent2">
              <a:lumMod val="20000"/>
              <a:lumOff val="80000"/>
            </a:schemeClr>
          </a:solidFill>
        </p:spPr>
        <p:txBody>
          <a:bodyPr wrap="square" rtlCol="0">
            <a:spAutoFit/>
          </a:bodyPr>
          <a:lstStyle/>
          <a:p>
            <a:pPr marL="0" algn="l" defTabSz="914400" rtl="0" eaLnBrk="1" latinLnBrk="0" hangingPunct="1"/>
            <a:endParaRPr lang="en-US" sz="2400" dirty="0"/>
          </a:p>
        </p:txBody>
      </p:sp>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922866" y="371188"/>
            <a:ext cx="10430933" cy="5805776"/>
          </a:xfrm>
        </p:spPr>
        <p:txBody>
          <a:bodyPr>
            <a:normAutofit/>
          </a:bodyPr>
          <a:lstStyle/>
          <a:p>
            <a:pPr marL="0" indent="0" algn="l" defTabSz="914400" eaLnBrk="1" latinLnBrk="0" hangingPunct="1">
              <a:lnSpc>
                <a:spcPct val="150000"/>
              </a:lnSpc>
              <a:spcBef>
                <a:spcPts val="1000"/>
              </a:spcBef>
              <a:buFont typeface="Arial" panose="020B0604020202020204" pitchFamily="34" charset="0"/>
              <a:buNone/>
            </a:pPr>
            <a:r>
              <a:rPr lang="en-US" b="1" dirty="0"/>
              <a:t>What You Are Getting</a:t>
            </a:r>
          </a:p>
          <a:p>
            <a:pPr marL="514350" indent="-514350">
              <a:lnSpc>
                <a:spcPct val="150000"/>
              </a:lnSpc>
              <a:buAutoNum type="arabicPeriod"/>
            </a:pPr>
            <a:r>
              <a:rPr lang="en-US" sz="2400" dirty="0"/>
              <a:t>Describe the concepts and components of business Intelligence.</a:t>
            </a:r>
          </a:p>
          <a:p>
            <a:pPr marL="514350" indent="-514350">
              <a:lnSpc>
                <a:spcPct val="150000"/>
              </a:lnSpc>
              <a:buAutoNum type="arabicPeriod"/>
            </a:pPr>
            <a:r>
              <a:rPr lang="en-US" sz="2400" dirty="0"/>
              <a:t>Use of BI for supporting decision making in an organization.</a:t>
            </a:r>
          </a:p>
          <a:p>
            <a:pPr marL="514350" indent="-514350">
              <a:lnSpc>
                <a:spcPct val="150000"/>
              </a:lnSpc>
              <a:buAutoNum type="arabicPeriod"/>
            </a:pPr>
            <a:r>
              <a:rPr lang="en-US" sz="2400" dirty="0"/>
              <a:t>Understand and use the technologies and tools that make up BI:</a:t>
            </a:r>
          </a:p>
          <a:p>
            <a:pPr marL="971550" lvl="1" indent="-514350">
              <a:lnSpc>
                <a:spcPct val="150000"/>
              </a:lnSpc>
              <a:buAutoNum type="arabicPeriod"/>
            </a:pPr>
            <a:r>
              <a:rPr lang="en-US" sz="2200" dirty="0"/>
              <a:t>Data warehousing</a:t>
            </a:r>
          </a:p>
          <a:p>
            <a:pPr marL="971550" lvl="1" indent="-514350">
              <a:lnSpc>
                <a:spcPct val="150000"/>
              </a:lnSpc>
              <a:buAutoNum type="arabicPeriod"/>
            </a:pPr>
            <a:r>
              <a:rPr lang="en-US" sz="2200" dirty="0"/>
              <a:t>Data reporting</a:t>
            </a:r>
          </a:p>
          <a:p>
            <a:pPr marL="971550" lvl="1" indent="-514350">
              <a:lnSpc>
                <a:spcPct val="150000"/>
              </a:lnSpc>
              <a:buAutoNum type="arabicPeriod"/>
            </a:pPr>
            <a:r>
              <a:rPr lang="en-US" sz="2200" dirty="0"/>
              <a:t>Analytics</a:t>
            </a:r>
          </a:p>
          <a:p>
            <a:pPr>
              <a:lnSpc>
                <a:spcPct val="150000"/>
              </a:lnSpc>
            </a:pPr>
            <a:r>
              <a:rPr lang="en-US" sz="2400" dirty="0"/>
              <a:t>4. Build, manage and maintenance of data-driven project.</a:t>
            </a:r>
          </a:p>
        </p:txBody>
      </p:sp>
      <p:sp>
        <p:nvSpPr>
          <p:cNvPr id="5" name="Footer Placeholder 4">
            <a:extLst>
              <a:ext uri="{FF2B5EF4-FFF2-40B4-BE49-F238E27FC236}">
                <a16:creationId xmlns:a16="http://schemas.microsoft.com/office/drawing/2014/main" id="{40803E65-83D3-354B-8CF1-A1C85FDB349A}"/>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587183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2">
                                            <p:txEl>
                                              <p:pRg st="6" end="6"/>
                                            </p:txEl>
                                          </p:spTgt>
                                        </p:tgtEl>
                                        <p:attrNameLst>
                                          <p:attrName>style.visibility</p:attrName>
                                        </p:attrNameLst>
                                      </p:cBhvr>
                                      <p:to>
                                        <p:strVal val="visible"/>
                                      </p:to>
                                    </p:set>
                                    <p:anim calcmode="lin" valueType="num">
                                      <p:cBhvr additive="base">
                                        <p:cTn id="43"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
                                            <p:txEl>
                                              <p:pRg st="7" end="7"/>
                                            </p:txEl>
                                          </p:spTgt>
                                        </p:tgtEl>
                                        <p:attrNameLst>
                                          <p:attrName>style.visibility</p:attrName>
                                        </p:attrNameLst>
                                      </p:cBhvr>
                                      <p:to>
                                        <p:strVal val="visible"/>
                                      </p:to>
                                    </p:set>
                                    <p:anim calcmode="lin" valueType="num">
                                      <p:cBhvr additive="base">
                                        <p:cTn id="49"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425458-3AC0-4977-A476-AD5A91A7871F}"/>
              </a:ext>
            </a:extLst>
          </p:cNvPr>
          <p:cNvSpPr txBox="1"/>
          <p:nvPr/>
        </p:nvSpPr>
        <p:spPr>
          <a:xfrm>
            <a:off x="838200" y="371187"/>
            <a:ext cx="10746850" cy="5985163"/>
          </a:xfrm>
          <a:prstGeom prst="rect">
            <a:avLst/>
          </a:prstGeom>
          <a:solidFill>
            <a:schemeClr val="accent2">
              <a:lumMod val="20000"/>
              <a:lumOff val="80000"/>
            </a:schemeClr>
          </a:solidFill>
        </p:spPr>
        <p:txBody>
          <a:bodyPr wrap="square" rtlCol="0">
            <a:spAutoFit/>
          </a:bodyPr>
          <a:lstStyle/>
          <a:p>
            <a:pPr marL="0" algn="r" defTabSz="914400" rtl="1" eaLnBrk="1" latinLnBrk="0" hangingPunct="1"/>
            <a:endParaRPr lang="en-US" sz="2400" dirty="0"/>
          </a:p>
        </p:txBody>
      </p:sp>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922866" y="371188"/>
            <a:ext cx="10430933" cy="5805776"/>
          </a:xfrm>
        </p:spPr>
        <p:txBody>
          <a:bodyPr>
            <a:normAutofit/>
          </a:bodyPr>
          <a:lstStyle/>
          <a:p>
            <a:pPr marL="0" indent="0" algn="l" defTabSz="914400" eaLnBrk="1" latinLnBrk="0" hangingPunct="1">
              <a:lnSpc>
                <a:spcPct val="150000"/>
              </a:lnSpc>
              <a:spcBef>
                <a:spcPts val="1000"/>
              </a:spcBef>
              <a:buFont typeface="Arial" panose="020B0604020202020204" pitchFamily="34" charset="0"/>
              <a:buNone/>
            </a:pPr>
            <a:r>
              <a:rPr lang="en-US" b="1" dirty="0"/>
              <a:t>What You Are Giving</a:t>
            </a:r>
          </a:p>
          <a:p>
            <a:pPr marL="514350" indent="-514350" algn="l" defTabSz="914400" eaLnBrk="1" latinLnBrk="0" hangingPunct="1">
              <a:lnSpc>
                <a:spcPct val="150000"/>
              </a:lnSpc>
              <a:spcBef>
                <a:spcPts val="1000"/>
              </a:spcBef>
              <a:buFont typeface="Arial" panose="020B0604020202020204" pitchFamily="34" charset="0"/>
              <a:buAutoNum type="arabicPeriod"/>
            </a:pPr>
            <a:r>
              <a:rPr lang="en-US" dirty="0"/>
              <a:t>Four assignments (groups of 2-4 members)</a:t>
            </a:r>
          </a:p>
          <a:p>
            <a:pPr lvl="1" algn="ctr">
              <a:lnSpc>
                <a:spcPct val="150000"/>
              </a:lnSpc>
              <a:spcBef>
                <a:spcPts val="1000"/>
              </a:spcBef>
            </a:pPr>
            <a:r>
              <a:rPr lang="en-US" b="1" dirty="0">
                <a:solidFill>
                  <a:schemeClr val="accent1"/>
                </a:solidFill>
              </a:rPr>
              <a:t>BI developers / analysts always work as a team! </a:t>
            </a:r>
          </a:p>
          <a:p>
            <a:pPr marL="514350" indent="-514350" algn="l" defTabSz="914400" eaLnBrk="1" latinLnBrk="0" hangingPunct="1">
              <a:lnSpc>
                <a:spcPct val="150000"/>
              </a:lnSpc>
              <a:spcBef>
                <a:spcPts val="1000"/>
              </a:spcBef>
              <a:buFont typeface="Arial" panose="020B0604020202020204" pitchFamily="34" charset="0"/>
              <a:buAutoNum type="arabicPeriod"/>
            </a:pPr>
            <a:r>
              <a:rPr lang="en-US"/>
              <a:t>Final project</a:t>
            </a:r>
            <a:endParaRPr lang="en-US" dirty="0"/>
          </a:p>
          <a:p>
            <a:pPr marL="514350" indent="-514350">
              <a:lnSpc>
                <a:spcPct val="150000"/>
              </a:lnSpc>
              <a:buFont typeface="Arial" panose="020B0604020202020204" pitchFamily="34" charset="0"/>
              <a:buAutoNum type="arabicPeriod"/>
            </a:pPr>
            <a:r>
              <a:rPr lang="en-US" dirty="0"/>
              <a:t>Class participation</a:t>
            </a:r>
          </a:p>
          <a:p>
            <a:pPr marL="514350" indent="-514350" algn="l" defTabSz="914400" eaLnBrk="1" latinLnBrk="0" hangingPunct="1">
              <a:lnSpc>
                <a:spcPct val="150000"/>
              </a:lnSpc>
              <a:spcBef>
                <a:spcPts val="1000"/>
              </a:spcBef>
              <a:buFont typeface="Arial" panose="020B0604020202020204" pitchFamily="34" charset="0"/>
              <a:buAutoNum type="arabicPeriod"/>
            </a:pPr>
            <a:r>
              <a:rPr lang="en-US" sz="3200" b="1" dirty="0"/>
              <a:t>Smiles and fun </a:t>
            </a:r>
            <a:r>
              <a:rPr lang="en-US" sz="3200" b="1" dirty="0">
                <a:sym typeface="Wingdings" pitchFamily="2" charset="2"/>
              </a:rPr>
              <a:t></a:t>
            </a:r>
            <a:endParaRPr lang="en-US" sz="3200" b="1" dirty="0"/>
          </a:p>
          <a:p>
            <a:pPr algn="l" defTabSz="914400" eaLnBrk="1" latinLnBrk="0" hangingPunct="1">
              <a:lnSpc>
                <a:spcPct val="150000"/>
              </a:lnSpc>
              <a:spcBef>
                <a:spcPts val="1000"/>
              </a:spcBef>
            </a:pPr>
            <a:endParaRPr lang="en-US" dirty="0"/>
          </a:p>
          <a:p>
            <a:pPr marL="514350" indent="-514350" algn="l" defTabSz="914400" eaLnBrk="1" latinLnBrk="0" hangingPunct="1">
              <a:lnSpc>
                <a:spcPct val="150000"/>
              </a:lnSpc>
              <a:spcBef>
                <a:spcPts val="1000"/>
              </a:spcBef>
              <a:buFont typeface="Arial" panose="020B0604020202020204" pitchFamily="34" charset="0"/>
              <a:buAutoNum type="arabicPeriod"/>
            </a:pPr>
            <a:endParaRPr lang="he-IL" dirty="0"/>
          </a:p>
        </p:txBody>
      </p:sp>
      <p:sp>
        <p:nvSpPr>
          <p:cNvPr id="5" name="Footer Placeholder 4">
            <a:extLst>
              <a:ext uri="{FF2B5EF4-FFF2-40B4-BE49-F238E27FC236}">
                <a16:creationId xmlns:a16="http://schemas.microsoft.com/office/drawing/2014/main" id="{40803E65-83D3-354B-8CF1-A1C85FDB349A}"/>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751749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5" end="5"/>
                                            </p:txEl>
                                          </p:spTgt>
                                        </p:tgtEl>
                                        <p:attrNameLst>
                                          <p:attrName>style.visibility</p:attrName>
                                        </p:attrNameLst>
                                      </p:cBhvr>
                                      <p:to>
                                        <p:strVal val="visible"/>
                                      </p:to>
                                    </p:set>
                                    <p:anim calcmode="lin" valueType="num">
                                      <p:cBhvr additive="base">
                                        <p:cTn id="3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F07A-A6B2-4AA3-9FB3-FF93725B9B74}"/>
              </a:ext>
            </a:extLst>
          </p:cNvPr>
          <p:cNvSpPr>
            <a:spLocks noGrp="1"/>
          </p:cNvSpPr>
          <p:nvPr>
            <p:ph type="ctrTitle"/>
          </p:nvPr>
        </p:nvSpPr>
        <p:spPr>
          <a:xfrm>
            <a:off x="211666" y="1202003"/>
            <a:ext cx="11768667" cy="2602970"/>
          </a:xfrm>
        </p:spPr>
        <p:txBody>
          <a:bodyPr>
            <a:normAutofit/>
          </a:bodyPr>
          <a:lstStyle/>
          <a:p>
            <a:pPr algn="ctr" defTabSz="914400" rtl="0" eaLnBrk="1" latinLnBrk="0" hangingPunct="1">
              <a:lnSpc>
                <a:spcPct val="90000"/>
              </a:lnSpc>
              <a:spcBef>
                <a:spcPct val="0"/>
              </a:spcBef>
              <a:buNone/>
            </a:pPr>
            <a:r>
              <a:rPr lang="en-IL" sz="7200" u="sng" dirty="0">
                <a:cs typeface="+mn-cs"/>
              </a:rPr>
              <a:t>Ready? </a:t>
            </a:r>
          </a:p>
        </p:txBody>
      </p:sp>
      <p:sp>
        <p:nvSpPr>
          <p:cNvPr id="5" name="Footer Placeholder 4">
            <a:extLst>
              <a:ext uri="{FF2B5EF4-FFF2-40B4-BE49-F238E27FC236}">
                <a16:creationId xmlns:a16="http://schemas.microsoft.com/office/drawing/2014/main" id="{B708135C-5A11-DB47-A5FC-BE38DE9D9770}"/>
              </a:ext>
            </a:extLst>
          </p:cNvPr>
          <p:cNvSpPr>
            <a:spLocks noGrp="1"/>
          </p:cNvSpPr>
          <p:nvPr>
            <p:ph type="ftr" sz="quarter" idx="11"/>
          </p:nvPr>
        </p:nvSpPr>
        <p:spPr/>
        <p:txBody>
          <a:bodyPr/>
          <a:lstStyle/>
          <a:p>
            <a:r>
              <a:rPr lang="en-US" dirty="0"/>
              <a:t>Or </a:t>
            </a:r>
            <a:r>
              <a:rPr lang="en-US" dirty="0" err="1"/>
              <a:t>Peretz</a:t>
            </a:r>
            <a:endParaRPr lang="en-US" dirty="0"/>
          </a:p>
        </p:txBody>
      </p:sp>
    </p:spTree>
    <p:extLst>
      <p:ext uri="{BB962C8B-B14F-4D97-AF65-F5344CB8AC3E}">
        <p14:creationId xmlns:p14="http://schemas.microsoft.com/office/powerpoint/2010/main" val="2116257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Introduction</a:t>
            </a:r>
          </a:p>
          <a:p>
            <a:pPr>
              <a:lnSpc>
                <a:spcPct val="150000"/>
              </a:lnSpc>
            </a:pPr>
            <a:r>
              <a:rPr lang="en-US" sz="2400" dirty="0"/>
              <a:t>Business Intelligence (BI) is a set of ideas, methodologies, processes, architectures, and technologies </a:t>
            </a:r>
            <a:r>
              <a:rPr lang="en-US" sz="2400" b="1" dirty="0"/>
              <a:t>that change raw data into significant and useful data for business purpose</a:t>
            </a:r>
            <a:r>
              <a:rPr lang="en-US" sz="2400" dirty="0"/>
              <a:t>. </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utoShape 2" descr="What are Data Insights: Definition &amp;amp; Best Practices.">
            <a:extLst>
              <a:ext uri="{FF2B5EF4-FFF2-40B4-BE49-F238E27FC236}">
                <a16:creationId xmlns:a16="http://schemas.microsoft.com/office/drawing/2014/main" id="{549CE980-DFD1-F145-934F-C02200CF3EB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6" name="AutoShape 4" descr="What are Data Insights: Definition &amp;amp; Best Practices.">
            <a:extLst>
              <a:ext uri="{FF2B5EF4-FFF2-40B4-BE49-F238E27FC236}">
                <a16:creationId xmlns:a16="http://schemas.microsoft.com/office/drawing/2014/main" id="{DC2C0E07-2847-8540-9F80-880120B2FBD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pic>
        <p:nvPicPr>
          <p:cNvPr id="7" name="Graphic 6">
            <a:extLst>
              <a:ext uri="{FF2B5EF4-FFF2-40B4-BE49-F238E27FC236}">
                <a16:creationId xmlns:a16="http://schemas.microsoft.com/office/drawing/2014/main" id="{1EFBD82E-732C-5244-9643-C2EC2627AC7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992842" y="2392274"/>
            <a:ext cx="7668684" cy="3369664"/>
          </a:xfrm>
          <a:prstGeom prst="rect">
            <a:avLst/>
          </a:prstGeom>
        </p:spPr>
      </p:pic>
    </p:spTree>
    <p:extLst>
      <p:ext uri="{BB962C8B-B14F-4D97-AF65-F5344CB8AC3E}">
        <p14:creationId xmlns:p14="http://schemas.microsoft.com/office/powerpoint/2010/main" val="4247660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Introduction</a:t>
            </a:r>
            <a:endParaRPr lang="he-IL" sz="3200" b="1" dirty="0"/>
          </a:p>
          <a:p>
            <a:pPr>
              <a:lnSpc>
                <a:spcPct val="150000"/>
              </a:lnSpc>
            </a:pPr>
            <a:r>
              <a:rPr lang="en-US" sz="2400" b="1" dirty="0"/>
              <a:t>Benefits</a:t>
            </a:r>
            <a:r>
              <a:rPr lang="en-US" sz="2400" dirty="0"/>
              <a:t>:</a:t>
            </a:r>
            <a:endParaRPr lang="he-IL" sz="2400" dirty="0"/>
          </a:p>
          <a:p>
            <a:pPr marL="342900" indent="-342900">
              <a:lnSpc>
                <a:spcPct val="150000"/>
              </a:lnSpc>
              <a:buFontTx/>
              <a:buChar char="-"/>
            </a:pPr>
            <a:r>
              <a:rPr lang="en-US" sz="2400" dirty="0"/>
              <a:t>Can handle large amounts of data to help identify and evolve </a:t>
            </a:r>
            <a:r>
              <a:rPr lang="en-US" sz="2400" dirty="0">
                <a:solidFill>
                  <a:srgbClr val="FF0000"/>
                </a:solidFill>
              </a:rPr>
              <a:t>new opportunities</a:t>
            </a:r>
            <a:r>
              <a:rPr lang="en-US" sz="2400" dirty="0"/>
              <a:t>.</a:t>
            </a:r>
          </a:p>
          <a:p>
            <a:pPr marL="342900" indent="-342900">
              <a:lnSpc>
                <a:spcPct val="150000"/>
              </a:lnSpc>
              <a:buFontTx/>
              <a:buChar char="-"/>
            </a:pPr>
            <a:r>
              <a:rPr lang="en-US" sz="2400" dirty="0"/>
              <a:t>Making use of these </a:t>
            </a:r>
            <a:r>
              <a:rPr lang="en-US" sz="2400" dirty="0">
                <a:solidFill>
                  <a:srgbClr val="FF0000"/>
                </a:solidFill>
              </a:rPr>
              <a:t>new opportunities </a:t>
            </a:r>
            <a:r>
              <a:rPr lang="en-US" sz="2400" dirty="0"/>
              <a:t>and applying a productive scheme.</a:t>
            </a:r>
          </a:p>
          <a:p>
            <a:pPr marL="342900" indent="-342900">
              <a:lnSpc>
                <a:spcPct val="150000"/>
              </a:lnSpc>
              <a:buFontTx/>
              <a:buChar char="-"/>
            </a:pPr>
            <a:r>
              <a:rPr lang="en-US" sz="2400" dirty="0"/>
              <a:t>Provide a comparable market benefit and long-term stability.</a:t>
            </a:r>
            <a:endParaRPr lang="he-IL" sz="2400" dirty="0"/>
          </a:p>
          <a:p>
            <a:pPr>
              <a:lnSpc>
                <a:spcPct val="150000"/>
              </a:lnSpc>
            </a:pPr>
            <a:endParaRPr lang="en-US" sz="2400" dirty="0"/>
          </a:p>
          <a:p>
            <a:pPr algn="ctr">
              <a:lnSpc>
                <a:spcPct val="150000"/>
              </a:lnSpc>
            </a:pPr>
            <a:r>
              <a:rPr lang="en-US" b="1" dirty="0"/>
              <a:t>Use the technology as a tool!</a:t>
            </a:r>
          </a:p>
          <a:p>
            <a:pPr algn="ctr">
              <a:lnSpc>
                <a:spcPct val="150000"/>
              </a:lnSpc>
            </a:pPr>
            <a:endParaRPr lang="en-US" sz="3200" b="1" dirty="0"/>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AutoShape 2" descr="What are Data Insights: Definition &amp;amp; Best Practices.">
            <a:extLst>
              <a:ext uri="{FF2B5EF4-FFF2-40B4-BE49-F238E27FC236}">
                <a16:creationId xmlns:a16="http://schemas.microsoft.com/office/drawing/2014/main" id="{549CE980-DFD1-F145-934F-C02200CF3EB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
        <p:nvSpPr>
          <p:cNvPr id="6" name="AutoShape 4" descr="What are Data Insights: Definition &amp;amp; Best Practices.">
            <a:extLst>
              <a:ext uri="{FF2B5EF4-FFF2-40B4-BE49-F238E27FC236}">
                <a16:creationId xmlns:a16="http://schemas.microsoft.com/office/drawing/2014/main" id="{DC2C0E07-2847-8540-9F80-880120B2FBD4}"/>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L"/>
          </a:p>
        </p:txBody>
      </p:sp>
    </p:spTree>
    <p:extLst>
      <p:ext uri="{BB962C8B-B14F-4D97-AF65-F5344CB8AC3E}">
        <p14:creationId xmlns:p14="http://schemas.microsoft.com/office/powerpoint/2010/main" val="961451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 calcmode="lin" valueType="num">
                                      <p:cBhvr additive="base">
                                        <p:cTn id="37"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a:t>
            </a:r>
          </a:p>
          <a:p>
            <a:pPr>
              <a:lnSpc>
                <a:spcPct val="150000"/>
              </a:lnSpc>
            </a:pPr>
            <a:r>
              <a:rPr lang="en-US" sz="2400" dirty="0"/>
              <a:t>Suppose we have company data of 3-6 months. Assume that we have candles product. We have three kinds of candles in this class say Candle A, Candle B, Candle C. </a:t>
            </a:r>
          </a:p>
          <a:p>
            <a:pPr>
              <a:lnSpc>
                <a:spcPct val="150000"/>
              </a:lnSpc>
            </a:pPr>
            <a:endParaRPr lang="en-US" sz="2400" dirty="0"/>
          </a:p>
          <a:p>
            <a:pPr>
              <a:lnSpc>
                <a:spcPct val="150000"/>
              </a:lnSpc>
            </a:pPr>
            <a:endParaRPr lang="en-US" sz="2400" dirty="0"/>
          </a:p>
          <a:p>
            <a:pPr>
              <a:lnSpc>
                <a:spcPct val="150000"/>
              </a:lnSpc>
            </a:pPr>
            <a:endParaRPr lang="en-US" sz="2400" dirty="0"/>
          </a:p>
          <a:p>
            <a:pPr>
              <a:lnSpc>
                <a:spcPct val="150000"/>
              </a:lnSpc>
            </a:pPr>
            <a:r>
              <a:rPr lang="en-US" sz="2400" dirty="0"/>
              <a:t>On studying the data we come to know that sale of candle C was at peak out of these three classes, and the sale was maximum between the time intervals of 9 am to 11 am.</a:t>
            </a:r>
          </a:p>
          <a:p>
            <a:pP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Free icon &amp;quot;Candle icon&amp;quot;">
            <a:extLst>
              <a:ext uri="{FF2B5EF4-FFF2-40B4-BE49-F238E27FC236}">
                <a16:creationId xmlns:a16="http://schemas.microsoft.com/office/drawing/2014/main" id="{9D1A468B-3DF7-8843-8164-2F36AB4A18A9}"/>
              </a:ext>
            </a:extLst>
          </p:cNvPr>
          <p:cNvPicPr>
            <a:picLocks noChangeAspect="1"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398558" y="2438930"/>
            <a:ext cx="1615016" cy="161501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Free icon &amp;quot;Candle icon&amp;quot;">
            <a:extLst>
              <a:ext uri="{FF2B5EF4-FFF2-40B4-BE49-F238E27FC236}">
                <a16:creationId xmlns:a16="http://schemas.microsoft.com/office/drawing/2014/main" id="{073A4292-A0AC-0C4A-B793-E78CC699154E}"/>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45892" y="2438930"/>
            <a:ext cx="1615016" cy="1615016"/>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2" descr="Free icon &amp;quot;Candle icon&amp;quot;">
            <a:extLst>
              <a:ext uri="{FF2B5EF4-FFF2-40B4-BE49-F238E27FC236}">
                <a16:creationId xmlns:a16="http://schemas.microsoft.com/office/drawing/2014/main" id="{AC1159E6-5524-9149-8306-FFDB8A88B4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5093" y="2438930"/>
            <a:ext cx="1615016" cy="1615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0384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Example</a:t>
            </a:r>
          </a:p>
          <a:p>
            <a:pPr>
              <a:lnSpc>
                <a:spcPct val="150000"/>
              </a:lnSpc>
            </a:pPr>
            <a:r>
              <a:rPr lang="en-US" sz="2400" dirty="0"/>
              <a:t>Now, let’s apply Business Intelligence for this analysis</a:t>
            </a:r>
            <a:r>
              <a:rPr lang="en-US" sz="2400" b="1" dirty="0"/>
              <a:t>. </a:t>
            </a:r>
          </a:p>
          <a:p>
            <a:pPr algn="ctr">
              <a:lnSpc>
                <a:spcPct val="150000"/>
              </a:lnSpc>
            </a:pPr>
            <a:r>
              <a:rPr lang="en-US" sz="2400" b="1" dirty="0"/>
              <a:t>What the organization can do? </a:t>
            </a:r>
            <a:endParaRPr lang="en-US" sz="2400" dirty="0"/>
          </a:p>
          <a:p>
            <a:pPr marL="342900" indent="-342900">
              <a:lnSpc>
                <a:spcPct val="150000"/>
              </a:lnSpc>
              <a:buFontTx/>
              <a:buChar char="-"/>
            </a:pPr>
            <a:r>
              <a:rPr lang="en-US" sz="2400" dirty="0"/>
              <a:t>Get other material that can be used in church and place them nearby those candles. </a:t>
            </a:r>
          </a:p>
          <a:p>
            <a:pPr marL="342900" indent="-342900">
              <a:lnSpc>
                <a:spcPct val="150000"/>
              </a:lnSpc>
              <a:buFontTx/>
              <a:buChar char="-"/>
            </a:pPr>
            <a:r>
              <a:rPr lang="en-US" sz="2400" dirty="0"/>
              <a:t>Enhance the sales</a:t>
            </a:r>
          </a:p>
          <a:p>
            <a:pPr marL="342900" indent="-342900">
              <a:lnSpc>
                <a:spcPct val="150000"/>
              </a:lnSpc>
              <a:buFontTx/>
              <a:buChar char="-"/>
            </a:pPr>
            <a:r>
              <a:rPr lang="en-US" sz="2400" dirty="0"/>
              <a:t>Enhance the income</a:t>
            </a:r>
          </a:p>
          <a:p>
            <a:pPr marL="342900" indent="-342900">
              <a:lnSpc>
                <a:spcPct val="150000"/>
              </a:lnSpc>
              <a:buFontTx/>
              <a:buChar char="-"/>
            </a:pPr>
            <a:r>
              <a:rPr lang="en-US" sz="2400" dirty="0"/>
              <a:t>May help customers to find other relative products</a:t>
            </a:r>
          </a:p>
          <a:p>
            <a:pPr>
              <a:lnSpc>
                <a:spcPct val="150000"/>
              </a:lnSpc>
            </a:pPr>
            <a:endParaRPr lang="en-US" sz="2400" dirty="0"/>
          </a:p>
          <a:p>
            <a:pPr>
              <a:lnSpc>
                <a:spcPct val="150000"/>
              </a:lnSpc>
            </a:pPr>
            <a:endParaRPr lang="en-US" sz="2400" dirty="0"/>
          </a:p>
          <a:p>
            <a:pP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734644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a:t>
            </a:r>
            <a:endParaRPr lang="en-US" b="1" dirty="0"/>
          </a:p>
          <a:p>
            <a:pPr>
              <a:lnSpc>
                <a:spcPct val="200000"/>
              </a:lnSpc>
            </a:pPr>
            <a:r>
              <a:rPr lang="en-US" sz="2400" b="1" u="sng" dirty="0"/>
              <a:t>Data</a:t>
            </a:r>
            <a:r>
              <a:rPr lang="en-US" sz="2400" dirty="0"/>
              <a:t> - raw facts that describe the characteristics of an event or object</a:t>
            </a:r>
          </a:p>
          <a:p>
            <a:endParaRPr lang="en-US" dirty="0"/>
          </a:p>
          <a:p>
            <a:endParaRPr lang="en-US" dirty="0"/>
          </a:p>
          <a:p>
            <a:endParaRPr lang="en-US" dirty="0"/>
          </a:p>
          <a:p>
            <a:endParaRPr lang="en-US" dirty="0"/>
          </a:p>
          <a:p>
            <a:r>
              <a:rPr lang="en-US" dirty="0"/>
              <a:t> </a:t>
            </a:r>
            <a:endParaRPr lang="en-US" sz="2400" dirty="0"/>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7" name="Table 7">
            <a:extLst>
              <a:ext uri="{FF2B5EF4-FFF2-40B4-BE49-F238E27FC236}">
                <a16:creationId xmlns:a16="http://schemas.microsoft.com/office/drawing/2014/main" id="{666200D6-CFFE-8D4B-B056-5C97544D46EA}"/>
              </a:ext>
            </a:extLst>
          </p:cNvPr>
          <p:cNvGraphicFramePr>
            <a:graphicFrameLocks noGrp="1"/>
          </p:cNvGraphicFramePr>
          <p:nvPr/>
        </p:nvGraphicFramePr>
        <p:xfrm>
          <a:off x="2142066" y="2420049"/>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843549567"/>
                    </a:ext>
                  </a:extLst>
                </a:gridCol>
                <a:gridCol w="2032000">
                  <a:extLst>
                    <a:ext uri="{9D8B030D-6E8A-4147-A177-3AD203B41FA5}">
                      <a16:colId xmlns:a16="http://schemas.microsoft.com/office/drawing/2014/main" val="380519187"/>
                    </a:ext>
                  </a:extLst>
                </a:gridCol>
                <a:gridCol w="2032000">
                  <a:extLst>
                    <a:ext uri="{9D8B030D-6E8A-4147-A177-3AD203B41FA5}">
                      <a16:colId xmlns:a16="http://schemas.microsoft.com/office/drawing/2014/main" val="2619201374"/>
                    </a:ext>
                  </a:extLst>
                </a:gridCol>
                <a:gridCol w="2032000">
                  <a:extLst>
                    <a:ext uri="{9D8B030D-6E8A-4147-A177-3AD203B41FA5}">
                      <a16:colId xmlns:a16="http://schemas.microsoft.com/office/drawing/2014/main" val="520740714"/>
                    </a:ext>
                  </a:extLst>
                </a:gridCol>
              </a:tblGrid>
              <a:tr h="370840">
                <a:tc>
                  <a:txBody>
                    <a:bodyPr/>
                    <a:lstStyle/>
                    <a:p>
                      <a:r>
                        <a:rPr lang="en-IL" dirty="0"/>
                        <a:t>StudentID</a:t>
                      </a:r>
                    </a:p>
                  </a:txBody>
                  <a:tcPr/>
                </a:tc>
                <a:tc>
                  <a:txBody>
                    <a:bodyPr/>
                    <a:lstStyle/>
                    <a:p>
                      <a:r>
                        <a:rPr lang="en-IL" dirty="0"/>
                        <a:t>Name</a:t>
                      </a:r>
                    </a:p>
                  </a:txBody>
                  <a:tcPr/>
                </a:tc>
                <a:tc>
                  <a:txBody>
                    <a:bodyPr/>
                    <a:lstStyle/>
                    <a:p>
                      <a:r>
                        <a:rPr lang="en-IL" dirty="0"/>
                        <a:t>Credit</a:t>
                      </a:r>
                    </a:p>
                  </a:txBody>
                  <a:tcPr/>
                </a:tc>
                <a:tc>
                  <a:txBody>
                    <a:bodyPr/>
                    <a:lstStyle/>
                    <a:p>
                      <a:r>
                        <a:rPr lang="en-IL" dirty="0"/>
                        <a:t>GPA</a:t>
                      </a:r>
                    </a:p>
                  </a:txBody>
                  <a:tcPr/>
                </a:tc>
                <a:extLst>
                  <a:ext uri="{0D108BD9-81ED-4DB2-BD59-A6C34878D82A}">
                    <a16:rowId xmlns:a16="http://schemas.microsoft.com/office/drawing/2014/main" val="2465615231"/>
                  </a:ext>
                </a:extLst>
              </a:tr>
              <a:tr h="370840">
                <a:tc>
                  <a:txBody>
                    <a:bodyPr/>
                    <a:lstStyle/>
                    <a:p>
                      <a:r>
                        <a:rPr lang="en-IL" dirty="0"/>
                        <a:t>42271</a:t>
                      </a:r>
                    </a:p>
                  </a:txBody>
                  <a:tcPr/>
                </a:tc>
                <a:tc>
                  <a:txBody>
                    <a:bodyPr/>
                    <a:lstStyle/>
                    <a:p>
                      <a:r>
                        <a:rPr lang="en-IL" dirty="0"/>
                        <a:t>Ross</a:t>
                      </a:r>
                    </a:p>
                  </a:txBody>
                  <a:tcPr/>
                </a:tc>
                <a:tc>
                  <a:txBody>
                    <a:bodyPr/>
                    <a:lstStyle/>
                    <a:p>
                      <a:r>
                        <a:rPr lang="en-IL" dirty="0"/>
                        <a:t>77</a:t>
                      </a:r>
                    </a:p>
                  </a:txBody>
                  <a:tcPr/>
                </a:tc>
                <a:tc>
                  <a:txBody>
                    <a:bodyPr/>
                    <a:lstStyle/>
                    <a:p>
                      <a:r>
                        <a:rPr lang="en-IL" dirty="0"/>
                        <a:t>2.96</a:t>
                      </a:r>
                    </a:p>
                  </a:txBody>
                  <a:tcPr/>
                </a:tc>
                <a:extLst>
                  <a:ext uri="{0D108BD9-81ED-4DB2-BD59-A6C34878D82A}">
                    <a16:rowId xmlns:a16="http://schemas.microsoft.com/office/drawing/2014/main" val="2059089695"/>
                  </a:ext>
                </a:extLst>
              </a:tr>
              <a:tr h="370840">
                <a:tc>
                  <a:txBody>
                    <a:bodyPr/>
                    <a:lstStyle/>
                    <a:p>
                      <a:r>
                        <a:rPr lang="en-IL" dirty="0"/>
                        <a:t>65655</a:t>
                      </a:r>
                    </a:p>
                  </a:txBody>
                  <a:tcPr/>
                </a:tc>
                <a:tc>
                  <a:txBody>
                    <a:bodyPr/>
                    <a:lstStyle/>
                    <a:p>
                      <a:r>
                        <a:rPr lang="en-IL" dirty="0"/>
                        <a:t>Rachel</a:t>
                      </a:r>
                    </a:p>
                  </a:txBody>
                  <a:tcPr/>
                </a:tc>
                <a:tc>
                  <a:txBody>
                    <a:bodyPr/>
                    <a:lstStyle/>
                    <a:p>
                      <a:r>
                        <a:rPr lang="en-IL" dirty="0"/>
                        <a:t>43</a:t>
                      </a:r>
                    </a:p>
                  </a:txBody>
                  <a:tcPr/>
                </a:tc>
                <a:tc>
                  <a:txBody>
                    <a:bodyPr/>
                    <a:lstStyle/>
                    <a:p>
                      <a:r>
                        <a:rPr lang="en-IL" dirty="0"/>
                        <a:t>2.34</a:t>
                      </a:r>
                    </a:p>
                  </a:txBody>
                  <a:tcPr/>
                </a:tc>
                <a:extLst>
                  <a:ext uri="{0D108BD9-81ED-4DB2-BD59-A6C34878D82A}">
                    <a16:rowId xmlns:a16="http://schemas.microsoft.com/office/drawing/2014/main" val="1278914588"/>
                  </a:ext>
                </a:extLst>
              </a:tr>
              <a:tr h="370840">
                <a:tc>
                  <a:txBody>
                    <a:bodyPr/>
                    <a:lstStyle/>
                    <a:p>
                      <a:r>
                        <a:rPr lang="en-IL" dirty="0"/>
                        <a:t>44311</a:t>
                      </a:r>
                    </a:p>
                  </a:txBody>
                  <a:tcPr/>
                </a:tc>
                <a:tc>
                  <a:txBody>
                    <a:bodyPr/>
                    <a:lstStyle/>
                    <a:p>
                      <a:r>
                        <a:rPr lang="en-IL" dirty="0"/>
                        <a:t>Monica</a:t>
                      </a:r>
                    </a:p>
                  </a:txBody>
                  <a:tcPr/>
                </a:tc>
                <a:tc>
                  <a:txBody>
                    <a:bodyPr/>
                    <a:lstStyle/>
                    <a:p>
                      <a:r>
                        <a:rPr lang="en-IL" dirty="0"/>
                        <a:t>65</a:t>
                      </a:r>
                    </a:p>
                  </a:txBody>
                  <a:tcPr/>
                </a:tc>
                <a:tc>
                  <a:txBody>
                    <a:bodyPr/>
                    <a:lstStyle/>
                    <a:p>
                      <a:r>
                        <a:rPr lang="en-IL" dirty="0"/>
                        <a:t>3.14</a:t>
                      </a:r>
                    </a:p>
                  </a:txBody>
                  <a:tcPr/>
                </a:tc>
                <a:extLst>
                  <a:ext uri="{0D108BD9-81ED-4DB2-BD59-A6C34878D82A}">
                    <a16:rowId xmlns:a16="http://schemas.microsoft.com/office/drawing/2014/main" val="4104828506"/>
                  </a:ext>
                </a:extLst>
              </a:tr>
              <a:tr h="370840">
                <a:tc>
                  <a:txBody>
                    <a:bodyPr/>
                    <a:lstStyle/>
                    <a:p>
                      <a:r>
                        <a:rPr lang="en-IL" dirty="0"/>
                        <a:t>72313</a:t>
                      </a:r>
                    </a:p>
                  </a:txBody>
                  <a:tcPr/>
                </a:tc>
                <a:tc>
                  <a:txBody>
                    <a:bodyPr/>
                    <a:lstStyle/>
                    <a:p>
                      <a:r>
                        <a:rPr lang="en-IL" dirty="0"/>
                        <a:t>Chandler</a:t>
                      </a:r>
                    </a:p>
                  </a:txBody>
                  <a:tcPr/>
                </a:tc>
                <a:tc>
                  <a:txBody>
                    <a:bodyPr/>
                    <a:lstStyle/>
                    <a:p>
                      <a:r>
                        <a:rPr lang="en-IL" dirty="0"/>
                        <a:t>56</a:t>
                      </a:r>
                    </a:p>
                  </a:txBody>
                  <a:tcPr/>
                </a:tc>
                <a:tc>
                  <a:txBody>
                    <a:bodyPr/>
                    <a:lstStyle/>
                    <a:p>
                      <a:r>
                        <a:rPr lang="en-IL" dirty="0"/>
                        <a:t>3.81</a:t>
                      </a:r>
                    </a:p>
                  </a:txBody>
                  <a:tcPr/>
                </a:tc>
                <a:extLst>
                  <a:ext uri="{0D108BD9-81ED-4DB2-BD59-A6C34878D82A}">
                    <a16:rowId xmlns:a16="http://schemas.microsoft.com/office/drawing/2014/main" val="2229793041"/>
                  </a:ext>
                </a:extLst>
              </a:tr>
              <a:tr h="370840">
                <a:tc>
                  <a:txBody>
                    <a:bodyPr/>
                    <a:lstStyle/>
                    <a:p>
                      <a:r>
                        <a:rPr lang="en-IL" dirty="0"/>
                        <a:t>63223</a:t>
                      </a:r>
                    </a:p>
                  </a:txBody>
                  <a:tcPr/>
                </a:tc>
                <a:tc>
                  <a:txBody>
                    <a:bodyPr/>
                    <a:lstStyle/>
                    <a:p>
                      <a:r>
                        <a:rPr lang="en-IL" dirty="0"/>
                        <a:t>Joey</a:t>
                      </a:r>
                    </a:p>
                  </a:txBody>
                  <a:tcPr/>
                </a:tc>
                <a:tc>
                  <a:txBody>
                    <a:bodyPr/>
                    <a:lstStyle/>
                    <a:p>
                      <a:r>
                        <a:rPr lang="en-IL" dirty="0"/>
                        <a:t>44</a:t>
                      </a:r>
                    </a:p>
                  </a:txBody>
                  <a:tcPr/>
                </a:tc>
                <a:tc>
                  <a:txBody>
                    <a:bodyPr/>
                    <a:lstStyle/>
                    <a:p>
                      <a:r>
                        <a:rPr lang="en-IL" dirty="0"/>
                        <a:t>2.98</a:t>
                      </a:r>
                    </a:p>
                  </a:txBody>
                  <a:tcPr/>
                </a:tc>
                <a:extLst>
                  <a:ext uri="{0D108BD9-81ED-4DB2-BD59-A6C34878D82A}">
                    <a16:rowId xmlns:a16="http://schemas.microsoft.com/office/drawing/2014/main" val="1476393268"/>
                  </a:ext>
                </a:extLst>
              </a:tr>
            </a:tbl>
          </a:graphicData>
        </a:graphic>
      </p:graphicFrame>
    </p:spTree>
    <p:extLst>
      <p:ext uri="{BB962C8B-B14F-4D97-AF65-F5344CB8AC3E}">
        <p14:creationId xmlns:p14="http://schemas.microsoft.com/office/powerpoint/2010/main" val="3381672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a:t>
            </a:r>
          </a:p>
          <a:p>
            <a:pPr>
              <a:lnSpc>
                <a:spcPct val="150000"/>
              </a:lnSpc>
            </a:pPr>
            <a:r>
              <a:rPr lang="en-US" sz="2400" b="1" u="sng" dirty="0"/>
              <a:t>Information</a:t>
            </a:r>
            <a:r>
              <a:rPr lang="en-US" sz="2400" dirty="0"/>
              <a:t> – data converted into a meaningful insights</a:t>
            </a:r>
          </a:p>
          <a:p>
            <a:pPr>
              <a:lnSpc>
                <a:spcPct val="150000"/>
              </a:lnSpc>
            </a:pPr>
            <a:r>
              <a:rPr lang="en-US" sz="2400" b="1" u="sng" dirty="0"/>
              <a:t>Knowledge</a:t>
            </a:r>
            <a:r>
              <a:rPr lang="en-US" sz="2400" dirty="0"/>
              <a:t> – the skills and experience coupled with information and intelligence, that creates a person’s intellectual resources.</a:t>
            </a:r>
          </a:p>
          <a:p>
            <a:endParaRPr lang="en-US" sz="2400" dirty="0"/>
          </a:p>
          <a:p>
            <a:r>
              <a:rPr lang="en-US" dirty="0"/>
              <a:t> </a:t>
            </a:r>
            <a:endParaRPr lang="en-US" sz="2400" dirty="0"/>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7" name="Rounded Rectangle 6">
            <a:extLst>
              <a:ext uri="{FF2B5EF4-FFF2-40B4-BE49-F238E27FC236}">
                <a16:creationId xmlns:a16="http://schemas.microsoft.com/office/drawing/2014/main" id="{B624F8FF-1EA1-E649-9876-0D0595A93E6A}"/>
              </a:ext>
            </a:extLst>
          </p:cNvPr>
          <p:cNvSpPr/>
          <p:nvPr/>
        </p:nvSpPr>
        <p:spPr>
          <a:xfrm>
            <a:off x="2937933" y="3115734"/>
            <a:ext cx="2633134" cy="50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Raw Data</a:t>
            </a:r>
          </a:p>
        </p:txBody>
      </p:sp>
      <p:sp>
        <p:nvSpPr>
          <p:cNvPr id="8" name="Rounded Rectangle 7">
            <a:extLst>
              <a:ext uri="{FF2B5EF4-FFF2-40B4-BE49-F238E27FC236}">
                <a16:creationId xmlns:a16="http://schemas.microsoft.com/office/drawing/2014/main" id="{A8A5B7A8-150C-024A-957D-5B1BAD88995D}"/>
              </a:ext>
            </a:extLst>
          </p:cNvPr>
          <p:cNvSpPr/>
          <p:nvPr/>
        </p:nvSpPr>
        <p:spPr>
          <a:xfrm>
            <a:off x="2937933" y="4116002"/>
            <a:ext cx="2633134" cy="50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Context</a:t>
            </a:r>
          </a:p>
        </p:txBody>
      </p:sp>
      <p:sp>
        <p:nvSpPr>
          <p:cNvPr id="9" name="Rounded Rectangle 8">
            <a:extLst>
              <a:ext uri="{FF2B5EF4-FFF2-40B4-BE49-F238E27FC236}">
                <a16:creationId xmlns:a16="http://schemas.microsoft.com/office/drawing/2014/main" id="{0ECF1D90-4C3E-2A4C-A865-D9E20FC8FFA9}"/>
              </a:ext>
            </a:extLst>
          </p:cNvPr>
          <p:cNvSpPr/>
          <p:nvPr/>
        </p:nvSpPr>
        <p:spPr>
          <a:xfrm>
            <a:off x="2937933" y="5167214"/>
            <a:ext cx="2633134" cy="50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Information</a:t>
            </a:r>
          </a:p>
        </p:txBody>
      </p:sp>
      <p:cxnSp>
        <p:nvCxnSpPr>
          <p:cNvPr id="11" name="Straight Arrow Connector 10">
            <a:extLst>
              <a:ext uri="{FF2B5EF4-FFF2-40B4-BE49-F238E27FC236}">
                <a16:creationId xmlns:a16="http://schemas.microsoft.com/office/drawing/2014/main" id="{121485F5-2084-2642-9E1B-1F4C233D424D}"/>
              </a:ext>
            </a:extLst>
          </p:cNvPr>
          <p:cNvCxnSpPr>
            <a:stCxn id="7" idx="2"/>
            <a:endCxn id="8" idx="0"/>
          </p:cNvCxnSpPr>
          <p:nvPr/>
        </p:nvCxnSpPr>
        <p:spPr>
          <a:xfrm>
            <a:off x="4254500" y="3623734"/>
            <a:ext cx="0" cy="492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9BBB1F3D-1226-9649-ACD1-06B6C9A8457A}"/>
              </a:ext>
            </a:extLst>
          </p:cNvPr>
          <p:cNvCxnSpPr>
            <a:stCxn id="8" idx="2"/>
            <a:endCxn id="9" idx="0"/>
          </p:cNvCxnSpPr>
          <p:nvPr/>
        </p:nvCxnSpPr>
        <p:spPr>
          <a:xfrm>
            <a:off x="4254500" y="4624002"/>
            <a:ext cx="0" cy="5432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10CBD422-1CE4-3943-AFED-EB5EC3EFF821}"/>
              </a:ext>
            </a:extLst>
          </p:cNvPr>
          <p:cNvSpPr/>
          <p:nvPr/>
        </p:nvSpPr>
        <p:spPr>
          <a:xfrm>
            <a:off x="6350000" y="3115734"/>
            <a:ext cx="2633134" cy="508000"/>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51,77,58,82,64,70</a:t>
            </a:r>
          </a:p>
        </p:txBody>
      </p:sp>
      <p:sp>
        <p:nvSpPr>
          <p:cNvPr id="17" name="Rounded Rectangle 16">
            <a:extLst>
              <a:ext uri="{FF2B5EF4-FFF2-40B4-BE49-F238E27FC236}">
                <a16:creationId xmlns:a16="http://schemas.microsoft.com/office/drawing/2014/main" id="{55C3C3CC-0FA5-FD4D-ADD5-6302210071C5}"/>
              </a:ext>
            </a:extLst>
          </p:cNvPr>
          <p:cNvSpPr/>
          <p:nvPr/>
        </p:nvSpPr>
        <p:spPr>
          <a:xfrm>
            <a:off x="6349999" y="4116002"/>
            <a:ext cx="3488267" cy="508000"/>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Test scores achieved by students</a:t>
            </a:r>
          </a:p>
        </p:txBody>
      </p:sp>
      <p:sp>
        <p:nvSpPr>
          <p:cNvPr id="18" name="Rounded Rectangle 17">
            <a:extLst>
              <a:ext uri="{FF2B5EF4-FFF2-40B4-BE49-F238E27FC236}">
                <a16:creationId xmlns:a16="http://schemas.microsoft.com/office/drawing/2014/main" id="{88769788-E879-B24D-946F-A8EB2FBDC73E}"/>
              </a:ext>
            </a:extLst>
          </p:cNvPr>
          <p:cNvSpPr/>
          <p:nvPr/>
        </p:nvSpPr>
        <p:spPr>
          <a:xfrm>
            <a:off x="6390216" y="5116270"/>
            <a:ext cx="3488267" cy="508000"/>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The average test score is 67</a:t>
            </a:r>
          </a:p>
        </p:txBody>
      </p:sp>
      <p:cxnSp>
        <p:nvCxnSpPr>
          <p:cNvPr id="6" name="Straight Arrow Connector 5">
            <a:extLst>
              <a:ext uri="{FF2B5EF4-FFF2-40B4-BE49-F238E27FC236}">
                <a16:creationId xmlns:a16="http://schemas.microsoft.com/office/drawing/2014/main" id="{9EAA2F56-D5EB-2E4D-A083-746D5E6DF49F}"/>
              </a:ext>
            </a:extLst>
          </p:cNvPr>
          <p:cNvCxnSpPr>
            <a:stCxn id="15" idx="1"/>
            <a:endCxn id="7" idx="3"/>
          </p:cNvCxnSpPr>
          <p:nvPr/>
        </p:nvCxnSpPr>
        <p:spPr>
          <a:xfrm flipH="1">
            <a:off x="5571067" y="3369734"/>
            <a:ext cx="77893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F217146-C2B9-0D46-972F-D776049FB8CD}"/>
              </a:ext>
            </a:extLst>
          </p:cNvPr>
          <p:cNvCxnSpPr/>
          <p:nvPr/>
        </p:nvCxnSpPr>
        <p:spPr>
          <a:xfrm flipH="1">
            <a:off x="5571067" y="4377268"/>
            <a:ext cx="77893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EB6C5FC-BBFC-424D-BD75-C57B11D41A58}"/>
              </a:ext>
            </a:extLst>
          </p:cNvPr>
          <p:cNvCxnSpPr/>
          <p:nvPr/>
        </p:nvCxnSpPr>
        <p:spPr>
          <a:xfrm flipH="1">
            <a:off x="5571067" y="5393267"/>
            <a:ext cx="77893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471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to Wisdom</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graphicFrame>
        <p:nvGraphicFramePr>
          <p:cNvPr id="7" name="Diagram 6">
            <a:extLst>
              <a:ext uri="{FF2B5EF4-FFF2-40B4-BE49-F238E27FC236}">
                <a16:creationId xmlns:a16="http://schemas.microsoft.com/office/drawing/2014/main" id="{31CFBA00-3B74-C146-89EA-405C5A5667BC}"/>
              </a:ext>
            </a:extLst>
          </p:cNvPr>
          <p:cNvGraphicFramePr/>
          <p:nvPr>
            <p:extLst>
              <p:ext uri="{D42A27DB-BD31-4B8C-83A1-F6EECF244321}">
                <p14:modId xmlns:p14="http://schemas.microsoft.com/office/powerpoint/2010/main" val="1757255293"/>
              </p:ext>
            </p:extLst>
          </p:nvPr>
        </p:nvGraphicFramePr>
        <p:xfrm>
          <a:off x="387268" y="1415522"/>
          <a:ext cx="5376334" cy="40174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ounded Rectangle 7">
            <a:extLst>
              <a:ext uri="{FF2B5EF4-FFF2-40B4-BE49-F238E27FC236}">
                <a16:creationId xmlns:a16="http://schemas.microsoft.com/office/drawing/2014/main" id="{25745869-6C35-5A4B-B992-56407BA8F66E}"/>
              </a:ext>
            </a:extLst>
          </p:cNvPr>
          <p:cNvSpPr/>
          <p:nvPr/>
        </p:nvSpPr>
        <p:spPr>
          <a:xfrm>
            <a:off x="6239935" y="4741336"/>
            <a:ext cx="1303865" cy="8043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Raw</a:t>
            </a:r>
          </a:p>
        </p:txBody>
      </p:sp>
      <p:sp>
        <p:nvSpPr>
          <p:cNvPr id="9" name="Rounded Rectangle 8">
            <a:extLst>
              <a:ext uri="{FF2B5EF4-FFF2-40B4-BE49-F238E27FC236}">
                <a16:creationId xmlns:a16="http://schemas.microsoft.com/office/drawing/2014/main" id="{B6826864-69E7-C947-A7E2-9B453F81825B}"/>
              </a:ext>
            </a:extLst>
          </p:cNvPr>
          <p:cNvSpPr/>
          <p:nvPr/>
        </p:nvSpPr>
        <p:spPr>
          <a:xfrm>
            <a:off x="8331200" y="4741336"/>
            <a:ext cx="3217333" cy="80433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a:t>
            </a:r>
            <a:r>
              <a:rPr lang="en-IL" dirty="0"/>
              <a:t>ed, 192, 235, V2</a:t>
            </a:r>
          </a:p>
        </p:txBody>
      </p:sp>
      <p:sp>
        <p:nvSpPr>
          <p:cNvPr id="10" name="Rounded Rectangle 9">
            <a:extLst>
              <a:ext uri="{FF2B5EF4-FFF2-40B4-BE49-F238E27FC236}">
                <a16:creationId xmlns:a16="http://schemas.microsoft.com/office/drawing/2014/main" id="{EA2339A1-89DB-DB4C-9427-FA2F18C8E5C7}"/>
              </a:ext>
            </a:extLst>
          </p:cNvPr>
          <p:cNvSpPr/>
          <p:nvPr/>
        </p:nvSpPr>
        <p:spPr>
          <a:xfrm>
            <a:off x="6239935" y="3705227"/>
            <a:ext cx="1303865" cy="80433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Meaning</a:t>
            </a:r>
          </a:p>
        </p:txBody>
      </p:sp>
      <p:sp>
        <p:nvSpPr>
          <p:cNvPr id="11" name="Rounded Rectangle 10">
            <a:extLst>
              <a:ext uri="{FF2B5EF4-FFF2-40B4-BE49-F238E27FC236}">
                <a16:creationId xmlns:a16="http://schemas.microsoft.com/office/drawing/2014/main" id="{3F5B9980-2661-4B44-9B70-45CFC5DA5FB5}"/>
              </a:ext>
            </a:extLst>
          </p:cNvPr>
          <p:cNvSpPr/>
          <p:nvPr/>
        </p:nvSpPr>
        <p:spPr>
          <a:xfrm>
            <a:off x="8331199" y="3693586"/>
            <a:ext cx="3217333" cy="80433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Traffic lights on the main street</a:t>
            </a:r>
            <a:endParaRPr lang="en-IL" dirty="0"/>
          </a:p>
        </p:txBody>
      </p:sp>
      <p:sp>
        <p:nvSpPr>
          <p:cNvPr id="12" name="Rounded Rectangle 11">
            <a:extLst>
              <a:ext uri="{FF2B5EF4-FFF2-40B4-BE49-F238E27FC236}">
                <a16:creationId xmlns:a16="http://schemas.microsoft.com/office/drawing/2014/main" id="{2F62A2DA-30CC-0449-A472-93C00D7BE442}"/>
              </a:ext>
            </a:extLst>
          </p:cNvPr>
          <p:cNvSpPr/>
          <p:nvPr/>
        </p:nvSpPr>
        <p:spPr>
          <a:xfrm>
            <a:off x="6239935" y="2600040"/>
            <a:ext cx="1303865" cy="804334"/>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Context</a:t>
            </a:r>
          </a:p>
        </p:txBody>
      </p:sp>
      <p:sp>
        <p:nvSpPr>
          <p:cNvPr id="13" name="Rounded Rectangle 12">
            <a:extLst>
              <a:ext uri="{FF2B5EF4-FFF2-40B4-BE49-F238E27FC236}">
                <a16:creationId xmlns:a16="http://schemas.microsoft.com/office/drawing/2014/main" id="{84E1DE8E-548B-484C-8C01-FBFEE3D984D5}"/>
              </a:ext>
            </a:extLst>
          </p:cNvPr>
          <p:cNvSpPr/>
          <p:nvPr/>
        </p:nvSpPr>
        <p:spPr>
          <a:xfrm>
            <a:off x="8331199" y="2580220"/>
            <a:ext cx="3217333" cy="804334"/>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The traffic light has turned red</a:t>
            </a:r>
            <a:endParaRPr lang="en-IL" dirty="0"/>
          </a:p>
        </p:txBody>
      </p:sp>
      <p:sp>
        <p:nvSpPr>
          <p:cNvPr id="14" name="Rounded Rectangle 13">
            <a:extLst>
              <a:ext uri="{FF2B5EF4-FFF2-40B4-BE49-F238E27FC236}">
                <a16:creationId xmlns:a16="http://schemas.microsoft.com/office/drawing/2014/main" id="{AA8B3357-F7DA-CF4E-BA1F-6DE5D2B6C6FD}"/>
              </a:ext>
            </a:extLst>
          </p:cNvPr>
          <p:cNvSpPr/>
          <p:nvPr/>
        </p:nvSpPr>
        <p:spPr>
          <a:xfrm>
            <a:off x="6239934" y="1563931"/>
            <a:ext cx="1303865" cy="804334"/>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Applied</a:t>
            </a:r>
          </a:p>
        </p:txBody>
      </p:sp>
      <p:sp>
        <p:nvSpPr>
          <p:cNvPr id="15" name="Rounded Rectangle 14">
            <a:extLst>
              <a:ext uri="{FF2B5EF4-FFF2-40B4-BE49-F238E27FC236}">
                <a16:creationId xmlns:a16="http://schemas.microsoft.com/office/drawing/2014/main" id="{6651D8F4-35F4-C142-BAC4-6615795DCE35}"/>
              </a:ext>
            </a:extLst>
          </p:cNvPr>
          <p:cNvSpPr/>
          <p:nvPr/>
        </p:nvSpPr>
        <p:spPr>
          <a:xfrm>
            <a:off x="8320534" y="1532470"/>
            <a:ext cx="3217333" cy="804334"/>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I better stop the car!</a:t>
            </a:r>
            <a:endParaRPr lang="en-IL" dirty="0"/>
          </a:p>
        </p:txBody>
      </p:sp>
    </p:spTree>
    <p:extLst>
      <p:ext uri="{BB962C8B-B14F-4D97-AF65-F5344CB8AC3E}">
        <p14:creationId xmlns:p14="http://schemas.microsoft.com/office/powerpoint/2010/main" val="1533389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000" b="1" dirty="0"/>
              <a:t>Business Analytics, BI, Big Data, Data Mining - What’s the difference?</a:t>
            </a:r>
          </a:p>
          <a:p>
            <a:pPr marL="457200" indent="-457200">
              <a:lnSpc>
                <a:spcPct val="150000"/>
              </a:lnSpc>
              <a:buAutoNum type="arabicPeriod"/>
            </a:pPr>
            <a:r>
              <a:rPr lang="en-US" sz="2400" b="1" dirty="0"/>
              <a:t>Business Analytics</a:t>
            </a:r>
          </a:p>
          <a:p>
            <a:pPr lvl="1">
              <a:lnSpc>
                <a:spcPct val="150000"/>
              </a:lnSpc>
            </a:pPr>
            <a:r>
              <a:rPr lang="en-US" sz="2000" dirty="0"/>
              <a:t>Tools to explore past data to gain insight into future business decisions.</a:t>
            </a:r>
          </a:p>
          <a:p>
            <a:pPr marL="457200" indent="-457200">
              <a:lnSpc>
                <a:spcPct val="150000"/>
              </a:lnSpc>
              <a:buAutoNum type="arabicPeriod"/>
            </a:pPr>
            <a:r>
              <a:rPr lang="en-US" sz="2400" b="1" dirty="0"/>
              <a:t>BI</a:t>
            </a:r>
          </a:p>
          <a:p>
            <a:pPr lvl="1">
              <a:lnSpc>
                <a:spcPct val="150000"/>
              </a:lnSpc>
            </a:pPr>
            <a:r>
              <a:rPr lang="en-US" sz="2000" dirty="0"/>
              <a:t>Tools and techniques to turn data into meaningful information.</a:t>
            </a:r>
          </a:p>
          <a:p>
            <a:pPr marL="457200" indent="-457200">
              <a:lnSpc>
                <a:spcPct val="150000"/>
              </a:lnSpc>
              <a:buAutoNum type="arabicPeriod"/>
            </a:pPr>
            <a:r>
              <a:rPr lang="en-US" sz="2400" b="1" dirty="0"/>
              <a:t>Big Data</a:t>
            </a:r>
          </a:p>
          <a:p>
            <a:pPr lvl="1">
              <a:lnSpc>
                <a:spcPct val="150000"/>
              </a:lnSpc>
            </a:pPr>
            <a:r>
              <a:rPr lang="en-US" sz="2000" dirty="0"/>
              <a:t>data sets that are so large or complex that traditional data processing applications are inadequate.</a:t>
            </a:r>
          </a:p>
          <a:p>
            <a:pPr marL="457200" indent="-457200">
              <a:lnSpc>
                <a:spcPct val="150000"/>
              </a:lnSpc>
              <a:buAutoNum type="arabicPeriod"/>
            </a:pPr>
            <a:r>
              <a:rPr lang="en-US" sz="2400" b="1" dirty="0"/>
              <a:t>Data Mining</a:t>
            </a:r>
          </a:p>
          <a:p>
            <a:pPr lvl="1">
              <a:lnSpc>
                <a:spcPct val="150000"/>
              </a:lnSpc>
            </a:pPr>
            <a:r>
              <a:rPr lang="en-US" sz="2000" dirty="0"/>
              <a:t>Tools for discovering patterns in large data sets.</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79714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Businesses Need Support for Decision Making</a:t>
            </a:r>
          </a:p>
          <a:p>
            <a:pPr marL="457200" indent="-457200">
              <a:lnSpc>
                <a:spcPct val="150000"/>
              </a:lnSpc>
              <a:buAutoNum type="arabicPeriod"/>
            </a:pPr>
            <a:r>
              <a:rPr lang="en-US" sz="2400" dirty="0"/>
              <a:t>Uncertain economics</a:t>
            </a:r>
          </a:p>
          <a:p>
            <a:pPr marL="457200" indent="-457200">
              <a:lnSpc>
                <a:spcPct val="150000"/>
              </a:lnSpc>
              <a:buAutoNum type="arabicPeriod"/>
            </a:pPr>
            <a:r>
              <a:rPr lang="en-US" sz="2400" dirty="0"/>
              <a:t>Rapidly changing environments</a:t>
            </a:r>
          </a:p>
          <a:p>
            <a:pPr marL="457200" indent="-457200">
              <a:lnSpc>
                <a:spcPct val="150000"/>
              </a:lnSpc>
              <a:buAutoNum type="arabicPeriod"/>
            </a:pPr>
            <a:r>
              <a:rPr lang="en-US" sz="2400" dirty="0"/>
              <a:t>Global competition</a:t>
            </a:r>
          </a:p>
          <a:p>
            <a:pPr marL="457200" indent="-457200">
              <a:lnSpc>
                <a:spcPct val="150000"/>
              </a:lnSpc>
              <a:buAutoNum type="arabicPeriod"/>
            </a:pPr>
            <a:r>
              <a:rPr lang="en-US" sz="2400" dirty="0"/>
              <a:t>Demanding customers</a:t>
            </a:r>
          </a:p>
          <a:p>
            <a:pPr marL="457200" indent="-457200">
              <a:lnSpc>
                <a:spcPct val="150000"/>
              </a:lnSpc>
              <a:buAutoNum type="arabicPeriod"/>
            </a:pPr>
            <a:r>
              <a:rPr lang="en-US" sz="2400" dirty="0"/>
              <a:t>Taking advantage of information acquired by companies is a Critical Success Factor.</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9502025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Mining</a:t>
            </a:r>
          </a:p>
          <a:p>
            <a:pPr>
              <a:lnSpc>
                <a:spcPct val="150000"/>
              </a:lnSpc>
            </a:pPr>
            <a:r>
              <a:rPr lang="en-US" sz="2400" dirty="0"/>
              <a:t>“</a:t>
            </a:r>
            <a:r>
              <a:rPr lang="en-US" sz="2400" i="1" dirty="0">
                <a:solidFill>
                  <a:srgbClr val="FF0000"/>
                </a:solidFill>
              </a:rPr>
              <a:t>Data mining</a:t>
            </a:r>
            <a:r>
              <a:rPr lang="en-US" sz="2400" dirty="0">
                <a:solidFill>
                  <a:srgbClr val="FF0000"/>
                </a:solidFill>
              </a:rPr>
              <a:t> </a:t>
            </a:r>
            <a:r>
              <a:rPr lang="en-US" sz="2400" dirty="0"/>
              <a:t>is an interdisciplinary subfield of computer science. It is the </a:t>
            </a:r>
            <a:r>
              <a:rPr lang="en-US" sz="2400" dirty="0">
                <a:solidFill>
                  <a:schemeClr val="accent1"/>
                </a:solidFill>
              </a:rPr>
              <a:t>computational process of discovering patterns in large </a:t>
            </a:r>
            <a:r>
              <a:rPr lang="en-US" sz="2400" i="1" dirty="0">
                <a:solidFill>
                  <a:schemeClr val="accent1"/>
                </a:solidFill>
              </a:rPr>
              <a:t>data</a:t>
            </a:r>
            <a:r>
              <a:rPr lang="en-US" sz="2400" dirty="0">
                <a:solidFill>
                  <a:schemeClr val="accent1"/>
                </a:solidFill>
              </a:rPr>
              <a:t> sets</a:t>
            </a:r>
            <a:r>
              <a:rPr lang="en-US" sz="2400" dirty="0"/>
              <a:t> involving methods at the intersection of artificial intelligence, machine learning, statistics, and database systems.” - Wikipedia</a:t>
            </a:r>
          </a:p>
          <a:p>
            <a:pPr marL="457200" indent="-457200">
              <a:lnSpc>
                <a:spcPct val="150000"/>
              </a:lnSpc>
              <a:buAutoNum type="arabicPeriod"/>
            </a:pPr>
            <a:r>
              <a:rPr lang="en-US" sz="2400" dirty="0"/>
              <a:t>Examining large databases to produce new information.</a:t>
            </a:r>
          </a:p>
          <a:p>
            <a:pPr marL="514350" indent="-514350">
              <a:lnSpc>
                <a:spcPct val="150000"/>
              </a:lnSpc>
              <a:buAutoNum type="arabicPeriod"/>
            </a:pPr>
            <a:r>
              <a:rPr lang="en-US" sz="2400" dirty="0"/>
              <a:t>Uses statistical methods and artificial intelligence to analyze data</a:t>
            </a:r>
          </a:p>
          <a:p>
            <a:pPr marL="514350" indent="-514350">
              <a:lnSpc>
                <a:spcPct val="150000"/>
              </a:lnSpc>
              <a:buAutoNum type="arabicPeriod"/>
            </a:pPr>
            <a:r>
              <a:rPr lang="en-US" sz="2400" dirty="0"/>
              <a:t>Finds hidden features of the data that were not yet known.</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6477008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Tasks of Data Mining in Business</a:t>
            </a:r>
          </a:p>
          <a:p>
            <a:pPr>
              <a:lnSpc>
                <a:spcPct val="150000"/>
              </a:lnSpc>
            </a:pPr>
            <a:r>
              <a:rPr lang="en-US" sz="2400" b="1" dirty="0"/>
              <a:t>Classification</a:t>
            </a:r>
            <a:r>
              <a:rPr lang="en-US" sz="2400" dirty="0"/>
              <a:t> – Categorizing data into actionable groups.</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Introduction | Text classification guide | Google Developers">
            <a:extLst>
              <a:ext uri="{FF2B5EF4-FFF2-40B4-BE49-F238E27FC236}">
                <a16:creationId xmlns:a16="http://schemas.microsoft.com/office/drawing/2014/main" id="{951F6E7D-B157-7B47-A8C8-B1CA3FAEC9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5533" y="2124545"/>
            <a:ext cx="6620933" cy="3307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39595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Tasks of Data Mining in Business</a:t>
            </a:r>
          </a:p>
          <a:p>
            <a:pPr>
              <a:lnSpc>
                <a:spcPct val="150000"/>
              </a:lnSpc>
            </a:pPr>
            <a:r>
              <a:rPr lang="en-US" sz="2400" b="1" dirty="0"/>
              <a:t>Estimation</a:t>
            </a:r>
            <a:r>
              <a:rPr lang="en-US" sz="2400" dirty="0"/>
              <a:t> – Response rates, probabilities of responses.</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2050" name="Picture 2" descr="Effort Estimation Graph of different models | Download Scientific Diagram">
            <a:extLst>
              <a:ext uri="{FF2B5EF4-FFF2-40B4-BE49-F238E27FC236}">
                <a16:creationId xmlns:a16="http://schemas.microsoft.com/office/drawing/2014/main" id="{9DA3A2C1-7BDB-FF41-90FC-FE222154EE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5884" y="1914434"/>
            <a:ext cx="5810250" cy="39296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520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Tasks of Data Mining in Business</a:t>
            </a:r>
          </a:p>
          <a:p>
            <a:pPr>
              <a:lnSpc>
                <a:spcPct val="150000"/>
              </a:lnSpc>
            </a:pPr>
            <a:r>
              <a:rPr lang="en-US" sz="2400" b="1" dirty="0"/>
              <a:t>Prediction</a:t>
            </a:r>
            <a:r>
              <a:rPr lang="en-US" sz="2400" dirty="0"/>
              <a:t> – Predicting customer behavior.</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074" name="Picture 2" descr="Top five artificial intelligence predictions for 2021 | ITProPortal">
            <a:extLst>
              <a:ext uri="{FF2B5EF4-FFF2-40B4-BE49-F238E27FC236}">
                <a16:creationId xmlns:a16="http://schemas.microsoft.com/office/drawing/2014/main" id="{A9F21917-B6E3-6044-A336-E5CFB8D497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7266" y="2260600"/>
            <a:ext cx="5830363" cy="327578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6717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Tasks of Data Mining in Business</a:t>
            </a:r>
          </a:p>
          <a:p>
            <a:pPr>
              <a:lnSpc>
                <a:spcPct val="150000"/>
              </a:lnSpc>
            </a:pPr>
            <a:r>
              <a:rPr lang="en-US" sz="2400" b="1" dirty="0"/>
              <a:t>Affinity Grouping </a:t>
            </a:r>
            <a:r>
              <a:rPr lang="en-US" sz="2400" dirty="0"/>
              <a:t>– What items or services are customers likely to purchase together?</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cdc.indiana.edu/images/intersectionality-square...">
            <a:extLst>
              <a:ext uri="{FF2B5EF4-FFF2-40B4-BE49-F238E27FC236}">
                <a16:creationId xmlns:a16="http://schemas.microsoft.com/office/drawing/2014/main" id="{6CF2C27A-CDAE-7B45-9CDF-96C138279D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81" y="2180366"/>
            <a:ext cx="3509319" cy="35093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81209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Tasks of Data Mining in Business</a:t>
            </a:r>
          </a:p>
          <a:p>
            <a:pPr>
              <a:lnSpc>
                <a:spcPct val="150000"/>
              </a:lnSpc>
            </a:pPr>
            <a:r>
              <a:rPr lang="en-US" sz="2400" b="1" dirty="0"/>
              <a:t>Description</a:t>
            </a:r>
            <a:r>
              <a:rPr lang="en-US" sz="2400" dirty="0"/>
              <a:t> – Finding interesting patterns.</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4098" name="Picture 2" descr="Data pattern recognition reveals the &amp;#39;TRUTH&amp;#39; in complex processes -  PlantVision">
            <a:extLst>
              <a:ext uri="{FF2B5EF4-FFF2-40B4-BE49-F238E27FC236}">
                <a16:creationId xmlns:a16="http://schemas.microsoft.com/office/drawing/2014/main" id="{A581F217-30B2-1343-BC18-3029BCF85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540000"/>
            <a:ext cx="8261788" cy="2516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3070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Mining Techniques</a:t>
            </a:r>
          </a:p>
          <a:p>
            <a:pPr marL="457200" indent="-457200">
              <a:lnSpc>
                <a:spcPct val="150000"/>
              </a:lnSpc>
              <a:buFont typeface="Arial" panose="020B0604020202020204" pitchFamily="34" charset="0"/>
              <a:buAutoNum type="arabicPeriod"/>
            </a:pPr>
            <a:r>
              <a:rPr lang="en-US" sz="2400" b="1" dirty="0"/>
              <a:t>Market Basket Analysis</a:t>
            </a:r>
          </a:p>
          <a:p>
            <a:pPr lvl="1">
              <a:lnSpc>
                <a:spcPct val="150000"/>
              </a:lnSpc>
            </a:pPr>
            <a:r>
              <a:rPr lang="en-US" sz="2000" dirty="0"/>
              <a:t>Finding patterns or sequences in the way that people purchase products and services.</a:t>
            </a:r>
          </a:p>
          <a:p>
            <a:pPr marL="457200" indent="-457200">
              <a:lnSpc>
                <a:spcPct val="150000"/>
              </a:lnSpc>
              <a:buAutoNum type="arabicPeriod"/>
            </a:pPr>
            <a:r>
              <a:rPr lang="en-US" sz="2400" b="1" dirty="0"/>
              <a:t>Cluster Analysis</a:t>
            </a:r>
          </a:p>
          <a:p>
            <a:pPr lvl="1">
              <a:lnSpc>
                <a:spcPct val="150000"/>
              </a:lnSpc>
            </a:pPr>
            <a:r>
              <a:rPr lang="en-US" sz="2000" dirty="0"/>
              <a:t>Grouping data into like clusters based on specific attributes</a:t>
            </a:r>
          </a:p>
          <a:p>
            <a:pPr marL="457200" indent="-457200">
              <a:lnSpc>
                <a:spcPct val="150000"/>
              </a:lnSpc>
              <a:buAutoNum type="arabicPeriod"/>
            </a:pPr>
            <a:r>
              <a:rPr lang="en-US" sz="2400" b="1" dirty="0"/>
              <a:t>Principal Components Analysis (PCA)</a:t>
            </a:r>
          </a:p>
          <a:p>
            <a:pPr marL="457200" indent="-457200">
              <a:lnSpc>
                <a:spcPct val="150000"/>
              </a:lnSpc>
              <a:buAutoNum type="arabicPeriod"/>
            </a:pPr>
            <a:r>
              <a:rPr lang="en-US" sz="2400" b="1" dirty="0"/>
              <a:t>Decision Trees and Rule Induction </a:t>
            </a:r>
          </a:p>
          <a:p>
            <a:pPr marL="457200" indent="-457200">
              <a:lnSpc>
                <a:spcPct val="150000"/>
              </a:lnSpc>
              <a:buAutoNum type="arabicPeriod"/>
            </a:pPr>
            <a:r>
              <a:rPr lang="en-US" sz="2400" b="1" dirty="0"/>
              <a:t>Logistic / Linear Regressions</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2185828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Business Intelligence</a:t>
            </a:r>
          </a:p>
          <a:p>
            <a:pPr marL="514350" indent="-514350">
              <a:lnSpc>
                <a:spcPct val="150000"/>
              </a:lnSpc>
              <a:buAutoNum type="arabicPeriod"/>
            </a:pPr>
            <a:r>
              <a:rPr lang="en-US" sz="2400" dirty="0"/>
              <a:t>Collecting and refining information from many sources (internal and external)</a:t>
            </a:r>
          </a:p>
          <a:p>
            <a:pPr marL="514350" indent="-514350">
              <a:lnSpc>
                <a:spcPct val="150000"/>
              </a:lnSpc>
              <a:buAutoNum type="arabicPeriod"/>
            </a:pPr>
            <a:r>
              <a:rPr lang="en-US" sz="2400" dirty="0"/>
              <a:t>Analyzing and presenting the information in useful ways (dashboards, visualizations) So that people can make </a:t>
            </a:r>
            <a:r>
              <a:rPr lang="en-US" sz="2400" b="1" u="sng" dirty="0"/>
              <a:t>better decisions</a:t>
            </a:r>
          </a:p>
          <a:p>
            <a:pPr marL="514350" indent="-514350">
              <a:lnSpc>
                <a:spcPct val="150000"/>
              </a:lnSpc>
              <a:buAutoNum type="arabicPeriod"/>
            </a:pPr>
            <a:r>
              <a:rPr lang="en-US" sz="2400" dirty="0"/>
              <a:t>Tools and techniques to turn data into meaningful information.</a:t>
            </a:r>
          </a:p>
          <a:p>
            <a:pPr lvl="1">
              <a:lnSpc>
                <a:spcPct val="150000"/>
              </a:lnSpc>
            </a:pPr>
            <a:r>
              <a:rPr lang="en-US" dirty="0"/>
              <a:t>	</a:t>
            </a:r>
            <a:r>
              <a:rPr lang="en-US" b="1" dirty="0"/>
              <a:t>Process</a:t>
            </a:r>
            <a:r>
              <a:rPr lang="en-US" dirty="0"/>
              <a:t>: Methods used by the organization to turn data into knowledge.</a:t>
            </a:r>
          </a:p>
          <a:p>
            <a:pPr lvl="1">
              <a:lnSpc>
                <a:spcPct val="150000"/>
              </a:lnSpc>
            </a:pPr>
            <a:r>
              <a:rPr lang="en-US" dirty="0"/>
              <a:t>	</a:t>
            </a:r>
            <a:r>
              <a:rPr lang="en-US" b="1" dirty="0"/>
              <a:t>Product</a:t>
            </a:r>
            <a:r>
              <a:rPr lang="en-US" dirty="0"/>
              <a:t>: Information that allows businesses to make decisions.</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802051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BI Initiatives</a:t>
            </a:r>
          </a:p>
          <a:p>
            <a:pPr marL="342900" indent="-342900">
              <a:lnSpc>
                <a:spcPct val="150000"/>
              </a:lnSpc>
              <a:buFontTx/>
              <a:buChar char="-"/>
            </a:pPr>
            <a:r>
              <a:rPr lang="en-US" sz="2400" dirty="0"/>
              <a:t>75% of BI projects fail because of </a:t>
            </a:r>
            <a:r>
              <a:rPr lang="en-US" sz="2400" b="1" dirty="0"/>
              <a:t>poor communication </a:t>
            </a:r>
            <a:r>
              <a:rPr lang="en-US" sz="2400" dirty="0"/>
              <a:t>and </a:t>
            </a:r>
            <a:r>
              <a:rPr lang="en-US" sz="2400" b="1" dirty="0"/>
              <a:t>not understanding </a:t>
            </a:r>
            <a:br>
              <a:rPr lang="en-US" sz="2400" b="1" dirty="0"/>
            </a:br>
            <a:r>
              <a:rPr lang="en-US" sz="2400" dirty="0"/>
              <a:t>what to ask. (Goodwin, 2010)</a:t>
            </a:r>
          </a:p>
          <a:p>
            <a:pPr marL="342900" indent="-342900">
              <a:lnSpc>
                <a:spcPct val="150000"/>
              </a:lnSpc>
              <a:buFontTx/>
              <a:buChar char="-"/>
            </a:pPr>
            <a:r>
              <a:rPr lang="en-US" sz="2400" dirty="0"/>
              <a:t>65% of BI projects fail because of technology and </a:t>
            </a:r>
            <a:r>
              <a:rPr lang="en-US" sz="2400" b="1" dirty="0"/>
              <a:t>lack of infrastructure </a:t>
            </a:r>
            <a:r>
              <a:rPr lang="en-US" sz="2400" dirty="0"/>
              <a:t>(</a:t>
            </a:r>
            <a:r>
              <a:rPr lang="en-US" sz="2400" dirty="0" err="1"/>
              <a:t>Lapu</a:t>
            </a:r>
            <a:r>
              <a:rPr lang="en-US" sz="2400" dirty="0"/>
              <a:t>, 2007)</a:t>
            </a:r>
          </a:p>
          <a:p>
            <a:pPr marL="342900" indent="-342900">
              <a:lnSpc>
                <a:spcPct val="150000"/>
              </a:lnSpc>
              <a:buFontTx/>
              <a:buChar char="-"/>
            </a:pPr>
            <a:r>
              <a:rPr lang="en-US" sz="2400" dirty="0"/>
              <a:t>70% of senior executives report that analytics will be important for competitive advantage.  Only 2% feel that they’ve achieved competitive advantage. </a:t>
            </a:r>
          </a:p>
          <a:p>
            <a:pPr algn="ctr">
              <a:lnSpc>
                <a:spcPct val="150000"/>
              </a:lnSpc>
            </a:pPr>
            <a:endParaRPr lang="en-US" sz="3200" b="1" dirty="0"/>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9393231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Warehouse</a:t>
            </a:r>
          </a:p>
          <a:p>
            <a:pPr>
              <a:lnSpc>
                <a:spcPct val="150000"/>
              </a:lnSpc>
            </a:pPr>
            <a:r>
              <a:rPr lang="en-US" sz="2400" dirty="0"/>
              <a:t>A data warehouse is a </a:t>
            </a:r>
            <a:r>
              <a:rPr lang="en-US" sz="2400" dirty="0">
                <a:solidFill>
                  <a:schemeClr val="accent1"/>
                </a:solidFill>
              </a:rPr>
              <a:t>central repository of information </a:t>
            </a:r>
            <a:r>
              <a:rPr lang="en-US" sz="2400" dirty="0"/>
              <a:t>that can be analyzed to make more informed decisions. Data flows into a data warehouse from transactional systems, relational databases, and other sources.</a:t>
            </a:r>
          </a:p>
          <a:p>
            <a:pPr>
              <a:lnSpc>
                <a:spcPct val="150000"/>
              </a:lnSpc>
            </a:pPr>
            <a:r>
              <a:rPr lang="en-US" sz="2400" dirty="0"/>
              <a:t>The concept of the data warehouse is a lone scheme that is the repository of all of the organization’s data (or simply data) in a pattern that can be competently analyzed.</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88647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Warehouse</a:t>
            </a:r>
            <a:r>
              <a:rPr lang="he-IL" sz="3200" b="1" dirty="0"/>
              <a:t> - </a:t>
            </a:r>
            <a:r>
              <a:rPr lang="en-US" sz="3200" b="1" dirty="0"/>
              <a:t>Challenges</a:t>
            </a:r>
          </a:p>
          <a:p>
            <a:pPr marL="457200" indent="-457200">
              <a:lnSpc>
                <a:spcPct val="150000"/>
              </a:lnSpc>
              <a:buAutoNum type="arabicPeriod"/>
            </a:pPr>
            <a:r>
              <a:rPr lang="en-US" sz="2400" dirty="0"/>
              <a:t>Data should be acquired from a variety of incompatible systems. </a:t>
            </a:r>
          </a:p>
          <a:p>
            <a:pPr marL="457200" indent="-457200">
              <a:lnSpc>
                <a:spcPct val="150000"/>
              </a:lnSpc>
              <a:buAutoNum type="arabicPeriod"/>
            </a:pPr>
            <a:r>
              <a:rPr lang="en-US" sz="2400" dirty="0"/>
              <a:t>The identical piece of data might reside in the databases of distinct systems in distinct types. </a:t>
            </a:r>
          </a:p>
          <a:p>
            <a:pPr marL="457200" indent="-457200">
              <a:lnSpc>
                <a:spcPct val="150000"/>
              </a:lnSpc>
              <a:buAutoNum type="arabicPeriod"/>
            </a:pPr>
            <a:r>
              <a:rPr lang="en-US" sz="2400" dirty="0"/>
              <a:t>A specific data item might not only be represented in distinct formats, which value is the correct one? </a:t>
            </a:r>
          </a:p>
          <a:p>
            <a:pPr marL="457200" indent="-457200">
              <a:lnSpc>
                <a:spcPct val="150000"/>
              </a:lnSpc>
              <a:buAutoNum type="arabicPeriod"/>
            </a:pPr>
            <a:r>
              <a:rPr lang="en-US" sz="2400" dirty="0"/>
              <a:t> Data is continually altering. How often should the Data warehouse be revised to contemplate a sensibly current view? </a:t>
            </a:r>
          </a:p>
          <a:p>
            <a:pPr>
              <a:lnSpc>
                <a:spcPct val="150000"/>
              </a:lnSpc>
            </a:pPr>
            <a:r>
              <a:rPr lang="en-US" sz="2400" dirty="0"/>
              <a:t>  </a:t>
            </a:r>
            <a:endParaRPr lang="en-US" sz="24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751420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Warehouse - Main Challenge</a:t>
            </a:r>
          </a:p>
          <a:p>
            <a:pPr>
              <a:lnSpc>
                <a:spcPct val="150000"/>
              </a:lnSpc>
            </a:pPr>
            <a:r>
              <a:rPr lang="en-US" sz="2400" dirty="0"/>
              <a:t>The amount of data is massive. How is it analyzed and presented easily so that it is useful? </a:t>
            </a:r>
          </a:p>
          <a:p>
            <a:pPr marL="457200" indent="-457200">
              <a:lnSpc>
                <a:spcPct val="150000"/>
              </a:lnSpc>
              <a:buAutoNum type="arabicPeriod"/>
            </a:pPr>
            <a:r>
              <a:rPr lang="en-US" sz="2400" b="1" dirty="0"/>
              <a:t>Extract, Transform, and Load </a:t>
            </a:r>
            <a:r>
              <a:rPr lang="en-US" sz="2400" dirty="0"/>
              <a:t>(ETL) utilities for the moving of data from the diverse data sources to the common data warehouse. </a:t>
            </a:r>
          </a:p>
          <a:p>
            <a:pPr marL="457200" indent="-457200">
              <a:lnSpc>
                <a:spcPct val="150000"/>
              </a:lnSpc>
              <a:buAutoNum type="arabicPeriod"/>
            </a:pPr>
            <a:r>
              <a:rPr lang="en-US" sz="2400" b="1" dirty="0"/>
              <a:t>Data-mining</a:t>
            </a:r>
            <a:r>
              <a:rPr lang="en-US" sz="2400" dirty="0"/>
              <a:t> pushes for complex predetermined analysis of the data retained in the data warehouse. </a:t>
            </a:r>
          </a:p>
          <a:p>
            <a:pPr marL="457200" indent="-457200">
              <a:lnSpc>
                <a:spcPct val="150000"/>
              </a:lnSpc>
              <a:buAutoNum type="arabicPeriod"/>
            </a:pPr>
            <a:r>
              <a:rPr lang="en-US" sz="2400" b="1" dirty="0"/>
              <a:t>Reporting</a:t>
            </a:r>
            <a:r>
              <a:rPr lang="en-US" sz="2400" dirty="0"/>
              <a:t> tools to provide management employees with the outcomes of the analysis in very simple to absorb formats. </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95214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Warehouse - Strategies</a:t>
            </a:r>
          </a:p>
          <a:p>
            <a:pPr>
              <a:lnSpc>
                <a:spcPct val="150000"/>
              </a:lnSpc>
            </a:pPr>
            <a:r>
              <a:rPr lang="en-US" altLang="en-IL" sz="2400" u="sng" dirty="0"/>
              <a:t>Data mart</a:t>
            </a:r>
          </a:p>
          <a:p>
            <a:pPr marL="914400" lvl="1" indent="-457200">
              <a:lnSpc>
                <a:spcPct val="150000"/>
              </a:lnSpc>
              <a:buAutoNum type="arabicPeriod"/>
            </a:pPr>
            <a:r>
              <a:rPr lang="en-US" altLang="en-IL" sz="2200" dirty="0"/>
              <a:t>The most common approach</a:t>
            </a:r>
          </a:p>
          <a:p>
            <a:pPr marL="914400" lvl="1" indent="-457200">
              <a:lnSpc>
                <a:spcPct val="150000"/>
              </a:lnSpc>
              <a:buAutoNum type="arabicPeriod"/>
            </a:pPr>
            <a:r>
              <a:rPr lang="en-US" altLang="en-IL" sz="2200" dirty="0"/>
              <a:t>Begins with a single mart and architected marts are added over time for more subject areas </a:t>
            </a:r>
          </a:p>
          <a:p>
            <a:pPr marL="914400" lvl="1" indent="-457200">
              <a:lnSpc>
                <a:spcPct val="150000"/>
              </a:lnSpc>
              <a:buAutoNum type="arabicPeriod"/>
            </a:pPr>
            <a:r>
              <a:rPr lang="en-US" altLang="en-IL" sz="2200" dirty="0"/>
              <a:t>Relatively inexpensive and easy to implement</a:t>
            </a:r>
          </a:p>
          <a:p>
            <a:pPr marL="914400" lvl="1" indent="-457200">
              <a:lnSpc>
                <a:spcPct val="150000"/>
              </a:lnSpc>
              <a:buAutoNum type="arabicPeriod"/>
            </a:pPr>
            <a:r>
              <a:rPr lang="en-US" altLang="en-IL" sz="2200" dirty="0"/>
              <a:t>Can be used as a proof of concept (POC) for data warehousing</a:t>
            </a:r>
          </a:p>
          <a:p>
            <a:pPr marL="914400" lvl="1" indent="-457200">
              <a:lnSpc>
                <a:spcPct val="150000"/>
              </a:lnSpc>
              <a:buAutoNum type="arabicPeriod"/>
            </a:pPr>
            <a:r>
              <a:rPr lang="en-US" altLang="en-IL" sz="2200" dirty="0"/>
              <a:t>Can postpone difficult decisions and activities</a:t>
            </a:r>
          </a:p>
          <a:p>
            <a:pPr marL="914400" lvl="1" indent="-457200">
              <a:lnSpc>
                <a:spcPct val="150000"/>
              </a:lnSpc>
              <a:buAutoNum type="arabicPeriod"/>
            </a:pPr>
            <a:r>
              <a:rPr lang="en-US" altLang="en-IL" sz="2200" dirty="0"/>
              <a:t>Requires an overall integration plan</a:t>
            </a:r>
          </a:p>
          <a:p>
            <a:pPr marL="457200" indent="-457200">
              <a:lnSpc>
                <a:spcPct val="150000"/>
              </a:lnSpc>
              <a:buAutoNum type="arabicPeriod"/>
            </a:pPr>
            <a:endParaRPr lang="en-US" altLang="en-IL" sz="2400" dirty="0"/>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694140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Warehouse - Strategies</a:t>
            </a:r>
          </a:p>
          <a:p>
            <a:pPr>
              <a:lnSpc>
                <a:spcPct val="150000"/>
              </a:lnSpc>
            </a:pPr>
            <a:r>
              <a:rPr lang="en-US" altLang="en-IL" sz="2400" u="sng" dirty="0"/>
              <a:t>Enterprise-wide</a:t>
            </a:r>
          </a:p>
          <a:p>
            <a:pPr marL="914400" lvl="1" indent="-457200">
              <a:lnSpc>
                <a:spcPct val="150000"/>
              </a:lnSpc>
              <a:buAutoNum type="arabicPeriod"/>
            </a:pPr>
            <a:r>
              <a:rPr lang="en-US" altLang="en-IL" dirty="0"/>
              <a:t>A comprehensive warehouse is built initially</a:t>
            </a:r>
          </a:p>
          <a:p>
            <a:pPr marL="914400" lvl="1" indent="-457200">
              <a:lnSpc>
                <a:spcPct val="150000"/>
              </a:lnSpc>
              <a:buAutoNum type="arabicPeriod"/>
            </a:pPr>
            <a:r>
              <a:rPr lang="en-US" altLang="en-IL" dirty="0"/>
              <a:t>An initial dependent data mart is built using a subset of the data in the warehouse</a:t>
            </a:r>
          </a:p>
          <a:p>
            <a:pPr marL="914400" lvl="1" indent="-457200">
              <a:lnSpc>
                <a:spcPct val="150000"/>
              </a:lnSpc>
              <a:buAutoNum type="arabicPeriod"/>
            </a:pPr>
            <a:r>
              <a:rPr lang="en-US" altLang="en-IL" dirty="0"/>
              <a:t>Additional data marts are built using subsets of the data in the warehouse</a:t>
            </a:r>
          </a:p>
          <a:p>
            <a:pPr marL="914400" lvl="1" indent="-457200">
              <a:lnSpc>
                <a:spcPct val="150000"/>
              </a:lnSpc>
              <a:buAutoNum type="arabicPeriod"/>
            </a:pPr>
            <a:r>
              <a:rPr lang="en-US" altLang="en-IL" dirty="0"/>
              <a:t>Expensive, time consuming, and prone to failure</a:t>
            </a:r>
          </a:p>
          <a:p>
            <a:pPr marL="914400" lvl="1" indent="-457200">
              <a:lnSpc>
                <a:spcPct val="150000"/>
              </a:lnSpc>
              <a:buAutoNum type="arabicPeriod"/>
            </a:pPr>
            <a:r>
              <a:rPr lang="en-US" altLang="en-IL" dirty="0"/>
              <a:t>When successful, it results in an integrated, scalable warehouse</a:t>
            </a:r>
          </a:p>
          <a:p>
            <a:pPr marL="457200" indent="-457200">
              <a:lnSpc>
                <a:spcPct val="150000"/>
              </a:lnSpc>
              <a:buAutoNum type="arabicPeriod"/>
            </a:pPr>
            <a:endParaRPr lang="en-US" altLang="en-IL" sz="2400" dirty="0"/>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97802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ETL – Extract, Transform, Load</a:t>
            </a:r>
            <a:endParaRPr lang="en-US" sz="2400" dirty="0"/>
          </a:p>
          <a:p>
            <a:pPr>
              <a:lnSpc>
                <a:spcPct val="150000"/>
              </a:lnSpc>
            </a:pPr>
            <a:r>
              <a:rPr lang="en-US" sz="2400" b="1" u="sng" dirty="0"/>
              <a:t>Extracts</a:t>
            </a:r>
            <a:r>
              <a:rPr lang="en-US" sz="2400" dirty="0"/>
              <a:t> data from one or more data-sources</a:t>
            </a:r>
          </a:p>
          <a:p>
            <a:pPr>
              <a:lnSpc>
                <a:spcPct val="150000"/>
              </a:lnSpc>
            </a:pPr>
            <a:r>
              <a:rPr lang="en-US" sz="2400" b="1" u="sng" dirty="0"/>
              <a:t>Transforms</a:t>
            </a:r>
            <a:r>
              <a:rPr lang="en-US" sz="2400" dirty="0"/>
              <a:t> it and </a:t>
            </a:r>
            <a:r>
              <a:rPr lang="en-US" sz="2400" u="sng" dirty="0"/>
              <a:t>cleanses</a:t>
            </a:r>
            <a:r>
              <a:rPr lang="en-US" sz="2400" dirty="0"/>
              <a:t> it to be optimized for reporting and analysis</a:t>
            </a:r>
          </a:p>
          <a:p>
            <a:pPr>
              <a:lnSpc>
                <a:spcPct val="150000"/>
              </a:lnSpc>
            </a:pPr>
            <a:r>
              <a:rPr lang="en-US" sz="2400" b="1" u="sng" dirty="0"/>
              <a:t>Loads</a:t>
            </a:r>
            <a:r>
              <a:rPr lang="en-US" sz="2400" dirty="0"/>
              <a:t> it into a data store or data warehouse</a:t>
            </a:r>
          </a:p>
          <a:p>
            <a:pPr>
              <a:lnSpc>
                <a:spcPct val="150000"/>
              </a:lnSpc>
            </a:pPr>
            <a:endParaRPr lang="en-US" sz="2400" dirty="0"/>
          </a:p>
          <a:p>
            <a:pPr>
              <a:lnSpc>
                <a:spcPct val="150000"/>
              </a:lnSpc>
            </a:pPr>
            <a:r>
              <a:rPr lang="en-US" sz="2400" dirty="0"/>
              <a:t>There are many different models of ETL tools in today’s BI market, from complex, specialized products to light, web-based solutions that work easily with multiple data sources.</a:t>
            </a:r>
          </a:p>
          <a:p>
            <a:br>
              <a:rPr lang="en-US" sz="2400" dirty="0"/>
            </a:br>
            <a:endParaRPr lang="en-US" altLang="en-IL"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725531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Reasons for “Dirty” Data</a:t>
            </a:r>
          </a:p>
          <a:p>
            <a:pPr>
              <a:lnSpc>
                <a:spcPct val="150000"/>
              </a:lnSpc>
              <a:spcAft>
                <a:spcPct val="20000"/>
              </a:spcAft>
              <a:buClr>
                <a:schemeClr val="tx1"/>
              </a:buClr>
              <a:buFont typeface="Symbol" pitchFamily="2" charset="2"/>
              <a:buChar char="·"/>
            </a:pPr>
            <a:r>
              <a:rPr lang="en-US" altLang="en-IL" sz="2400" dirty="0"/>
              <a:t> Dummy values</a:t>
            </a:r>
          </a:p>
          <a:p>
            <a:pPr>
              <a:lnSpc>
                <a:spcPct val="150000"/>
              </a:lnSpc>
              <a:spcAft>
                <a:spcPct val="20000"/>
              </a:spcAft>
              <a:buClr>
                <a:schemeClr val="tx1"/>
              </a:buClr>
              <a:buFont typeface="Symbol" pitchFamily="2" charset="2"/>
              <a:buChar char="·"/>
            </a:pPr>
            <a:r>
              <a:rPr lang="en-US" altLang="en-IL" sz="2400" dirty="0"/>
              <a:t> Absence of data</a:t>
            </a:r>
          </a:p>
          <a:p>
            <a:pPr>
              <a:lnSpc>
                <a:spcPct val="150000"/>
              </a:lnSpc>
              <a:spcAft>
                <a:spcPct val="20000"/>
              </a:spcAft>
              <a:buClr>
                <a:schemeClr val="tx1"/>
              </a:buClr>
              <a:buFont typeface="Symbol" pitchFamily="2" charset="2"/>
              <a:buChar char="·"/>
            </a:pPr>
            <a:r>
              <a:rPr lang="en-US" altLang="en-IL" sz="2400" dirty="0"/>
              <a:t> Multipurpose fields</a:t>
            </a:r>
          </a:p>
          <a:p>
            <a:pPr>
              <a:lnSpc>
                <a:spcPct val="150000"/>
              </a:lnSpc>
              <a:spcAft>
                <a:spcPct val="20000"/>
              </a:spcAft>
              <a:buClr>
                <a:schemeClr val="tx1"/>
              </a:buClr>
              <a:buFont typeface="Symbol" pitchFamily="2" charset="2"/>
              <a:buChar char="·"/>
            </a:pPr>
            <a:r>
              <a:rPr lang="en-US" altLang="en-IL" sz="2400" dirty="0"/>
              <a:t> Cryptic data</a:t>
            </a:r>
          </a:p>
          <a:p>
            <a:pPr>
              <a:lnSpc>
                <a:spcPct val="150000"/>
              </a:lnSpc>
              <a:spcAft>
                <a:spcPct val="20000"/>
              </a:spcAft>
              <a:buClr>
                <a:schemeClr val="tx1"/>
              </a:buClr>
              <a:buFont typeface="Symbol" pitchFamily="2" charset="2"/>
              <a:buChar char="·"/>
            </a:pPr>
            <a:r>
              <a:rPr lang="en-US" altLang="en-IL" sz="2400" dirty="0"/>
              <a:t> Contradicting data</a:t>
            </a:r>
          </a:p>
          <a:p>
            <a:endParaRPr lang="en-US" altLang="en-IL"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TextBox 2">
            <a:extLst>
              <a:ext uri="{FF2B5EF4-FFF2-40B4-BE49-F238E27FC236}">
                <a16:creationId xmlns:a16="http://schemas.microsoft.com/office/drawing/2014/main" id="{FD0D147C-92D8-4740-B5AD-EA54C398E2DA}"/>
              </a:ext>
            </a:extLst>
          </p:cNvPr>
          <p:cNvSpPr txBox="1"/>
          <p:nvPr/>
        </p:nvSpPr>
        <p:spPr>
          <a:xfrm>
            <a:off x="5139265" y="1096861"/>
            <a:ext cx="5283199" cy="3977692"/>
          </a:xfrm>
          <a:prstGeom prst="rect">
            <a:avLst/>
          </a:prstGeom>
          <a:noFill/>
        </p:spPr>
        <p:txBody>
          <a:bodyPr wrap="square" rtlCol="0">
            <a:spAutoFit/>
          </a:bodyPr>
          <a:lstStyle/>
          <a:p>
            <a:pPr>
              <a:lnSpc>
                <a:spcPct val="200000"/>
              </a:lnSpc>
              <a:spcAft>
                <a:spcPct val="20000"/>
              </a:spcAft>
              <a:buClr>
                <a:schemeClr val="tx1"/>
              </a:buClr>
              <a:buFont typeface="Symbol" pitchFamily="2" charset="2"/>
              <a:buChar char="·"/>
            </a:pPr>
            <a:r>
              <a:rPr lang="en-US" altLang="en-IL" sz="2400" dirty="0"/>
              <a:t>Violation of business rules</a:t>
            </a:r>
          </a:p>
          <a:p>
            <a:pPr>
              <a:lnSpc>
                <a:spcPct val="200000"/>
              </a:lnSpc>
              <a:spcAft>
                <a:spcPct val="20000"/>
              </a:spcAft>
              <a:buClr>
                <a:schemeClr val="tx1"/>
              </a:buClr>
              <a:buFont typeface="Symbol" pitchFamily="2" charset="2"/>
              <a:buChar char="·"/>
            </a:pPr>
            <a:r>
              <a:rPr lang="en-US" altLang="en-IL" sz="2400" dirty="0"/>
              <a:t>Reused primary keys</a:t>
            </a:r>
          </a:p>
          <a:p>
            <a:pPr>
              <a:lnSpc>
                <a:spcPct val="200000"/>
              </a:lnSpc>
              <a:spcAft>
                <a:spcPct val="20000"/>
              </a:spcAft>
              <a:buClr>
                <a:schemeClr val="tx1"/>
              </a:buClr>
              <a:buFont typeface="Symbol" pitchFamily="2" charset="2"/>
              <a:buChar char="·"/>
            </a:pPr>
            <a:r>
              <a:rPr lang="en-US" altLang="en-IL" sz="2400" dirty="0"/>
              <a:t>Non-unique identifiers (keys)</a:t>
            </a:r>
          </a:p>
          <a:p>
            <a:pPr>
              <a:lnSpc>
                <a:spcPct val="200000"/>
              </a:lnSpc>
              <a:spcAft>
                <a:spcPct val="20000"/>
              </a:spcAft>
              <a:buClr>
                <a:schemeClr val="tx1"/>
              </a:buClr>
              <a:buFont typeface="Symbol" pitchFamily="2" charset="2"/>
              <a:buChar char="·"/>
            </a:pPr>
            <a:r>
              <a:rPr lang="en-US" altLang="en-IL" sz="2400" dirty="0"/>
              <a:t>Data integration problems</a:t>
            </a:r>
          </a:p>
          <a:p>
            <a:pPr>
              <a:lnSpc>
                <a:spcPct val="200000"/>
              </a:lnSpc>
            </a:pPr>
            <a:endParaRPr lang="en-IL" sz="2400" dirty="0"/>
          </a:p>
        </p:txBody>
      </p:sp>
    </p:spTree>
    <p:extLst>
      <p:ext uri="{BB962C8B-B14F-4D97-AF65-F5344CB8AC3E}">
        <p14:creationId xmlns:p14="http://schemas.microsoft.com/office/powerpoint/2010/main" val="112190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Cleaning</a:t>
            </a:r>
          </a:p>
          <a:p>
            <a:pPr>
              <a:lnSpc>
                <a:spcPct val="150000"/>
              </a:lnSpc>
              <a:spcAft>
                <a:spcPct val="40000"/>
              </a:spcAft>
              <a:buClr>
                <a:schemeClr val="tx1"/>
              </a:buClr>
            </a:pPr>
            <a:r>
              <a:rPr lang="en-US" altLang="en-IL" sz="2400" b="1" u="sng" dirty="0"/>
              <a:t>Parsing</a:t>
            </a:r>
            <a:r>
              <a:rPr lang="en-US" altLang="en-IL" sz="2400" dirty="0"/>
              <a:t> - </a:t>
            </a:r>
            <a:r>
              <a:rPr lang="en-US" altLang="en-IL" sz="2200" dirty="0">
                <a:cs typeface="Times New Roman" panose="02020603050405020304" pitchFamily="18" charset="0"/>
              </a:rPr>
              <a:t>locates and identifies individual data elements in the source files and then isolates these data elements in the target files.</a:t>
            </a:r>
          </a:p>
          <a:p>
            <a:pPr lvl="1">
              <a:lnSpc>
                <a:spcPct val="150000"/>
              </a:lnSpc>
              <a:spcAft>
                <a:spcPct val="40000"/>
              </a:spcAft>
              <a:buClr>
                <a:schemeClr val="tx1"/>
              </a:buClr>
              <a:buFont typeface="Symbol" pitchFamily="2" charset="2"/>
              <a:buChar char="·"/>
            </a:pPr>
            <a:r>
              <a:rPr lang="en-US" altLang="en-IL" sz="2200" dirty="0">
                <a:cs typeface="Times New Roman" panose="02020603050405020304" pitchFamily="18" charset="0"/>
              </a:rPr>
              <a:t> Parsing the first, middle, and last name; street number and street name.</a:t>
            </a:r>
          </a:p>
          <a:p>
            <a:pPr>
              <a:lnSpc>
                <a:spcPct val="150000"/>
              </a:lnSpc>
              <a:spcAft>
                <a:spcPct val="40000"/>
              </a:spcAft>
              <a:buClr>
                <a:schemeClr val="tx1"/>
              </a:buClr>
            </a:pPr>
            <a:r>
              <a:rPr lang="en-US" altLang="en-IL" sz="2400" b="1" u="sng" dirty="0"/>
              <a:t>Correcting</a:t>
            </a:r>
            <a:r>
              <a:rPr lang="en-US" altLang="en-IL" sz="2400" dirty="0"/>
              <a:t> -</a:t>
            </a:r>
            <a:r>
              <a:rPr lang="en-US" altLang="en-IL" sz="2200" dirty="0">
                <a:cs typeface="Times New Roman" panose="02020603050405020304" pitchFamily="18" charset="0"/>
              </a:rPr>
              <a:t>corrects parsed individual data components using sophisticated data algorithms and secondary data sources.</a:t>
            </a:r>
          </a:p>
          <a:p>
            <a:pPr lvl="1">
              <a:lnSpc>
                <a:spcPct val="150000"/>
              </a:lnSpc>
              <a:spcAft>
                <a:spcPct val="40000"/>
              </a:spcAft>
              <a:buClr>
                <a:schemeClr val="tx1"/>
              </a:buClr>
              <a:buFont typeface="Symbol" pitchFamily="2" charset="2"/>
              <a:buChar char="·"/>
            </a:pPr>
            <a:r>
              <a:rPr lang="en-US" altLang="en-IL" sz="2200" dirty="0">
                <a:cs typeface="Times New Roman" panose="02020603050405020304" pitchFamily="18" charset="0"/>
              </a:rPr>
              <a:t> Replacing a vanity address and adding a zip code.</a:t>
            </a:r>
            <a:endParaRPr lang="en-US" altLang="en-IL" sz="2200" dirty="0"/>
          </a:p>
          <a:p>
            <a:endParaRPr lang="en-US" altLang="en-IL" sz="2400" dirty="0"/>
          </a:p>
          <a:p>
            <a:endParaRPr lang="en-US" altLang="en-IL"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0879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Cleaning</a:t>
            </a:r>
            <a:endParaRPr lang="en-US" altLang="en-IL" sz="2400" dirty="0"/>
          </a:p>
          <a:p>
            <a:pPr>
              <a:lnSpc>
                <a:spcPct val="150000"/>
              </a:lnSpc>
              <a:spcAft>
                <a:spcPct val="40000"/>
              </a:spcAft>
              <a:buClr>
                <a:schemeClr val="tx1"/>
              </a:buClr>
            </a:pPr>
            <a:r>
              <a:rPr lang="en-US" altLang="en-IL" sz="2400" b="1" u="sng" dirty="0"/>
              <a:t>Standardizing -</a:t>
            </a:r>
            <a:r>
              <a:rPr lang="en-US" altLang="en-IL" sz="2400" dirty="0">
                <a:cs typeface="Times New Roman" panose="02020603050405020304" pitchFamily="18" charset="0"/>
              </a:rPr>
              <a:t> standardizing applies conversion routines to transform data into its preferred (and consistent) format using both standard and custom business rules.</a:t>
            </a:r>
          </a:p>
          <a:p>
            <a:pPr lvl="1">
              <a:lnSpc>
                <a:spcPct val="150000"/>
              </a:lnSpc>
              <a:spcAft>
                <a:spcPct val="40000"/>
              </a:spcAft>
              <a:buClr>
                <a:schemeClr val="tx1"/>
              </a:buClr>
              <a:buFont typeface="Symbol" pitchFamily="2" charset="2"/>
              <a:buChar char="·"/>
            </a:pPr>
            <a:r>
              <a:rPr lang="en-US" altLang="en-IL" dirty="0">
                <a:cs typeface="Times New Roman" panose="02020603050405020304" pitchFamily="18" charset="0"/>
              </a:rPr>
              <a:t> Adding a pre name</a:t>
            </a:r>
          </a:p>
          <a:p>
            <a:pPr lvl="1">
              <a:lnSpc>
                <a:spcPct val="150000"/>
              </a:lnSpc>
              <a:spcAft>
                <a:spcPct val="40000"/>
              </a:spcAft>
              <a:buClr>
                <a:schemeClr val="tx1"/>
              </a:buClr>
              <a:buFont typeface="Symbol" pitchFamily="2" charset="2"/>
              <a:buChar char="·"/>
            </a:pPr>
            <a:r>
              <a:rPr lang="en-US" altLang="en-IL" dirty="0">
                <a:cs typeface="Times New Roman" panose="02020603050405020304" pitchFamily="18" charset="0"/>
              </a:rPr>
              <a:t> Replacing a nickname</a:t>
            </a:r>
            <a:endParaRPr lang="en-US" altLang="en-IL" sz="4000" dirty="0"/>
          </a:p>
          <a:p>
            <a:endParaRPr lang="en-US" altLang="en-IL" sz="2400" dirty="0"/>
          </a:p>
          <a:p>
            <a:endParaRPr lang="en-US" altLang="en-IL"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47843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Cleaning</a:t>
            </a:r>
            <a:endParaRPr lang="en-US" altLang="en-IL" sz="2400" dirty="0"/>
          </a:p>
          <a:p>
            <a:pPr>
              <a:lnSpc>
                <a:spcPct val="150000"/>
              </a:lnSpc>
              <a:spcAft>
                <a:spcPct val="40000"/>
              </a:spcAft>
              <a:buClr>
                <a:schemeClr val="tx1"/>
              </a:buClr>
            </a:pPr>
            <a:r>
              <a:rPr lang="en-US" altLang="en-IL" sz="2400" b="1" u="sng" dirty="0"/>
              <a:t>Matching</a:t>
            </a:r>
            <a:r>
              <a:rPr lang="en-US" altLang="en-IL" sz="2400" b="1" dirty="0"/>
              <a:t> - </a:t>
            </a:r>
            <a:r>
              <a:rPr lang="en-US" altLang="en-IL" sz="2400" dirty="0">
                <a:cs typeface="Times New Roman" panose="02020603050405020304" pitchFamily="18" charset="0"/>
              </a:rPr>
              <a:t>searching and matching records within and across the parsed, corrected and standardized data based on predefined business rules to eliminate duplications.</a:t>
            </a:r>
          </a:p>
          <a:p>
            <a:pPr lvl="1">
              <a:lnSpc>
                <a:spcPct val="150000"/>
              </a:lnSpc>
              <a:spcAft>
                <a:spcPct val="40000"/>
              </a:spcAft>
              <a:buClr>
                <a:schemeClr val="tx1"/>
              </a:buClr>
              <a:buFont typeface="Symbol" pitchFamily="2" charset="2"/>
              <a:buChar char="·"/>
            </a:pPr>
            <a:r>
              <a:rPr lang="en-US" altLang="en-IL" dirty="0">
                <a:cs typeface="Times New Roman" panose="02020603050405020304" pitchFamily="18" charset="0"/>
              </a:rPr>
              <a:t> Identifying similar names and addresses.</a:t>
            </a:r>
          </a:p>
          <a:p>
            <a:pPr>
              <a:lnSpc>
                <a:spcPct val="150000"/>
              </a:lnSpc>
              <a:spcAft>
                <a:spcPct val="40000"/>
              </a:spcAft>
              <a:buClr>
                <a:schemeClr val="tx1"/>
              </a:buClr>
            </a:pPr>
            <a:r>
              <a:rPr lang="en-US" altLang="en-IL" sz="2400" b="1" u="sng" dirty="0"/>
              <a:t>Consolidating</a:t>
            </a:r>
            <a:r>
              <a:rPr lang="en-US" altLang="en-IL" sz="2400" b="1" dirty="0"/>
              <a:t> - </a:t>
            </a:r>
            <a:r>
              <a:rPr lang="en-US" altLang="en-IL" sz="2400" dirty="0">
                <a:cs typeface="Times New Roman" panose="02020603050405020304" pitchFamily="18" charset="0"/>
              </a:rPr>
              <a:t>analyzing and identifying relationships between matched records and consolidating/merging them into ONE representation.</a:t>
            </a:r>
          </a:p>
          <a:p>
            <a:pPr>
              <a:spcAft>
                <a:spcPct val="40000"/>
              </a:spcAft>
              <a:buClr>
                <a:schemeClr val="tx1"/>
              </a:buClr>
              <a:buFont typeface="Symbol" pitchFamily="2" charset="2"/>
              <a:buChar char="·"/>
            </a:pPr>
            <a:endParaRPr lang="en-US" altLang="en-IL" sz="4000" dirty="0"/>
          </a:p>
          <a:p>
            <a:endParaRPr lang="en-US" altLang="en-IL" sz="2400" dirty="0"/>
          </a:p>
          <a:p>
            <a:endParaRPr lang="en-US" altLang="en-IL"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791719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53459"/>
            <a:ext cx="11616266" cy="6485754"/>
          </a:xfrm>
        </p:spPr>
        <p:txBody>
          <a:bodyPr>
            <a:normAutofit/>
          </a:bodyPr>
          <a:lstStyle/>
          <a:p>
            <a:pPr algn="ctr">
              <a:lnSpc>
                <a:spcPct val="150000"/>
              </a:lnSpc>
            </a:pPr>
            <a:r>
              <a:rPr lang="en-US" sz="3200" b="1" dirty="0"/>
              <a:t>Data Transformation and Loading</a:t>
            </a:r>
            <a:endParaRPr lang="en-US" altLang="en-IL" sz="2400" dirty="0"/>
          </a:p>
          <a:p>
            <a:pPr marL="342900" indent="-342900">
              <a:lnSpc>
                <a:spcPct val="150000"/>
              </a:lnSpc>
              <a:buFontTx/>
              <a:buChar char="-"/>
            </a:pPr>
            <a:r>
              <a:rPr lang="en-US" altLang="en-IL" sz="2400" dirty="0"/>
              <a:t>Transforms the data with business rules and standards that have been established</a:t>
            </a:r>
          </a:p>
          <a:p>
            <a:pPr marL="800100" lvl="1" indent="-342900">
              <a:lnSpc>
                <a:spcPct val="150000"/>
              </a:lnSpc>
              <a:buFontTx/>
              <a:buChar char="-"/>
            </a:pPr>
            <a:r>
              <a:rPr lang="en-US" altLang="en-IL" sz="2000" dirty="0"/>
              <a:t>format changes, deduplication, splitting up fields, replacement of codes, and aggregates</a:t>
            </a:r>
          </a:p>
          <a:p>
            <a:pPr marL="342900" indent="-342900">
              <a:lnSpc>
                <a:spcPct val="150000"/>
              </a:lnSpc>
              <a:buFontTx/>
              <a:buChar char="-"/>
            </a:pPr>
            <a:r>
              <a:rPr lang="en-US" altLang="en-IL" sz="2400" dirty="0"/>
              <a:t>Data are </a:t>
            </a:r>
            <a:r>
              <a:rPr lang="en-US" altLang="en-IL" sz="2400" b="1" dirty="0">
                <a:solidFill>
                  <a:srgbClr val="FF0000"/>
                </a:solidFill>
              </a:rPr>
              <a:t>physically</a:t>
            </a:r>
            <a:r>
              <a:rPr lang="en-US" altLang="en-IL" sz="2400" dirty="0"/>
              <a:t> moved to the data warehouse</a:t>
            </a:r>
          </a:p>
          <a:p>
            <a:pPr>
              <a:spcAft>
                <a:spcPct val="40000"/>
              </a:spcAft>
              <a:buClr>
                <a:schemeClr val="tx1"/>
              </a:buClr>
            </a:pPr>
            <a:endParaRPr lang="en-US" altLang="en-IL" sz="4000" dirty="0"/>
          </a:p>
          <a:p>
            <a:endParaRPr lang="en-US" altLang="en-IL" sz="2400" dirty="0"/>
          </a:p>
          <a:p>
            <a:endParaRPr lang="en-US" altLang="en-IL"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5122" name="Picture 2" descr="What Do We Do? - ETL">
            <a:extLst>
              <a:ext uri="{FF2B5EF4-FFF2-40B4-BE49-F238E27FC236}">
                <a16:creationId xmlns:a16="http://schemas.microsoft.com/office/drawing/2014/main" id="{3DAB87E3-C7C5-8543-8C56-DA765D064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5166" y="2987897"/>
            <a:ext cx="6781800" cy="29308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7994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META Data</a:t>
            </a:r>
            <a:endParaRPr lang="en-US" altLang="en-IL" sz="2400" dirty="0"/>
          </a:p>
          <a:p>
            <a:pPr marL="457200" indent="-457200">
              <a:lnSpc>
                <a:spcPct val="150000"/>
              </a:lnSpc>
              <a:buAutoNum type="arabicPeriod"/>
            </a:pPr>
            <a:r>
              <a:rPr lang="en-US" altLang="en-IL" sz="2400" dirty="0"/>
              <a:t>Data about data, includes data sources and targets, database, table and column names.</a:t>
            </a:r>
          </a:p>
          <a:p>
            <a:pPr marL="457200" indent="-457200">
              <a:lnSpc>
                <a:spcPct val="150000"/>
              </a:lnSpc>
              <a:buAutoNum type="arabicPeriod"/>
            </a:pPr>
            <a:r>
              <a:rPr lang="en-US" altLang="en-IL" sz="2400" dirty="0"/>
              <a:t>Needed by both information technology and users</a:t>
            </a:r>
          </a:p>
          <a:p>
            <a:pPr marL="800100" lvl="1" indent="-342900">
              <a:lnSpc>
                <a:spcPct val="150000"/>
              </a:lnSpc>
              <a:buFontTx/>
              <a:buChar char="-"/>
            </a:pPr>
            <a:r>
              <a:rPr lang="en-US" altLang="en-IL" sz="2000" dirty="0"/>
              <a:t>Users need to know entity/attribute definitions</a:t>
            </a:r>
          </a:p>
          <a:p>
            <a:pPr marL="800100" lvl="1" indent="-342900">
              <a:lnSpc>
                <a:spcPct val="150000"/>
              </a:lnSpc>
              <a:buFontTx/>
              <a:buChar char="-"/>
            </a:pPr>
            <a:r>
              <a:rPr lang="en-US" altLang="en-IL" sz="2000" dirty="0"/>
              <a:t>Reports/query tools</a:t>
            </a:r>
          </a:p>
          <a:p>
            <a:pPr marL="800100" lvl="1" indent="-342900">
              <a:lnSpc>
                <a:spcPct val="150000"/>
              </a:lnSpc>
              <a:buFontTx/>
              <a:buChar char="-"/>
            </a:pPr>
            <a:r>
              <a:rPr lang="en-US" altLang="en-IL" sz="2000" dirty="0"/>
              <a:t>Report distribution information</a:t>
            </a:r>
          </a:p>
          <a:p>
            <a:pPr>
              <a:spcAft>
                <a:spcPct val="40000"/>
              </a:spcAft>
              <a:buClr>
                <a:schemeClr val="tx1"/>
              </a:buClr>
              <a:buFont typeface="Symbol" pitchFamily="2" charset="2"/>
              <a:buChar char="·"/>
            </a:pPr>
            <a:endParaRPr lang="en-US" altLang="en-IL" sz="4000" dirty="0"/>
          </a:p>
          <a:p>
            <a:endParaRPr lang="en-US" altLang="en-IL" sz="2400" dirty="0"/>
          </a:p>
          <a:p>
            <a:endParaRPr lang="en-US" altLang="en-IL"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6146" name="Picture 2" descr="Difference between Data and Metadata - GeeksforGeeks">
            <a:extLst>
              <a:ext uri="{FF2B5EF4-FFF2-40B4-BE49-F238E27FC236}">
                <a16:creationId xmlns:a16="http://schemas.microsoft.com/office/drawing/2014/main" id="{D7F4E1D1-B182-0E48-9732-D77EA7F1A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16034" y="2988732"/>
            <a:ext cx="5618555" cy="2815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413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Mathematical Models</a:t>
            </a:r>
          </a:p>
          <a:p>
            <a:pPr marL="457200" indent="-457200">
              <a:lnSpc>
                <a:spcPct val="150000"/>
              </a:lnSpc>
              <a:buFontTx/>
              <a:buChar char="-"/>
            </a:pPr>
            <a:r>
              <a:rPr lang="en-US" sz="2400" dirty="0"/>
              <a:t>Mathematics can be used to represent real-world situations. </a:t>
            </a:r>
          </a:p>
          <a:p>
            <a:pPr marL="457200" indent="-457200">
              <a:lnSpc>
                <a:spcPct val="150000"/>
              </a:lnSpc>
              <a:buFontTx/>
              <a:buChar char="-"/>
            </a:pPr>
            <a:r>
              <a:rPr lang="en-US" sz="2400" dirty="0"/>
              <a:t>The instruments used to represent real are called </a:t>
            </a:r>
            <a:r>
              <a:rPr lang="en-US" sz="2400" b="1" dirty="0"/>
              <a:t>mathematical models</a:t>
            </a:r>
            <a:r>
              <a:rPr lang="en-US" sz="2400" dirty="0"/>
              <a:t>. </a:t>
            </a:r>
          </a:p>
          <a:p>
            <a:pPr marL="457200" indent="-457200">
              <a:lnSpc>
                <a:spcPct val="150000"/>
              </a:lnSpc>
              <a:buFontTx/>
              <a:buChar char="-"/>
            </a:pPr>
            <a:r>
              <a:rPr lang="en-US" sz="2400" dirty="0"/>
              <a:t>They help us understand how the real-world works. </a:t>
            </a:r>
          </a:p>
          <a:p>
            <a:endParaRPr lang="he-IL" sz="2400" dirty="0"/>
          </a:p>
          <a:p>
            <a:r>
              <a:rPr lang="en-US" sz="2400" dirty="0"/>
              <a:t>A simple mathematical model representing profit calculation is illustrated as </a:t>
            </a:r>
          </a:p>
          <a:p>
            <a:pPr marL="457200" indent="-457200">
              <a:buAutoNum type="arabicPeriod"/>
            </a:pPr>
            <a:endParaRPr lang="en-US"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ounded Rectangle 2">
            <a:extLst>
              <a:ext uri="{FF2B5EF4-FFF2-40B4-BE49-F238E27FC236}">
                <a16:creationId xmlns:a16="http://schemas.microsoft.com/office/drawing/2014/main" id="{0FD9325E-93C6-3545-ADDD-7314ED669F6F}"/>
              </a:ext>
            </a:extLst>
          </p:cNvPr>
          <p:cNvSpPr/>
          <p:nvPr/>
        </p:nvSpPr>
        <p:spPr>
          <a:xfrm>
            <a:off x="2573865" y="4343400"/>
            <a:ext cx="1981200" cy="50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r>
              <a:rPr lang="en-US" dirty="0"/>
              <a:t>Revenues</a:t>
            </a:r>
            <a:endParaRPr lang="en-IL" dirty="0"/>
          </a:p>
        </p:txBody>
      </p:sp>
      <p:sp>
        <p:nvSpPr>
          <p:cNvPr id="6" name="Rounded Rectangle 5">
            <a:extLst>
              <a:ext uri="{FF2B5EF4-FFF2-40B4-BE49-F238E27FC236}">
                <a16:creationId xmlns:a16="http://schemas.microsoft.com/office/drawing/2014/main" id="{262AABDA-DA4B-754B-A1CF-D4504E65EE4B}"/>
              </a:ext>
            </a:extLst>
          </p:cNvPr>
          <p:cNvSpPr/>
          <p:nvPr/>
        </p:nvSpPr>
        <p:spPr>
          <a:xfrm>
            <a:off x="2573865" y="5100108"/>
            <a:ext cx="1981200" cy="50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r>
              <a:rPr lang="en-US" dirty="0"/>
              <a:t>Costs</a:t>
            </a:r>
            <a:endParaRPr lang="en-IL" dirty="0"/>
          </a:p>
        </p:txBody>
      </p:sp>
      <p:cxnSp>
        <p:nvCxnSpPr>
          <p:cNvPr id="8" name="Straight Arrow Connector 7">
            <a:extLst>
              <a:ext uri="{FF2B5EF4-FFF2-40B4-BE49-F238E27FC236}">
                <a16:creationId xmlns:a16="http://schemas.microsoft.com/office/drawing/2014/main" id="{26D0B70B-BBEB-6B48-8112-35F64BECF9E7}"/>
              </a:ext>
            </a:extLst>
          </p:cNvPr>
          <p:cNvCxnSpPr/>
          <p:nvPr/>
        </p:nvCxnSpPr>
        <p:spPr>
          <a:xfrm>
            <a:off x="4555065" y="4572000"/>
            <a:ext cx="728134" cy="279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82712833-8D3C-2543-9965-B26D027AA758}"/>
              </a:ext>
            </a:extLst>
          </p:cNvPr>
          <p:cNvCxnSpPr>
            <a:cxnSpLocks/>
            <a:stCxn id="6" idx="3"/>
          </p:cNvCxnSpPr>
          <p:nvPr/>
        </p:nvCxnSpPr>
        <p:spPr>
          <a:xfrm flipV="1">
            <a:off x="4555065" y="4927600"/>
            <a:ext cx="736600" cy="426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57470323-F9F0-6946-8C82-8A87B883E45A}"/>
              </a:ext>
            </a:extLst>
          </p:cNvPr>
          <p:cNvSpPr/>
          <p:nvPr/>
        </p:nvSpPr>
        <p:spPr>
          <a:xfrm>
            <a:off x="5393265" y="4690534"/>
            <a:ext cx="1718734" cy="40957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Substract</a:t>
            </a:r>
          </a:p>
        </p:txBody>
      </p:sp>
      <p:cxnSp>
        <p:nvCxnSpPr>
          <p:cNvPr id="14" name="Straight Arrow Connector 13">
            <a:extLst>
              <a:ext uri="{FF2B5EF4-FFF2-40B4-BE49-F238E27FC236}">
                <a16:creationId xmlns:a16="http://schemas.microsoft.com/office/drawing/2014/main" id="{24542102-36E7-014F-ADFD-29CD24C0B154}"/>
              </a:ext>
            </a:extLst>
          </p:cNvPr>
          <p:cNvCxnSpPr/>
          <p:nvPr/>
        </p:nvCxnSpPr>
        <p:spPr>
          <a:xfrm>
            <a:off x="7162801" y="4851400"/>
            <a:ext cx="7704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Rounded Rectangle 14">
            <a:extLst>
              <a:ext uri="{FF2B5EF4-FFF2-40B4-BE49-F238E27FC236}">
                <a16:creationId xmlns:a16="http://schemas.microsoft.com/office/drawing/2014/main" id="{CA0B929D-51F0-CA43-A448-260E4FD04567}"/>
              </a:ext>
            </a:extLst>
          </p:cNvPr>
          <p:cNvSpPr/>
          <p:nvPr/>
        </p:nvSpPr>
        <p:spPr>
          <a:xfrm>
            <a:off x="8170332" y="4646613"/>
            <a:ext cx="1718734" cy="409574"/>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Profit</a:t>
            </a:r>
          </a:p>
        </p:txBody>
      </p:sp>
    </p:spTree>
    <p:extLst>
      <p:ext uri="{BB962C8B-B14F-4D97-AF65-F5344CB8AC3E}">
        <p14:creationId xmlns:p14="http://schemas.microsoft.com/office/powerpoint/2010/main" val="8938746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anim calcmode="lin" valueType="num">
                                      <p:cBhvr additive="base">
                                        <p:cTn id="3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Use of Mathematical Models in Business</a:t>
            </a:r>
          </a:p>
          <a:p>
            <a:pPr>
              <a:lnSpc>
                <a:spcPct val="150000"/>
              </a:lnSpc>
            </a:pPr>
            <a:r>
              <a:rPr lang="en-US" sz="2400" u="sng" dirty="0"/>
              <a:t>Decision Making</a:t>
            </a:r>
          </a:p>
          <a:p>
            <a:pPr marL="914400" lvl="1" indent="-457200">
              <a:lnSpc>
                <a:spcPct val="150000"/>
              </a:lnSpc>
              <a:buFontTx/>
              <a:buChar char="-"/>
            </a:pPr>
            <a:r>
              <a:rPr lang="en-US" dirty="0"/>
              <a:t>Multiple participants with conflicting views </a:t>
            </a:r>
          </a:p>
          <a:p>
            <a:pPr marL="914400" lvl="1" indent="-457200">
              <a:lnSpc>
                <a:spcPct val="150000"/>
              </a:lnSpc>
              <a:buFontTx/>
              <a:buChar char="-"/>
            </a:pPr>
            <a:r>
              <a:rPr lang="en-US" dirty="0">
                <a:solidFill>
                  <a:srgbClr val="FF0000"/>
                </a:solidFill>
              </a:rPr>
              <a:t>Use input variables and a set of conditions to arrive at a decision</a:t>
            </a:r>
            <a:endParaRPr lang="en-US" dirty="0"/>
          </a:p>
          <a:p>
            <a:pPr marL="914400" lvl="1" indent="-457200">
              <a:lnSpc>
                <a:spcPct val="150000"/>
              </a:lnSpc>
              <a:buFontTx/>
              <a:buChar char="-"/>
            </a:pPr>
            <a:r>
              <a:rPr lang="en-US" dirty="0"/>
              <a:t>Decide whether to invest in a project or not </a:t>
            </a:r>
          </a:p>
          <a:p>
            <a:pPr marL="457200" indent="-457200">
              <a:buAutoNum type="arabicPeriod"/>
            </a:pPr>
            <a:endParaRPr lang="en-US"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800540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Use of Mathematical Models in Business</a:t>
            </a:r>
          </a:p>
          <a:p>
            <a:pPr>
              <a:lnSpc>
                <a:spcPct val="150000"/>
              </a:lnSpc>
            </a:pPr>
            <a:r>
              <a:rPr lang="en-US" sz="2400" u="sng" dirty="0"/>
              <a:t>Making predictions</a:t>
            </a:r>
          </a:p>
          <a:p>
            <a:pPr marL="914400" lvl="1" indent="-457200">
              <a:lnSpc>
                <a:spcPct val="150000"/>
              </a:lnSpc>
              <a:buFontTx/>
              <a:buChar char="-"/>
            </a:pPr>
            <a:r>
              <a:rPr lang="en-US" dirty="0"/>
              <a:t>Requirement of predicting certain factors, such as revenue, growth rate, costs. </a:t>
            </a:r>
          </a:p>
          <a:p>
            <a:pPr marL="914400" lvl="1" indent="-457200">
              <a:lnSpc>
                <a:spcPct val="150000"/>
              </a:lnSpc>
              <a:buFontTx/>
              <a:buChar char="-"/>
            </a:pPr>
            <a:r>
              <a:rPr lang="en-US" dirty="0"/>
              <a:t>Used in case of new product launch, change in strategy, investment needs, etc.</a:t>
            </a:r>
          </a:p>
          <a:p>
            <a:pPr marL="914400" lvl="1" indent="-457200">
              <a:lnSpc>
                <a:spcPct val="150000"/>
              </a:lnSpc>
              <a:buFontTx/>
              <a:buChar char="-"/>
            </a:pPr>
            <a:r>
              <a:rPr lang="en-US" dirty="0"/>
              <a:t>Predictive mathematical models are used that analyze historical data and use probability distribution as input for predicting the future values. </a:t>
            </a:r>
          </a:p>
          <a:p>
            <a:pPr marL="914400" lvl="1" indent="-457200">
              <a:lnSpc>
                <a:spcPct val="150000"/>
              </a:lnSpc>
              <a:buFontTx/>
              <a:buChar char="-"/>
            </a:pPr>
            <a:r>
              <a:rPr lang="en-US" dirty="0"/>
              <a:t>Regression analysis </a:t>
            </a:r>
          </a:p>
          <a:p>
            <a:pPr marL="457200" indent="-457200">
              <a:buAutoNum type="arabicPeriod"/>
            </a:pPr>
            <a:endParaRPr lang="en-US"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080734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Use of Mathematical Models in Business</a:t>
            </a:r>
          </a:p>
          <a:p>
            <a:pPr>
              <a:lnSpc>
                <a:spcPct val="150000"/>
              </a:lnSpc>
            </a:pPr>
            <a:r>
              <a:rPr lang="en-US" sz="2400" u="sng" dirty="0"/>
              <a:t>Optimizing</a:t>
            </a:r>
          </a:p>
          <a:p>
            <a:pPr marL="914400" lvl="1" indent="-457200">
              <a:lnSpc>
                <a:spcPct val="150000"/>
              </a:lnSpc>
              <a:buFontTx/>
              <a:buChar char="-"/>
            </a:pPr>
            <a:r>
              <a:rPr lang="en-US" dirty="0"/>
              <a:t>These models often maximize or minimize a quantity by making changes in another variable or a set of variables. </a:t>
            </a:r>
          </a:p>
          <a:p>
            <a:pPr lvl="1">
              <a:lnSpc>
                <a:spcPct val="150000"/>
              </a:lnSpc>
            </a:pPr>
            <a:endParaRPr lang="en-US" dirty="0"/>
          </a:p>
          <a:p>
            <a:pPr marL="914400" lvl="1" indent="-457200">
              <a:buFontTx/>
              <a:buChar char="-"/>
            </a:pPr>
            <a:endParaRPr lang="en-US" sz="2000" dirty="0"/>
          </a:p>
          <a:p>
            <a:pPr marL="457200" indent="-457200">
              <a:buAutoNum type="arabicPeriod"/>
            </a:pPr>
            <a:endParaRPr lang="en-US"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6" name="Rounded Rectangle 5">
            <a:extLst>
              <a:ext uri="{FF2B5EF4-FFF2-40B4-BE49-F238E27FC236}">
                <a16:creationId xmlns:a16="http://schemas.microsoft.com/office/drawing/2014/main" id="{D23B9A46-B4CA-3049-908F-26E6FB0C8C44}"/>
              </a:ext>
            </a:extLst>
          </p:cNvPr>
          <p:cNvSpPr/>
          <p:nvPr/>
        </p:nvSpPr>
        <p:spPr>
          <a:xfrm>
            <a:off x="1786464" y="4072465"/>
            <a:ext cx="1981200" cy="50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r>
              <a:rPr lang="en-US" dirty="0"/>
              <a:t>Revenues</a:t>
            </a:r>
            <a:endParaRPr lang="en-IL" dirty="0"/>
          </a:p>
        </p:txBody>
      </p:sp>
      <p:sp>
        <p:nvSpPr>
          <p:cNvPr id="7" name="Rounded Rectangle 6">
            <a:extLst>
              <a:ext uri="{FF2B5EF4-FFF2-40B4-BE49-F238E27FC236}">
                <a16:creationId xmlns:a16="http://schemas.microsoft.com/office/drawing/2014/main" id="{69FD7D0F-FA09-644F-987C-08327863E7C7}"/>
              </a:ext>
            </a:extLst>
          </p:cNvPr>
          <p:cNvSpPr/>
          <p:nvPr/>
        </p:nvSpPr>
        <p:spPr>
          <a:xfrm>
            <a:off x="1786464" y="4829173"/>
            <a:ext cx="1981200" cy="508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1" eaLnBrk="1" latinLnBrk="0" hangingPunct="1"/>
            <a:r>
              <a:rPr lang="en-US" dirty="0"/>
              <a:t>Costs</a:t>
            </a:r>
            <a:endParaRPr lang="en-IL" dirty="0"/>
          </a:p>
        </p:txBody>
      </p:sp>
      <p:cxnSp>
        <p:nvCxnSpPr>
          <p:cNvPr id="8" name="Straight Arrow Connector 7">
            <a:extLst>
              <a:ext uri="{FF2B5EF4-FFF2-40B4-BE49-F238E27FC236}">
                <a16:creationId xmlns:a16="http://schemas.microsoft.com/office/drawing/2014/main" id="{07D62D9C-0942-2F43-9AB6-32E4C261EDA9}"/>
              </a:ext>
            </a:extLst>
          </p:cNvPr>
          <p:cNvCxnSpPr/>
          <p:nvPr/>
        </p:nvCxnSpPr>
        <p:spPr>
          <a:xfrm>
            <a:off x="3767664" y="4301065"/>
            <a:ext cx="728134" cy="279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CD3AE132-BC72-8040-8571-BD827EC4164F}"/>
              </a:ext>
            </a:extLst>
          </p:cNvPr>
          <p:cNvCxnSpPr>
            <a:cxnSpLocks/>
            <a:stCxn id="7" idx="3"/>
          </p:cNvCxnSpPr>
          <p:nvPr/>
        </p:nvCxnSpPr>
        <p:spPr>
          <a:xfrm flipV="1">
            <a:off x="3767664" y="4656665"/>
            <a:ext cx="736600" cy="4265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Rounded Rectangle 9">
            <a:extLst>
              <a:ext uri="{FF2B5EF4-FFF2-40B4-BE49-F238E27FC236}">
                <a16:creationId xmlns:a16="http://schemas.microsoft.com/office/drawing/2014/main" id="{00C5CE5A-7EF3-D442-AA9F-1F8FADD46B68}"/>
              </a:ext>
            </a:extLst>
          </p:cNvPr>
          <p:cNvSpPr/>
          <p:nvPr/>
        </p:nvSpPr>
        <p:spPr>
          <a:xfrm>
            <a:off x="4605864" y="4419599"/>
            <a:ext cx="1718734" cy="409574"/>
          </a:xfrm>
          <a:prstGeom prst="round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Substract</a:t>
            </a:r>
          </a:p>
        </p:txBody>
      </p:sp>
      <p:cxnSp>
        <p:nvCxnSpPr>
          <p:cNvPr id="11" name="Straight Arrow Connector 10">
            <a:extLst>
              <a:ext uri="{FF2B5EF4-FFF2-40B4-BE49-F238E27FC236}">
                <a16:creationId xmlns:a16="http://schemas.microsoft.com/office/drawing/2014/main" id="{E7A4723C-5626-E847-B7BC-6CB08C1B9B93}"/>
              </a:ext>
            </a:extLst>
          </p:cNvPr>
          <p:cNvCxnSpPr/>
          <p:nvPr/>
        </p:nvCxnSpPr>
        <p:spPr>
          <a:xfrm>
            <a:off x="6375400" y="4580465"/>
            <a:ext cx="77046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ounded Rectangle 11">
            <a:extLst>
              <a:ext uri="{FF2B5EF4-FFF2-40B4-BE49-F238E27FC236}">
                <a16:creationId xmlns:a16="http://schemas.microsoft.com/office/drawing/2014/main" id="{64D0DD3F-5536-9140-9A8B-B454CE9BD523}"/>
              </a:ext>
            </a:extLst>
          </p:cNvPr>
          <p:cNvSpPr/>
          <p:nvPr/>
        </p:nvSpPr>
        <p:spPr>
          <a:xfrm>
            <a:off x="7382931" y="4375678"/>
            <a:ext cx="1718734" cy="409574"/>
          </a:xfrm>
          <a:prstGeom prst="round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dirty="0"/>
              <a:t>Profit</a:t>
            </a:r>
          </a:p>
        </p:txBody>
      </p:sp>
      <p:sp>
        <p:nvSpPr>
          <p:cNvPr id="3" name="TextBox 2">
            <a:extLst>
              <a:ext uri="{FF2B5EF4-FFF2-40B4-BE49-F238E27FC236}">
                <a16:creationId xmlns:a16="http://schemas.microsoft.com/office/drawing/2014/main" id="{E3F8D628-6F41-EF40-AC95-0D6EC0E6E354}"/>
              </a:ext>
            </a:extLst>
          </p:cNvPr>
          <p:cNvSpPr txBox="1"/>
          <p:nvPr/>
        </p:nvSpPr>
        <p:spPr>
          <a:xfrm>
            <a:off x="4690534" y="3632211"/>
            <a:ext cx="4100033" cy="369332"/>
          </a:xfrm>
          <a:prstGeom prst="rect">
            <a:avLst/>
          </a:prstGeom>
          <a:noFill/>
        </p:spPr>
        <p:txBody>
          <a:bodyPr wrap="none" rtlCol="0">
            <a:spAutoFit/>
          </a:bodyPr>
          <a:lstStyle/>
          <a:p>
            <a:r>
              <a:rPr lang="en-US" b="1" dirty="0"/>
              <a:t>W</a:t>
            </a:r>
            <a:r>
              <a:rPr lang="en-IL" b="1" dirty="0"/>
              <a:t>hat should I do to maximize the profit?</a:t>
            </a:r>
          </a:p>
        </p:txBody>
      </p:sp>
    </p:spTree>
    <p:extLst>
      <p:ext uri="{BB962C8B-B14F-4D97-AF65-F5344CB8AC3E}">
        <p14:creationId xmlns:p14="http://schemas.microsoft.com/office/powerpoint/2010/main" val="3135828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4" descr="data:image/jpeg;base64,/9j/4AAQSkZJRgABAQAAAQABAAD/2wCEAAkGBxQPEBUUEBQQFBQUFBAXFBIWFRQWFBQPFBQWFhUVFRQYHCggGBwlGxQUITEhJSkrLi4uGB8zODMsNygtLisBCgoKDg0OGhAQGi8kHyYtNy4sLywxLCwsLC01LDc3LCwsLC84LCwsLCwsLCwsLCwsLCwsLCwrLDcsLCwsLDc3N//AABEIAMIBAwMBIgACEQEDEQH/xAAcAAABBQEBAQAAAAAAAAAAAAAAAQIEBQYDBwj/xABJEAABAwIDBAUGCgYKAwEAAAABAAIDBBESITEFBkFRE2FxgZEiMlKhscEHFCNCU3JzkrLRFiQzYqLiNENjZIKT0tPh8ESD8SX/xAAaAQEAAwEBAQAAAAAAAAAAAAAAAQIDBAUG/8QAKhEBAAICAQIEBAcAAAAAAAAAAAECAxEEEkETITFRBRRxoRUiIzJSYYH/2gAMAwEAAhEDEQA/APcUIQgEIQgEIQgEIQgEIQgEIQgEIQgEIQgEIQgEIQgEIQgEIQgEIQgEIQgEIQgEIQgEIQgEIQgEJEIFQkQgVCRCBUJEIFQkQgVCRCBUJkkgaLuIA5lU1btzhEP8R9w/NBbz1DYxd5AH/dAoDdux30eO7/lZ6WUvN3Ek8ymINUza0R+dbtBHuUhlUw6Oae8LHXSOqbZDMoNuDdKqjdx143E+mfwhW6AQkSoBCEIBCEIBCEIBCEIBCEIEQhCAQhCAQhIgVCRCBUiEIBCLpECrM7274x7OLQ9khx/PABa0nMAi9ySAeHBaVeS/Dha0Wnnx6/VkQTXb8U05u+e3IOa4AdmVgptPtSGTzJYndj2/mvDg3kD3H/lGnE94Qe+DqTXOA1XmnwfQtldNjLjg6HDhfIy2LHe4a4X0Gq9Aug6PkLuoetNGSbiTo2lxs0Ek6AZlBq92R8j/AI3ewK3VdsKB0cIa4EG7iR2lWCBUJEIFQkuhAqEIQCEIQCEIQCVIhAIQhAIQhAIQkugCkQSuUkobqUHVJdRaeqxi44ajiEsznWyyQd8aW6i0znaPGmjvzXe6B91ht+91ztKeNhcWRta1z3i19JAA2+V7kdy2hf1rMb1b1w7NLenEhD/nMANtdQSOXBB59tD4I5Rc09RE7k2RrmH7zb+xZyDcupdVSU2KASxMa93yjnNwuIAF2tNjpkbahbfeH4WIWxltE175CDaSRpaxh54Tm4+rrWR+D7eSKlq5pqx7z0sZu+xe50pka4k26roNBuhu5PROmErb4+iwubdwOHHfgDxGq089O5haHWBdpnpwz5Lts7fiinv0bpDa17xuGumqXbldHNg6Mk2xXuLa2t7EE2HdyQ+c6NviT7FaQQfEmXPltJ8pzW2c2+naFV7H3hwNDJrkDIP1NuRHvU+beOK1gHPv1WHrQW8FQHtDm5tOhzTw8ngo2zpAYmlowtIuG8gSSnVLXOFg6w48z3oJYKW6hQRFoyXRsgJsXC/K+aCSClTLpQUDkJt0qBUqalQKhCEAhCEAhCEAhCRyBpKQuUZ05C4y1LuCCS5y4StumUkuK4dqOPUpCCLTwlrrjv6wphcuZcmF6DqXqJ8YzsH2zyDgCO45Fd8KiTU10HRwxeeB2g+5Yj4T6mngp/lYBO8+YHFwazMDEXA3yJ0C15GAZnLgFkN8yHPjuARheCDmCDbIjig8QA1y4+4LR7j0dFNM8bQIbGI7sJe5o6TE0WuDnkSrWr3ap5M2h0R/cOX3T7rKZuRuax1W9s/RzxdDIQ1wzD8cdjbnYnMFBo9lbK2RHi6CRpuW3tJI7MacVP2mIAG9A65ucWunDVNZuJBESYQ+O5BIBu246nLjtbZxpg0lwIcSBlnlzQcWvVzsuWnItKMLhxNy0/ksz06UVQQeiwlot0YxC2RvYW9vqUgSOPFrfFx8clTbNka5jRexwt48bKzjicNSUE0PTXxh2Z15qOHro16CQ0kcbp4cuDXpOnzzDu22SCViSgrh0otquTasl1mskI9IjC3+LM9wQTrpwXIFPCB6EBCAQhCAQhCAXGrnEbHPd5rWucePkgXOS7Kv26f1ab7KT8JQDHMlaHscC1wBBGhB0KR0PWsK3b52fK7LFTvdd7fopCc5G/uniO/mtMzbOIAtaLEXBvcW6rK1qzWfNTHkreNws2xAG6UuVQ6rc4626hoprZri6qu7OeuTpEzpV0ydp4IOYqCNCnO2gLZjP1Li+BQ6kYTa6BKmpLjc/wDxZneR+Is7CreZ6odtvuW96CrKk7L2k6kl6RgDiA4FpvYg8L8NAoL6hoyLgO02U3ZFB8aeWNdh8hzgbXFwQPegvd3fhIhq2kyQSRFrsJs4SNOWoOR7rLrvXtGGohaYZGuLX5tza7CRa9nAcbLIbH3JqaIPDsEl3gtLCb2tbNrgLHXmmVLHMNntc08nAj2oHumU6hpsw52vAclGoqfi7XgOStoAgs6R9lbwVrgLYiqSJT6V4+dftHBBbipLtSu8ciggNAvjFvH1Li3aLAfO8QQgumvXVr1VQVjXea4E8k11Q4G+fZwQXYcngqnZtS2o8Fmt695TK19PT4m5WnmBsWtP9Uw+mRqeAPMhTWs2nUKXvFKzaWr2Nt+OrlnZDciBzGmT5r3OxXwcwC0i/NXDSvPPgrAb8ZDQAAacADQANkXoDSrZK9NpqjDk8SkX93cFKmNKeqNAhCEAhCZJIBqbIHkqo3lltST/AGMv4SuW1d5IKYXlka3W3M9g1Kwu2d/YqwPpoSWmZj2NkcPJxEEAWPPRIRKo2rU4nEK9+D/CaIYrm0tS0Z6MbK4NaOoBefUde57nMlGGWMlr29Y+cOorSbn7QwU2H+1qT4zPXZyJicddPM4NbVy3iXoQkaNEOqrDNZ+OuuutRUXjf9R/4SuN6i3iq2yNxMc1zTxaQR4hL01tF51u3s2J1HC8Yo5MGckbnMcTc6lpGLsN1O+P1UHmytmb6MrQHdnSMt6wVr4NpjcOX5vHE6tOm4krHEaqK9yzEG+DRlURSx83N+VZ/CMX8Ku6Ta8M4+RkjfzsRcdrdQs5rNfWHRW9bxus7dJHKi2vTGTNpsR4K5eVGljuoWYyt2aXZPYyQDMXGYPMclHoGOpJMcXTxGxBwvOFzTqCPDwWzdTApabZrXkh2Qtf1oKHdnfiqc13xjC4tdYYmlri23E3zWi2jtYVkLWlhY4ODs8xoR712Zsdg09gTpqENF737kFTFCpUbF3ESeGICMKRGVzDV1ZMGjyiABxNgB2lB3jvyKeJVTS70QtNoy+Z3owtLwD1vHkjvKq63bdQ+/RxRwj0nu6R/wBxtgPvFWrS1vSGeTNSn7pbBs3JLHXNdexa6xsbEGx5HkvMqrpJcp5pZB6N8DPuMsCO26l7ly9HDKG5Dp35Dsb+S0yYLY4ibMcHLpmtNa9no7ZmcQ3wXnlTOA2oA41dV+NWkm1COKxdftMMilcc71E5AGrnF2QCnjzq+5V50TbFqO8vRPgsflU/Xh/A7816A16+f6HbsuyI2kHFUVBEkrC44I4wLMbbn19q2O7PwnipkZFJC9sjshhOJumt7C2h4LPJbqtMt8NOjHFfZ6oxy7NVLS7UY7U2PX+at4nXVGrohCEAVn9rTFrrHjct/JX5VTtmj6RmWThm08nBB5lvhG+scYGxSYmtxxzWvGXcY3Hhe1u0BeTTyOB+cC09hDh7CLepe17U3hgp3YJHEy/Qsa58mtvNAyGRzKy9Rsx9ZMZYdnBrnW+UqXWaSPnGBpzPbqpGY6c1jBNH/SoAA8cJohx+tzCud03l8IOebpTbleRxsr+HcSpmsKiowt+ihaImDqs3VarZe6UVOwNYNFM28tKxWInampISpk7Pk3/Uf+Eq7Ozg3RQdqR4In/Uf+E6c1VZh93am1HCP3PeU6epWX2Tt6NsTYnEtc0WOIEZ39XerFtUHZggjmDdephmsxD53lUvF53Cdjul3TP8A+jKeUDfW4KKyRP3Vk/Xqg8o4h7FHMn8n+tPhkfrT9G+xIKjskXRrl5j3lFvZVSRmnbFI6PpZ2sc5oaThI4YgQu52fKzStqvu03+yoG+zs6Q8qqNWNTVZLowUi3q4OZmtjmNShTCobpW1P3ab/ZUOapqbW+OTntZT+6JPqKlQzLdd1ePj9nl35ubtYlRXVLGF3xmXIE+ZDwH2a0261W+akifK7E9wcS6wF/KIGQAGllkdov8Akn/Vd7Fpt0zahg+zHrJXJy6VpMdMPS+HZb5K26535rwuVVvS/wDUaj7GX8JUxz1Ubyzfqk45wy/hK5HouuyJQKOG1v2Uf4Qq+uqLlcKCqtSxfZs9igzz3K9XDGoh83yJmbT9XUvU3c+HFBIf7eX3LN1W2Io8nPF+QzK2fwYkSUrjmCZpXWIIOE2sc+Cw5eSJiIh2fDMVq2tMx2cNoUbgMgVjdmsaal5kLHPjdIYKdzmsL5XHzvKtkvcmUDTqAq3ae51NUftImk+laxHeFxQ9eY28J2vT1Akc+qZI1zjcuc0hp4DC7Qi1gLFbTdLd6ohg6eIRieQtDekv5FObXOG3nEgZZZLUSbhSRf0WqmYPo32li+45OYzaMGUtPFUD0oXCN9vqPNvWFAvKUOcWsHnHU8mjznW/7qtnSMwtA5BUOw6IgF7xZzuBsS1o0C0EaJdkJLoQKVxlaut1zegr30bL3wi/O2fijoRyUshNLVKEbo0jgpJauFRGS04dc7dqCsr6oM7eS8q+EDeidhMcbZIxoZi0gHqjOnfqtzVNmjuZ4nHm+K7xbmW+cPAqJI5lRG5sbo3G1iHC+E2yxxnPuNlA8UG13kWmaydvJ4AcOyQZ+N06L4ubGOSWmfydd7L/AFxnbrIC1825TnucJWxM9GWEubc30dC4EDuKotoblzR/syx45Ztd4HL1q8bZ216SZFLVRi4EdQz043Anvwq13KqOkqZ3Wc27YvJOotl7lA2Xsf4s5pc0vqXD5OFp80Hi8jh6l6Punuw6O8kxxSPtiI0AGjWjgApve0xqZUx4qRbqrCTTxlSCwq+Zs9oTJqILN0PN9+32FN1VDD6lyqK3rU/f3Z4ma1pLhhfi8m3IjiOteYl9PyrPvRrfFl6Ozk5PH8WY82wfUXSCZY7HTf3zxi/NJipv774xf6lv83/Tj/DY/l9mq2jN8i/6rvYtfuwP1OD7NnsXltJDBM8MaaoF17Fzo7ZC/BeybrUgEEbM/JY0Z65DiufNl8SYnTs4vH8GJjeyyRlZ/eS4p5b/AEcn4SvQm7PCg7U2C2VhaQCHAgjqKxdbxim2nPJE1kELjha0F7sm5DW+Qt3qHUMH/lVI+yh8rxcMvFabbexXU7DDVYnQk+RONYzwD+BGYz8Vnf0SnL7MwFvCS/kkHjlmtuu0x6uaMVKzvSE3aEcWVPC1p+kkPSP7cJ8kdmYVru7vNUQSg3fLiIuwedfS7LDLs0VnR7jENJcekeBky+BhPIusTZavdrYr6ZrjK2mZe37NpGEfvSON3d6znyaxqWt2LtjpGtxgtJA1Fu4jgVoIzdY2mma82ha+U82DyP8AMPk+F1p9iwTBvy2AZ5NaSbN5EnXwULrBrV0a1OaxPsgGhdmJjQurQoSehCRAJrgnIKDmQm2XQhNRBlk0tXUpLKRwcy6q9obChnzewX4OF2uHY4WIV1hTS1Bj593pY/2UvSN9CUXPdIM/G6otqUVS4YIadzZHEDG4sdExts5Lg3dY/NsF6ZhTSxEa2xm7e6LKUYnXfK7N8js3Od7h1LSspwFNwJMCJRujXKaPJTcKa6O6DzzeOmxvI6lhH7ix/SS+DfyXsO1NgPkdiikay+odGH3tpbMWUJ27M5/rYf8AJ/nUxKsxPaXjVduoIiA0VEl+LBHl24nDmnUm6IkFyZmH0XNZftyJXr36Kz/SwH/0fzpP0Wn4S0/+R/Op3Hsr0293mmz90BFI14fIS06ENsbi3vXpG7cVsuxSf0antlLBfn0J/wBastkbGfFnK9r3Hi1uAW4ZXKiZ2tWJj1lNYxPMSkCNLgULKut2YyVpa4AgjisTNutNRSA0zTNTucMUNxiiBOb4iTmB6PgvSwxLgQmGMpdmTyDyWCEelJZz/uNNh3kqzpN14wcUxfM7983b3RizR4LRBqcAg4Q07WizQAOS7BqeGpbIGgJbJ1ktkA0LoE0BPChIQhCAQhCBCm2T0iBiSyfZIiDUJUIG2TSE9FkHOyLLoksgZZJhT7JbIGYUhaulkWQc8CMK6WRZSOeFLZPsiygMskwrpZFkDLIsn2RZAlkoCLJQgQJUoSoESpbIsgUJUiVEhCEIBCRKgEIQgEiVCBLJLJyEDLIsnIsgbhSWT7IsgZZFk+yEDLIsn2RZAyyLJ6LIGWRZPshAyyXCnIsgbZJZPshAyyVOQgbZLZLZKgRKAhKgSyLJUIEshKhAgQhCAQhCAQhCAQhCAQhCAQhCAQhCAQhCAQhCAQhCAQhCAQhCBEqEIBCEIBKhCAQhCAQhCD//2Q=="/>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6" descr="data:image/jpeg;base64,/9j/4AAQSkZJRgABAQAAAQABAAD/2wCEAAkGBxQPEBUUEBQQFBQUFBAXFBIWFRQWFBQPFBQWFhUVFRQYHCggGBwlGxQUITEhJSkrLi4uGB8zODMsNygtLisBCgoKDg0OGhAQGi8kHyYtNy4sLywxLCwsLC01LDc3LCwsLC84LCwsLCwsLCwsLCwsLCwsLCwrLDcsLCwsLDc3N//AABEIAMIBAwMBIgACEQEDEQH/xAAcAAABBQEBAQAAAAAAAAAAAAAAAQIEBQYDBwj/xABJEAABAwIDBAUGCgYKAwEAAAABAAIDBBESITEFBkFRE2FxgZEiMlKhscEHFCNCU3JzkrLRFiQzYqLiNENjZIKT0tPh8ESD8SX/xAAaAQEAAwEBAQAAAAAAAAAAAAAAAQIDBAUG/8QAKhEBAAICAQIEBAcAAAAAAAAAAAECAxEEEkETITFRBRRxoRUiIzJSYYH/2gAMAwEAAhEDEQA/APcUIQgEIQgEIQgEIQgEIQgEIQgEIQgEIQgEIQgEIQgEIQgEIQgEIQgEIQgEIQgEIQgEIQgEIQgEJEIFQkQgVCRCBUJEIFQkQgVCRCBUJkkgaLuIA5lU1btzhEP8R9w/NBbz1DYxd5AH/dAoDdux30eO7/lZ6WUvN3Ek8ymINUza0R+dbtBHuUhlUw6Oae8LHXSOqbZDMoNuDdKqjdx143E+mfwhW6AQkSoBCEIBCEIBCEIBCEIBCEIEQhCAQhCAQhIgVCRCBUiEIBCLpECrM7274x7OLQ9khx/PABa0nMAi9ySAeHBaVeS/Dha0Wnnx6/VkQTXb8U05u+e3IOa4AdmVgptPtSGTzJYndj2/mvDg3kD3H/lGnE94Qe+DqTXOA1XmnwfQtldNjLjg6HDhfIy2LHe4a4X0Gq9Aug6PkLuoetNGSbiTo2lxs0Ek6AZlBq92R8j/AI3ewK3VdsKB0cIa4EG7iR2lWCBUJEIFQkuhAqEIQCEIQCEIQCVIhAIQhAIQhAIQkugCkQSuUkobqUHVJdRaeqxi44ajiEsznWyyQd8aW6i0znaPGmjvzXe6B91ht+91ztKeNhcWRta1z3i19JAA2+V7kdy2hf1rMb1b1w7NLenEhD/nMANtdQSOXBB59tD4I5Rc09RE7k2RrmH7zb+xZyDcupdVSU2KASxMa93yjnNwuIAF2tNjpkbahbfeH4WIWxltE175CDaSRpaxh54Tm4+rrWR+D7eSKlq5pqx7z0sZu+xe50pka4k26roNBuhu5PROmErb4+iwubdwOHHfgDxGq089O5haHWBdpnpwz5Lts7fiinv0bpDa17xuGumqXbldHNg6Mk2xXuLa2t7EE2HdyQ+c6NviT7FaQQfEmXPltJ8pzW2c2+naFV7H3hwNDJrkDIP1NuRHvU+beOK1gHPv1WHrQW8FQHtDm5tOhzTw8ngo2zpAYmlowtIuG8gSSnVLXOFg6w48z3oJYKW6hQRFoyXRsgJsXC/K+aCSClTLpQUDkJt0qBUqalQKhCEAhCEAhCEAhCRyBpKQuUZ05C4y1LuCCS5y4StumUkuK4dqOPUpCCLTwlrrjv6wphcuZcmF6DqXqJ8YzsH2zyDgCO45Fd8KiTU10HRwxeeB2g+5Yj4T6mngp/lYBO8+YHFwazMDEXA3yJ0C15GAZnLgFkN8yHPjuARheCDmCDbIjig8QA1y4+4LR7j0dFNM8bQIbGI7sJe5o6TE0WuDnkSrWr3ap5M2h0R/cOX3T7rKZuRuax1W9s/RzxdDIQ1wzD8cdjbnYnMFBo9lbK2RHi6CRpuW3tJI7MacVP2mIAG9A65ucWunDVNZuJBESYQ+O5BIBu246nLjtbZxpg0lwIcSBlnlzQcWvVzsuWnItKMLhxNy0/ksz06UVQQeiwlot0YxC2RvYW9vqUgSOPFrfFx8clTbNka5jRexwt48bKzjicNSUE0PTXxh2Z15qOHro16CQ0kcbp4cuDXpOnzzDu22SCViSgrh0otquTasl1mskI9IjC3+LM9wQTrpwXIFPCB6EBCAQhCAQhCAXGrnEbHPd5rWucePkgXOS7Kv26f1ab7KT8JQDHMlaHscC1wBBGhB0KR0PWsK3b52fK7LFTvdd7fopCc5G/uniO/mtMzbOIAtaLEXBvcW6rK1qzWfNTHkreNws2xAG6UuVQ6rc4626hoprZri6qu7OeuTpEzpV0ydp4IOYqCNCnO2gLZjP1Li+BQ6kYTa6BKmpLjc/wDxZneR+Is7CreZ6odtvuW96CrKk7L2k6kl6RgDiA4FpvYg8L8NAoL6hoyLgO02U3ZFB8aeWNdh8hzgbXFwQPegvd3fhIhq2kyQSRFrsJs4SNOWoOR7rLrvXtGGohaYZGuLX5tza7CRa9nAcbLIbH3JqaIPDsEl3gtLCb2tbNrgLHXmmVLHMNntc08nAj2oHumU6hpsw52vAclGoqfi7XgOStoAgs6R9lbwVrgLYiqSJT6V4+dftHBBbipLtSu8ciggNAvjFvH1Li3aLAfO8QQgumvXVr1VQVjXea4E8k11Q4G+fZwQXYcngqnZtS2o8Fmt695TK19PT4m5WnmBsWtP9Uw+mRqeAPMhTWs2nUKXvFKzaWr2Nt+OrlnZDciBzGmT5r3OxXwcwC0i/NXDSvPPgrAb8ZDQAAacADQANkXoDSrZK9NpqjDk8SkX93cFKmNKeqNAhCEAhCZJIBqbIHkqo3lltST/AGMv4SuW1d5IKYXlka3W3M9g1Kwu2d/YqwPpoSWmZj2NkcPJxEEAWPPRIRKo2rU4nEK9+D/CaIYrm0tS0Z6MbK4NaOoBefUde57nMlGGWMlr29Y+cOorSbn7QwU2H+1qT4zPXZyJicddPM4NbVy3iXoQkaNEOqrDNZ+OuuutRUXjf9R/4SuN6i3iq2yNxMc1zTxaQR4hL01tF51u3s2J1HC8Yo5MGckbnMcTc6lpGLsN1O+P1UHmytmb6MrQHdnSMt6wVr4NpjcOX5vHE6tOm4krHEaqK9yzEG+DRlURSx83N+VZ/CMX8Ku6Ta8M4+RkjfzsRcdrdQs5rNfWHRW9bxus7dJHKi2vTGTNpsR4K5eVGljuoWYyt2aXZPYyQDMXGYPMclHoGOpJMcXTxGxBwvOFzTqCPDwWzdTApabZrXkh2Qtf1oKHdnfiqc13xjC4tdYYmlri23E3zWi2jtYVkLWlhY4ODs8xoR712Zsdg09gTpqENF737kFTFCpUbF3ESeGICMKRGVzDV1ZMGjyiABxNgB2lB3jvyKeJVTS70QtNoy+Z3owtLwD1vHkjvKq63bdQ+/RxRwj0nu6R/wBxtgPvFWrS1vSGeTNSn7pbBs3JLHXNdexa6xsbEGx5HkvMqrpJcp5pZB6N8DPuMsCO26l7ly9HDKG5Dp35Dsb+S0yYLY4ibMcHLpmtNa9no7ZmcQ3wXnlTOA2oA41dV+NWkm1COKxdftMMilcc71E5AGrnF2QCnjzq+5V50TbFqO8vRPgsflU/Xh/A7816A16+f6HbsuyI2kHFUVBEkrC44I4wLMbbn19q2O7PwnipkZFJC9sjshhOJumt7C2h4LPJbqtMt8NOjHFfZ6oxy7NVLS7UY7U2PX+at4nXVGrohCEAVn9rTFrrHjct/JX5VTtmj6RmWThm08nBB5lvhG+scYGxSYmtxxzWvGXcY3Hhe1u0BeTTyOB+cC09hDh7CLepe17U3hgp3YJHEy/Qsa58mtvNAyGRzKy9Rsx9ZMZYdnBrnW+UqXWaSPnGBpzPbqpGY6c1jBNH/SoAA8cJohx+tzCud03l8IOebpTbleRxsr+HcSpmsKiowt+ihaImDqs3VarZe6UVOwNYNFM28tKxWInampISpk7Pk3/Uf+Eq7Ozg3RQdqR4In/Uf+E6c1VZh93am1HCP3PeU6epWX2Tt6NsTYnEtc0WOIEZ39XerFtUHZggjmDdephmsxD53lUvF53Cdjul3TP8A+jKeUDfW4KKyRP3Vk/Xqg8o4h7FHMn8n+tPhkfrT9G+xIKjskXRrl5j3lFvZVSRmnbFI6PpZ2sc5oaThI4YgQu52fKzStqvu03+yoG+zs6Q8qqNWNTVZLowUi3q4OZmtjmNShTCobpW1P3ab/ZUOapqbW+OTntZT+6JPqKlQzLdd1ePj9nl35ubtYlRXVLGF3xmXIE+ZDwH2a0261W+akifK7E9wcS6wF/KIGQAGllkdov8Akn/Vd7Fpt0zahg+zHrJXJy6VpMdMPS+HZb5K26535rwuVVvS/wDUaj7GX8JUxz1Ubyzfqk45wy/hK5HouuyJQKOG1v2Uf4Qq+uqLlcKCqtSxfZs9igzz3K9XDGoh83yJmbT9XUvU3c+HFBIf7eX3LN1W2Io8nPF+QzK2fwYkSUrjmCZpXWIIOE2sc+Cw5eSJiIh2fDMVq2tMx2cNoUbgMgVjdmsaal5kLHPjdIYKdzmsL5XHzvKtkvcmUDTqAq3ae51NUftImk+laxHeFxQ9eY28J2vT1Akc+qZI1zjcuc0hp4DC7Qi1gLFbTdLd6ohg6eIRieQtDekv5FObXOG3nEgZZZLUSbhSRf0WqmYPo32li+45OYzaMGUtPFUD0oXCN9vqPNvWFAvKUOcWsHnHU8mjznW/7qtnSMwtA5BUOw6IgF7xZzuBsS1o0C0EaJdkJLoQKVxlaut1zegr30bL3wi/O2fijoRyUshNLVKEbo0jgpJauFRGS04dc7dqCsr6oM7eS8q+EDeidhMcbZIxoZi0gHqjOnfqtzVNmjuZ4nHm+K7xbmW+cPAqJI5lRG5sbo3G1iHC+E2yxxnPuNlA8UG13kWmaydvJ4AcOyQZ+N06L4ubGOSWmfydd7L/AFxnbrIC1825TnucJWxM9GWEubc30dC4EDuKotoblzR/syx45Ztd4HL1q8bZ216SZFLVRi4EdQz043Anvwq13KqOkqZ3Wc27YvJOotl7lA2Xsf4s5pc0vqXD5OFp80Hi8jh6l6Punuw6O8kxxSPtiI0AGjWjgApve0xqZUx4qRbqrCTTxlSCwq+Zs9oTJqILN0PN9+32FN1VDD6lyqK3rU/f3Z4ma1pLhhfi8m3IjiOteYl9PyrPvRrfFl6Ozk5PH8WY82wfUXSCZY7HTf3zxi/NJipv774xf6lv83/Tj/DY/l9mq2jN8i/6rvYtfuwP1OD7NnsXltJDBM8MaaoF17Fzo7ZC/BeybrUgEEbM/JY0Z65DiufNl8SYnTs4vH8GJjeyyRlZ/eS4p5b/AEcn4SvQm7PCg7U2C2VhaQCHAgjqKxdbxim2nPJE1kELjha0F7sm5DW+Qt3qHUMH/lVI+yh8rxcMvFabbexXU7DDVYnQk+RONYzwD+BGYz8Vnf0SnL7MwFvCS/kkHjlmtuu0x6uaMVKzvSE3aEcWVPC1p+kkPSP7cJ8kdmYVru7vNUQSg3fLiIuwedfS7LDLs0VnR7jENJcekeBky+BhPIusTZavdrYr6ZrjK2mZe37NpGEfvSON3d6znyaxqWt2LtjpGtxgtJA1Fu4jgVoIzdY2mma82ha+U82DyP8AMPk+F1p9iwTBvy2AZ5NaSbN5EnXwULrBrV0a1OaxPsgGhdmJjQurQoSehCRAJrgnIKDmQm2XQhNRBlk0tXUpLKRwcy6q9obChnzewX4OF2uHY4WIV1hTS1Bj593pY/2UvSN9CUXPdIM/G6otqUVS4YIadzZHEDG4sdExts5Lg3dY/NsF6ZhTSxEa2xm7e6LKUYnXfK7N8js3Od7h1LSspwFNwJMCJRujXKaPJTcKa6O6DzzeOmxvI6lhH7ix/SS+DfyXsO1NgPkdiikay+odGH3tpbMWUJ27M5/rYf8AJ/nUxKsxPaXjVduoIiA0VEl+LBHl24nDmnUm6IkFyZmH0XNZftyJXr36Kz/SwH/0fzpP0Wn4S0/+R/Op3Hsr0293mmz90BFI14fIS06ENsbi3vXpG7cVsuxSf0antlLBfn0J/wBastkbGfFnK9r3Hi1uAW4ZXKiZ2tWJj1lNYxPMSkCNLgULKut2YyVpa4AgjisTNutNRSA0zTNTucMUNxiiBOb4iTmB6PgvSwxLgQmGMpdmTyDyWCEelJZz/uNNh3kqzpN14wcUxfM7983b3RizR4LRBqcAg4Q07WizQAOS7BqeGpbIGgJbJ1ktkA0LoE0BPChIQhCAQhCBCm2T0iBiSyfZIiDUJUIG2TSE9FkHOyLLoksgZZJhT7JbIGYUhaulkWQc8CMK6WRZSOeFLZPsiygMskwrpZFkDLIsn2RZAlkoCLJQgQJUoSoESpbIsgUJUiVEhCEIBCRKgEIQgEiVCBLJLJyEDLIsnIsgbhSWT7IsgZZFk+yEDLIsn2RZAyyLJ6LIGWRZPshAyyXCnIsgbZJZPshAyyVOQgbZLZLZKgRKAhKgSyLJUIEshKhAgQhCAQhCAQhCAQhCAQhCAQhCAQhCAQhCAQhCAQhCAQhCAQhCBEqEIBCEIBKhCAQhCAQhCD//2Q=="/>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Content Placeholder 1">
            <a:extLst>
              <a:ext uri="{FF2B5EF4-FFF2-40B4-BE49-F238E27FC236}">
                <a16:creationId xmlns:a16="http://schemas.microsoft.com/office/drawing/2014/main" id="{CAADDE80-4CCA-9C4A-820C-9DA331A19822}"/>
              </a:ext>
            </a:extLst>
          </p:cNvPr>
          <p:cNvSpPr txBox="1">
            <a:spLocks/>
          </p:cNvSpPr>
          <p:nvPr/>
        </p:nvSpPr>
        <p:spPr>
          <a:xfrm>
            <a:off x="287867" y="160338"/>
            <a:ext cx="11616266" cy="648575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en-US" sz="3200" b="1" dirty="0"/>
              <a:t>Transforming Data into Decisions </a:t>
            </a:r>
          </a:p>
          <a:p>
            <a:pPr marL="457200" indent="-457200" algn="l">
              <a:lnSpc>
                <a:spcPct val="150000"/>
              </a:lnSpc>
              <a:buAutoNum type="arabicPeriod"/>
            </a:pPr>
            <a:r>
              <a:rPr lang="en-US" dirty="0"/>
              <a:t>Define objectives and information needs</a:t>
            </a:r>
          </a:p>
          <a:p>
            <a:pPr marL="457200" indent="-457200" algn="l">
              <a:lnSpc>
                <a:spcPct val="150000"/>
              </a:lnSpc>
              <a:buAutoNum type="arabicPeriod"/>
            </a:pPr>
            <a:r>
              <a:rPr lang="en-US" dirty="0"/>
              <a:t>Collect data</a:t>
            </a:r>
          </a:p>
          <a:p>
            <a:pPr marL="457200" indent="-457200" algn="l">
              <a:lnSpc>
                <a:spcPct val="150000"/>
              </a:lnSpc>
              <a:buAutoNum type="arabicPeriod"/>
            </a:pPr>
            <a:r>
              <a:rPr lang="en-US" dirty="0"/>
              <a:t>Analyze data</a:t>
            </a:r>
          </a:p>
          <a:p>
            <a:pPr marL="457200" indent="-457200" algn="l">
              <a:lnSpc>
                <a:spcPct val="150000"/>
              </a:lnSpc>
              <a:buAutoNum type="arabicPeriod"/>
            </a:pPr>
            <a:r>
              <a:rPr lang="en-US" dirty="0"/>
              <a:t>Present information</a:t>
            </a:r>
          </a:p>
          <a:p>
            <a:pPr marL="457200" indent="-457200" algn="l">
              <a:lnSpc>
                <a:spcPct val="150000"/>
              </a:lnSpc>
              <a:buAutoNum type="arabicPeriod"/>
            </a:pPr>
            <a:r>
              <a:rPr lang="en-US" dirty="0"/>
              <a:t>Make </a:t>
            </a:r>
            <a:r>
              <a:rPr lang="en-US" b="1" dirty="0">
                <a:solidFill>
                  <a:schemeClr val="accent1"/>
                </a:solidFill>
              </a:rPr>
              <a:t>data-driven</a:t>
            </a:r>
            <a:r>
              <a:rPr lang="en-US" dirty="0"/>
              <a:t> decisions</a:t>
            </a:r>
          </a:p>
          <a:p>
            <a:pPr algn="l"/>
            <a:endParaRPr lang="en-US" dirty="0"/>
          </a:p>
          <a:p>
            <a:pPr>
              <a:lnSpc>
                <a:spcPct val="150000"/>
              </a:lnSpc>
            </a:pPr>
            <a:endParaRPr lang="en-US" dirty="0"/>
          </a:p>
        </p:txBody>
      </p:sp>
      <p:pic>
        <p:nvPicPr>
          <p:cNvPr id="7172" name="Picture 4" descr="Gradient descent for linear regression using Golang - Backlog">
            <a:extLst>
              <a:ext uri="{FF2B5EF4-FFF2-40B4-BE49-F238E27FC236}">
                <a16:creationId xmlns:a16="http://schemas.microsoft.com/office/drawing/2014/main" id="{CD3042B2-D23B-8D4A-88F4-DF24964BD4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2429933"/>
            <a:ext cx="4804174" cy="317923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A1184236-5AB6-B349-9611-772E9D0F91F4}"/>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5417664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ct val="150000"/>
              </a:lnSpc>
              <a:spcBef>
                <a:spcPts val="1000"/>
              </a:spcBef>
            </a:pPr>
            <a:r>
              <a:rPr lang="en-US" sz="3200" b="1" dirty="0">
                <a:latin typeface="+mn-lt"/>
                <a:ea typeface="+mn-ea"/>
                <a:cs typeface="+mn-cs"/>
              </a:rPr>
              <a:t>Connection to Data</a:t>
            </a:r>
          </a:p>
        </p:txBody>
      </p:sp>
      <p:sp>
        <p:nvSpPr>
          <p:cNvPr id="5" name="Rectangle 4"/>
          <p:cNvSpPr/>
          <p:nvPr/>
        </p:nvSpPr>
        <p:spPr>
          <a:xfrm>
            <a:off x="2133600" y="2364364"/>
            <a:ext cx="1905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SQL Server Management Studio</a:t>
            </a:r>
          </a:p>
        </p:txBody>
      </p:sp>
      <p:sp>
        <p:nvSpPr>
          <p:cNvPr id="6" name="Down Arrow 5"/>
          <p:cNvSpPr/>
          <p:nvPr/>
        </p:nvSpPr>
        <p:spPr>
          <a:xfrm>
            <a:off x="2726757" y="3720043"/>
            <a:ext cx="381000" cy="6096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943302" y="3699310"/>
            <a:ext cx="1524000" cy="7202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Stored procedures</a:t>
            </a:r>
          </a:p>
        </p:txBody>
      </p:sp>
      <p:sp>
        <p:nvSpPr>
          <p:cNvPr id="8" name="Cloud 7"/>
          <p:cNvSpPr/>
          <p:nvPr/>
        </p:nvSpPr>
        <p:spPr>
          <a:xfrm>
            <a:off x="4343400" y="1430473"/>
            <a:ext cx="3048000" cy="2223799"/>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Internet connection to </a:t>
            </a:r>
            <a:br>
              <a:rPr lang="en-US" dirty="0">
                <a:solidFill>
                  <a:schemeClr val="tx1"/>
                </a:solidFill>
              </a:rPr>
            </a:br>
            <a:r>
              <a:rPr lang="en-US" dirty="0">
                <a:solidFill>
                  <a:schemeClr val="tx1"/>
                </a:solidFill>
              </a:rPr>
              <a:t>on-</a:t>
            </a:r>
            <a:r>
              <a:rPr lang="en-US" dirty="0" err="1">
                <a:solidFill>
                  <a:schemeClr val="tx1"/>
                </a:solidFill>
              </a:rPr>
              <a:t>prem</a:t>
            </a:r>
            <a:r>
              <a:rPr lang="en-US" dirty="0">
                <a:solidFill>
                  <a:schemeClr val="tx1"/>
                </a:solidFill>
              </a:rPr>
              <a:t> data assets or Cloud assets</a:t>
            </a:r>
            <a:br>
              <a:rPr lang="en-US" dirty="0">
                <a:solidFill>
                  <a:schemeClr val="tx1"/>
                </a:solidFill>
              </a:rPr>
            </a:br>
            <a:endParaRPr lang="en-US" dirty="0">
              <a:solidFill>
                <a:schemeClr val="tx1"/>
              </a:solidFill>
            </a:endParaRPr>
          </a:p>
        </p:txBody>
      </p:sp>
      <p:sp>
        <p:nvSpPr>
          <p:cNvPr id="12" name="Left Arrow 11"/>
          <p:cNvSpPr/>
          <p:nvPr/>
        </p:nvSpPr>
        <p:spPr>
          <a:xfrm rot="20078628">
            <a:off x="3524509" y="1736294"/>
            <a:ext cx="1028183"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eft Arrow 12"/>
          <p:cNvSpPr/>
          <p:nvPr/>
        </p:nvSpPr>
        <p:spPr>
          <a:xfrm rot="1428688">
            <a:off x="7406084" y="1867362"/>
            <a:ext cx="655356"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8077200" y="4093945"/>
            <a:ext cx="2209800" cy="21544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Excel Pivot tables and Pivot Charts</a:t>
            </a:r>
          </a:p>
        </p:txBody>
      </p:sp>
      <p:pic>
        <p:nvPicPr>
          <p:cNvPr id="3" name="Picture 2"/>
          <p:cNvPicPr>
            <a:picLocks noChangeAspect="1"/>
          </p:cNvPicPr>
          <p:nvPr/>
        </p:nvPicPr>
        <p:blipFill>
          <a:blip r:embed="rId2"/>
          <a:stretch>
            <a:fillRect/>
          </a:stretch>
        </p:blipFill>
        <p:spPr>
          <a:xfrm>
            <a:off x="1866900" y="4419600"/>
            <a:ext cx="2438400" cy="2438400"/>
          </a:xfrm>
          <a:prstGeom prst="rect">
            <a:avLst/>
          </a:prstGeom>
        </p:spPr>
      </p:pic>
      <p:pic>
        <p:nvPicPr>
          <p:cNvPr id="3084" name="Picture 12" descr="http://tonytheteacher.com/wp-content/uploads/2015/02/Excel-2013-logo-icon.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7198" y="4093944"/>
            <a:ext cx="2247900" cy="1152526"/>
          </a:xfrm>
          <a:prstGeom prst="rect">
            <a:avLst/>
          </a:prstGeom>
          <a:noFill/>
          <a:extLst>
            <a:ext uri="{909E8E84-426E-40DD-AFC4-6F175D3DCCD1}">
              <a14:hiddenFill xmlns:a14="http://schemas.microsoft.com/office/drawing/2010/main">
                <a:solidFill>
                  <a:srgbClr val="FFFFFF"/>
                </a:solidFill>
              </a14:hiddenFill>
            </a:ext>
          </a:extLst>
        </p:spPr>
      </p:pic>
      <p:sp>
        <p:nvSpPr>
          <p:cNvPr id="20" name="Rounded Rectangle 19"/>
          <p:cNvSpPr/>
          <p:nvPr/>
        </p:nvSpPr>
        <p:spPr>
          <a:xfrm>
            <a:off x="8255877" y="2253674"/>
            <a:ext cx="1524000" cy="7202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Stored procedures</a:t>
            </a:r>
          </a:p>
        </p:txBody>
      </p:sp>
      <p:sp>
        <p:nvSpPr>
          <p:cNvPr id="21" name="Left Arrow 20"/>
          <p:cNvSpPr/>
          <p:nvPr/>
        </p:nvSpPr>
        <p:spPr>
          <a:xfrm rot="5400000">
            <a:off x="8856815" y="3193268"/>
            <a:ext cx="650571"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a:extLst>
              <a:ext uri="{FF2B5EF4-FFF2-40B4-BE49-F238E27FC236}">
                <a16:creationId xmlns:a16="http://schemas.microsoft.com/office/drawing/2014/main" id="{460ADE38-1602-7E43-A7E6-6EB61EB246BC}"/>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21618631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099"/>
            <a:ext cx="10515600" cy="1325563"/>
          </a:xfrm>
        </p:spPr>
        <p:txBody>
          <a:bodyPr>
            <a:normAutofit/>
          </a:bodyPr>
          <a:lstStyle/>
          <a:p>
            <a:pPr algn="ctr">
              <a:lnSpc>
                <a:spcPct val="150000"/>
              </a:lnSpc>
              <a:spcBef>
                <a:spcPts val="1000"/>
              </a:spcBef>
            </a:pPr>
            <a:r>
              <a:rPr lang="en-US" sz="3200" b="1" dirty="0">
                <a:latin typeface="+mn-lt"/>
                <a:ea typeface="+mn-ea"/>
                <a:cs typeface="+mn-cs"/>
              </a:rPr>
              <a:t>Connection to Data</a:t>
            </a:r>
          </a:p>
        </p:txBody>
      </p:sp>
      <p:sp>
        <p:nvSpPr>
          <p:cNvPr id="5" name="Rectangle 4"/>
          <p:cNvSpPr/>
          <p:nvPr/>
        </p:nvSpPr>
        <p:spPr>
          <a:xfrm>
            <a:off x="2133600" y="2364364"/>
            <a:ext cx="1905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SQL Server Management Studio</a:t>
            </a:r>
          </a:p>
        </p:txBody>
      </p:sp>
      <p:sp>
        <p:nvSpPr>
          <p:cNvPr id="6" name="Down Arrow 5"/>
          <p:cNvSpPr/>
          <p:nvPr/>
        </p:nvSpPr>
        <p:spPr>
          <a:xfrm>
            <a:off x="2895600" y="3733800"/>
            <a:ext cx="381000" cy="5334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882264" y="3656238"/>
            <a:ext cx="1524000" cy="7202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Stored procedures</a:t>
            </a:r>
          </a:p>
        </p:txBody>
      </p:sp>
      <p:sp>
        <p:nvSpPr>
          <p:cNvPr id="8" name="Cloud 7"/>
          <p:cNvSpPr/>
          <p:nvPr/>
        </p:nvSpPr>
        <p:spPr>
          <a:xfrm>
            <a:off x="4343400" y="1430473"/>
            <a:ext cx="3048000" cy="2223799"/>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Internet connection to </a:t>
            </a:r>
            <a:br>
              <a:rPr lang="en-US" dirty="0">
                <a:solidFill>
                  <a:schemeClr val="tx1"/>
                </a:solidFill>
              </a:rPr>
            </a:br>
            <a:r>
              <a:rPr lang="en-US" dirty="0">
                <a:solidFill>
                  <a:schemeClr val="tx1"/>
                </a:solidFill>
              </a:rPr>
              <a:t>on-</a:t>
            </a:r>
            <a:r>
              <a:rPr lang="en-US" dirty="0" err="1">
                <a:solidFill>
                  <a:schemeClr val="tx1"/>
                </a:solidFill>
              </a:rPr>
              <a:t>prem</a:t>
            </a:r>
            <a:r>
              <a:rPr lang="en-US" dirty="0">
                <a:solidFill>
                  <a:schemeClr val="tx1"/>
                </a:solidFill>
              </a:rPr>
              <a:t> data assets or Cloud assets</a:t>
            </a:r>
            <a:br>
              <a:rPr lang="en-US" dirty="0">
                <a:solidFill>
                  <a:schemeClr val="tx1"/>
                </a:solidFill>
              </a:rPr>
            </a:br>
            <a:endParaRPr lang="en-US" dirty="0">
              <a:solidFill>
                <a:schemeClr val="tx1"/>
              </a:solidFill>
            </a:endParaRPr>
          </a:p>
        </p:txBody>
      </p:sp>
      <p:sp>
        <p:nvSpPr>
          <p:cNvPr id="9" name="Rectangle 8"/>
          <p:cNvSpPr/>
          <p:nvPr/>
        </p:nvSpPr>
        <p:spPr>
          <a:xfrm>
            <a:off x="8247054" y="2163093"/>
            <a:ext cx="1447800" cy="6819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.NET</a:t>
            </a:r>
          </a:p>
        </p:txBody>
      </p:sp>
      <p:sp>
        <p:nvSpPr>
          <p:cNvPr id="12" name="Left Arrow 11"/>
          <p:cNvSpPr/>
          <p:nvPr/>
        </p:nvSpPr>
        <p:spPr>
          <a:xfrm rot="20078628">
            <a:off x="3524509" y="1736294"/>
            <a:ext cx="1028183"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eft Arrow 12"/>
          <p:cNvSpPr/>
          <p:nvPr/>
        </p:nvSpPr>
        <p:spPr>
          <a:xfrm>
            <a:off x="7309318" y="1491807"/>
            <a:ext cx="1028183"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186167" y="3955824"/>
            <a:ext cx="3126649" cy="21947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Visual Studio</a:t>
            </a:r>
            <a:br>
              <a:rPr lang="en-US" dirty="0">
                <a:solidFill>
                  <a:schemeClr val="tx1"/>
                </a:solidFill>
              </a:rPr>
            </a:br>
            <a:r>
              <a:rPr lang="en-US" dirty="0">
                <a:solidFill>
                  <a:schemeClr val="tx1"/>
                </a:solidFill>
              </a:rPr>
              <a:t>using VB language</a:t>
            </a:r>
          </a:p>
          <a:p>
            <a:r>
              <a:rPr lang="en-US" dirty="0">
                <a:solidFill>
                  <a:schemeClr val="tx1"/>
                </a:solidFill>
              </a:rPr>
              <a:t>And stored procedures</a:t>
            </a:r>
          </a:p>
        </p:txBody>
      </p:sp>
      <p:sp>
        <p:nvSpPr>
          <p:cNvPr id="16" name="Left Arrow 15"/>
          <p:cNvSpPr/>
          <p:nvPr/>
        </p:nvSpPr>
        <p:spPr>
          <a:xfrm rot="5400000">
            <a:off x="8669999" y="3116921"/>
            <a:ext cx="618635"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16"/>
          <p:cNvPicPr>
            <a:picLocks noChangeAspect="1"/>
          </p:cNvPicPr>
          <p:nvPr/>
        </p:nvPicPr>
        <p:blipFill>
          <a:blip r:embed="rId2"/>
          <a:stretch>
            <a:fillRect/>
          </a:stretch>
        </p:blipFill>
        <p:spPr>
          <a:xfrm>
            <a:off x="1676295" y="4417437"/>
            <a:ext cx="2438611" cy="2438611"/>
          </a:xfrm>
          <a:prstGeom prst="rect">
            <a:avLst/>
          </a:prstGeom>
        </p:spPr>
      </p:pic>
      <p:pic>
        <p:nvPicPr>
          <p:cNvPr id="22" name="Picture 21"/>
          <p:cNvPicPr>
            <a:picLocks noChangeAspect="1"/>
          </p:cNvPicPr>
          <p:nvPr/>
        </p:nvPicPr>
        <p:blipFill>
          <a:blip r:embed="rId3"/>
          <a:stretch>
            <a:fillRect/>
          </a:stretch>
        </p:blipFill>
        <p:spPr>
          <a:xfrm>
            <a:off x="9093616" y="3940446"/>
            <a:ext cx="1219200" cy="1219200"/>
          </a:xfrm>
          <a:prstGeom prst="rect">
            <a:avLst/>
          </a:prstGeom>
        </p:spPr>
      </p:pic>
      <p:sp>
        <p:nvSpPr>
          <p:cNvPr id="3" name="Footer Placeholder 2">
            <a:extLst>
              <a:ext uri="{FF2B5EF4-FFF2-40B4-BE49-F238E27FC236}">
                <a16:creationId xmlns:a16="http://schemas.microsoft.com/office/drawing/2014/main" id="{7A2152F2-4ABD-1240-9D0A-37A3B8B32781}"/>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2534929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ct val="150000"/>
              </a:lnSpc>
              <a:spcBef>
                <a:spcPts val="1000"/>
              </a:spcBef>
            </a:pPr>
            <a:r>
              <a:rPr lang="en-US" sz="3200" b="1" dirty="0">
                <a:latin typeface="+mn-lt"/>
                <a:ea typeface="+mn-ea"/>
                <a:cs typeface="+mn-cs"/>
              </a:rPr>
              <a:t>Connection to Data</a:t>
            </a:r>
          </a:p>
        </p:txBody>
      </p:sp>
      <p:sp>
        <p:nvSpPr>
          <p:cNvPr id="5" name="Rectangle 4"/>
          <p:cNvSpPr/>
          <p:nvPr/>
        </p:nvSpPr>
        <p:spPr>
          <a:xfrm>
            <a:off x="2133600" y="2364364"/>
            <a:ext cx="1905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SQL Server Management Studio</a:t>
            </a:r>
          </a:p>
        </p:txBody>
      </p:sp>
      <p:sp>
        <p:nvSpPr>
          <p:cNvPr id="6" name="Down Arrow 5"/>
          <p:cNvSpPr/>
          <p:nvPr/>
        </p:nvSpPr>
        <p:spPr>
          <a:xfrm>
            <a:off x="2895600" y="3733800"/>
            <a:ext cx="381000" cy="6096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647398" y="3699310"/>
            <a:ext cx="1524000" cy="7202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Stored procedures</a:t>
            </a:r>
          </a:p>
        </p:txBody>
      </p:sp>
      <p:sp>
        <p:nvSpPr>
          <p:cNvPr id="8" name="Cloud 7"/>
          <p:cNvSpPr/>
          <p:nvPr/>
        </p:nvSpPr>
        <p:spPr>
          <a:xfrm>
            <a:off x="4343400" y="1430473"/>
            <a:ext cx="3394268" cy="2223799"/>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Internet connection to on-premises data assets or Cloud assets</a:t>
            </a:r>
            <a:br>
              <a:rPr lang="en-US" dirty="0">
                <a:solidFill>
                  <a:schemeClr val="tx1"/>
                </a:solidFill>
              </a:rPr>
            </a:br>
            <a:endParaRPr lang="en-US" dirty="0">
              <a:solidFill>
                <a:schemeClr val="tx1"/>
              </a:solidFill>
            </a:endParaRPr>
          </a:p>
        </p:txBody>
      </p:sp>
      <p:sp>
        <p:nvSpPr>
          <p:cNvPr id="12" name="Left Arrow 11"/>
          <p:cNvSpPr/>
          <p:nvPr/>
        </p:nvSpPr>
        <p:spPr>
          <a:xfrm rot="20078628">
            <a:off x="3524509" y="1736294"/>
            <a:ext cx="1028183"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eft Arrow 12"/>
          <p:cNvSpPr/>
          <p:nvPr/>
        </p:nvSpPr>
        <p:spPr>
          <a:xfrm rot="5400000">
            <a:off x="8818909" y="3324155"/>
            <a:ext cx="650182"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085798" y="4084320"/>
            <a:ext cx="4429802" cy="185928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endParaRPr lang="en-US" dirty="0">
              <a:solidFill>
                <a:schemeClr val="tx1"/>
              </a:solidFill>
            </a:endParaRPr>
          </a:p>
          <a:p>
            <a:pPr algn="ctr"/>
            <a:r>
              <a:rPr lang="en-US" dirty="0">
                <a:solidFill>
                  <a:schemeClr val="tx1"/>
                </a:solidFill>
              </a:rPr>
              <a:t>Reports, dashboards, story boards</a:t>
            </a:r>
          </a:p>
        </p:txBody>
      </p:sp>
      <p:pic>
        <p:nvPicPr>
          <p:cNvPr id="15" name="Picture 14"/>
          <p:cNvPicPr>
            <a:picLocks noChangeAspect="1"/>
          </p:cNvPicPr>
          <p:nvPr/>
        </p:nvPicPr>
        <p:blipFill>
          <a:blip r:embed="rId2"/>
          <a:stretch>
            <a:fillRect/>
          </a:stretch>
        </p:blipFill>
        <p:spPr>
          <a:xfrm>
            <a:off x="1866900" y="4419600"/>
            <a:ext cx="2438400" cy="2438400"/>
          </a:xfrm>
          <a:prstGeom prst="rect">
            <a:avLst/>
          </a:prstGeom>
        </p:spPr>
      </p:pic>
      <p:pic>
        <p:nvPicPr>
          <p:cNvPr id="10" name="Picture 9"/>
          <p:cNvPicPr>
            <a:picLocks noChangeAspect="1"/>
          </p:cNvPicPr>
          <p:nvPr/>
        </p:nvPicPr>
        <p:blipFill>
          <a:blip r:embed="rId3"/>
          <a:stretch>
            <a:fillRect/>
          </a:stretch>
        </p:blipFill>
        <p:spPr>
          <a:xfrm>
            <a:off x="6120190" y="4181474"/>
            <a:ext cx="4326831" cy="1076326"/>
          </a:xfrm>
          <a:prstGeom prst="rect">
            <a:avLst/>
          </a:prstGeom>
        </p:spPr>
      </p:pic>
      <p:sp>
        <p:nvSpPr>
          <p:cNvPr id="17" name="Rounded Rectangle 16"/>
          <p:cNvSpPr/>
          <p:nvPr/>
        </p:nvSpPr>
        <p:spPr>
          <a:xfrm>
            <a:off x="8382000" y="2318876"/>
            <a:ext cx="1524000" cy="7202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Stored procedures</a:t>
            </a:r>
          </a:p>
        </p:txBody>
      </p:sp>
      <p:sp>
        <p:nvSpPr>
          <p:cNvPr id="18" name="Left Arrow 17"/>
          <p:cNvSpPr/>
          <p:nvPr/>
        </p:nvSpPr>
        <p:spPr>
          <a:xfrm>
            <a:off x="7813505" y="1682850"/>
            <a:ext cx="650182"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0C7137B1-BF2C-0844-B0CF-8F9A60D8A248}"/>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146361945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lnSpc>
                <a:spcPct val="150000"/>
              </a:lnSpc>
              <a:spcBef>
                <a:spcPts val="1000"/>
              </a:spcBef>
            </a:pPr>
            <a:r>
              <a:rPr lang="en-US" sz="3200" b="1" dirty="0">
                <a:latin typeface="+mn-lt"/>
                <a:ea typeface="+mn-ea"/>
                <a:cs typeface="+mn-cs"/>
              </a:rPr>
              <a:t>Connection to Data</a:t>
            </a:r>
          </a:p>
        </p:txBody>
      </p:sp>
      <p:sp>
        <p:nvSpPr>
          <p:cNvPr id="5" name="Rectangle 4"/>
          <p:cNvSpPr/>
          <p:nvPr/>
        </p:nvSpPr>
        <p:spPr>
          <a:xfrm>
            <a:off x="2133600" y="2364364"/>
            <a:ext cx="1905000" cy="1219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SQL Server Management Studio</a:t>
            </a:r>
          </a:p>
        </p:txBody>
      </p:sp>
      <p:sp>
        <p:nvSpPr>
          <p:cNvPr id="6" name="Down Arrow 5"/>
          <p:cNvSpPr/>
          <p:nvPr/>
        </p:nvSpPr>
        <p:spPr>
          <a:xfrm>
            <a:off x="2895600" y="3733800"/>
            <a:ext cx="381000" cy="533400"/>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ounded Rectangle 6"/>
          <p:cNvSpPr/>
          <p:nvPr/>
        </p:nvSpPr>
        <p:spPr>
          <a:xfrm>
            <a:off x="3657600" y="3733800"/>
            <a:ext cx="1524000" cy="7202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Stored procedures</a:t>
            </a:r>
          </a:p>
        </p:txBody>
      </p:sp>
      <p:sp>
        <p:nvSpPr>
          <p:cNvPr id="8" name="Cloud 7"/>
          <p:cNvSpPr/>
          <p:nvPr/>
        </p:nvSpPr>
        <p:spPr>
          <a:xfrm>
            <a:off x="4343400" y="1430473"/>
            <a:ext cx="3048000" cy="2223799"/>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Internet connection to </a:t>
            </a:r>
            <a:br>
              <a:rPr lang="en-US" dirty="0">
                <a:solidFill>
                  <a:schemeClr val="tx1"/>
                </a:solidFill>
              </a:rPr>
            </a:br>
            <a:r>
              <a:rPr lang="en-US" dirty="0">
                <a:solidFill>
                  <a:schemeClr val="tx1"/>
                </a:solidFill>
              </a:rPr>
              <a:t>on-</a:t>
            </a:r>
            <a:r>
              <a:rPr lang="en-US" dirty="0" err="1">
                <a:solidFill>
                  <a:schemeClr val="tx1"/>
                </a:solidFill>
              </a:rPr>
              <a:t>prem</a:t>
            </a:r>
            <a:r>
              <a:rPr lang="en-US" dirty="0">
                <a:solidFill>
                  <a:schemeClr val="tx1"/>
                </a:solidFill>
              </a:rPr>
              <a:t> data assets or Cloud assets</a:t>
            </a:r>
            <a:br>
              <a:rPr lang="en-US" dirty="0">
                <a:solidFill>
                  <a:schemeClr val="tx1"/>
                </a:solidFill>
              </a:rPr>
            </a:br>
            <a:endParaRPr lang="en-US" dirty="0">
              <a:solidFill>
                <a:schemeClr val="tx1"/>
              </a:solidFill>
            </a:endParaRPr>
          </a:p>
        </p:txBody>
      </p:sp>
      <p:sp>
        <p:nvSpPr>
          <p:cNvPr id="12" name="Left Arrow 11"/>
          <p:cNvSpPr/>
          <p:nvPr/>
        </p:nvSpPr>
        <p:spPr>
          <a:xfrm rot="20078628">
            <a:off x="3524509" y="1736294"/>
            <a:ext cx="1028183"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eft Arrow 12"/>
          <p:cNvSpPr/>
          <p:nvPr/>
        </p:nvSpPr>
        <p:spPr>
          <a:xfrm rot="1428688">
            <a:off x="7505189" y="2636254"/>
            <a:ext cx="1028183" cy="402984"/>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p:nvPicPr>
        <p:blipFill>
          <a:blip r:embed="rId2"/>
          <a:stretch>
            <a:fillRect/>
          </a:stretch>
        </p:blipFill>
        <p:spPr>
          <a:xfrm>
            <a:off x="1866900" y="4419600"/>
            <a:ext cx="2438400" cy="2438400"/>
          </a:xfrm>
          <a:prstGeom prst="rect">
            <a:avLst/>
          </a:prstGeom>
        </p:spPr>
      </p:pic>
      <p:pic>
        <p:nvPicPr>
          <p:cNvPr id="2050" name="Picture 2" descr="http://3.bp.blogspot.com/-NeLHn0zgcZw/U7ajRNLY2_I/AAAAAAAAAro/eWUWeTjFsdk/s1600/logo-reporting-service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62974" y="4823461"/>
            <a:ext cx="3847827" cy="1324491"/>
          </a:xfrm>
          <a:prstGeom prst="rect">
            <a:avLst/>
          </a:prstGeom>
          <a:noFill/>
          <a:extLst>
            <a:ext uri="{909E8E84-426E-40DD-AFC4-6F175D3DCCD1}">
              <a14:hiddenFill xmlns:a14="http://schemas.microsoft.com/office/drawing/2010/main">
                <a:solidFill>
                  <a:srgbClr val="FFFFFF"/>
                </a:solidFill>
              </a14:hiddenFill>
            </a:ext>
          </a:extLst>
        </p:spPr>
      </p:pic>
      <p:sp>
        <p:nvSpPr>
          <p:cNvPr id="15" name="Rounded Rectangle 14"/>
          <p:cNvSpPr/>
          <p:nvPr/>
        </p:nvSpPr>
        <p:spPr>
          <a:xfrm>
            <a:off x="8133941" y="3229641"/>
            <a:ext cx="1524000" cy="72029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Stored procedures</a:t>
            </a:r>
          </a:p>
        </p:txBody>
      </p:sp>
      <p:sp>
        <p:nvSpPr>
          <p:cNvPr id="16" name="Left Arrow 15"/>
          <p:cNvSpPr/>
          <p:nvPr/>
        </p:nvSpPr>
        <p:spPr>
          <a:xfrm rot="5400000">
            <a:off x="8604968" y="4235394"/>
            <a:ext cx="581947" cy="368412"/>
          </a:xfrm>
          <a:prstGeom prst="lef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608D2560-E4AD-EF4E-98E6-8965636DFC3A}"/>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409710897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635"/>
            <a:ext cx="10515600" cy="1325563"/>
          </a:xfrm>
        </p:spPr>
        <p:txBody>
          <a:bodyPr>
            <a:normAutofit/>
          </a:bodyPr>
          <a:lstStyle/>
          <a:p>
            <a:pPr algn="ctr">
              <a:lnSpc>
                <a:spcPct val="150000"/>
              </a:lnSpc>
              <a:spcBef>
                <a:spcPts val="1000"/>
              </a:spcBef>
            </a:pPr>
            <a:r>
              <a:rPr lang="en-US" sz="3200" b="1" dirty="0">
                <a:latin typeface="+mn-lt"/>
                <a:ea typeface="+mn-ea"/>
                <a:cs typeface="+mn-cs"/>
              </a:rPr>
              <a:t>Why so many IT approaches?</a:t>
            </a:r>
          </a:p>
        </p:txBody>
      </p:sp>
      <p:sp>
        <p:nvSpPr>
          <p:cNvPr id="3" name="Content Placeholder 2"/>
          <p:cNvSpPr>
            <a:spLocks noGrp="1"/>
          </p:cNvSpPr>
          <p:nvPr>
            <p:ph idx="1"/>
          </p:nvPr>
        </p:nvSpPr>
        <p:spPr>
          <a:xfrm>
            <a:off x="457200" y="1100665"/>
            <a:ext cx="10896600" cy="5240867"/>
          </a:xfrm>
        </p:spPr>
        <p:txBody>
          <a:bodyPr>
            <a:normAutofit/>
          </a:bodyPr>
          <a:lstStyle/>
          <a:p>
            <a:pPr>
              <a:lnSpc>
                <a:spcPct val="150000"/>
              </a:lnSpc>
            </a:pPr>
            <a:r>
              <a:rPr lang="en-US" sz="2400" dirty="0"/>
              <a:t>The more technologies you are familiar with the more you understand the overall BI Architecture picture and can lead a project</a:t>
            </a:r>
          </a:p>
          <a:p>
            <a:pPr>
              <a:lnSpc>
                <a:spcPct val="150000"/>
              </a:lnSpc>
            </a:pPr>
            <a:r>
              <a:rPr lang="en-US" sz="2400" dirty="0"/>
              <a:t>A mastery over technical tools fuels your ability to be a competent analyst</a:t>
            </a:r>
          </a:p>
          <a:p>
            <a:pPr>
              <a:lnSpc>
                <a:spcPct val="150000"/>
              </a:lnSpc>
            </a:pPr>
            <a:r>
              <a:rPr lang="en-US" sz="2400" b="1" dirty="0"/>
              <a:t>The more tools you have under your belt, the more likely you will NOT get an entry-level BI or analyst position (rather rise in stature)</a:t>
            </a:r>
          </a:p>
          <a:p>
            <a:endParaRPr lang="en-US" sz="2400" dirty="0"/>
          </a:p>
        </p:txBody>
      </p:sp>
      <p:sp>
        <p:nvSpPr>
          <p:cNvPr id="4" name="Footer Placeholder 3">
            <a:extLst>
              <a:ext uri="{FF2B5EF4-FFF2-40B4-BE49-F238E27FC236}">
                <a16:creationId xmlns:a16="http://schemas.microsoft.com/office/drawing/2014/main" id="{70C8A329-331B-534A-BD42-0E277C08BF20}"/>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9411018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a:bodyPr>
          <a:lstStyle/>
          <a:p>
            <a:pPr algn="ctr"/>
            <a:r>
              <a:rPr lang="en-US" sz="3200" b="1" dirty="0">
                <a:latin typeface="+mn-lt"/>
              </a:rPr>
              <a:t>Will I become a Data Scientist? </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82934" y="1286933"/>
            <a:ext cx="6026132" cy="4519599"/>
          </a:xfrm>
          <a:prstGeom prst="rect">
            <a:avLst/>
          </a:prstGeom>
        </p:spPr>
      </p:pic>
      <p:sp>
        <p:nvSpPr>
          <p:cNvPr id="6" name="TextBox 5"/>
          <p:cNvSpPr txBox="1"/>
          <p:nvPr/>
        </p:nvSpPr>
        <p:spPr>
          <a:xfrm>
            <a:off x="1752600" y="6324600"/>
            <a:ext cx="1582164" cy="369332"/>
          </a:xfrm>
          <a:prstGeom prst="rect">
            <a:avLst/>
          </a:prstGeom>
          <a:noFill/>
        </p:spPr>
        <p:txBody>
          <a:bodyPr wrap="none" rtlCol="0">
            <a:spAutoFit/>
          </a:bodyPr>
          <a:lstStyle/>
          <a:p>
            <a:r>
              <a:rPr lang="en-US" dirty="0"/>
              <a:t>Wikipedia.com</a:t>
            </a:r>
          </a:p>
        </p:txBody>
      </p:sp>
      <p:sp>
        <p:nvSpPr>
          <p:cNvPr id="3" name="Footer Placeholder 2">
            <a:extLst>
              <a:ext uri="{FF2B5EF4-FFF2-40B4-BE49-F238E27FC236}">
                <a16:creationId xmlns:a16="http://schemas.microsoft.com/office/drawing/2014/main" id="{E12CA423-0359-4B49-92B5-65E7E165B768}"/>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4172578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Reporting Tools</a:t>
            </a:r>
          </a:p>
          <a:p>
            <a:pPr>
              <a:lnSpc>
                <a:spcPct val="150000"/>
              </a:lnSpc>
            </a:pPr>
            <a:r>
              <a:rPr lang="en-US" sz="2400" dirty="0"/>
              <a:t>The knowledge created by a data-mining engine is not very useful unless it is presented easily and clearly to those who need it. There are many formats for reporting information and knowledge results. One of the common techniques for displaying information is the </a:t>
            </a:r>
            <a:r>
              <a:rPr lang="en-US" sz="2400" b="1" u="sng" dirty="0"/>
              <a:t>digital dashboard.</a:t>
            </a:r>
            <a:endParaRPr lang="en-US" sz="2400" dirty="0"/>
          </a:p>
          <a:p>
            <a:br>
              <a:rPr lang="en-US" dirty="0"/>
            </a:b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6" name="Content Placeholder 3">
            <a:extLst>
              <a:ext uri="{FF2B5EF4-FFF2-40B4-BE49-F238E27FC236}">
                <a16:creationId xmlns:a16="http://schemas.microsoft.com/office/drawing/2014/main" id="{456B80C9-3F10-A444-BB0F-21B04B666874}"/>
              </a:ext>
            </a:extLst>
          </p:cNvPr>
          <p:cNvPicPr>
            <a:picLocks noChangeAspect="1"/>
          </p:cNvPicPr>
          <p:nvPr/>
        </p:nvPicPr>
        <p:blipFill>
          <a:blip r:embed="rId3"/>
          <a:stretch>
            <a:fillRect/>
          </a:stretch>
        </p:blipFill>
        <p:spPr>
          <a:xfrm>
            <a:off x="3666066" y="3429000"/>
            <a:ext cx="4859867" cy="2495744"/>
          </a:xfrm>
          <a:prstGeom prst="rect">
            <a:avLst/>
          </a:prstGeom>
        </p:spPr>
      </p:pic>
    </p:spTree>
    <p:extLst>
      <p:ext uri="{BB962C8B-B14F-4D97-AF65-F5344CB8AC3E}">
        <p14:creationId xmlns:p14="http://schemas.microsoft.com/office/powerpoint/2010/main" val="35379136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nSpc>
                <a:spcPct val="150000"/>
              </a:lnSpc>
            </a:pPr>
            <a:endParaRPr lang="en-US" sz="3200" b="1" dirty="0"/>
          </a:p>
          <a:p>
            <a:pPr>
              <a:lnSpc>
                <a:spcPct val="150000"/>
              </a:lnSpc>
            </a:pPr>
            <a:r>
              <a:rPr lang="en-US" sz="2400" dirty="0"/>
              <a:t>The business / customers should find the answers to their questions in the dashboard</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6FDF28B2-8BC4-AA41-BC61-52005B6DA36B}"/>
              </a:ext>
            </a:extLst>
          </p:cNvPr>
          <p:cNvSpPr/>
          <p:nvPr/>
        </p:nvSpPr>
        <p:spPr>
          <a:xfrm>
            <a:off x="4747061" y="235721"/>
            <a:ext cx="3406339" cy="584775"/>
          </a:xfrm>
          <a:prstGeom prst="rect">
            <a:avLst/>
          </a:prstGeom>
        </p:spPr>
        <p:txBody>
          <a:bodyPr wrap="square">
            <a:spAutoFit/>
          </a:bodyPr>
          <a:lstStyle/>
          <a:p>
            <a:r>
              <a:rPr lang="en-US" sz="3200" b="1" dirty="0"/>
              <a:t>Reporting Tools</a:t>
            </a:r>
            <a:endParaRPr lang="en-IL" sz="3200" dirty="0"/>
          </a:p>
        </p:txBody>
      </p:sp>
      <p:pic>
        <p:nvPicPr>
          <p:cNvPr id="6" name="Content Placeholder 3">
            <a:extLst>
              <a:ext uri="{FF2B5EF4-FFF2-40B4-BE49-F238E27FC236}">
                <a16:creationId xmlns:a16="http://schemas.microsoft.com/office/drawing/2014/main" id="{1FF591F6-90CF-FB43-9749-EE9076EC8D76}"/>
              </a:ext>
            </a:extLst>
          </p:cNvPr>
          <p:cNvPicPr>
            <a:picLocks noChangeAspect="1"/>
          </p:cNvPicPr>
          <p:nvPr/>
        </p:nvPicPr>
        <p:blipFill>
          <a:blip r:embed="rId3"/>
          <a:stretch>
            <a:fillRect/>
          </a:stretch>
        </p:blipFill>
        <p:spPr>
          <a:xfrm>
            <a:off x="3806544" y="1998133"/>
            <a:ext cx="4812028" cy="3553884"/>
          </a:xfrm>
          <a:prstGeom prst="rect">
            <a:avLst/>
          </a:prstGeom>
        </p:spPr>
      </p:pic>
    </p:spTree>
    <p:extLst>
      <p:ext uri="{BB962C8B-B14F-4D97-AF65-F5344CB8AC3E}">
        <p14:creationId xmlns:p14="http://schemas.microsoft.com/office/powerpoint/2010/main" val="17312349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Support Agile Methodology</a:t>
            </a:r>
          </a:p>
          <a:p>
            <a:pPr>
              <a:lnSpc>
                <a:spcPct val="150000"/>
              </a:lnSpc>
            </a:pPr>
            <a:r>
              <a:rPr lang="en-US" sz="2400" dirty="0"/>
              <a:t>The Agile methodology is a way to manage a project by breaking it up into several phases. </a:t>
            </a:r>
          </a:p>
          <a:p>
            <a:pPr marL="342900" indent="-342900">
              <a:lnSpc>
                <a:spcPct val="150000"/>
              </a:lnSpc>
              <a:buFontTx/>
              <a:buChar char="-"/>
            </a:pPr>
            <a:r>
              <a:rPr lang="en-US" sz="2400" dirty="0"/>
              <a:t>It involves constant collaboration and continuous improvement at every stage. </a:t>
            </a:r>
          </a:p>
          <a:p>
            <a:pPr marL="342900" indent="-342900">
              <a:lnSpc>
                <a:spcPct val="150000"/>
              </a:lnSpc>
              <a:buFontTx/>
              <a:buChar char="-"/>
            </a:pPr>
            <a:r>
              <a:rPr lang="en-US" sz="2400" dirty="0"/>
              <a:t>Teams cycle through a process of planning, executing, and evaluating. </a:t>
            </a:r>
          </a:p>
          <a:p>
            <a:pPr marL="342900" indent="-342900">
              <a:lnSpc>
                <a:spcPct val="150000"/>
              </a:lnSpc>
              <a:buFontTx/>
              <a:buChar char="-"/>
            </a:pPr>
            <a:r>
              <a:rPr lang="en-US" sz="2400" dirty="0"/>
              <a:t>Continuous collaboration is </a:t>
            </a:r>
            <a:r>
              <a:rPr lang="en-US" sz="2400" b="1" dirty="0">
                <a:solidFill>
                  <a:schemeClr val="accent1"/>
                </a:solidFill>
              </a:rPr>
              <a:t>vital</a:t>
            </a:r>
            <a:r>
              <a:rPr lang="en-US" sz="2400" dirty="0"/>
              <a:t>.</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8194" name="Picture 2" descr="Blending Agile Frameworks for Project Success | SCRUMstudy Blog">
            <a:extLst>
              <a:ext uri="{FF2B5EF4-FFF2-40B4-BE49-F238E27FC236}">
                <a16:creationId xmlns:a16="http://schemas.microsoft.com/office/drawing/2014/main" id="{1E0CF7CC-6CB3-1F4E-9D4A-FEFB20ACA00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3086" r="6875" b="14939"/>
          <a:stretch/>
        </p:blipFill>
        <p:spPr bwMode="auto">
          <a:xfrm>
            <a:off x="2848469" y="3979333"/>
            <a:ext cx="6715194" cy="2108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43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2781" y="1137048"/>
            <a:ext cx="5608960" cy="191095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pic>
        <p:nvPicPr>
          <p:cNvPr id="286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9571" y="3429001"/>
            <a:ext cx="6259711" cy="295014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a:tailEnd/>
              </a14:hiddenLine>
            </a:ext>
          </a:extLst>
        </p:spPr>
      </p:pic>
      <p:sp>
        <p:nvSpPr>
          <p:cNvPr id="28676" name="Rectangle 4"/>
          <p:cNvSpPr>
            <a:spLocks/>
          </p:cNvSpPr>
          <p:nvPr/>
        </p:nvSpPr>
        <p:spPr bwMode="auto">
          <a:xfrm>
            <a:off x="2858988" y="2460335"/>
            <a:ext cx="3500438" cy="892969"/>
          </a:xfrm>
          <a:prstGeom prst="rect">
            <a:avLst/>
          </a:prstGeom>
          <a:solidFill>
            <a:schemeClr val="bg1"/>
          </a:solidFill>
          <a:ln>
            <a:noFill/>
          </a:ln>
        </p:spPr>
        <p:txBody>
          <a:bodyPr lIns="0" tIns="0" rIns="0" bIns="0"/>
          <a:lstStyle/>
          <a:p>
            <a:endParaRPr lang="en-US"/>
          </a:p>
        </p:txBody>
      </p:sp>
      <p:sp>
        <p:nvSpPr>
          <p:cNvPr id="28677" name="Rectangle 5"/>
          <p:cNvSpPr>
            <a:spLocks/>
          </p:cNvSpPr>
          <p:nvPr/>
        </p:nvSpPr>
        <p:spPr bwMode="auto">
          <a:xfrm>
            <a:off x="7176493" y="749498"/>
            <a:ext cx="2098477" cy="1384102"/>
          </a:xfrm>
          <a:prstGeom prst="rect">
            <a:avLst/>
          </a:prstGeom>
          <a:solidFill>
            <a:schemeClr val="bg1"/>
          </a:solidFill>
          <a:ln>
            <a:noFill/>
          </a:ln>
        </p:spPr>
        <p:txBody>
          <a:bodyPr lIns="0" tIns="0" rIns="0" bIns="0"/>
          <a:lstStyle/>
          <a:p>
            <a:endParaRPr lang="en-US"/>
          </a:p>
        </p:txBody>
      </p:sp>
      <p:sp>
        <p:nvSpPr>
          <p:cNvPr id="28678" name="Rectangle 6"/>
          <p:cNvSpPr>
            <a:spLocks/>
          </p:cNvSpPr>
          <p:nvPr/>
        </p:nvSpPr>
        <p:spPr bwMode="auto">
          <a:xfrm>
            <a:off x="2238375" y="5979980"/>
            <a:ext cx="2857500" cy="392906"/>
          </a:xfrm>
          <a:prstGeom prst="rect">
            <a:avLst/>
          </a:prstGeom>
          <a:solidFill>
            <a:srgbClr val="FFFFFF"/>
          </a:solidFill>
          <a:ln>
            <a:noFill/>
          </a:ln>
        </p:spPr>
        <p:txBody>
          <a:bodyPr lIns="0" tIns="0" rIns="0" bIns="0"/>
          <a:lstStyle/>
          <a:p>
            <a:endParaRPr lang="en-US"/>
          </a:p>
        </p:txBody>
      </p:sp>
      <p:sp>
        <p:nvSpPr>
          <p:cNvPr id="28679" name="Rectangle 7"/>
          <p:cNvSpPr>
            <a:spLocks/>
          </p:cNvSpPr>
          <p:nvPr/>
        </p:nvSpPr>
        <p:spPr bwMode="auto">
          <a:xfrm>
            <a:off x="4291089" y="2496236"/>
            <a:ext cx="1757725"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100" dirty="0">
                <a:ea typeface="ＭＳ Ｐゴシック" charset="0"/>
                <a:cs typeface="Gill Sans" charset="0"/>
              </a:rPr>
              <a:t>Waterfall model</a:t>
            </a:r>
          </a:p>
        </p:txBody>
      </p:sp>
      <p:sp>
        <p:nvSpPr>
          <p:cNvPr id="28680" name="Rectangle 8"/>
          <p:cNvSpPr>
            <a:spLocks/>
          </p:cNvSpPr>
          <p:nvPr/>
        </p:nvSpPr>
        <p:spPr bwMode="auto">
          <a:xfrm>
            <a:off x="4344666" y="5505421"/>
            <a:ext cx="1666418" cy="32316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cap="flat">
                <a:solidFill>
                  <a:schemeClr val="tx1"/>
                </a:solidFill>
                <a:miter lim="800000"/>
                <a:headEnd type="none" w="med" len="med"/>
                <a:tailEnd type="none" w="med" len="med"/>
              </a14:hiddenLine>
            </a:ext>
          </a:extLst>
        </p:spPr>
        <p:txBody>
          <a:bodyPr wrap="none" lIns="0" tIns="0" rIns="0" bIns="0" anchor="ctr">
            <a:spAutoFit/>
          </a:bodyPr>
          <a:lstStyle/>
          <a:p>
            <a:r>
              <a:rPr lang="en-US" sz="2100" dirty="0">
                <a:ea typeface="ＭＳ Ｐゴシック" charset="0"/>
                <a:cs typeface="Gill Sans" charset="0"/>
              </a:rPr>
              <a:t>Iterative model</a:t>
            </a:r>
          </a:p>
        </p:txBody>
      </p:sp>
      <p:sp>
        <p:nvSpPr>
          <p:cNvPr id="28673" name="Rectangle 1"/>
          <p:cNvSpPr>
            <a:spLocks noGrp="1" noChangeArrowheads="1"/>
          </p:cNvSpPr>
          <p:nvPr>
            <p:ph type="title"/>
          </p:nvPr>
        </p:nvSpPr>
        <p:spPr>
          <a:xfrm>
            <a:off x="1877616" y="228600"/>
            <a:ext cx="8790385" cy="805458"/>
          </a:xfrm>
          <a:ln/>
        </p:spPr>
        <p:txBody>
          <a:bodyPr/>
          <a:lstStyle/>
          <a:p>
            <a:pPr algn="ctr">
              <a:lnSpc>
                <a:spcPct val="150000"/>
              </a:lnSpc>
              <a:spcBef>
                <a:spcPts val="1000"/>
              </a:spcBef>
            </a:pPr>
            <a:r>
              <a:rPr lang="en-US" sz="3200" b="1" dirty="0">
                <a:latin typeface="+mn-lt"/>
                <a:ea typeface="+mn-ea"/>
                <a:cs typeface="+mn-cs"/>
              </a:rPr>
              <a:t>The Basics:  From Traditional to Agile</a:t>
            </a:r>
          </a:p>
        </p:txBody>
      </p:sp>
      <p:sp>
        <p:nvSpPr>
          <p:cNvPr id="2" name="Footer Placeholder 1">
            <a:extLst>
              <a:ext uri="{FF2B5EF4-FFF2-40B4-BE49-F238E27FC236}">
                <a16:creationId xmlns:a16="http://schemas.microsoft.com/office/drawing/2014/main" id="{0C8FD37C-9D37-0441-85A1-49E1A9424BEB}"/>
              </a:ext>
            </a:extLst>
          </p:cNvPr>
          <p:cNvSpPr>
            <a:spLocks noGrp="1"/>
          </p:cNvSpPr>
          <p:nvPr>
            <p:ph type="ftr" sz="quarter" idx="11"/>
          </p:nvPr>
        </p:nvSpPr>
        <p:spPr/>
        <p:txBody>
          <a:bodyPr/>
          <a:lstStyle/>
          <a:p>
            <a:r>
              <a:rPr lang="en-US"/>
              <a:t>Or Peretz</a:t>
            </a:r>
          </a:p>
        </p:txBody>
      </p:sp>
    </p:spTree>
    <p:extLst>
      <p:ext uri="{BB962C8B-B14F-4D97-AF65-F5344CB8AC3E}">
        <p14:creationId xmlns:p14="http://schemas.microsoft.com/office/powerpoint/2010/main" val="8504118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28674"/>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8679"/>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499"/>
                                          </p:stCondLst>
                                        </p:cTn>
                                        <p:tgtEl>
                                          <p:spTgt spid="28675"/>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286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9" grpId="0" autoUpdateAnimBg="0"/>
      <p:bldP spid="28680"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64530"/>
            <a:ext cx="10515600" cy="1325563"/>
          </a:xfrm>
        </p:spPr>
        <p:txBody>
          <a:bodyPr/>
          <a:lstStyle/>
          <a:p>
            <a:pPr algn="ctr">
              <a:lnSpc>
                <a:spcPct val="150000"/>
              </a:lnSpc>
              <a:spcBef>
                <a:spcPts val="1000"/>
              </a:spcBef>
            </a:pPr>
            <a:r>
              <a:rPr lang="en-US" sz="3200" b="1" dirty="0">
                <a:latin typeface="+mn-lt"/>
                <a:ea typeface="+mn-ea"/>
                <a:cs typeface="+mn-cs"/>
              </a:rPr>
              <a:t>Agile Principles</a:t>
            </a:r>
          </a:p>
        </p:txBody>
      </p:sp>
      <p:sp>
        <p:nvSpPr>
          <p:cNvPr id="5" name="Content Placeholder 4"/>
          <p:cNvSpPr>
            <a:spLocks noGrp="1"/>
          </p:cNvSpPr>
          <p:nvPr>
            <p:ph sz="half" idx="1"/>
          </p:nvPr>
        </p:nvSpPr>
        <p:spPr>
          <a:xfrm>
            <a:off x="177800" y="1032933"/>
            <a:ext cx="11785600" cy="5164667"/>
          </a:xfrm>
        </p:spPr>
        <p:txBody>
          <a:bodyPr>
            <a:noAutofit/>
          </a:bodyPr>
          <a:lstStyle/>
          <a:p>
            <a:pPr>
              <a:lnSpc>
                <a:spcPct val="150000"/>
              </a:lnSpc>
            </a:pPr>
            <a:r>
              <a:rPr lang="en-US" sz="2400" b="1" dirty="0">
                <a:solidFill>
                  <a:schemeClr val="accent1"/>
                </a:solidFill>
              </a:rPr>
              <a:t>Our highest priority is to satisfy the customer. </a:t>
            </a:r>
          </a:p>
          <a:p>
            <a:pPr>
              <a:lnSpc>
                <a:spcPct val="150000"/>
              </a:lnSpc>
            </a:pPr>
            <a:r>
              <a:rPr lang="en-US" sz="2400" dirty="0"/>
              <a:t>Welcome changing requirements, even late in development. </a:t>
            </a:r>
          </a:p>
          <a:p>
            <a:pPr>
              <a:lnSpc>
                <a:spcPct val="150000"/>
              </a:lnSpc>
            </a:pPr>
            <a:r>
              <a:rPr lang="en-US" sz="2400" dirty="0"/>
              <a:t>Deliver working software frequently, from a couple of weeks to a couple of months</a:t>
            </a:r>
            <a:br>
              <a:rPr lang="en-US" sz="2400" dirty="0"/>
            </a:br>
            <a:r>
              <a:rPr lang="en-US" sz="2400" dirty="0"/>
              <a:t>(with a preference to the shorter timescale). </a:t>
            </a:r>
          </a:p>
          <a:p>
            <a:pPr>
              <a:lnSpc>
                <a:spcPct val="150000"/>
              </a:lnSpc>
            </a:pPr>
            <a:r>
              <a:rPr lang="en-US" sz="2400" dirty="0"/>
              <a:t>The most efficient and effective method of conveying information to and within a development team is face-to-face conversation. </a:t>
            </a:r>
          </a:p>
          <a:p>
            <a:pPr marL="0" indent="0">
              <a:lnSpc>
                <a:spcPct val="150000"/>
              </a:lnSpc>
              <a:buNone/>
            </a:pPr>
            <a:endParaRPr lang="en-US" sz="2400" dirty="0"/>
          </a:p>
        </p:txBody>
      </p:sp>
      <p:sp>
        <p:nvSpPr>
          <p:cNvPr id="2" name="Footer Placeholder 1">
            <a:extLst>
              <a:ext uri="{FF2B5EF4-FFF2-40B4-BE49-F238E27FC236}">
                <a16:creationId xmlns:a16="http://schemas.microsoft.com/office/drawing/2014/main" id="{455964E0-CDD9-7D4E-B0FD-6E9E755B3230}"/>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5129644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64530"/>
            <a:ext cx="10515600" cy="1325563"/>
          </a:xfrm>
        </p:spPr>
        <p:txBody>
          <a:bodyPr/>
          <a:lstStyle/>
          <a:p>
            <a:pPr algn="ctr">
              <a:lnSpc>
                <a:spcPct val="150000"/>
              </a:lnSpc>
              <a:spcBef>
                <a:spcPts val="1000"/>
              </a:spcBef>
            </a:pPr>
            <a:r>
              <a:rPr lang="en-US" sz="3200" b="1" dirty="0">
                <a:latin typeface="+mn-lt"/>
                <a:ea typeface="+mn-ea"/>
                <a:cs typeface="+mn-cs"/>
              </a:rPr>
              <a:t>Agile Principles</a:t>
            </a:r>
          </a:p>
        </p:txBody>
      </p:sp>
      <p:sp>
        <p:nvSpPr>
          <p:cNvPr id="6" name="Content Placeholder 5"/>
          <p:cNvSpPr>
            <a:spLocks noGrp="1"/>
          </p:cNvSpPr>
          <p:nvPr>
            <p:ph sz="half" idx="2"/>
          </p:nvPr>
        </p:nvSpPr>
        <p:spPr>
          <a:xfrm>
            <a:off x="364067" y="1024467"/>
            <a:ext cx="11336866" cy="5288465"/>
          </a:xfrm>
        </p:spPr>
        <p:txBody>
          <a:bodyPr>
            <a:normAutofit/>
          </a:bodyPr>
          <a:lstStyle/>
          <a:p>
            <a:pPr>
              <a:lnSpc>
                <a:spcPct val="150000"/>
              </a:lnSpc>
            </a:pPr>
            <a:r>
              <a:rPr lang="en-US" sz="2400" dirty="0"/>
              <a:t>Business people and developers must work together daily throughout the project. </a:t>
            </a:r>
          </a:p>
          <a:p>
            <a:pPr>
              <a:lnSpc>
                <a:spcPct val="150000"/>
              </a:lnSpc>
            </a:pPr>
            <a:r>
              <a:rPr lang="en-US" sz="2400" b="1" dirty="0">
                <a:solidFill>
                  <a:schemeClr val="accent1"/>
                </a:solidFill>
              </a:rPr>
              <a:t>At each stage/sprint, you are holding a deliverable project!</a:t>
            </a:r>
          </a:p>
          <a:p>
            <a:pPr>
              <a:lnSpc>
                <a:spcPct val="150000"/>
              </a:lnSpc>
            </a:pPr>
            <a:r>
              <a:rPr lang="en-US" sz="2400" dirty="0"/>
              <a:t>Working software is the primary measure of progress. </a:t>
            </a:r>
          </a:p>
          <a:p>
            <a:pPr>
              <a:lnSpc>
                <a:spcPct val="150000"/>
              </a:lnSpc>
            </a:pPr>
            <a:r>
              <a:rPr lang="en-US" sz="2400" dirty="0"/>
              <a:t>The sponsors, developers, and users should be able  to maintain a constant working. </a:t>
            </a:r>
          </a:p>
          <a:p>
            <a:pPr>
              <a:lnSpc>
                <a:spcPct val="150000"/>
              </a:lnSpc>
            </a:pPr>
            <a:r>
              <a:rPr lang="en-US" sz="2400" dirty="0"/>
              <a:t>The best architectures, requirements, and designs emerge from </a:t>
            </a:r>
            <a:r>
              <a:rPr lang="en-US" sz="2400" dirty="0">
                <a:solidFill>
                  <a:srgbClr val="FF0000"/>
                </a:solidFill>
              </a:rPr>
              <a:t>self-organizing teams</a:t>
            </a:r>
            <a:r>
              <a:rPr lang="en-US" sz="2400" dirty="0"/>
              <a:t>. </a:t>
            </a:r>
          </a:p>
          <a:p>
            <a:endParaRPr lang="en-US" sz="1400" dirty="0"/>
          </a:p>
        </p:txBody>
      </p:sp>
      <p:sp>
        <p:nvSpPr>
          <p:cNvPr id="2" name="Footer Placeholder 1">
            <a:extLst>
              <a:ext uri="{FF2B5EF4-FFF2-40B4-BE49-F238E27FC236}">
                <a16:creationId xmlns:a16="http://schemas.microsoft.com/office/drawing/2014/main" id="{603CCF7E-6FFB-884F-83B2-CCC91AAAB654}"/>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1656692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Mart and Data Sources</a:t>
            </a:r>
          </a:p>
          <a:p>
            <a:pPr>
              <a:lnSpc>
                <a:spcPct val="150000"/>
              </a:lnSpc>
            </a:pPr>
            <a:r>
              <a:rPr lang="en-US" sz="2400" dirty="0"/>
              <a:t>A data mart is a structure / access pattern specific to data warehouse environments.</a:t>
            </a:r>
          </a:p>
          <a:p>
            <a:pPr>
              <a:lnSpc>
                <a:spcPct val="150000"/>
              </a:lnSpc>
            </a:pPr>
            <a:r>
              <a:rPr lang="en-US" sz="2400" dirty="0"/>
              <a:t>Used to retrieve client-facing data. </a:t>
            </a:r>
          </a:p>
          <a:p>
            <a:pPr>
              <a:lnSpc>
                <a:spcPct val="150000"/>
              </a:lnSpc>
            </a:pPr>
            <a:endParaRPr lang="en-US" sz="2400" dirty="0"/>
          </a:p>
          <a:p>
            <a:pPr>
              <a:lnSpc>
                <a:spcPct val="150000"/>
              </a:lnSpc>
            </a:pPr>
            <a:endParaRPr lang="en-US" sz="2400" dirty="0"/>
          </a:p>
          <a:p>
            <a:pPr>
              <a:lnSpc>
                <a:spcPct val="150000"/>
              </a:lnSpc>
            </a:pPr>
            <a:endParaRPr lang="en-US" sz="2400" dirty="0"/>
          </a:p>
          <a:p>
            <a:pPr marL="342900" indent="-342900">
              <a:lnSpc>
                <a:spcPct val="150000"/>
              </a:lnSpc>
              <a:buFontTx/>
              <a:buChar char="-"/>
            </a:pPr>
            <a:r>
              <a:rPr lang="en-US" sz="2400" dirty="0"/>
              <a:t>Data sources gather and integrate the data stored </a:t>
            </a:r>
          </a:p>
          <a:p>
            <a:pPr marL="342900" indent="-342900">
              <a:lnSpc>
                <a:spcPct val="150000"/>
              </a:lnSpc>
              <a:buFontTx/>
              <a:buChar char="-"/>
            </a:pPr>
            <a:r>
              <a:rPr lang="en-US" sz="2400" dirty="0"/>
              <a:t>May include unstructured documents (such as data received from external providers)</a:t>
            </a:r>
          </a:p>
          <a:p>
            <a:pPr>
              <a:lnSpc>
                <a:spcPct val="150000"/>
              </a:lnSpc>
            </a:pPr>
            <a:endParaRPr lang="en-US" sz="2400" dirty="0"/>
          </a:p>
          <a:p>
            <a:endParaRPr lang="en-US"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9218" name="Picture 2" descr="Data Warehouse What is Data Mart - javatpoint">
            <a:extLst>
              <a:ext uri="{FF2B5EF4-FFF2-40B4-BE49-F238E27FC236}">
                <a16:creationId xmlns:a16="http://schemas.microsoft.com/office/drawing/2014/main" id="{FC356F26-A0B6-014F-94DF-D63471A3BD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0690" y="1889870"/>
            <a:ext cx="4061996" cy="24371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4205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Mart and Data Sources</a:t>
            </a:r>
          </a:p>
          <a:p>
            <a:pPr marL="514350" indent="-514350">
              <a:buAutoNum type="arabicPeriod"/>
            </a:pPr>
            <a:endParaRPr lang="en-US" sz="2400" dirty="0"/>
          </a:p>
          <a:p>
            <a:endParaRPr lang="en-US" sz="2400" dirty="0"/>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44" name="Picture 4" descr="Custom Power BI Visuals (part of Project Picasso)">
            <a:extLst>
              <a:ext uri="{FF2B5EF4-FFF2-40B4-BE49-F238E27FC236}">
                <a16:creationId xmlns:a16="http://schemas.microsoft.com/office/drawing/2014/main" id="{12C05B20-4DC1-E34B-A9CD-92038799E4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30311" y="1447800"/>
            <a:ext cx="7360356" cy="414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8029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Data Driven Project</a:t>
            </a:r>
          </a:p>
          <a:p>
            <a:pPr fontAlgn="base">
              <a:lnSpc>
                <a:spcPct val="150000"/>
              </a:lnSpc>
            </a:pPr>
            <a:r>
              <a:rPr lang="en-US" sz="2400" dirty="0"/>
              <a:t>When a company employs a “data-driven” approach, it means it makes </a:t>
            </a:r>
            <a:r>
              <a:rPr lang="en-US" sz="2400" b="1" dirty="0"/>
              <a:t>strategic decisions </a:t>
            </a:r>
            <a:r>
              <a:rPr lang="en-US" sz="2400" dirty="0"/>
              <a:t>based on data analysis and interpretation.</a:t>
            </a:r>
          </a:p>
          <a:p>
            <a:pPr fontAlgn="base">
              <a:lnSpc>
                <a:spcPct val="150000"/>
              </a:lnSpc>
            </a:pPr>
            <a:r>
              <a:rPr lang="en-US" sz="2400" dirty="0"/>
              <a:t>A </a:t>
            </a:r>
            <a:r>
              <a:rPr lang="en-US" sz="2400" b="1" dirty="0"/>
              <a:t>data-driven approach </a:t>
            </a:r>
            <a:r>
              <a:rPr lang="en-US" sz="2400" dirty="0"/>
              <a:t>enables companies to examine and organize their data with the goal of better serving their customers and consumers. </a:t>
            </a:r>
          </a:p>
          <a:p>
            <a:pPr algn="ctr">
              <a:lnSpc>
                <a:spcPct val="150000"/>
              </a:lnSpc>
            </a:pPr>
            <a:endParaRPr lang="en-US" sz="3200" b="1"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9938" name="Picture 2" descr="Data driven marketing. What is it? | Jelba experts explain">
            <a:extLst>
              <a:ext uri="{FF2B5EF4-FFF2-40B4-BE49-F238E27FC236}">
                <a16:creationId xmlns:a16="http://schemas.microsoft.com/office/drawing/2014/main" id="{4D84AB1F-D658-094F-B614-5D8F6D244D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71152" y="3505198"/>
            <a:ext cx="5449695" cy="255481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5710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6299200" cy="6485754"/>
          </a:xfrm>
        </p:spPr>
        <p:txBody>
          <a:bodyPr>
            <a:normAutofit/>
          </a:bodyPr>
          <a:lstStyle/>
          <a:p>
            <a:pPr algn="ctr">
              <a:lnSpc>
                <a:spcPct val="150000"/>
              </a:lnSpc>
            </a:pPr>
            <a:r>
              <a:rPr lang="en-US" sz="3200" b="1" dirty="0"/>
              <a:t>CRISP-DM</a:t>
            </a:r>
          </a:p>
          <a:p>
            <a:pPr fontAlgn="base">
              <a:lnSpc>
                <a:spcPct val="150000"/>
              </a:lnSpc>
            </a:pPr>
            <a:r>
              <a:rPr lang="en-US" sz="2400" b="1" u="sng" dirty="0"/>
              <a:t>Cr</a:t>
            </a:r>
            <a:r>
              <a:rPr lang="en-US" sz="2400" dirty="0"/>
              <a:t>oss-</a:t>
            </a:r>
            <a:r>
              <a:rPr lang="en-US" sz="2400" b="1" u="sng" dirty="0"/>
              <a:t>I</a:t>
            </a:r>
            <a:r>
              <a:rPr lang="en-US" sz="2400" dirty="0"/>
              <a:t>ndustry </a:t>
            </a:r>
            <a:r>
              <a:rPr lang="en-US" sz="2400" b="1" u="sng" dirty="0"/>
              <a:t>S</a:t>
            </a:r>
            <a:r>
              <a:rPr lang="en-US" sz="2400" dirty="0"/>
              <a:t>tandard </a:t>
            </a:r>
            <a:r>
              <a:rPr lang="en-US" sz="2400" b="1" u="sng" dirty="0"/>
              <a:t>P</a:t>
            </a:r>
            <a:r>
              <a:rPr lang="en-US" sz="2400" dirty="0"/>
              <a:t>rocess for </a:t>
            </a:r>
            <a:r>
              <a:rPr lang="en-US" sz="2400" b="1" u="sng" dirty="0"/>
              <a:t>D</a:t>
            </a:r>
            <a:r>
              <a:rPr lang="en-US" sz="2400" dirty="0"/>
              <a:t>ata </a:t>
            </a:r>
            <a:r>
              <a:rPr lang="en-US" sz="2400" b="1" u="sng" dirty="0"/>
              <a:t>M</a:t>
            </a:r>
            <a:r>
              <a:rPr lang="en-US" sz="2400" dirty="0"/>
              <a:t>ining, known as CRISP-DM, is a model that describes common approaches used by data mining experts. It is the most widely-used analytics model. CRISP breaks the process of data mining into six major phases.</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45D57C64-7665-D04D-BB76-36DF7B7A57C4}"/>
              </a:ext>
            </a:extLst>
          </p:cNvPr>
          <p:cNvPicPr>
            <a:picLocks noChangeAspect="1"/>
          </p:cNvPicPr>
          <p:nvPr/>
        </p:nvPicPr>
        <p:blipFill>
          <a:blip r:embed="rId3"/>
          <a:stretch>
            <a:fillRect/>
          </a:stretch>
        </p:blipFill>
        <p:spPr>
          <a:xfrm>
            <a:off x="6995584" y="1616511"/>
            <a:ext cx="4358216" cy="3861710"/>
          </a:xfrm>
          <a:prstGeom prst="rect">
            <a:avLst/>
          </a:prstGeom>
        </p:spPr>
      </p:pic>
    </p:spTree>
    <p:extLst>
      <p:ext uri="{BB962C8B-B14F-4D97-AF65-F5344CB8AC3E}">
        <p14:creationId xmlns:p14="http://schemas.microsoft.com/office/powerpoint/2010/main" val="2517922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POC</a:t>
            </a:r>
          </a:p>
        </p:txBody>
      </p:sp>
    </p:spTree>
    <p:extLst>
      <p:ext uri="{BB962C8B-B14F-4D97-AF65-F5344CB8AC3E}">
        <p14:creationId xmlns:p14="http://schemas.microsoft.com/office/powerpoint/2010/main" val="42404664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Proof Of Concept</a:t>
            </a:r>
          </a:p>
          <a:p>
            <a:pPr>
              <a:lnSpc>
                <a:spcPct val="150000"/>
              </a:lnSpc>
            </a:pPr>
            <a:r>
              <a:rPr lang="en-US" sz="2400" b="1" dirty="0"/>
              <a:t>Proof of concept</a:t>
            </a:r>
            <a:r>
              <a:rPr lang="en-US" sz="2400" dirty="0"/>
              <a:t> (</a:t>
            </a:r>
            <a:r>
              <a:rPr lang="en-US" sz="2400" b="1" dirty="0"/>
              <a:t>POC</a:t>
            </a:r>
            <a:r>
              <a:rPr lang="en-US" sz="2400" dirty="0"/>
              <a:t>), also known as </a:t>
            </a:r>
            <a:r>
              <a:rPr lang="en-US" sz="2400" b="1" dirty="0"/>
              <a:t>proof of principle</a:t>
            </a:r>
            <a:r>
              <a:rPr lang="en-US" sz="2400" dirty="0"/>
              <a:t>, is a realization of a certain method or idea in order to demonstrate its feasibility or a demonstration in principle with the aim of verifying that some concept or theory has practical potential. </a:t>
            </a:r>
          </a:p>
          <a:p>
            <a:pPr marL="457200" indent="-457200">
              <a:lnSpc>
                <a:spcPct val="150000"/>
              </a:lnSpc>
              <a:buFontTx/>
              <a:buChar char="-"/>
            </a:pPr>
            <a:r>
              <a:rPr lang="en-US" sz="2400" dirty="0"/>
              <a:t>A proof of concept is usually small and may or may not be complete.</a:t>
            </a:r>
          </a:p>
          <a:p>
            <a:pPr marL="457200" indent="-457200">
              <a:lnSpc>
                <a:spcPct val="150000"/>
              </a:lnSpc>
              <a:buFontTx/>
              <a:buChar char="-"/>
            </a:pPr>
            <a:r>
              <a:rPr lang="en-US" sz="2400" dirty="0"/>
              <a:t>Test feasibility of business concepts and proposals to solve business problems and accelerate business innovation goals</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51737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Tips for Successful POC</a:t>
            </a:r>
          </a:p>
          <a:p>
            <a:pPr>
              <a:lnSpc>
                <a:spcPct val="150000"/>
              </a:lnSpc>
            </a:pPr>
            <a:r>
              <a:rPr lang="en-US" sz="2400" u="sng" dirty="0"/>
              <a:t>A POC that doesn’t use your own data, doesn’t prove anything</a:t>
            </a:r>
          </a:p>
          <a:p>
            <a:pPr marL="342900" indent="-342900">
              <a:lnSpc>
                <a:spcPct val="150000"/>
              </a:lnSpc>
              <a:buFontTx/>
              <a:buChar char="-"/>
            </a:pPr>
            <a:r>
              <a:rPr lang="en-US" sz="2400" dirty="0"/>
              <a:t>Limit the scope of data sources involved</a:t>
            </a:r>
            <a:endParaRPr lang="he-IL" sz="2400" dirty="0"/>
          </a:p>
          <a:p>
            <a:pPr marL="342900" indent="-342900">
              <a:lnSpc>
                <a:spcPct val="150000"/>
              </a:lnSpc>
              <a:buFontTx/>
              <a:buChar char="-"/>
            </a:pPr>
            <a:r>
              <a:rPr lang="en-US" sz="2400" dirty="0"/>
              <a:t>Trimming the data down</a:t>
            </a:r>
          </a:p>
          <a:p>
            <a:pPr marL="342900" indent="-342900">
              <a:lnSpc>
                <a:spcPct val="150000"/>
              </a:lnSpc>
              <a:buFontTx/>
              <a:buChar char="-"/>
            </a:pPr>
            <a:r>
              <a:rPr lang="en-US" sz="2400" dirty="0"/>
              <a:t>Using sample data sets instead of your own data</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026" name="Picture 2" descr="Data Samples and error visualization techniques | by Anthony Figueroa |  Towards Data Science">
            <a:extLst>
              <a:ext uri="{FF2B5EF4-FFF2-40B4-BE49-F238E27FC236}">
                <a16:creationId xmlns:a16="http://schemas.microsoft.com/office/drawing/2014/main" id="{77D69F7B-3B30-F34A-ADE6-3A1B787FB0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3379402"/>
            <a:ext cx="4686642" cy="2498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3252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Tips for Successful POC</a:t>
            </a:r>
          </a:p>
          <a:p>
            <a:pPr>
              <a:lnSpc>
                <a:spcPct val="150000"/>
              </a:lnSpc>
            </a:pPr>
            <a:r>
              <a:rPr lang="en-US" sz="2400" u="sng" dirty="0"/>
              <a:t>Do not get distracted by pretty visuals</a:t>
            </a:r>
          </a:p>
          <a:p>
            <a:pPr>
              <a:lnSpc>
                <a:spcPct val="150000"/>
              </a:lnSpc>
            </a:pPr>
            <a:r>
              <a:rPr lang="en-US" sz="2400" dirty="0"/>
              <a:t>With visualization software components a dime a dozen, a vendor can easily ‘fake’ these pretty graphics. </a:t>
            </a:r>
          </a:p>
          <a:p>
            <a:pPr>
              <a:lnSpc>
                <a:spcPct val="150000"/>
              </a:lnSpc>
            </a:pPr>
            <a:r>
              <a:rPr lang="en-US" sz="2400" u="sng" dirty="0"/>
              <a:t>Address future and present requirements</a:t>
            </a:r>
          </a:p>
          <a:p>
            <a:pPr>
              <a:lnSpc>
                <a:spcPct val="150000"/>
              </a:lnSpc>
            </a:pPr>
            <a:r>
              <a:rPr lang="en-US" sz="2400" dirty="0"/>
              <a:t>it doesn't matter who you are or how much experience you have – it is almost impossible to know in advance what your future requirements will be. </a:t>
            </a:r>
          </a:p>
          <a:p>
            <a:pPr>
              <a:lnSpc>
                <a:spcPct val="150000"/>
              </a:lnSpc>
            </a:pPr>
            <a:r>
              <a:rPr lang="en-US" sz="2400" dirty="0"/>
              <a:t>BI requirements tend to be highly dynamic because businesses change all the time and business users are continually refining and adjusting their requirements.</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967936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Tips for Successful POC</a:t>
            </a:r>
          </a:p>
          <a:p>
            <a:pPr>
              <a:lnSpc>
                <a:spcPct val="150000"/>
              </a:lnSpc>
            </a:pPr>
            <a:r>
              <a:rPr lang="en-US" sz="2400" u="sng" dirty="0"/>
              <a:t>Consult your own IT professionals, even if they are not directly involved</a:t>
            </a:r>
          </a:p>
          <a:p>
            <a:pPr>
              <a:lnSpc>
                <a:spcPct val="150000"/>
              </a:lnSpc>
            </a:pPr>
            <a:r>
              <a:rPr lang="en-US" sz="2400" dirty="0"/>
              <a:t>In many organizations business analytics solutions are already set up that are highly reliant on IT. Business professionals that are not being able to extract relevant data quickly and independently, will look for BI solutions that cut IT completely out of the loop.</a:t>
            </a:r>
          </a:p>
          <a:p>
            <a:pPr>
              <a:lnSpc>
                <a:spcPct val="150000"/>
              </a:lnSpc>
            </a:pPr>
            <a:r>
              <a:rPr lang="en-US" sz="2400" u="sng" dirty="0"/>
              <a:t>A POC should not require you to make a financial investment</a:t>
            </a:r>
          </a:p>
          <a:p>
            <a:pPr>
              <a:lnSpc>
                <a:spcPct val="150000"/>
              </a:lnSpc>
            </a:pPr>
            <a:r>
              <a:rPr lang="en-US" sz="2400" dirty="0"/>
              <a:t>Demand one solid report or dashboard running over your own data before you agree to any financial commitment.</a:t>
            </a:r>
          </a:p>
          <a:p>
            <a:pPr>
              <a:lnSpc>
                <a:spcPct val="150000"/>
              </a:lnSpc>
            </a:pP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470694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Mockup</a:t>
            </a:r>
          </a:p>
        </p:txBody>
      </p:sp>
    </p:spTree>
    <p:extLst>
      <p:ext uri="{BB962C8B-B14F-4D97-AF65-F5344CB8AC3E}">
        <p14:creationId xmlns:p14="http://schemas.microsoft.com/office/powerpoint/2010/main" val="19738066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Mockup</a:t>
            </a:r>
          </a:p>
          <a:p>
            <a:pPr>
              <a:lnSpc>
                <a:spcPct val="150000"/>
              </a:lnSpc>
            </a:pPr>
            <a:r>
              <a:rPr lang="en-US" sz="2400" b="1" dirty="0"/>
              <a:t>Mockup </a:t>
            </a:r>
            <a:r>
              <a:rPr lang="en-US" sz="2400" dirty="0"/>
              <a:t>is a scale or full-size model of a design or device, used for teaching, demonstration, design evaluation, promotion, and other purposes. </a:t>
            </a:r>
          </a:p>
          <a:p>
            <a:pPr>
              <a:lnSpc>
                <a:spcPct val="150000"/>
              </a:lnSpc>
            </a:pPr>
            <a:r>
              <a:rPr lang="en-US" sz="2400" dirty="0"/>
              <a:t>A mockup may be a </a:t>
            </a:r>
            <a:r>
              <a:rPr lang="en-US" sz="2400" i="1" dirty="0"/>
              <a:t>prototype</a:t>
            </a:r>
            <a:r>
              <a:rPr lang="en-US" sz="2400" dirty="0"/>
              <a:t> if it provides at least part of the functionality of a system and enables testing of a design.</a:t>
            </a:r>
          </a:p>
          <a:p>
            <a:pPr>
              <a:lnSpc>
                <a:spcPct val="150000"/>
              </a:lnSpc>
            </a:pPr>
            <a:r>
              <a:rPr lang="en-US" sz="2400" dirty="0"/>
              <a:t>Mock-ups are used by designers mainly to acquire feedback from users. </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953765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
        <p:nvSpPr>
          <p:cNvPr id="3" name="Rectangle 2">
            <a:extLst>
              <a:ext uri="{FF2B5EF4-FFF2-40B4-BE49-F238E27FC236}">
                <a16:creationId xmlns:a16="http://schemas.microsoft.com/office/drawing/2014/main" id="{26DA11A2-B510-D84C-9ADC-C9D0389EDA81}"/>
              </a:ext>
            </a:extLst>
          </p:cNvPr>
          <p:cNvSpPr/>
          <p:nvPr/>
        </p:nvSpPr>
        <p:spPr>
          <a:xfrm>
            <a:off x="334433" y="2590799"/>
            <a:ext cx="11523133" cy="770467"/>
          </a:xfrm>
          <a:prstGeom prst="rect">
            <a:avLst/>
          </a:prstGeom>
          <a:solidFill>
            <a:schemeClr val="accent2">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L" sz="2400" dirty="0">
                <a:solidFill>
                  <a:schemeClr val="tx1"/>
                </a:solidFill>
              </a:rPr>
              <a:t>Optimizing Queries in SQL</a:t>
            </a:r>
          </a:p>
        </p:txBody>
      </p:sp>
    </p:spTree>
    <p:extLst>
      <p:ext uri="{BB962C8B-B14F-4D97-AF65-F5344CB8AC3E}">
        <p14:creationId xmlns:p14="http://schemas.microsoft.com/office/powerpoint/2010/main" val="69890454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Merge Multiple Sources</a:t>
            </a:r>
          </a:p>
          <a:p>
            <a:pPr>
              <a:lnSpc>
                <a:spcPct val="150000"/>
              </a:lnSpc>
            </a:pPr>
            <a:r>
              <a:rPr lang="en-US" sz="2400" dirty="0"/>
              <a:t>- Merge different data sources by key</a:t>
            </a:r>
          </a:p>
          <a:p>
            <a:pPr>
              <a:lnSpc>
                <a:spcPct val="150000"/>
              </a:lnSpc>
            </a:pPr>
            <a:r>
              <a:rPr lang="en-US" sz="2400" dirty="0"/>
              <a:t>- Can be applied by JOIN or </a:t>
            </a:r>
            <a:r>
              <a:rPr lang="en-US" sz="2400" dirty="0" err="1"/>
              <a:t>SubQueries</a:t>
            </a: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11266" name="Picture 2" descr="SQL Left Join - Essential SQL">
            <a:extLst>
              <a:ext uri="{FF2B5EF4-FFF2-40B4-BE49-F238E27FC236}">
                <a16:creationId xmlns:a16="http://schemas.microsoft.com/office/drawing/2014/main" id="{CE15FDDA-1AAA-B842-B3CC-FE4F923924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3888" y="3031066"/>
            <a:ext cx="7504224" cy="1890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2004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JOIN vs </a:t>
            </a:r>
            <a:r>
              <a:rPr lang="en-US" sz="3200" b="1" dirty="0" err="1"/>
              <a:t>SubQueries</a:t>
            </a:r>
            <a:endParaRPr lang="en-US" sz="3200" b="1" dirty="0"/>
          </a:p>
          <a:p>
            <a:pPr>
              <a:lnSpc>
                <a:spcPct val="150000"/>
              </a:lnSpc>
            </a:pPr>
            <a:r>
              <a:rPr lang="en-US" dirty="0"/>
              <a:t>Use both Joins and subqueries to query data from different tables. </a:t>
            </a:r>
          </a:p>
          <a:p>
            <a:pPr>
              <a:lnSpc>
                <a:spcPct val="150000"/>
              </a:lnSpc>
            </a:pPr>
            <a:r>
              <a:rPr lang="en-US" dirty="0"/>
              <a:t>Though they may even share the same query plan, are many differences between them.  </a:t>
            </a:r>
            <a:endParaRPr lang="en-US" b="1" dirty="0">
              <a:solidFill>
                <a:schemeClr val="accent1"/>
              </a:solidFill>
            </a:endParaRPr>
          </a:p>
          <a:p>
            <a:pPr algn="ctr">
              <a:lnSpc>
                <a:spcPct val="150000"/>
              </a:lnSpc>
            </a:pPr>
            <a:r>
              <a:rPr lang="en-US" b="1" dirty="0">
                <a:solidFill>
                  <a:schemeClr val="accent1"/>
                </a:solidFill>
              </a:rPr>
              <a:t>Knowing the differences and when to use either a join or subquery to search data from one or more tables is key to mastering SQL.</a:t>
            </a:r>
            <a:endParaRPr lang="en-US" sz="2400" b="1" dirty="0">
              <a:solidFill>
                <a:schemeClr val="accent1"/>
              </a:solidFill>
            </a:endParaRP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141081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Subquery</a:t>
            </a:r>
          </a:p>
          <a:p>
            <a:pPr>
              <a:lnSpc>
                <a:spcPct val="150000"/>
              </a:lnSpc>
            </a:pPr>
            <a:r>
              <a:rPr lang="en-US" dirty="0"/>
              <a:t>A common use for a subquery may be to calculate a summary value for use in a query. </a:t>
            </a:r>
            <a:r>
              <a:rPr lang="en-US" dirty="0">
                <a:solidFill>
                  <a:srgbClr val="FF0000"/>
                </a:solidFill>
              </a:rPr>
              <a:t>Notice how the subqueries are queries unto themselves. </a:t>
            </a:r>
            <a:endParaRPr lang="en-US" sz="2400" dirty="0">
              <a:solidFill>
                <a:srgbClr val="FF0000"/>
              </a:solidFill>
            </a:endParaRP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6" name="Picture 5">
            <a:extLst>
              <a:ext uri="{FF2B5EF4-FFF2-40B4-BE49-F238E27FC236}">
                <a16:creationId xmlns:a16="http://schemas.microsoft.com/office/drawing/2014/main" id="{27B96821-3BF9-B643-8C19-64B12923D79A}"/>
              </a:ext>
            </a:extLst>
          </p:cNvPr>
          <p:cNvPicPr>
            <a:picLocks noChangeAspect="1"/>
          </p:cNvPicPr>
          <p:nvPr/>
        </p:nvPicPr>
        <p:blipFill>
          <a:blip r:embed="rId3"/>
          <a:stretch>
            <a:fillRect/>
          </a:stretch>
        </p:blipFill>
        <p:spPr>
          <a:xfrm>
            <a:off x="1646766" y="3095373"/>
            <a:ext cx="8898467" cy="1582459"/>
          </a:xfrm>
          <a:prstGeom prst="rect">
            <a:avLst/>
          </a:prstGeom>
          <a:ln>
            <a:solidFill>
              <a:schemeClr val="accent1"/>
            </a:solidFill>
          </a:ln>
        </p:spPr>
      </p:pic>
    </p:spTree>
    <p:extLst>
      <p:ext uri="{BB962C8B-B14F-4D97-AF65-F5344CB8AC3E}">
        <p14:creationId xmlns:p14="http://schemas.microsoft.com/office/powerpoint/2010/main" val="797049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JOIN</a:t>
            </a:r>
          </a:p>
          <a:p>
            <a:r>
              <a:rPr lang="en-US" dirty="0"/>
              <a:t>Combine rows from one or more tables based on a match condition. </a:t>
            </a:r>
          </a:p>
          <a:p>
            <a:endParaRPr lang="en-US" dirty="0"/>
          </a:p>
          <a:p>
            <a:endParaRPr lang="en-US" dirty="0"/>
          </a:p>
          <a:p>
            <a:endParaRPr lang="en-US" dirty="0"/>
          </a:p>
          <a:p>
            <a:endParaRPr lang="en-US" dirty="0"/>
          </a:p>
          <a:p>
            <a:r>
              <a:rPr lang="en-US" dirty="0"/>
              <a:t>Types: left, right, full, inner</a:t>
            </a:r>
          </a:p>
          <a:p>
            <a:endParaRPr lang="en-US" dirty="0"/>
          </a:p>
          <a:p>
            <a:endParaRPr lang="en-US" dirty="0"/>
          </a:p>
          <a:p>
            <a:endParaRPr lang="en-US" dirty="0"/>
          </a:p>
          <a:p>
            <a:br>
              <a:rPr lang="en-US" dirty="0"/>
            </a:br>
            <a:endParaRPr lang="en-US" sz="2400"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pic>
        <p:nvPicPr>
          <p:cNvPr id="3" name="Picture 2">
            <a:extLst>
              <a:ext uri="{FF2B5EF4-FFF2-40B4-BE49-F238E27FC236}">
                <a16:creationId xmlns:a16="http://schemas.microsoft.com/office/drawing/2014/main" id="{10B5CF6D-F84F-B940-9EA6-B0F2EF3DD324}"/>
              </a:ext>
            </a:extLst>
          </p:cNvPr>
          <p:cNvPicPr>
            <a:picLocks noChangeAspect="1"/>
          </p:cNvPicPr>
          <p:nvPr/>
        </p:nvPicPr>
        <p:blipFill>
          <a:blip r:embed="rId3"/>
          <a:stretch>
            <a:fillRect/>
          </a:stretch>
        </p:blipFill>
        <p:spPr>
          <a:xfrm>
            <a:off x="2810933" y="1986033"/>
            <a:ext cx="6989233" cy="1148749"/>
          </a:xfrm>
          <a:prstGeom prst="rect">
            <a:avLst/>
          </a:prstGeom>
          <a:ln>
            <a:solidFill>
              <a:schemeClr val="accent1"/>
            </a:solidFill>
          </a:ln>
        </p:spPr>
      </p:pic>
    </p:spTree>
    <p:extLst>
      <p:ext uri="{BB962C8B-B14F-4D97-AF65-F5344CB8AC3E}">
        <p14:creationId xmlns:p14="http://schemas.microsoft.com/office/powerpoint/2010/main" val="3906783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JOIN vs </a:t>
            </a:r>
            <a:r>
              <a:rPr lang="en-US" sz="3200" b="1" dirty="0" err="1"/>
              <a:t>SubQueries</a:t>
            </a:r>
            <a:endParaRPr lang="en-US" sz="3200" b="1" dirty="0"/>
          </a:p>
          <a:p>
            <a:pPr marL="457200" indent="-457200">
              <a:lnSpc>
                <a:spcPct val="150000"/>
              </a:lnSpc>
              <a:buFontTx/>
              <a:buChar char="-"/>
            </a:pPr>
            <a:r>
              <a:rPr lang="en-US" sz="2400" dirty="0"/>
              <a:t>The subquery returns a single result, which then filters the records.</a:t>
            </a:r>
          </a:p>
          <a:p>
            <a:pPr marL="457200" indent="-457200">
              <a:lnSpc>
                <a:spcPct val="150000"/>
              </a:lnSpc>
              <a:buFontTx/>
              <a:buChar char="-"/>
            </a:pPr>
            <a:r>
              <a:rPr lang="en-US" sz="2400" dirty="0"/>
              <a:t>The join is an integral part of the select statement. </a:t>
            </a:r>
          </a:p>
          <a:p>
            <a:pPr marL="457200" indent="-457200">
              <a:lnSpc>
                <a:spcPct val="150000"/>
              </a:lnSpc>
              <a:buFontTx/>
              <a:buChar char="-"/>
            </a:pPr>
            <a:r>
              <a:rPr lang="en-US" sz="2400" dirty="0"/>
              <a:t>Join can not stand on its own as a subquery can.</a:t>
            </a:r>
          </a:p>
          <a:p>
            <a:pPr marL="457200" indent="-457200">
              <a:lnSpc>
                <a:spcPct val="150000"/>
              </a:lnSpc>
              <a:buFontTx/>
              <a:buChar char="-"/>
            </a:pPr>
            <a:r>
              <a:rPr lang="en-US" sz="2400" dirty="0"/>
              <a:t>Joins are used (mostly) in the </a:t>
            </a:r>
            <a:r>
              <a:rPr lang="en-US" sz="2400" dirty="0">
                <a:solidFill>
                  <a:srgbClr val="002060"/>
                </a:solidFill>
              </a:rPr>
              <a:t>FROM</a:t>
            </a:r>
            <a:r>
              <a:rPr lang="en-US" sz="2400" dirty="0"/>
              <a:t> clause</a:t>
            </a:r>
          </a:p>
          <a:p>
            <a:pPr marL="457200" indent="-457200">
              <a:lnSpc>
                <a:spcPct val="150000"/>
              </a:lnSpc>
              <a:buFontTx/>
              <a:buChar char="-"/>
            </a:pPr>
            <a:r>
              <a:rPr lang="en-US" sz="2400" dirty="0" err="1"/>
              <a:t>Subquries</a:t>
            </a:r>
            <a:r>
              <a:rPr lang="en-US" sz="2400" dirty="0"/>
              <a:t> can appear anywhere</a:t>
            </a:r>
          </a:p>
          <a:p>
            <a:pPr marL="457200" indent="-457200">
              <a:buFontTx/>
              <a:buChar char="-"/>
            </a:pPr>
            <a:endParaRPr lang="en-US"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488528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Advantages of JOIN</a:t>
            </a:r>
          </a:p>
          <a:p>
            <a:pPr marL="457200" indent="-457200" fontAlgn="base">
              <a:lnSpc>
                <a:spcPct val="150000"/>
              </a:lnSpc>
              <a:buFontTx/>
              <a:buChar char="-"/>
            </a:pPr>
            <a:r>
              <a:rPr lang="en-US" sz="2400" dirty="0"/>
              <a:t>Executes faster than subquery (running time). The retrieval time of the query using joins almost always will be faster than that of a subquery.</a:t>
            </a:r>
          </a:p>
          <a:p>
            <a:pPr marL="457200" indent="-457200" fontAlgn="base">
              <a:lnSpc>
                <a:spcPct val="150000"/>
              </a:lnSpc>
              <a:buFontTx/>
              <a:buChar char="-"/>
            </a:pPr>
            <a:r>
              <a:rPr lang="en-US" sz="2400" dirty="0"/>
              <a:t>Can maximize the calculations on the database.</a:t>
            </a:r>
          </a:p>
          <a:p>
            <a:pPr lvl="1" fontAlgn="base">
              <a:lnSpc>
                <a:spcPct val="150000"/>
              </a:lnSpc>
            </a:pPr>
            <a:r>
              <a:rPr lang="en-US" sz="2000" dirty="0"/>
              <a:t>For example, instead of multiple queries using one join query. </a:t>
            </a:r>
          </a:p>
          <a:p>
            <a:pPr marL="457200" indent="-457200" fontAlgn="base">
              <a:lnSpc>
                <a:spcPct val="150000"/>
              </a:lnSpc>
              <a:buFontTx/>
              <a:buChar char="-"/>
            </a:pPr>
            <a:r>
              <a:rPr lang="en-US" sz="2400" dirty="0"/>
              <a:t>Have many types of joins.</a:t>
            </a:r>
          </a:p>
          <a:p>
            <a:pPr marL="457200" indent="-457200" fontAlgn="base">
              <a:lnSpc>
                <a:spcPct val="150000"/>
              </a:lnSpc>
              <a:buFontTx/>
              <a:buChar char="-"/>
            </a:pPr>
            <a:endParaRPr lang="en-US" dirty="0"/>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46564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Disadvantages of JOIN</a:t>
            </a:r>
          </a:p>
          <a:p>
            <a:pPr marL="457200" indent="-457200" fontAlgn="base">
              <a:lnSpc>
                <a:spcPct val="150000"/>
              </a:lnSpc>
              <a:buFontTx/>
              <a:buChar char="-"/>
            </a:pPr>
            <a:r>
              <a:rPr lang="en-US" sz="2400" dirty="0"/>
              <a:t>Not easy to read as subqueries.</a:t>
            </a:r>
          </a:p>
          <a:p>
            <a:pPr marL="457200" indent="-457200" fontAlgn="base">
              <a:lnSpc>
                <a:spcPct val="150000"/>
              </a:lnSpc>
              <a:buFontTx/>
              <a:buChar char="-"/>
            </a:pPr>
            <a:r>
              <a:rPr lang="en-US" sz="2400" dirty="0"/>
              <a:t>More joins in a query means the database server has to do more work</a:t>
            </a:r>
          </a:p>
          <a:p>
            <a:pPr marL="457200" indent="-457200" fontAlgn="base">
              <a:lnSpc>
                <a:spcPct val="150000"/>
              </a:lnSpc>
              <a:buFontTx/>
              <a:buChar char="-"/>
            </a:pPr>
            <a:r>
              <a:rPr lang="en-US" sz="2400" dirty="0"/>
              <a:t>Can be confusing </a:t>
            </a:r>
            <a:r>
              <a:rPr lang="en-US" sz="2400" dirty="0">
                <a:solidFill>
                  <a:srgbClr val="FF0000"/>
                </a:solidFill>
              </a:rPr>
              <a:t>which join </a:t>
            </a:r>
            <a:r>
              <a:rPr lang="en-US" sz="2400" dirty="0"/>
              <a:t>is the appropriate type of join to use to yield the correct desired result set.</a:t>
            </a:r>
          </a:p>
          <a:p>
            <a:pPr marL="457200" indent="-457200" fontAlgn="base">
              <a:lnSpc>
                <a:spcPct val="150000"/>
              </a:lnSpc>
              <a:buFontTx/>
              <a:buChar char="-"/>
            </a:pPr>
            <a:r>
              <a:rPr lang="en-US" sz="2400" dirty="0"/>
              <a:t>Joins cannot be avoided when retrieving data from a normalized database</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2189984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Advantages of </a:t>
            </a:r>
            <a:r>
              <a:rPr lang="en-US" sz="3200" b="1" dirty="0" err="1"/>
              <a:t>SubQuery</a:t>
            </a:r>
            <a:endParaRPr lang="en-US" sz="3200" b="1" dirty="0"/>
          </a:p>
          <a:p>
            <a:pPr marL="457200" indent="-457200" fontAlgn="base">
              <a:lnSpc>
                <a:spcPct val="150000"/>
              </a:lnSpc>
              <a:buFontTx/>
              <a:buChar char="-"/>
            </a:pPr>
            <a:r>
              <a:rPr lang="en-US" sz="2400" dirty="0"/>
              <a:t>Divide the complex query into isolated parts so that a complex query can be broken down into a series of logical steps.</a:t>
            </a:r>
          </a:p>
          <a:p>
            <a:pPr marL="457200" indent="-457200" fontAlgn="base">
              <a:lnSpc>
                <a:spcPct val="150000"/>
              </a:lnSpc>
              <a:buFontTx/>
              <a:buChar char="-"/>
            </a:pPr>
            <a:r>
              <a:rPr lang="en-US" sz="2400" dirty="0"/>
              <a:t>Easy to understand and maintenance the code.</a:t>
            </a:r>
          </a:p>
          <a:p>
            <a:pPr marL="457200" indent="-457200" fontAlgn="base">
              <a:lnSpc>
                <a:spcPct val="150000"/>
              </a:lnSpc>
              <a:buFontTx/>
              <a:buChar char="-"/>
            </a:pPr>
            <a:r>
              <a:rPr lang="en-US" sz="2400" dirty="0"/>
              <a:t>Subqueries allow you to use the results of another query in the outer query.</a:t>
            </a:r>
          </a:p>
          <a:p>
            <a:pPr marL="457200" indent="-457200" fontAlgn="base">
              <a:lnSpc>
                <a:spcPct val="150000"/>
              </a:lnSpc>
              <a:buFontTx/>
              <a:buChar char="-"/>
            </a:pPr>
            <a:r>
              <a:rPr lang="en-US" sz="2400" dirty="0"/>
              <a:t>In some cases, subqueries can replace complex joins and unions.</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164088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1924E95-B662-476B-8747-32147EFC68ED}"/>
              </a:ext>
            </a:extLst>
          </p:cNvPr>
          <p:cNvSpPr>
            <a:spLocks noGrp="1"/>
          </p:cNvSpPr>
          <p:nvPr>
            <p:ph idx="1"/>
          </p:nvPr>
        </p:nvSpPr>
        <p:spPr>
          <a:xfrm>
            <a:off x="397933" y="136525"/>
            <a:ext cx="11616266" cy="6485754"/>
          </a:xfrm>
        </p:spPr>
        <p:txBody>
          <a:bodyPr>
            <a:normAutofit/>
          </a:bodyPr>
          <a:lstStyle/>
          <a:p>
            <a:pPr algn="ctr">
              <a:lnSpc>
                <a:spcPct val="150000"/>
              </a:lnSpc>
            </a:pPr>
            <a:r>
              <a:rPr lang="en-US" sz="3200" b="1" dirty="0"/>
              <a:t>Disadvantages of </a:t>
            </a:r>
            <a:r>
              <a:rPr lang="en-US" sz="3200" b="1" dirty="0" err="1"/>
              <a:t>SubQuery</a:t>
            </a:r>
            <a:endParaRPr lang="en-US" sz="3200" b="1" dirty="0"/>
          </a:p>
          <a:p>
            <a:pPr marL="457200" indent="-457200" fontAlgn="base">
              <a:lnSpc>
                <a:spcPct val="150000"/>
              </a:lnSpc>
              <a:buFontTx/>
              <a:buChar char="-"/>
            </a:pPr>
            <a:r>
              <a:rPr lang="en-US" sz="2400" dirty="0"/>
              <a:t>The optimizer is more mature for MYSQL for joins than for subqueries.</a:t>
            </a:r>
          </a:p>
          <a:p>
            <a:pPr marL="457200" indent="-457200" fontAlgn="base">
              <a:lnSpc>
                <a:spcPct val="150000"/>
              </a:lnSpc>
              <a:buFontTx/>
              <a:buChar char="-"/>
            </a:pPr>
            <a:r>
              <a:rPr lang="en-US" sz="2400" dirty="0"/>
              <a:t>A subquery can be executed more </a:t>
            </a:r>
            <a:r>
              <a:rPr lang="en-US" sz="2400" dirty="0">
                <a:solidFill>
                  <a:srgbClr val="FF0000"/>
                </a:solidFill>
              </a:rPr>
              <a:t>efficiently</a:t>
            </a:r>
            <a:r>
              <a:rPr lang="en-US" sz="2400" dirty="0"/>
              <a:t> if you rewrite it as join.</a:t>
            </a:r>
          </a:p>
          <a:p>
            <a:pPr marL="457200" indent="-457200" fontAlgn="base">
              <a:lnSpc>
                <a:spcPct val="150000"/>
              </a:lnSpc>
              <a:buFontTx/>
              <a:buChar char="-"/>
            </a:pPr>
            <a:r>
              <a:rPr lang="en-US" sz="2400" dirty="0"/>
              <a:t>Can not modify a table and select from the same table within a subquery in the same SQL statement.</a:t>
            </a:r>
          </a:p>
        </p:txBody>
      </p:sp>
      <p:sp>
        <p:nvSpPr>
          <p:cNvPr id="5" name="Footer Placeholder 4">
            <a:extLst>
              <a:ext uri="{FF2B5EF4-FFF2-40B4-BE49-F238E27FC236}">
                <a16:creationId xmlns:a16="http://schemas.microsoft.com/office/drawing/2014/main" id="{89DF2A5E-FADA-2843-B7A0-3CD8A067E597}"/>
              </a:ext>
            </a:extLst>
          </p:cNvPr>
          <p:cNvSpPr>
            <a:spLocks noGrp="1"/>
          </p:cNvSpPr>
          <p:nvPr>
            <p:ph type="ftr" sz="quarter" idx="11"/>
          </p:nvPr>
        </p:nvSpPr>
        <p:spPr/>
        <p:txBody>
          <a:bodyPr/>
          <a:lstStyle/>
          <a:p>
            <a:r>
              <a:rPr lang="en-US"/>
              <a:t>Or Peretz</a:t>
            </a:r>
            <a:endParaRPr lang="en-IL"/>
          </a:p>
        </p:txBody>
      </p:sp>
    </p:spTree>
    <p:extLst>
      <p:ext uri="{BB962C8B-B14F-4D97-AF65-F5344CB8AC3E}">
        <p14:creationId xmlns:p14="http://schemas.microsoft.com/office/powerpoint/2010/main" val="3197359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14988</TotalTime>
  <Words>3400</Words>
  <Application>Microsoft Macintosh PowerPoint</Application>
  <PresentationFormat>Widescreen</PresentationFormat>
  <Paragraphs>555</Paragraphs>
  <Slides>74</Slides>
  <Notes>60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74</vt:i4>
      </vt:variant>
    </vt:vector>
  </HeadingPairs>
  <TitlesOfParts>
    <vt:vector size="79" baseType="lpstr">
      <vt:lpstr>Arial</vt:lpstr>
      <vt:lpstr>Calibri</vt:lpstr>
      <vt:lpstr>Calibri Light</vt:lpstr>
      <vt:lpstr>Symbol</vt:lpstr>
      <vt:lpstr>Office Theme</vt:lpstr>
      <vt:lpstr>Business Intelligence</vt:lpstr>
      <vt:lpstr>PowerPoint Presentation</vt:lpstr>
      <vt:lpstr>PowerPoint Presentation</vt:lpstr>
      <vt:lpstr>PowerPoint Presentation</vt:lpstr>
      <vt:lpstr>PowerPoint Presentation</vt:lpstr>
      <vt:lpstr>Ready?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Connection to Data</vt:lpstr>
      <vt:lpstr>Connection to Data</vt:lpstr>
      <vt:lpstr>Connection to Data</vt:lpstr>
      <vt:lpstr>Connection to Data</vt:lpstr>
      <vt:lpstr>Why so many IT approaches?</vt:lpstr>
      <vt:lpstr>Will I become a Data Scientist? </vt:lpstr>
      <vt:lpstr>PowerPoint Presentation</vt:lpstr>
      <vt:lpstr>PowerPoint Presentation</vt:lpstr>
      <vt:lpstr>PowerPoint Presentation</vt:lpstr>
      <vt:lpstr>The Basics:  From Traditional to Agile</vt:lpstr>
      <vt:lpstr>Agile Principles</vt:lpstr>
      <vt:lpstr>Agile Principles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Groups</dc:title>
  <dc:creator>Lev</dc:creator>
  <cp:lastModifiedBy>or perets</cp:lastModifiedBy>
  <cp:revision>331</cp:revision>
  <dcterms:created xsi:type="dcterms:W3CDTF">2021-02-09T13:47:38Z</dcterms:created>
  <dcterms:modified xsi:type="dcterms:W3CDTF">2023-02-27T06:22:09Z</dcterms:modified>
</cp:coreProperties>
</file>