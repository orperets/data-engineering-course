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352" r:id="rId3"/>
    <p:sldId id="395" r:id="rId4"/>
    <p:sldId id="381" r:id="rId5"/>
    <p:sldId id="382" r:id="rId6"/>
    <p:sldId id="383" r:id="rId7"/>
    <p:sldId id="384" r:id="rId8"/>
    <p:sldId id="385" r:id="rId9"/>
    <p:sldId id="400" r:id="rId10"/>
    <p:sldId id="386" r:id="rId11"/>
    <p:sldId id="387" r:id="rId12"/>
    <p:sldId id="388" r:id="rId13"/>
    <p:sldId id="389" r:id="rId14"/>
    <p:sldId id="390" r:id="rId15"/>
    <p:sldId id="391" r:id="rId16"/>
    <p:sldId id="515" r:id="rId17"/>
    <p:sldId id="522" r:id="rId18"/>
    <p:sldId id="408" r:id="rId19"/>
    <p:sldId id="267" r:id="rId20"/>
    <p:sldId id="268" r:id="rId21"/>
    <p:sldId id="269" r:id="rId22"/>
    <p:sldId id="272" r:id="rId23"/>
    <p:sldId id="518" r:id="rId24"/>
    <p:sldId id="519" r:id="rId25"/>
    <p:sldId id="520" r:id="rId26"/>
    <p:sldId id="521" r:id="rId27"/>
    <p:sldId id="450" r:id="rId28"/>
    <p:sldId id="617" r:id="rId29"/>
    <p:sldId id="618" r:id="rId30"/>
    <p:sldId id="619" r:id="rId31"/>
    <p:sldId id="620" r:id="rId32"/>
    <p:sldId id="264" r:id="rId33"/>
    <p:sldId id="293" r:id="rId34"/>
    <p:sldId id="621" r:id="rId35"/>
    <p:sldId id="622" r:id="rId36"/>
    <p:sldId id="428" r:id="rId37"/>
    <p:sldId id="259" r:id="rId38"/>
    <p:sldId id="260" r:id="rId39"/>
    <p:sldId id="288" r:id="rId40"/>
    <p:sldId id="289" r:id="rId41"/>
    <p:sldId id="290" r:id="rId42"/>
    <p:sldId id="291" r:id="rId43"/>
    <p:sldId id="292" r:id="rId44"/>
    <p:sldId id="623" r:id="rId45"/>
    <p:sldId id="295" r:id="rId46"/>
    <p:sldId id="296" r:id="rId47"/>
    <p:sldId id="297" r:id="rId48"/>
    <p:sldId id="298" r:id="rId49"/>
    <p:sldId id="299" r:id="rId50"/>
    <p:sldId id="322" r:id="rId51"/>
    <p:sldId id="323" r:id="rId52"/>
    <p:sldId id="324" r:id="rId53"/>
    <p:sldId id="325" r:id="rId54"/>
    <p:sldId id="326" r:id="rId55"/>
    <p:sldId id="329" r:id="rId56"/>
    <p:sldId id="331" r:id="rId57"/>
    <p:sldId id="332" r:id="rId58"/>
    <p:sldId id="333" r:id="rId59"/>
    <p:sldId id="347" r:id="rId60"/>
    <p:sldId id="348" r:id="rId61"/>
    <p:sldId id="349" r:id="rId62"/>
    <p:sldId id="350" r:id="rId6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94637"/>
  </p:normalViewPr>
  <p:slideViewPr>
    <p:cSldViewPr snapToGrid="0">
      <p:cViewPr varScale="1">
        <p:scale>
          <a:sx n="103" d="100"/>
          <a:sy n="103" d="100"/>
        </p:scale>
        <p:origin x="1456" y="1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20/02/2023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1430109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3969634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a:t>
            </a:fld>
            <a:endParaRPr lang="en-IL"/>
          </a:p>
        </p:txBody>
      </p:sp>
    </p:spTree>
    <p:extLst>
      <p:ext uri="{BB962C8B-B14F-4D97-AF65-F5344CB8AC3E}">
        <p14:creationId xmlns:p14="http://schemas.microsoft.com/office/powerpoint/2010/main" val="69592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a:t>
            </a:fld>
            <a:endParaRPr lang="en-IL"/>
          </a:p>
        </p:txBody>
      </p:sp>
    </p:spTree>
    <p:extLst>
      <p:ext uri="{BB962C8B-B14F-4D97-AF65-F5344CB8AC3E}">
        <p14:creationId xmlns:p14="http://schemas.microsoft.com/office/powerpoint/2010/main" val="327236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2831471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3401758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2391665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1264800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10</a:t>
            </a:fld>
            <a:endParaRPr lang="en-IL"/>
          </a:p>
        </p:txBody>
      </p:sp>
    </p:spTree>
    <p:extLst>
      <p:ext uri="{BB962C8B-B14F-4D97-AF65-F5344CB8AC3E}">
        <p14:creationId xmlns:p14="http://schemas.microsoft.com/office/powerpoint/2010/main" val="1412600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3021330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2140252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921796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1844686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1117459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603898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1488677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3124608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2837635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36</a:t>
            </a:fld>
            <a:endParaRPr lang="en-IL"/>
          </a:p>
        </p:txBody>
      </p:sp>
    </p:spTree>
    <p:extLst>
      <p:ext uri="{BB962C8B-B14F-4D97-AF65-F5344CB8AC3E}">
        <p14:creationId xmlns:p14="http://schemas.microsoft.com/office/powerpoint/2010/main" val="1338210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46ee7dff8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46ee7dff8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b291aa0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b291aa0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75b291aa0a_1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75b291aa0a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75b291aa0a_1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75b291aa0a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75b291aa0a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75b291aa0a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75b291aa0a_1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75b291aa0a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75b291aa0a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75b291aa0a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75b291aa0a_1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75b291aa0a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75b291aa0a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75b291aa0a_1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75b291aa0a_1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75b291aa0a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75b291aa0a_1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75b291aa0a_1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75b291aa0a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75b291aa0a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75b291aa0a_1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75b291aa0a_1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6c7c17477d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6c7c17477d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6c7c17477d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6c7c17477d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6c7c17477d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6c7c17477d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6c7c17477d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6c7c17477d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6c7c17477d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6c7c17477d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c7c17477d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c7c17477d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6c7c17477d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6c7c17477d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6c7c17477d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6c7c17477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6c7c17477d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6c7c17477d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6c7c17477d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6c7c17477d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6c7c17477d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6c7c17477d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6c7c17477d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6c7c17477d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6c7c17477d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6c7c17477d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7B534567-34AD-A94B-A3C4-4EBECDEAEEE9}" type="datetime8">
              <a:rPr lang="en-US" smtClean="0"/>
              <a:t>2/20/23 11:17 AM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0B608D56-DB32-9C4D-9DE9-A0CF39AF572E}" type="datetime8">
              <a:rPr lang="en-US" smtClean="0"/>
              <a:t>2/20/23 11:17 AM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92C7849A-3973-1E4E-BE19-5685C78AFBBE}" type="datetime8">
              <a:rPr lang="en-US" smtClean="0"/>
              <a:t>2/20/23 11:17 AM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EA90BA5D-B384-604B-97DC-CDFCF60EC951}" type="datetime8">
              <a:rPr lang="en-US" smtClean="0"/>
              <a:t>2/20/23 11:17 AM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5BCF29AB-C775-DE45-8FB5-C979B62EA44B}" type="datetime8">
              <a:rPr lang="en-US" smtClean="0"/>
              <a:t>2/20/23 11:17 AM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615D3590-B32D-3D4C-A62D-2803ED67FCF2}" type="datetime8">
              <a:rPr lang="en-US" smtClean="0"/>
              <a:t>2/20/23 11:17 AM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DD337548-2600-1D4B-958D-B49F58651683}" type="datetime8">
              <a:rPr lang="en-US" smtClean="0"/>
              <a:t>2/20/23 11:17 AM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8D82096F-246A-4D43-BDEE-66B8D0E534F2}" type="datetime8">
              <a:rPr lang="en-US" smtClean="0"/>
              <a:t>2/20/23 11:17 AM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145A680E-2DF6-6648-9A65-ED9401BB27C5}" type="datetime8">
              <a:rPr lang="en-US" smtClean="0"/>
              <a:t>2/20/23 11:17 AM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0307789E-9EAE-A044-B3AF-2AC09122ADCF}" type="datetime8">
              <a:rPr lang="en-US" smtClean="0"/>
              <a:t>2/20/23 11:17 AM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A42453BE-4C7F-5442-A524-D3C255BB57A3}" type="datetime8">
              <a:rPr lang="en-US" smtClean="0"/>
              <a:t>2/20/23 11:17 AM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814A70-72AC-D244-8942-8ABFD629CE27}" type="datetime8">
              <a:rPr lang="en-US" smtClean="0"/>
              <a:t>2/20/23 11:17 AM</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F095E00D-78CB-4C0B-AD70-37EA297711DE}" type="slidenum">
              <a:rPr lang="en-US" smtClean="0"/>
              <a:t>‹#›</a:t>
            </a:fld>
            <a:endParaRPr lang="en-US"/>
          </a:p>
        </p:txBody>
      </p:sp>
    </p:spTree>
    <p:extLst>
      <p:ext uri="{BB962C8B-B14F-4D97-AF65-F5344CB8AC3E}">
        <p14:creationId xmlns:p14="http://schemas.microsoft.com/office/powerpoint/2010/main" val="4053444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9"/>
        <p:cNvGrpSpPr/>
        <p:nvPr/>
      </p:nvGrpSpPr>
      <p:grpSpPr>
        <a:xfrm>
          <a:off x="0" y="0"/>
          <a:ext cx="0" cy="0"/>
          <a:chOff x="0" y="0"/>
          <a:chExt cx="0" cy="0"/>
        </a:xfrm>
      </p:grpSpPr>
      <p:sp>
        <p:nvSpPr>
          <p:cNvPr id="54" name="Google Shape;54;p5"/>
          <p:cNvSpPr txBox="1">
            <a:spLocks noGrp="1"/>
          </p:cNvSpPr>
          <p:nvPr>
            <p:ph type="title"/>
          </p:nvPr>
        </p:nvSpPr>
        <p:spPr>
          <a:xfrm>
            <a:off x="972600" y="357767"/>
            <a:ext cx="10251600" cy="71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4000">
                <a:solidFill>
                  <a:schemeClr val="dk2"/>
                </a:solidFill>
              </a:defRPr>
            </a:lvl1pPr>
            <a:lvl2pPr lvl="1">
              <a:spcBef>
                <a:spcPts val="0"/>
              </a:spcBef>
              <a:spcAft>
                <a:spcPts val="0"/>
              </a:spcAft>
              <a:buClr>
                <a:schemeClr val="dk2"/>
              </a:buClr>
              <a:buSzPts val="3000"/>
              <a:buNone/>
              <a:defRPr sz="4000">
                <a:solidFill>
                  <a:schemeClr val="dk2"/>
                </a:solidFill>
              </a:defRPr>
            </a:lvl2pPr>
            <a:lvl3pPr lvl="2">
              <a:spcBef>
                <a:spcPts val="0"/>
              </a:spcBef>
              <a:spcAft>
                <a:spcPts val="0"/>
              </a:spcAft>
              <a:buClr>
                <a:schemeClr val="dk2"/>
              </a:buClr>
              <a:buSzPts val="3000"/>
              <a:buNone/>
              <a:defRPr sz="4000">
                <a:solidFill>
                  <a:schemeClr val="dk2"/>
                </a:solidFill>
              </a:defRPr>
            </a:lvl3pPr>
            <a:lvl4pPr lvl="3">
              <a:spcBef>
                <a:spcPts val="0"/>
              </a:spcBef>
              <a:spcAft>
                <a:spcPts val="0"/>
              </a:spcAft>
              <a:buClr>
                <a:schemeClr val="dk2"/>
              </a:buClr>
              <a:buSzPts val="3000"/>
              <a:buNone/>
              <a:defRPr sz="4000">
                <a:solidFill>
                  <a:schemeClr val="dk2"/>
                </a:solidFill>
              </a:defRPr>
            </a:lvl4pPr>
            <a:lvl5pPr lvl="4">
              <a:spcBef>
                <a:spcPts val="0"/>
              </a:spcBef>
              <a:spcAft>
                <a:spcPts val="0"/>
              </a:spcAft>
              <a:buClr>
                <a:schemeClr val="dk2"/>
              </a:buClr>
              <a:buSzPts val="3000"/>
              <a:buNone/>
              <a:defRPr sz="4000">
                <a:solidFill>
                  <a:schemeClr val="dk2"/>
                </a:solidFill>
              </a:defRPr>
            </a:lvl5pPr>
            <a:lvl6pPr lvl="5">
              <a:spcBef>
                <a:spcPts val="0"/>
              </a:spcBef>
              <a:spcAft>
                <a:spcPts val="0"/>
              </a:spcAft>
              <a:buClr>
                <a:schemeClr val="dk2"/>
              </a:buClr>
              <a:buSzPts val="3000"/>
              <a:buNone/>
              <a:defRPr sz="4000">
                <a:solidFill>
                  <a:schemeClr val="dk2"/>
                </a:solidFill>
              </a:defRPr>
            </a:lvl6pPr>
            <a:lvl7pPr lvl="6">
              <a:spcBef>
                <a:spcPts val="0"/>
              </a:spcBef>
              <a:spcAft>
                <a:spcPts val="0"/>
              </a:spcAft>
              <a:buClr>
                <a:schemeClr val="dk2"/>
              </a:buClr>
              <a:buSzPts val="3000"/>
              <a:buNone/>
              <a:defRPr sz="4000">
                <a:solidFill>
                  <a:schemeClr val="dk2"/>
                </a:solidFill>
              </a:defRPr>
            </a:lvl7pPr>
            <a:lvl8pPr lvl="7">
              <a:spcBef>
                <a:spcPts val="0"/>
              </a:spcBef>
              <a:spcAft>
                <a:spcPts val="0"/>
              </a:spcAft>
              <a:buClr>
                <a:schemeClr val="dk2"/>
              </a:buClr>
              <a:buSzPts val="3000"/>
              <a:buNone/>
              <a:defRPr sz="4000">
                <a:solidFill>
                  <a:schemeClr val="dk2"/>
                </a:solidFill>
              </a:defRPr>
            </a:lvl8pPr>
            <a:lvl9pPr lvl="8">
              <a:spcBef>
                <a:spcPts val="0"/>
              </a:spcBef>
              <a:spcAft>
                <a:spcPts val="0"/>
              </a:spcAft>
              <a:buClr>
                <a:schemeClr val="dk2"/>
              </a:buClr>
              <a:buSzPts val="3000"/>
              <a:buNone/>
              <a:defRPr sz="4000">
                <a:solidFill>
                  <a:schemeClr val="dk2"/>
                </a:solidFill>
              </a:defRPr>
            </a:lvl9pPr>
          </a:lstStyle>
          <a:p>
            <a:endParaRPr/>
          </a:p>
        </p:txBody>
      </p:sp>
      <p:sp>
        <p:nvSpPr>
          <p:cNvPr id="55" name="Google Shape;55;p5"/>
          <p:cNvSpPr txBox="1">
            <a:spLocks noGrp="1"/>
          </p:cNvSpPr>
          <p:nvPr>
            <p:ph type="body" idx="1"/>
          </p:nvPr>
        </p:nvSpPr>
        <p:spPr>
          <a:xfrm>
            <a:off x="588398" y="1253133"/>
            <a:ext cx="10901238" cy="4940933"/>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dirty="0"/>
          </a:p>
        </p:txBody>
      </p:sp>
      <p:sp>
        <p:nvSpPr>
          <p:cNvPr id="56" name="Google Shape;56;p5"/>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5" name="Footer Placeholder 4">
            <a:extLst>
              <a:ext uri="{FF2B5EF4-FFF2-40B4-BE49-F238E27FC236}">
                <a16:creationId xmlns:a16="http://schemas.microsoft.com/office/drawing/2014/main" id="{1FD15982-05D1-814D-95B2-0722FBB4A203}"/>
              </a:ext>
            </a:extLst>
          </p:cNvPr>
          <p:cNvSpPr>
            <a:spLocks noGrp="1"/>
          </p:cNvSpPr>
          <p:nvPr>
            <p:ph type="ftr" sz="quarter" idx="11"/>
          </p:nvPr>
        </p:nvSpPr>
        <p:spPr>
          <a:xfrm>
            <a:off x="4038600" y="6356350"/>
            <a:ext cx="4114800" cy="365125"/>
          </a:xfrm>
        </p:spPr>
        <p:txBody>
          <a:bodyPr/>
          <a:lstStyle/>
          <a:p>
            <a:r>
              <a:rPr lang="en-US"/>
              <a:t>Or Peretz</a:t>
            </a:r>
            <a:endParaRPr lang="en-IL"/>
          </a:p>
        </p:txBody>
      </p:sp>
    </p:spTree>
    <p:extLst>
      <p:ext uri="{BB962C8B-B14F-4D97-AF65-F5344CB8AC3E}">
        <p14:creationId xmlns:p14="http://schemas.microsoft.com/office/powerpoint/2010/main" val="715390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1 2">
  <p:cSld name="Section title and description 1 2">
    <p:spTree>
      <p:nvGrpSpPr>
        <p:cNvPr id="1"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l="31883" t="8096" r="25713"/>
          <a:stretch/>
        </p:blipFill>
        <p:spPr>
          <a:xfrm>
            <a:off x="0" y="0"/>
            <a:ext cx="6100333" cy="6858000"/>
          </a:xfrm>
          <a:prstGeom prst="rect">
            <a:avLst/>
          </a:prstGeom>
          <a:noFill/>
          <a:ln>
            <a:noFill/>
          </a:ln>
        </p:spPr>
      </p:pic>
      <p:sp>
        <p:nvSpPr>
          <p:cNvPr id="111" name="Google Shape;111;p13"/>
          <p:cNvSpPr/>
          <p:nvPr/>
        </p:nvSpPr>
        <p:spPr>
          <a:xfrm>
            <a:off x="-100" y="0"/>
            <a:ext cx="6096000" cy="6858000"/>
          </a:xfrm>
          <a:prstGeom prst="rect">
            <a:avLst/>
          </a:prstGeom>
          <a:solidFill>
            <a:srgbClr val="178D7D">
              <a:alpha val="680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2" name="Google Shape;112;p13"/>
          <p:cNvGrpSpPr/>
          <p:nvPr/>
        </p:nvGrpSpPr>
        <p:grpSpPr>
          <a:xfrm>
            <a:off x="1107190" y="1588342"/>
            <a:ext cx="994351" cy="61101"/>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13"/>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5" name="Google Shape;115;p13"/>
          <p:cNvSpPr txBox="1">
            <a:spLocks noGrp="1"/>
          </p:cNvSpPr>
          <p:nvPr>
            <p:ph type="title"/>
          </p:nvPr>
        </p:nvSpPr>
        <p:spPr>
          <a:xfrm>
            <a:off x="973333" y="1758200"/>
            <a:ext cx="4401200" cy="224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4000">
                <a:solidFill>
                  <a:srgbClr val="FFFFFF"/>
                </a:solidFill>
              </a:defRPr>
            </a:lvl1pPr>
            <a:lvl2pPr lvl="1" rtl="0">
              <a:spcBef>
                <a:spcPts val="0"/>
              </a:spcBef>
              <a:spcAft>
                <a:spcPts val="0"/>
              </a:spcAft>
              <a:buClr>
                <a:srgbClr val="FFFFFF"/>
              </a:buClr>
              <a:buSzPts val="3000"/>
              <a:buNone/>
              <a:defRPr sz="4000">
                <a:solidFill>
                  <a:srgbClr val="FFFFFF"/>
                </a:solidFill>
              </a:defRPr>
            </a:lvl2pPr>
            <a:lvl3pPr lvl="2" rtl="0">
              <a:spcBef>
                <a:spcPts val="0"/>
              </a:spcBef>
              <a:spcAft>
                <a:spcPts val="0"/>
              </a:spcAft>
              <a:buClr>
                <a:srgbClr val="FFFFFF"/>
              </a:buClr>
              <a:buSzPts val="3000"/>
              <a:buNone/>
              <a:defRPr sz="4000">
                <a:solidFill>
                  <a:srgbClr val="FFFFFF"/>
                </a:solidFill>
              </a:defRPr>
            </a:lvl3pPr>
            <a:lvl4pPr lvl="3" rtl="0">
              <a:spcBef>
                <a:spcPts val="0"/>
              </a:spcBef>
              <a:spcAft>
                <a:spcPts val="0"/>
              </a:spcAft>
              <a:buClr>
                <a:srgbClr val="FFFFFF"/>
              </a:buClr>
              <a:buSzPts val="3000"/>
              <a:buNone/>
              <a:defRPr sz="4000">
                <a:solidFill>
                  <a:srgbClr val="FFFFFF"/>
                </a:solidFill>
              </a:defRPr>
            </a:lvl4pPr>
            <a:lvl5pPr lvl="4" rtl="0">
              <a:spcBef>
                <a:spcPts val="0"/>
              </a:spcBef>
              <a:spcAft>
                <a:spcPts val="0"/>
              </a:spcAft>
              <a:buClr>
                <a:srgbClr val="FFFFFF"/>
              </a:buClr>
              <a:buSzPts val="3000"/>
              <a:buNone/>
              <a:defRPr sz="4000">
                <a:solidFill>
                  <a:srgbClr val="FFFFFF"/>
                </a:solidFill>
              </a:defRPr>
            </a:lvl5pPr>
            <a:lvl6pPr lvl="5" rtl="0">
              <a:spcBef>
                <a:spcPts val="0"/>
              </a:spcBef>
              <a:spcAft>
                <a:spcPts val="0"/>
              </a:spcAft>
              <a:buClr>
                <a:srgbClr val="FFFFFF"/>
              </a:buClr>
              <a:buSzPts val="3000"/>
              <a:buNone/>
              <a:defRPr sz="4000">
                <a:solidFill>
                  <a:srgbClr val="FFFFFF"/>
                </a:solidFill>
              </a:defRPr>
            </a:lvl6pPr>
            <a:lvl7pPr lvl="6" rtl="0">
              <a:spcBef>
                <a:spcPts val="0"/>
              </a:spcBef>
              <a:spcAft>
                <a:spcPts val="0"/>
              </a:spcAft>
              <a:buClr>
                <a:srgbClr val="FFFFFF"/>
              </a:buClr>
              <a:buSzPts val="3000"/>
              <a:buNone/>
              <a:defRPr sz="4000">
                <a:solidFill>
                  <a:srgbClr val="FFFFFF"/>
                </a:solidFill>
              </a:defRPr>
            </a:lvl7pPr>
            <a:lvl8pPr lvl="7" rtl="0">
              <a:spcBef>
                <a:spcPts val="0"/>
              </a:spcBef>
              <a:spcAft>
                <a:spcPts val="0"/>
              </a:spcAft>
              <a:buClr>
                <a:srgbClr val="FFFFFF"/>
              </a:buClr>
              <a:buSzPts val="3000"/>
              <a:buNone/>
              <a:defRPr sz="4000">
                <a:solidFill>
                  <a:srgbClr val="FFFFFF"/>
                </a:solidFill>
              </a:defRPr>
            </a:lvl8pPr>
            <a:lvl9pPr lvl="8" rtl="0">
              <a:spcBef>
                <a:spcPts val="0"/>
              </a:spcBef>
              <a:spcAft>
                <a:spcPts val="0"/>
              </a:spcAft>
              <a:buClr>
                <a:srgbClr val="FFFFFF"/>
              </a:buClr>
              <a:buSzPts val="3000"/>
              <a:buNone/>
              <a:defRPr sz="4000">
                <a:solidFill>
                  <a:srgbClr val="FFFFFF"/>
                </a:solidFill>
              </a:defRPr>
            </a:lvl9pPr>
          </a:lstStyle>
          <a:p>
            <a:endParaRPr/>
          </a:p>
        </p:txBody>
      </p:sp>
      <p:sp>
        <p:nvSpPr>
          <p:cNvPr id="116" name="Google Shape;116;p13"/>
          <p:cNvSpPr txBox="1">
            <a:spLocks noGrp="1"/>
          </p:cNvSpPr>
          <p:nvPr>
            <p:ph type="subTitle" idx="1"/>
          </p:nvPr>
        </p:nvSpPr>
        <p:spPr>
          <a:xfrm>
            <a:off x="966600" y="4215367"/>
            <a:ext cx="4401200" cy="101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2133">
                <a:solidFill>
                  <a:srgbClr val="FFFFFF"/>
                </a:solidFill>
              </a:defRPr>
            </a:lvl1pPr>
            <a:lvl2pPr lvl="1" rtl="0">
              <a:lnSpc>
                <a:spcPct val="100000"/>
              </a:lnSpc>
              <a:spcBef>
                <a:spcPts val="0"/>
              </a:spcBef>
              <a:spcAft>
                <a:spcPts val="0"/>
              </a:spcAft>
              <a:buClr>
                <a:srgbClr val="FFFFFF"/>
              </a:buClr>
              <a:buSzPts val="1600"/>
              <a:buNone/>
              <a:defRPr sz="2133">
                <a:solidFill>
                  <a:srgbClr val="FFFFFF"/>
                </a:solidFill>
              </a:defRPr>
            </a:lvl2pPr>
            <a:lvl3pPr lvl="2" rtl="0">
              <a:lnSpc>
                <a:spcPct val="100000"/>
              </a:lnSpc>
              <a:spcBef>
                <a:spcPts val="0"/>
              </a:spcBef>
              <a:spcAft>
                <a:spcPts val="0"/>
              </a:spcAft>
              <a:buClr>
                <a:srgbClr val="FFFFFF"/>
              </a:buClr>
              <a:buSzPts val="1600"/>
              <a:buNone/>
              <a:defRPr sz="2133">
                <a:solidFill>
                  <a:srgbClr val="FFFFFF"/>
                </a:solidFill>
              </a:defRPr>
            </a:lvl3pPr>
            <a:lvl4pPr lvl="3" rtl="0">
              <a:lnSpc>
                <a:spcPct val="100000"/>
              </a:lnSpc>
              <a:spcBef>
                <a:spcPts val="0"/>
              </a:spcBef>
              <a:spcAft>
                <a:spcPts val="0"/>
              </a:spcAft>
              <a:buClr>
                <a:srgbClr val="FFFFFF"/>
              </a:buClr>
              <a:buSzPts val="1600"/>
              <a:buNone/>
              <a:defRPr sz="2133">
                <a:solidFill>
                  <a:srgbClr val="FFFFFF"/>
                </a:solidFill>
              </a:defRPr>
            </a:lvl4pPr>
            <a:lvl5pPr lvl="4" rtl="0">
              <a:lnSpc>
                <a:spcPct val="100000"/>
              </a:lnSpc>
              <a:spcBef>
                <a:spcPts val="0"/>
              </a:spcBef>
              <a:spcAft>
                <a:spcPts val="0"/>
              </a:spcAft>
              <a:buClr>
                <a:srgbClr val="FFFFFF"/>
              </a:buClr>
              <a:buSzPts val="1600"/>
              <a:buNone/>
              <a:defRPr sz="2133">
                <a:solidFill>
                  <a:srgbClr val="FFFFFF"/>
                </a:solidFill>
              </a:defRPr>
            </a:lvl5pPr>
            <a:lvl6pPr lvl="5" rtl="0">
              <a:lnSpc>
                <a:spcPct val="100000"/>
              </a:lnSpc>
              <a:spcBef>
                <a:spcPts val="0"/>
              </a:spcBef>
              <a:spcAft>
                <a:spcPts val="0"/>
              </a:spcAft>
              <a:buClr>
                <a:srgbClr val="FFFFFF"/>
              </a:buClr>
              <a:buSzPts val="1600"/>
              <a:buNone/>
              <a:defRPr sz="2133">
                <a:solidFill>
                  <a:srgbClr val="FFFFFF"/>
                </a:solidFill>
              </a:defRPr>
            </a:lvl6pPr>
            <a:lvl7pPr lvl="6" rtl="0">
              <a:lnSpc>
                <a:spcPct val="100000"/>
              </a:lnSpc>
              <a:spcBef>
                <a:spcPts val="0"/>
              </a:spcBef>
              <a:spcAft>
                <a:spcPts val="0"/>
              </a:spcAft>
              <a:buClr>
                <a:srgbClr val="FFFFFF"/>
              </a:buClr>
              <a:buSzPts val="1600"/>
              <a:buNone/>
              <a:defRPr sz="2133">
                <a:solidFill>
                  <a:srgbClr val="FFFFFF"/>
                </a:solidFill>
              </a:defRPr>
            </a:lvl7pPr>
            <a:lvl8pPr lvl="7" rtl="0">
              <a:lnSpc>
                <a:spcPct val="100000"/>
              </a:lnSpc>
              <a:spcBef>
                <a:spcPts val="0"/>
              </a:spcBef>
              <a:spcAft>
                <a:spcPts val="0"/>
              </a:spcAft>
              <a:buClr>
                <a:srgbClr val="FFFFFF"/>
              </a:buClr>
              <a:buSzPts val="1600"/>
              <a:buNone/>
              <a:defRPr sz="2133">
                <a:solidFill>
                  <a:srgbClr val="FFFFFF"/>
                </a:solidFill>
              </a:defRPr>
            </a:lvl8pPr>
            <a:lvl9pPr lvl="8" rtl="0">
              <a:lnSpc>
                <a:spcPct val="100000"/>
              </a:lnSpc>
              <a:spcBef>
                <a:spcPts val="0"/>
              </a:spcBef>
              <a:spcAft>
                <a:spcPts val="0"/>
              </a:spcAft>
              <a:buClr>
                <a:srgbClr val="FFFFFF"/>
              </a:buClr>
              <a:buSzPts val="1600"/>
              <a:buNone/>
              <a:defRPr sz="2133">
                <a:solidFill>
                  <a:srgbClr val="FFFFFF"/>
                </a:solidFill>
              </a:defRPr>
            </a:lvl9pPr>
          </a:lstStyle>
          <a:p>
            <a:endParaRPr/>
          </a:p>
        </p:txBody>
      </p:sp>
      <p:sp>
        <p:nvSpPr>
          <p:cNvPr id="117" name="Google Shape;117;p13"/>
          <p:cNvSpPr txBox="1">
            <a:spLocks noGrp="1"/>
          </p:cNvSpPr>
          <p:nvPr>
            <p:ph type="body" idx="2"/>
          </p:nvPr>
        </p:nvSpPr>
        <p:spPr>
          <a:xfrm>
            <a:off x="6898967" y="1803500"/>
            <a:ext cx="4499200" cy="4034000"/>
          </a:xfrm>
          <a:prstGeom prst="rect">
            <a:avLst/>
          </a:prstGeom>
        </p:spPr>
        <p:txBody>
          <a:bodyPr spcFirstLastPara="1" wrap="square" lIns="91425" tIns="91425" rIns="91425" bIns="91425" anchor="t" anchorCtr="0">
            <a:noAutofit/>
          </a:bodyPr>
          <a:lstStyle>
            <a:lvl1pPr marL="609585" lvl="0" indent="-414856" rtl="0">
              <a:spcBef>
                <a:spcPts val="0"/>
              </a:spcBef>
              <a:spcAft>
                <a:spcPts val="0"/>
              </a:spcAft>
              <a:buSzPts val="1300"/>
              <a:buChar char="●"/>
              <a:defRPr/>
            </a:lvl1pPr>
            <a:lvl2pPr marL="1219170" lvl="1" indent="-397923" rtl="0">
              <a:spcBef>
                <a:spcPts val="2133"/>
              </a:spcBef>
              <a:spcAft>
                <a:spcPts val="0"/>
              </a:spcAft>
              <a:buSzPts val="1100"/>
              <a:buChar char="○"/>
              <a:defRPr/>
            </a:lvl2pPr>
            <a:lvl3pPr marL="1828754" lvl="2" indent="-397923" rtl="0">
              <a:spcBef>
                <a:spcPts val="2133"/>
              </a:spcBef>
              <a:spcAft>
                <a:spcPts val="0"/>
              </a:spcAft>
              <a:buSzPts val="1100"/>
              <a:buChar char="■"/>
              <a:defRPr/>
            </a:lvl3pPr>
            <a:lvl4pPr marL="2438339" lvl="3" indent="-397923" rtl="0">
              <a:spcBef>
                <a:spcPts val="2133"/>
              </a:spcBef>
              <a:spcAft>
                <a:spcPts val="0"/>
              </a:spcAft>
              <a:buSzPts val="1100"/>
              <a:buChar char="●"/>
              <a:defRPr/>
            </a:lvl4pPr>
            <a:lvl5pPr marL="3047924" lvl="4" indent="-397923" rtl="0">
              <a:spcBef>
                <a:spcPts val="2133"/>
              </a:spcBef>
              <a:spcAft>
                <a:spcPts val="0"/>
              </a:spcAft>
              <a:buSzPts val="1100"/>
              <a:buChar char="○"/>
              <a:defRPr/>
            </a:lvl5pPr>
            <a:lvl6pPr marL="3657509" lvl="5" indent="-397923" rtl="0">
              <a:spcBef>
                <a:spcPts val="2133"/>
              </a:spcBef>
              <a:spcAft>
                <a:spcPts val="0"/>
              </a:spcAft>
              <a:buSzPts val="1100"/>
              <a:buChar char="■"/>
              <a:defRPr/>
            </a:lvl6pPr>
            <a:lvl7pPr marL="4267093" lvl="6" indent="-397923" rtl="0">
              <a:spcBef>
                <a:spcPts val="2133"/>
              </a:spcBef>
              <a:spcAft>
                <a:spcPts val="0"/>
              </a:spcAft>
              <a:buSzPts val="1100"/>
              <a:buChar char="●"/>
              <a:defRPr/>
            </a:lvl7pPr>
            <a:lvl8pPr marL="4876678" lvl="7" indent="-397923" rtl="0">
              <a:spcBef>
                <a:spcPts val="2133"/>
              </a:spcBef>
              <a:spcAft>
                <a:spcPts val="0"/>
              </a:spcAft>
              <a:buSzPts val="1100"/>
              <a:buChar char="○"/>
              <a:defRPr/>
            </a:lvl8pPr>
            <a:lvl9pPr marL="5486263" lvl="8" indent="-397923" rtl="0">
              <a:spcBef>
                <a:spcPts val="2133"/>
              </a:spcBef>
              <a:spcAft>
                <a:spcPts val="2133"/>
              </a:spcAft>
              <a:buSzPts val="1100"/>
              <a:buChar char="■"/>
              <a:defRPr/>
            </a:lvl9pPr>
          </a:lstStyle>
          <a:p>
            <a:endParaRPr/>
          </a:p>
        </p:txBody>
      </p:sp>
      <p:sp>
        <p:nvSpPr>
          <p:cNvPr id="118" name="Google Shape;118;p13"/>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13461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718D41-D49D-1A44-B7C1-3766F6241C99}" type="datetime8">
              <a:rPr lang="en-US" smtClean="0"/>
              <a:t>2/20/23 11:17 AM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2</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Lecture Agenda</a:t>
            </a:r>
          </a:p>
          <a:p>
            <a:pPr marL="342900" indent="-342900">
              <a:lnSpc>
                <a:spcPct val="150000"/>
              </a:lnSpc>
              <a:buFontTx/>
              <a:buChar char="-"/>
            </a:pPr>
            <a:r>
              <a:rPr lang="en-US" sz="2400" dirty="0"/>
              <a:t>Data Driven Project</a:t>
            </a:r>
            <a:r>
              <a:rPr lang="he-IL" sz="2400" dirty="0"/>
              <a:t> </a:t>
            </a:r>
            <a:r>
              <a:rPr lang="en-US" sz="2400" dirty="0"/>
              <a:t> (DDP)</a:t>
            </a:r>
          </a:p>
          <a:p>
            <a:pPr marL="342900" indent="-342900">
              <a:lnSpc>
                <a:spcPct val="150000"/>
              </a:lnSpc>
              <a:buFontTx/>
              <a:buChar char="-"/>
            </a:pPr>
            <a:r>
              <a:rPr lang="en-US" sz="2400" dirty="0"/>
              <a:t>Business Approach to DDP</a:t>
            </a:r>
          </a:p>
          <a:p>
            <a:pPr marL="342900" indent="-342900">
              <a:lnSpc>
                <a:spcPct val="150000"/>
              </a:lnSpc>
              <a:buFontTx/>
              <a:buChar char="-"/>
            </a:pPr>
            <a:r>
              <a:rPr lang="en-US" sz="2400" dirty="0"/>
              <a:t>Key Performance Indicators (KPI)</a:t>
            </a:r>
          </a:p>
          <a:p>
            <a:pPr marL="342900" indent="-342900">
              <a:lnSpc>
                <a:spcPct val="150000"/>
              </a:lnSpc>
              <a:buFontTx/>
              <a:buChar char="-"/>
            </a:pPr>
            <a:r>
              <a:rPr lang="en-US" sz="2400"/>
              <a:t>Business Modeling</a:t>
            </a:r>
            <a:endParaRPr lang="en-US" sz="32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24766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Data Driven Project </a:t>
            </a:r>
          </a:p>
        </p:txBody>
      </p:sp>
    </p:spTree>
    <p:extLst>
      <p:ext uri="{BB962C8B-B14F-4D97-AF65-F5344CB8AC3E}">
        <p14:creationId xmlns:p14="http://schemas.microsoft.com/office/powerpoint/2010/main" val="1425804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Driven Project</a:t>
            </a:r>
          </a:p>
          <a:p>
            <a:pPr fontAlgn="base">
              <a:lnSpc>
                <a:spcPct val="150000"/>
              </a:lnSpc>
            </a:pPr>
            <a:r>
              <a:rPr lang="en-US" sz="2400" dirty="0"/>
              <a:t>When a company employs a “data-driven” approach, it means it makes </a:t>
            </a:r>
            <a:r>
              <a:rPr lang="en-US" sz="2400" b="1" dirty="0"/>
              <a:t>strategic decisions </a:t>
            </a:r>
            <a:r>
              <a:rPr lang="en-US" sz="2400" dirty="0"/>
              <a:t>based on data analysis and interpretation.</a:t>
            </a:r>
          </a:p>
          <a:p>
            <a:pPr fontAlgn="base">
              <a:lnSpc>
                <a:spcPct val="150000"/>
              </a:lnSpc>
            </a:pPr>
            <a:r>
              <a:rPr lang="en-US" sz="2400" dirty="0"/>
              <a:t>A </a:t>
            </a:r>
            <a:r>
              <a:rPr lang="en-US" sz="2400" b="1" dirty="0"/>
              <a:t>data-driven approach </a:t>
            </a:r>
            <a:r>
              <a:rPr lang="en-US" sz="2400" dirty="0"/>
              <a:t>enables companies to examine and organize their data with the goal of better serving their customers and consumers. </a:t>
            </a:r>
          </a:p>
          <a:p>
            <a:pPr algn="ctr">
              <a:lnSpc>
                <a:spcPct val="150000"/>
              </a:lnSpc>
            </a:pPr>
            <a:endParaRPr lang="en-US" sz="32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9938" name="Picture 2" descr="Data driven marketing. What is it? | Jelba experts explain">
            <a:extLst>
              <a:ext uri="{FF2B5EF4-FFF2-40B4-BE49-F238E27FC236}">
                <a16:creationId xmlns:a16="http://schemas.microsoft.com/office/drawing/2014/main" id="{4D84AB1F-D658-094F-B614-5D8F6D244D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152" y="3505198"/>
            <a:ext cx="5449695" cy="255481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03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6299200" cy="6485754"/>
          </a:xfrm>
        </p:spPr>
        <p:txBody>
          <a:bodyPr>
            <a:normAutofit/>
          </a:bodyPr>
          <a:lstStyle/>
          <a:p>
            <a:pPr algn="ctr">
              <a:lnSpc>
                <a:spcPct val="150000"/>
              </a:lnSpc>
            </a:pPr>
            <a:r>
              <a:rPr lang="en-US" sz="3200" b="1" dirty="0"/>
              <a:t>CRISP-DM</a:t>
            </a:r>
          </a:p>
          <a:p>
            <a:pPr fontAlgn="base">
              <a:lnSpc>
                <a:spcPct val="150000"/>
              </a:lnSpc>
            </a:pPr>
            <a:r>
              <a:rPr lang="en-US" sz="2400" b="1" u="sng" dirty="0"/>
              <a:t>Cr</a:t>
            </a:r>
            <a:r>
              <a:rPr lang="en-US" sz="2400" dirty="0"/>
              <a:t>oss-</a:t>
            </a:r>
            <a:r>
              <a:rPr lang="en-US" sz="2400" b="1" u="sng" dirty="0"/>
              <a:t>I</a:t>
            </a:r>
            <a:r>
              <a:rPr lang="en-US" sz="2400" dirty="0"/>
              <a:t>ndustry </a:t>
            </a:r>
            <a:r>
              <a:rPr lang="en-US" sz="2400" b="1" u="sng" dirty="0"/>
              <a:t>S</a:t>
            </a:r>
            <a:r>
              <a:rPr lang="en-US" sz="2400" dirty="0"/>
              <a:t>tandard </a:t>
            </a:r>
            <a:r>
              <a:rPr lang="en-US" sz="2400" b="1" u="sng" dirty="0"/>
              <a:t>P</a:t>
            </a:r>
            <a:r>
              <a:rPr lang="en-US" sz="2400" dirty="0"/>
              <a:t>rocess for </a:t>
            </a:r>
            <a:r>
              <a:rPr lang="en-US" sz="2400" b="1" u="sng" dirty="0"/>
              <a:t>D</a:t>
            </a:r>
            <a:r>
              <a:rPr lang="en-US" sz="2400" dirty="0"/>
              <a:t>ata </a:t>
            </a:r>
            <a:r>
              <a:rPr lang="en-US" sz="2400" b="1" u="sng" dirty="0"/>
              <a:t>M</a:t>
            </a:r>
            <a:r>
              <a:rPr lang="en-US" sz="2400" dirty="0"/>
              <a:t>ining, known as CRISP-DM, is a model that describes common approaches used by data mining experts. It is the most widely-used analytics model. CRISP breaks the process of data mining into six major phases: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45D57C64-7665-D04D-BB76-36DF7B7A57C4}"/>
              </a:ext>
            </a:extLst>
          </p:cNvPr>
          <p:cNvPicPr>
            <a:picLocks noChangeAspect="1"/>
          </p:cNvPicPr>
          <p:nvPr/>
        </p:nvPicPr>
        <p:blipFill>
          <a:blip r:embed="rId3"/>
          <a:stretch>
            <a:fillRect/>
          </a:stretch>
        </p:blipFill>
        <p:spPr>
          <a:xfrm>
            <a:off x="6995584" y="1616511"/>
            <a:ext cx="4358216" cy="3861710"/>
          </a:xfrm>
          <a:prstGeom prst="rect">
            <a:avLst/>
          </a:prstGeom>
        </p:spPr>
      </p:pic>
    </p:spTree>
    <p:extLst>
      <p:ext uri="{BB962C8B-B14F-4D97-AF65-F5344CB8AC3E}">
        <p14:creationId xmlns:p14="http://schemas.microsoft.com/office/powerpoint/2010/main" val="251792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1. Business Understanding</a:t>
            </a:r>
          </a:p>
          <a:p>
            <a:pPr marL="342900" indent="-342900" fontAlgn="base">
              <a:lnSpc>
                <a:spcPct val="150000"/>
              </a:lnSpc>
              <a:buFontTx/>
              <a:buChar char="-"/>
            </a:pPr>
            <a:r>
              <a:rPr lang="en-US" sz="2400" dirty="0"/>
              <a:t>Understand what you want to accomplish from a business perspective. </a:t>
            </a:r>
          </a:p>
          <a:p>
            <a:pPr marL="342900" indent="-342900" fontAlgn="base">
              <a:lnSpc>
                <a:spcPct val="150000"/>
              </a:lnSpc>
              <a:buFontTx/>
              <a:buChar char="-"/>
            </a:pPr>
            <a:r>
              <a:rPr lang="en-US" sz="2400" dirty="0"/>
              <a:t>Your organization may have constraints that must be properly balanced. </a:t>
            </a:r>
          </a:p>
          <a:p>
            <a:pPr marL="342900" indent="-342900" fontAlgn="base">
              <a:lnSpc>
                <a:spcPct val="150000"/>
              </a:lnSpc>
              <a:buFontTx/>
              <a:buChar char="-"/>
            </a:pPr>
            <a:r>
              <a:rPr lang="en-US" sz="2400" dirty="0"/>
              <a:t>Cover important factors that could influence the outcome of the project. </a:t>
            </a:r>
          </a:p>
          <a:p>
            <a:pPr marL="342900" indent="-342900" fontAlgn="base">
              <a:lnSpc>
                <a:spcPct val="150000"/>
              </a:lnSpc>
              <a:buFontTx/>
              <a:buChar char="-"/>
            </a:pPr>
            <a:r>
              <a:rPr lang="en-US" sz="2400" dirty="0"/>
              <a:t>Bottom line: what is your business goal in this project?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43010" name="Picture 2" descr="How to Write SMART Project Goals">
            <a:extLst>
              <a:ext uri="{FF2B5EF4-FFF2-40B4-BE49-F238E27FC236}">
                <a16:creationId xmlns:a16="http://schemas.microsoft.com/office/drawing/2014/main" id="{B656E51C-6006-8448-8CC8-2A3F529B3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7184" y="327871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0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2. Data Understanding</a:t>
            </a:r>
          </a:p>
          <a:p>
            <a:pPr marL="342900" indent="-342900" fontAlgn="base">
              <a:lnSpc>
                <a:spcPct val="150000"/>
              </a:lnSpc>
              <a:buFontTx/>
              <a:buChar char="-"/>
            </a:pPr>
            <a:r>
              <a:rPr lang="en-US" sz="2400" dirty="0"/>
              <a:t>Acquire the data listed in the project resources. </a:t>
            </a:r>
          </a:p>
          <a:p>
            <a:pPr marL="342900" indent="-342900" fontAlgn="base">
              <a:lnSpc>
                <a:spcPct val="150000"/>
              </a:lnSpc>
              <a:buFontTx/>
              <a:buChar char="-"/>
            </a:pPr>
            <a:r>
              <a:rPr lang="en-US" sz="2400" dirty="0"/>
              <a:t>This initial collection includes data loading, if this is necessary for data understanding.</a:t>
            </a:r>
          </a:p>
          <a:p>
            <a:pPr algn="ctr" fontAlgn="base">
              <a:lnSpc>
                <a:spcPct val="150000"/>
              </a:lnSpc>
            </a:pPr>
            <a:r>
              <a:rPr lang="en-US" sz="2400" b="1" dirty="0"/>
              <a:t>If you acquire multiple data sources, then you need to consider how and when you’re going to integrate these.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utoShape 4" descr="Consolidate data from different sources | Holistics Docs">
            <a:extLst>
              <a:ext uri="{FF2B5EF4-FFF2-40B4-BE49-F238E27FC236}">
                <a16:creationId xmlns:a16="http://schemas.microsoft.com/office/drawing/2014/main" id="{AA3B47A0-9030-9C4A-896C-3831052CBC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44038" name="Picture 6" descr="What is Data Consolidation? - Definition &amp;amp; Overview - Video &amp;amp; Lesson  Transcript | Study.com">
            <a:extLst>
              <a:ext uri="{FF2B5EF4-FFF2-40B4-BE49-F238E27FC236}">
                <a16:creationId xmlns:a16="http://schemas.microsoft.com/office/drawing/2014/main" id="{2E652D4B-D60D-474A-907F-EA4FB7149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2714" y="3876675"/>
            <a:ext cx="3606572" cy="172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30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3. Data Preparation</a:t>
            </a:r>
          </a:p>
          <a:p>
            <a:pPr fontAlgn="base">
              <a:lnSpc>
                <a:spcPct val="150000"/>
              </a:lnSpc>
            </a:pPr>
            <a:r>
              <a:rPr lang="en-US" sz="2400" b="1" u="sng" dirty="0"/>
              <a:t>Select</a:t>
            </a:r>
            <a:r>
              <a:rPr lang="en-US" sz="2400" dirty="0"/>
              <a:t> This is the stage of the project where you decide on the data that you’re going to use for analysis. </a:t>
            </a:r>
          </a:p>
          <a:p>
            <a:pPr marL="342900" indent="-342900" fontAlgn="base">
              <a:lnSpc>
                <a:spcPct val="150000"/>
              </a:lnSpc>
              <a:buFontTx/>
              <a:buChar char="-"/>
            </a:pPr>
            <a:r>
              <a:rPr lang="en-US" sz="2400" dirty="0"/>
              <a:t>The criteria you might use to make this decision include the relevance of the data to your data mining goals</a:t>
            </a:r>
          </a:p>
          <a:p>
            <a:pPr marL="342900" indent="-342900" fontAlgn="base">
              <a:lnSpc>
                <a:spcPct val="150000"/>
              </a:lnSpc>
              <a:buFontTx/>
              <a:buChar char="-"/>
            </a:pPr>
            <a:r>
              <a:rPr lang="en-US" sz="2400" dirty="0"/>
              <a:t>Data selection covers selection of attributes (columns) as well as selection of records (rows) in a table.</a:t>
            </a:r>
          </a:p>
          <a:p>
            <a:pPr fontAlgn="base">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20778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3. Data Preparation</a:t>
            </a:r>
          </a:p>
          <a:p>
            <a:pPr fontAlgn="base">
              <a:lnSpc>
                <a:spcPct val="150000"/>
              </a:lnSpc>
            </a:pPr>
            <a:r>
              <a:rPr lang="en-US" sz="2400" b="1" u="sng" dirty="0"/>
              <a:t>Clean</a:t>
            </a:r>
            <a:r>
              <a:rPr lang="en-US" sz="2400" dirty="0"/>
              <a:t> This task involves raise the data quality to the level required by the analysis techniques that you’ve selected. </a:t>
            </a:r>
          </a:p>
          <a:p>
            <a:pPr fontAlgn="base">
              <a:lnSpc>
                <a:spcPct val="150000"/>
              </a:lnSpc>
            </a:pPr>
            <a:r>
              <a:rPr lang="en-US" sz="2400" dirty="0"/>
              <a:t>This may involve selecting clean subsets of the data, the insertion of suitable defaults, or more ambitious techniques such as the estimation of missing data by modelling.</a:t>
            </a:r>
          </a:p>
          <a:p>
            <a:pPr fontAlgn="base">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45058" name="Picture 2" descr="Get rid of the dirt from your data — Data Cleaning techniques | by Caston  Fernandes | Medium">
            <a:extLst>
              <a:ext uri="{FF2B5EF4-FFF2-40B4-BE49-F238E27FC236}">
                <a16:creationId xmlns:a16="http://schemas.microsoft.com/office/drawing/2014/main" id="{A4163195-1FF0-E94D-9EEA-F3A19BEBF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1055" y="3379402"/>
            <a:ext cx="3952345" cy="2794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7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3. Data Preparation</a:t>
            </a:r>
          </a:p>
          <a:p>
            <a:pPr fontAlgn="base">
              <a:lnSpc>
                <a:spcPct val="150000"/>
              </a:lnSpc>
            </a:pPr>
            <a:r>
              <a:rPr lang="en-US" sz="2400" b="1" u="sng" dirty="0"/>
              <a:t>Construct</a:t>
            </a:r>
            <a:r>
              <a:rPr lang="en-US" sz="2400" dirty="0"/>
              <a:t> This task includes constructive data preparation operations such as the production of derived attributes or entire new records, or transformed values for existing attributes.</a:t>
            </a:r>
          </a:p>
          <a:p>
            <a:pPr fontAlgn="base">
              <a:lnSpc>
                <a:spcPct val="150000"/>
              </a:lnSpc>
            </a:pPr>
            <a:r>
              <a:rPr lang="en-US" sz="2400" b="1" u="sng" dirty="0"/>
              <a:t>Integrate</a:t>
            </a:r>
            <a:r>
              <a:rPr lang="en-US" sz="2400" dirty="0"/>
              <a:t> These are methods whereby information is combined from multiple databases, tables or records to create new records or values.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07914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4. Modeling</a:t>
            </a:r>
          </a:p>
          <a:p>
            <a:pPr fontAlgn="base">
              <a:lnSpc>
                <a:spcPct val="150000"/>
              </a:lnSpc>
            </a:pPr>
            <a:r>
              <a:rPr lang="en-US" sz="2400" b="1" u="sng" dirty="0"/>
              <a:t>Technique</a:t>
            </a:r>
            <a:r>
              <a:rPr lang="en-US" sz="2400" dirty="0"/>
              <a:t> As the first step in modelling, you’ll select the actual modelling technique that you’ll be using. Although you may have already selected a tool during the business understanding phase, at this stage you’ll be selecting the specific modelling technique e.g. decision-tree, clustering, neural networks, etc. </a:t>
            </a:r>
          </a:p>
          <a:p>
            <a:pPr algn="ctr" fontAlgn="base">
              <a:lnSpc>
                <a:spcPct val="150000"/>
              </a:lnSpc>
            </a:pPr>
            <a:r>
              <a:rPr lang="en-US" sz="2400" b="1" dirty="0"/>
              <a:t>If multiple techniques are applied, perform this task separately for each technique.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24604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4. Modeling</a:t>
            </a:r>
          </a:p>
          <a:p>
            <a:pPr fontAlgn="base">
              <a:lnSpc>
                <a:spcPct val="150000"/>
              </a:lnSpc>
            </a:pPr>
            <a:r>
              <a:rPr lang="en-US" sz="2400" b="1" u="sng" dirty="0"/>
              <a:t>Build</a:t>
            </a:r>
            <a:r>
              <a:rPr lang="en-US" sz="2400" dirty="0"/>
              <a:t> run the modelling tool on the prepared dataset to create one or more models.</a:t>
            </a:r>
          </a:p>
          <a:p>
            <a:pPr fontAlgn="base">
              <a:lnSpc>
                <a:spcPct val="150000"/>
              </a:lnSpc>
            </a:pPr>
            <a:r>
              <a:rPr lang="en-US" sz="2400" b="1" u="sng" dirty="0"/>
              <a:t>Assess</a:t>
            </a:r>
            <a:r>
              <a:rPr lang="en-US" sz="2400" dirty="0"/>
              <a:t> your data mining success criteria and your desired test design. </a:t>
            </a:r>
          </a:p>
          <a:p>
            <a:pPr marL="342900" indent="-342900" fontAlgn="base">
              <a:lnSpc>
                <a:spcPct val="150000"/>
              </a:lnSpc>
              <a:buFontTx/>
              <a:buChar char="-"/>
            </a:pPr>
            <a:r>
              <a:rPr lang="en-US" sz="2400" dirty="0"/>
              <a:t>Judge the success of the application of modelling and discovery techniques technically</a:t>
            </a:r>
          </a:p>
          <a:p>
            <a:pPr marL="342900" indent="-342900" fontAlgn="base">
              <a:lnSpc>
                <a:spcPct val="150000"/>
              </a:lnSpc>
              <a:buFontTx/>
              <a:buChar char="-"/>
            </a:pPr>
            <a:r>
              <a:rPr lang="en-US" sz="2400" dirty="0"/>
              <a:t>Contact business analysts and domain experts to discuss the data mining results</a:t>
            </a:r>
          </a:p>
          <a:p>
            <a:pPr marL="342900" indent="-342900" fontAlgn="base">
              <a:lnSpc>
                <a:spcPct val="150000"/>
              </a:lnSpc>
              <a:buFontTx/>
              <a:buChar char="-"/>
            </a:pPr>
            <a:r>
              <a:rPr lang="en-US" sz="2400" dirty="0"/>
              <a:t>This task only considers </a:t>
            </a:r>
            <a:r>
              <a:rPr lang="en-US" sz="2400" b="1" dirty="0"/>
              <a:t>models</a:t>
            </a:r>
            <a:r>
              <a:rPr lang="en-US" sz="2400" dirty="0"/>
              <a:t>, whereas the evaluation phase also takes all other results that were produced in the project.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05508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5. Evaluation</a:t>
            </a:r>
          </a:p>
          <a:p>
            <a:pPr fontAlgn="base">
              <a:lnSpc>
                <a:spcPct val="150000"/>
              </a:lnSpc>
            </a:pPr>
            <a:r>
              <a:rPr lang="en-US" sz="2400" dirty="0"/>
              <a:t>Determine if there is some business reason why this model is deficient. </a:t>
            </a:r>
          </a:p>
          <a:p>
            <a:pPr marL="457200" indent="-457200" fontAlgn="base">
              <a:lnSpc>
                <a:spcPct val="150000"/>
              </a:lnSpc>
              <a:buFontTx/>
              <a:buChar char="-"/>
            </a:pPr>
            <a:r>
              <a:rPr lang="en-US" sz="2400" dirty="0"/>
              <a:t>The evaluation phase involves assessing any other data mining results you’ve generated. </a:t>
            </a:r>
          </a:p>
          <a:p>
            <a:pPr marL="457200" indent="-457200" fontAlgn="base">
              <a:lnSpc>
                <a:spcPct val="150000"/>
              </a:lnSpc>
              <a:buFontTx/>
              <a:buChar char="-"/>
            </a:pPr>
            <a:r>
              <a:rPr lang="en-US" sz="2400" dirty="0"/>
              <a:t>Data mining results involve models that are necessarily related to the </a:t>
            </a:r>
            <a:r>
              <a:rPr lang="en-US" sz="2400" b="1" dirty="0"/>
              <a:t>original business objectives </a:t>
            </a:r>
            <a:endParaRPr lang="en-US" sz="2400" dirty="0"/>
          </a:p>
          <a:p>
            <a:pPr marL="457200" indent="-457200" fontAlgn="base">
              <a:lnSpc>
                <a:spcPct val="150000"/>
              </a:lnSpc>
              <a:buFontTx/>
              <a:buChar char="-"/>
            </a:pPr>
            <a:r>
              <a:rPr lang="en-US" sz="2400" dirty="0"/>
              <a:t>might also include additional challenges, information, or hints for future directions.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965219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6. Deployment</a:t>
            </a:r>
          </a:p>
          <a:p>
            <a:pPr fontAlgn="base">
              <a:lnSpc>
                <a:spcPct val="150000"/>
              </a:lnSpc>
            </a:pPr>
            <a:r>
              <a:rPr lang="en-US" sz="2400" dirty="0"/>
              <a:t>In the deployment stage you’ll take your evaluation results and determine a strategy for their deployment. </a:t>
            </a:r>
          </a:p>
          <a:p>
            <a:pPr marL="342900" indent="-342900" fontAlgn="base">
              <a:lnSpc>
                <a:spcPct val="150000"/>
              </a:lnSpc>
              <a:buFontTx/>
              <a:buChar char="-"/>
            </a:pPr>
            <a:r>
              <a:rPr lang="en-US" sz="2400" dirty="0"/>
              <a:t>This is where predictive analytics really helps to improve the operational side of your business.</a:t>
            </a:r>
          </a:p>
          <a:p>
            <a:pPr marL="342900" indent="-342900" fontAlgn="base">
              <a:lnSpc>
                <a:spcPct val="150000"/>
              </a:lnSpc>
              <a:buFontTx/>
              <a:buChar char="-"/>
            </a:pPr>
            <a:r>
              <a:rPr lang="en-US" sz="2400" b="1" dirty="0"/>
              <a:t>Final Report </a:t>
            </a:r>
            <a:r>
              <a:rPr lang="en-US" sz="2400" dirty="0"/>
              <a:t>- depending on the deployment plan, this report may be only a summary of the project and its experiences, or it may be a final and comprehensive presentation of the data mining result(s).</a:t>
            </a:r>
          </a:p>
          <a:p>
            <a:pPr marL="342900" indent="-342900" fontAlgn="base">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17946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a:t>
            </a:r>
          </a:p>
          <a:p>
            <a:pPr fontAlgn="base">
              <a:lnSpc>
                <a:spcPct val="150000"/>
              </a:lnSpc>
            </a:pPr>
            <a:r>
              <a:rPr lang="en-US" sz="2400" dirty="0"/>
              <a:t>The sinking of the </a:t>
            </a:r>
            <a:r>
              <a:rPr lang="en-US" sz="2400" b="1" dirty="0"/>
              <a:t>Titanic</a:t>
            </a:r>
            <a:r>
              <a:rPr lang="en-US" sz="2400" dirty="0"/>
              <a:t> is one of the most infamous shipwrecks in history. On April 15, 1912, during her maiden voyage, the Titanic sank after colliding with an iceberg, killing 1502 out of 2224 passengers and crew </a:t>
            </a:r>
            <a:r>
              <a:rPr lang="en-US" sz="2400" b="1" dirty="0"/>
              <a:t>(32% survival rate)</a:t>
            </a:r>
            <a:r>
              <a:rPr lang="en-US" sz="24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43010" name="Picture 2">
            <a:extLst>
              <a:ext uri="{FF2B5EF4-FFF2-40B4-BE49-F238E27FC236}">
                <a16:creationId xmlns:a16="http://schemas.microsoft.com/office/drawing/2014/main" id="{BE86C39E-3EB4-8749-873B-4A536D03A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8666" y="3064034"/>
            <a:ext cx="4114800" cy="28160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6429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a:t>
            </a:r>
          </a:p>
          <a:p>
            <a:pPr fontAlgn="base">
              <a:lnSpc>
                <a:spcPct val="150000"/>
              </a:lnSpc>
            </a:pPr>
            <a:r>
              <a:rPr lang="en-US" sz="2400" dirty="0"/>
              <a:t>One of the reasons that the shipwreck led to such loss of life was that there were not enough lifeboats for the passengers and crew. Although there was some element of luck involved in surviving the sinking, </a:t>
            </a:r>
            <a:r>
              <a:rPr lang="en-US" sz="2400" b="1" dirty="0"/>
              <a:t>some groups of people were more likely to survive than others, such as women, children, and the upper-class</a:t>
            </a:r>
            <a:r>
              <a:rPr lang="en-US" sz="24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0496E019-3294-4644-8330-EA315AF87041}"/>
              </a:ext>
            </a:extLst>
          </p:cNvPr>
          <p:cNvPicPr>
            <a:picLocks noChangeAspect="1"/>
          </p:cNvPicPr>
          <p:nvPr/>
        </p:nvPicPr>
        <p:blipFill>
          <a:blip r:embed="rId3"/>
          <a:stretch>
            <a:fillRect/>
          </a:stretch>
        </p:blipFill>
        <p:spPr>
          <a:xfrm>
            <a:off x="1612900" y="3737187"/>
            <a:ext cx="8966200" cy="1497007"/>
          </a:xfrm>
          <a:prstGeom prst="rect">
            <a:avLst/>
          </a:prstGeom>
        </p:spPr>
      </p:pic>
      <p:sp>
        <p:nvSpPr>
          <p:cNvPr id="6" name="Rectangle 5">
            <a:extLst>
              <a:ext uri="{FF2B5EF4-FFF2-40B4-BE49-F238E27FC236}">
                <a16:creationId xmlns:a16="http://schemas.microsoft.com/office/drawing/2014/main" id="{1429D019-542F-DF48-A093-9BB29746A146}"/>
              </a:ext>
            </a:extLst>
          </p:cNvPr>
          <p:cNvSpPr/>
          <p:nvPr/>
        </p:nvSpPr>
        <p:spPr>
          <a:xfrm>
            <a:off x="3251199" y="5332196"/>
            <a:ext cx="7069667" cy="463075"/>
          </a:xfrm>
          <a:prstGeom prst="rect">
            <a:avLst/>
          </a:prstGeom>
        </p:spPr>
        <p:txBody>
          <a:bodyPr wrap="square">
            <a:spAutoFit/>
          </a:bodyPr>
          <a:lstStyle/>
          <a:p>
            <a:pPr>
              <a:lnSpc>
                <a:spcPct val="150000"/>
              </a:lnSpc>
            </a:pPr>
            <a:r>
              <a:rPr lang="en-US" dirty="0"/>
              <a:t>Business understanding -</a:t>
            </a:r>
            <a:r>
              <a:rPr lang="he-IL" dirty="0"/>
              <a:t> </a:t>
            </a:r>
            <a:r>
              <a:rPr lang="en-US" dirty="0"/>
              <a:t>what characterizes the survivors?</a:t>
            </a:r>
          </a:p>
        </p:txBody>
      </p:sp>
    </p:spTree>
    <p:extLst>
      <p:ext uri="{BB962C8B-B14F-4D97-AF65-F5344CB8AC3E}">
        <p14:creationId xmlns:p14="http://schemas.microsoft.com/office/powerpoint/2010/main" val="429127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0496E019-3294-4644-8330-EA315AF87041}"/>
              </a:ext>
            </a:extLst>
          </p:cNvPr>
          <p:cNvPicPr>
            <a:picLocks noChangeAspect="1"/>
          </p:cNvPicPr>
          <p:nvPr/>
        </p:nvPicPr>
        <p:blipFill>
          <a:blip r:embed="rId3"/>
          <a:stretch>
            <a:fillRect/>
          </a:stretch>
        </p:blipFill>
        <p:spPr>
          <a:xfrm>
            <a:off x="1485900" y="1237353"/>
            <a:ext cx="8966200" cy="1497007"/>
          </a:xfrm>
          <a:prstGeom prst="rect">
            <a:avLst/>
          </a:prstGeom>
        </p:spPr>
      </p:pic>
      <p:sp>
        <p:nvSpPr>
          <p:cNvPr id="6" name="Rectangle 5">
            <a:extLst>
              <a:ext uri="{FF2B5EF4-FFF2-40B4-BE49-F238E27FC236}">
                <a16:creationId xmlns:a16="http://schemas.microsoft.com/office/drawing/2014/main" id="{1429D019-542F-DF48-A093-9BB29746A146}"/>
              </a:ext>
            </a:extLst>
          </p:cNvPr>
          <p:cNvSpPr/>
          <p:nvPr/>
        </p:nvSpPr>
        <p:spPr>
          <a:xfrm>
            <a:off x="1803400" y="3225800"/>
            <a:ext cx="9127067" cy="1429622"/>
          </a:xfrm>
          <a:prstGeom prst="rect">
            <a:avLst/>
          </a:prstGeom>
        </p:spPr>
        <p:txBody>
          <a:bodyPr wrap="square">
            <a:spAutoFit/>
          </a:bodyPr>
          <a:lstStyle/>
          <a:p>
            <a:pPr>
              <a:lnSpc>
                <a:spcPct val="150000"/>
              </a:lnSpc>
            </a:pPr>
            <a:r>
              <a:rPr lang="en-US" sz="2000" dirty="0"/>
              <a:t>The problem is a </a:t>
            </a:r>
            <a:r>
              <a:rPr lang="en-US" sz="2000" b="1" dirty="0"/>
              <a:t>binary class classification</a:t>
            </a:r>
            <a:r>
              <a:rPr lang="en-US" sz="2000" dirty="0"/>
              <a:t> problem, so we need to choose the right model for this problem. </a:t>
            </a:r>
          </a:p>
          <a:p>
            <a:pPr>
              <a:lnSpc>
                <a:spcPct val="150000"/>
              </a:lnSpc>
            </a:pPr>
            <a:r>
              <a:rPr lang="en-US" sz="2000" dirty="0"/>
              <a:t>For example, linear regression is not a good choice.  </a:t>
            </a:r>
          </a:p>
        </p:txBody>
      </p:sp>
    </p:spTree>
    <p:extLst>
      <p:ext uri="{BB962C8B-B14F-4D97-AF65-F5344CB8AC3E}">
        <p14:creationId xmlns:p14="http://schemas.microsoft.com/office/powerpoint/2010/main" val="358181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Key Performance Indicator (KPI)</a:t>
            </a:r>
          </a:p>
        </p:txBody>
      </p:sp>
    </p:spTree>
    <p:extLst>
      <p:ext uri="{BB962C8B-B14F-4D97-AF65-F5344CB8AC3E}">
        <p14:creationId xmlns:p14="http://schemas.microsoft.com/office/powerpoint/2010/main" val="1974432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B0D2DB46-330C-A447-8A93-BE45DB6F4833}"/>
              </a:ext>
            </a:extLst>
          </p:cNvPr>
          <p:cNvSpPr>
            <a:spLocks noGrp="1"/>
          </p:cNvSpPr>
          <p:nvPr>
            <p:ph type="title"/>
          </p:nvPr>
        </p:nvSpPr>
        <p:spPr>
          <a:xfrm>
            <a:off x="838200" y="-286808"/>
            <a:ext cx="10515600" cy="1325563"/>
          </a:xfrm>
        </p:spPr>
        <p:txBody>
          <a:bodyPr/>
          <a:lstStyle/>
          <a:p>
            <a:pPr algn="ctr">
              <a:lnSpc>
                <a:spcPct val="150000"/>
              </a:lnSpc>
              <a:spcBef>
                <a:spcPts val="1000"/>
              </a:spcBef>
            </a:pPr>
            <a:r>
              <a:rPr lang="en-GB" altLang="en-IL" sz="3200" b="1" dirty="0">
                <a:latin typeface="+mn-lt"/>
                <a:ea typeface="+mn-ea"/>
                <a:cs typeface="+mn-cs"/>
              </a:rPr>
              <a:t>What is A KPI</a:t>
            </a:r>
            <a:endParaRPr lang="en-US" altLang="en-IL" sz="3200" b="1" dirty="0">
              <a:latin typeface="+mn-lt"/>
              <a:ea typeface="+mn-ea"/>
              <a:cs typeface="+mn-cs"/>
            </a:endParaRPr>
          </a:p>
        </p:txBody>
      </p:sp>
      <p:sp>
        <p:nvSpPr>
          <p:cNvPr id="3" name="Content Placeholder 2">
            <a:extLst>
              <a:ext uri="{FF2B5EF4-FFF2-40B4-BE49-F238E27FC236}">
                <a16:creationId xmlns:a16="http://schemas.microsoft.com/office/drawing/2014/main" id="{1B451E84-C2BC-BD41-A9E3-C6FA8C026F5D}"/>
              </a:ext>
            </a:extLst>
          </p:cNvPr>
          <p:cNvSpPr>
            <a:spLocks noGrp="1"/>
          </p:cNvSpPr>
          <p:nvPr>
            <p:ph idx="1"/>
          </p:nvPr>
        </p:nvSpPr>
        <p:spPr>
          <a:xfrm>
            <a:off x="254000" y="778933"/>
            <a:ext cx="11455400" cy="5511800"/>
          </a:xfrm>
        </p:spPr>
        <p:txBody>
          <a:bodyPr>
            <a:normAutofit/>
          </a:bodyPr>
          <a:lstStyle/>
          <a:p>
            <a:pPr eaLnBrk="1" hangingPunct="1">
              <a:lnSpc>
                <a:spcPct val="150000"/>
              </a:lnSpc>
            </a:pPr>
            <a:r>
              <a:rPr lang="en-US" altLang="en-IL" sz="2400" dirty="0"/>
              <a:t>A KPI (Key Performance Indicator) is a metric that is tied to a target. </a:t>
            </a:r>
          </a:p>
          <a:p>
            <a:pPr eaLnBrk="1" hangingPunct="1">
              <a:lnSpc>
                <a:spcPct val="150000"/>
              </a:lnSpc>
            </a:pPr>
            <a:r>
              <a:rPr lang="en-US" altLang="en-IL" sz="2400" dirty="0"/>
              <a:t>A KPI represents how far a metric is above or below a pre-determined target. </a:t>
            </a:r>
          </a:p>
          <a:p>
            <a:pPr>
              <a:lnSpc>
                <a:spcPct val="150000"/>
              </a:lnSpc>
            </a:pPr>
            <a:r>
              <a:rPr lang="en-US" sz="2400" dirty="0"/>
              <a:t>Choosing the right KPI is crucial to make effective, data-driven decisions. </a:t>
            </a:r>
          </a:p>
          <a:p>
            <a:pPr lvl="1">
              <a:lnSpc>
                <a:spcPct val="150000"/>
              </a:lnSpc>
            </a:pPr>
            <a:r>
              <a:rPr lang="en-US" dirty="0"/>
              <a:t>Right KPI will help to concentrate the efforts of employees towards a meaningful goal</a:t>
            </a:r>
          </a:p>
          <a:p>
            <a:pPr lvl="1">
              <a:lnSpc>
                <a:spcPct val="150000"/>
              </a:lnSpc>
            </a:pPr>
            <a:r>
              <a:rPr lang="en-US" dirty="0"/>
              <a:t>Wrong KPI could waste significant resources chasing after vanity metrics</a:t>
            </a:r>
            <a:endParaRPr lang="en-US" altLang="en-IL" dirty="0"/>
          </a:p>
          <a:p>
            <a:pPr marL="0" indent="0" eaLnBrk="1" hangingPunct="1">
              <a:lnSpc>
                <a:spcPct val="150000"/>
              </a:lnSpc>
              <a:buNone/>
            </a:pPr>
            <a:endParaRPr lang="en-US" altLang="en-IL" sz="2400" dirty="0"/>
          </a:p>
          <a:p>
            <a:pPr marL="0" indent="0" algn="ctr" eaLnBrk="1" hangingPunct="1">
              <a:lnSpc>
                <a:spcPct val="150000"/>
              </a:lnSpc>
              <a:buNone/>
            </a:pPr>
            <a:r>
              <a:rPr lang="en-US" altLang="en-IL" sz="2400" dirty="0"/>
              <a:t>A great KPI is SMART (</a:t>
            </a:r>
            <a:r>
              <a:rPr lang="en-US" altLang="en-IL" sz="2400" b="1" u="sng" dirty="0">
                <a:solidFill>
                  <a:srgbClr val="FF0000"/>
                </a:solidFill>
              </a:rPr>
              <a:t>S</a:t>
            </a:r>
            <a:r>
              <a:rPr lang="en-US" altLang="en-IL" sz="2400" dirty="0"/>
              <a:t>pecific, </a:t>
            </a:r>
            <a:r>
              <a:rPr lang="en-US" altLang="en-IL" sz="2400" b="1" u="sng" dirty="0">
                <a:solidFill>
                  <a:srgbClr val="FF0000"/>
                </a:solidFill>
              </a:rPr>
              <a:t>M</a:t>
            </a:r>
            <a:r>
              <a:rPr lang="en-US" altLang="en-IL" sz="2400" dirty="0"/>
              <a:t>easurable, </a:t>
            </a:r>
            <a:r>
              <a:rPr lang="en-US" altLang="en-IL" sz="2400" b="1" u="sng" dirty="0">
                <a:solidFill>
                  <a:srgbClr val="FF0000"/>
                </a:solidFill>
              </a:rPr>
              <a:t>A</a:t>
            </a:r>
            <a:r>
              <a:rPr lang="en-US" altLang="en-IL" sz="2400" dirty="0"/>
              <a:t>chievable, </a:t>
            </a:r>
            <a:r>
              <a:rPr lang="en-US" altLang="en-IL" sz="2400" b="1" u="sng" dirty="0">
                <a:solidFill>
                  <a:srgbClr val="FF0000"/>
                </a:solidFill>
              </a:rPr>
              <a:t>R</a:t>
            </a:r>
            <a:r>
              <a:rPr lang="en-US" altLang="en-IL" sz="2400" dirty="0"/>
              <a:t>elevant, </a:t>
            </a:r>
            <a:r>
              <a:rPr lang="en-US" altLang="en-IL" sz="2400" b="1" u="sng" dirty="0">
                <a:solidFill>
                  <a:srgbClr val="FF0000"/>
                </a:solidFill>
              </a:rPr>
              <a:t>T</a:t>
            </a:r>
            <a:r>
              <a:rPr lang="en-US" altLang="en-IL" sz="2400" dirty="0"/>
              <a:t>ime phased)</a:t>
            </a:r>
          </a:p>
        </p:txBody>
      </p:sp>
      <p:sp>
        <p:nvSpPr>
          <p:cNvPr id="2" name="Footer Placeholder 1">
            <a:extLst>
              <a:ext uri="{FF2B5EF4-FFF2-40B4-BE49-F238E27FC236}">
                <a16:creationId xmlns:a16="http://schemas.microsoft.com/office/drawing/2014/main" id="{78DA5E7D-3307-2C42-84E2-D1822300174B}"/>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952C69E9-E790-0E44-AB7F-7BDBBCAC827C}"/>
              </a:ext>
            </a:extLst>
          </p:cNvPr>
          <p:cNvSpPr>
            <a:spLocks noGrp="1"/>
          </p:cNvSpPr>
          <p:nvPr>
            <p:ph type="sldNum" sz="quarter" idx="12"/>
          </p:nvPr>
        </p:nvSpPr>
        <p:spPr/>
        <p:txBody>
          <a:bodyPr/>
          <a:lstStyle/>
          <a:p>
            <a:fld id="{F095E00D-78CB-4C0B-AD70-37EA297711DE}" type="slidenum">
              <a:rPr lang="en-US" smtClean="0"/>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8021-749B-A14A-A98E-76C31C2AA753}"/>
              </a:ext>
            </a:extLst>
          </p:cNvPr>
          <p:cNvSpPr>
            <a:spLocks noGrp="1"/>
          </p:cNvSpPr>
          <p:nvPr>
            <p:ph type="title"/>
          </p:nvPr>
        </p:nvSpPr>
        <p:spPr>
          <a:xfrm>
            <a:off x="-8466" y="-81490"/>
            <a:ext cx="12200466" cy="521758"/>
          </a:xfrm>
        </p:spPr>
        <p:txBody>
          <a:bodyPr>
            <a:normAutofit fontScale="90000"/>
          </a:bodyPr>
          <a:lstStyle/>
          <a:p>
            <a:pPr algn="ctr">
              <a:lnSpc>
                <a:spcPct val="150000"/>
              </a:lnSpc>
              <a:spcBef>
                <a:spcPts val="1000"/>
              </a:spcBef>
              <a:defRPr/>
            </a:pPr>
            <a:br>
              <a:rPr lang="en-US" sz="3200" b="1" dirty="0">
                <a:latin typeface="+mn-lt"/>
                <a:ea typeface="+mn-ea"/>
                <a:cs typeface="+mn-cs"/>
              </a:rPr>
            </a:br>
            <a:br>
              <a:rPr lang="en-US" sz="3200" b="1" dirty="0">
                <a:latin typeface="+mn-lt"/>
                <a:ea typeface="+mn-ea"/>
                <a:cs typeface="+mn-cs"/>
              </a:rPr>
            </a:br>
            <a:r>
              <a:rPr lang="en-US" sz="3200" b="1" dirty="0">
                <a:latin typeface="+mn-lt"/>
                <a:ea typeface="+mn-ea"/>
                <a:cs typeface="+mn-cs"/>
              </a:rPr>
              <a:t>The Five Conditions of good KPI’s - SMART</a:t>
            </a:r>
            <a:br>
              <a:rPr lang="en-US" sz="3200" b="1" dirty="0">
                <a:latin typeface="+mn-lt"/>
                <a:ea typeface="+mn-ea"/>
                <a:cs typeface="+mn-cs"/>
              </a:rPr>
            </a:br>
            <a:endParaRPr lang="en-US" sz="3200" b="1" dirty="0">
              <a:latin typeface="+mn-lt"/>
              <a:ea typeface="+mn-ea"/>
              <a:cs typeface="+mn-cs"/>
            </a:endParaRPr>
          </a:p>
        </p:txBody>
      </p:sp>
      <p:sp>
        <p:nvSpPr>
          <p:cNvPr id="3" name="Content Placeholder 2">
            <a:extLst>
              <a:ext uri="{FF2B5EF4-FFF2-40B4-BE49-F238E27FC236}">
                <a16:creationId xmlns:a16="http://schemas.microsoft.com/office/drawing/2014/main" id="{2E24EABE-7A2F-744B-B182-1CEB1AA8D821}"/>
              </a:ext>
            </a:extLst>
          </p:cNvPr>
          <p:cNvSpPr>
            <a:spLocks noGrp="1"/>
          </p:cNvSpPr>
          <p:nvPr>
            <p:ph idx="1"/>
          </p:nvPr>
        </p:nvSpPr>
        <p:spPr>
          <a:xfrm>
            <a:off x="160867" y="829733"/>
            <a:ext cx="11726333" cy="5461000"/>
          </a:xfrm>
        </p:spPr>
        <p:txBody>
          <a:bodyPr>
            <a:normAutofit/>
          </a:bodyPr>
          <a:lstStyle/>
          <a:p>
            <a:pPr marL="0" indent="0">
              <a:lnSpc>
                <a:spcPct val="150000"/>
              </a:lnSpc>
              <a:buClr>
                <a:schemeClr val="accent3"/>
              </a:buClr>
              <a:buNone/>
              <a:defRPr/>
            </a:pPr>
            <a:r>
              <a:rPr lang="en-US" sz="2400" b="1" dirty="0"/>
              <a:t>Specific</a:t>
            </a:r>
          </a:p>
          <a:p>
            <a:pPr marL="0" indent="0">
              <a:lnSpc>
                <a:spcPct val="150000"/>
              </a:lnSpc>
              <a:buClr>
                <a:schemeClr val="accent3"/>
              </a:buClr>
              <a:buNone/>
              <a:defRPr/>
            </a:pPr>
            <a:r>
              <a:rPr lang="en-US" sz="2200" b="1" dirty="0"/>
              <a:t>	</a:t>
            </a:r>
            <a:r>
              <a:rPr lang="en-US" sz="2200" dirty="0"/>
              <a:t>It has to be clear what the KPI </a:t>
            </a:r>
            <a:r>
              <a:rPr lang="en-US" sz="2200" b="1" u="sng" dirty="0"/>
              <a:t>exactly</a:t>
            </a:r>
            <a:r>
              <a:rPr lang="en-US" sz="2200" dirty="0"/>
              <a:t> measures</a:t>
            </a:r>
          </a:p>
          <a:p>
            <a:pPr marL="0" indent="0">
              <a:lnSpc>
                <a:spcPct val="150000"/>
              </a:lnSpc>
              <a:buClr>
                <a:schemeClr val="accent3"/>
              </a:buClr>
              <a:buNone/>
              <a:defRPr/>
            </a:pPr>
            <a:r>
              <a:rPr lang="en-US" sz="2400" b="1" dirty="0"/>
              <a:t>Measurable</a:t>
            </a:r>
          </a:p>
          <a:p>
            <a:pPr marL="0" indent="0">
              <a:lnSpc>
                <a:spcPct val="150000"/>
              </a:lnSpc>
              <a:buClr>
                <a:schemeClr val="accent3"/>
              </a:buClr>
              <a:buNone/>
              <a:defRPr/>
            </a:pPr>
            <a:r>
              <a:rPr lang="en-US" sz="2400" b="1" dirty="0"/>
              <a:t>	</a:t>
            </a:r>
            <a:r>
              <a:rPr lang="en-US" sz="2200" dirty="0"/>
              <a:t>The KPI has to be measurable to define a standard, budget or norm, to make it possible to measure the actual value and to make the actual value comparable to the budgeted value</a:t>
            </a:r>
          </a:p>
          <a:p>
            <a:pPr marL="0" indent="0">
              <a:lnSpc>
                <a:spcPct val="150000"/>
              </a:lnSpc>
              <a:buClr>
                <a:schemeClr val="accent3"/>
              </a:buClr>
              <a:buNone/>
              <a:defRPr/>
            </a:pPr>
            <a:r>
              <a:rPr lang="en-US" sz="2400" b="1" dirty="0"/>
              <a:t>Achievable</a:t>
            </a:r>
            <a:endParaRPr lang="en-US" sz="2400" dirty="0"/>
          </a:p>
          <a:p>
            <a:pPr marL="0" indent="0">
              <a:lnSpc>
                <a:spcPct val="150000"/>
              </a:lnSpc>
              <a:buClr>
                <a:schemeClr val="accent3"/>
              </a:buClr>
              <a:buNone/>
              <a:defRPr/>
            </a:pPr>
            <a:r>
              <a:rPr lang="en-US" sz="2400" dirty="0"/>
              <a:t>	</a:t>
            </a:r>
            <a:r>
              <a:rPr lang="en-US" sz="2200" dirty="0"/>
              <a:t>“Nothing is more discouraging than striving for a goal that you will never obtain”</a:t>
            </a:r>
          </a:p>
        </p:txBody>
      </p:sp>
      <p:sp>
        <p:nvSpPr>
          <p:cNvPr id="4" name="Footer Placeholder 3">
            <a:extLst>
              <a:ext uri="{FF2B5EF4-FFF2-40B4-BE49-F238E27FC236}">
                <a16:creationId xmlns:a16="http://schemas.microsoft.com/office/drawing/2014/main" id="{6C04CE03-0FF0-F54F-920C-2C196700D2CE}"/>
              </a:ext>
            </a:extLst>
          </p:cNvPr>
          <p:cNvSpPr>
            <a:spLocks noGrp="1"/>
          </p:cNvSpPr>
          <p:nvPr>
            <p:ph type="ftr" sz="quarter" idx="11"/>
          </p:nvPr>
        </p:nvSpPr>
        <p:spPr/>
        <p:txBody>
          <a:bodyPr/>
          <a:lstStyle/>
          <a:p>
            <a:r>
              <a:rPr lang="en-US"/>
              <a:t>Or Peretz</a:t>
            </a:r>
          </a:p>
        </p:txBody>
      </p:sp>
      <p:sp>
        <p:nvSpPr>
          <p:cNvPr id="5" name="Slide Number Placeholder 4">
            <a:extLst>
              <a:ext uri="{FF2B5EF4-FFF2-40B4-BE49-F238E27FC236}">
                <a16:creationId xmlns:a16="http://schemas.microsoft.com/office/drawing/2014/main" id="{914F569F-E16A-224D-802B-9021DC226B48}"/>
              </a:ext>
            </a:extLst>
          </p:cNvPr>
          <p:cNvSpPr>
            <a:spLocks noGrp="1"/>
          </p:cNvSpPr>
          <p:nvPr>
            <p:ph type="sldNum" sz="quarter" idx="12"/>
          </p:nvPr>
        </p:nvSpPr>
        <p:spPr/>
        <p:txBody>
          <a:bodyPr/>
          <a:lstStyle/>
          <a:p>
            <a:fld id="{F095E00D-78CB-4C0B-AD70-37EA297711DE}" type="slidenum">
              <a:rPr lang="en-US" smtClean="0"/>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5028C-E271-9D48-9C72-A73197DCD597}"/>
              </a:ext>
            </a:extLst>
          </p:cNvPr>
          <p:cNvSpPr>
            <a:spLocks noGrp="1"/>
          </p:cNvSpPr>
          <p:nvPr>
            <p:ph idx="1"/>
          </p:nvPr>
        </p:nvSpPr>
        <p:spPr>
          <a:xfrm>
            <a:off x="228601" y="1024467"/>
            <a:ext cx="11751732" cy="5232400"/>
          </a:xfrm>
        </p:spPr>
        <p:txBody>
          <a:bodyPr>
            <a:normAutofit/>
          </a:bodyPr>
          <a:lstStyle/>
          <a:p>
            <a:pPr marL="0" indent="0">
              <a:lnSpc>
                <a:spcPct val="150000"/>
              </a:lnSpc>
              <a:buClr>
                <a:schemeClr val="accent3"/>
              </a:buClr>
              <a:buNone/>
              <a:defRPr/>
            </a:pPr>
            <a:r>
              <a:rPr lang="en-US" sz="2400" b="1" dirty="0"/>
              <a:t>Relevant</a:t>
            </a:r>
            <a:endParaRPr lang="en-US" sz="2400" dirty="0"/>
          </a:p>
          <a:p>
            <a:pPr marL="0" indent="0">
              <a:lnSpc>
                <a:spcPct val="150000"/>
              </a:lnSpc>
              <a:buClr>
                <a:schemeClr val="accent3"/>
              </a:buClr>
              <a:buNone/>
              <a:defRPr/>
            </a:pPr>
            <a:r>
              <a:rPr lang="en-US" sz="2400" dirty="0"/>
              <a:t>	</a:t>
            </a:r>
            <a:r>
              <a:rPr lang="en-US" sz="2200" dirty="0"/>
              <a:t>- Must give more insight in the performance of the organization</a:t>
            </a:r>
          </a:p>
          <a:p>
            <a:pPr marL="0" indent="0">
              <a:lnSpc>
                <a:spcPct val="150000"/>
              </a:lnSpc>
              <a:buClr>
                <a:schemeClr val="accent3"/>
              </a:buClr>
              <a:buNone/>
              <a:defRPr/>
            </a:pPr>
            <a:r>
              <a:rPr lang="en-US" sz="2200" dirty="0"/>
              <a:t>	- If a KPI is not measuring a part of the strategy, acting on it doesn’t affect the 	organizations’ performance. </a:t>
            </a:r>
          </a:p>
          <a:p>
            <a:pPr marL="0" indent="0">
              <a:lnSpc>
                <a:spcPct val="150000"/>
              </a:lnSpc>
              <a:buClr>
                <a:schemeClr val="accent3"/>
              </a:buClr>
              <a:buNone/>
              <a:defRPr/>
            </a:pPr>
            <a:r>
              <a:rPr lang="en-US" sz="2200" dirty="0"/>
              <a:t>	- An irrelevant KPI is useless.</a:t>
            </a:r>
          </a:p>
          <a:p>
            <a:pPr marL="0" indent="0">
              <a:lnSpc>
                <a:spcPct val="150000"/>
              </a:lnSpc>
              <a:buClr>
                <a:schemeClr val="accent3"/>
              </a:buClr>
              <a:buNone/>
              <a:defRPr/>
            </a:pPr>
            <a:r>
              <a:rPr lang="en-US" sz="2400" b="1" dirty="0"/>
              <a:t>Time phased</a:t>
            </a:r>
          </a:p>
          <a:p>
            <a:pPr marL="0" indent="0">
              <a:lnSpc>
                <a:spcPct val="150000"/>
              </a:lnSpc>
              <a:buClr>
                <a:schemeClr val="accent3"/>
              </a:buClr>
              <a:buNone/>
              <a:defRPr/>
            </a:pPr>
            <a:r>
              <a:rPr lang="en-US" sz="2200" b="1" dirty="0"/>
              <a:t>	</a:t>
            </a:r>
            <a:r>
              <a:rPr lang="en-US" sz="2200" dirty="0"/>
              <a:t>It is important to express the value of the KPI in time</a:t>
            </a:r>
          </a:p>
        </p:txBody>
      </p:sp>
      <p:sp>
        <p:nvSpPr>
          <p:cNvPr id="7" name="Title 1">
            <a:extLst>
              <a:ext uri="{FF2B5EF4-FFF2-40B4-BE49-F238E27FC236}">
                <a16:creationId xmlns:a16="http://schemas.microsoft.com/office/drawing/2014/main" id="{3839D7E1-3355-C046-90BD-5526781DBE97}"/>
              </a:ext>
            </a:extLst>
          </p:cNvPr>
          <p:cNvSpPr>
            <a:spLocks noGrp="1"/>
          </p:cNvSpPr>
          <p:nvPr>
            <p:ph type="title"/>
          </p:nvPr>
        </p:nvSpPr>
        <p:spPr>
          <a:xfrm>
            <a:off x="-8466" y="-81490"/>
            <a:ext cx="12200466" cy="521758"/>
          </a:xfrm>
        </p:spPr>
        <p:txBody>
          <a:bodyPr>
            <a:normAutofit fontScale="90000"/>
          </a:bodyPr>
          <a:lstStyle/>
          <a:p>
            <a:pPr algn="ctr">
              <a:lnSpc>
                <a:spcPct val="150000"/>
              </a:lnSpc>
              <a:spcBef>
                <a:spcPts val="1000"/>
              </a:spcBef>
              <a:defRPr/>
            </a:pPr>
            <a:br>
              <a:rPr lang="en-US" sz="3200" b="1" dirty="0">
                <a:latin typeface="+mn-lt"/>
                <a:ea typeface="+mn-ea"/>
                <a:cs typeface="+mn-cs"/>
              </a:rPr>
            </a:br>
            <a:br>
              <a:rPr lang="en-US" sz="3200" b="1" dirty="0">
                <a:latin typeface="+mn-lt"/>
                <a:ea typeface="+mn-ea"/>
                <a:cs typeface="+mn-cs"/>
              </a:rPr>
            </a:br>
            <a:r>
              <a:rPr lang="en-US" sz="3200" b="1" dirty="0">
                <a:latin typeface="+mn-lt"/>
                <a:ea typeface="+mn-ea"/>
                <a:cs typeface="+mn-cs"/>
              </a:rPr>
              <a:t>The Five Conditions of good KPI’s - SMART</a:t>
            </a:r>
            <a:br>
              <a:rPr lang="en-US" sz="3200" b="1" dirty="0">
                <a:latin typeface="+mn-lt"/>
                <a:ea typeface="+mn-ea"/>
                <a:cs typeface="+mn-cs"/>
              </a:rPr>
            </a:br>
            <a:endParaRPr lang="en-US" sz="3200" b="1" dirty="0">
              <a:latin typeface="+mn-lt"/>
              <a:ea typeface="+mn-ea"/>
              <a:cs typeface="+mn-cs"/>
            </a:endParaRPr>
          </a:p>
        </p:txBody>
      </p:sp>
      <p:sp>
        <p:nvSpPr>
          <p:cNvPr id="2" name="Footer Placeholder 1">
            <a:extLst>
              <a:ext uri="{FF2B5EF4-FFF2-40B4-BE49-F238E27FC236}">
                <a16:creationId xmlns:a16="http://schemas.microsoft.com/office/drawing/2014/main" id="{B55717F4-D178-C042-84ED-BE1564106EB9}"/>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470839D2-6F80-234F-866F-BEF97C798C54}"/>
              </a:ext>
            </a:extLst>
          </p:cNvPr>
          <p:cNvSpPr>
            <a:spLocks noGrp="1"/>
          </p:cNvSpPr>
          <p:nvPr>
            <p:ph type="sldNum" sz="quarter" idx="12"/>
          </p:nvPr>
        </p:nvSpPr>
        <p:spPr/>
        <p:txBody>
          <a:bodyPr/>
          <a:lstStyle/>
          <a:p>
            <a:fld id="{F095E00D-78CB-4C0B-AD70-37EA297711DE}" type="slidenum">
              <a:rPr lang="en-US" smtClean="0"/>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A0585-A17D-3348-B01E-01E8A349FAC1}"/>
              </a:ext>
            </a:extLst>
          </p:cNvPr>
          <p:cNvSpPr>
            <a:spLocks noGrp="1"/>
          </p:cNvSpPr>
          <p:nvPr>
            <p:ph type="title"/>
          </p:nvPr>
        </p:nvSpPr>
        <p:spPr>
          <a:xfrm>
            <a:off x="838200" y="18255"/>
            <a:ext cx="10515600" cy="1325563"/>
          </a:xfrm>
        </p:spPr>
        <p:txBody>
          <a:bodyPr/>
          <a:lstStyle/>
          <a:p>
            <a:pPr algn="ctr">
              <a:lnSpc>
                <a:spcPct val="150000"/>
              </a:lnSpc>
              <a:spcBef>
                <a:spcPts val="1000"/>
              </a:spcBef>
              <a:defRPr/>
            </a:pPr>
            <a:r>
              <a:rPr lang="en-GB" altLang="en-IL" sz="2900" b="1" dirty="0">
                <a:latin typeface="+mn-lt"/>
                <a:ea typeface="+mn-ea"/>
                <a:cs typeface="+mn-cs"/>
              </a:rPr>
              <a:t>How To Achieve Success?</a:t>
            </a:r>
            <a:endParaRPr lang="en-US" altLang="en-IL" sz="2900" b="1" dirty="0">
              <a:latin typeface="+mn-lt"/>
              <a:ea typeface="+mn-ea"/>
              <a:cs typeface="+mn-cs"/>
            </a:endParaRPr>
          </a:p>
        </p:txBody>
      </p:sp>
      <p:sp>
        <p:nvSpPr>
          <p:cNvPr id="3" name="Content Placeholder 2">
            <a:extLst>
              <a:ext uri="{FF2B5EF4-FFF2-40B4-BE49-F238E27FC236}">
                <a16:creationId xmlns:a16="http://schemas.microsoft.com/office/drawing/2014/main" id="{5B3DCE93-E9F9-7E40-8F85-B27971759CDC}"/>
              </a:ext>
            </a:extLst>
          </p:cNvPr>
          <p:cNvSpPr>
            <a:spLocks noGrp="1"/>
          </p:cNvSpPr>
          <p:nvPr>
            <p:ph idx="1"/>
          </p:nvPr>
        </p:nvSpPr>
        <p:spPr>
          <a:xfrm>
            <a:off x="431800" y="1176867"/>
            <a:ext cx="10922000" cy="5000096"/>
          </a:xfrm>
        </p:spPr>
        <p:txBody>
          <a:bodyPr>
            <a:normAutofit/>
          </a:bodyPr>
          <a:lstStyle/>
          <a:p>
            <a:pPr marL="522287" lvl="1" indent="-342900">
              <a:lnSpc>
                <a:spcPct val="150000"/>
              </a:lnSpc>
              <a:spcBef>
                <a:spcPct val="25000"/>
              </a:spcBef>
              <a:buClr>
                <a:schemeClr val="accent3"/>
              </a:buClr>
              <a:buFontTx/>
              <a:buChar char="-"/>
              <a:defRPr/>
            </a:pPr>
            <a:r>
              <a:rPr lang="en-GB" dirty="0"/>
              <a:t>Identify areas of activity that require greater attention</a:t>
            </a:r>
          </a:p>
          <a:p>
            <a:pPr marL="522287" lvl="1" indent="-342900">
              <a:lnSpc>
                <a:spcPct val="150000"/>
              </a:lnSpc>
              <a:spcBef>
                <a:spcPct val="25000"/>
              </a:spcBef>
              <a:buClr>
                <a:schemeClr val="accent3"/>
              </a:buClr>
              <a:buFontTx/>
              <a:buChar char="-"/>
              <a:defRPr/>
            </a:pPr>
            <a:r>
              <a:rPr lang="en-GB" dirty="0"/>
              <a:t>Performance indicators that are </a:t>
            </a:r>
            <a:r>
              <a:rPr lang="en-GB" u="sng" dirty="0"/>
              <a:t>grounded</a:t>
            </a:r>
            <a:r>
              <a:rPr lang="en-GB" dirty="0"/>
              <a:t> (SMART)</a:t>
            </a:r>
          </a:p>
          <a:p>
            <a:pPr marL="522287" lvl="1" indent="-342900">
              <a:lnSpc>
                <a:spcPct val="150000"/>
              </a:lnSpc>
              <a:spcBef>
                <a:spcPct val="25000"/>
              </a:spcBef>
              <a:buClr>
                <a:schemeClr val="accent3"/>
              </a:buClr>
              <a:buFontTx/>
              <a:buChar char="-"/>
              <a:defRPr/>
            </a:pPr>
            <a:r>
              <a:rPr lang="en-GB" dirty="0"/>
              <a:t>Agile development</a:t>
            </a:r>
          </a:p>
          <a:p>
            <a:pPr marL="522287" lvl="1" indent="-342900">
              <a:lnSpc>
                <a:spcPct val="150000"/>
              </a:lnSpc>
              <a:spcBef>
                <a:spcPct val="25000"/>
              </a:spcBef>
              <a:buClr>
                <a:schemeClr val="accent3"/>
              </a:buClr>
              <a:buFontTx/>
              <a:buChar char="-"/>
              <a:defRPr/>
            </a:pPr>
            <a:r>
              <a:rPr lang="en-GB" dirty="0"/>
              <a:t>Business understanding </a:t>
            </a:r>
          </a:p>
          <a:p>
            <a:pPr marL="274320" indent="-274320">
              <a:buClr>
                <a:schemeClr val="accent3"/>
              </a:buClr>
              <a:buFont typeface="Wingdings 2"/>
              <a:buChar char=""/>
              <a:defRPr/>
            </a:pPr>
            <a:endParaRPr lang="en-US" dirty="0"/>
          </a:p>
        </p:txBody>
      </p:sp>
      <p:sp>
        <p:nvSpPr>
          <p:cNvPr id="2" name="Footer Placeholder 1">
            <a:extLst>
              <a:ext uri="{FF2B5EF4-FFF2-40B4-BE49-F238E27FC236}">
                <a16:creationId xmlns:a16="http://schemas.microsoft.com/office/drawing/2014/main" id="{CABB0E4C-94FB-ED49-8961-D03D257612ED}"/>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C574BD57-D8D8-E34B-A938-DDF5D17F55EC}"/>
              </a:ext>
            </a:extLst>
          </p:cNvPr>
          <p:cNvSpPr>
            <a:spLocks noGrp="1"/>
          </p:cNvSpPr>
          <p:nvPr>
            <p:ph type="sldNum" sz="quarter" idx="12"/>
          </p:nvPr>
        </p:nvSpPr>
        <p:spPr/>
        <p:txBody>
          <a:bodyPr/>
          <a:lstStyle/>
          <a:p>
            <a:fld id="{F095E00D-78CB-4C0B-AD70-37EA297711DE}" type="slidenum">
              <a:rPr lang="en-US" smtClean="0"/>
              <a:t>22</a:t>
            </a:fld>
            <a:endParaRPr lang="en-US"/>
          </a:p>
        </p:txBody>
      </p:sp>
      <p:pic>
        <p:nvPicPr>
          <p:cNvPr id="46082" name="Picture 2" descr="All you need to know about KPI in 7 stages - efficy">
            <a:extLst>
              <a:ext uri="{FF2B5EF4-FFF2-40B4-BE49-F238E27FC236}">
                <a16:creationId xmlns:a16="http://schemas.microsoft.com/office/drawing/2014/main" id="{BFA99CE4-77D9-3C4B-A684-A18B4D89C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467" y="2853267"/>
            <a:ext cx="4042469" cy="2930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A0585-A17D-3348-B01E-01E8A349FAC1}"/>
              </a:ext>
            </a:extLst>
          </p:cNvPr>
          <p:cNvSpPr>
            <a:spLocks noGrp="1"/>
          </p:cNvSpPr>
          <p:nvPr>
            <p:ph type="title"/>
          </p:nvPr>
        </p:nvSpPr>
        <p:spPr>
          <a:xfrm>
            <a:off x="838200" y="18255"/>
            <a:ext cx="10515600" cy="1325563"/>
          </a:xfrm>
        </p:spPr>
        <p:txBody>
          <a:bodyPr/>
          <a:lstStyle/>
          <a:p>
            <a:pPr algn="ctr">
              <a:lnSpc>
                <a:spcPct val="150000"/>
              </a:lnSpc>
              <a:spcBef>
                <a:spcPts val="1000"/>
              </a:spcBef>
              <a:defRPr/>
            </a:pPr>
            <a:r>
              <a:rPr lang="en-GB" altLang="en-IL" sz="2900" b="1" dirty="0">
                <a:latin typeface="+mn-lt"/>
                <a:ea typeface="+mn-ea"/>
                <a:cs typeface="+mn-cs"/>
              </a:rPr>
              <a:t>KPI vs Metrics</a:t>
            </a:r>
            <a:endParaRPr lang="en-US" altLang="en-IL" sz="2900" b="1" dirty="0">
              <a:latin typeface="+mn-lt"/>
              <a:ea typeface="+mn-ea"/>
              <a:cs typeface="+mn-cs"/>
            </a:endParaRPr>
          </a:p>
        </p:txBody>
      </p:sp>
      <p:sp>
        <p:nvSpPr>
          <p:cNvPr id="3" name="Content Placeholder 2">
            <a:extLst>
              <a:ext uri="{FF2B5EF4-FFF2-40B4-BE49-F238E27FC236}">
                <a16:creationId xmlns:a16="http://schemas.microsoft.com/office/drawing/2014/main" id="{5B3DCE93-E9F9-7E40-8F85-B27971759CDC}"/>
              </a:ext>
            </a:extLst>
          </p:cNvPr>
          <p:cNvSpPr>
            <a:spLocks noGrp="1"/>
          </p:cNvSpPr>
          <p:nvPr>
            <p:ph idx="1"/>
          </p:nvPr>
        </p:nvSpPr>
        <p:spPr>
          <a:xfrm>
            <a:off x="431800" y="1176867"/>
            <a:ext cx="10922000" cy="5000096"/>
          </a:xfrm>
        </p:spPr>
        <p:txBody>
          <a:bodyPr>
            <a:normAutofit/>
          </a:bodyPr>
          <a:lstStyle/>
          <a:p>
            <a:pPr fontAlgn="base">
              <a:lnSpc>
                <a:spcPct val="150000"/>
              </a:lnSpc>
            </a:pPr>
            <a:r>
              <a:rPr lang="en-US" sz="2400" b="1" dirty="0"/>
              <a:t>KPIs are the key targets you should track</a:t>
            </a:r>
            <a:r>
              <a:rPr lang="en-US" sz="2400" dirty="0"/>
              <a:t> to make the most impact on your strategic business outcomes. KPIs support your strategy and help your teams focus on what’s important. </a:t>
            </a:r>
          </a:p>
          <a:p>
            <a:pPr fontAlgn="base">
              <a:lnSpc>
                <a:spcPct val="150000"/>
              </a:lnSpc>
            </a:pPr>
            <a:r>
              <a:rPr lang="en-US" sz="2400" b="1" dirty="0"/>
              <a:t>Metrics measure the success</a:t>
            </a:r>
            <a:r>
              <a:rPr lang="en-US" sz="2400" dirty="0"/>
              <a:t> of everyday business activities that support your KPIs. While they impact your outcomes, they’re not the most critical measures.</a:t>
            </a:r>
          </a:p>
          <a:p>
            <a:pPr marL="0" indent="0">
              <a:buClr>
                <a:schemeClr val="accent3"/>
              </a:buClr>
              <a:buNone/>
              <a:defRPr/>
            </a:pPr>
            <a:endParaRPr lang="en-US" dirty="0"/>
          </a:p>
        </p:txBody>
      </p:sp>
      <p:sp>
        <p:nvSpPr>
          <p:cNvPr id="2" name="Footer Placeholder 1">
            <a:extLst>
              <a:ext uri="{FF2B5EF4-FFF2-40B4-BE49-F238E27FC236}">
                <a16:creationId xmlns:a16="http://schemas.microsoft.com/office/drawing/2014/main" id="{CABB0E4C-94FB-ED49-8961-D03D257612ED}"/>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C574BD57-D8D8-E34B-A938-DDF5D17F55EC}"/>
              </a:ext>
            </a:extLst>
          </p:cNvPr>
          <p:cNvSpPr>
            <a:spLocks noGrp="1"/>
          </p:cNvSpPr>
          <p:nvPr>
            <p:ph type="sldNum" sz="quarter" idx="12"/>
          </p:nvPr>
        </p:nvSpPr>
        <p:spPr/>
        <p:txBody>
          <a:bodyPr/>
          <a:lstStyle/>
          <a:p>
            <a:fld id="{F095E00D-78CB-4C0B-AD70-37EA297711DE}" type="slidenum">
              <a:rPr lang="en-US" smtClean="0"/>
              <a:t>23</a:t>
            </a:fld>
            <a:endParaRPr lang="en-US"/>
          </a:p>
        </p:txBody>
      </p:sp>
    </p:spTree>
    <p:extLst>
      <p:ext uri="{BB962C8B-B14F-4D97-AF65-F5344CB8AC3E}">
        <p14:creationId xmlns:p14="http://schemas.microsoft.com/office/powerpoint/2010/main" val="2718496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A0585-A17D-3348-B01E-01E8A349FAC1}"/>
              </a:ext>
            </a:extLst>
          </p:cNvPr>
          <p:cNvSpPr>
            <a:spLocks noGrp="1"/>
          </p:cNvSpPr>
          <p:nvPr>
            <p:ph type="title"/>
          </p:nvPr>
        </p:nvSpPr>
        <p:spPr>
          <a:xfrm>
            <a:off x="838200" y="18255"/>
            <a:ext cx="10515600" cy="1325563"/>
          </a:xfrm>
        </p:spPr>
        <p:txBody>
          <a:bodyPr/>
          <a:lstStyle/>
          <a:p>
            <a:pPr algn="ctr">
              <a:lnSpc>
                <a:spcPct val="150000"/>
              </a:lnSpc>
              <a:spcBef>
                <a:spcPts val="1000"/>
              </a:spcBef>
              <a:defRPr/>
            </a:pPr>
            <a:r>
              <a:rPr lang="en-GB" altLang="en-IL" sz="2900" b="1" dirty="0">
                <a:latin typeface="+mn-lt"/>
                <a:ea typeface="+mn-ea"/>
                <a:cs typeface="+mn-cs"/>
              </a:rPr>
              <a:t>Why Are KPIs Important?</a:t>
            </a:r>
            <a:endParaRPr lang="en-US" altLang="en-IL" sz="2900" b="1" dirty="0">
              <a:latin typeface="+mn-lt"/>
              <a:ea typeface="+mn-ea"/>
              <a:cs typeface="+mn-cs"/>
            </a:endParaRPr>
          </a:p>
        </p:txBody>
      </p:sp>
      <p:sp>
        <p:nvSpPr>
          <p:cNvPr id="3" name="Content Placeholder 2">
            <a:extLst>
              <a:ext uri="{FF2B5EF4-FFF2-40B4-BE49-F238E27FC236}">
                <a16:creationId xmlns:a16="http://schemas.microsoft.com/office/drawing/2014/main" id="{5B3DCE93-E9F9-7E40-8F85-B27971759CDC}"/>
              </a:ext>
            </a:extLst>
          </p:cNvPr>
          <p:cNvSpPr>
            <a:spLocks noGrp="1"/>
          </p:cNvSpPr>
          <p:nvPr>
            <p:ph idx="1"/>
          </p:nvPr>
        </p:nvSpPr>
        <p:spPr>
          <a:xfrm>
            <a:off x="431800" y="1176867"/>
            <a:ext cx="10922000" cy="5000096"/>
          </a:xfrm>
        </p:spPr>
        <p:txBody>
          <a:bodyPr>
            <a:normAutofit/>
          </a:bodyPr>
          <a:lstStyle/>
          <a:p>
            <a:pPr fontAlgn="base">
              <a:lnSpc>
                <a:spcPct val="150000"/>
              </a:lnSpc>
            </a:pPr>
            <a:r>
              <a:rPr lang="en-US" sz="2400" b="1" dirty="0"/>
              <a:t>Keep your teams aligned</a:t>
            </a:r>
          </a:p>
          <a:p>
            <a:pPr marL="457200" lvl="1" indent="0" fontAlgn="base">
              <a:lnSpc>
                <a:spcPct val="150000"/>
              </a:lnSpc>
              <a:buNone/>
            </a:pPr>
            <a:r>
              <a:rPr lang="en-US" sz="2000" dirty="0"/>
              <a:t>Whether measuring project success or employee performance, KPIs keep teams moving in the same direction.</a:t>
            </a:r>
          </a:p>
          <a:p>
            <a:pPr fontAlgn="base">
              <a:lnSpc>
                <a:spcPct val="150000"/>
              </a:lnSpc>
            </a:pPr>
            <a:r>
              <a:rPr lang="en-US" sz="2400" b="1" dirty="0"/>
              <a:t>Provide a health check</a:t>
            </a:r>
          </a:p>
          <a:p>
            <a:pPr marL="457200" lvl="1" indent="0" fontAlgn="base">
              <a:lnSpc>
                <a:spcPct val="150000"/>
              </a:lnSpc>
              <a:buNone/>
            </a:pPr>
            <a:r>
              <a:rPr lang="en-US" sz="2000" dirty="0"/>
              <a:t>Key performance indicators give you a realistic look at the health of your organization, from risk factors to financial indicators.</a:t>
            </a:r>
          </a:p>
        </p:txBody>
      </p:sp>
      <p:sp>
        <p:nvSpPr>
          <p:cNvPr id="2" name="Footer Placeholder 1">
            <a:extLst>
              <a:ext uri="{FF2B5EF4-FFF2-40B4-BE49-F238E27FC236}">
                <a16:creationId xmlns:a16="http://schemas.microsoft.com/office/drawing/2014/main" id="{CABB0E4C-94FB-ED49-8961-D03D257612ED}"/>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C574BD57-D8D8-E34B-A938-DDF5D17F55EC}"/>
              </a:ext>
            </a:extLst>
          </p:cNvPr>
          <p:cNvSpPr>
            <a:spLocks noGrp="1"/>
          </p:cNvSpPr>
          <p:nvPr>
            <p:ph type="sldNum" sz="quarter" idx="12"/>
          </p:nvPr>
        </p:nvSpPr>
        <p:spPr/>
        <p:txBody>
          <a:bodyPr/>
          <a:lstStyle/>
          <a:p>
            <a:fld id="{F095E00D-78CB-4C0B-AD70-37EA297711DE}" type="slidenum">
              <a:rPr lang="en-US" smtClean="0"/>
              <a:t>24</a:t>
            </a:fld>
            <a:endParaRPr lang="en-US"/>
          </a:p>
        </p:txBody>
      </p:sp>
    </p:spTree>
    <p:extLst>
      <p:ext uri="{BB962C8B-B14F-4D97-AF65-F5344CB8AC3E}">
        <p14:creationId xmlns:p14="http://schemas.microsoft.com/office/powerpoint/2010/main" val="3630372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A0585-A17D-3348-B01E-01E8A349FAC1}"/>
              </a:ext>
            </a:extLst>
          </p:cNvPr>
          <p:cNvSpPr>
            <a:spLocks noGrp="1"/>
          </p:cNvSpPr>
          <p:nvPr>
            <p:ph type="title"/>
          </p:nvPr>
        </p:nvSpPr>
        <p:spPr>
          <a:xfrm>
            <a:off x="838200" y="18255"/>
            <a:ext cx="10515600" cy="1325563"/>
          </a:xfrm>
        </p:spPr>
        <p:txBody>
          <a:bodyPr/>
          <a:lstStyle/>
          <a:p>
            <a:pPr algn="ctr">
              <a:lnSpc>
                <a:spcPct val="150000"/>
              </a:lnSpc>
              <a:spcBef>
                <a:spcPts val="1000"/>
              </a:spcBef>
              <a:defRPr/>
            </a:pPr>
            <a:r>
              <a:rPr lang="en-GB" altLang="en-IL" sz="2900" b="1" dirty="0">
                <a:latin typeface="+mn-lt"/>
                <a:ea typeface="+mn-ea"/>
                <a:cs typeface="+mn-cs"/>
              </a:rPr>
              <a:t>Why Are KPIs Important?</a:t>
            </a:r>
            <a:endParaRPr lang="en-US" altLang="en-IL" sz="2900" b="1" dirty="0">
              <a:latin typeface="+mn-lt"/>
              <a:ea typeface="+mn-ea"/>
              <a:cs typeface="+mn-cs"/>
            </a:endParaRPr>
          </a:p>
        </p:txBody>
      </p:sp>
      <p:sp>
        <p:nvSpPr>
          <p:cNvPr id="3" name="Content Placeholder 2">
            <a:extLst>
              <a:ext uri="{FF2B5EF4-FFF2-40B4-BE49-F238E27FC236}">
                <a16:creationId xmlns:a16="http://schemas.microsoft.com/office/drawing/2014/main" id="{5B3DCE93-E9F9-7E40-8F85-B27971759CDC}"/>
              </a:ext>
            </a:extLst>
          </p:cNvPr>
          <p:cNvSpPr>
            <a:spLocks noGrp="1"/>
          </p:cNvSpPr>
          <p:nvPr>
            <p:ph idx="1"/>
          </p:nvPr>
        </p:nvSpPr>
        <p:spPr>
          <a:xfrm>
            <a:off x="431800" y="1176867"/>
            <a:ext cx="10922000" cy="5000096"/>
          </a:xfrm>
        </p:spPr>
        <p:txBody>
          <a:bodyPr>
            <a:normAutofit/>
          </a:bodyPr>
          <a:lstStyle/>
          <a:p>
            <a:pPr fontAlgn="base">
              <a:lnSpc>
                <a:spcPct val="150000"/>
              </a:lnSpc>
            </a:pPr>
            <a:r>
              <a:rPr lang="en-US" sz="2400" b="1" dirty="0"/>
              <a:t>Make adjustments</a:t>
            </a:r>
          </a:p>
          <a:p>
            <a:pPr marL="457200" lvl="1" indent="0" fontAlgn="base">
              <a:lnSpc>
                <a:spcPct val="150000"/>
              </a:lnSpc>
              <a:buNone/>
            </a:pPr>
            <a:r>
              <a:rPr lang="en-US" sz="2000" dirty="0"/>
              <a:t>KPIs help you clearly see your successes and failures so you can do more of what’s working, and less of what’s not.</a:t>
            </a:r>
          </a:p>
          <a:p>
            <a:pPr fontAlgn="base">
              <a:lnSpc>
                <a:spcPct val="150000"/>
              </a:lnSpc>
            </a:pPr>
            <a:r>
              <a:rPr lang="en-US" sz="2400" b="1" dirty="0"/>
              <a:t>Hold your teams accountable</a:t>
            </a:r>
          </a:p>
          <a:p>
            <a:pPr marL="457200" lvl="1" indent="0" fontAlgn="base">
              <a:lnSpc>
                <a:spcPct val="150000"/>
              </a:lnSpc>
              <a:buNone/>
            </a:pPr>
            <a:r>
              <a:rPr lang="en-US" sz="2000" dirty="0"/>
              <a:t>Make sure everyone provides value with key performance indicators that help employees track their progress and help managers move things along.</a:t>
            </a:r>
          </a:p>
        </p:txBody>
      </p:sp>
      <p:sp>
        <p:nvSpPr>
          <p:cNvPr id="2" name="Footer Placeholder 1">
            <a:extLst>
              <a:ext uri="{FF2B5EF4-FFF2-40B4-BE49-F238E27FC236}">
                <a16:creationId xmlns:a16="http://schemas.microsoft.com/office/drawing/2014/main" id="{CABB0E4C-94FB-ED49-8961-D03D257612ED}"/>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C574BD57-D8D8-E34B-A938-DDF5D17F55EC}"/>
              </a:ext>
            </a:extLst>
          </p:cNvPr>
          <p:cNvSpPr>
            <a:spLocks noGrp="1"/>
          </p:cNvSpPr>
          <p:nvPr>
            <p:ph type="sldNum" sz="quarter" idx="12"/>
          </p:nvPr>
        </p:nvSpPr>
        <p:spPr/>
        <p:txBody>
          <a:bodyPr/>
          <a:lstStyle/>
          <a:p>
            <a:fld id="{F095E00D-78CB-4C0B-AD70-37EA297711DE}" type="slidenum">
              <a:rPr lang="en-US" smtClean="0"/>
              <a:t>25</a:t>
            </a:fld>
            <a:endParaRPr lang="en-US"/>
          </a:p>
        </p:txBody>
      </p:sp>
    </p:spTree>
    <p:extLst>
      <p:ext uri="{BB962C8B-B14F-4D97-AF65-F5344CB8AC3E}">
        <p14:creationId xmlns:p14="http://schemas.microsoft.com/office/powerpoint/2010/main" val="326890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A0585-A17D-3348-B01E-01E8A349FAC1}"/>
              </a:ext>
            </a:extLst>
          </p:cNvPr>
          <p:cNvSpPr>
            <a:spLocks noGrp="1"/>
          </p:cNvSpPr>
          <p:nvPr>
            <p:ph type="title"/>
          </p:nvPr>
        </p:nvSpPr>
        <p:spPr>
          <a:xfrm>
            <a:off x="838200" y="18255"/>
            <a:ext cx="10515600" cy="1325563"/>
          </a:xfrm>
        </p:spPr>
        <p:txBody>
          <a:bodyPr/>
          <a:lstStyle/>
          <a:p>
            <a:pPr algn="ctr">
              <a:lnSpc>
                <a:spcPct val="150000"/>
              </a:lnSpc>
              <a:spcBef>
                <a:spcPts val="1000"/>
              </a:spcBef>
              <a:defRPr/>
            </a:pPr>
            <a:r>
              <a:rPr lang="en-GB" altLang="en-IL" sz="2900" b="1" dirty="0">
                <a:latin typeface="+mn-lt"/>
                <a:ea typeface="+mn-ea"/>
                <a:cs typeface="+mn-cs"/>
              </a:rPr>
              <a:t>Examples of KPIs</a:t>
            </a:r>
            <a:endParaRPr lang="en-US" altLang="en-IL" sz="2900" b="1" dirty="0">
              <a:latin typeface="+mn-lt"/>
              <a:ea typeface="+mn-ea"/>
              <a:cs typeface="+mn-cs"/>
            </a:endParaRPr>
          </a:p>
        </p:txBody>
      </p:sp>
      <p:sp>
        <p:nvSpPr>
          <p:cNvPr id="3" name="Content Placeholder 2">
            <a:extLst>
              <a:ext uri="{FF2B5EF4-FFF2-40B4-BE49-F238E27FC236}">
                <a16:creationId xmlns:a16="http://schemas.microsoft.com/office/drawing/2014/main" id="{5B3DCE93-E9F9-7E40-8F85-B27971759CDC}"/>
              </a:ext>
            </a:extLst>
          </p:cNvPr>
          <p:cNvSpPr>
            <a:spLocks noGrp="1"/>
          </p:cNvSpPr>
          <p:nvPr>
            <p:ph idx="1"/>
          </p:nvPr>
        </p:nvSpPr>
        <p:spPr>
          <a:xfrm>
            <a:off x="431800" y="1176867"/>
            <a:ext cx="10922000" cy="5000096"/>
          </a:xfrm>
        </p:spPr>
        <p:txBody>
          <a:bodyPr>
            <a:normAutofit/>
          </a:bodyPr>
          <a:lstStyle/>
          <a:p>
            <a:pPr>
              <a:lnSpc>
                <a:spcPct val="150000"/>
              </a:lnSpc>
            </a:pPr>
            <a:r>
              <a:rPr lang="en-US" sz="2400" b="1" dirty="0"/>
              <a:t>Sales</a:t>
            </a:r>
            <a:r>
              <a:rPr lang="en-US" sz="2400" dirty="0"/>
              <a:t>: number of new contracts signed per period</a:t>
            </a:r>
          </a:p>
          <a:p>
            <a:pPr>
              <a:lnSpc>
                <a:spcPct val="150000"/>
              </a:lnSpc>
            </a:pPr>
            <a:r>
              <a:rPr lang="en-US" sz="2400" b="1" dirty="0"/>
              <a:t>Financial</a:t>
            </a:r>
            <a:r>
              <a:rPr lang="en-US" sz="2400" dirty="0"/>
              <a:t>: growth in revenue</a:t>
            </a:r>
          </a:p>
          <a:p>
            <a:pPr>
              <a:lnSpc>
                <a:spcPct val="150000"/>
              </a:lnSpc>
            </a:pPr>
            <a:r>
              <a:rPr lang="en-US" sz="2400" b="1" dirty="0"/>
              <a:t>Customers</a:t>
            </a:r>
            <a:r>
              <a:rPr lang="en-US" sz="2400" dirty="0"/>
              <a:t>: products usage, customers satisfaction</a:t>
            </a:r>
          </a:p>
          <a:p>
            <a:pPr>
              <a:lnSpc>
                <a:spcPct val="150000"/>
              </a:lnSpc>
            </a:pPr>
            <a:r>
              <a:rPr lang="en-US" sz="2400" b="1" dirty="0"/>
              <a:t>Operational</a:t>
            </a:r>
            <a:r>
              <a:rPr lang="en-US" sz="2400" dirty="0"/>
              <a:t>: TTM – Time To Market</a:t>
            </a:r>
          </a:p>
          <a:p>
            <a:pPr>
              <a:lnSpc>
                <a:spcPct val="150000"/>
              </a:lnSpc>
            </a:pPr>
            <a:r>
              <a:rPr lang="en-US" sz="2400" b="1" dirty="0"/>
              <a:t>Marketing</a:t>
            </a:r>
            <a:r>
              <a:rPr lang="en-US" sz="2400" dirty="0"/>
              <a:t>: monthly customers' traffic</a:t>
            </a:r>
          </a:p>
        </p:txBody>
      </p:sp>
      <p:sp>
        <p:nvSpPr>
          <p:cNvPr id="2" name="Footer Placeholder 1">
            <a:extLst>
              <a:ext uri="{FF2B5EF4-FFF2-40B4-BE49-F238E27FC236}">
                <a16:creationId xmlns:a16="http://schemas.microsoft.com/office/drawing/2014/main" id="{CABB0E4C-94FB-ED49-8961-D03D257612ED}"/>
              </a:ext>
            </a:extLst>
          </p:cNvPr>
          <p:cNvSpPr>
            <a:spLocks noGrp="1"/>
          </p:cNvSpPr>
          <p:nvPr>
            <p:ph type="ftr" sz="quarter" idx="11"/>
          </p:nvPr>
        </p:nvSpPr>
        <p:spPr/>
        <p:txBody>
          <a:bodyPr/>
          <a:lstStyle/>
          <a:p>
            <a:r>
              <a:rPr lang="en-US"/>
              <a:t>Or Peretz</a:t>
            </a:r>
          </a:p>
        </p:txBody>
      </p:sp>
      <p:sp>
        <p:nvSpPr>
          <p:cNvPr id="4" name="Slide Number Placeholder 3">
            <a:extLst>
              <a:ext uri="{FF2B5EF4-FFF2-40B4-BE49-F238E27FC236}">
                <a16:creationId xmlns:a16="http://schemas.microsoft.com/office/drawing/2014/main" id="{C574BD57-D8D8-E34B-A938-DDF5D17F55EC}"/>
              </a:ext>
            </a:extLst>
          </p:cNvPr>
          <p:cNvSpPr>
            <a:spLocks noGrp="1"/>
          </p:cNvSpPr>
          <p:nvPr>
            <p:ph type="sldNum" sz="quarter" idx="12"/>
          </p:nvPr>
        </p:nvSpPr>
        <p:spPr/>
        <p:txBody>
          <a:bodyPr/>
          <a:lstStyle/>
          <a:p>
            <a:fld id="{F095E00D-78CB-4C0B-AD70-37EA297711DE}" type="slidenum">
              <a:rPr lang="en-US" smtClean="0"/>
              <a:t>26</a:t>
            </a:fld>
            <a:endParaRPr lang="en-US"/>
          </a:p>
        </p:txBody>
      </p:sp>
    </p:spTree>
    <p:extLst>
      <p:ext uri="{BB962C8B-B14F-4D97-AF65-F5344CB8AC3E}">
        <p14:creationId xmlns:p14="http://schemas.microsoft.com/office/powerpoint/2010/main" val="12921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Data Mining for Decision Making</a:t>
            </a:r>
          </a:p>
        </p:txBody>
      </p:sp>
    </p:spTree>
    <p:extLst>
      <p:ext uri="{BB962C8B-B14F-4D97-AF65-F5344CB8AC3E}">
        <p14:creationId xmlns:p14="http://schemas.microsoft.com/office/powerpoint/2010/main" val="2291879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DB157F5-B651-A64B-A0D1-07FF786131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eaLnBrk="1" hangingPunct="1"/>
            <a:fld id="{85B1C4EB-91A0-E24B-AF88-53E91EE72BA3}" type="slidenum">
              <a:rPr lang="en-US" altLang="en-IL">
                <a:solidFill>
                  <a:srgbClr val="898989"/>
                </a:solidFill>
                <a:latin typeface="Tahoma" panose="020B0604030504040204" pitchFamily="34" charset="0"/>
              </a:rPr>
              <a:pPr eaLnBrk="1" hangingPunct="1"/>
              <a:t>28</a:t>
            </a:fld>
            <a:endParaRPr lang="en-US" altLang="en-IL">
              <a:solidFill>
                <a:srgbClr val="898989"/>
              </a:solidFill>
              <a:latin typeface="Tahoma" panose="020B0604030504040204" pitchFamily="34" charset="0"/>
            </a:endParaRPr>
          </a:p>
        </p:txBody>
      </p:sp>
      <p:sp>
        <p:nvSpPr>
          <p:cNvPr id="620546" name="Rectangle 2">
            <a:extLst>
              <a:ext uri="{FF2B5EF4-FFF2-40B4-BE49-F238E27FC236}">
                <a16:creationId xmlns:a16="http://schemas.microsoft.com/office/drawing/2014/main" id="{CBFB2CA7-3020-FE4B-BE07-6A443CBFCB1D}"/>
              </a:ext>
            </a:extLst>
          </p:cNvPr>
          <p:cNvSpPr>
            <a:spLocks noGrp="1" noChangeArrowheads="1"/>
          </p:cNvSpPr>
          <p:nvPr>
            <p:ph type="title"/>
          </p:nvPr>
        </p:nvSpPr>
        <p:spPr>
          <a:xfrm>
            <a:off x="2827294" y="412665"/>
            <a:ext cx="6794500" cy="619125"/>
          </a:xfrm>
          <a:ln>
            <a:miter lim="800000"/>
            <a:headEnd/>
            <a:tailEnd/>
          </a:ln>
        </p:spPr>
        <p:txBody>
          <a:bodyPr vert="horz" lIns="92075" tIns="46038" rIns="92075" bIns="46038" rtlCol="0" anchor="ctr">
            <a:noAutofit/>
          </a:bodyPr>
          <a:lstStyle/>
          <a:p>
            <a:pPr>
              <a:lnSpc>
                <a:spcPct val="150000"/>
              </a:lnSpc>
              <a:spcBef>
                <a:spcPts val="1000"/>
              </a:spcBef>
              <a:defRPr/>
            </a:pPr>
            <a:r>
              <a:rPr lang="en-US" b="1" dirty="0">
                <a:ea typeface="+mn-ea"/>
                <a:cs typeface="+mn-cs"/>
              </a:rPr>
              <a:t>What Is Data Mining?</a:t>
            </a:r>
          </a:p>
        </p:txBody>
      </p:sp>
      <p:sp>
        <p:nvSpPr>
          <p:cNvPr id="1030" name="Rectangle 3">
            <a:extLst>
              <a:ext uri="{FF2B5EF4-FFF2-40B4-BE49-F238E27FC236}">
                <a16:creationId xmlns:a16="http://schemas.microsoft.com/office/drawing/2014/main" id="{99842D07-E03D-1448-B244-545DA298987C}"/>
              </a:ext>
            </a:extLst>
          </p:cNvPr>
          <p:cNvSpPr>
            <a:spLocks noGrp="1" noChangeArrowheads="1"/>
          </p:cNvSpPr>
          <p:nvPr>
            <p:ph type="body" idx="1"/>
          </p:nvPr>
        </p:nvSpPr>
        <p:spPr>
          <a:xfrm>
            <a:off x="364067" y="1031790"/>
            <a:ext cx="11404600" cy="5546810"/>
          </a:xfrm>
          <a:noFill/>
        </p:spPr>
        <p:txBody>
          <a:bodyPr vert="horz" lIns="92075" tIns="46038" rIns="92075" bIns="46038" rtlCol="0">
            <a:normAutofit/>
          </a:bodyPr>
          <a:lstStyle/>
          <a:p>
            <a:pPr lvl="1" eaLnBrk="1" hangingPunct="1">
              <a:lnSpc>
                <a:spcPct val="200000"/>
              </a:lnSpc>
            </a:pPr>
            <a:r>
              <a:rPr lang="en-US" altLang="en-IL" dirty="0">
                <a:cs typeface="맑은 고딕" panose="020B0503020000020004" pitchFamily="34" charset="-127"/>
              </a:rPr>
              <a:t>Knowledge discovery (mining) in databases (KDD)</a:t>
            </a:r>
          </a:p>
          <a:p>
            <a:pPr lvl="1" eaLnBrk="1" hangingPunct="1">
              <a:lnSpc>
                <a:spcPct val="200000"/>
              </a:lnSpc>
            </a:pPr>
            <a:r>
              <a:rPr lang="en-US" altLang="en-IL" dirty="0">
                <a:cs typeface="맑은 고딕" panose="020B0503020000020004" pitchFamily="34" charset="-127"/>
              </a:rPr>
              <a:t>knowledge extraction</a:t>
            </a:r>
          </a:p>
          <a:p>
            <a:pPr lvl="1" eaLnBrk="1" hangingPunct="1">
              <a:lnSpc>
                <a:spcPct val="200000"/>
              </a:lnSpc>
            </a:pPr>
            <a:r>
              <a:rPr lang="en-US" altLang="en-IL" dirty="0">
                <a:cs typeface="맑은 고딕" panose="020B0503020000020004" pitchFamily="34" charset="-127"/>
              </a:rPr>
              <a:t>data/pattern analysis</a:t>
            </a:r>
          </a:p>
          <a:p>
            <a:pPr lvl="1" eaLnBrk="1" hangingPunct="1">
              <a:lnSpc>
                <a:spcPct val="200000"/>
              </a:lnSpc>
            </a:pPr>
            <a:r>
              <a:rPr lang="en-US" altLang="en-IL" dirty="0">
                <a:cs typeface="맑은 고딕" panose="020B0503020000020004" pitchFamily="34" charset="-127"/>
              </a:rPr>
              <a:t>data archeology</a:t>
            </a:r>
          </a:p>
          <a:p>
            <a:pPr lvl="1" eaLnBrk="1" hangingPunct="1">
              <a:lnSpc>
                <a:spcPct val="200000"/>
              </a:lnSpc>
            </a:pPr>
            <a:r>
              <a:rPr lang="en-US" altLang="en-IL" dirty="0">
                <a:cs typeface="맑은 고딕" panose="020B0503020000020004" pitchFamily="34" charset="-127"/>
              </a:rPr>
              <a:t>information harvesting</a:t>
            </a:r>
          </a:p>
        </p:txBody>
      </p:sp>
      <p:sp>
        <p:nvSpPr>
          <p:cNvPr id="10" name="Footer Placeholder 4">
            <a:extLst>
              <a:ext uri="{FF2B5EF4-FFF2-40B4-BE49-F238E27FC236}">
                <a16:creationId xmlns:a16="http://schemas.microsoft.com/office/drawing/2014/main" id="{A672D323-C55E-4944-B514-5347C2652C59}"/>
              </a:ext>
            </a:extLst>
          </p:cNvPr>
          <p:cNvSpPr>
            <a:spLocks noGrp="1"/>
          </p:cNvSpPr>
          <p:nvPr>
            <p:ph type="ftr" sz="quarter" idx="11"/>
          </p:nvPr>
        </p:nvSpPr>
        <p:spPr/>
        <p:txBody>
          <a:bodyPr/>
          <a:lstStyle/>
          <a:p>
            <a:pPr>
              <a:defRPr/>
            </a:pPr>
            <a:r>
              <a:rPr lang="en-US"/>
              <a:t>Or Peretz</a:t>
            </a:r>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4">
            <a:extLst>
              <a:ext uri="{FF2B5EF4-FFF2-40B4-BE49-F238E27FC236}">
                <a16:creationId xmlns:a16="http://schemas.microsoft.com/office/drawing/2014/main" id="{048BA9B4-85E2-4E4B-A22F-A91CC7BCC1D3}"/>
              </a:ext>
            </a:extLst>
          </p:cNvPr>
          <p:cNvSpPr>
            <a:spLocks noGrp="1"/>
          </p:cNvSpPr>
          <p:nvPr>
            <p:ph type="ftr" sz="quarter" idx="11"/>
          </p:nvPr>
        </p:nvSpPr>
        <p:spPr/>
        <p:txBody>
          <a:bodyPr/>
          <a:lstStyle/>
          <a:p>
            <a:pPr>
              <a:defRPr/>
            </a:pPr>
            <a:r>
              <a:rPr lang="en-US"/>
              <a:t>Or Peretz</a:t>
            </a:r>
            <a:endParaRPr lang="en-US" dirty="0"/>
          </a:p>
        </p:txBody>
      </p:sp>
      <p:sp>
        <p:nvSpPr>
          <p:cNvPr id="441346" name="Rectangle 2050">
            <a:extLst>
              <a:ext uri="{FF2B5EF4-FFF2-40B4-BE49-F238E27FC236}">
                <a16:creationId xmlns:a16="http://schemas.microsoft.com/office/drawing/2014/main" id="{979CEFF6-37FB-AE48-96D8-4A85780A6960}"/>
              </a:ext>
            </a:extLst>
          </p:cNvPr>
          <p:cNvSpPr>
            <a:spLocks noGrp="1" noChangeArrowheads="1"/>
          </p:cNvSpPr>
          <p:nvPr>
            <p:ph type="title"/>
          </p:nvPr>
        </p:nvSpPr>
        <p:spPr>
          <a:xfrm>
            <a:off x="1752600" y="228600"/>
            <a:ext cx="9144000" cy="914400"/>
          </a:xfrm>
          <a:ln>
            <a:miter lim="800000"/>
            <a:headEnd/>
            <a:tailEnd/>
          </a:ln>
        </p:spPr>
        <p:txBody>
          <a:bodyPr vert="horz" lIns="92075" tIns="46038" rIns="92075" bIns="46038" rtlCol="0" anchor="ctr">
            <a:normAutofit/>
          </a:bodyPr>
          <a:lstStyle/>
          <a:p>
            <a:pPr eaLnBrk="1" hangingPunct="1">
              <a:defRPr/>
            </a:pPr>
            <a:r>
              <a:rPr lang="en-US" sz="3200" dirty="0"/>
              <a:t>Knowledge Discovery (KDD) Process</a:t>
            </a:r>
            <a:endParaRPr lang="en-US" sz="3200" b="0" dirty="0"/>
          </a:p>
        </p:txBody>
      </p:sp>
      <p:sp>
        <p:nvSpPr>
          <p:cNvPr id="2" name="Slide Number Placeholder 1">
            <a:extLst>
              <a:ext uri="{FF2B5EF4-FFF2-40B4-BE49-F238E27FC236}">
                <a16:creationId xmlns:a16="http://schemas.microsoft.com/office/drawing/2014/main" id="{1448E12A-1C7C-D645-B4CD-82922211A677}"/>
              </a:ext>
            </a:extLst>
          </p:cNvPr>
          <p:cNvSpPr>
            <a:spLocks noGrp="1"/>
          </p:cNvSpPr>
          <p:nvPr>
            <p:ph type="sldNum" sz="quarter" idx="12"/>
          </p:nvPr>
        </p:nvSpPr>
        <p:spPr/>
        <p:txBody>
          <a:bodyPr/>
          <a:lstStyle/>
          <a:p>
            <a:fld id="{6414544D-B938-714C-9E26-5FE01AECFEB2}" type="slidenum">
              <a:rPr lang="en-US" altLang="ko-KR" smtClean="0"/>
              <a:pPr/>
              <a:t>29</a:t>
            </a:fld>
            <a:endParaRPr lang="en-US" altLang="ko-KR"/>
          </a:p>
        </p:txBody>
      </p:sp>
      <p:pic>
        <p:nvPicPr>
          <p:cNvPr id="7170" name="Picture 2" descr="Steps in the KDD process | Download Scientific Diagram">
            <a:extLst>
              <a:ext uri="{FF2B5EF4-FFF2-40B4-BE49-F238E27FC236}">
                <a16:creationId xmlns:a16="http://schemas.microsoft.com/office/drawing/2014/main" id="{00E26970-2C7F-6345-B7B2-F5815DF85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0" y="1455696"/>
            <a:ext cx="5818717" cy="39466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4">
            <a:extLst>
              <a:ext uri="{FF2B5EF4-FFF2-40B4-BE49-F238E27FC236}">
                <a16:creationId xmlns:a16="http://schemas.microsoft.com/office/drawing/2014/main" id="{7AE9FD5D-2E2B-9041-8E2F-5206FBF9D0B1}"/>
              </a:ext>
            </a:extLst>
          </p:cNvPr>
          <p:cNvSpPr>
            <a:spLocks noGrp="1"/>
          </p:cNvSpPr>
          <p:nvPr>
            <p:ph type="ftr" sz="quarter" idx="11"/>
          </p:nvPr>
        </p:nvSpPr>
        <p:spPr/>
        <p:txBody>
          <a:bodyPr/>
          <a:lstStyle/>
          <a:p>
            <a:pPr>
              <a:defRPr/>
            </a:pPr>
            <a:r>
              <a:rPr lang="en-US"/>
              <a:t>Or Peretz</a:t>
            </a:r>
          </a:p>
        </p:txBody>
      </p:sp>
      <p:sp>
        <p:nvSpPr>
          <p:cNvPr id="29" name="Slide Number Placeholder 5">
            <a:extLst>
              <a:ext uri="{FF2B5EF4-FFF2-40B4-BE49-F238E27FC236}">
                <a16:creationId xmlns:a16="http://schemas.microsoft.com/office/drawing/2014/main" id="{2AFA4874-30D0-F34F-8AAE-450E31C297C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eaLnBrk="1" hangingPunct="1"/>
            <a:fld id="{F1DF4661-7A39-874B-8988-B809235F0291}" type="slidenum">
              <a:rPr lang="en-US" altLang="en-IL">
                <a:solidFill>
                  <a:srgbClr val="898989"/>
                </a:solidFill>
                <a:latin typeface="Tahoma" panose="020B0604030504040204" pitchFamily="34" charset="0"/>
              </a:rPr>
              <a:pPr eaLnBrk="1" hangingPunct="1"/>
              <a:t>30</a:t>
            </a:fld>
            <a:endParaRPr lang="en-US" altLang="en-IL">
              <a:solidFill>
                <a:srgbClr val="898989"/>
              </a:solidFill>
              <a:latin typeface="Tahoma" panose="020B0604030504040204" pitchFamily="34" charset="0"/>
            </a:endParaRPr>
          </a:p>
        </p:txBody>
      </p:sp>
      <p:sp>
        <p:nvSpPr>
          <p:cNvPr id="628738" name="Rectangle 1026">
            <a:extLst>
              <a:ext uri="{FF2B5EF4-FFF2-40B4-BE49-F238E27FC236}">
                <a16:creationId xmlns:a16="http://schemas.microsoft.com/office/drawing/2014/main" id="{0BBB1D85-99F5-1A4F-A9FD-9433AEA911F7}"/>
              </a:ext>
            </a:extLst>
          </p:cNvPr>
          <p:cNvSpPr>
            <a:spLocks noGrp="1" noChangeArrowheads="1"/>
          </p:cNvSpPr>
          <p:nvPr>
            <p:ph type="title"/>
          </p:nvPr>
        </p:nvSpPr>
        <p:spPr>
          <a:xfrm>
            <a:off x="1524000" y="381000"/>
            <a:ext cx="9144000" cy="533400"/>
          </a:xfrm>
          <a:ln>
            <a:miter lim="800000"/>
            <a:headEnd/>
            <a:tailEnd/>
          </a:ln>
        </p:spPr>
        <p:txBody>
          <a:bodyPr vert="horz" lIns="92075" tIns="46038" rIns="92075" bIns="46038" rtlCol="0" anchor="ctr">
            <a:normAutofit/>
          </a:bodyPr>
          <a:lstStyle/>
          <a:p>
            <a:pPr eaLnBrk="1" hangingPunct="1">
              <a:defRPr/>
            </a:pPr>
            <a:r>
              <a:rPr lang="en-US" sz="3200" dirty="0"/>
              <a:t>Data Mining and Business Intelligence</a:t>
            </a:r>
            <a:r>
              <a:rPr lang="en-US" sz="2800" b="0" dirty="0"/>
              <a:t> </a:t>
            </a:r>
          </a:p>
        </p:txBody>
      </p:sp>
      <p:sp>
        <p:nvSpPr>
          <p:cNvPr id="13317" name="AutoShape 1027">
            <a:extLst>
              <a:ext uri="{FF2B5EF4-FFF2-40B4-BE49-F238E27FC236}">
                <a16:creationId xmlns:a16="http://schemas.microsoft.com/office/drawing/2014/main" id="{D77B72EA-0697-FF49-9F43-8AE517072860}"/>
              </a:ext>
            </a:extLst>
          </p:cNvPr>
          <p:cNvSpPr>
            <a:spLocks noChangeArrowheads="1"/>
          </p:cNvSpPr>
          <p:nvPr/>
        </p:nvSpPr>
        <p:spPr bwMode="auto">
          <a:xfrm>
            <a:off x="2286000" y="1447800"/>
            <a:ext cx="7467600" cy="502920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ctr"/>
            <a:endParaRPr lang="en-US" altLang="en-IL" sz="2400">
              <a:latin typeface="Times New Roman" panose="02020603050405020304" pitchFamily="18" charset="0"/>
            </a:endParaRPr>
          </a:p>
        </p:txBody>
      </p:sp>
      <p:sp>
        <p:nvSpPr>
          <p:cNvPr id="13318" name="Line 1028">
            <a:extLst>
              <a:ext uri="{FF2B5EF4-FFF2-40B4-BE49-F238E27FC236}">
                <a16:creationId xmlns:a16="http://schemas.microsoft.com/office/drawing/2014/main" id="{81400C1D-AB5A-9140-8F19-0D84C304F609}"/>
              </a:ext>
            </a:extLst>
          </p:cNvPr>
          <p:cNvSpPr>
            <a:spLocks noChangeShapeType="1"/>
          </p:cNvSpPr>
          <p:nvPr/>
        </p:nvSpPr>
        <p:spPr bwMode="auto">
          <a:xfrm>
            <a:off x="2743200" y="5867400"/>
            <a:ext cx="655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
        <p:nvSpPr>
          <p:cNvPr id="13319" name="Line 1029">
            <a:extLst>
              <a:ext uri="{FF2B5EF4-FFF2-40B4-BE49-F238E27FC236}">
                <a16:creationId xmlns:a16="http://schemas.microsoft.com/office/drawing/2014/main" id="{7F798991-B809-634B-BA7C-EA0288FA0439}"/>
              </a:ext>
            </a:extLst>
          </p:cNvPr>
          <p:cNvSpPr>
            <a:spLocks noChangeShapeType="1"/>
          </p:cNvSpPr>
          <p:nvPr/>
        </p:nvSpPr>
        <p:spPr bwMode="auto">
          <a:xfrm>
            <a:off x="3200400" y="5257800"/>
            <a:ext cx="563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
        <p:nvSpPr>
          <p:cNvPr id="13320" name="Line 1030">
            <a:extLst>
              <a:ext uri="{FF2B5EF4-FFF2-40B4-BE49-F238E27FC236}">
                <a16:creationId xmlns:a16="http://schemas.microsoft.com/office/drawing/2014/main" id="{29BC2474-5EBA-C349-BB34-8FA17B623172}"/>
              </a:ext>
            </a:extLst>
          </p:cNvPr>
          <p:cNvSpPr>
            <a:spLocks noChangeShapeType="1"/>
          </p:cNvSpPr>
          <p:nvPr/>
        </p:nvSpPr>
        <p:spPr bwMode="auto">
          <a:xfrm>
            <a:off x="3733800" y="4495800"/>
            <a:ext cx="457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
        <p:nvSpPr>
          <p:cNvPr id="13321" name="Line 1031">
            <a:extLst>
              <a:ext uri="{FF2B5EF4-FFF2-40B4-BE49-F238E27FC236}">
                <a16:creationId xmlns:a16="http://schemas.microsoft.com/office/drawing/2014/main" id="{0566D69D-025D-0541-8560-AD2339CE3EFB}"/>
              </a:ext>
            </a:extLst>
          </p:cNvPr>
          <p:cNvSpPr>
            <a:spLocks noChangeShapeType="1"/>
          </p:cNvSpPr>
          <p:nvPr/>
        </p:nvSpPr>
        <p:spPr bwMode="auto">
          <a:xfrm>
            <a:off x="4343400" y="3733800"/>
            <a:ext cx="3352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
        <p:nvSpPr>
          <p:cNvPr id="13322" name="Line 1032">
            <a:extLst>
              <a:ext uri="{FF2B5EF4-FFF2-40B4-BE49-F238E27FC236}">
                <a16:creationId xmlns:a16="http://schemas.microsoft.com/office/drawing/2014/main" id="{CF847C4D-0A87-8E46-B75A-BD914B4B3DAE}"/>
              </a:ext>
            </a:extLst>
          </p:cNvPr>
          <p:cNvSpPr>
            <a:spLocks noChangeShapeType="1"/>
          </p:cNvSpPr>
          <p:nvPr/>
        </p:nvSpPr>
        <p:spPr bwMode="auto">
          <a:xfrm>
            <a:off x="4953000" y="28956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
        <p:nvSpPr>
          <p:cNvPr id="13323" name="Line 1033">
            <a:extLst>
              <a:ext uri="{FF2B5EF4-FFF2-40B4-BE49-F238E27FC236}">
                <a16:creationId xmlns:a16="http://schemas.microsoft.com/office/drawing/2014/main" id="{DEB38912-B683-DE4C-88B6-E087E0A282C2}"/>
              </a:ext>
            </a:extLst>
          </p:cNvPr>
          <p:cNvSpPr>
            <a:spLocks noChangeShapeType="1"/>
          </p:cNvSpPr>
          <p:nvPr/>
        </p:nvSpPr>
        <p:spPr bwMode="auto">
          <a:xfrm flipV="1">
            <a:off x="2057400" y="1447800"/>
            <a:ext cx="0" cy="502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L"/>
          </a:p>
        </p:txBody>
      </p:sp>
      <p:sp>
        <p:nvSpPr>
          <p:cNvPr id="13324" name="Line 1034">
            <a:extLst>
              <a:ext uri="{FF2B5EF4-FFF2-40B4-BE49-F238E27FC236}">
                <a16:creationId xmlns:a16="http://schemas.microsoft.com/office/drawing/2014/main" id="{EFD75E38-DB17-3B4B-B10E-8047DDA01615}"/>
              </a:ext>
            </a:extLst>
          </p:cNvPr>
          <p:cNvSpPr>
            <a:spLocks noChangeShapeType="1"/>
          </p:cNvSpPr>
          <p:nvPr/>
        </p:nvSpPr>
        <p:spPr bwMode="auto">
          <a:xfrm flipV="1">
            <a:off x="10363200" y="1447800"/>
            <a:ext cx="0" cy="502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L"/>
          </a:p>
        </p:txBody>
      </p:sp>
      <p:sp>
        <p:nvSpPr>
          <p:cNvPr id="13325" name="Text Box 1035">
            <a:extLst>
              <a:ext uri="{FF2B5EF4-FFF2-40B4-BE49-F238E27FC236}">
                <a16:creationId xmlns:a16="http://schemas.microsoft.com/office/drawing/2014/main" id="{6ECAEA0D-1205-2347-889B-4DE7D88FC20B}"/>
              </a:ext>
            </a:extLst>
          </p:cNvPr>
          <p:cNvSpPr txBox="1">
            <a:spLocks noChangeArrowheads="1"/>
          </p:cNvSpPr>
          <p:nvPr/>
        </p:nvSpPr>
        <p:spPr bwMode="auto">
          <a:xfrm>
            <a:off x="2117726" y="1509713"/>
            <a:ext cx="19208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sz="1600" b="1">
                <a:latin typeface="Times New Roman" panose="02020603050405020304" pitchFamily="18" charset="0"/>
              </a:rPr>
              <a:t>Increasing potential</a:t>
            </a:r>
          </a:p>
          <a:p>
            <a:r>
              <a:rPr lang="en-US" altLang="en-IL" sz="1600" b="1">
                <a:latin typeface="Times New Roman" panose="02020603050405020304" pitchFamily="18" charset="0"/>
              </a:rPr>
              <a:t>to support</a:t>
            </a:r>
          </a:p>
          <a:p>
            <a:r>
              <a:rPr lang="en-US" altLang="en-IL" sz="1600" b="1">
                <a:latin typeface="Times New Roman" panose="02020603050405020304" pitchFamily="18" charset="0"/>
              </a:rPr>
              <a:t>business decisions</a:t>
            </a:r>
          </a:p>
        </p:txBody>
      </p:sp>
      <p:sp>
        <p:nvSpPr>
          <p:cNvPr id="13326" name="Text Box 1036">
            <a:extLst>
              <a:ext uri="{FF2B5EF4-FFF2-40B4-BE49-F238E27FC236}">
                <a16:creationId xmlns:a16="http://schemas.microsoft.com/office/drawing/2014/main" id="{3EAEE49F-A8A6-514F-A904-0065BD0DF8F5}"/>
              </a:ext>
            </a:extLst>
          </p:cNvPr>
          <p:cNvSpPr txBox="1">
            <a:spLocks noChangeArrowheads="1"/>
          </p:cNvSpPr>
          <p:nvPr/>
        </p:nvSpPr>
        <p:spPr bwMode="auto">
          <a:xfrm>
            <a:off x="9272588" y="1955800"/>
            <a:ext cx="1001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r"/>
            <a:r>
              <a:rPr lang="en-US" altLang="en-IL" sz="1600" b="1">
                <a:latin typeface="Times New Roman" panose="02020603050405020304" pitchFamily="18" charset="0"/>
              </a:rPr>
              <a:t>End User</a:t>
            </a:r>
            <a:endParaRPr lang="en-US" altLang="en-IL" sz="1600">
              <a:latin typeface="Times New Roman" panose="02020603050405020304" pitchFamily="18" charset="0"/>
            </a:endParaRPr>
          </a:p>
        </p:txBody>
      </p:sp>
      <p:sp>
        <p:nvSpPr>
          <p:cNvPr id="13327" name="Text Box 1037">
            <a:extLst>
              <a:ext uri="{FF2B5EF4-FFF2-40B4-BE49-F238E27FC236}">
                <a16:creationId xmlns:a16="http://schemas.microsoft.com/office/drawing/2014/main" id="{515ADAFC-180D-1A4D-9380-A18081C45B0C}"/>
              </a:ext>
            </a:extLst>
          </p:cNvPr>
          <p:cNvSpPr txBox="1">
            <a:spLocks noChangeArrowheads="1"/>
          </p:cNvSpPr>
          <p:nvPr/>
        </p:nvSpPr>
        <p:spPr bwMode="auto">
          <a:xfrm>
            <a:off x="9275763" y="2946401"/>
            <a:ext cx="9525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r"/>
            <a:r>
              <a:rPr lang="en-US" altLang="en-IL" sz="1600" b="1">
                <a:latin typeface="Times New Roman" panose="02020603050405020304" pitchFamily="18" charset="0"/>
              </a:rPr>
              <a:t>Business</a:t>
            </a:r>
          </a:p>
          <a:p>
            <a:pPr algn="r"/>
            <a:r>
              <a:rPr lang="en-US" altLang="en-IL" sz="1600" b="1">
                <a:latin typeface="Times New Roman" panose="02020603050405020304" pitchFamily="18" charset="0"/>
              </a:rPr>
              <a:t>  Analyst</a:t>
            </a:r>
          </a:p>
        </p:txBody>
      </p:sp>
      <p:sp>
        <p:nvSpPr>
          <p:cNvPr id="13328" name="Text Box 1038">
            <a:extLst>
              <a:ext uri="{FF2B5EF4-FFF2-40B4-BE49-F238E27FC236}">
                <a16:creationId xmlns:a16="http://schemas.microsoft.com/office/drawing/2014/main" id="{011D050F-B480-D54F-832A-6A0BD63DE728}"/>
              </a:ext>
            </a:extLst>
          </p:cNvPr>
          <p:cNvSpPr txBox="1">
            <a:spLocks noChangeArrowheads="1"/>
          </p:cNvSpPr>
          <p:nvPr/>
        </p:nvSpPr>
        <p:spPr bwMode="auto">
          <a:xfrm>
            <a:off x="9364663" y="3784601"/>
            <a:ext cx="8556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r"/>
            <a:r>
              <a:rPr lang="en-US" altLang="en-IL" sz="1600" b="1">
                <a:latin typeface="Times New Roman" panose="02020603050405020304" pitchFamily="18" charset="0"/>
              </a:rPr>
              <a:t>     Data</a:t>
            </a:r>
          </a:p>
          <a:p>
            <a:pPr algn="r"/>
            <a:r>
              <a:rPr lang="en-US" altLang="en-IL" sz="1600" b="1">
                <a:latin typeface="Times New Roman" panose="02020603050405020304" pitchFamily="18" charset="0"/>
              </a:rPr>
              <a:t>Analyst</a:t>
            </a:r>
          </a:p>
        </p:txBody>
      </p:sp>
      <p:sp>
        <p:nvSpPr>
          <p:cNvPr id="13329" name="Text Box 1039">
            <a:extLst>
              <a:ext uri="{FF2B5EF4-FFF2-40B4-BE49-F238E27FC236}">
                <a16:creationId xmlns:a16="http://schemas.microsoft.com/office/drawing/2014/main" id="{5C313975-C420-E740-8F31-417C42DF80A9}"/>
              </a:ext>
            </a:extLst>
          </p:cNvPr>
          <p:cNvSpPr txBox="1">
            <a:spLocks noChangeArrowheads="1"/>
          </p:cNvSpPr>
          <p:nvPr/>
        </p:nvSpPr>
        <p:spPr bwMode="auto">
          <a:xfrm>
            <a:off x="9626600" y="5689600"/>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r"/>
            <a:r>
              <a:rPr lang="en-US" altLang="en-IL" sz="1600" b="1">
                <a:latin typeface="Times New Roman" panose="02020603050405020304" pitchFamily="18" charset="0"/>
              </a:rPr>
              <a:t>DBA</a:t>
            </a:r>
          </a:p>
        </p:txBody>
      </p:sp>
      <p:sp>
        <p:nvSpPr>
          <p:cNvPr id="13330" name="Text Box 1040">
            <a:extLst>
              <a:ext uri="{FF2B5EF4-FFF2-40B4-BE49-F238E27FC236}">
                <a16:creationId xmlns:a16="http://schemas.microsoft.com/office/drawing/2014/main" id="{152578F6-760C-0047-AC9E-CCBE0EE0ECD8}"/>
              </a:ext>
            </a:extLst>
          </p:cNvPr>
          <p:cNvSpPr txBox="1">
            <a:spLocks noChangeArrowheads="1"/>
          </p:cNvSpPr>
          <p:nvPr/>
        </p:nvSpPr>
        <p:spPr bwMode="auto">
          <a:xfrm>
            <a:off x="5410200" y="2178050"/>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ctr"/>
            <a:r>
              <a:rPr lang="en-US" altLang="en-IL" b="1"/>
              <a:t>Decision</a:t>
            </a:r>
            <a:r>
              <a:rPr lang="en-US" altLang="en-IL"/>
              <a:t> </a:t>
            </a:r>
            <a:r>
              <a:rPr lang="en-US" altLang="en-IL" b="1"/>
              <a:t>Making</a:t>
            </a:r>
          </a:p>
        </p:txBody>
      </p:sp>
      <p:sp>
        <p:nvSpPr>
          <p:cNvPr id="13331" name="Text Box 1041">
            <a:extLst>
              <a:ext uri="{FF2B5EF4-FFF2-40B4-BE49-F238E27FC236}">
                <a16:creationId xmlns:a16="http://schemas.microsoft.com/office/drawing/2014/main" id="{8A75CF6C-F164-4941-9F5B-B259A9F2B9AD}"/>
              </a:ext>
            </a:extLst>
          </p:cNvPr>
          <p:cNvSpPr txBox="1">
            <a:spLocks noChangeArrowheads="1"/>
          </p:cNvSpPr>
          <p:nvPr/>
        </p:nvSpPr>
        <p:spPr bwMode="auto">
          <a:xfrm>
            <a:off x="4876800" y="2992438"/>
            <a:ext cx="21467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a:t>Data Presentation</a:t>
            </a:r>
          </a:p>
        </p:txBody>
      </p:sp>
      <p:sp>
        <p:nvSpPr>
          <p:cNvPr id="13332" name="Text Box 1042">
            <a:extLst>
              <a:ext uri="{FF2B5EF4-FFF2-40B4-BE49-F238E27FC236}">
                <a16:creationId xmlns:a16="http://schemas.microsoft.com/office/drawing/2014/main" id="{EDCE8CF9-DCA5-5F4C-9FDA-790080F610C7}"/>
              </a:ext>
            </a:extLst>
          </p:cNvPr>
          <p:cNvSpPr txBox="1">
            <a:spLocks noChangeArrowheads="1"/>
          </p:cNvSpPr>
          <p:nvPr/>
        </p:nvSpPr>
        <p:spPr bwMode="auto">
          <a:xfrm>
            <a:off x="4800600" y="3352801"/>
            <a:ext cx="2578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i="1">
                <a:latin typeface="Times New Roman" panose="02020603050405020304" pitchFamily="18" charset="0"/>
              </a:rPr>
              <a:t>Visualization Techniques</a:t>
            </a:r>
          </a:p>
        </p:txBody>
      </p:sp>
      <p:sp>
        <p:nvSpPr>
          <p:cNvPr id="13333" name="Text Box 1043">
            <a:extLst>
              <a:ext uri="{FF2B5EF4-FFF2-40B4-BE49-F238E27FC236}">
                <a16:creationId xmlns:a16="http://schemas.microsoft.com/office/drawing/2014/main" id="{AC1FB949-CE06-9744-8477-7D5F1F5E164B}"/>
              </a:ext>
            </a:extLst>
          </p:cNvPr>
          <p:cNvSpPr txBox="1">
            <a:spLocks noChangeArrowheads="1"/>
          </p:cNvSpPr>
          <p:nvPr/>
        </p:nvSpPr>
        <p:spPr bwMode="auto">
          <a:xfrm>
            <a:off x="5181601" y="3765551"/>
            <a:ext cx="1782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a:t>Data Mining</a:t>
            </a:r>
            <a:endParaRPr lang="en-US" altLang="en-IL" b="1">
              <a:solidFill>
                <a:schemeClr val="bg1"/>
              </a:solidFill>
            </a:endParaRPr>
          </a:p>
        </p:txBody>
      </p:sp>
      <p:sp>
        <p:nvSpPr>
          <p:cNvPr id="13334" name="Text Box 1044">
            <a:extLst>
              <a:ext uri="{FF2B5EF4-FFF2-40B4-BE49-F238E27FC236}">
                <a16:creationId xmlns:a16="http://schemas.microsoft.com/office/drawing/2014/main" id="{21B43C11-BAFF-554F-9BDC-61863EED2703}"/>
              </a:ext>
            </a:extLst>
          </p:cNvPr>
          <p:cNvSpPr txBox="1">
            <a:spLocks noChangeArrowheads="1"/>
          </p:cNvSpPr>
          <p:nvPr/>
        </p:nvSpPr>
        <p:spPr bwMode="auto">
          <a:xfrm>
            <a:off x="5105400" y="4038601"/>
            <a:ext cx="2324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i="1">
                <a:latin typeface="Times New Roman" panose="02020603050405020304" pitchFamily="18" charset="0"/>
              </a:rPr>
              <a:t>Information Discovery</a:t>
            </a:r>
          </a:p>
        </p:txBody>
      </p:sp>
      <p:sp>
        <p:nvSpPr>
          <p:cNvPr id="13335" name="Text Box 1045">
            <a:extLst>
              <a:ext uri="{FF2B5EF4-FFF2-40B4-BE49-F238E27FC236}">
                <a16:creationId xmlns:a16="http://schemas.microsoft.com/office/drawing/2014/main" id="{50AEC5C8-BDA8-7C4F-8503-5A211278FC3A}"/>
              </a:ext>
            </a:extLst>
          </p:cNvPr>
          <p:cNvSpPr txBox="1">
            <a:spLocks noChangeArrowheads="1"/>
          </p:cNvSpPr>
          <p:nvPr/>
        </p:nvSpPr>
        <p:spPr bwMode="auto">
          <a:xfrm>
            <a:off x="4892676" y="4572001"/>
            <a:ext cx="2346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algn="ctr"/>
            <a:r>
              <a:rPr lang="en-US" altLang="en-IL" b="1"/>
              <a:t>Data Exploration</a:t>
            </a:r>
          </a:p>
        </p:txBody>
      </p:sp>
      <p:sp>
        <p:nvSpPr>
          <p:cNvPr id="13336" name="Text Box 1047">
            <a:extLst>
              <a:ext uri="{FF2B5EF4-FFF2-40B4-BE49-F238E27FC236}">
                <a16:creationId xmlns:a16="http://schemas.microsoft.com/office/drawing/2014/main" id="{4D4322C1-8099-D845-9E7E-15BA11B77EA2}"/>
              </a:ext>
            </a:extLst>
          </p:cNvPr>
          <p:cNvSpPr txBox="1">
            <a:spLocks noChangeArrowheads="1"/>
          </p:cNvSpPr>
          <p:nvPr/>
        </p:nvSpPr>
        <p:spPr bwMode="auto">
          <a:xfrm>
            <a:off x="3657600" y="4876801"/>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i="1">
                <a:latin typeface="Times New Roman" panose="02020603050405020304" pitchFamily="18" charset="0"/>
              </a:rPr>
              <a:t>Statistical Summary, Querying, and Reporting</a:t>
            </a:r>
            <a:endParaRPr lang="en-US" altLang="en-IL" b="1" i="1">
              <a:solidFill>
                <a:schemeClr val="bg1"/>
              </a:solidFill>
              <a:latin typeface="Times New Roman" panose="02020603050405020304" pitchFamily="18" charset="0"/>
            </a:endParaRPr>
          </a:p>
        </p:txBody>
      </p:sp>
      <p:sp>
        <p:nvSpPr>
          <p:cNvPr id="13337" name="Text Box 1048">
            <a:extLst>
              <a:ext uri="{FF2B5EF4-FFF2-40B4-BE49-F238E27FC236}">
                <a16:creationId xmlns:a16="http://schemas.microsoft.com/office/drawing/2014/main" id="{BEA1E821-0797-7149-916E-241A3BB1FCF7}"/>
              </a:ext>
            </a:extLst>
          </p:cNvPr>
          <p:cNvSpPr txBox="1">
            <a:spLocks noChangeArrowheads="1"/>
          </p:cNvSpPr>
          <p:nvPr/>
        </p:nvSpPr>
        <p:spPr bwMode="auto">
          <a:xfrm>
            <a:off x="3124200" y="5410200"/>
            <a:ext cx="56647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a:t>Data Preprocessing/Integration, Data Warehouses</a:t>
            </a:r>
          </a:p>
        </p:txBody>
      </p:sp>
      <p:sp>
        <p:nvSpPr>
          <p:cNvPr id="13338" name="Text Box 1049">
            <a:extLst>
              <a:ext uri="{FF2B5EF4-FFF2-40B4-BE49-F238E27FC236}">
                <a16:creationId xmlns:a16="http://schemas.microsoft.com/office/drawing/2014/main" id="{B15A37D0-57A1-A042-A996-62DC40103986}"/>
              </a:ext>
            </a:extLst>
          </p:cNvPr>
          <p:cNvSpPr txBox="1">
            <a:spLocks noChangeArrowheads="1"/>
          </p:cNvSpPr>
          <p:nvPr/>
        </p:nvSpPr>
        <p:spPr bwMode="auto">
          <a:xfrm>
            <a:off x="5105400" y="5791201"/>
            <a:ext cx="1697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a:t>Data Sources</a:t>
            </a:r>
            <a:endParaRPr lang="en-US" altLang="en-IL" b="1">
              <a:solidFill>
                <a:schemeClr val="bg1"/>
              </a:solidFill>
            </a:endParaRPr>
          </a:p>
        </p:txBody>
      </p:sp>
      <p:sp>
        <p:nvSpPr>
          <p:cNvPr id="13339" name="Text Box 1050">
            <a:extLst>
              <a:ext uri="{FF2B5EF4-FFF2-40B4-BE49-F238E27FC236}">
                <a16:creationId xmlns:a16="http://schemas.microsoft.com/office/drawing/2014/main" id="{CFFBE15A-E0E4-7E42-83EE-50FCE8557A0F}"/>
              </a:ext>
            </a:extLst>
          </p:cNvPr>
          <p:cNvSpPr txBox="1">
            <a:spLocks noChangeArrowheads="1"/>
          </p:cNvSpPr>
          <p:nvPr/>
        </p:nvSpPr>
        <p:spPr bwMode="auto">
          <a:xfrm>
            <a:off x="2590800" y="6096001"/>
            <a:ext cx="711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r>
              <a:rPr lang="en-US" altLang="en-IL" b="1" i="1">
                <a:latin typeface="Times New Roman" panose="02020603050405020304" pitchFamily="18" charset="0"/>
              </a:rPr>
              <a:t>Paper, Files, Web documents, Scientific experiments, Database Systems</a:t>
            </a:r>
          </a:p>
        </p:txBody>
      </p:sp>
      <p:sp>
        <p:nvSpPr>
          <p:cNvPr id="13340" name="Line 1051">
            <a:extLst>
              <a:ext uri="{FF2B5EF4-FFF2-40B4-BE49-F238E27FC236}">
                <a16:creationId xmlns:a16="http://schemas.microsoft.com/office/drawing/2014/main" id="{22DC4E61-F01C-1543-8AA2-33261F12CB2E}"/>
              </a:ext>
            </a:extLst>
          </p:cNvPr>
          <p:cNvSpPr>
            <a:spLocks noChangeShapeType="1"/>
          </p:cNvSpPr>
          <p:nvPr/>
        </p:nvSpPr>
        <p:spPr bwMode="auto">
          <a:xfrm>
            <a:off x="1981200" y="6477000"/>
            <a:ext cx="838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L"/>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78E2-F792-D647-93F8-A50EC3DFB5EF}"/>
              </a:ext>
            </a:extLst>
          </p:cNvPr>
          <p:cNvSpPr>
            <a:spLocks noGrp="1"/>
          </p:cNvSpPr>
          <p:nvPr>
            <p:ph type="title"/>
          </p:nvPr>
        </p:nvSpPr>
        <p:spPr>
          <a:ln>
            <a:miter lim="800000"/>
            <a:headEnd/>
            <a:tailEnd/>
          </a:ln>
        </p:spPr>
        <p:txBody>
          <a:bodyPr rtlCol="0">
            <a:normAutofit/>
          </a:bodyPr>
          <a:lstStyle/>
          <a:p>
            <a:pPr>
              <a:lnSpc>
                <a:spcPct val="150000"/>
              </a:lnSpc>
              <a:spcBef>
                <a:spcPts val="1000"/>
              </a:spcBef>
              <a:defRPr/>
            </a:pPr>
            <a:r>
              <a:rPr lang="en-US" b="1" dirty="0">
                <a:ea typeface="+mn-ea"/>
                <a:cs typeface="+mn-cs"/>
              </a:rPr>
              <a:t>Applications</a:t>
            </a:r>
          </a:p>
        </p:txBody>
      </p:sp>
      <p:sp>
        <p:nvSpPr>
          <p:cNvPr id="8195" name="Content Placeholder 2">
            <a:extLst>
              <a:ext uri="{FF2B5EF4-FFF2-40B4-BE49-F238E27FC236}">
                <a16:creationId xmlns:a16="http://schemas.microsoft.com/office/drawing/2014/main" id="{AD8F0C79-911D-C84A-BC36-FA60DCB8AAF4}"/>
              </a:ext>
            </a:extLst>
          </p:cNvPr>
          <p:cNvSpPr>
            <a:spLocks noGrp="1"/>
          </p:cNvSpPr>
          <p:nvPr>
            <p:ph idx="1"/>
          </p:nvPr>
        </p:nvSpPr>
        <p:spPr>
          <a:xfrm>
            <a:off x="664633" y="1690688"/>
            <a:ext cx="10862733" cy="5575279"/>
          </a:xfrm>
        </p:spPr>
        <p:txBody>
          <a:bodyPr>
            <a:normAutofit/>
          </a:bodyPr>
          <a:lstStyle/>
          <a:p>
            <a:pPr algn="just">
              <a:lnSpc>
                <a:spcPct val="120000"/>
              </a:lnSpc>
            </a:pPr>
            <a:r>
              <a:rPr lang="en-US" altLang="en-IL" dirty="0">
                <a:cs typeface="맑은 고딕" panose="020B0503020000020004" pitchFamily="34" charset="-127"/>
              </a:rPr>
              <a:t>Market analysis and management</a:t>
            </a:r>
          </a:p>
          <a:p>
            <a:pPr marL="457200" lvl="1" indent="0">
              <a:lnSpc>
                <a:spcPct val="120000"/>
              </a:lnSpc>
              <a:buNone/>
            </a:pPr>
            <a:r>
              <a:rPr lang="en-US" altLang="en-IL" sz="2200" dirty="0">
                <a:cs typeface="맑은 고딕" panose="020B0503020000020004" pitchFamily="34" charset="-127"/>
              </a:rPr>
              <a:t>Target marketing, customer relationship management (CRM) </a:t>
            </a:r>
          </a:p>
          <a:p>
            <a:pPr algn="just">
              <a:lnSpc>
                <a:spcPct val="120000"/>
              </a:lnSpc>
            </a:pPr>
            <a:r>
              <a:rPr lang="en-US" altLang="en-IL" dirty="0">
                <a:cs typeface="맑은 고딕" panose="020B0503020000020004" pitchFamily="34" charset="-127"/>
              </a:rPr>
              <a:t>Risk analysis and management</a:t>
            </a:r>
          </a:p>
          <a:p>
            <a:pPr lvl="1">
              <a:lnSpc>
                <a:spcPct val="120000"/>
              </a:lnSpc>
            </a:pPr>
            <a:r>
              <a:rPr lang="en-US" altLang="en-IL" sz="2200" dirty="0">
                <a:cs typeface="맑은 고딕" panose="020B0503020000020004" pitchFamily="34" charset="-127"/>
              </a:rPr>
              <a:t>Forecasting, customer retention, improved underwriting, competitive analysis</a:t>
            </a:r>
          </a:p>
          <a:p>
            <a:pPr algn="just">
              <a:lnSpc>
                <a:spcPct val="120000"/>
              </a:lnSpc>
            </a:pPr>
            <a:r>
              <a:rPr lang="en-US" altLang="en-IL" dirty="0">
                <a:cs typeface="맑은 고딕" panose="020B0503020000020004" pitchFamily="34" charset="-127"/>
              </a:rPr>
              <a:t>Fraud detection</a:t>
            </a:r>
          </a:p>
          <a:p>
            <a:pPr algn="just">
              <a:lnSpc>
                <a:spcPct val="120000"/>
              </a:lnSpc>
            </a:pPr>
            <a:r>
              <a:rPr lang="en-US" altLang="en-IL" dirty="0">
                <a:cs typeface="맑은 고딕" panose="020B0503020000020004" pitchFamily="34" charset="-127"/>
              </a:rPr>
              <a:t>Detection of unusual patterns (outliers)</a:t>
            </a:r>
          </a:p>
        </p:txBody>
      </p:sp>
      <p:sp>
        <p:nvSpPr>
          <p:cNvPr id="5" name="Footer Placeholder 4">
            <a:extLst>
              <a:ext uri="{FF2B5EF4-FFF2-40B4-BE49-F238E27FC236}">
                <a16:creationId xmlns:a16="http://schemas.microsoft.com/office/drawing/2014/main" id="{9FD92747-4F9C-3D46-AAF0-741DBFD2E181}"/>
              </a:ext>
            </a:extLst>
          </p:cNvPr>
          <p:cNvSpPr>
            <a:spLocks noGrp="1"/>
          </p:cNvSpPr>
          <p:nvPr>
            <p:ph type="ftr" sz="quarter" idx="11"/>
          </p:nvPr>
        </p:nvSpPr>
        <p:spPr/>
        <p:txBody>
          <a:bodyPr/>
          <a:lstStyle/>
          <a:p>
            <a:pPr>
              <a:defRPr/>
            </a:pPr>
            <a:r>
              <a:rPr lang="en-US"/>
              <a:t>Or Peretz</a:t>
            </a:r>
            <a:endParaRPr lang="en-US" dirty="0"/>
          </a:p>
        </p:txBody>
      </p:sp>
      <p:sp>
        <p:nvSpPr>
          <p:cNvPr id="3" name="Slide Number Placeholder 2">
            <a:extLst>
              <a:ext uri="{FF2B5EF4-FFF2-40B4-BE49-F238E27FC236}">
                <a16:creationId xmlns:a16="http://schemas.microsoft.com/office/drawing/2014/main" id="{3C660A57-326F-0140-9486-EB06BAD715E2}"/>
              </a:ext>
            </a:extLst>
          </p:cNvPr>
          <p:cNvSpPr>
            <a:spLocks noGrp="1"/>
          </p:cNvSpPr>
          <p:nvPr>
            <p:ph type="sldNum" sz="quarter" idx="12"/>
          </p:nvPr>
        </p:nvSpPr>
        <p:spPr/>
        <p:txBody>
          <a:bodyPr/>
          <a:lstStyle/>
          <a:p>
            <a:fld id="{6414544D-B938-714C-9E26-5FE01AECFEB2}" type="slidenum">
              <a:rPr lang="en-US" altLang="ko-KR" smtClean="0"/>
              <a:pPr/>
              <a:t>31</a:t>
            </a:fld>
            <a:endParaRPr lang="en-US" altLang="ko-K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C3B7365-C54F-1541-8134-15F36291368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eaLnBrk="1" hangingPunct="1"/>
            <a:fld id="{BB175BA4-37B0-6A4E-9286-3B69AC7562FF}" type="slidenum">
              <a:rPr lang="en-US" altLang="en-IL">
                <a:solidFill>
                  <a:srgbClr val="898989"/>
                </a:solidFill>
                <a:latin typeface="Tahoma" panose="020B0604030504040204" pitchFamily="34" charset="0"/>
              </a:rPr>
              <a:pPr eaLnBrk="1" hangingPunct="1"/>
              <a:t>32</a:t>
            </a:fld>
            <a:endParaRPr lang="en-US" altLang="en-IL">
              <a:solidFill>
                <a:srgbClr val="898989"/>
              </a:solidFill>
              <a:latin typeface="Tahoma" panose="020B0604030504040204" pitchFamily="34" charset="0"/>
            </a:endParaRPr>
          </a:p>
        </p:txBody>
      </p:sp>
      <p:sp>
        <p:nvSpPr>
          <p:cNvPr id="646146" name="Rectangle 1026">
            <a:extLst>
              <a:ext uri="{FF2B5EF4-FFF2-40B4-BE49-F238E27FC236}">
                <a16:creationId xmlns:a16="http://schemas.microsoft.com/office/drawing/2014/main" id="{6BE14AF2-C53D-6949-85FC-F3338F7D3818}"/>
              </a:ext>
            </a:extLst>
          </p:cNvPr>
          <p:cNvSpPr>
            <a:spLocks noGrp="1" noChangeArrowheads="1"/>
          </p:cNvSpPr>
          <p:nvPr>
            <p:ph type="title"/>
          </p:nvPr>
        </p:nvSpPr>
        <p:spPr>
          <a:xfrm>
            <a:off x="939112" y="317157"/>
            <a:ext cx="10313773" cy="685800"/>
          </a:xfrm>
          <a:ln>
            <a:miter lim="800000"/>
            <a:headEnd/>
            <a:tailEnd/>
          </a:ln>
        </p:spPr>
        <p:txBody>
          <a:bodyPr vert="horz" lIns="92075" tIns="46038" rIns="92075" bIns="46038" rtlCol="0" anchor="ctr">
            <a:noAutofit/>
          </a:bodyPr>
          <a:lstStyle/>
          <a:p>
            <a:pPr>
              <a:lnSpc>
                <a:spcPct val="150000"/>
              </a:lnSpc>
              <a:spcBef>
                <a:spcPts val="1000"/>
              </a:spcBef>
              <a:defRPr/>
            </a:pPr>
            <a:r>
              <a:rPr lang="en-US" b="1" dirty="0">
                <a:ea typeface="+mn-ea"/>
                <a:cs typeface="+mn-cs"/>
              </a:rPr>
              <a:t>Example - Market Analysis and Management</a:t>
            </a:r>
          </a:p>
        </p:txBody>
      </p:sp>
      <p:sp>
        <p:nvSpPr>
          <p:cNvPr id="9220" name="Rectangle 1027">
            <a:extLst>
              <a:ext uri="{FF2B5EF4-FFF2-40B4-BE49-F238E27FC236}">
                <a16:creationId xmlns:a16="http://schemas.microsoft.com/office/drawing/2014/main" id="{29366D77-5F0C-2A40-9EA0-62CA279BD9E3}"/>
              </a:ext>
            </a:extLst>
          </p:cNvPr>
          <p:cNvSpPr>
            <a:spLocks noGrp="1" noChangeArrowheads="1"/>
          </p:cNvSpPr>
          <p:nvPr>
            <p:ph type="body" idx="1"/>
          </p:nvPr>
        </p:nvSpPr>
        <p:spPr>
          <a:xfrm>
            <a:off x="529164" y="1302809"/>
            <a:ext cx="11133667" cy="5418666"/>
          </a:xfrm>
          <a:noFill/>
        </p:spPr>
        <p:txBody>
          <a:bodyPr vert="horz" lIns="92075" tIns="46038" rIns="92075" bIns="46038" rtlCol="0">
            <a:noAutofit/>
          </a:bodyPr>
          <a:lstStyle/>
          <a:p>
            <a:pPr eaLnBrk="1" hangingPunct="1">
              <a:lnSpc>
                <a:spcPct val="150000"/>
              </a:lnSpc>
            </a:pPr>
            <a:r>
              <a:rPr lang="en-US" altLang="en-IL" sz="2200" dirty="0">
                <a:cs typeface="맑은 고딕" panose="020B0503020000020004" pitchFamily="34" charset="-127"/>
              </a:rPr>
              <a:t>Where does the data come from?</a:t>
            </a:r>
          </a:p>
          <a:p>
            <a:pPr marL="457200" lvl="1" indent="0">
              <a:lnSpc>
                <a:spcPct val="150000"/>
              </a:lnSpc>
              <a:buNone/>
            </a:pPr>
            <a:r>
              <a:rPr lang="en-US" altLang="en-IL" sz="2000" dirty="0">
                <a:cs typeface="맑은 고딕" panose="020B0503020000020004" pitchFamily="34" charset="-127"/>
              </a:rPr>
              <a:t>Credit card transactions, loyalty cards, discount coupons, customer complaint calls, surveys …</a:t>
            </a:r>
          </a:p>
          <a:p>
            <a:pPr eaLnBrk="1" hangingPunct="1">
              <a:lnSpc>
                <a:spcPct val="150000"/>
              </a:lnSpc>
            </a:pPr>
            <a:r>
              <a:rPr lang="en-US" altLang="en-IL" sz="2200" dirty="0">
                <a:cs typeface="맑은 고딕" panose="020B0503020000020004" pitchFamily="34" charset="-127"/>
              </a:rPr>
              <a:t>Target marketing</a:t>
            </a:r>
          </a:p>
          <a:p>
            <a:pPr lvl="1" eaLnBrk="1" hangingPunct="1">
              <a:lnSpc>
                <a:spcPct val="150000"/>
              </a:lnSpc>
            </a:pPr>
            <a:r>
              <a:rPr lang="en-US" altLang="en-IL" sz="2000" b="1" dirty="0">
                <a:cs typeface="맑은 고딕" panose="020B0503020000020004" pitchFamily="34" charset="-127"/>
              </a:rPr>
              <a:t>Find clusters of “model” customers who share the same characteristics. </a:t>
            </a:r>
            <a:r>
              <a:rPr lang="en-US" altLang="en-IL" sz="2000" dirty="0">
                <a:cs typeface="맑은 고딕" panose="020B0503020000020004" pitchFamily="34" charset="-127"/>
              </a:rPr>
              <a:t>For example, most customers with income level 60k – 80k with food expenses $600 - $800 a month live in that area.</a:t>
            </a:r>
          </a:p>
          <a:p>
            <a:pPr lvl="1" eaLnBrk="1" hangingPunct="1">
              <a:lnSpc>
                <a:spcPct val="150000"/>
              </a:lnSpc>
            </a:pPr>
            <a:r>
              <a:rPr lang="en-US" altLang="en-IL" sz="2000" b="1" dirty="0">
                <a:cs typeface="맑은 고딕" panose="020B0503020000020004" pitchFamily="34" charset="-127"/>
              </a:rPr>
              <a:t>Determine customer purchasing patterns over time</a:t>
            </a:r>
            <a:r>
              <a:rPr lang="en-US" altLang="en-IL" sz="2000" dirty="0">
                <a:cs typeface="맑은 고딕" panose="020B0503020000020004" pitchFamily="34" charset="-127"/>
              </a:rPr>
              <a:t>. For example, customers who are between 20 and 29 years old, with income of 20k – 29k usually buy this type of  CD player</a:t>
            </a:r>
          </a:p>
          <a:p>
            <a:pPr eaLnBrk="1" hangingPunct="1">
              <a:lnSpc>
                <a:spcPct val="150000"/>
              </a:lnSpc>
            </a:pPr>
            <a:r>
              <a:rPr lang="en-US" altLang="en-IL" sz="2200" dirty="0">
                <a:cs typeface="맑은 고딕" panose="020B0503020000020004" pitchFamily="34" charset="-127"/>
              </a:rPr>
              <a:t>Cross-market analysis</a:t>
            </a:r>
          </a:p>
          <a:p>
            <a:pPr marL="457200" lvl="1" indent="0">
              <a:lnSpc>
                <a:spcPct val="150000"/>
              </a:lnSpc>
              <a:buNone/>
            </a:pPr>
            <a:r>
              <a:rPr lang="en-US" altLang="en-IL" sz="2000" dirty="0">
                <a:cs typeface="맑은 고딕" panose="020B0503020000020004" pitchFamily="34" charset="-127"/>
              </a:rPr>
              <a:t>customers who buy computer A usually buy software B</a:t>
            </a:r>
          </a:p>
        </p:txBody>
      </p:sp>
      <p:sp>
        <p:nvSpPr>
          <p:cNvPr id="8" name="Footer Placeholder 4">
            <a:extLst>
              <a:ext uri="{FF2B5EF4-FFF2-40B4-BE49-F238E27FC236}">
                <a16:creationId xmlns:a16="http://schemas.microsoft.com/office/drawing/2014/main" id="{9B796846-6B7F-2243-A5CD-C276EB77F7E6}"/>
              </a:ext>
            </a:extLst>
          </p:cNvPr>
          <p:cNvSpPr>
            <a:spLocks noGrp="1"/>
          </p:cNvSpPr>
          <p:nvPr>
            <p:ph type="ftr" sz="quarter" idx="11"/>
          </p:nvPr>
        </p:nvSpPr>
        <p:spPr/>
        <p:txBody>
          <a:bodyPr/>
          <a:lstStyle/>
          <a:p>
            <a:pPr>
              <a:defRPr/>
            </a:pPr>
            <a:r>
              <a:rPr lang="en-US"/>
              <a:t>Or Peretz</a:t>
            </a:r>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1309E51-22A8-DE4B-95A4-EA098C80518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eaLnBrk="1" hangingPunct="1"/>
            <a:fld id="{80273506-C622-FF43-AA13-21470D4F9FD9}" type="slidenum">
              <a:rPr lang="en-US" altLang="en-IL">
                <a:solidFill>
                  <a:srgbClr val="898989"/>
                </a:solidFill>
                <a:latin typeface="Tahoma" panose="020B0604030504040204" pitchFamily="34" charset="0"/>
              </a:rPr>
              <a:pPr eaLnBrk="1" hangingPunct="1"/>
              <a:t>33</a:t>
            </a:fld>
            <a:endParaRPr lang="en-US" altLang="en-IL">
              <a:solidFill>
                <a:srgbClr val="898989"/>
              </a:solidFill>
              <a:latin typeface="Tahoma" panose="020B0604030504040204" pitchFamily="34" charset="0"/>
            </a:endParaRPr>
          </a:p>
        </p:txBody>
      </p:sp>
      <p:sp>
        <p:nvSpPr>
          <p:cNvPr id="646146" name="Rectangle 1026">
            <a:extLst>
              <a:ext uri="{FF2B5EF4-FFF2-40B4-BE49-F238E27FC236}">
                <a16:creationId xmlns:a16="http://schemas.microsoft.com/office/drawing/2014/main" id="{321F3D2B-731A-DD44-8C34-B3C72769EA91}"/>
              </a:ext>
            </a:extLst>
          </p:cNvPr>
          <p:cNvSpPr>
            <a:spLocks noGrp="1" noChangeArrowheads="1"/>
          </p:cNvSpPr>
          <p:nvPr>
            <p:ph type="title"/>
          </p:nvPr>
        </p:nvSpPr>
        <p:spPr>
          <a:xfrm>
            <a:off x="1524000" y="304800"/>
            <a:ext cx="9372600" cy="685800"/>
          </a:xfrm>
          <a:ln>
            <a:miter lim="800000"/>
            <a:headEnd/>
            <a:tailEnd/>
          </a:ln>
        </p:spPr>
        <p:txBody>
          <a:bodyPr vert="horz" lIns="92075" tIns="46038" rIns="92075" bIns="46038" rtlCol="0" anchor="ctr">
            <a:normAutofit fontScale="90000"/>
          </a:bodyPr>
          <a:lstStyle/>
          <a:p>
            <a:pPr>
              <a:lnSpc>
                <a:spcPct val="150000"/>
              </a:lnSpc>
              <a:spcBef>
                <a:spcPts val="1000"/>
              </a:spcBef>
              <a:defRPr/>
            </a:pPr>
            <a:r>
              <a:rPr lang="en-US" b="1" dirty="0">
                <a:ea typeface="+mn-ea"/>
                <a:cs typeface="+mn-cs"/>
              </a:rPr>
              <a:t>Example - Market Analysis and Management</a:t>
            </a:r>
          </a:p>
        </p:txBody>
      </p:sp>
      <p:sp>
        <p:nvSpPr>
          <p:cNvPr id="10244" name="Rectangle 1027">
            <a:extLst>
              <a:ext uri="{FF2B5EF4-FFF2-40B4-BE49-F238E27FC236}">
                <a16:creationId xmlns:a16="http://schemas.microsoft.com/office/drawing/2014/main" id="{7C306E5D-31F3-AC42-B3CB-30152FFB7D84}"/>
              </a:ext>
            </a:extLst>
          </p:cNvPr>
          <p:cNvSpPr>
            <a:spLocks noGrp="1" noChangeArrowheads="1"/>
          </p:cNvSpPr>
          <p:nvPr>
            <p:ph type="body" idx="1"/>
          </p:nvPr>
        </p:nvSpPr>
        <p:spPr>
          <a:xfrm>
            <a:off x="389467" y="1111250"/>
            <a:ext cx="11218333" cy="5441950"/>
          </a:xfrm>
          <a:noFill/>
        </p:spPr>
        <p:txBody>
          <a:bodyPr vert="horz" lIns="92075" tIns="46038" rIns="92075" bIns="46038" rtlCol="0">
            <a:normAutofit/>
          </a:bodyPr>
          <a:lstStyle/>
          <a:p>
            <a:pPr eaLnBrk="1" hangingPunct="1">
              <a:lnSpc>
                <a:spcPct val="110000"/>
              </a:lnSpc>
            </a:pPr>
            <a:r>
              <a:rPr lang="en-US" altLang="en-IL" sz="2200" b="1" dirty="0">
                <a:cs typeface="맑은 고딕" panose="020B0503020000020004" pitchFamily="34" charset="-127"/>
              </a:rPr>
              <a:t>Customer requirement analysis</a:t>
            </a:r>
          </a:p>
          <a:p>
            <a:pPr marL="457200" lvl="1" indent="0" eaLnBrk="1" hangingPunct="1">
              <a:lnSpc>
                <a:spcPct val="110000"/>
              </a:lnSpc>
              <a:buNone/>
            </a:pPr>
            <a:r>
              <a:rPr lang="en-US" altLang="en-IL" sz="2000" dirty="0">
                <a:cs typeface="맑은 고딕" panose="020B0503020000020004" pitchFamily="34" charset="-127"/>
              </a:rPr>
              <a:t>Identify the best products for different customer, Predict what factors will attract new customers</a:t>
            </a:r>
          </a:p>
          <a:p>
            <a:pPr eaLnBrk="1" hangingPunct="1">
              <a:lnSpc>
                <a:spcPct val="110000"/>
              </a:lnSpc>
            </a:pPr>
            <a:r>
              <a:rPr lang="en-US" altLang="en-IL" sz="2200" b="1" dirty="0">
                <a:cs typeface="맑은 고딕" panose="020B0503020000020004" pitchFamily="34" charset="-127"/>
              </a:rPr>
              <a:t>Summary information</a:t>
            </a:r>
          </a:p>
          <a:p>
            <a:pPr lvl="1" eaLnBrk="1" hangingPunct="1">
              <a:lnSpc>
                <a:spcPct val="110000"/>
              </a:lnSpc>
            </a:pPr>
            <a:r>
              <a:rPr lang="en-US" altLang="en-IL" sz="2000" dirty="0">
                <a:cs typeface="맑은 고딕" panose="020B0503020000020004" pitchFamily="34" charset="-127"/>
              </a:rPr>
              <a:t>Multidimensional summary reports</a:t>
            </a:r>
          </a:p>
          <a:p>
            <a:pPr lvl="2" eaLnBrk="1" hangingPunct="1">
              <a:lnSpc>
                <a:spcPct val="110000"/>
              </a:lnSpc>
            </a:pPr>
            <a:r>
              <a:rPr lang="en-US" altLang="en-IL" dirty="0">
                <a:cs typeface="맑은 고딕" panose="020B0503020000020004" pitchFamily="34" charset="-127"/>
              </a:rPr>
              <a:t>Summarize all transactions of the first quarter from three different branches</a:t>
            </a:r>
          </a:p>
          <a:p>
            <a:pPr lvl="2" eaLnBrk="1" hangingPunct="1">
              <a:lnSpc>
                <a:spcPct val="110000"/>
              </a:lnSpc>
            </a:pPr>
            <a:r>
              <a:rPr lang="en-US" altLang="en-IL" dirty="0">
                <a:cs typeface="맑은 고딕" panose="020B0503020000020004" pitchFamily="34" charset="-127"/>
              </a:rPr>
              <a:t>Summarize all transactions of last year from a particular branch</a:t>
            </a:r>
          </a:p>
          <a:p>
            <a:pPr lvl="1" eaLnBrk="1" hangingPunct="1">
              <a:lnSpc>
                <a:spcPct val="110000"/>
              </a:lnSpc>
            </a:pPr>
            <a:r>
              <a:rPr lang="en-US" altLang="en-IL" sz="2000" dirty="0">
                <a:cs typeface="맑은 고딕" panose="020B0503020000020004" pitchFamily="34" charset="-127"/>
              </a:rPr>
              <a:t>Statistical summary information</a:t>
            </a:r>
          </a:p>
          <a:p>
            <a:pPr lvl="2" eaLnBrk="1" hangingPunct="1">
              <a:lnSpc>
                <a:spcPct val="110000"/>
              </a:lnSpc>
            </a:pPr>
            <a:r>
              <a:rPr lang="en-US" altLang="en-IL" dirty="0">
                <a:cs typeface="맑은 고딕" panose="020B0503020000020004" pitchFamily="34" charset="-127"/>
              </a:rPr>
              <a:t>What is the average age for customers who buy product A?</a:t>
            </a:r>
          </a:p>
          <a:p>
            <a:pPr eaLnBrk="1" hangingPunct="1">
              <a:lnSpc>
                <a:spcPct val="110000"/>
              </a:lnSpc>
            </a:pPr>
            <a:r>
              <a:rPr lang="en-US" altLang="en-IL" sz="2200" b="1" dirty="0">
                <a:cs typeface="맑은 고딕" panose="020B0503020000020004" pitchFamily="34" charset="-127"/>
              </a:rPr>
              <a:t>Fraud detection</a:t>
            </a:r>
            <a:r>
              <a:rPr lang="en-US" altLang="en-IL" sz="2200" dirty="0">
                <a:cs typeface="맑은 고딕" panose="020B0503020000020004" pitchFamily="34" charset="-127"/>
              </a:rPr>
              <a:t>: find outliers of unusual transactions</a:t>
            </a:r>
          </a:p>
          <a:p>
            <a:pPr eaLnBrk="1" hangingPunct="1">
              <a:lnSpc>
                <a:spcPct val="110000"/>
              </a:lnSpc>
            </a:pPr>
            <a:r>
              <a:rPr lang="en-US" altLang="en-IL" sz="2200" b="1" dirty="0">
                <a:cs typeface="맑은 고딕" panose="020B0503020000020004" pitchFamily="34" charset="-127"/>
              </a:rPr>
              <a:t>Financial planning</a:t>
            </a:r>
            <a:r>
              <a:rPr lang="en-US" altLang="en-IL" sz="2200" dirty="0">
                <a:cs typeface="맑은 고딕" panose="020B0503020000020004" pitchFamily="34" charset="-127"/>
              </a:rPr>
              <a:t>: summarize and compare the resources and spending</a:t>
            </a:r>
          </a:p>
          <a:p>
            <a:pPr lvl="1" eaLnBrk="1" hangingPunct="1">
              <a:lnSpc>
                <a:spcPct val="110000"/>
              </a:lnSpc>
            </a:pPr>
            <a:endParaRPr lang="en-US" altLang="en-IL" sz="1600" dirty="0">
              <a:cs typeface="맑은 고딕" panose="020B0503020000020004" pitchFamily="34" charset="-127"/>
            </a:endParaRPr>
          </a:p>
        </p:txBody>
      </p:sp>
      <p:sp>
        <p:nvSpPr>
          <p:cNvPr id="8" name="Footer Placeholder 4">
            <a:extLst>
              <a:ext uri="{FF2B5EF4-FFF2-40B4-BE49-F238E27FC236}">
                <a16:creationId xmlns:a16="http://schemas.microsoft.com/office/drawing/2014/main" id="{22401D3A-063B-BB45-9402-8D8C2CDEBC4E}"/>
              </a:ext>
            </a:extLst>
          </p:cNvPr>
          <p:cNvSpPr>
            <a:spLocks noGrp="1"/>
          </p:cNvSpPr>
          <p:nvPr>
            <p:ph type="ftr" sz="quarter" idx="11"/>
          </p:nvPr>
        </p:nvSpPr>
        <p:spPr/>
        <p:txBody>
          <a:bodyPr/>
          <a:lstStyle/>
          <a:p>
            <a:pPr>
              <a:defRPr/>
            </a:pPr>
            <a:r>
              <a:rPr lang="en-US"/>
              <a:t>Or Peretz</a:t>
            </a:r>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AAE504C-322A-6B43-972B-89096D78D686}"/>
              </a:ext>
            </a:extLst>
          </p:cNvPr>
          <p:cNvSpPr>
            <a:spLocks noGrp="1"/>
          </p:cNvSpPr>
          <p:nvPr>
            <p:ph type="ftr" sz="quarter" idx="11"/>
          </p:nvPr>
        </p:nvSpPr>
        <p:spPr/>
        <p:txBody>
          <a:bodyPr/>
          <a:lstStyle/>
          <a:p>
            <a:pPr>
              <a:defRPr/>
            </a:pPr>
            <a:r>
              <a:rPr lang="en-US"/>
              <a:t>Or Peretz</a:t>
            </a:r>
          </a:p>
        </p:txBody>
      </p:sp>
      <p:sp>
        <p:nvSpPr>
          <p:cNvPr id="6" name="Slide Number Placeholder 5">
            <a:extLst>
              <a:ext uri="{FF2B5EF4-FFF2-40B4-BE49-F238E27FC236}">
                <a16:creationId xmlns:a16="http://schemas.microsoft.com/office/drawing/2014/main" id="{49298596-FE7D-914E-B455-BB69357C5B6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1pPr>
            <a:lvl2pPr marL="742950" indent="-28575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2pPr>
            <a:lvl3pPr marL="11430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3pPr>
            <a:lvl4pPr marL="16002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4pPr>
            <a:lvl5pPr marL="2057400" indent="-228600" eaLnBrk="0" hangingPunct="0">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맑은 고딕" panose="020B0503020000020004" pitchFamily="34" charset="-127"/>
                <a:cs typeface="맑은 고딕" panose="020B0503020000020004" pitchFamily="34" charset="-127"/>
              </a:defRPr>
            </a:lvl9pPr>
          </a:lstStyle>
          <a:p>
            <a:pPr eaLnBrk="1" hangingPunct="1"/>
            <a:fld id="{B5E4C01A-778F-874D-9A17-C1B640FEA17A}" type="slidenum">
              <a:rPr lang="en-US" altLang="en-IL">
                <a:solidFill>
                  <a:srgbClr val="898989"/>
                </a:solidFill>
                <a:latin typeface="Tahoma" panose="020B0604030504040204" pitchFamily="34" charset="0"/>
              </a:rPr>
              <a:pPr eaLnBrk="1" hangingPunct="1"/>
              <a:t>34</a:t>
            </a:fld>
            <a:endParaRPr lang="en-US" altLang="en-IL">
              <a:solidFill>
                <a:srgbClr val="898989"/>
              </a:solidFill>
              <a:latin typeface="Tahoma" panose="020B0604030504040204" pitchFamily="34" charset="0"/>
            </a:endParaRPr>
          </a:p>
        </p:txBody>
      </p:sp>
      <p:sp>
        <p:nvSpPr>
          <p:cNvPr id="689154" name="Rectangle 2">
            <a:extLst>
              <a:ext uri="{FF2B5EF4-FFF2-40B4-BE49-F238E27FC236}">
                <a16:creationId xmlns:a16="http://schemas.microsoft.com/office/drawing/2014/main" id="{456AC568-4216-EB48-A3AD-194779DE95BE}"/>
              </a:ext>
            </a:extLst>
          </p:cNvPr>
          <p:cNvSpPr>
            <a:spLocks noGrp="1" noChangeArrowheads="1"/>
          </p:cNvSpPr>
          <p:nvPr>
            <p:ph type="title"/>
          </p:nvPr>
        </p:nvSpPr>
        <p:spPr>
          <a:xfrm>
            <a:off x="1752600" y="381000"/>
            <a:ext cx="8686800" cy="685800"/>
          </a:xfrm>
          <a:ln>
            <a:miter lim="800000"/>
            <a:headEnd/>
            <a:tailEnd/>
          </a:ln>
        </p:spPr>
        <p:txBody>
          <a:bodyPr vert="horz" lIns="92075" tIns="46038" rIns="92075" bIns="46038" rtlCol="0" anchor="ctr">
            <a:normAutofit fontScale="90000"/>
          </a:bodyPr>
          <a:lstStyle/>
          <a:p>
            <a:pPr eaLnBrk="1" hangingPunct="1">
              <a:defRPr/>
            </a:pPr>
            <a:r>
              <a:rPr lang="en-US" b="1" dirty="0"/>
              <a:t>Types of Data</a:t>
            </a:r>
          </a:p>
        </p:txBody>
      </p:sp>
      <p:sp>
        <p:nvSpPr>
          <p:cNvPr id="17413" name="Rectangle 3">
            <a:extLst>
              <a:ext uri="{FF2B5EF4-FFF2-40B4-BE49-F238E27FC236}">
                <a16:creationId xmlns:a16="http://schemas.microsoft.com/office/drawing/2014/main" id="{7FB3A8CD-D426-ED4B-8EE8-14496FC83F61}"/>
              </a:ext>
            </a:extLst>
          </p:cNvPr>
          <p:cNvSpPr>
            <a:spLocks noGrp="1" noChangeArrowheads="1"/>
          </p:cNvSpPr>
          <p:nvPr>
            <p:ph type="body" idx="1"/>
          </p:nvPr>
        </p:nvSpPr>
        <p:spPr>
          <a:xfrm>
            <a:off x="804333" y="1151467"/>
            <a:ext cx="9905999" cy="5150908"/>
          </a:xfrm>
          <a:noFill/>
        </p:spPr>
        <p:txBody>
          <a:bodyPr vert="horz" lIns="92075" tIns="46038" rIns="92075" bIns="46038" rtlCol="0">
            <a:normAutofit/>
          </a:bodyPr>
          <a:lstStyle/>
          <a:p>
            <a:pPr marL="0" indent="0" eaLnBrk="1" hangingPunct="1">
              <a:lnSpc>
                <a:spcPct val="130000"/>
              </a:lnSpc>
              <a:buNone/>
            </a:pPr>
            <a:r>
              <a:rPr lang="en-US" altLang="en-IL" sz="2200" dirty="0">
                <a:cs typeface="맑은 고딕" panose="020B0503020000020004" pitchFamily="34" charset="-127"/>
              </a:rPr>
              <a:t>Database-oriented data sets and applications</a:t>
            </a:r>
          </a:p>
          <a:p>
            <a:pPr lvl="1" eaLnBrk="1" hangingPunct="1">
              <a:lnSpc>
                <a:spcPct val="130000"/>
              </a:lnSpc>
            </a:pPr>
            <a:r>
              <a:rPr lang="en-US" altLang="en-IL" sz="2200" dirty="0">
                <a:cs typeface="맑은 고딕" panose="020B0503020000020004" pitchFamily="34" charset="-127"/>
              </a:rPr>
              <a:t>Relational database, data warehouse, transactional database</a:t>
            </a:r>
          </a:p>
          <a:p>
            <a:pPr marL="0" indent="0" eaLnBrk="1" hangingPunct="1">
              <a:lnSpc>
                <a:spcPct val="130000"/>
              </a:lnSpc>
              <a:buNone/>
            </a:pPr>
            <a:r>
              <a:rPr lang="en-US" altLang="en-IL" sz="2200" dirty="0">
                <a:cs typeface="맑은 고딕" panose="020B0503020000020004" pitchFamily="34" charset="-127"/>
              </a:rPr>
              <a:t>Advanced data sets and advanced applications </a:t>
            </a:r>
          </a:p>
          <a:p>
            <a:pPr lvl="1" eaLnBrk="1" hangingPunct="1">
              <a:lnSpc>
                <a:spcPct val="130000"/>
              </a:lnSpc>
            </a:pPr>
            <a:r>
              <a:rPr lang="en-US" altLang="en-IL" sz="2200" dirty="0">
                <a:cs typeface="맑은 고딕" panose="020B0503020000020004" pitchFamily="34" charset="-127"/>
              </a:rPr>
              <a:t>Object-Relational Databases</a:t>
            </a:r>
          </a:p>
          <a:p>
            <a:pPr lvl="1" eaLnBrk="1" hangingPunct="1">
              <a:lnSpc>
                <a:spcPct val="130000"/>
              </a:lnSpc>
            </a:pPr>
            <a:r>
              <a:rPr lang="en-US" altLang="en-IL" sz="2200" dirty="0">
                <a:cs typeface="맑은 고딕" panose="020B0503020000020004" pitchFamily="34" charset="-127"/>
              </a:rPr>
              <a:t>Time-Series databases</a:t>
            </a:r>
          </a:p>
          <a:p>
            <a:pPr lvl="1" eaLnBrk="1" hangingPunct="1">
              <a:lnSpc>
                <a:spcPct val="130000"/>
              </a:lnSpc>
            </a:pPr>
            <a:r>
              <a:rPr lang="en-US" altLang="en-IL" sz="2200" dirty="0">
                <a:cs typeface="맑은 고딕" panose="020B0503020000020004" pitchFamily="34" charset="-127"/>
              </a:rPr>
              <a:t>Spatial Databases </a:t>
            </a:r>
          </a:p>
          <a:p>
            <a:pPr lvl="1" eaLnBrk="1" hangingPunct="1">
              <a:lnSpc>
                <a:spcPct val="130000"/>
              </a:lnSpc>
            </a:pPr>
            <a:r>
              <a:rPr lang="en-US" altLang="en-IL" sz="2200" dirty="0">
                <a:cs typeface="맑은 고딕" panose="020B0503020000020004" pitchFamily="34" charset="-127"/>
              </a:rPr>
              <a:t>Text databases and Multimedia databases</a:t>
            </a:r>
          </a:p>
          <a:p>
            <a:pPr lvl="1" eaLnBrk="1" hangingPunct="1">
              <a:lnSpc>
                <a:spcPct val="130000"/>
              </a:lnSpc>
            </a:pPr>
            <a:r>
              <a:rPr lang="en-US" altLang="en-IL" sz="2200" dirty="0">
                <a:cs typeface="맑은 고딕" panose="020B0503020000020004" pitchFamily="34" charset="-127"/>
              </a:rPr>
              <a:t>Data Streams</a:t>
            </a:r>
          </a:p>
          <a:p>
            <a:pPr lvl="1" eaLnBrk="1" hangingPunct="1">
              <a:lnSpc>
                <a:spcPct val="130000"/>
              </a:lnSpc>
            </a:pPr>
            <a:r>
              <a:rPr lang="en-US" altLang="en-IL" sz="2200" dirty="0">
                <a:cs typeface="맑은 고딕" panose="020B0503020000020004" pitchFamily="34" charset="-127"/>
              </a:rPr>
              <a:t>The World-Wide Web</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2057400" y="228600"/>
            <a:ext cx="8001000" cy="1219200"/>
          </a:xfrm>
        </p:spPr>
        <p:txBody>
          <a:bodyPr>
            <a:normAutofit/>
          </a:bodyPr>
          <a:lstStyle/>
          <a:p>
            <a:pPr algn="ctr">
              <a:defRPr/>
            </a:pPr>
            <a:r>
              <a:rPr lang="en-US" sz="3200" b="1" dirty="0">
                <a:latin typeface="+mn-lt"/>
              </a:rPr>
              <a:t>Data Mining Models and Tasks</a:t>
            </a:r>
          </a:p>
        </p:txBody>
      </p:sp>
      <p:sp>
        <p:nvSpPr>
          <p:cNvPr id="2" name="Rounded Rectangle 1">
            <a:extLst>
              <a:ext uri="{FF2B5EF4-FFF2-40B4-BE49-F238E27FC236}">
                <a16:creationId xmlns:a16="http://schemas.microsoft.com/office/drawing/2014/main" id="{1C3A7EEB-39ED-844A-87A5-143039617593}"/>
              </a:ext>
            </a:extLst>
          </p:cNvPr>
          <p:cNvSpPr/>
          <p:nvPr/>
        </p:nvSpPr>
        <p:spPr>
          <a:xfrm>
            <a:off x="4334933" y="1803400"/>
            <a:ext cx="31750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Data Mining</a:t>
            </a:r>
          </a:p>
        </p:txBody>
      </p:sp>
      <p:sp>
        <p:nvSpPr>
          <p:cNvPr id="5" name="Rounded Rectangle 4">
            <a:extLst>
              <a:ext uri="{FF2B5EF4-FFF2-40B4-BE49-F238E27FC236}">
                <a16:creationId xmlns:a16="http://schemas.microsoft.com/office/drawing/2014/main" id="{F2843158-278A-1F4B-97A1-E5DE3550C993}"/>
              </a:ext>
            </a:extLst>
          </p:cNvPr>
          <p:cNvSpPr/>
          <p:nvPr/>
        </p:nvSpPr>
        <p:spPr>
          <a:xfrm>
            <a:off x="1998133" y="2895600"/>
            <a:ext cx="3175000" cy="5334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Predictive</a:t>
            </a:r>
          </a:p>
        </p:txBody>
      </p:sp>
      <p:sp>
        <p:nvSpPr>
          <p:cNvPr id="6" name="Rounded Rectangle 5">
            <a:extLst>
              <a:ext uri="{FF2B5EF4-FFF2-40B4-BE49-F238E27FC236}">
                <a16:creationId xmlns:a16="http://schemas.microsoft.com/office/drawing/2014/main" id="{BF4C8EA6-41CD-E24B-B59A-947F246295ED}"/>
              </a:ext>
            </a:extLst>
          </p:cNvPr>
          <p:cNvSpPr/>
          <p:nvPr/>
        </p:nvSpPr>
        <p:spPr>
          <a:xfrm>
            <a:off x="6604000" y="2895600"/>
            <a:ext cx="3175000" cy="5334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Descriptive</a:t>
            </a:r>
          </a:p>
        </p:txBody>
      </p:sp>
      <p:sp>
        <p:nvSpPr>
          <p:cNvPr id="7" name="Rounded Rectangle 6">
            <a:extLst>
              <a:ext uri="{FF2B5EF4-FFF2-40B4-BE49-F238E27FC236}">
                <a16:creationId xmlns:a16="http://schemas.microsoft.com/office/drawing/2014/main" id="{B8F1988A-3709-6E48-A104-04201A6B7DB8}"/>
              </a:ext>
            </a:extLst>
          </p:cNvPr>
          <p:cNvSpPr/>
          <p:nvPr/>
        </p:nvSpPr>
        <p:spPr>
          <a:xfrm>
            <a:off x="694267" y="4512734"/>
            <a:ext cx="1727200" cy="922866"/>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Classification</a:t>
            </a:r>
          </a:p>
        </p:txBody>
      </p:sp>
      <p:sp>
        <p:nvSpPr>
          <p:cNvPr id="8" name="Rounded Rectangle 7">
            <a:extLst>
              <a:ext uri="{FF2B5EF4-FFF2-40B4-BE49-F238E27FC236}">
                <a16:creationId xmlns:a16="http://schemas.microsoft.com/office/drawing/2014/main" id="{C8E491FD-2E1A-3547-AB28-644B749813C0}"/>
              </a:ext>
            </a:extLst>
          </p:cNvPr>
          <p:cNvSpPr/>
          <p:nvPr/>
        </p:nvSpPr>
        <p:spPr>
          <a:xfrm>
            <a:off x="2607733" y="4512734"/>
            <a:ext cx="1727200" cy="922866"/>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Regression</a:t>
            </a:r>
          </a:p>
        </p:txBody>
      </p:sp>
      <p:sp>
        <p:nvSpPr>
          <p:cNvPr id="9" name="Rounded Rectangle 8">
            <a:extLst>
              <a:ext uri="{FF2B5EF4-FFF2-40B4-BE49-F238E27FC236}">
                <a16:creationId xmlns:a16="http://schemas.microsoft.com/office/drawing/2014/main" id="{0CA1296F-2BA6-D749-BF98-0DA0460EA273}"/>
              </a:ext>
            </a:extLst>
          </p:cNvPr>
          <p:cNvSpPr/>
          <p:nvPr/>
        </p:nvSpPr>
        <p:spPr>
          <a:xfrm>
            <a:off x="4639733" y="4512734"/>
            <a:ext cx="1727200" cy="922866"/>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TSA</a:t>
            </a:r>
          </a:p>
        </p:txBody>
      </p:sp>
      <p:sp>
        <p:nvSpPr>
          <p:cNvPr id="10" name="Rounded Rectangle 9">
            <a:extLst>
              <a:ext uri="{FF2B5EF4-FFF2-40B4-BE49-F238E27FC236}">
                <a16:creationId xmlns:a16="http://schemas.microsoft.com/office/drawing/2014/main" id="{867BF5B7-BB1E-2541-8A48-60EAA0034166}"/>
              </a:ext>
            </a:extLst>
          </p:cNvPr>
          <p:cNvSpPr/>
          <p:nvPr/>
        </p:nvSpPr>
        <p:spPr>
          <a:xfrm>
            <a:off x="7171266" y="4512734"/>
            <a:ext cx="1727200" cy="922866"/>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Clustering</a:t>
            </a:r>
          </a:p>
        </p:txBody>
      </p:sp>
      <p:sp>
        <p:nvSpPr>
          <p:cNvPr id="11" name="Rounded Rectangle 10">
            <a:extLst>
              <a:ext uri="{FF2B5EF4-FFF2-40B4-BE49-F238E27FC236}">
                <a16:creationId xmlns:a16="http://schemas.microsoft.com/office/drawing/2014/main" id="{C4FC939B-CAEB-7D47-9BA0-88B89AFDBC14}"/>
              </a:ext>
            </a:extLst>
          </p:cNvPr>
          <p:cNvSpPr/>
          <p:nvPr/>
        </p:nvSpPr>
        <p:spPr>
          <a:xfrm>
            <a:off x="9398000" y="4512734"/>
            <a:ext cx="1727200" cy="922866"/>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Association </a:t>
            </a:r>
            <a:br>
              <a:rPr lang="en-IL" dirty="0"/>
            </a:br>
            <a:r>
              <a:rPr lang="en-IL" dirty="0"/>
              <a:t>Rules</a:t>
            </a:r>
          </a:p>
        </p:txBody>
      </p:sp>
      <p:cxnSp>
        <p:nvCxnSpPr>
          <p:cNvPr id="4" name="Straight Arrow Connector 3">
            <a:extLst>
              <a:ext uri="{FF2B5EF4-FFF2-40B4-BE49-F238E27FC236}">
                <a16:creationId xmlns:a16="http://schemas.microsoft.com/office/drawing/2014/main" id="{AB06E566-8F90-A94C-BF71-16A0B2ABBE2F}"/>
              </a:ext>
            </a:extLst>
          </p:cNvPr>
          <p:cNvCxnSpPr>
            <a:stCxn id="2" idx="2"/>
            <a:endCxn id="5" idx="0"/>
          </p:cNvCxnSpPr>
          <p:nvPr/>
        </p:nvCxnSpPr>
        <p:spPr>
          <a:xfrm flipH="1">
            <a:off x="3585633" y="2336800"/>
            <a:ext cx="2336800" cy="558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AE2503C6-B280-2547-88DE-238F7AEEFE15}"/>
              </a:ext>
            </a:extLst>
          </p:cNvPr>
          <p:cNvCxnSpPr>
            <a:stCxn id="2" idx="2"/>
            <a:endCxn id="6" idx="0"/>
          </p:cNvCxnSpPr>
          <p:nvPr/>
        </p:nvCxnSpPr>
        <p:spPr>
          <a:xfrm>
            <a:off x="5922433" y="2336800"/>
            <a:ext cx="2269067" cy="558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A758C80D-44ED-0343-B99A-A27F653D81F9}"/>
              </a:ext>
            </a:extLst>
          </p:cNvPr>
          <p:cNvCxnSpPr>
            <a:stCxn id="5" idx="2"/>
            <a:endCxn id="7" idx="0"/>
          </p:cNvCxnSpPr>
          <p:nvPr/>
        </p:nvCxnSpPr>
        <p:spPr>
          <a:xfrm flipH="1">
            <a:off x="1557867" y="3429000"/>
            <a:ext cx="2027766" cy="1083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9DCAC82-4EDB-2748-A2D4-C7521B95BD39}"/>
              </a:ext>
            </a:extLst>
          </p:cNvPr>
          <p:cNvCxnSpPr>
            <a:stCxn id="5" idx="2"/>
            <a:endCxn id="8" idx="0"/>
          </p:cNvCxnSpPr>
          <p:nvPr/>
        </p:nvCxnSpPr>
        <p:spPr>
          <a:xfrm flipH="1">
            <a:off x="3471333" y="3429000"/>
            <a:ext cx="114300" cy="1083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490F1F2-AAA8-8B4B-A647-1D9191344C8E}"/>
              </a:ext>
            </a:extLst>
          </p:cNvPr>
          <p:cNvCxnSpPr>
            <a:stCxn id="5" idx="2"/>
            <a:endCxn id="9" idx="0"/>
          </p:cNvCxnSpPr>
          <p:nvPr/>
        </p:nvCxnSpPr>
        <p:spPr>
          <a:xfrm>
            <a:off x="3585633" y="3429000"/>
            <a:ext cx="1917700" cy="1083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2DAF28F-8BCE-9046-BFBC-AF50D047EE1C}"/>
              </a:ext>
            </a:extLst>
          </p:cNvPr>
          <p:cNvCxnSpPr>
            <a:stCxn id="6" idx="2"/>
            <a:endCxn id="10" idx="0"/>
          </p:cNvCxnSpPr>
          <p:nvPr/>
        </p:nvCxnSpPr>
        <p:spPr>
          <a:xfrm flipH="1">
            <a:off x="8034866" y="3429000"/>
            <a:ext cx="156634" cy="1083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A5838BF-DC8E-FC40-8277-310225C1AD7A}"/>
              </a:ext>
            </a:extLst>
          </p:cNvPr>
          <p:cNvCxnSpPr>
            <a:cxnSpLocks/>
            <a:stCxn id="6" idx="2"/>
            <a:endCxn id="11" idx="0"/>
          </p:cNvCxnSpPr>
          <p:nvPr/>
        </p:nvCxnSpPr>
        <p:spPr>
          <a:xfrm>
            <a:off x="8191500" y="3429000"/>
            <a:ext cx="2070100" cy="1083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Footer Placeholder 4">
            <a:extLst>
              <a:ext uri="{FF2B5EF4-FFF2-40B4-BE49-F238E27FC236}">
                <a16:creationId xmlns:a16="http://schemas.microsoft.com/office/drawing/2014/main" id="{4AB88D75-8AAC-8645-87DC-48E497D9F5FE}"/>
              </a:ext>
            </a:extLst>
          </p:cNvPr>
          <p:cNvSpPr>
            <a:spLocks noGrp="1"/>
          </p:cNvSpPr>
          <p:nvPr>
            <p:ph type="ftr" sz="quarter" idx="11"/>
          </p:nvPr>
        </p:nvSpPr>
        <p:spPr>
          <a:xfrm>
            <a:off x="4038600" y="6356350"/>
            <a:ext cx="4114800" cy="365125"/>
          </a:xfrm>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1435161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SQL – DML and DDL </a:t>
            </a:r>
          </a:p>
        </p:txBody>
      </p:sp>
    </p:spTree>
    <p:extLst>
      <p:ext uri="{BB962C8B-B14F-4D97-AF65-F5344CB8AC3E}">
        <p14:creationId xmlns:p14="http://schemas.microsoft.com/office/powerpoint/2010/main" val="3367268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body" idx="1"/>
          </p:nvPr>
        </p:nvSpPr>
        <p:spPr>
          <a:xfrm>
            <a:off x="1040333" y="1332499"/>
            <a:ext cx="10251600" cy="3014800"/>
          </a:xfrm>
          <a:prstGeom prst="rect">
            <a:avLst/>
          </a:prstGeom>
        </p:spPr>
        <p:txBody>
          <a:bodyPr spcFirstLastPara="1" vert="horz" wrap="square" lIns="121900" tIns="121900" rIns="121900" bIns="121900" rtlCol="0" anchor="t" anchorCtr="0">
            <a:noAutofit/>
          </a:bodyPr>
          <a:lstStyle/>
          <a:p>
            <a:pPr>
              <a:lnSpc>
                <a:spcPct val="150000"/>
              </a:lnSpc>
              <a:buChar char="➔"/>
            </a:pPr>
            <a:r>
              <a:rPr lang="en" sz="2400" dirty="0"/>
              <a:t>Query Language </a:t>
            </a:r>
            <a:endParaRPr sz="2400" dirty="0"/>
          </a:p>
          <a:p>
            <a:pPr>
              <a:lnSpc>
                <a:spcPct val="150000"/>
              </a:lnSpc>
              <a:spcBef>
                <a:spcPts val="1333"/>
              </a:spcBef>
              <a:buChar char="➔"/>
            </a:pPr>
            <a:r>
              <a:rPr lang="en" sz="2400" dirty="0"/>
              <a:t>Table Oriented</a:t>
            </a:r>
            <a:endParaRPr sz="2400" dirty="0"/>
          </a:p>
          <a:p>
            <a:pPr>
              <a:lnSpc>
                <a:spcPct val="150000"/>
              </a:lnSpc>
              <a:spcBef>
                <a:spcPts val="1333"/>
              </a:spcBef>
              <a:buChar char="➔"/>
            </a:pPr>
            <a:r>
              <a:rPr lang="en" sz="2400" dirty="0"/>
              <a:t>Fast and Easy access to our data</a:t>
            </a:r>
            <a:endParaRPr sz="2400" dirty="0"/>
          </a:p>
          <a:p>
            <a:pPr>
              <a:lnSpc>
                <a:spcPct val="150000"/>
              </a:lnSpc>
              <a:spcBef>
                <a:spcPts val="1333"/>
              </a:spcBef>
              <a:buChar char="➔"/>
            </a:pPr>
            <a:r>
              <a:rPr lang="en" sz="2400" dirty="0"/>
              <a:t>CRUD - Create, Read, Update, Delete</a:t>
            </a:r>
            <a:endParaRPr sz="2400" dirty="0"/>
          </a:p>
          <a:p>
            <a:pPr marL="0" indent="0">
              <a:lnSpc>
                <a:spcPct val="150000"/>
              </a:lnSpc>
              <a:spcBef>
                <a:spcPts val="1333"/>
              </a:spcBef>
              <a:spcAft>
                <a:spcPts val="1333"/>
              </a:spcAft>
              <a:buNone/>
            </a:pPr>
            <a:endParaRPr sz="2400" dirty="0"/>
          </a:p>
        </p:txBody>
      </p:sp>
      <p:sp>
        <p:nvSpPr>
          <p:cNvPr id="155" name="Google Shape;155;p20"/>
          <p:cNvSpPr txBox="1">
            <a:spLocks noGrp="1"/>
          </p:cNvSpPr>
          <p:nvPr>
            <p:ph type="title"/>
          </p:nvPr>
        </p:nvSpPr>
        <p:spPr>
          <a:xfrm>
            <a:off x="854067" y="902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SQL - Structured Query Language</a:t>
            </a:r>
            <a:endParaRPr sz="3200" b="1"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4C5F61E3-922D-254C-8ED4-1B6CC50E5D16}"/>
              </a:ext>
            </a:extLst>
          </p:cNvPr>
          <p:cNvSpPr>
            <a:spLocks noGrp="1"/>
          </p:cNvSpPr>
          <p:nvPr>
            <p:ph type="sldNum" idx="12"/>
          </p:nvPr>
        </p:nvSpPr>
        <p:spPr/>
        <p:txBody>
          <a:bodyPr/>
          <a:lstStyle/>
          <a:p>
            <a:fld id="{00000000-1234-1234-1234-123412341234}" type="slidenum">
              <a:rPr lang="en" smtClean="0"/>
              <a:pPr/>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a:spLocks noGrp="1"/>
          </p:cNvSpPr>
          <p:nvPr>
            <p:ph type="title"/>
          </p:nvPr>
        </p:nvSpPr>
        <p:spPr>
          <a:xfrm>
            <a:off x="973333" y="1758200"/>
            <a:ext cx="4401200" cy="2249600"/>
          </a:xfrm>
          <a:prstGeom prst="rect">
            <a:avLst/>
          </a:prstGeom>
        </p:spPr>
        <p:txBody>
          <a:bodyPr spcFirstLastPara="1" vert="horz" wrap="square" lIns="121900" tIns="121900" rIns="121900" bIns="121900" rtlCol="0" anchor="t" anchorCtr="0">
            <a:noAutofit/>
          </a:bodyPr>
          <a:lstStyle/>
          <a:p>
            <a:r>
              <a:rPr lang="en" dirty="0"/>
              <a:t>SQL</a:t>
            </a:r>
            <a:endParaRPr dirty="0"/>
          </a:p>
          <a:p>
            <a:endParaRPr dirty="0"/>
          </a:p>
        </p:txBody>
      </p:sp>
      <p:sp>
        <p:nvSpPr>
          <p:cNvPr id="161" name="Google Shape;161;p21"/>
          <p:cNvSpPr txBox="1">
            <a:spLocks noGrp="1"/>
          </p:cNvSpPr>
          <p:nvPr>
            <p:ph type="body" idx="2"/>
          </p:nvPr>
        </p:nvSpPr>
        <p:spPr>
          <a:xfrm>
            <a:off x="6370533" y="-153667"/>
            <a:ext cx="5466000" cy="5758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endParaRPr sz="2400" dirty="0"/>
          </a:p>
          <a:p>
            <a:pPr marL="169329" indent="0">
              <a:lnSpc>
                <a:spcPct val="150000"/>
              </a:lnSpc>
              <a:spcBef>
                <a:spcPts val="1333"/>
              </a:spcBef>
              <a:buNone/>
            </a:pPr>
            <a:r>
              <a:rPr lang="en" sz="2400" dirty="0"/>
              <a:t>DML - Data Manipulation Language</a:t>
            </a:r>
            <a:endParaRPr sz="2400" dirty="0"/>
          </a:p>
          <a:p>
            <a:pPr lvl="1" indent="-440256">
              <a:lnSpc>
                <a:spcPct val="150000"/>
              </a:lnSpc>
              <a:spcBef>
                <a:spcPts val="0"/>
              </a:spcBef>
              <a:buClr>
                <a:srgbClr val="222222"/>
              </a:buClr>
              <a:buSzPts val="1300"/>
              <a:buFont typeface="Arial" panose="020B0604020202020204" pitchFamily="34" charset="0"/>
              <a:buAutoNum type="alphaLcPeriod"/>
            </a:pPr>
            <a:r>
              <a:rPr lang="en" dirty="0"/>
              <a:t>Select</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Insert</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Update</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Delete</a:t>
            </a:r>
            <a:endParaRPr sz="2400" dirty="0"/>
          </a:p>
          <a:p>
            <a:pPr marL="169329" indent="0">
              <a:lnSpc>
                <a:spcPct val="150000"/>
              </a:lnSpc>
              <a:spcBef>
                <a:spcPts val="1333"/>
              </a:spcBef>
              <a:buClr>
                <a:srgbClr val="222222"/>
              </a:buClr>
              <a:buNone/>
            </a:pPr>
            <a:r>
              <a:rPr lang="en" sz="2400" dirty="0"/>
              <a:t>DDL - Data Definition Language</a:t>
            </a:r>
            <a:endParaRPr sz="2400" dirty="0"/>
          </a:p>
          <a:p>
            <a:pPr lvl="1" indent="-440256">
              <a:lnSpc>
                <a:spcPct val="150000"/>
              </a:lnSpc>
              <a:spcBef>
                <a:spcPts val="0"/>
              </a:spcBef>
              <a:buClr>
                <a:srgbClr val="222222"/>
              </a:buClr>
              <a:buSzPts val="1300"/>
              <a:buFont typeface="Arial" panose="020B0604020202020204" pitchFamily="34" charset="0"/>
              <a:buAutoNum type="alphaLcPeriod"/>
            </a:pPr>
            <a:r>
              <a:rPr lang="en" dirty="0"/>
              <a:t>Create </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Drop</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Alter</a:t>
            </a:r>
            <a:endParaRPr dirty="0"/>
          </a:p>
        </p:txBody>
      </p:sp>
      <p:sp>
        <p:nvSpPr>
          <p:cNvPr id="2" name="Slide Number Placeholder 1">
            <a:extLst>
              <a:ext uri="{FF2B5EF4-FFF2-40B4-BE49-F238E27FC236}">
                <a16:creationId xmlns:a16="http://schemas.microsoft.com/office/drawing/2014/main" id="{B80F8207-FB7A-C645-9C20-24AD50C89E48}"/>
              </a:ext>
            </a:extLst>
          </p:cNvPr>
          <p:cNvSpPr>
            <a:spLocks noGrp="1"/>
          </p:cNvSpPr>
          <p:nvPr>
            <p:ph type="sldNum" idx="12"/>
          </p:nvPr>
        </p:nvSpPr>
        <p:spPr/>
        <p:txBody>
          <a:bodyPr/>
          <a:lstStyle/>
          <a:p>
            <a:fld id="{00000000-1234-1234-1234-123412341234}" type="slidenum">
              <a:rPr lang="en" smtClean="0"/>
              <a:pPr/>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9"/>
          <p:cNvSpPr txBox="1">
            <a:spLocks noGrp="1"/>
          </p:cNvSpPr>
          <p:nvPr>
            <p:ph type="title"/>
          </p:nvPr>
        </p:nvSpPr>
        <p:spPr>
          <a:xfrm>
            <a:off x="845600" y="357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Overview</a:t>
            </a:r>
            <a:endParaRPr sz="3200" b="1" dirty="0">
              <a:solidFill>
                <a:schemeClr val="tx1"/>
              </a:solidFill>
              <a:latin typeface="+mn-lt"/>
              <a:ea typeface="+mn-ea"/>
              <a:cs typeface="+mn-cs"/>
            </a:endParaRPr>
          </a:p>
        </p:txBody>
      </p:sp>
      <p:sp>
        <p:nvSpPr>
          <p:cNvPr id="386" name="Google Shape;386;p49"/>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387" name="Google Shape;387;p49"/>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388" name="Google Shape;388;p49"/>
          <p:cNvSpPr txBox="1">
            <a:spLocks noGrp="1"/>
          </p:cNvSpPr>
          <p:nvPr>
            <p:ph type="body" idx="1"/>
          </p:nvPr>
        </p:nvSpPr>
        <p:spPr>
          <a:xfrm>
            <a:off x="845600" y="1158850"/>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What happens when we want to handle a few tables which relative </a:t>
            </a:r>
          </a:p>
          <a:p>
            <a:pPr marL="0" indent="0">
              <a:lnSpc>
                <a:spcPct val="150000"/>
              </a:lnSpc>
              <a:buFont typeface="Arial" panose="020B0604020202020204" pitchFamily="34" charset="0"/>
              <a:buNone/>
            </a:pPr>
            <a:r>
              <a:rPr lang="en" sz="2400" dirty="0"/>
              <a:t>one to each other ? </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389" name="Google Shape;389;p49"/>
          <p:cNvPicPr preferRelativeResize="0"/>
          <p:nvPr/>
        </p:nvPicPr>
        <p:blipFill>
          <a:blip r:embed="rId3">
            <a:alphaModFix/>
          </a:blip>
          <a:stretch>
            <a:fillRect/>
          </a:stretch>
        </p:blipFill>
        <p:spPr>
          <a:xfrm>
            <a:off x="4519234" y="2944749"/>
            <a:ext cx="3153532" cy="2754401"/>
          </a:xfrm>
          <a:prstGeom prst="rect">
            <a:avLst/>
          </a:prstGeom>
          <a:noFill/>
          <a:ln>
            <a:noFill/>
          </a:ln>
        </p:spPr>
      </p:pic>
      <p:sp>
        <p:nvSpPr>
          <p:cNvPr id="2" name="Slide Number Placeholder 1">
            <a:extLst>
              <a:ext uri="{FF2B5EF4-FFF2-40B4-BE49-F238E27FC236}">
                <a16:creationId xmlns:a16="http://schemas.microsoft.com/office/drawing/2014/main" id="{17D76E76-785A-0042-8D1A-3FB3AAEFFAF4}"/>
              </a:ext>
            </a:extLst>
          </p:cNvPr>
          <p:cNvSpPr>
            <a:spLocks noGrp="1"/>
          </p:cNvSpPr>
          <p:nvPr>
            <p:ph type="sldNum" idx="12"/>
          </p:nvPr>
        </p:nvSpPr>
        <p:spPr/>
        <p:txBody>
          <a:bodyPr/>
          <a:lstStyle/>
          <a:p>
            <a:fld id="{00000000-1234-1234-1234-123412341234}" type="slidenum">
              <a:rPr lang="en" smtClean="0"/>
              <a:pPr/>
              <a:t>39</a:t>
            </a:fld>
            <a:endParaRPr lang="e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5" name="Google Shape;395;p50"/>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396" name="Google Shape;396;p50"/>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graphicFrame>
        <p:nvGraphicFramePr>
          <p:cNvPr id="397" name="Google Shape;397;p50"/>
          <p:cNvGraphicFramePr/>
          <p:nvPr/>
        </p:nvGraphicFramePr>
        <p:xfrm>
          <a:off x="149365" y="3931050"/>
          <a:ext cx="6208134" cy="2743000"/>
        </p:xfrm>
        <a:graphic>
          <a:graphicData uri="http://schemas.openxmlformats.org/drawingml/2006/table">
            <a:tbl>
              <a:tblPr>
                <a:noFill/>
              </a:tblPr>
              <a:tblGrid>
                <a:gridCol w="2069378">
                  <a:extLst>
                    <a:ext uri="{9D8B030D-6E8A-4147-A177-3AD203B41FA5}">
                      <a16:colId xmlns:a16="http://schemas.microsoft.com/office/drawing/2014/main" val="20000"/>
                    </a:ext>
                  </a:extLst>
                </a:gridCol>
                <a:gridCol w="2069378">
                  <a:extLst>
                    <a:ext uri="{9D8B030D-6E8A-4147-A177-3AD203B41FA5}">
                      <a16:colId xmlns:a16="http://schemas.microsoft.com/office/drawing/2014/main" val="20001"/>
                    </a:ext>
                  </a:extLst>
                </a:gridCol>
                <a:gridCol w="2069378">
                  <a:extLst>
                    <a:ext uri="{9D8B030D-6E8A-4147-A177-3AD203B41FA5}">
                      <a16:colId xmlns:a16="http://schemas.microsoft.com/office/drawing/2014/main" val="20002"/>
                    </a:ext>
                  </a:extLst>
                </a:gridCol>
              </a:tblGrid>
              <a:tr h="425131">
                <a:tc gridSpan="3">
                  <a:txBody>
                    <a:bodyPr/>
                    <a:lstStyle/>
                    <a:p>
                      <a:pPr marL="0" lvl="0" indent="0" algn="ctr" rtl="0">
                        <a:spcBef>
                          <a:spcPts val="0"/>
                        </a:spcBef>
                        <a:spcAft>
                          <a:spcPts val="0"/>
                        </a:spcAft>
                        <a:buNone/>
                      </a:pPr>
                      <a:r>
                        <a:rPr lang="en" sz="2000" dirty="0"/>
                        <a:t>Students</a:t>
                      </a:r>
                      <a:endParaRPr sz="2000" dirty="0"/>
                    </a:p>
                  </a:txBody>
                  <a:tcPr marL="121900" marR="121900" marT="121900" marB="121900"/>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0"/>
                  </a:ext>
                </a:extLst>
              </a:tr>
              <a:tr h="425131">
                <a:tc>
                  <a:txBody>
                    <a:bodyPr/>
                    <a:lstStyle/>
                    <a:p>
                      <a:pPr marL="0" lvl="0" indent="0" algn="ctr" rtl="0">
                        <a:spcBef>
                          <a:spcPts val="0"/>
                        </a:spcBef>
                        <a:spcAft>
                          <a:spcPts val="0"/>
                        </a:spcAft>
                        <a:buNone/>
                      </a:pPr>
                      <a:r>
                        <a:rPr lang="en" sz="2000"/>
                        <a:t>FirstName</a:t>
                      </a:r>
                      <a:endParaRPr sz="2000"/>
                    </a:p>
                  </a:txBody>
                  <a:tcPr marL="121900" marR="121900" marT="121900" marB="121900"/>
                </a:tc>
                <a:tc>
                  <a:txBody>
                    <a:bodyPr/>
                    <a:lstStyle/>
                    <a:p>
                      <a:pPr marL="0" lvl="0" indent="0" algn="ctr" rtl="0">
                        <a:spcBef>
                          <a:spcPts val="0"/>
                        </a:spcBef>
                        <a:spcAft>
                          <a:spcPts val="0"/>
                        </a:spcAft>
                        <a:buNone/>
                      </a:pPr>
                      <a:r>
                        <a:rPr lang="en" sz="2000"/>
                        <a:t>LastName</a:t>
                      </a:r>
                      <a:endParaRPr sz="2000"/>
                    </a:p>
                  </a:txBody>
                  <a:tcPr marL="121900" marR="121900" marT="121900" marB="121900"/>
                </a:tc>
                <a:tc>
                  <a:txBody>
                    <a:bodyPr/>
                    <a:lstStyle/>
                    <a:p>
                      <a:pPr marL="0" lvl="0" indent="0" algn="ctr" rtl="0">
                        <a:spcBef>
                          <a:spcPts val="0"/>
                        </a:spcBef>
                        <a:spcAft>
                          <a:spcPts val="0"/>
                        </a:spcAft>
                        <a:buNone/>
                      </a:pPr>
                      <a:r>
                        <a:rPr lang="en" sz="2000" dirty="0" err="1"/>
                        <a:t>StudentID</a:t>
                      </a:r>
                      <a:endParaRPr sz="2000" dirty="0"/>
                    </a:p>
                  </a:txBody>
                  <a:tcPr marL="121900" marR="121900" marT="121900" marB="121900">
                    <a:solidFill>
                      <a:srgbClr val="FFFF00"/>
                    </a:solidFill>
                  </a:tcPr>
                </a:tc>
                <a:extLst>
                  <a:ext uri="{0D108BD9-81ED-4DB2-BD59-A6C34878D82A}">
                    <a16:rowId xmlns:a16="http://schemas.microsoft.com/office/drawing/2014/main" val="10001"/>
                  </a:ext>
                </a:extLst>
              </a:tr>
              <a:tr h="425131">
                <a:tc>
                  <a:txBody>
                    <a:bodyPr/>
                    <a:lstStyle/>
                    <a:p>
                      <a:pPr marL="0" lvl="0" indent="0" algn="ctr" rtl="0">
                        <a:spcBef>
                          <a:spcPts val="0"/>
                        </a:spcBef>
                        <a:spcAft>
                          <a:spcPts val="0"/>
                        </a:spcAft>
                        <a:buNone/>
                      </a:pPr>
                      <a:r>
                        <a:rPr lang="en" sz="2000"/>
                        <a:t>Avi</a:t>
                      </a:r>
                      <a:endParaRPr sz="2000"/>
                    </a:p>
                  </a:txBody>
                  <a:tcPr marL="121900" marR="121900" marT="121900" marB="121900"/>
                </a:tc>
                <a:tc>
                  <a:txBody>
                    <a:bodyPr/>
                    <a:lstStyle/>
                    <a:p>
                      <a:pPr marL="0" lvl="0" indent="0" algn="ctr" rtl="0">
                        <a:spcBef>
                          <a:spcPts val="0"/>
                        </a:spcBef>
                        <a:spcAft>
                          <a:spcPts val="0"/>
                        </a:spcAft>
                        <a:buNone/>
                      </a:pPr>
                      <a:r>
                        <a:rPr lang="en" sz="2000"/>
                        <a:t>Cohen</a:t>
                      </a:r>
                      <a:endParaRPr sz="2000"/>
                    </a:p>
                  </a:txBody>
                  <a:tcPr marL="121900" marR="121900" marT="121900" marB="121900"/>
                </a:tc>
                <a:tc>
                  <a:txBody>
                    <a:bodyPr/>
                    <a:lstStyle/>
                    <a:p>
                      <a:pPr marL="0" lvl="0" indent="0" algn="ctr" rtl="0">
                        <a:spcBef>
                          <a:spcPts val="0"/>
                        </a:spcBef>
                        <a:spcAft>
                          <a:spcPts val="0"/>
                        </a:spcAft>
                        <a:buNone/>
                      </a:pPr>
                      <a:r>
                        <a:rPr lang="en" sz="2000" dirty="0"/>
                        <a:t>111</a:t>
                      </a:r>
                      <a:endParaRPr sz="2000" dirty="0"/>
                    </a:p>
                  </a:txBody>
                  <a:tcPr marL="121900" marR="121900" marT="121900" marB="121900">
                    <a:solidFill>
                      <a:srgbClr val="FFFF00"/>
                    </a:solidFill>
                  </a:tcPr>
                </a:tc>
                <a:extLst>
                  <a:ext uri="{0D108BD9-81ED-4DB2-BD59-A6C34878D82A}">
                    <a16:rowId xmlns:a16="http://schemas.microsoft.com/office/drawing/2014/main" val="10002"/>
                  </a:ext>
                </a:extLst>
              </a:tr>
              <a:tr h="425131">
                <a:tc>
                  <a:txBody>
                    <a:bodyPr/>
                    <a:lstStyle/>
                    <a:p>
                      <a:pPr marL="0" lvl="0" indent="0" algn="ctr" rtl="0">
                        <a:spcBef>
                          <a:spcPts val="0"/>
                        </a:spcBef>
                        <a:spcAft>
                          <a:spcPts val="0"/>
                        </a:spcAft>
                        <a:buNone/>
                      </a:pPr>
                      <a:r>
                        <a:rPr lang="en" sz="2000"/>
                        <a:t>Dan</a:t>
                      </a:r>
                      <a:endParaRPr sz="2000"/>
                    </a:p>
                  </a:txBody>
                  <a:tcPr marL="121900" marR="121900" marT="121900" marB="121900"/>
                </a:tc>
                <a:tc>
                  <a:txBody>
                    <a:bodyPr/>
                    <a:lstStyle/>
                    <a:p>
                      <a:pPr marL="0" lvl="0" indent="0" algn="ctr" rtl="0">
                        <a:spcBef>
                          <a:spcPts val="0"/>
                        </a:spcBef>
                        <a:spcAft>
                          <a:spcPts val="0"/>
                        </a:spcAft>
                        <a:buNone/>
                      </a:pPr>
                      <a:r>
                        <a:rPr lang="en" sz="2000"/>
                        <a:t>Israeli</a:t>
                      </a:r>
                      <a:endParaRPr sz="2000"/>
                    </a:p>
                  </a:txBody>
                  <a:tcPr marL="121900" marR="121900" marT="121900" marB="121900"/>
                </a:tc>
                <a:tc>
                  <a:txBody>
                    <a:bodyPr/>
                    <a:lstStyle/>
                    <a:p>
                      <a:pPr marL="0" lvl="0" indent="0" algn="ctr" rtl="0">
                        <a:spcBef>
                          <a:spcPts val="0"/>
                        </a:spcBef>
                        <a:spcAft>
                          <a:spcPts val="0"/>
                        </a:spcAft>
                        <a:buNone/>
                      </a:pPr>
                      <a:r>
                        <a:rPr lang="en" sz="2000" dirty="0"/>
                        <a:t>222</a:t>
                      </a:r>
                      <a:endParaRPr sz="2000" dirty="0"/>
                    </a:p>
                  </a:txBody>
                  <a:tcPr marL="121900" marR="121900" marT="121900" marB="121900">
                    <a:solidFill>
                      <a:srgbClr val="FFFF00"/>
                    </a:solidFill>
                  </a:tcPr>
                </a:tc>
                <a:extLst>
                  <a:ext uri="{0D108BD9-81ED-4DB2-BD59-A6C34878D82A}">
                    <a16:rowId xmlns:a16="http://schemas.microsoft.com/office/drawing/2014/main" val="10003"/>
                  </a:ext>
                </a:extLst>
              </a:tr>
              <a:tr h="425131">
                <a:tc>
                  <a:txBody>
                    <a:bodyPr/>
                    <a:lstStyle/>
                    <a:p>
                      <a:pPr marL="0" lvl="0" indent="0" algn="ctr" rtl="0">
                        <a:spcBef>
                          <a:spcPts val="0"/>
                        </a:spcBef>
                        <a:spcAft>
                          <a:spcPts val="0"/>
                        </a:spcAft>
                        <a:buNone/>
                      </a:pPr>
                      <a:r>
                        <a:rPr lang="en" sz="2000"/>
                        <a:t>Ofer</a:t>
                      </a:r>
                      <a:endParaRPr sz="2000"/>
                    </a:p>
                  </a:txBody>
                  <a:tcPr marL="121900" marR="121900" marT="121900" marB="121900"/>
                </a:tc>
                <a:tc>
                  <a:txBody>
                    <a:bodyPr/>
                    <a:lstStyle/>
                    <a:p>
                      <a:pPr marL="0" lvl="0" indent="0" algn="ctr" rtl="0">
                        <a:spcBef>
                          <a:spcPts val="0"/>
                        </a:spcBef>
                        <a:spcAft>
                          <a:spcPts val="0"/>
                        </a:spcAft>
                        <a:buNone/>
                      </a:pPr>
                      <a:r>
                        <a:rPr lang="en" sz="2000"/>
                        <a:t>Bar</a:t>
                      </a:r>
                      <a:endParaRPr sz="2000"/>
                    </a:p>
                  </a:txBody>
                  <a:tcPr marL="121900" marR="121900" marT="121900" marB="121900"/>
                </a:tc>
                <a:tc>
                  <a:txBody>
                    <a:bodyPr/>
                    <a:lstStyle/>
                    <a:p>
                      <a:pPr marL="0" lvl="0" indent="0" algn="ctr" rtl="0">
                        <a:spcBef>
                          <a:spcPts val="0"/>
                        </a:spcBef>
                        <a:spcAft>
                          <a:spcPts val="0"/>
                        </a:spcAft>
                        <a:buNone/>
                      </a:pPr>
                      <a:r>
                        <a:rPr lang="en" sz="2000" dirty="0"/>
                        <a:t>333</a:t>
                      </a:r>
                      <a:endParaRPr sz="2000" dirty="0"/>
                    </a:p>
                  </a:txBody>
                  <a:tcPr marL="121900" marR="121900" marT="121900" marB="121900">
                    <a:solidFill>
                      <a:srgbClr val="FFFF00"/>
                    </a:solidFill>
                  </a:tcPr>
                </a:tc>
                <a:extLst>
                  <a:ext uri="{0D108BD9-81ED-4DB2-BD59-A6C34878D82A}">
                    <a16:rowId xmlns:a16="http://schemas.microsoft.com/office/drawing/2014/main" val="10004"/>
                  </a:ext>
                </a:extLst>
              </a:tr>
            </a:tbl>
          </a:graphicData>
        </a:graphic>
      </p:graphicFrame>
      <p:graphicFrame>
        <p:nvGraphicFramePr>
          <p:cNvPr id="398" name="Google Shape;398;p50"/>
          <p:cNvGraphicFramePr/>
          <p:nvPr/>
        </p:nvGraphicFramePr>
        <p:xfrm>
          <a:off x="3308104" y="489184"/>
          <a:ext cx="8653496" cy="2743000"/>
        </p:xfrm>
        <a:graphic>
          <a:graphicData uri="http://schemas.openxmlformats.org/drawingml/2006/table">
            <a:tbl>
              <a:tblPr>
                <a:noFill/>
              </a:tblPr>
              <a:tblGrid>
                <a:gridCol w="2163374">
                  <a:extLst>
                    <a:ext uri="{9D8B030D-6E8A-4147-A177-3AD203B41FA5}">
                      <a16:colId xmlns:a16="http://schemas.microsoft.com/office/drawing/2014/main" val="20000"/>
                    </a:ext>
                  </a:extLst>
                </a:gridCol>
                <a:gridCol w="2163374">
                  <a:extLst>
                    <a:ext uri="{9D8B030D-6E8A-4147-A177-3AD203B41FA5}">
                      <a16:colId xmlns:a16="http://schemas.microsoft.com/office/drawing/2014/main" val="20001"/>
                    </a:ext>
                  </a:extLst>
                </a:gridCol>
                <a:gridCol w="2163374">
                  <a:extLst>
                    <a:ext uri="{9D8B030D-6E8A-4147-A177-3AD203B41FA5}">
                      <a16:colId xmlns:a16="http://schemas.microsoft.com/office/drawing/2014/main" val="20002"/>
                    </a:ext>
                  </a:extLst>
                </a:gridCol>
                <a:gridCol w="2163374">
                  <a:extLst>
                    <a:ext uri="{9D8B030D-6E8A-4147-A177-3AD203B41FA5}">
                      <a16:colId xmlns:a16="http://schemas.microsoft.com/office/drawing/2014/main" val="20003"/>
                    </a:ext>
                  </a:extLst>
                </a:gridCol>
              </a:tblGrid>
              <a:tr h="325813">
                <a:tc gridSpan="4">
                  <a:txBody>
                    <a:bodyPr/>
                    <a:lstStyle/>
                    <a:p>
                      <a:pPr marL="0" lvl="0" indent="0" algn="ctr" rtl="0">
                        <a:spcBef>
                          <a:spcPts val="0"/>
                        </a:spcBef>
                        <a:spcAft>
                          <a:spcPts val="0"/>
                        </a:spcAft>
                        <a:buNone/>
                      </a:pPr>
                      <a:r>
                        <a:rPr lang="en" sz="2000" dirty="0"/>
                        <a:t>Courses</a:t>
                      </a:r>
                      <a:endParaRPr sz="2000" dirty="0"/>
                    </a:p>
                  </a:txBody>
                  <a:tcPr marL="121900" marR="121900" marT="121900" marB="121900"/>
                </a:tc>
                <a:tc hMerge="1">
                  <a:txBody>
                    <a:bodyPr/>
                    <a:lstStyle/>
                    <a:p>
                      <a:endParaRPr lang="en-IL"/>
                    </a:p>
                  </a:txBody>
                  <a:tcPr/>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0"/>
                  </a:ext>
                </a:extLst>
              </a:tr>
              <a:tr h="521314">
                <a:tc>
                  <a:txBody>
                    <a:bodyPr/>
                    <a:lstStyle/>
                    <a:p>
                      <a:pPr marL="0" lvl="0" indent="0" algn="ctr" rtl="0">
                        <a:spcBef>
                          <a:spcPts val="0"/>
                        </a:spcBef>
                        <a:spcAft>
                          <a:spcPts val="0"/>
                        </a:spcAft>
                        <a:buNone/>
                      </a:pPr>
                      <a:r>
                        <a:rPr lang="en" sz="2000"/>
                        <a:t>StudentID</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dirty="0" err="1"/>
                        <a:t>CourseNumber</a:t>
                      </a:r>
                      <a:endParaRPr sz="2000" dirty="0"/>
                    </a:p>
                  </a:txBody>
                  <a:tcPr marL="121900" marR="121900" marT="121900" marB="121900"/>
                </a:tc>
                <a:tc>
                  <a:txBody>
                    <a:bodyPr/>
                    <a:lstStyle/>
                    <a:p>
                      <a:pPr marL="0" lvl="0" indent="0" algn="ctr" rtl="0">
                        <a:spcBef>
                          <a:spcPts val="0"/>
                        </a:spcBef>
                        <a:spcAft>
                          <a:spcPts val="0"/>
                        </a:spcAft>
                        <a:buNone/>
                      </a:pPr>
                      <a:r>
                        <a:rPr lang="en" sz="2000"/>
                        <a:t>CourseName</a:t>
                      </a:r>
                      <a:endParaRPr sz="2000"/>
                    </a:p>
                  </a:txBody>
                  <a:tcPr marL="121900" marR="121900" marT="121900" marB="121900"/>
                </a:tc>
                <a:tc>
                  <a:txBody>
                    <a:bodyPr/>
                    <a:lstStyle/>
                    <a:p>
                      <a:pPr marL="0" lvl="0" indent="0" algn="ctr" rtl="0">
                        <a:spcBef>
                          <a:spcPts val="0"/>
                        </a:spcBef>
                        <a:spcAft>
                          <a:spcPts val="0"/>
                        </a:spcAft>
                        <a:buNone/>
                      </a:pPr>
                      <a:r>
                        <a:rPr lang="en" sz="2000"/>
                        <a:t>Grade</a:t>
                      </a:r>
                      <a:endParaRPr sz="2000"/>
                    </a:p>
                  </a:txBody>
                  <a:tcPr marL="121900" marR="121900" marT="121900" marB="121900"/>
                </a:tc>
                <a:extLst>
                  <a:ext uri="{0D108BD9-81ED-4DB2-BD59-A6C34878D82A}">
                    <a16:rowId xmlns:a16="http://schemas.microsoft.com/office/drawing/2014/main" val="10001"/>
                  </a:ext>
                </a:extLst>
              </a:tr>
              <a:tr h="325813">
                <a:tc>
                  <a:txBody>
                    <a:bodyPr/>
                    <a:lstStyle/>
                    <a:p>
                      <a:pPr marL="0" lvl="0" indent="0" algn="ctr" rtl="0">
                        <a:spcBef>
                          <a:spcPts val="0"/>
                        </a:spcBef>
                        <a:spcAft>
                          <a:spcPts val="0"/>
                        </a:spcAft>
                        <a:buNone/>
                      </a:pPr>
                      <a:r>
                        <a:rPr lang="en" sz="2000"/>
                        <a:t>111</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dirty="0"/>
                        <a:t>289</a:t>
                      </a:r>
                      <a:endParaRPr sz="2000" dirty="0"/>
                    </a:p>
                  </a:txBody>
                  <a:tcPr marL="121900" marR="121900" marT="121900" marB="121900"/>
                </a:tc>
                <a:tc>
                  <a:txBody>
                    <a:bodyPr/>
                    <a:lstStyle/>
                    <a:p>
                      <a:pPr marL="0" lvl="0" indent="0" algn="ctr" rtl="0">
                        <a:spcBef>
                          <a:spcPts val="0"/>
                        </a:spcBef>
                        <a:spcAft>
                          <a:spcPts val="0"/>
                        </a:spcAft>
                        <a:buNone/>
                      </a:pPr>
                      <a:r>
                        <a:rPr lang="en" sz="2000" dirty="0"/>
                        <a:t>DB</a:t>
                      </a:r>
                      <a:endParaRPr sz="2000" dirty="0"/>
                    </a:p>
                  </a:txBody>
                  <a:tcPr marL="121900" marR="121900" marT="121900" marB="121900"/>
                </a:tc>
                <a:tc>
                  <a:txBody>
                    <a:bodyPr/>
                    <a:lstStyle/>
                    <a:p>
                      <a:pPr marL="0" lvl="0" indent="0" algn="ctr" rtl="0">
                        <a:spcBef>
                          <a:spcPts val="0"/>
                        </a:spcBef>
                        <a:spcAft>
                          <a:spcPts val="0"/>
                        </a:spcAft>
                        <a:buNone/>
                      </a:pPr>
                      <a:r>
                        <a:rPr lang="en" sz="2000"/>
                        <a:t>96</a:t>
                      </a:r>
                      <a:endParaRPr sz="2000"/>
                    </a:p>
                  </a:txBody>
                  <a:tcPr marL="121900" marR="121900" marT="121900" marB="121900"/>
                </a:tc>
                <a:extLst>
                  <a:ext uri="{0D108BD9-81ED-4DB2-BD59-A6C34878D82A}">
                    <a16:rowId xmlns:a16="http://schemas.microsoft.com/office/drawing/2014/main" val="10002"/>
                  </a:ext>
                </a:extLst>
              </a:tr>
              <a:tr h="325813">
                <a:tc>
                  <a:txBody>
                    <a:bodyPr/>
                    <a:lstStyle/>
                    <a:p>
                      <a:pPr marL="0" lvl="0" indent="0" algn="ctr" rtl="0">
                        <a:spcBef>
                          <a:spcPts val="0"/>
                        </a:spcBef>
                        <a:spcAft>
                          <a:spcPts val="0"/>
                        </a:spcAft>
                        <a:buNone/>
                      </a:pPr>
                      <a:r>
                        <a:rPr lang="en" sz="2000"/>
                        <a:t>111</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a:t>281</a:t>
                      </a:r>
                      <a:endParaRPr sz="2000"/>
                    </a:p>
                  </a:txBody>
                  <a:tcPr marL="121900" marR="121900" marT="121900" marB="121900"/>
                </a:tc>
                <a:tc>
                  <a:txBody>
                    <a:bodyPr/>
                    <a:lstStyle/>
                    <a:p>
                      <a:pPr marL="0" lvl="0" indent="0" algn="ctr" rtl="0">
                        <a:spcBef>
                          <a:spcPts val="0"/>
                        </a:spcBef>
                        <a:spcAft>
                          <a:spcPts val="0"/>
                        </a:spcAft>
                        <a:buNone/>
                      </a:pPr>
                      <a:r>
                        <a:rPr lang="en" sz="2000" dirty="0"/>
                        <a:t>Algo</a:t>
                      </a:r>
                      <a:endParaRPr sz="2000" dirty="0"/>
                    </a:p>
                  </a:txBody>
                  <a:tcPr marL="121900" marR="121900" marT="121900" marB="121900"/>
                </a:tc>
                <a:tc>
                  <a:txBody>
                    <a:bodyPr/>
                    <a:lstStyle/>
                    <a:p>
                      <a:pPr marL="0" lvl="0" indent="0" algn="ctr" rtl="0">
                        <a:spcBef>
                          <a:spcPts val="0"/>
                        </a:spcBef>
                        <a:spcAft>
                          <a:spcPts val="0"/>
                        </a:spcAft>
                        <a:buNone/>
                      </a:pPr>
                      <a:r>
                        <a:rPr lang="en" sz="2000" dirty="0"/>
                        <a:t>85</a:t>
                      </a:r>
                      <a:endParaRPr sz="2000" dirty="0"/>
                    </a:p>
                  </a:txBody>
                  <a:tcPr marL="121900" marR="121900" marT="121900" marB="121900"/>
                </a:tc>
                <a:extLst>
                  <a:ext uri="{0D108BD9-81ED-4DB2-BD59-A6C34878D82A}">
                    <a16:rowId xmlns:a16="http://schemas.microsoft.com/office/drawing/2014/main" val="10003"/>
                  </a:ext>
                </a:extLst>
              </a:tr>
              <a:tr h="325813">
                <a:tc>
                  <a:txBody>
                    <a:bodyPr/>
                    <a:lstStyle/>
                    <a:p>
                      <a:pPr marL="0" lvl="0" indent="0" algn="ctr" rtl="0">
                        <a:spcBef>
                          <a:spcPts val="0"/>
                        </a:spcBef>
                        <a:spcAft>
                          <a:spcPts val="0"/>
                        </a:spcAft>
                        <a:buNone/>
                      </a:pPr>
                      <a:r>
                        <a:rPr lang="en" sz="2000"/>
                        <a:t>222</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a:t>281</a:t>
                      </a:r>
                      <a:endParaRPr sz="2000"/>
                    </a:p>
                  </a:txBody>
                  <a:tcPr marL="121900" marR="121900" marT="121900" marB="121900"/>
                </a:tc>
                <a:tc>
                  <a:txBody>
                    <a:bodyPr/>
                    <a:lstStyle/>
                    <a:p>
                      <a:pPr marL="0" lvl="0" indent="0" algn="ctr" rtl="0">
                        <a:spcBef>
                          <a:spcPts val="0"/>
                        </a:spcBef>
                        <a:spcAft>
                          <a:spcPts val="0"/>
                        </a:spcAft>
                        <a:buNone/>
                      </a:pPr>
                      <a:r>
                        <a:rPr lang="en" sz="2000"/>
                        <a:t>Algo</a:t>
                      </a:r>
                      <a:endParaRPr sz="2000"/>
                    </a:p>
                  </a:txBody>
                  <a:tcPr marL="121900" marR="121900" marT="121900" marB="121900"/>
                </a:tc>
                <a:tc>
                  <a:txBody>
                    <a:bodyPr/>
                    <a:lstStyle/>
                    <a:p>
                      <a:pPr marL="0" lvl="0" indent="0" algn="ctr" rtl="0">
                        <a:spcBef>
                          <a:spcPts val="0"/>
                        </a:spcBef>
                        <a:spcAft>
                          <a:spcPts val="0"/>
                        </a:spcAft>
                        <a:buNone/>
                      </a:pPr>
                      <a:r>
                        <a:rPr lang="en" sz="2000" dirty="0"/>
                        <a:t>78</a:t>
                      </a:r>
                      <a:endParaRPr sz="2000" dirty="0"/>
                    </a:p>
                  </a:txBody>
                  <a:tcPr marL="121900" marR="121900" marT="121900" marB="121900"/>
                </a:tc>
                <a:extLst>
                  <a:ext uri="{0D108BD9-81ED-4DB2-BD59-A6C34878D82A}">
                    <a16:rowId xmlns:a16="http://schemas.microsoft.com/office/drawing/2014/main" val="10004"/>
                  </a:ext>
                </a:extLst>
              </a:tr>
            </a:tbl>
          </a:graphicData>
        </a:graphic>
      </p:graphicFrame>
      <p:sp>
        <p:nvSpPr>
          <p:cNvPr id="399" name="Google Shape;399;p50"/>
          <p:cNvSpPr txBox="1"/>
          <p:nvPr/>
        </p:nvSpPr>
        <p:spPr>
          <a:xfrm>
            <a:off x="7142067" y="5010767"/>
            <a:ext cx="2272400" cy="4036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Primary Key</a:t>
            </a:r>
            <a:endParaRPr sz="2400" dirty="0">
              <a:latin typeface="Lato"/>
              <a:ea typeface="Lato"/>
              <a:cs typeface="Lato"/>
              <a:sym typeface="Lato"/>
            </a:endParaRPr>
          </a:p>
        </p:txBody>
      </p:sp>
      <p:cxnSp>
        <p:nvCxnSpPr>
          <p:cNvPr id="400" name="Google Shape;400;p50"/>
          <p:cNvCxnSpPr/>
          <p:nvPr/>
        </p:nvCxnSpPr>
        <p:spPr>
          <a:xfrm rot="10800000">
            <a:off x="6357500" y="4983667"/>
            <a:ext cx="811600" cy="230000"/>
          </a:xfrm>
          <a:prstGeom prst="straightConnector1">
            <a:avLst/>
          </a:prstGeom>
          <a:noFill/>
          <a:ln w="9525" cap="flat" cmpd="sng">
            <a:solidFill>
              <a:schemeClr val="dk2"/>
            </a:solidFill>
            <a:prstDash val="solid"/>
            <a:round/>
            <a:headEnd type="none" w="med" len="med"/>
            <a:tailEnd type="triangle" w="med" len="med"/>
          </a:ln>
        </p:spPr>
      </p:cxnSp>
      <p:sp>
        <p:nvSpPr>
          <p:cNvPr id="401" name="Google Shape;401;p50"/>
          <p:cNvSpPr txBox="1"/>
          <p:nvPr/>
        </p:nvSpPr>
        <p:spPr>
          <a:xfrm>
            <a:off x="630131" y="666571"/>
            <a:ext cx="2272400" cy="4036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Foreign Key</a:t>
            </a:r>
            <a:endParaRPr sz="2400" dirty="0">
              <a:latin typeface="Lato"/>
              <a:ea typeface="Lato"/>
              <a:cs typeface="Lato"/>
              <a:sym typeface="Lato"/>
            </a:endParaRPr>
          </a:p>
        </p:txBody>
      </p:sp>
      <p:cxnSp>
        <p:nvCxnSpPr>
          <p:cNvPr id="402" name="Google Shape;402;p50"/>
          <p:cNvCxnSpPr>
            <a:stCxn id="401" idx="2"/>
          </p:cNvCxnSpPr>
          <p:nvPr/>
        </p:nvCxnSpPr>
        <p:spPr>
          <a:xfrm>
            <a:off x="1766331" y="1070171"/>
            <a:ext cx="1338800" cy="597200"/>
          </a:xfrm>
          <a:prstGeom prst="straightConnector1">
            <a:avLst/>
          </a:prstGeom>
          <a:noFill/>
          <a:ln w="9525" cap="flat" cmpd="sng">
            <a:solidFill>
              <a:schemeClr val="dk2"/>
            </a:solidFill>
            <a:prstDash val="solid"/>
            <a:round/>
            <a:headEnd type="none" w="med" len="med"/>
            <a:tailEnd type="triangle" w="med" len="med"/>
          </a:ln>
        </p:spPr>
      </p:cxnSp>
      <p:sp>
        <p:nvSpPr>
          <p:cNvPr id="5" name="Slide Number Placeholder 4">
            <a:extLst>
              <a:ext uri="{FF2B5EF4-FFF2-40B4-BE49-F238E27FC236}">
                <a16:creationId xmlns:a16="http://schemas.microsoft.com/office/drawing/2014/main" id="{153CBE78-5EFC-EB47-A49F-E8FF278F1B32}"/>
              </a:ext>
            </a:extLst>
          </p:cNvPr>
          <p:cNvSpPr>
            <a:spLocks noGrp="1"/>
          </p:cNvSpPr>
          <p:nvPr>
            <p:ph type="sldNum" idx="12"/>
          </p:nvPr>
        </p:nvSpPr>
        <p:spPr/>
        <p:txBody>
          <a:bodyPr/>
          <a:lstStyle/>
          <a:p>
            <a:fld id="{00000000-1234-1234-1234-123412341234}" type="slidenum">
              <a:rPr lang="en" smtClean="0"/>
              <a:pPr/>
              <a:t>40</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1"/>
          <p:cNvSpPr txBox="1">
            <a:spLocks noGrp="1"/>
          </p:cNvSpPr>
          <p:nvPr>
            <p:ph type="title"/>
          </p:nvPr>
        </p:nvSpPr>
        <p:spPr>
          <a:xfrm>
            <a:off x="970200" y="2777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rgbClr val="FF0000"/>
                </a:solidFill>
                <a:latin typeface="+mn-lt"/>
                <a:ea typeface="+mn-ea"/>
                <a:cs typeface="+mn-cs"/>
              </a:rPr>
              <a:t>Option 1</a:t>
            </a:r>
            <a:r>
              <a:rPr lang="en" sz="3200" b="1" dirty="0">
                <a:solidFill>
                  <a:schemeClr val="tx1"/>
                </a:solidFill>
                <a:latin typeface="+mn-lt"/>
                <a:ea typeface="+mn-ea"/>
                <a:cs typeface="+mn-cs"/>
              </a:rPr>
              <a:t> </a:t>
            </a:r>
            <a:endParaRPr sz="3200" b="1" dirty="0">
              <a:solidFill>
                <a:schemeClr val="tx1"/>
              </a:solidFill>
              <a:latin typeface="+mn-lt"/>
              <a:ea typeface="+mn-ea"/>
              <a:cs typeface="+mn-cs"/>
            </a:endParaRPr>
          </a:p>
        </p:txBody>
      </p:sp>
      <p:sp>
        <p:nvSpPr>
          <p:cNvPr id="408" name="Google Shape;408;p51"/>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dirty="0"/>
          </a:p>
          <a:p>
            <a:pPr marL="0" indent="0">
              <a:spcBef>
                <a:spcPts val="1867"/>
              </a:spcBef>
              <a:spcAft>
                <a:spcPts val="2133"/>
              </a:spcAft>
              <a:buNone/>
            </a:pPr>
            <a:endParaRPr sz="1867" dirty="0"/>
          </a:p>
        </p:txBody>
      </p:sp>
      <p:sp>
        <p:nvSpPr>
          <p:cNvPr id="409" name="Google Shape;409;p51"/>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10" name="Google Shape;410;p51"/>
          <p:cNvSpPr txBox="1">
            <a:spLocks noGrp="1"/>
          </p:cNvSpPr>
          <p:nvPr>
            <p:ph type="body" idx="1"/>
          </p:nvPr>
        </p:nvSpPr>
        <p:spPr>
          <a:xfrm>
            <a:off x="967800" y="1934484"/>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as S, Courses as C</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S.StudentID</a:t>
            </a:r>
            <a:r>
              <a:rPr lang="en" sz="2400" dirty="0"/>
              <a:t> = </a:t>
            </a:r>
            <a:r>
              <a:rPr lang="en" sz="2400" dirty="0" err="1"/>
              <a:t>C.StudentID</a:t>
            </a:r>
            <a:r>
              <a:rPr lang="en" sz="2400" dirty="0"/>
              <a:t>) and (</a:t>
            </a:r>
            <a:r>
              <a:rPr lang="en" sz="2400" dirty="0" err="1"/>
              <a:t>C.CourseName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11" name="Google Shape;411;p51"/>
          <p:cNvPicPr preferRelativeResize="0"/>
          <p:nvPr/>
        </p:nvPicPr>
        <p:blipFill>
          <a:blip r:embed="rId3">
            <a:alphaModFix/>
          </a:blip>
          <a:stretch>
            <a:fillRect/>
          </a:stretch>
        </p:blipFill>
        <p:spPr>
          <a:xfrm>
            <a:off x="10570800" y="1859800"/>
            <a:ext cx="713600" cy="713600"/>
          </a:xfrm>
          <a:prstGeom prst="rect">
            <a:avLst/>
          </a:prstGeom>
          <a:noFill/>
          <a:ln>
            <a:noFill/>
          </a:ln>
        </p:spPr>
      </p:pic>
      <p:sp>
        <p:nvSpPr>
          <p:cNvPr id="2" name="Slide Number Placeholder 1">
            <a:extLst>
              <a:ext uri="{FF2B5EF4-FFF2-40B4-BE49-F238E27FC236}">
                <a16:creationId xmlns:a16="http://schemas.microsoft.com/office/drawing/2014/main" id="{D65FE2C6-F4DD-AB48-A774-99AC7DD44958}"/>
              </a:ext>
            </a:extLst>
          </p:cNvPr>
          <p:cNvSpPr>
            <a:spLocks noGrp="1"/>
          </p:cNvSpPr>
          <p:nvPr>
            <p:ph type="sldNum" idx="12"/>
          </p:nvPr>
        </p:nvSpPr>
        <p:spPr/>
        <p:txBody>
          <a:bodyPr/>
          <a:lstStyle/>
          <a:p>
            <a:fld id="{00000000-1234-1234-1234-123412341234}" type="slidenum">
              <a:rPr lang="en" smtClean="0"/>
              <a:pPr/>
              <a:t>41</a:t>
            </a:fld>
            <a:endParaRPr lang="e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2"/>
          <p:cNvSpPr txBox="1">
            <a:spLocks noGrp="1"/>
          </p:cNvSpPr>
          <p:nvPr>
            <p:ph type="title"/>
          </p:nvPr>
        </p:nvSpPr>
        <p:spPr>
          <a:xfrm>
            <a:off x="970200" y="2777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rgbClr val="FF0000"/>
                </a:solidFill>
                <a:latin typeface="+mn-lt"/>
                <a:ea typeface="+mn-ea"/>
                <a:cs typeface="+mn-cs"/>
              </a:rPr>
              <a:t>Option 2</a:t>
            </a:r>
            <a:endParaRPr sz="3200" b="1" dirty="0">
              <a:solidFill>
                <a:srgbClr val="FF0000"/>
              </a:solidFill>
              <a:latin typeface="+mn-lt"/>
              <a:ea typeface="+mn-ea"/>
              <a:cs typeface="+mn-cs"/>
            </a:endParaRPr>
          </a:p>
        </p:txBody>
      </p:sp>
      <p:sp>
        <p:nvSpPr>
          <p:cNvPr id="417" name="Google Shape;417;p52"/>
          <p:cNvSpPr txBox="1">
            <a:spLocks noGrp="1"/>
          </p:cNvSpPr>
          <p:nvPr>
            <p:ph type="body" idx="1"/>
          </p:nvPr>
        </p:nvSpPr>
        <p:spPr>
          <a:xfrm>
            <a:off x="967800" y="1566000"/>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dirty="0"/>
          </a:p>
          <a:p>
            <a:pPr marL="0" indent="0">
              <a:spcBef>
                <a:spcPts val="1867"/>
              </a:spcBef>
              <a:spcAft>
                <a:spcPts val="2133"/>
              </a:spcAft>
              <a:buNone/>
            </a:pPr>
            <a:endParaRPr sz="1867" dirty="0"/>
          </a:p>
        </p:txBody>
      </p:sp>
      <p:sp>
        <p:nvSpPr>
          <p:cNvPr id="418" name="Google Shape;418;p52"/>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19" name="Google Shape;419;p52"/>
          <p:cNvSpPr txBox="1">
            <a:spLocks noGrp="1"/>
          </p:cNvSpPr>
          <p:nvPr>
            <p:ph type="body" idx="1"/>
          </p:nvPr>
        </p:nvSpPr>
        <p:spPr>
          <a:xfrm>
            <a:off x="967800" y="1591067"/>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as S JOIN Courses as C</a:t>
            </a:r>
            <a:endParaRPr sz="2400" dirty="0"/>
          </a:p>
          <a:p>
            <a:pPr marL="0" indent="0">
              <a:lnSpc>
                <a:spcPct val="150000"/>
              </a:lnSpc>
              <a:spcBef>
                <a:spcPts val="1333"/>
              </a:spcBef>
              <a:buFont typeface="Arial" panose="020B0604020202020204" pitchFamily="34" charset="0"/>
              <a:buNone/>
            </a:pPr>
            <a:r>
              <a:rPr lang="en" sz="2400" dirty="0"/>
              <a:t>ON </a:t>
            </a:r>
            <a:r>
              <a:rPr lang="en" sz="2400" dirty="0" err="1"/>
              <a:t>S.StudentID</a:t>
            </a:r>
            <a:r>
              <a:rPr lang="en" sz="2400" dirty="0"/>
              <a:t> = </a:t>
            </a:r>
            <a:r>
              <a:rPr lang="en" sz="2400" dirty="0" err="1"/>
              <a:t>C.StudentID</a:t>
            </a:r>
            <a:r>
              <a:rPr lang="en" sz="2400" dirty="0"/>
              <a:t>         </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21" name="Google Shape;421;p52"/>
          <p:cNvPicPr preferRelativeResize="0"/>
          <p:nvPr/>
        </p:nvPicPr>
        <p:blipFill>
          <a:blip r:embed="rId3">
            <a:alphaModFix/>
          </a:blip>
          <a:stretch>
            <a:fillRect/>
          </a:stretch>
        </p:blipFill>
        <p:spPr>
          <a:xfrm>
            <a:off x="10593534" y="1766234"/>
            <a:ext cx="818732" cy="818732"/>
          </a:xfrm>
          <a:prstGeom prst="rect">
            <a:avLst/>
          </a:prstGeom>
          <a:noFill/>
          <a:ln>
            <a:noFill/>
          </a:ln>
        </p:spPr>
      </p:pic>
      <p:sp>
        <p:nvSpPr>
          <p:cNvPr id="2" name="Slide Number Placeholder 1">
            <a:extLst>
              <a:ext uri="{FF2B5EF4-FFF2-40B4-BE49-F238E27FC236}">
                <a16:creationId xmlns:a16="http://schemas.microsoft.com/office/drawing/2014/main" id="{7FF89D2D-3B27-B449-8B96-AC75486194E0}"/>
              </a:ext>
            </a:extLst>
          </p:cNvPr>
          <p:cNvSpPr>
            <a:spLocks noGrp="1"/>
          </p:cNvSpPr>
          <p:nvPr>
            <p:ph type="sldNum" idx="12"/>
          </p:nvPr>
        </p:nvSpPr>
        <p:spPr/>
        <p:txBody>
          <a:bodyPr/>
          <a:lstStyle/>
          <a:p>
            <a:fld id="{00000000-1234-1234-1234-123412341234}" type="slidenum">
              <a:rPr lang="en" smtClean="0"/>
              <a:pPr/>
              <a:t>42</a:t>
            </a:fld>
            <a:endParaRPr lang="e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3"/>
          <p:cNvSpPr txBox="1">
            <a:spLocks noGrp="1"/>
          </p:cNvSpPr>
          <p:nvPr>
            <p:ph type="title"/>
          </p:nvPr>
        </p:nvSpPr>
        <p:spPr>
          <a:xfrm>
            <a:off x="970200" y="357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ON VS. USING</a:t>
            </a:r>
            <a:endParaRPr sz="3200" b="1" dirty="0">
              <a:solidFill>
                <a:schemeClr val="tx1"/>
              </a:solidFill>
              <a:latin typeface="+mn-lt"/>
              <a:ea typeface="+mn-ea"/>
              <a:cs typeface="+mn-cs"/>
            </a:endParaRPr>
          </a:p>
        </p:txBody>
      </p:sp>
      <p:sp>
        <p:nvSpPr>
          <p:cNvPr id="427" name="Google Shape;427;p53"/>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28" name="Google Shape;428;p53"/>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29" name="Google Shape;429;p53"/>
          <p:cNvSpPr txBox="1">
            <a:spLocks noGrp="1"/>
          </p:cNvSpPr>
          <p:nvPr>
            <p:ph type="body" idx="1"/>
          </p:nvPr>
        </p:nvSpPr>
        <p:spPr>
          <a:xfrm>
            <a:off x="967800" y="1439333"/>
            <a:ext cx="10256400" cy="4347300"/>
          </a:xfrm>
          <a:prstGeom prst="rect">
            <a:avLst/>
          </a:prstGeom>
        </p:spPr>
        <p:txBody>
          <a:bodyPr spcFirstLastPara="1" vert="horz" wrap="square" lIns="121900" tIns="121900" rIns="121900" bIns="121900" rtlCol="0" anchor="t" anchorCtr="0">
            <a:noAutofit/>
          </a:bodyPr>
          <a:lstStyle/>
          <a:p>
            <a:pPr indent="-423323">
              <a:lnSpc>
                <a:spcPct val="150000"/>
              </a:lnSpc>
              <a:buFont typeface="Arial" panose="020B0604020202020204" pitchFamily="34" charset="0"/>
              <a:buChar char="➔"/>
            </a:pPr>
            <a:r>
              <a:rPr lang="en" sz="2400" dirty="0"/>
              <a:t>When using JOIN statement we need to understand according to which column we want to join the tables.</a:t>
            </a:r>
            <a:endParaRPr sz="2400" dirty="0"/>
          </a:p>
          <a:p>
            <a:pPr indent="-423323">
              <a:lnSpc>
                <a:spcPct val="150000"/>
              </a:lnSpc>
              <a:spcBef>
                <a:spcPts val="1333"/>
              </a:spcBef>
              <a:buFont typeface="Arial" panose="020B0604020202020204" pitchFamily="34" charset="0"/>
              <a:buChar char="➔"/>
            </a:pPr>
            <a:r>
              <a:rPr lang="en" sz="2400" dirty="0"/>
              <a:t>We will use ON when the columns name is not equal.</a:t>
            </a:r>
            <a:endParaRPr sz="2400" dirty="0"/>
          </a:p>
          <a:p>
            <a:pPr indent="-423323">
              <a:lnSpc>
                <a:spcPct val="150000"/>
              </a:lnSpc>
              <a:spcBef>
                <a:spcPts val="1333"/>
              </a:spcBef>
              <a:buFont typeface="Arial" panose="020B0604020202020204" pitchFamily="34" charset="0"/>
              <a:buChar char="➔"/>
            </a:pPr>
            <a:r>
              <a:rPr lang="en" sz="2400" dirty="0"/>
              <a:t>We will use USING when the columns name is equal.</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2" name="Slide Number Placeholder 1">
            <a:extLst>
              <a:ext uri="{FF2B5EF4-FFF2-40B4-BE49-F238E27FC236}">
                <a16:creationId xmlns:a16="http://schemas.microsoft.com/office/drawing/2014/main" id="{FC87667D-9F74-4E40-A14A-D42CFFE3595A}"/>
              </a:ext>
            </a:extLst>
          </p:cNvPr>
          <p:cNvSpPr>
            <a:spLocks noGrp="1"/>
          </p:cNvSpPr>
          <p:nvPr>
            <p:ph type="sldNum" idx="12"/>
          </p:nvPr>
        </p:nvSpPr>
        <p:spPr/>
        <p:txBody>
          <a:bodyPr/>
          <a:lstStyle/>
          <a:p>
            <a:fld id="{00000000-1234-1234-1234-123412341234}" type="slidenum">
              <a:rPr lang="en" smtClean="0"/>
              <a:pPr/>
              <a:t>43</a:t>
            </a:fld>
            <a:endParaRPr lang="e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4"/>
          <p:cNvSpPr txBox="1">
            <a:spLocks noGrp="1"/>
          </p:cNvSpPr>
          <p:nvPr>
            <p:ph type="title"/>
          </p:nvPr>
        </p:nvSpPr>
        <p:spPr>
          <a:xfrm>
            <a:off x="896400" y="409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chemeClr val="accent6"/>
                </a:solidFill>
                <a:latin typeface="+mn-lt"/>
                <a:ea typeface="+mn-ea"/>
                <a:cs typeface="+mn-cs"/>
              </a:rPr>
              <a:t>Option 3</a:t>
            </a:r>
            <a:endParaRPr sz="3200" b="1" dirty="0">
              <a:solidFill>
                <a:schemeClr val="accent6"/>
              </a:solidFill>
              <a:latin typeface="+mn-lt"/>
              <a:ea typeface="+mn-ea"/>
              <a:cs typeface="+mn-cs"/>
            </a:endParaRPr>
          </a:p>
        </p:txBody>
      </p:sp>
      <p:sp>
        <p:nvSpPr>
          <p:cNvPr id="435" name="Google Shape;435;p54"/>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36" name="Google Shape;436;p54"/>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37" name="Google Shape;437;p54"/>
          <p:cNvSpPr txBox="1">
            <a:spLocks noGrp="1"/>
          </p:cNvSpPr>
          <p:nvPr>
            <p:ph type="body" idx="1"/>
          </p:nvPr>
        </p:nvSpPr>
        <p:spPr>
          <a:xfrm>
            <a:off x="896400" y="1791667"/>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JOIN Courses </a:t>
            </a:r>
            <a:endParaRPr sz="2400" dirty="0"/>
          </a:p>
          <a:p>
            <a:pPr marL="0" indent="0">
              <a:lnSpc>
                <a:spcPct val="150000"/>
              </a:lnSpc>
              <a:spcBef>
                <a:spcPts val="1333"/>
              </a:spcBef>
              <a:buFont typeface="Arial" panose="020B0604020202020204" pitchFamily="34" charset="0"/>
              <a:buNone/>
            </a:pPr>
            <a:r>
              <a:rPr lang="en" sz="2400" dirty="0"/>
              <a:t>USING (</a:t>
            </a:r>
            <a:r>
              <a:rPr lang="en" sz="2400" dirty="0" err="1"/>
              <a:t>StudentID</a:t>
            </a:r>
            <a:r>
              <a:rPr lang="en" sz="2400" dirty="0"/>
              <a:t>)         </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38" name="Google Shape;438;p54"/>
          <p:cNvPicPr preferRelativeResize="0"/>
          <p:nvPr/>
        </p:nvPicPr>
        <p:blipFill>
          <a:blip r:embed="rId3">
            <a:alphaModFix/>
          </a:blip>
          <a:stretch>
            <a:fillRect/>
          </a:stretch>
        </p:blipFill>
        <p:spPr>
          <a:xfrm>
            <a:off x="5591334" y="4093484"/>
            <a:ext cx="5141999" cy="818733"/>
          </a:xfrm>
          <a:prstGeom prst="rect">
            <a:avLst/>
          </a:prstGeom>
          <a:noFill/>
          <a:ln>
            <a:noFill/>
          </a:ln>
        </p:spPr>
      </p:pic>
      <p:pic>
        <p:nvPicPr>
          <p:cNvPr id="439" name="Google Shape;439;p54"/>
          <p:cNvPicPr preferRelativeResize="0"/>
          <p:nvPr/>
        </p:nvPicPr>
        <p:blipFill>
          <a:blip r:embed="rId4">
            <a:alphaModFix/>
          </a:blip>
          <a:stretch>
            <a:fillRect/>
          </a:stretch>
        </p:blipFill>
        <p:spPr>
          <a:xfrm>
            <a:off x="10524000" y="1758200"/>
            <a:ext cx="891000" cy="891000"/>
          </a:xfrm>
          <a:prstGeom prst="rect">
            <a:avLst/>
          </a:prstGeom>
          <a:noFill/>
          <a:ln>
            <a:noFill/>
          </a:ln>
        </p:spPr>
      </p:pic>
      <p:sp>
        <p:nvSpPr>
          <p:cNvPr id="2" name="Slide Number Placeholder 1">
            <a:extLst>
              <a:ext uri="{FF2B5EF4-FFF2-40B4-BE49-F238E27FC236}">
                <a16:creationId xmlns:a16="http://schemas.microsoft.com/office/drawing/2014/main" id="{93CB6F94-E4B8-AD4E-B2B1-50BA77A8BCC6}"/>
              </a:ext>
            </a:extLst>
          </p:cNvPr>
          <p:cNvSpPr>
            <a:spLocks noGrp="1"/>
          </p:cNvSpPr>
          <p:nvPr>
            <p:ph type="sldNum" idx="12"/>
          </p:nvPr>
        </p:nvSpPr>
        <p:spPr/>
        <p:txBody>
          <a:bodyPr/>
          <a:lstStyle/>
          <a:p>
            <a:fld id="{00000000-1234-1234-1234-123412341234}" type="slidenum">
              <a:rPr lang="en" smtClean="0"/>
              <a:pPr/>
              <a:t>44</a:t>
            </a:fld>
            <a:endParaRPr lang="e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6"/>
          <p:cNvSpPr txBox="1">
            <a:spLocks noGrp="1"/>
          </p:cNvSpPr>
          <p:nvPr>
            <p:ph type="title"/>
          </p:nvPr>
        </p:nvSpPr>
        <p:spPr>
          <a:xfrm>
            <a:off x="972600" y="529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JOIN Types </a:t>
            </a:r>
            <a:endParaRPr sz="3200" b="1" dirty="0">
              <a:solidFill>
                <a:schemeClr val="tx1"/>
              </a:solidFill>
              <a:latin typeface="+mn-lt"/>
              <a:ea typeface="+mn-ea"/>
              <a:cs typeface="+mn-cs"/>
            </a:endParaRPr>
          </a:p>
        </p:txBody>
      </p:sp>
      <p:sp>
        <p:nvSpPr>
          <p:cNvPr id="450" name="Google Shape;450;p56"/>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51" name="Google Shape;451;p56"/>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52" name="Google Shape;452;p56"/>
          <p:cNvSpPr txBox="1">
            <a:spLocks noGrp="1"/>
          </p:cNvSpPr>
          <p:nvPr>
            <p:ph type="body" idx="1"/>
          </p:nvPr>
        </p:nvSpPr>
        <p:spPr>
          <a:xfrm>
            <a:off x="970200" y="1053100"/>
            <a:ext cx="10251600" cy="3014800"/>
          </a:xfrm>
          <a:prstGeom prst="rect">
            <a:avLst/>
          </a:prstGeom>
        </p:spPr>
        <p:txBody>
          <a:bodyPr spcFirstLastPara="1" vert="horz" wrap="square" lIns="121900" tIns="121900" rIns="121900" bIns="121900" rtlCol="0" anchor="t" anchorCtr="0">
            <a:noAutofit/>
          </a:bodyPr>
          <a:lstStyle/>
          <a:p>
            <a:pPr indent="-423323">
              <a:lnSpc>
                <a:spcPct val="150000"/>
              </a:lnSpc>
              <a:buFont typeface="Arial" panose="020B0604020202020204" pitchFamily="34" charset="0"/>
              <a:buChar char="➔"/>
            </a:pPr>
            <a:r>
              <a:rPr lang="en" sz="2400" dirty="0"/>
              <a:t>INNER JOIN</a:t>
            </a:r>
            <a:endParaRPr sz="2400" dirty="0"/>
          </a:p>
          <a:p>
            <a:pPr indent="-423323">
              <a:lnSpc>
                <a:spcPct val="150000"/>
              </a:lnSpc>
              <a:spcBef>
                <a:spcPts val="1333"/>
              </a:spcBef>
              <a:buFont typeface="Arial" panose="020B0604020202020204" pitchFamily="34" charset="0"/>
              <a:buChar char="➔"/>
            </a:pPr>
            <a:r>
              <a:rPr lang="en" sz="2400" dirty="0"/>
              <a:t>OUTER JOIN</a:t>
            </a:r>
            <a:endParaRPr sz="2400" dirty="0"/>
          </a:p>
          <a:p>
            <a:pPr lvl="1" indent="-423323">
              <a:lnSpc>
                <a:spcPct val="150000"/>
              </a:lnSpc>
              <a:spcBef>
                <a:spcPts val="1333"/>
              </a:spcBef>
              <a:buSzPts val="1300"/>
              <a:buFont typeface="Arial" panose="020B0604020202020204" pitchFamily="34" charset="0"/>
              <a:buChar char="◆"/>
            </a:pPr>
            <a:r>
              <a:rPr lang="en" dirty="0"/>
              <a:t>LEFT OUTER JOIN</a:t>
            </a:r>
            <a:endParaRPr dirty="0"/>
          </a:p>
          <a:p>
            <a:pPr lvl="1" indent="-423323">
              <a:lnSpc>
                <a:spcPct val="150000"/>
              </a:lnSpc>
              <a:spcBef>
                <a:spcPts val="1333"/>
              </a:spcBef>
              <a:buSzPts val="1300"/>
              <a:buFont typeface="Arial" panose="020B0604020202020204" pitchFamily="34" charset="0"/>
              <a:buChar char="◆"/>
            </a:pPr>
            <a:r>
              <a:rPr lang="en" dirty="0"/>
              <a:t>RIGHT OUTER JOIN</a:t>
            </a:r>
            <a:endParaRPr dirty="0"/>
          </a:p>
          <a:p>
            <a:pPr lvl="1" indent="-423323">
              <a:lnSpc>
                <a:spcPct val="150000"/>
              </a:lnSpc>
              <a:spcBef>
                <a:spcPts val="1333"/>
              </a:spcBef>
              <a:buSzPts val="1300"/>
              <a:buFont typeface="Arial" panose="020B0604020202020204" pitchFamily="34" charset="0"/>
              <a:buChar char="◆"/>
            </a:pPr>
            <a:r>
              <a:rPr lang="en" dirty="0"/>
              <a:t>FULL OUTER JOIN</a:t>
            </a:r>
            <a:endParaRPr dirty="0"/>
          </a:p>
          <a:p>
            <a:pPr marL="0" indent="0">
              <a:lnSpc>
                <a:spcPct val="150000"/>
              </a:lnSpc>
              <a:spcBef>
                <a:spcPts val="1333"/>
              </a:spcBef>
              <a:spcAft>
                <a:spcPts val="1333"/>
              </a:spcAft>
              <a:buFont typeface="Arial" panose="020B0604020202020204" pitchFamily="34" charset="0"/>
              <a:buNone/>
            </a:pPr>
            <a:endParaRPr sz="2400" dirty="0"/>
          </a:p>
        </p:txBody>
      </p:sp>
      <p:sp>
        <p:nvSpPr>
          <p:cNvPr id="2" name="Slide Number Placeholder 1">
            <a:extLst>
              <a:ext uri="{FF2B5EF4-FFF2-40B4-BE49-F238E27FC236}">
                <a16:creationId xmlns:a16="http://schemas.microsoft.com/office/drawing/2014/main" id="{415A5347-5E5C-4443-9D19-26ECEA999B6E}"/>
              </a:ext>
            </a:extLst>
          </p:cNvPr>
          <p:cNvSpPr>
            <a:spLocks noGrp="1"/>
          </p:cNvSpPr>
          <p:nvPr>
            <p:ph type="sldNum" idx="12"/>
          </p:nvPr>
        </p:nvSpPr>
        <p:spPr/>
        <p:txBody>
          <a:bodyPr/>
          <a:lstStyle/>
          <a:p>
            <a:fld id="{00000000-1234-1234-1234-123412341234}" type="slidenum">
              <a:rPr lang="en" smtClean="0"/>
              <a:pPr/>
              <a:t>45</a:t>
            </a:fld>
            <a:endParaRPr lang="e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7"/>
          <p:cNvSpPr txBox="1">
            <a:spLocks noGrp="1"/>
          </p:cNvSpPr>
          <p:nvPr>
            <p:ph type="title"/>
          </p:nvPr>
        </p:nvSpPr>
        <p:spPr>
          <a:xfrm>
            <a:off x="972600" y="193299"/>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Let’s start with an example..</a:t>
            </a:r>
            <a:endParaRPr sz="3200" b="1" dirty="0">
              <a:solidFill>
                <a:schemeClr val="tx1"/>
              </a:solidFill>
              <a:latin typeface="+mn-lt"/>
              <a:ea typeface="+mn-ea"/>
              <a:cs typeface="+mn-cs"/>
            </a:endParaRPr>
          </a:p>
        </p:txBody>
      </p:sp>
      <p:sp>
        <p:nvSpPr>
          <p:cNvPr id="458" name="Google Shape;458;p57"/>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59" name="Google Shape;459;p57"/>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60" name="Google Shape;460;p57"/>
          <p:cNvSpPr txBox="1">
            <a:spLocks noGrp="1"/>
          </p:cNvSpPr>
          <p:nvPr>
            <p:ph type="body" idx="1"/>
          </p:nvPr>
        </p:nvSpPr>
        <p:spPr>
          <a:xfrm>
            <a:off x="872067" y="1972733"/>
            <a:ext cx="10352133" cy="38139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Given 2 Table called R1, R2:</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61" name="Google Shape;461;p57"/>
          <p:cNvPicPr preferRelativeResize="0"/>
          <p:nvPr/>
        </p:nvPicPr>
        <p:blipFill>
          <a:blip r:embed="rId3">
            <a:alphaModFix/>
          </a:blip>
          <a:stretch>
            <a:fillRect/>
          </a:stretch>
        </p:blipFill>
        <p:spPr>
          <a:xfrm>
            <a:off x="1107801" y="3705334"/>
            <a:ext cx="4385999" cy="2025133"/>
          </a:xfrm>
          <a:prstGeom prst="rect">
            <a:avLst/>
          </a:prstGeom>
          <a:noFill/>
          <a:ln>
            <a:noFill/>
          </a:ln>
        </p:spPr>
      </p:pic>
      <p:sp>
        <p:nvSpPr>
          <p:cNvPr id="462" name="Google Shape;462;p57"/>
          <p:cNvSpPr txBox="1"/>
          <p:nvPr/>
        </p:nvSpPr>
        <p:spPr>
          <a:xfrm>
            <a:off x="6183000" y="3437333"/>
            <a:ext cx="3010400" cy="403600"/>
          </a:xfrm>
          <a:prstGeom prst="rect">
            <a:avLst/>
          </a:prstGeom>
          <a:noFill/>
          <a:ln>
            <a:noFill/>
          </a:ln>
        </p:spPr>
        <p:txBody>
          <a:bodyPr spcFirstLastPara="1" wrap="square" lIns="121900" tIns="121900" rIns="121900" bIns="121900" anchor="t" anchorCtr="0">
            <a:noAutofit/>
          </a:bodyPr>
          <a:lstStyle/>
          <a:p>
            <a:r>
              <a:rPr lang="en" sz="2400">
                <a:latin typeface="Lato"/>
                <a:ea typeface="Lato"/>
                <a:cs typeface="Lato"/>
                <a:sym typeface="Lato"/>
              </a:rPr>
              <a:t>Mutual column is “Name”</a:t>
            </a:r>
            <a:endParaRPr sz="2400">
              <a:latin typeface="Lato"/>
              <a:ea typeface="Lato"/>
              <a:cs typeface="Lato"/>
              <a:sym typeface="Lato"/>
            </a:endParaRPr>
          </a:p>
        </p:txBody>
      </p:sp>
      <p:cxnSp>
        <p:nvCxnSpPr>
          <p:cNvPr id="463" name="Google Shape;463;p57"/>
          <p:cNvCxnSpPr/>
          <p:nvPr/>
        </p:nvCxnSpPr>
        <p:spPr>
          <a:xfrm flipH="1">
            <a:off x="4738600" y="3639133"/>
            <a:ext cx="1444400" cy="410800"/>
          </a:xfrm>
          <a:prstGeom prst="straightConnector1">
            <a:avLst/>
          </a:prstGeom>
          <a:noFill/>
          <a:ln w="9525" cap="flat" cmpd="sng">
            <a:solidFill>
              <a:schemeClr val="dk2"/>
            </a:solidFill>
            <a:prstDash val="solid"/>
            <a:round/>
            <a:headEnd type="none" w="med" len="med"/>
            <a:tailEnd type="triangle" w="med" len="med"/>
          </a:ln>
        </p:spPr>
      </p:cxnSp>
      <p:cxnSp>
        <p:nvCxnSpPr>
          <p:cNvPr id="464" name="Google Shape;464;p57"/>
          <p:cNvCxnSpPr>
            <a:stCxn id="462" idx="1"/>
          </p:cNvCxnSpPr>
          <p:nvPr/>
        </p:nvCxnSpPr>
        <p:spPr>
          <a:xfrm flipH="1">
            <a:off x="2578600" y="3639133"/>
            <a:ext cx="3604400" cy="276000"/>
          </a:xfrm>
          <a:prstGeom prst="straightConnector1">
            <a:avLst/>
          </a:prstGeom>
          <a:noFill/>
          <a:ln w="9525" cap="flat" cmpd="sng">
            <a:solidFill>
              <a:schemeClr val="dk2"/>
            </a:solidFill>
            <a:prstDash val="solid"/>
            <a:round/>
            <a:headEnd type="none" w="med" len="med"/>
            <a:tailEnd type="triangle" w="med" len="med"/>
          </a:ln>
        </p:spPr>
      </p:cxnSp>
      <p:sp>
        <p:nvSpPr>
          <p:cNvPr id="2" name="Slide Number Placeholder 1">
            <a:extLst>
              <a:ext uri="{FF2B5EF4-FFF2-40B4-BE49-F238E27FC236}">
                <a16:creationId xmlns:a16="http://schemas.microsoft.com/office/drawing/2014/main" id="{71AD432C-F86C-9B45-8EBD-37C8889169D3}"/>
              </a:ext>
            </a:extLst>
          </p:cNvPr>
          <p:cNvSpPr>
            <a:spLocks noGrp="1"/>
          </p:cNvSpPr>
          <p:nvPr>
            <p:ph type="sldNum" idx="12"/>
          </p:nvPr>
        </p:nvSpPr>
        <p:spPr/>
        <p:txBody>
          <a:bodyPr/>
          <a:lstStyle/>
          <a:p>
            <a:fld id="{00000000-1234-1234-1234-123412341234}" type="slidenum">
              <a:rPr lang="en" smtClean="0"/>
              <a:pPr/>
              <a:t>46</a:t>
            </a:fld>
            <a:endParaRPr lang="e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8"/>
          <p:cNvSpPr txBox="1">
            <a:spLocks noGrp="1"/>
          </p:cNvSpPr>
          <p:nvPr>
            <p:ph type="title"/>
          </p:nvPr>
        </p:nvSpPr>
        <p:spPr>
          <a:xfrm>
            <a:off x="887933" y="3025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LEFT OUTER JOIN</a:t>
            </a:r>
            <a:endParaRPr sz="3200" b="1" dirty="0">
              <a:solidFill>
                <a:schemeClr val="tx1"/>
              </a:solidFill>
              <a:latin typeface="+mn-lt"/>
              <a:ea typeface="+mn-ea"/>
              <a:cs typeface="+mn-cs"/>
            </a:endParaRPr>
          </a:p>
        </p:txBody>
      </p:sp>
      <p:sp>
        <p:nvSpPr>
          <p:cNvPr id="470" name="Google Shape;470;p58"/>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71" name="Google Shape;471;p58"/>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pic>
        <p:nvPicPr>
          <p:cNvPr id="472" name="Google Shape;472;p58"/>
          <p:cNvPicPr preferRelativeResize="0"/>
          <p:nvPr/>
        </p:nvPicPr>
        <p:blipFill>
          <a:blip r:embed="rId3">
            <a:alphaModFix/>
          </a:blip>
          <a:stretch>
            <a:fillRect/>
          </a:stretch>
        </p:blipFill>
        <p:spPr>
          <a:xfrm>
            <a:off x="6994700" y="2524284"/>
            <a:ext cx="3387000" cy="1607533"/>
          </a:xfrm>
          <a:prstGeom prst="rect">
            <a:avLst/>
          </a:prstGeom>
          <a:noFill/>
          <a:ln>
            <a:noFill/>
          </a:ln>
        </p:spPr>
      </p:pic>
      <p:sp>
        <p:nvSpPr>
          <p:cNvPr id="473" name="Google Shape;473;p58"/>
          <p:cNvSpPr txBox="1"/>
          <p:nvPr/>
        </p:nvSpPr>
        <p:spPr>
          <a:xfrm>
            <a:off x="810899" y="2176433"/>
            <a:ext cx="3905033"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74" name="Google Shape;474;p58"/>
          <p:cNvCxnSpPr>
            <a:cxnSpLocks/>
            <a:stCxn id="473" idx="3"/>
            <a:endCxn id="472" idx="1"/>
          </p:cNvCxnSpPr>
          <p:nvPr/>
        </p:nvCxnSpPr>
        <p:spPr>
          <a:xfrm>
            <a:off x="4715932" y="3202433"/>
            <a:ext cx="2278768" cy="125618"/>
          </a:xfrm>
          <a:prstGeom prst="straightConnector1">
            <a:avLst/>
          </a:prstGeom>
          <a:noFill/>
          <a:ln w="9525" cap="flat" cmpd="sng">
            <a:solidFill>
              <a:schemeClr val="dk2"/>
            </a:solidFill>
            <a:prstDash val="solid"/>
            <a:round/>
            <a:headEnd type="none" w="med" len="med"/>
            <a:tailEnd type="triangle" w="med" len="med"/>
          </a:ln>
        </p:spPr>
      </p:cxnSp>
      <p:sp>
        <p:nvSpPr>
          <p:cNvPr id="5" name="Slide Number Placeholder 4">
            <a:extLst>
              <a:ext uri="{FF2B5EF4-FFF2-40B4-BE49-F238E27FC236}">
                <a16:creationId xmlns:a16="http://schemas.microsoft.com/office/drawing/2014/main" id="{E82A85BC-66EC-6540-B9CE-7F37D6714BA2}"/>
              </a:ext>
            </a:extLst>
          </p:cNvPr>
          <p:cNvSpPr>
            <a:spLocks noGrp="1"/>
          </p:cNvSpPr>
          <p:nvPr>
            <p:ph type="sldNum" idx="12"/>
          </p:nvPr>
        </p:nvSpPr>
        <p:spPr/>
        <p:txBody>
          <a:bodyPr/>
          <a:lstStyle/>
          <a:p>
            <a:fld id="{00000000-1234-1234-1234-123412341234}" type="slidenum">
              <a:rPr lang="en" smtClean="0"/>
              <a:pPr/>
              <a:t>47</a:t>
            </a:fld>
            <a:endParaRPr lang="e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9"/>
          <p:cNvSpPr txBox="1">
            <a:spLocks noGrp="1"/>
          </p:cNvSpPr>
          <p:nvPr>
            <p:ph type="title"/>
          </p:nvPr>
        </p:nvSpPr>
        <p:spPr>
          <a:xfrm>
            <a:off x="970200" y="3110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RIGHT OUTER JOIN</a:t>
            </a:r>
            <a:endParaRPr sz="3200" b="1" dirty="0">
              <a:solidFill>
                <a:schemeClr val="tx1"/>
              </a:solidFill>
              <a:latin typeface="+mn-lt"/>
              <a:ea typeface="+mn-ea"/>
              <a:cs typeface="+mn-cs"/>
            </a:endParaRPr>
          </a:p>
        </p:txBody>
      </p:sp>
      <p:sp>
        <p:nvSpPr>
          <p:cNvPr id="480" name="Google Shape;480;p59"/>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dirty="0"/>
          </a:p>
        </p:txBody>
      </p:sp>
      <p:sp>
        <p:nvSpPr>
          <p:cNvPr id="481" name="Google Shape;481;p59"/>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82" name="Google Shape;482;p59"/>
          <p:cNvSpPr txBox="1"/>
          <p:nvPr/>
        </p:nvSpPr>
        <p:spPr>
          <a:xfrm>
            <a:off x="986694" y="2354300"/>
            <a:ext cx="3971768"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83" name="Google Shape;483;p59"/>
          <p:cNvCxnSpPr>
            <a:cxnSpLocks/>
            <a:stCxn id="482" idx="3"/>
          </p:cNvCxnSpPr>
          <p:nvPr/>
        </p:nvCxnSpPr>
        <p:spPr>
          <a:xfrm>
            <a:off x="4958462" y="3380300"/>
            <a:ext cx="2035005" cy="48700"/>
          </a:xfrm>
          <a:prstGeom prst="straightConnector1">
            <a:avLst/>
          </a:prstGeom>
          <a:noFill/>
          <a:ln w="9525" cap="flat" cmpd="sng">
            <a:solidFill>
              <a:schemeClr val="dk2"/>
            </a:solidFill>
            <a:prstDash val="solid"/>
            <a:round/>
            <a:headEnd type="none" w="med" len="med"/>
            <a:tailEnd type="triangle" w="med" len="med"/>
          </a:ln>
        </p:spPr>
      </p:cxnSp>
      <p:pic>
        <p:nvPicPr>
          <p:cNvPr id="485" name="Google Shape;485;p59"/>
          <p:cNvPicPr preferRelativeResize="0"/>
          <p:nvPr/>
        </p:nvPicPr>
        <p:blipFill>
          <a:blip r:embed="rId3">
            <a:alphaModFix/>
          </a:blip>
          <a:stretch>
            <a:fillRect/>
          </a:stretch>
        </p:blipFill>
        <p:spPr>
          <a:xfrm>
            <a:off x="7233539" y="2597333"/>
            <a:ext cx="3383596" cy="1808967"/>
          </a:xfrm>
          <a:prstGeom prst="rect">
            <a:avLst/>
          </a:prstGeom>
          <a:noFill/>
          <a:ln>
            <a:noFill/>
          </a:ln>
        </p:spPr>
      </p:pic>
      <p:sp>
        <p:nvSpPr>
          <p:cNvPr id="5" name="Slide Number Placeholder 4">
            <a:extLst>
              <a:ext uri="{FF2B5EF4-FFF2-40B4-BE49-F238E27FC236}">
                <a16:creationId xmlns:a16="http://schemas.microsoft.com/office/drawing/2014/main" id="{E4C34B95-69E7-EB48-AC9D-E2C5192C4B37}"/>
              </a:ext>
            </a:extLst>
          </p:cNvPr>
          <p:cNvSpPr>
            <a:spLocks noGrp="1"/>
          </p:cNvSpPr>
          <p:nvPr>
            <p:ph type="sldNum" idx="12"/>
          </p:nvPr>
        </p:nvSpPr>
        <p:spPr/>
        <p:txBody>
          <a:bodyPr/>
          <a:lstStyle/>
          <a:p>
            <a:fld id="{00000000-1234-1234-1234-123412341234}" type="slidenum">
              <a:rPr lang="en" smtClean="0"/>
              <a:pPr/>
              <a:t>48</a:t>
            </a:fld>
            <a:endParaRPr lang="e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0"/>
          <p:cNvSpPr txBox="1">
            <a:spLocks noGrp="1"/>
          </p:cNvSpPr>
          <p:nvPr>
            <p:ph type="title"/>
          </p:nvPr>
        </p:nvSpPr>
        <p:spPr>
          <a:xfrm>
            <a:off x="896400" y="4313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FULL OUTER JOIN</a:t>
            </a:r>
            <a:endParaRPr sz="3200" b="1" dirty="0">
              <a:solidFill>
                <a:schemeClr val="tx1"/>
              </a:solidFill>
              <a:latin typeface="+mn-lt"/>
              <a:ea typeface="+mn-ea"/>
              <a:cs typeface="+mn-cs"/>
            </a:endParaRPr>
          </a:p>
        </p:txBody>
      </p:sp>
      <p:sp>
        <p:nvSpPr>
          <p:cNvPr id="491" name="Google Shape;491;p60"/>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92" name="Google Shape;492;p60"/>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93" name="Google Shape;493;p60"/>
          <p:cNvSpPr txBox="1"/>
          <p:nvPr/>
        </p:nvSpPr>
        <p:spPr>
          <a:xfrm>
            <a:off x="649704" y="1952833"/>
            <a:ext cx="4112200"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94" name="Google Shape;494;p60"/>
          <p:cNvCxnSpPr>
            <a:cxnSpLocks/>
          </p:cNvCxnSpPr>
          <p:nvPr/>
        </p:nvCxnSpPr>
        <p:spPr>
          <a:xfrm>
            <a:off x="4087933" y="3736083"/>
            <a:ext cx="3092800" cy="72800"/>
          </a:xfrm>
          <a:prstGeom prst="straightConnector1">
            <a:avLst/>
          </a:prstGeom>
          <a:noFill/>
          <a:ln w="9525" cap="flat" cmpd="sng">
            <a:solidFill>
              <a:schemeClr val="dk2"/>
            </a:solidFill>
            <a:prstDash val="solid"/>
            <a:round/>
            <a:headEnd type="none" w="med" len="med"/>
            <a:tailEnd type="triangle" w="med" len="med"/>
          </a:ln>
        </p:spPr>
      </p:cxnSp>
      <p:pic>
        <p:nvPicPr>
          <p:cNvPr id="496" name="Google Shape;496;p60"/>
          <p:cNvPicPr preferRelativeResize="0"/>
          <p:nvPr/>
        </p:nvPicPr>
        <p:blipFill>
          <a:blip r:embed="rId3">
            <a:alphaModFix/>
          </a:blip>
          <a:stretch>
            <a:fillRect/>
          </a:stretch>
        </p:blipFill>
        <p:spPr>
          <a:xfrm>
            <a:off x="7430097" y="2887950"/>
            <a:ext cx="3318172" cy="1841867"/>
          </a:xfrm>
          <a:prstGeom prst="rect">
            <a:avLst/>
          </a:prstGeom>
          <a:noFill/>
          <a:ln>
            <a:noFill/>
          </a:ln>
        </p:spPr>
      </p:pic>
      <p:sp>
        <p:nvSpPr>
          <p:cNvPr id="2" name="Slide Number Placeholder 1">
            <a:extLst>
              <a:ext uri="{FF2B5EF4-FFF2-40B4-BE49-F238E27FC236}">
                <a16:creationId xmlns:a16="http://schemas.microsoft.com/office/drawing/2014/main" id="{413BB05A-7933-1E46-A363-259D7706D111}"/>
              </a:ext>
            </a:extLst>
          </p:cNvPr>
          <p:cNvSpPr>
            <a:spLocks noGrp="1"/>
          </p:cNvSpPr>
          <p:nvPr>
            <p:ph type="sldNum" idx="12"/>
          </p:nvPr>
        </p:nvSpPr>
        <p:spPr/>
        <p:txBody>
          <a:bodyPr/>
          <a:lstStyle/>
          <a:p>
            <a:fld id="{00000000-1234-1234-1234-123412341234}" type="slidenum">
              <a:rPr lang="en" smtClean="0"/>
              <a:pPr/>
              <a:t>49</a:t>
            </a:fld>
            <a:endParaRPr lang="e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83"/>
          <p:cNvSpPr txBox="1">
            <a:spLocks noGrp="1"/>
          </p:cNvSpPr>
          <p:nvPr>
            <p:ph type="body" idx="1"/>
          </p:nvPr>
        </p:nvSpPr>
        <p:spPr>
          <a:xfrm>
            <a:off x="972600" y="1202267"/>
            <a:ext cx="10251600" cy="4389633"/>
          </a:xfrm>
          <a:prstGeom prst="rect">
            <a:avLst/>
          </a:prstGeom>
        </p:spPr>
        <p:txBody>
          <a:bodyPr spcFirstLastPara="1" vert="horz" wrap="square" lIns="121900" tIns="121900" rIns="121900" bIns="121900" rtlCol="0" anchor="t" anchorCtr="0">
            <a:noAutofit/>
          </a:bodyPr>
          <a:lstStyle/>
          <a:p>
            <a:pPr>
              <a:lnSpc>
                <a:spcPct val="150000"/>
              </a:lnSpc>
              <a:buFont typeface="Arial" panose="020B0604020202020204" pitchFamily="34" charset="0"/>
              <a:buChar char="➔"/>
            </a:pPr>
            <a:r>
              <a:rPr lang="en" sz="2400" dirty="0"/>
              <a:t>Sometimes part of our data is NULL, from many reasons:</a:t>
            </a:r>
            <a:endParaRPr sz="2400" dirty="0"/>
          </a:p>
          <a:p>
            <a:pPr lvl="1">
              <a:lnSpc>
                <a:spcPct val="150000"/>
              </a:lnSpc>
              <a:spcBef>
                <a:spcPts val="1333"/>
              </a:spcBef>
              <a:buSzPts val="1300"/>
              <a:buFont typeface="Arial" panose="020B0604020202020204" pitchFamily="34" charset="0"/>
              <a:buChar char="◆"/>
            </a:pPr>
            <a:r>
              <a:rPr lang="en" dirty="0"/>
              <a:t>Result of left/right/full outer join</a:t>
            </a:r>
            <a:endParaRPr dirty="0"/>
          </a:p>
          <a:p>
            <a:pPr lvl="1">
              <a:lnSpc>
                <a:spcPct val="150000"/>
              </a:lnSpc>
              <a:spcBef>
                <a:spcPts val="1333"/>
              </a:spcBef>
              <a:buSzPts val="1300"/>
              <a:buFont typeface="Arial" panose="020B0604020202020204" pitchFamily="34" charset="0"/>
              <a:buChar char="◆"/>
            </a:pPr>
            <a:r>
              <a:rPr lang="en" dirty="0"/>
              <a:t>Missing data while insert a new row</a:t>
            </a:r>
            <a:endParaRPr dirty="0"/>
          </a:p>
          <a:p>
            <a:pPr lvl="1">
              <a:lnSpc>
                <a:spcPct val="150000"/>
              </a:lnSpc>
              <a:spcBef>
                <a:spcPts val="1333"/>
              </a:spcBef>
              <a:buSzPts val="1300"/>
              <a:buFont typeface="Arial" panose="020B0604020202020204" pitchFamily="34" charset="0"/>
              <a:buChar char="◆"/>
            </a:pPr>
            <a:r>
              <a:rPr lang="en" dirty="0"/>
              <a:t>etc.</a:t>
            </a:r>
            <a:endParaRPr dirty="0"/>
          </a:p>
          <a:p>
            <a:pPr>
              <a:lnSpc>
                <a:spcPct val="150000"/>
              </a:lnSpc>
              <a:spcBef>
                <a:spcPts val="1333"/>
              </a:spcBef>
              <a:buFont typeface="Arial" panose="020B0604020202020204" pitchFamily="34" charset="0"/>
              <a:buChar char="➔"/>
            </a:pPr>
            <a:r>
              <a:rPr lang="en" sz="2400" dirty="0"/>
              <a:t>What if we want to know who is the problematic data?</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53" name="Google Shape;653;p83"/>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Handling NULL values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33E51C3-633E-4D43-9264-BD1A9FBAA61E}"/>
              </a:ext>
            </a:extLst>
          </p:cNvPr>
          <p:cNvSpPr>
            <a:spLocks noGrp="1"/>
          </p:cNvSpPr>
          <p:nvPr>
            <p:ph type="sldNum" idx="12"/>
          </p:nvPr>
        </p:nvSpPr>
        <p:spPr/>
        <p:txBody>
          <a:bodyPr/>
          <a:lstStyle/>
          <a:p>
            <a:fld id="{00000000-1234-1234-1234-123412341234}" type="slidenum">
              <a:rPr lang="en" smtClean="0"/>
              <a:pPr/>
              <a:t>50</a:t>
            </a:fld>
            <a:endParaRPr lang="e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84"/>
          <p:cNvSpPr txBox="1">
            <a:spLocks noGrp="1"/>
          </p:cNvSpPr>
          <p:nvPr>
            <p:ph type="body" idx="1"/>
          </p:nvPr>
        </p:nvSpPr>
        <p:spPr>
          <a:xfrm>
            <a:off x="871000" y="13494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Given 2 simple tables (Student and Courses, the favorite example):</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59" name="Google Shape;659;p84"/>
          <p:cNvSpPr txBox="1">
            <a:spLocks noGrp="1"/>
          </p:cNvSpPr>
          <p:nvPr>
            <p:ph type="title"/>
          </p:nvPr>
        </p:nvSpPr>
        <p:spPr>
          <a:xfrm>
            <a:off x="970200" y="-733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60" name="Google Shape;660;p84"/>
          <p:cNvPicPr preferRelativeResize="0"/>
          <p:nvPr/>
        </p:nvPicPr>
        <p:blipFill>
          <a:blip r:embed="rId3">
            <a:alphaModFix/>
          </a:blip>
          <a:stretch>
            <a:fillRect/>
          </a:stretch>
        </p:blipFill>
        <p:spPr>
          <a:xfrm>
            <a:off x="2534900" y="2263833"/>
            <a:ext cx="6923799" cy="3472467"/>
          </a:xfrm>
          <a:prstGeom prst="rect">
            <a:avLst/>
          </a:prstGeom>
          <a:noFill/>
          <a:ln>
            <a:noFill/>
          </a:ln>
        </p:spPr>
      </p:pic>
      <p:sp>
        <p:nvSpPr>
          <p:cNvPr id="2" name="Slide Number Placeholder 1">
            <a:extLst>
              <a:ext uri="{FF2B5EF4-FFF2-40B4-BE49-F238E27FC236}">
                <a16:creationId xmlns:a16="http://schemas.microsoft.com/office/drawing/2014/main" id="{6BD8E16D-D8CA-6449-A968-5A585CCD66CF}"/>
              </a:ext>
            </a:extLst>
          </p:cNvPr>
          <p:cNvSpPr>
            <a:spLocks noGrp="1"/>
          </p:cNvSpPr>
          <p:nvPr>
            <p:ph type="sldNum" idx="12"/>
          </p:nvPr>
        </p:nvSpPr>
        <p:spPr/>
        <p:txBody>
          <a:bodyPr/>
          <a:lstStyle/>
          <a:p>
            <a:fld id="{00000000-1234-1234-1234-123412341234}" type="slidenum">
              <a:rPr lang="en" smtClean="0"/>
              <a:pPr/>
              <a:t>51</a:t>
            </a:fld>
            <a:endParaRPr lang="e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5"/>
          <p:cNvSpPr txBox="1">
            <a:spLocks noGrp="1"/>
          </p:cNvSpPr>
          <p:nvPr>
            <p:ph type="body" idx="1"/>
          </p:nvPr>
        </p:nvSpPr>
        <p:spPr>
          <a:xfrm>
            <a:off x="701667" y="13748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LastName</a:t>
            </a:r>
            <a:r>
              <a:rPr lang="en" sz="2400" dirty="0"/>
              <a:t>, </a:t>
            </a:r>
            <a:r>
              <a:rPr lang="en" sz="2400" dirty="0" err="1"/>
              <a:t>CourseNumber</a:t>
            </a:r>
            <a:endParaRPr sz="2400" dirty="0"/>
          </a:p>
          <a:p>
            <a:pPr marL="0" indent="0">
              <a:lnSpc>
                <a:spcPct val="150000"/>
              </a:lnSpc>
              <a:spcBef>
                <a:spcPts val="1333"/>
              </a:spcBef>
              <a:buFont typeface="Arial" panose="020B0604020202020204" pitchFamily="34" charset="0"/>
              <a:buNone/>
            </a:pPr>
            <a:r>
              <a:rPr lang="en" sz="2400" dirty="0"/>
              <a:t>FROM Student LEFT OUTER JOIN Courses</a:t>
            </a:r>
            <a:endParaRPr sz="2400" dirty="0"/>
          </a:p>
          <a:p>
            <a:pPr marL="0" indent="0">
              <a:lnSpc>
                <a:spcPct val="150000"/>
              </a:lnSpc>
              <a:spcBef>
                <a:spcPts val="1333"/>
              </a:spcBef>
              <a:buFont typeface="Arial" panose="020B0604020202020204" pitchFamily="34" charset="0"/>
              <a:buNone/>
            </a:pPr>
            <a:r>
              <a:rPr lang="en" sz="2400" dirty="0"/>
              <a:t>USING (</a:t>
            </a:r>
            <a:r>
              <a:rPr lang="en" sz="2400" dirty="0" err="1"/>
              <a:t>StudentID</a:t>
            </a:r>
            <a:r>
              <a:rPr lang="en" sz="2400" dirty="0"/>
              <a:t>)</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66" name="Google Shape;666;p85"/>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67" name="Google Shape;667;p85"/>
          <p:cNvPicPr preferRelativeResize="0"/>
          <p:nvPr/>
        </p:nvPicPr>
        <p:blipFill>
          <a:blip r:embed="rId3">
            <a:alphaModFix/>
          </a:blip>
          <a:stretch>
            <a:fillRect/>
          </a:stretch>
        </p:blipFill>
        <p:spPr>
          <a:xfrm>
            <a:off x="3599134" y="3678434"/>
            <a:ext cx="7891199" cy="1804733"/>
          </a:xfrm>
          <a:prstGeom prst="rect">
            <a:avLst/>
          </a:prstGeom>
          <a:noFill/>
          <a:ln>
            <a:noFill/>
          </a:ln>
        </p:spPr>
      </p:pic>
      <p:sp>
        <p:nvSpPr>
          <p:cNvPr id="668" name="Google Shape;668;p85"/>
          <p:cNvSpPr/>
          <p:nvPr/>
        </p:nvSpPr>
        <p:spPr>
          <a:xfrm>
            <a:off x="9535867" y="5008531"/>
            <a:ext cx="996400" cy="3756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Slide Number Placeholder 1">
            <a:extLst>
              <a:ext uri="{FF2B5EF4-FFF2-40B4-BE49-F238E27FC236}">
                <a16:creationId xmlns:a16="http://schemas.microsoft.com/office/drawing/2014/main" id="{D87D169F-01A7-6E4C-9F41-4E3F4B967B1C}"/>
              </a:ext>
            </a:extLst>
          </p:cNvPr>
          <p:cNvSpPr>
            <a:spLocks noGrp="1"/>
          </p:cNvSpPr>
          <p:nvPr>
            <p:ph type="sldNum" idx="12"/>
          </p:nvPr>
        </p:nvSpPr>
        <p:spPr/>
        <p:txBody>
          <a:bodyPr/>
          <a:lstStyle/>
          <a:p>
            <a:fld id="{00000000-1234-1234-1234-123412341234}" type="slidenum">
              <a:rPr lang="en" smtClean="0"/>
              <a:pPr/>
              <a:t>52</a:t>
            </a:fld>
            <a:endParaRPr lang="e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86"/>
          <p:cNvSpPr txBox="1">
            <a:spLocks noGrp="1"/>
          </p:cNvSpPr>
          <p:nvPr>
            <p:ph type="body" idx="1"/>
          </p:nvPr>
        </p:nvSpPr>
        <p:spPr>
          <a:xfrm>
            <a:off x="1032932" y="1532467"/>
            <a:ext cx="10191267" cy="4254166"/>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We store the previous query on new table called </a:t>
            </a:r>
            <a:r>
              <a:rPr lang="en" sz="2400" dirty="0" err="1"/>
              <a:t>NewCourses</a:t>
            </a:r>
            <a:r>
              <a:rPr lang="en" sz="2400" dirty="0"/>
              <a:t>.</a:t>
            </a:r>
          </a:p>
          <a:p>
            <a:pPr marL="0" indent="0">
              <a:lnSpc>
                <a:spcPct val="150000"/>
              </a:lnSpc>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r>
              <a:rPr lang="en" sz="2400" dirty="0"/>
              <a:t>SELECT *</a:t>
            </a:r>
            <a:endParaRPr sz="2400" dirty="0"/>
          </a:p>
          <a:p>
            <a:pPr marL="0" indent="0">
              <a:lnSpc>
                <a:spcPct val="150000"/>
              </a:lnSpc>
              <a:spcBef>
                <a:spcPts val="1333"/>
              </a:spcBef>
              <a:buFont typeface="Arial" panose="020B0604020202020204" pitchFamily="34" charset="0"/>
              <a:buNone/>
            </a:pPr>
            <a:r>
              <a:rPr lang="en" sz="2400" dirty="0"/>
              <a:t>FROM </a:t>
            </a:r>
            <a:r>
              <a:rPr lang="en" sz="2400" dirty="0" err="1"/>
              <a:t>NewCourses</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CourseNumber</a:t>
            </a:r>
            <a:r>
              <a:rPr lang="en" sz="2400" dirty="0"/>
              <a:t> is NULL </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74" name="Google Shape;674;p86"/>
          <p:cNvSpPr txBox="1">
            <a:spLocks noGrp="1"/>
          </p:cNvSpPr>
          <p:nvPr>
            <p:ph type="title"/>
          </p:nvPr>
        </p:nvSpPr>
        <p:spPr>
          <a:xfrm>
            <a:off x="970200" y="2934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75" name="Google Shape;675;p86"/>
          <p:cNvPicPr preferRelativeResize="0"/>
          <p:nvPr/>
        </p:nvPicPr>
        <p:blipFill>
          <a:blip r:embed="rId3">
            <a:alphaModFix/>
          </a:blip>
          <a:stretch>
            <a:fillRect/>
          </a:stretch>
        </p:blipFill>
        <p:spPr>
          <a:xfrm>
            <a:off x="4886400" y="3117433"/>
            <a:ext cx="6335400" cy="811100"/>
          </a:xfrm>
          <a:prstGeom prst="rect">
            <a:avLst/>
          </a:prstGeom>
          <a:noFill/>
          <a:ln>
            <a:noFill/>
          </a:ln>
        </p:spPr>
      </p:pic>
      <p:sp>
        <p:nvSpPr>
          <p:cNvPr id="2" name="Slide Number Placeholder 1">
            <a:extLst>
              <a:ext uri="{FF2B5EF4-FFF2-40B4-BE49-F238E27FC236}">
                <a16:creationId xmlns:a16="http://schemas.microsoft.com/office/drawing/2014/main" id="{845B9465-687C-8640-9F40-854ABC0BE875}"/>
              </a:ext>
            </a:extLst>
          </p:cNvPr>
          <p:cNvSpPr>
            <a:spLocks noGrp="1"/>
          </p:cNvSpPr>
          <p:nvPr>
            <p:ph type="sldNum" idx="12"/>
          </p:nvPr>
        </p:nvSpPr>
        <p:spPr/>
        <p:txBody>
          <a:bodyPr/>
          <a:lstStyle/>
          <a:p>
            <a:fld id="{00000000-1234-1234-1234-123412341234}" type="slidenum">
              <a:rPr lang="en" smtClean="0"/>
              <a:pPr/>
              <a:t>53</a:t>
            </a:fld>
            <a:endParaRPr lang="e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87"/>
          <p:cNvSpPr txBox="1">
            <a:spLocks noGrp="1"/>
          </p:cNvSpPr>
          <p:nvPr>
            <p:ph type="body" idx="1"/>
          </p:nvPr>
        </p:nvSpPr>
        <p:spPr>
          <a:xfrm>
            <a:off x="846667" y="1134533"/>
            <a:ext cx="10377533" cy="4652100"/>
          </a:xfrm>
          <a:prstGeom prst="rect">
            <a:avLst/>
          </a:prstGeom>
        </p:spPr>
        <p:txBody>
          <a:bodyPr spcFirstLastPara="1" vert="horz" wrap="square" lIns="121900" tIns="121900" rIns="121900" bIns="121900" rtlCol="0" anchor="t" anchorCtr="0">
            <a:noAutofit/>
          </a:bodyPr>
          <a:lstStyle/>
          <a:p>
            <a:pPr>
              <a:lnSpc>
                <a:spcPct val="150000"/>
              </a:lnSpc>
              <a:buFont typeface="Arial" panose="020B0604020202020204" pitchFamily="34" charset="0"/>
              <a:buChar char="➔"/>
            </a:pPr>
            <a:r>
              <a:rPr lang="en" sz="2400" dirty="0"/>
              <a:t>As we use “is NULL” , we can use “is NOT NULL”.</a:t>
            </a:r>
            <a:endParaRPr sz="2400" dirty="0"/>
          </a:p>
          <a:p>
            <a:pPr indent="-440256">
              <a:lnSpc>
                <a:spcPct val="150000"/>
              </a:lnSpc>
              <a:spcBef>
                <a:spcPts val="1333"/>
              </a:spcBef>
              <a:spcAft>
                <a:spcPts val="1333"/>
              </a:spcAft>
              <a:buFont typeface="Arial" panose="020B0604020202020204" pitchFamily="34" charset="0"/>
              <a:buChar char="➔"/>
            </a:pPr>
            <a:r>
              <a:rPr lang="en" sz="2400" dirty="0">
                <a:highlight>
                  <a:srgbClr val="FFFF00"/>
                </a:highlight>
              </a:rPr>
              <a:t>Wrong Usage: FirstName = ‘NULL’ </a:t>
            </a:r>
            <a:endParaRPr sz="2400" dirty="0">
              <a:highlight>
                <a:srgbClr val="FFFF00"/>
              </a:highlight>
            </a:endParaRPr>
          </a:p>
        </p:txBody>
      </p:sp>
      <p:sp>
        <p:nvSpPr>
          <p:cNvPr id="681" name="Google Shape;681;p87"/>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Important Notes</a:t>
            </a:r>
            <a:endParaRPr sz="3200" b="1" dirty="0">
              <a:solidFill>
                <a:schemeClr val="tx1"/>
              </a:solidFill>
              <a:latin typeface="+mn-lt"/>
              <a:ea typeface="+mn-ea"/>
              <a:cs typeface="+mn-cs"/>
            </a:endParaRPr>
          </a:p>
        </p:txBody>
      </p:sp>
      <p:cxnSp>
        <p:nvCxnSpPr>
          <p:cNvPr id="682" name="Google Shape;682;p87"/>
          <p:cNvCxnSpPr/>
          <p:nvPr/>
        </p:nvCxnSpPr>
        <p:spPr>
          <a:xfrm rot="10800000">
            <a:off x="6035433" y="2730250"/>
            <a:ext cx="1316400" cy="419600"/>
          </a:xfrm>
          <a:prstGeom prst="straightConnector1">
            <a:avLst/>
          </a:prstGeom>
          <a:noFill/>
          <a:ln w="9525" cap="flat" cmpd="sng">
            <a:solidFill>
              <a:schemeClr val="dk2"/>
            </a:solidFill>
            <a:prstDash val="solid"/>
            <a:round/>
            <a:headEnd type="none" w="med" len="med"/>
            <a:tailEnd type="triangle" w="med" len="med"/>
          </a:ln>
        </p:spPr>
      </p:cxnSp>
      <p:sp>
        <p:nvSpPr>
          <p:cNvPr id="683" name="Google Shape;683;p87"/>
          <p:cNvSpPr txBox="1"/>
          <p:nvPr/>
        </p:nvSpPr>
        <p:spPr>
          <a:xfrm>
            <a:off x="6537033" y="3252383"/>
            <a:ext cx="3718400" cy="6368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NULL is not a String!</a:t>
            </a:r>
            <a:endParaRPr sz="2400" dirty="0">
              <a:latin typeface="Lato"/>
              <a:ea typeface="Lato"/>
              <a:cs typeface="Lato"/>
              <a:sym typeface="Lato"/>
            </a:endParaRPr>
          </a:p>
        </p:txBody>
      </p:sp>
      <p:sp>
        <p:nvSpPr>
          <p:cNvPr id="2" name="Slide Number Placeholder 1">
            <a:extLst>
              <a:ext uri="{FF2B5EF4-FFF2-40B4-BE49-F238E27FC236}">
                <a16:creationId xmlns:a16="http://schemas.microsoft.com/office/drawing/2014/main" id="{D7045759-4DF2-CD4E-A750-09A177FCC070}"/>
              </a:ext>
            </a:extLst>
          </p:cNvPr>
          <p:cNvSpPr>
            <a:spLocks noGrp="1"/>
          </p:cNvSpPr>
          <p:nvPr>
            <p:ph type="sldNum" idx="12"/>
          </p:nvPr>
        </p:nvSpPr>
        <p:spPr/>
        <p:txBody>
          <a:bodyPr/>
          <a:lstStyle/>
          <a:p>
            <a:fld id="{00000000-1234-1234-1234-123412341234}" type="slidenum">
              <a:rPr lang="en" smtClean="0"/>
              <a:pPr/>
              <a:t>54</a:t>
            </a:fld>
            <a:endParaRPr lang="e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90"/>
          <p:cNvSpPr txBox="1">
            <a:spLocks noGrp="1"/>
          </p:cNvSpPr>
          <p:nvPr>
            <p:ph type="body" idx="1"/>
          </p:nvPr>
        </p:nvSpPr>
        <p:spPr>
          <a:xfrm>
            <a:off x="970200" y="1451033"/>
            <a:ext cx="10251600" cy="3014800"/>
          </a:xfrm>
          <a:prstGeom prst="rect">
            <a:avLst/>
          </a:prstGeom>
        </p:spPr>
        <p:txBody>
          <a:bodyPr spcFirstLastPara="1" vert="horz" wrap="square" lIns="121900" tIns="121900" rIns="121900" bIns="121900" rtlCol="0" anchor="t" anchorCtr="0">
            <a:noAutofit/>
          </a:bodyPr>
          <a:lstStyle/>
          <a:p>
            <a:pPr marL="0" indent="0">
              <a:buNone/>
            </a:pPr>
            <a:r>
              <a:rPr lang="en" dirty="0"/>
              <a:t>CREATE TABLE </a:t>
            </a:r>
            <a:r>
              <a:rPr lang="en" dirty="0" err="1">
                <a:solidFill>
                  <a:srgbClr val="FF0000"/>
                </a:solidFill>
              </a:rPr>
              <a:t>table_name</a:t>
            </a:r>
            <a:r>
              <a:rPr lang="en" dirty="0"/>
              <a:t>  </a:t>
            </a:r>
            <a:endParaRPr dirty="0"/>
          </a:p>
          <a:p>
            <a:pPr marL="0" indent="0">
              <a:spcBef>
                <a:spcPts val="1333"/>
              </a:spcBef>
              <a:buNone/>
            </a:pPr>
            <a:r>
              <a:rPr lang="en" dirty="0"/>
              <a:t>(</a:t>
            </a:r>
            <a:endParaRPr dirty="0"/>
          </a:p>
          <a:p>
            <a:pPr marL="0" indent="0">
              <a:spcBef>
                <a:spcPts val="1333"/>
              </a:spcBef>
              <a:buNone/>
            </a:pPr>
            <a:r>
              <a:rPr lang="en" dirty="0"/>
              <a:t>	</a:t>
            </a:r>
            <a:r>
              <a:rPr lang="en" dirty="0">
                <a:solidFill>
                  <a:srgbClr val="38761D"/>
                </a:solidFill>
              </a:rPr>
              <a:t>column_name1</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r>
              <a:rPr lang="en" dirty="0">
                <a:solidFill>
                  <a:srgbClr val="38761D"/>
                </a:solidFill>
              </a:rPr>
              <a:t>column_name2</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r>
              <a:rPr lang="en" dirty="0">
                <a:solidFill>
                  <a:srgbClr val="38761D"/>
                </a:solidFill>
              </a:rPr>
              <a:t>column_name3</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endParaRPr dirty="0"/>
          </a:p>
          <a:p>
            <a:pPr marL="0" indent="0">
              <a:spcBef>
                <a:spcPts val="1333"/>
              </a:spcBef>
              <a:buNone/>
            </a:pPr>
            <a:r>
              <a:rPr lang="en" dirty="0"/>
              <a:t>)</a:t>
            </a:r>
            <a:endParaRPr dirty="0"/>
          </a:p>
          <a:p>
            <a:pPr marL="0" indent="0">
              <a:spcBef>
                <a:spcPts val="1333"/>
              </a:spcBef>
              <a:buNone/>
            </a:pPr>
            <a:endParaRPr dirty="0"/>
          </a:p>
          <a:p>
            <a:pPr marL="0" indent="0">
              <a:spcBef>
                <a:spcPts val="1333"/>
              </a:spcBef>
              <a:buNone/>
            </a:pPr>
            <a:endParaRPr b="1" dirty="0"/>
          </a:p>
          <a:p>
            <a:pPr marL="0" indent="0">
              <a:spcBef>
                <a:spcPts val="1333"/>
              </a:spcBef>
              <a:spcAft>
                <a:spcPts val="1333"/>
              </a:spcAft>
              <a:buNone/>
            </a:pPr>
            <a:endParaRPr dirty="0"/>
          </a:p>
        </p:txBody>
      </p:sp>
      <p:sp>
        <p:nvSpPr>
          <p:cNvPr id="700" name="Google Shape;700;p90"/>
          <p:cNvSpPr txBox="1">
            <a:spLocks noGrp="1"/>
          </p:cNvSpPr>
          <p:nvPr>
            <p:ph type="title"/>
          </p:nvPr>
        </p:nvSpPr>
        <p:spPr>
          <a:xfrm>
            <a:off x="1031867" y="733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CREATE Tables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1E54BB6D-4F3A-A943-9EB4-69521974B710}"/>
              </a:ext>
            </a:extLst>
          </p:cNvPr>
          <p:cNvSpPr>
            <a:spLocks noGrp="1"/>
          </p:cNvSpPr>
          <p:nvPr>
            <p:ph type="sldNum" idx="12"/>
          </p:nvPr>
        </p:nvSpPr>
        <p:spPr/>
        <p:txBody>
          <a:bodyPr/>
          <a:lstStyle/>
          <a:p>
            <a:fld id="{00000000-1234-1234-1234-123412341234}" type="slidenum">
              <a:rPr lang="en" smtClean="0"/>
              <a:pPr/>
              <a:t>55</a:t>
            </a:fld>
            <a:endParaRPr lang="e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2"/>
          <p:cNvSpPr txBox="1">
            <a:spLocks noGrp="1"/>
          </p:cNvSpPr>
          <p:nvPr>
            <p:ph type="body" idx="1"/>
          </p:nvPr>
        </p:nvSpPr>
        <p:spPr>
          <a:xfrm>
            <a:off x="970200" y="1230900"/>
            <a:ext cx="10251600" cy="3014800"/>
          </a:xfrm>
          <a:prstGeom prst="rect">
            <a:avLst/>
          </a:prstGeom>
        </p:spPr>
        <p:txBody>
          <a:bodyPr spcFirstLastPara="1" vert="horz" wrap="square" lIns="121900" tIns="121900" rIns="121900" bIns="121900" rtlCol="0" anchor="t" anchorCtr="0">
            <a:noAutofit/>
          </a:bodyPr>
          <a:lstStyle/>
          <a:p>
            <a:pPr marL="0" indent="0">
              <a:lnSpc>
                <a:spcPct val="100000"/>
              </a:lnSpc>
              <a:buFont typeface="Arial" panose="020B0604020202020204" pitchFamily="34" charset="0"/>
              <a:buNone/>
            </a:pPr>
            <a:r>
              <a:rPr lang="en" sz="2400" dirty="0"/>
              <a:t>CREATE TABLE Students </a:t>
            </a:r>
            <a:endParaRPr sz="2400" dirty="0"/>
          </a:p>
          <a:p>
            <a:pPr marL="0" indent="0">
              <a:lnSpc>
                <a:spcPct val="100000"/>
              </a:lnSpc>
              <a:spcBef>
                <a:spcPts val="1333"/>
              </a:spcBef>
              <a:buFont typeface="Arial" panose="020B0604020202020204" pitchFamily="34" charset="0"/>
              <a:buNone/>
            </a:pPr>
            <a:r>
              <a:rPr lang="en" sz="2400" dirty="0"/>
              <a:t>(</a:t>
            </a:r>
            <a:endParaRPr sz="2400" dirty="0"/>
          </a:p>
          <a:p>
            <a:pPr marL="0" indent="0">
              <a:lnSpc>
                <a:spcPct val="100000"/>
              </a:lnSpc>
              <a:spcBef>
                <a:spcPts val="1333"/>
              </a:spcBef>
              <a:buFont typeface="Arial" panose="020B0604020202020204" pitchFamily="34" charset="0"/>
              <a:buNone/>
            </a:pPr>
            <a:r>
              <a:rPr lang="en" sz="2400" dirty="0"/>
              <a:t>	Id int NOT NULL,</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First_Name</a:t>
            </a:r>
            <a:r>
              <a:rPr lang="en" sz="2400" dirty="0"/>
              <a:t> text,</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Last_Name</a:t>
            </a:r>
            <a:r>
              <a:rPr lang="en" sz="2400" dirty="0"/>
              <a:t> text,</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Birth_Date</a:t>
            </a:r>
            <a:r>
              <a:rPr lang="en" sz="2400" dirty="0"/>
              <a:t> date,	</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Hour_Salary</a:t>
            </a:r>
            <a:r>
              <a:rPr lang="en" sz="2400" dirty="0"/>
              <a:t> float</a:t>
            </a:r>
            <a:endParaRPr sz="2400" dirty="0"/>
          </a:p>
          <a:p>
            <a:pPr marL="0" indent="0">
              <a:lnSpc>
                <a:spcPct val="100000"/>
              </a:lnSpc>
              <a:spcBef>
                <a:spcPts val="1333"/>
              </a:spcBef>
              <a:buFont typeface="Arial" panose="020B0604020202020204" pitchFamily="34" charset="0"/>
              <a:buNone/>
            </a:pPr>
            <a:r>
              <a:rPr lang="en" sz="2400" dirty="0"/>
              <a:t>)</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11" name="Google Shape;711;p92"/>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1 - Define your table schema + types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71E985F-1F4E-C347-AE0D-9DADF8EE40F7}"/>
              </a:ext>
            </a:extLst>
          </p:cNvPr>
          <p:cNvSpPr>
            <a:spLocks noGrp="1"/>
          </p:cNvSpPr>
          <p:nvPr>
            <p:ph type="sldNum" idx="12"/>
          </p:nvPr>
        </p:nvSpPr>
        <p:spPr/>
        <p:txBody>
          <a:bodyPr/>
          <a:lstStyle/>
          <a:p>
            <a:fld id="{00000000-1234-1234-1234-123412341234}" type="slidenum">
              <a:rPr lang="en" smtClean="0"/>
              <a:pPr/>
              <a:t>56</a:t>
            </a:fld>
            <a:endParaRPr lang="e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93"/>
          <p:cNvSpPr txBox="1">
            <a:spLocks noGrp="1"/>
          </p:cNvSpPr>
          <p:nvPr>
            <p:ph type="body" idx="1"/>
          </p:nvPr>
        </p:nvSpPr>
        <p:spPr>
          <a:xfrm>
            <a:off x="972600" y="17050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INSERT INTO Students</a:t>
            </a:r>
            <a:endParaRPr sz="2400" dirty="0"/>
          </a:p>
          <a:p>
            <a:pPr marL="0" indent="0">
              <a:lnSpc>
                <a:spcPct val="150000"/>
              </a:lnSpc>
              <a:spcBef>
                <a:spcPts val="1333"/>
              </a:spcBef>
              <a:buFont typeface="Arial" panose="020B0604020202020204" pitchFamily="34" charset="0"/>
              <a:buNone/>
            </a:pPr>
            <a:r>
              <a:rPr lang="en" sz="2400" dirty="0"/>
              <a:t>VALUES(123456789, ‘Israel’, ‘Israeli’, ‘1980-03-20’, 120.40)</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17" name="Google Shape;717;p93"/>
          <p:cNvSpPr txBox="1">
            <a:spLocks noGrp="1"/>
          </p:cNvSpPr>
          <p:nvPr>
            <p:ph type="title"/>
          </p:nvPr>
        </p:nvSpPr>
        <p:spPr>
          <a:xfrm>
            <a:off x="972600" y="902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2 - Insert Values (with the same order!)</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D0441D8-77CB-C14A-AB5D-628AE744CCF6}"/>
              </a:ext>
            </a:extLst>
          </p:cNvPr>
          <p:cNvSpPr>
            <a:spLocks noGrp="1"/>
          </p:cNvSpPr>
          <p:nvPr>
            <p:ph type="sldNum" idx="12"/>
          </p:nvPr>
        </p:nvSpPr>
        <p:spPr/>
        <p:txBody>
          <a:bodyPr/>
          <a:lstStyle/>
          <a:p>
            <a:fld id="{00000000-1234-1234-1234-123412341234}" type="slidenum">
              <a:rPr lang="en" smtClean="0"/>
              <a:pPr/>
              <a:t>57</a:t>
            </a:fld>
            <a:endParaRPr lang="e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94"/>
          <p:cNvSpPr txBox="1">
            <a:spLocks noGrp="1"/>
          </p:cNvSpPr>
          <p:nvPr>
            <p:ph type="body" idx="1"/>
          </p:nvPr>
        </p:nvSpPr>
        <p:spPr>
          <a:xfrm>
            <a:off x="970200" y="1140631"/>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a:t>
            </a:r>
            <a:endParaRPr sz="2400" dirty="0"/>
          </a:p>
          <a:p>
            <a:pPr marL="0" indent="0">
              <a:lnSpc>
                <a:spcPct val="150000"/>
              </a:lnSpc>
              <a:spcBef>
                <a:spcPts val="1333"/>
              </a:spcBef>
              <a:buFont typeface="Arial" panose="020B0604020202020204" pitchFamily="34" charset="0"/>
              <a:buNone/>
            </a:pPr>
            <a:r>
              <a:rPr lang="en" sz="2400" dirty="0"/>
              <a:t>FROM Students</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23" name="Google Shape;723;p94"/>
          <p:cNvSpPr txBox="1">
            <a:spLocks noGrp="1"/>
          </p:cNvSpPr>
          <p:nvPr>
            <p:ph type="title"/>
          </p:nvPr>
        </p:nvSpPr>
        <p:spPr>
          <a:xfrm>
            <a:off x="869168" y="-87534"/>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3 - Check your Insertion</a:t>
            </a:r>
            <a:endParaRPr sz="3200" b="1" dirty="0">
              <a:solidFill>
                <a:schemeClr val="tx1"/>
              </a:solidFill>
              <a:latin typeface="+mn-lt"/>
              <a:ea typeface="+mn-ea"/>
              <a:cs typeface="+mn-cs"/>
            </a:endParaRPr>
          </a:p>
        </p:txBody>
      </p:sp>
      <p:pic>
        <p:nvPicPr>
          <p:cNvPr id="724" name="Google Shape;724;p94"/>
          <p:cNvPicPr preferRelativeResize="0"/>
          <p:nvPr/>
        </p:nvPicPr>
        <p:blipFill>
          <a:blip r:embed="rId3">
            <a:alphaModFix/>
          </a:blip>
          <a:stretch>
            <a:fillRect/>
          </a:stretch>
        </p:blipFill>
        <p:spPr>
          <a:xfrm>
            <a:off x="1508000" y="2997199"/>
            <a:ext cx="8973935" cy="1011067"/>
          </a:xfrm>
          <a:prstGeom prst="rect">
            <a:avLst/>
          </a:prstGeom>
          <a:noFill/>
          <a:ln>
            <a:noFill/>
          </a:ln>
        </p:spPr>
      </p:pic>
      <p:sp>
        <p:nvSpPr>
          <p:cNvPr id="2" name="Slide Number Placeholder 1">
            <a:extLst>
              <a:ext uri="{FF2B5EF4-FFF2-40B4-BE49-F238E27FC236}">
                <a16:creationId xmlns:a16="http://schemas.microsoft.com/office/drawing/2014/main" id="{B3F7A60D-F334-0E42-B731-399C5C9DFC69}"/>
              </a:ext>
            </a:extLst>
          </p:cNvPr>
          <p:cNvSpPr>
            <a:spLocks noGrp="1"/>
          </p:cNvSpPr>
          <p:nvPr>
            <p:ph type="sldNum" idx="12"/>
          </p:nvPr>
        </p:nvSpPr>
        <p:spPr/>
        <p:txBody>
          <a:bodyPr/>
          <a:lstStyle/>
          <a:p>
            <a:fld id="{00000000-1234-1234-1234-123412341234}" type="slidenum">
              <a:rPr lang="en" smtClean="0"/>
              <a:pPr/>
              <a:t>58</a:t>
            </a:fld>
            <a:endParaRPr lang="e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08"/>
          <p:cNvSpPr txBox="1">
            <a:spLocks noGrp="1"/>
          </p:cNvSpPr>
          <p:nvPr>
            <p:ph type="body" idx="1"/>
          </p:nvPr>
        </p:nvSpPr>
        <p:spPr>
          <a:xfrm>
            <a:off x="735533" y="1191700"/>
            <a:ext cx="10251600" cy="3014800"/>
          </a:xfrm>
          <a:prstGeom prst="rect">
            <a:avLst/>
          </a:prstGeom>
        </p:spPr>
        <p:txBody>
          <a:bodyPr spcFirstLastPara="1" vert="horz" wrap="square" lIns="121900" tIns="121900" rIns="121900" bIns="121900" rtlCol="0" anchor="t" anchorCtr="0">
            <a:noAutofit/>
          </a:bodyPr>
          <a:lstStyle/>
          <a:p>
            <a:pPr marL="0" indent="0">
              <a:buNone/>
            </a:pPr>
            <a:r>
              <a:rPr lang="en" sz="2400" dirty="0">
                <a:solidFill>
                  <a:srgbClr val="CC0000"/>
                </a:solidFill>
              </a:rPr>
              <a:t>We want to find the city name where all amounts bigger (or equals) than </a:t>
            </a:r>
            <a:r>
              <a:rPr lang="en" sz="2400" dirty="0">
                <a:solidFill>
                  <a:srgbClr val="1155CC"/>
                </a:solidFill>
              </a:rPr>
              <a:t>all average amount of all cities.</a:t>
            </a:r>
            <a:endParaRPr sz="2400" b="1" dirty="0">
              <a:solidFill>
                <a:srgbClr val="1155CC"/>
              </a:solidFill>
            </a:endParaRPr>
          </a:p>
          <a:p>
            <a:pPr marL="0" indent="0">
              <a:spcBef>
                <a:spcPts val="1333"/>
              </a:spcBef>
              <a:buNone/>
            </a:pPr>
            <a:r>
              <a:rPr lang="en" sz="2400" dirty="0"/>
              <a:t>SELECT City</a:t>
            </a:r>
            <a:endParaRPr sz="2400" dirty="0"/>
          </a:p>
          <a:p>
            <a:pPr marL="0" indent="0">
              <a:spcBef>
                <a:spcPts val="1333"/>
              </a:spcBef>
              <a:buNone/>
            </a:pPr>
            <a:r>
              <a:rPr lang="en" sz="2400" dirty="0"/>
              <a:t>FROM Students</a:t>
            </a:r>
            <a:endParaRPr sz="2400" dirty="0"/>
          </a:p>
          <a:p>
            <a:pPr marL="0" indent="0">
              <a:spcBef>
                <a:spcPts val="1333"/>
              </a:spcBef>
              <a:buNone/>
            </a:pPr>
            <a:r>
              <a:rPr lang="en" sz="2400" dirty="0"/>
              <a:t>GROUP BY City</a:t>
            </a:r>
            <a:endParaRPr sz="2400" dirty="0"/>
          </a:p>
          <a:p>
            <a:pPr marL="0" indent="0">
              <a:spcBef>
                <a:spcPts val="1333"/>
              </a:spcBef>
              <a:buNone/>
            </a:pPr>
            <a:r>
              <a:rPr lang="en" sz="2400" dirty="0"/>
              <a:t>HAVING AVG(Amount) &gt;= ALL (SELECT AVG(Amount)</a:t>
            </a:r>
            <a:endParaRPr sz="2400" dirty="0"/>
          </a:p>
          <a:p>
            <a:pPr marL="0" indent="0">
              <a:spcBef>
                <a:spcPts val="1333"/>
              </a:spcBef>
              <a:buNone/>
            </a:pPr>
            <a:r>
              <a:rPr lang="en" sz="2400" dirty="0"/>
              <a:t>					FROM Students</a:t>
            </a:r>
            <a:endParaRPr sz="2400" dirty="0"/>
          </a:p>
          <a:p>
            <a:pPr marL="0" indent="0">
              <a:spcBef>
                <a:spcPts val="1333"/>
              </a:spcBef>
              <a:buNone/>
            </a:pPr>
            <a:r>
              <a:rPr lang="en" sz="2400" dirty="0"/>
              <a:t>					GROUP BY City)</a:t>
            </a:r>
            <a:endParaRPr sz="2400" dirty="0"/>
          </a:p>
          <a:p>
            <a:pPr marL="0" indent="0">
              <a:spcBef>
                <a:spcPts val="1333"/>
              </a:spcBef>
              <a:buNone/>
            </a:pPr>
            <a:endParaRPr sz="2400" dirty="0"/>
          </a:p>
          <a:p>
            <a:pPr marL="0" indent="0">
              <a:spcBef>
                <a:spcPts val="1333"/>
              </a:spcBef>
              <a:spcAft>
                <a:spcPts val="1333"/>
              </a:spcAft>
              <a:buNone/>
            </a:pPr>
            <a:endParaRPr sz="2400" dirty="0"/>
          </a:p>
        </p:txBody>
      </p:sp>
      <p:sp>
        <p:nvSpPr>
          <p:cNvPr id="813" name="Google Shape;813;p108"/>
          <p:cNvSpPr txBox="1">
            <a:spLocks noGrp="1"/>
          </p:cNvSpPr>
          <p:nvPr>
            <p:ph type="title"/>
          </p:nvPr>
        </p:nvSpPr>
        <p:spPr>
          <a:xfrm>
            <a:off x="970200" y="290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ALL</a:t>
            </a:r>
            <a:endParaRPr sz="3200" b="1" dirty="0">
              <a:solidFill>
                <a:schemeClr val="tx1"/>
              </a:solidFill>
              <a:latin typeface="+mn-lt"/>
              <a:ea typeface="+mn-ea"/>
              <a:cs typeface="+mn-cs"/>
            </a:endParaRPr>
          </a:p>
        </p:txBody>
      </p:sp>
      <p:pic>
        <p:nvPicPr>
          <p:cNvPr id="814" name="Google Shape;814;p108"/>
          <p:cNvPicPr preferRelativeResize="0"/>
          <p:nvPr/>
        </p:nvPicPr>
        <p:blipFill>
          <a:blip r:embed="rId3">
            <a:alphaModFix/>
          </a:blip>
          <a:stretch>
            <a:fillRect/>
          </a:stretch>
        </p:blipFill>
        <p:spPr>
          <a:xfrm>
            <a:off x="8034699" y="2474667"/>
            <a:ext cx="675800" cy="1156800"/>
          </a:xfrm>
          <a:prstGeom prst="rect">
            <a:avLst/>
          </a:prstGeom>
          <a:noFill/>
          <a:ln>
            <a:noFill/>
          </a:ln>
        </p:spPr>
      </p:pic>
      <p:cxnSp>
        <p:nvCxnSpPr>
          <p:cNvPr id="815" name="Google Shape;815;p108"/>
          <p:cNvCxnSpPr>
            <a:stCxn id="814" idx="2"/>
          </p:cNvCxnSpPr>
          <p:nvPr/>
        </p:nvCxnSpPr>
        <p:spPr>
          <a:xfrm flipH="1">
            <a:off x="7627799" y="3631467"/>
            <a:ext cx="744800" cy="229200"/>
          </a:xfrm>
          <a:prstGeom prst="straightConnector1">
            <a:avLst/>
          </a:prstGeom>
          <a:noFill/>
          <a:ln w="9525" cap="flat" cmpd="sng">
            <a:solidFill>
              <a:schemeClr val="dk2"/>
            </a:solidFill>
            <a:prstDash val="solid"/>
            <a:round/>
            <a:headEnd type="none" w="med" len="med"/>
            <a:tailEnd type="triangle" w="med" len="med"/>
          </a:ln>
        </p:spPr>
      </p:cxnSp>
      <p:pic>
        <p:nvPicPr>
          <p:cNvPr id="816" name="Google Shape;816;p108"/>
          <p:cNvPicPr preferRelativeResize="0"/>
          <p:nvPr/>
        </p:nvPicPr>
        <p:blipFill>
          <a:blip r:embed="rId4">
            <a:alphaModFix/>
          </a:blip>
          <a:stretch>
            <a:fillRect/>
          </a:stretch>
        </p:blipFill>
        <p:spPr>
          <a:xfrm>
            <a:off x="8514467" y="4206499"/>
            <a:ext cx="2128133" cy="1282967"/>
          </a:xfrm>
          <a:prstGeom prst="rect">
            <a:avLst/>
          </a:prstGeom>
          <a:noFill/>
          <a:ln>
            <a:noFill/>
          </a:ln>
        </p:spPr>
      </p:pic>
      <p:sp>
        <p:nvSpPr>
          <p:cNvPr id="2" name="Slide Number Placeholder 1">
            <a:extLst>
              <a:ext uri="{FF2B5EF4-FFF2-40B4-BE49-F238E27FC236}">
                <a16:creationId xmlns:a16="http://schemas.microsoft.com/office/drawing/2014/main" id="{AF8414FA-69E5-D249-930A-B2E542F8B206}"/>
              </a:ext>
            </a:extLst>
          </p:cNvPr>
          <p:cNvSpPr>
            <a:spLocks noGrp="1"/>
          </p:cNvSpPr>
          <p:nvPr>
            <p:ph type="sldNum" idx="12"/>
          </p:nvPr>
        </p:nvSpPr>
        <p:spPr/>
        <p:txBody>
          <a:bodyPr/>
          <a:lstStyle/>
          <a:p>
            <a:fld id="{00000000-1234-1234-1234-123412341234}" type="slidenum">
              <a:rPr lang="en" smtClean="0"/>
              <a:pPr/>
              <a:t>59</a:t>
            </a:fld>
            <a:endParaRPr lang="e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09"/>
          <p:cNvSpPr txBox="1">
            <a:spLocks noGrp="1"/>
          </p:cNvSpPr>
          <p:nvPr>
            <p:ph type="body" idx="1"/>
          </p:nvPr>
        </p:nvSpPr>
        <p:spPr>
          <a:xfrm>
            <a:off x="904867" y="1222433"/>
            <a:ext cx="10251600" cy="3014800"/>
          </a:xfrm>
          <a:prstGeom prst="rect">
            <a:avLst/>
          </a:prstGeom>
        </p:spPr>
        <p:txBody>
          <a:bodyPr spcFirstLastPara="1" vert="horz" wrap="square" lIns="121900" tIns="121900" rIns="121900" bIns="121900" rtlCol="0" anchor="t" anchorCtr="0">
            <a:noAutofit/>
          </a:bodyPr>
          <a:lstStyle/>
          <a:p>
            <a:pPr marL="0" indent="0">
              <a:buNone/>
            </a:pPr>
            <a:r>
              <a:rPr lang="en" sz="2400" dirty="0">
                <a:solidFill>
                  <a:srgbClr val="CC0000"/>
                </a:solidFill>
              </a:rPr>
              <a:t>We want to find all names which lives in one of the following cities: </a:t>
            </a:r>
            <a:r>
              <a:rPr lang="en" sz="2400" dirty="0" err="1">
                <a:solidFill>
                  <a:srgbClr val="CC0000"/>
                </a:solidFill>
              </a:rPr>
              <a:t>Eilat</a:t>
            </a:r>
            <a:r>
              <a:rPr lang="en" sz="2400" dirty="0">
                <a:solidFill>
                  <a:srgbClr val="CC0000"/>
                </a:solidFill>
              </a:rPr>
              <a:t>, Haifa, Jerusalem.</a:t>
            </a:r>
            <a:endParaRPr sz="2400" b="1" dirty="0">
              <a:solidFill>
                <a:srgbClr val="1155CC"/>
              </a:solidFill>
            </a:endParaRPr>
          </a:p>
          <a:p>
            <a:pPr marL="0" indent="0">
              <a:spcBef>
                <a:spcPts val="1333"/>
              </a:spcBef>
              <a:buNone/>
            </a:pPr>
            <a:r>
              <a:rPr lang="en" sz="2400" dirty="0"/>
              <a:t>SELECT Name</a:t>
            </a:r>
            <a:endParaRPr sz="2400" dirty="0"/>
          </a:p>
          <a:p>
            <a:pPr marL="0" indent="0">
              <a:spcBef>
                <a:spcPts val="1333"/>
              </a:spcBef>
              <a:buNone/>
            </a:pPr>
            <a:r>
              <a:rPr lang="en" sz="2400" dirty="0"/>
              <a:t>FROM Students</a:t>
            </a:r>
            <a:endParaRPr sz="2400" dirty="0"/>
          </a:p>
          <a:p>
            <a:pPr marL="0" indent="0">
              <a:spcBef>
                <a:spcPts val="1333"/>
              </a:spcBef>
              <a:buNone/>
            </a:pPr>
            <a:r>
              <a:rPr lang="en" sz="2400" dirty="0"/>
              <a:t>WHERE City IN (‘</a:t>
            </a:r>
            <a:r>
              <a:rPr lang="en" sz="2400" dirty="0" err="1"/>
              <a:t>Eilat</a:t>
            </a:r>
            <a:r>
              <a:rPr lang="en" sz="2400" dirty="0"/>
              <a:t>’, ‘Haifa’, ‘Jerusalem’)</a:t>
            </a:r>
            <a:endParaRPr sz="2400" dirty="0"/>
          </a:p>
          <a:p>
            <a:pPr marL="0" indent="0">
              <a:spcBef>
                <a:spcPts val="1333"/>
              </a:spcBef>
              <a:buNone/>
            </a:pPr>
            <a:endParaRPr sz="2400" dirty="0"/>
          </a:p>
          <a:p>
            <a:pPr marL="0" indent="0">
              <a:spcBef>
                <a:spcPts val="1333"/>
              </a:spcBef>
              <a:spcAft>
                <a:spcPts val="1333"/>
              </a:spcAft>
              <a:buNone/>
            </a:pPr>
            <a:endParaRPr sz="2400" dirty="0"/>
          </a:p>
        </p:txBody>
      </p:sp>
      <p:sp>
        <p:nvSpPr>
          <p:cNvPr id="822" name="Google Shape;822;p109"/>
          <p:cNvSpPr txBox="1">
            <a:spLocks noGrp="1"/>
          </p:cNvSpPr>
          <p:nvPr>
            <p:ph type="title"/>
          </p:nvPr>
        </p:nvSpPr>
        <p:spPr>
          <a:xfrm>
            <a:off x="9702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IN</a:t>
            </a:r>
            <a:endParaRPr sz="3200" b="1" dirty="0">
              <a:solidFill>
                <a:schemeClr val="tx1"/>
              </a:solidFill>
              <a:latin typeface="+mn-lt"/>
              <a:ea typeface="+mn-ea"/>
              <a:cs typeface="+mn-cs"/>
            </a:endParaRPr>
          </a:p>
        </p:txBody>
      </p:sp>
      <p:pic>
        <p:nvPicPr>
          <p:cNvPr id="823" name="Google Shape;823;p109"/>
          <p:cNvPicPr preferRelativeResize="0"/>
          <p:nvPr/>
        </p:nvPicPr>
        <p:blipFill>
          <a:blip r:embed="rId3">
            <a:alphaModFix/>
          </a:blip>
          <a:stretch>
            <a:fillRect/>
          </a:stretch>
        </p:blipFill>
        <p:spPr>
          <a:xfrm>
            <a:off x="8221133" y="3698866"/>
            <a:ext cx="2358936" cy="1047200"/>
          </a:xfrm>
          <a:prstGeom prst="rect">
            <a:avLst/>
          </a:prstGeom>
          <a:noFill/>
          <a:ln>
            <a:noFill/>
          </a:ln>
        </p:spPr>
      </p:pic>
      <p:sp>
        <p:nvSpPr>
          <p:cNvPr id="2" name="Slide Number Placeholder 1">
            <a:extLst>
              <a:ext uri="{FF2B5EF4-FFF2-40B4-BE49-F238E27FC236}">
                <a16:creationId xmlns:a16="http://schemas.microsoft.com/office/drawing/2014/main" id="{8FC9A15C-A9EB-5B42-A30D-51C42C214FE7}"/>
              </a:ext>
            </a:extLst>
          </p:cNvPr>
          <p:cNvSpPr>
            <a:spLocks noGrp="1"/>
          </p:cNvSpPr>
          <p:nvPr>
            <p:ph type="sldNum" idx="12"/>
          </p:nvPr>
        </p:nvSpPr>
        <p:spPr/>
        <p:txBody>
          <a:bodyPr/>
          <a:lstStyle/>
          <a:p>
            <a:fld id="{00000000-1234-1234-1234-123412341234}" type="slidenum">
              <a:rPr lang="en" smtClean="0"/>
              <a:pPr/>
              <a:t>60</a:t>
            </a:fld>
            <a:endParaRPr lang="e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10"/>
          <p:cNvSpPr txBox="1">
            <a:spLocks noGrp="1"/>
          </p:cNvSpPr>
          <p:nvPr>
            <p:ph type="body" idx="1"/>
          </p:nvPr>
        </p:nvSpPr>
        <p:spPr>
          <a:xfrm>
            <a:off x="972600" y="1244600"/>
            <a:ext cx="10251600" cy="4177966"/>
          </a:xfrm>
          <a:prstGeom prst="rect">
            <a:avLst/>
          </a:prstGeom>
        </p:spPr>
        <p:txBody>
          <a:bodyPr spcFirstLastPara="1" vert="horz" wrap="square" lIns="121900" tIns="121900" rIns="121900" bIns="121900" rtlCol="0" anchor="t" anchorCtr="0">
            <a:noAutofit/>
          </a:bodyPr>
          <a:lstStyle/>
          <a:p>
            <a:pPr marL="0" indent="0">
              <a:buNone/>
            </a:pPr>
            <a:r>
              <a:rPr lang="en-US" sz="2400" dirty="0"/>
              <a:t>What is the output of the following query?</a:t>
            </a:r>
          </a:p>
          <a:p>
            <a:pPr marL="0" indent="0">
              <a:spcBef>
                <a:spcPts val="1333"/>
              </a:spcBef>
              <a:buNone/>
            </a:pPr>
            <a:r>
              <a:rPr lang="en-US" sz="2400" dirty="0"/>
              <a:t>SELECT SUM(Amount)</a:t>
            </a:r>
          </a:p>
          <a:p>
            <a:pPr marL="0" indent="0">
              <a:spcBef>
                <a:spcPts val="1333"/>
              </a:spcBef>
              <a:buNone/>
            </a:pPr>
            <a:r>
              <a:rPr lang="en-US" sz="2400" dirty="0"/>
              <a:t>FROM Students</a:t>
            </a:r>
          </a:p>
          <a:p>
            <a:pPr marL="0" indent="0">
              <a:spcBef>
                <a:spcPts val="1333"/>
              </a:spcBef>
              <a:buNone/>
            </a:pPr>
            <a:r>
              <a:rPr lang="en-US" sz="2400" dirty="0"/>
              <a:t>WHERE EXISTS (</a:t>
            </a:r>
            <a:r>
              <a:rPr lang="en-US" sz="2400" dirty="0">
                <a:solidFill>
                  <a:srgbClr val="FF0000"/>
                </a:solidFill>
              </a:rPr>
              <a:t>SELECT *</a:t>
            </a:r>
          </a:p>
          <a:p>
            <a:pPr marL="0" indent="0">
              <a:spcBef>
                <a:spcPts val="1333"/>
              </a:spcBef>
              <a:buNone/>
            </a:pPr>
            <a:r>
              <a:rPr lang="en-US" sz="2400" dirty="0">
                <a:solidFill>
                  <a:srgbClr val="FF0000"/>
                </a:solidFill>
              </a:rPr>
              <a:t>		         FROM </a:t>
            </a:r>
            <a:r>
              <a:rPr lang="en-US" sz="2400" dirty="0" err="1">
                <a:solidFill>
                  <a:srgbClr val="FF0000"/>
                </a:solidFill>
              </a:rPr>
              <a:t>AgudaMembers</a:t>
            </a:r>
            <a:r>
              <a:rPr lang="en-US" sz="2400" dirty="0">
                <a:solidFill>
                  <a:srgbClr val="FF0000"/>
                </a:solidFill>
              </a:rPr>
              <a:t> as AM</a:t>
            </a:r>
          </a:p>
          <a:p>
            <a:pPr marL="0" indent="0">
              <a:spcBef>
                <a:spcPts val="1333"/>
              </a:spcBef>
              <a:buNone/>
            </a:pPr>
            <a:r>
              <a:rPr lang="en-US" sz="2400" dirty="0">
                <a:solidFill>
                  <a:srgbClr val="FF0000"/>
                </a:solidFill>
              </a:rPr>
              <a:t>		         WHERE </a:t>
            </a:r>
            <a:r>
              <a:rPr lang="en-US" sz="2400" dirty="0" err="1">
                <a:solidFill>
                  <a:srgbClr val="FF0000"/>
                </a:solidFill>
              </a:rPr>
              <a:t>AM.Name</a:t>
            </a:r>
            <a:r>
              <a:rPr lang="en-US" sz="2400" dirty="0">
                <a:solidFill>
                  <a:srgbClr val="FF0000"/>
                </a:solidFill>
              </a:rPr>
              <a:t> = </a:t>
            </a:r>
            <a:r>
              <a:rPr lang="en-US" sz="2400" dirty="0" err="1">
                <a:solidFill>
                  <a:srgbClr val="FF0000"/>
                </a:solidFill>
              </a:rPr>
              <a:t>Students.Name</a:t>
            </a:r>
            <a:r>
              <a:rPr lang="en-US" sz="2400" dirty="0"/>
              <a:t>)</a:t>
            </a:r>
          </a:p>
          <a:p>
            <a:pPr marL="0" indent="0">
              <a:spcBef>
                <a:spcPts val="1333"/>
              </a:spcBef>
              <a:buNone/>
            </a:pPr>
            <a:endParaRPr lang="en-US" sz="2400" dirty="0"/>
          </a:p>
          <a:p>
            <a:pPr marL="0" indent="0">
              <a:spcBef>
                <a:spcPts val="1333"/>
              </a:spcBef>
              <a:spcAft>
                <a:spcPts val="1333"/>
              </a:spcAft>
              <a:buNone/>
            </a:pPr>
            <a:endParaRPr lang="en-US" sz="2400" dirty="0"/>
          </a:p>
        </p:txBody>
      </p:sp>
      <p:sp>
        <p:nvSpPr>
          <p:cNvPr id="829" name="Google Shape;829;p110"/>
          <p:cNvSpPr txBox="1">
            <a:spLocks noGrp="1"/>
          </p:cNvSpPr>
          <p:nvPr>
            <p:ph type="title"/>
          </p:nvPr>
        </p:nvSpPr>
        <p:spPr>
          <a:xfrm>
            <a:off x="972600" y="-1214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EXIST</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38B2A843-576C-384B-8D0B-B60172BF4FAF}"/>
              </a:ext>
            </a:extLst>
          </p:cNvPr>
          <p:cNvSpPr>
            <a:spLocks noGrp="1"/>
          </p:cNvSpPr>
          <p:nvPr>
            <p:ph type="sldNum" idx="12"/>
          </p:nvPr>
        </p:nvSpPr>
        <p:spPr/>
        <p:txBody>
          <a:bodyPr/>
          <a:lstStyle/>
          <a:p>
            <a:fld id="{00000000-1234-1234-1234-123412341234}" type="slidenum">
              <a:rPr lang="en" smtClean="0"/>
              <a:pPr/>
              <a:t>61</a:t>
            </a:fld>
            <a:endParaRPr lang="e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5" name="Google Shape;835;p111"/>
          <p:cNvPicPr preferRelativeResize="0"/>
          <p:nvPr/>
        </p:nvPicPr>
        <p:blipFill>
          <a:blip r:embed="rId3">
            <a:alphaModFix/>
          </a:blip>
          <a:stretch>
            <a:fillRect/>
          </a:stretch>
        </p:blipFill>
        <p:spPr>
          <a:xfrm>
            <a:off x="4304167" y="2582333"/>
            <a:ext cx="3061833" cy="1502834"/>
          </a:xfrm>
          <a:prstGeom prst="rect">
            <a:avLst/>
          </a:prstGeom>
          <a:noFill/>
          <a:ln>
            <a:noFill/>
          </a:ln>
        </p:spPr>
      </p:pic>
      <p:sp>
        <p:nvSpPr>
          <p:cNvPr id="4" name="Slide Number Placeholder 3">
            <a:extLst>
              <a:ext uri="{FF2B5EF4-FFF2-40B4-BE49-F238E27FC236}">
                <a16:creationId xmlns:a16="http://schemas.microsoft.com/office/drawing/2014/main" id="{9A1B10FB-313C-5F43-9745-67E0C9795990}"/>
              </a:ext>
            </a:extLst>
          </p:cNvPr>
          <p:cNvSpPr>
            <a:spLocks noGrp="1"/>
          </p:cNvSpPr>
          <p:nvPr>
            <p:ph type="sldNum" idx="12"/>
          </p:nvPr>
        </p:nvSpPr>
        <p:spPr/>
        <p:txBody>
          <a:bodyPr/>
          <a:lstStyle/>
          <a:p>
            <a:fld id="{00000000-1234-1234-1234-123412341234}" type="slidenum">
              <a:rPr lang="en" smtClean="0"/>
              <a:pPr/>
              <a:t>62</a:t>
            </a:fld>
            <a:endParaRPr lang="e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15121</TotalTime>
  <Words>2597</Words>
  <Application>Microsoft Macintosh PowerPoint</Application>
  <PresentationFormat>Widescreen</PresentationFormat>
  <Paragraphs>454</Paragraphs>
  <Slides>62</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Calibri</vt:lpstr>
      <vt:lpstr>Calibri Light</vt:lpstr>
      <vt:lpstr>Lato</vt:lpstr>
      <vt:lpstr>Tahoma</vt:lpstr>
      <vt:lpstr>Times New Roman</vt:lpstr>
      <vt:lpstr>Wingdings 2</vt:lpstr>
      <vt:lpstr>Office Theme</vt:lpstr>
      <vt:lpstr>Business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KPI</vt:lpstr>
      <vt:lpstr>  The Five Conditions of good KPI’s - SMART </vt:lpstr>
      <vt:lpstr>  The Five Conditions of good KPI’s - SMART </vt:lpstr>
      <vt:lpstr>How To Achieve Success?</vt:lpstr>
      <vt:lpstr>KPI vs Metrics</vt:lpstr>
      <vt:lpstr>Why Are KPIs Important?</vt:lpstr>
      <vt:lpstr>Why Are KPIs Important?</vt:lpstr>
      <vt:lpstr>Examples of KPIs</vt:lpstr>
      <vt:lpstr>PowerPoint Presentation</vt:lpstr>
      <vt:lpstr>What Is Data Mining?</vt:lpstr>
      <vt:lpstr>Knowledge Discovery (KDD) Process</vt:lpstr>
      <vt:lpstr>Data Mining and Business Intelligence </vt:lpstr>
      <vt:lpstr>Applications</vt:lpstr>
      <vt:lpstr>Example - Market Analysis and Management</vt:lpstr>
      <vt:lpstr>Example - Market Analysis and Management</vt:lpstr>
      <vt:lpstr>Types of Data</vt:lpstr>
      <vt:lpstr>Data Mining Models and Tasks</vt:lpstr>
      <vt:lpstr>PowerPoint Presentation</vt:lpstr>
      <vt:lpstr>SQL - Structured Query Language</vt:lpstr>
      <vt:lpstr>SQL </vt:lpstr>
      <vt:lpstr>Overview</vt:lpstr>
      <vt:lpstr>PowerPoint Presentation</vt:lpstr>
      <vt:lpstr>How to merge two tables ? - Option 1 </vt:lpstr>
      <vt:lpstr>How to merge two tables ? - Option 2</vt:lpstr>
      <vt:lpstr>ON VS. USING</vt:lpstr>
      <vt:lpstr>How to merge two tables ? - Option 3</vt:lpstr>
      <vt:lpstr>JOIN Types </vt:lpstr>
      <vt:lpstr>Let’s start with an example..</vt:lpstr>
      <vt:lpstr>LEFT OUTER JOIN</vt:lpstr>
      <vt:lpstr>RIGHT OUTER JOIN</vt:lpstr>
      <vt:lpstr>FULL OUTER JOIN</vt:lpstr>
      <vt:lpstr>Handling NULL values</vt:lpstr>
      <vt:lpstr>Example </vt:lpstr>
      <vt:lpstr>Example </vt:lpstr>
      <vt:lpstr>Example </vt:lpstr>
      <vt:lpstr>Important Notes</vt:lpstr>
      <vt:lpstr>CREATE Tables</vt:lpstr>
      <vt:lpstr>1 - Define your table schema + types</vt:lpstr>
      <vt:lpstr>2 - Insert Values (with the same order!)</vt:lpstr>
      <vt:lpstr>3 - Check your Insertion</vt:lpstr>
      <vt:lpstr>SubQuery with ALL</vt:lpstr>
      <vt:lpstr>SubQuery with IN</vt:lpstr>
      <vt:lpstr>SubQuery with EXIST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332</cp:revision>
  <dcterms:created xsi:type="dcterms:W3CDTF">2021-02-09T13:47:38Z</dcterms:created>
  <dcterms:modified xsi:type="dcterms:W3CDTF">2023-02-20T09:18:53Z</dcterms:modified>
</cp:coreProperties>
</file>