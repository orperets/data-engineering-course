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7" r:id="rId2"/>
    <p:sldId id="261" r:id="rId3"/>
    <p:sldId id="431" r:id="rId4"/>
    <p:sldId id="392" r:id="rId5"/>
    <p:sldId id="262" r:id="rId6"/>
    <p:sldId id="599" r:id="rId7"/>
    <p:sldId id="600" r:id="rId8"/>
    <p:sldId id="597" r:id="rId9"/>
    <p:sldId id="598" r:id="rId10"/>
    <p:sldId id="402" r:id="rId11"/>
    <p:sldId id="404" r:id="rId12"/>
    <p:sldId id="589" r:id="rId13"/>
    <p:sldId id="590" r:id="rId14"/>
    <p:sldId id="603" r:id="rId15"/>
    <p:sldId id="606" r:id="rId16"/>
    <p:sldId id="607" r:id="rId17"/>
    <p:sldId id="605" r:id="rId18"/>
    <p:sldId id="604" r:id="rId19"/>
    <p:sldId id="592" r:id="rId20"/>
    <p:sldId id="593" r:id="rId21"/>
    <p:sldId id="717" r:id="rId22"/>
    <p:sldId id="263" r:id="rId23"/>
    <p:sldId id="594" r:id="rId24"/>
    <p:sldId id="595" r:id="rId25"/>
    <p:sldId id="635" r:id="rId26"/>
    <p:sldId id="714" r:id="rId27"/>
    <p:sldId id="588" r:id="rId28"/>
    <p:sldId id="608" r:id="rId29"/>
    <p:sldId id="609" r:id="rId30"/>
    <p:sldId id="596" r:id="rId31"/>
    <p:sldId id="617" r:id="rId32"/>
    <p:sldId id="718" r:id="rId33"/>
    <p:sldId id="618" r:id="rId34"/>
    <p:sldId id="619" r:id="rId35"/>
    <p:sldId id="621" r:id="rId36"/>
    <p:sldId id="622" r:id="rId37"/>
    <p:sldId id="623" r:id="rId38"/>
    <p:sldId id="631" r:id="rId39"/>
    <p:sldId id="620" r:id="rId40"/>
    <p:sldId id="632" r:id="rId41"/>
    <p:sldId id="633" r:id="rId42"/>
    <p:sldId id="610" r:id="rId43"/>
    <p:sldId id="611" r:id="rId44"/>
    <p:sldId id="636" r:id="rId45"/>
    <p:sldId id="612" r:id="rId46"/>
    <p:sldId id="613" r:id="rId47"/>
    <p:sldId id="614" r:id="rId48"/>
    <p:sldId id="616" r:id="rId4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D14C80-B0B1-7F4D-9F25-7E9266B119CB}">
          <p14:sldIdLst>
            <p14:sldId id="257"/>
            <p14:sldId id="261"/>
            <p14:sldId id="431"/>
            <p14:sldId id="392"/>
            <p14:sldId id="262"/>
            <p14:sldId id="599"/>
            <p14:sldId id="600"/>
            <p14:sldId id="597"/>
            <p14:sldId id="598"/>
            <p14:sldId id="402"/>
            <p14:sldId id="404"/>
            <p14:sldId id="589"/>
            <p14:sldId id="590"/>
            <p14:sldId id="603"/>
            <p14:sldId id="606"/>
            <p14:sldId id="607"/>
            <p14:sldId id="605"/>
            <p14:sldId id="604"/>
            <p14:sldId id="592"/>
            <p14:sldId id="593"/>
            <p14:sldId id="717"/>
            <p14:sldId id="263"/>
            <p14:sldId id="594"/>
            <p14:sldId id="595"/>
            <p14:sldId id="635"/>
            <p14:sldId id="714"/>
            <p14:sldId id="588"/>
            <p14:sldId id="608"/>
            <p14:sldId id="609"/>
            <p14:sldId id="596"/>
            <p14:sldId id="617"/>
            <p14:sldId id="718"/>
            <p14:sldId id="618"/>
            <p14:sldId id="619"/>
            <p14:sldId id="621"/>
            <p14:sldId id="622"/>
            <p14:sldId id="623"/>
            <p14:sldId id="631"/>
            <p14:sldId id="620"/>
            <p14:sldId id="632"/>
            <p14:sldId id="633"/>
            <p14:sldId id="610"/>
            <p14:sldId id="611"/>
            <p14:sldId id="636"/>
            <p14:sldId id="612"/>
            <p14:sldId id="613"/>
            <p14:sldId id="614"/>
            <p14:sldId id="6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 autoAdjust="0"/>
    <p:restoredTop sz="94499"/>
  </p:normalViewPr>
  <p:slideViewPr>
    <p:cSldViewPr snapToGrid="0">
      <p:cViewPr varScale="1">
        <p:scale>
          <a:sx n="151" d="100"/>
          <a:sy n="151" d="100"/>
        </p:scale>
        <p:origin x="1560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4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# Papers in Microsoft Academic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Papers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14B-3146-8088-81C5C64AE4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0" tIns="0" rIns="0" bIns="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I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Sheet1!$A$2:$A$30</c:f>
              <c:numCache>
                <c:formatCode>General</c:formatCode>
                <c:ptCount val="29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</c:numCache>
            </c:numRef>
          </c:xVal>
          <c:yVal>
            <c:numRef>
              <c:f>Sheet1!$B$2:$B$30</c:f>
              <c:numCache>
                <c:formatCode>General</c:formatCode>
                <c:ptCount val="29"/>
                <c:pt idx="0">
                  <c:v>1</c:v>
                </c:pt>
                <c:pt idx="1">
                  <c:v>0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0</c:v>
                </c:pt>
                <c:pt idx="7">
                  <c:v>25</c:v>
                </c:pt>
                <c:pt idx="8">
                  <c:v>44</c:v>
                </c:pt>
                <c:pt idx="9">
                  <c:v>63</c:v>
                </c:pt>
                <c:pt idx="10">
                  <c:v>115</c:v>
                </c:pt>
                <c:pt idx="11">
                  <c:v>195</c:v>
                </c:pt>
                <c:pt idx="12">
                  <c:v>240</c:v>
                </c:pt>
                <c:pt idx="13">
                  <c:v>308</c:v>
                </c:pt>
                <c:pt idx="14">
                  <c:v>415</c:v>
                </c:pt>
                <c:pt idx="15">
                  <c:v>487</c:v>
                </c:pt>
                <c:pt idx="16">
                  <c:v>590</c:v>
                </c:pt>
                <c:pt idx="17">
                  <c:v>766</c:v>
                </c:pt>
                <c:pt idx="18">
                  <c:v>985</c:v>
                </c:pt>
                <c:pt idx="19">
                  <c:v>1311</c:v>
                </c:pt>
                <c:pt idx="20">
                  <c:v>1645</c:v>
                </c:pt>
                <c:pt idx="21">
                  <c:v>1898</c:v>
                </c:pt>
                <c:pt idx="22">
                  <c:v>2172</c:v>
                </c:pt>
                <c:pt idx="23">
                  <c:v>2571</c:v>
                </c:pt>
                <c:pt idx="24">
                  <c:v>2687</c:v>
                </c:pt>
                <c:pt idx="25">
                  <c:v>2924</c:v>
                </c:pt>
                <c:pt idx="26">
                  <c:v>3075</c:v>
                </c:pt>
                <c:pt idx="27">
                  <c:v>3320</c:v>
                </c:pt>
                <c:pt idx="28">
                  <c:v>3585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14B-3146-8088-81C5C64AE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9295552"/>
        <c:axId val="329298816"/>
      </c:scatterChart>
      <c:valAx>
        <c:axId val="329295552"/>
        <c:scaling>
          <c:orientation val="minMax"/>
          <c:max val="2018"/>
          <c:min val="199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29298816"/>
        <c:crosses val="autoZero"/>
        <c:crossBetween val="midCat"/>
        <c:majorUnit val="2"/>
      </c:valAx>
      <c:valAx>
        <c:axId val="32929881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3292955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3F32-7DA3-4013-BE26-9191402E55C8}" type="datetimeFigureOut">
              <a:rPr lang="en-IL" smtClean="0"/>
              <a:t>03/05/2022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866D-0BA4-4B03-8FA8-A96EE1FB39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1DDAB5-1157-40A4-A09A-6B96A885E9D7}" type="slidenum">
              <a:rPr lang="he-IL" smtClean="0"/>
              <a:pPr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3070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1DDAB5-1157-40A4-A09A-6B96A885E9D7}" type="slidenum">
              <a:rPr lang="he-IL" smtClean="0"/>
              <a:pPr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8325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3902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4030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633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81144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850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8A840-0799-4297-A31A-DA5EB3ACA9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54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8A840-0799-4297-A31A-DA5EB3ACA9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79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8A840-0799-4297-A31A-DA5EB3ACA9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54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8A840-0799-4297-A31A-DA5EB3ACA9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57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8A840-0799-4297-A31A-DA5EB3ACA9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63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8A840-0799-4297-A31A-DA5EB3ACA9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85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2553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3483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3215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5820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9988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1890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08755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6594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741894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8501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87063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6877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5163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633058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3264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28858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75943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80201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9007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34256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875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3BB-FAA3-46ED-8326-AD7EE26F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615E8-3C95-4096-8039-02C1046EA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2517-A02E-4027-BA2C-117CE149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157C-9C36-0447-8046-5352E14D0F80}" type="datetime8">
              <a:rPr lang="en-US" smtClean="0"/>
              <a:t>5/3/22 12:09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C8B8-C77F-4E96-831A-FC160B4A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471-5067-4CA0-9D60-D86D047E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2643F8-DFCD-4B5F-9519-933435FA18F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0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96E8B87-F9FD-464E-B534-DBC261D83ADB}" type="datetime8">
              <a:rPr lang="en-US" smtClean="0"/>
              <a:t>5/3/22 12:09 PM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7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DB71-F16A-411E-A1F0-229842FF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C0A3-903B-4C81-96AA-FA5FE787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F274-0FDC-4FF1-AD1D-E33CBC0B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E3E6-91E3-074B-992C-DFAD5D8203F1}" type="datetime8">
              <a:rPr lang="en-US" smtClean="0"/>
              <a:t>5/3/22 12:09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7186-B90F-456C-A210-0CD662FC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F8B6-F957-4C26-89F8-62EE089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78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B62-2976-4F72-B0D1-D7D5CC8D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0335-BA28-442F-B929-834D11AFB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0261-93E1-42EC-B45C-7A9C69E6D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B8B7-4BAF-485E-8E14-0A3937A2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60D7-63E2-8F4C-B61F-30E5198AD46D}" type="datetime8">
              <a:rPr lang="en-US" smtClean="0"/>
              <a:t>5/3/22 12:09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101D7-C282-4291-A047-A469118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ACF7-1919-4005-8D18-C065FE3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82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D40-5A05-454B-BF8D-2ADD226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EE7E-1856-4D6C-95E1-B25F3B5C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7349D-B192-40B0-A682-C3914DCE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6D532-BD26-45AE-91E7-2BCEE71DE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9C4E2-6DDF-4BCE-9E96-2FEA03A9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B11A-C4F8-4F85-A0D5-34A703D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54800-C55A-184D-A866-767457B6C650}" type="datetime8">
              <a:rPr lang="en-US" smtClean="0"/>
              <a:t>5/3/22 12:09 PM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E969-DC51-428E-A40E-10E2378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4C0B3-7D21-431B-8C06-6364026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00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7541-BDF2-4645-8A4E-8E2D7EE21A60}" type="datetime8">
              <a:rPr lang="en-US" smtClean="0"/>
              <a:t>5/3/22 12:09 PM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704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F9A-B863-4CA1-A3D9-2612454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1F0E-3E80-FE45-B8FD-1C1C83A92A89}" type="datetime8">
              <a:rPr lang="en-US" smtClean="0"/>
              <a:t>5/3/22 12:09 PM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56BA7-0F82-4B54-82BF-04EC0B0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46C4-110C-4F16-A55B-2CA103D5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04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F8D4-37EB-4208-8EBF-A36DA15D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644F-4231-4135-985A-E35BB7DF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84D-8409-4F23-A4F3-946B11E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D6E5-0ADE-47F1-BF75-064C0FC0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BC4-6D1E-DE4B-8507-B318EEC4AD62}" type="datetime8">
              <a:rPr lang="en-US" smtClean="0"/>
              <a:t>5/3/22 12:09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5BE5-8107-4C77-A0C7-320528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9687-8674-4B44-BCA8-CA55A7F6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5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DB8B-F360-41C1-9E59-41BC175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284B-956D-4A04-AA87-11920CE3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7EC3-09A8-4251-B03C-6044FA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6FFE-DADD-4559-BD8F-E4090E8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4522-6391-7F4B-8B88-660A337C3B79}" type="datetime8">
              <a:rPr lang="en-US" smtClean="0"/>
              <a:t>5/3/22 12:09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7321-97EB-4815-A837-E4FF273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595F-1D61-441A-9A46-FC01E160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91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421-C27E-4305-9BA4-ABDBC270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482A-BFEA-4A85-973C-0414EA50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E6C9-3B2C-4E59-B407-9DEAA519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B7FFB-2FB8-ED4D-871F-3A525991ED9E}" type="datetime8">
              <a:rPr lang="en-US" smtClean="0"/>
              <a:t>5/3/22 12:09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3FA1-84D5-4374-B090-8EED7F0E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D06-0BF6-4041-954F-C1D4B14F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21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0116A-EF9A-40BC-BE26-84DF8D3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B09AB-DE01-41A1-8BED-34FC1B48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832B-4F28-4DE3-AF6D-37975A09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A56F-98C1-D743-A051-0A3D6E708A11}" type="datetime8">
              <a:rPr lang="en-US" smtClean="0"/>
              <a:t>5/3/22 12:09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4A4-73D9-4140-BB4B-47A62F8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DA01-1032-4191-848B-F8A71F65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113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>
            <a:lvl1pPr algn="ctr">
              <a:defRPr sz="32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737" y="1325563"/>
            <a:ext cx="10988040" cy="48514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2EB2-EEA5-4F0F-8417-A3BB824EEB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0CA3EED-EB01-0B43-A543-8EA8F019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9896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5FF43-15EB-48BF-9377-EC78CBDC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9A9A-96AC-434D-8596-80E77199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51C-500A-4CAF-8B1B-C429EEE2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C74C-E7D5-9845-AF76-D52732F67C64}" type="datetime8">
              <a:rPr lang="en-US" smtClean="0"/>
              <a:t>5/3/22 12:09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936C9-3550-4463-A834-A8233EB9F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0A5C-A380-420D-86FA-95B4F828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44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industries/retail/our-insights/how-retailers-can-keep-up-with-consumers" TargetMode="External"/><Relationship Id="rId2" Type="http://schemas.openxmlformats.org/officeDocument/2006/relationships/hyperlink" Target="https://www.cnet.com/news/youtube-ces-2018-neal-mohan/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tags" Target="../tags/tag2.xml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tags" Target="../tags/tag1.xml"/><Relationship Id="rId16" Type="http://schemas.openxmlformats.org/officeDocument/2006/relationships/image" Target="../media/image16.jpeg"/><Relationship Id="rId20" Type="http://schemas.openxmlformats.org/officeDocument/2006/relationships/image" Target="../media/image20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1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near_regressio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202003"/>
            <a:ext cx="11768667" cy="260297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IL" sz="7200" u="sng" dirty="0">
                <a:cs typeface="+mn-cs"/>
              </a:rPr>
              <a:t>Cloud Based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BFDD-2D28-4F88-A89F-35EB6574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04973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dirty="0"/>
              <a:t>Lecture 9: Recommendation Systems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0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631951" y="6442075"/>
            <a:ext cx="671513" cy="268288"/>
          </a:xfrm>
          <a:prstGeom prst="rect">
            <a:avLst/>
          </a:prstGeom>
        </p:spPr>
        <p:txBody>
          <a:bodyPr/>
          <a:lstStyle/>
          <a:p>
            <a:fld id="{FB54F68F-55FB-4A07-887D-E3C66E96E8FF}" type="slidenum">
              <a:rPr lang="he-IL"/>
              <a:pPr/>
              <a:t>2</a:t>
            </a:fld>
            <a:endParaRPr lang="en-GB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467600" cy="725470"/>
          </a:xfrm>
        </p:spPr>
        <p:txBody>
          <a:bodyPr>
            <a:normAutofit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931333"/>
            <a:ext cx="11514666" cy="5542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recommender system</a:t>
            </a:r>
            <a:r>
              <a:rPr lang="en-US" dirty="0"/>
              <a:t> (RS) helps users that have no sufficient competence or time to evaluate the, potentially overwhelming, number of alternatives offered by a web site. </a:t>
            </a:r>
            <a:r>
              <a:rPr lang="en-US" altLang="ko-KR" dirty="0">
                <a:ea typeface="Gulim" pitchFamily="34" charset="-127"/>
              </a:rPr>
              <a:t>In their simplest form, RSs recommend to their users personalized and </a:t>
            </a:r>
            <a:r>
              <a:rPr lang="en-US" altLang="ko-KR" b="1" dirty="0">
                <a:ea typeface="Gulim" pitchFamily="34" charset="-127"/>
              </a:rPr>
              <a:t>ranked lists of items</a:t>
            </a:r>
          </a:p>
          <a:p>
            <a:pPr marL="457200" indent="-457200"/>
            <a:endParaRPr lang="en-US" dirty="0"/>
          </a:p>
        </p:txBody>
      </p:sp>
      <p:pic>
        <p:nvPicPr>
          <p:cNvPr id="5" name="Picture 2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2947" y="2965697"/>
            <a:ext cx="2421034" cy="1625179"/>
          </a:xfrm>
          <a:prstGeom prst="rect">
            <a:avLst/>
          </a:prstGeom>
          <a:noFill/>
          <a:ln w="12700">
            <a:solidFill>
              <a:srgbClr val="C0C0C0"/>
            </a:solidFill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931" y="2974115"/>
            <a:ext cx="3841802" cy="16083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548" y="4649638"/>
            <a:ext cx="5076056" cy="204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0907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 of Recommendation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35% of the purchases on </a:t>
            </a:r>
            <a:r>
              <a:rPr lang="en-US" dirty="0">
                <a:solidFill>
                  <a:srgbClr val="00B050"/>
                </a:solidFill>
              </a:rPr>
              <a:t>Amazon</a:t>
            </a:r>
            <a:r>
              <a:rPr lang="en-US" dirty="0"/>
              <a:t> are the result of their recommender system.</a:t>
            </a:r>
          </a:p>
          <a:p>
            <a:pPr algn="l" rtl="0"/>
            <a:r>
              <a:rPr lang="en-US" dirty="0"/>
              <a:t>Recommendations are responsible for 70% of the time people spend watching videos on </a:t>
            </a:r>
            <a:r>
              <a:rPr lang="en-US" b="1" dirty="0">
                <a:solidFill>
                  <a:srgbClr val="00B050"/>
                </a:solidFill>
                <a:hlinkClick r:id="rId2"/>
              </a:rPr>
              <a:t>YouTube</a:t>
            </a:r>
            <a:r>
              <a:rPr lang="en-US" dirty="0"/>
              <a:t>.</a:t>
            </a:r>
          </a:p>
          <a:p>
            <a:pPr algn="l" rtl="0"/>
            <a:r>
              <a:rPr lang="en-US" dirty="0">
                <a:solidFill>
                  <a:srgbClr val="FF0000"/>
                </a:solidFill>
              </a:rPr>
              <a:t>75% of what people are watching on Netflix comes from recommendations, according to </a:t>
            </a:r>
            <a:r>
              <a:rPr lang="en-US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endParaRPr lang="en-US" dirty="0">
              <a:solidFill>
                <a:srgbClr val="FF0000"/>
              </a:solidFill>
            </a:endParaRPr>
          </a:p>
          <a:p>
            <a:pPr algn="l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9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4629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The Rise of the Recommender System</a:t>
            </a:r>
          </a:p>
        </p:txBody>
      </p:sp>
      <p:pic>
        <p:nvPicPr>
          <p:cNvPr id="7170" name="Picture 2" descr="https://im4.ezgif.com/tmp/ezgif-4-170149dc-gif/ezgif-4-90f5844f80.pdf-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888" y="4797152"/>
            <a:ext cx="753920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1415480" y="1118788"/>
          <a:ext cx="9252520" cy="5416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586" y="5551728"/>
            <a:ext cx="736575" cy="613577"/>
          </a:xfrm>
          <a:prstGeom prst="rect">
            <a:avLst/>
          </a:prstGeom>
        </p:spPr>
      </p:pic>
      <p:pic>
        <p:nvPicPr>
          <p:cNvPr id="7" name="Picture 2" descr="Image result for netflix priz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40" y="4221088"/>
            <a:ext cx="611836" cy="82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128448" y="177281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45383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Chart bld="category"/>
        </p:bldSub>
      </p:bldGraphic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9" name="Rectangle 12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2400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r:id="rId6" imgW="0" imgH="0" progId="">
                  <p:embed/>
                </p:oleObj>
              </mc:Choice>
              <mc:Fallback>
                <p:oleObj r:id="rId6" imgW="0" imgH="0" progId="">
                  <p:embed/>
                  <p:pic>
                    <p:nvPicPr>
                      <p:cNvPr id="14339" name="Rectangle 12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Rectangle 88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1828801" y="225425"/>
            <a:ext cx="8532813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</a:pPr>
            <a:r>
              <a:rPr lang="en-US" sz="3200" b="1" dirty="0">
                <a:ea typeface="+mj-ea"/>
                <a:cs typeface="+mj-cs"/>
              </a:rPr>
              <a:t>Recommendation Models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149475" y="1584347"/>
            <a:ext cx="7759700" cy="2365375"/>
            <a:chOff x="566738" y="3697288"/>
            <a:chExt cx="7759700" cy="2365375"/>
          </a:xfrm>
        </p:grpSpPr>
        <p:pic>
          <p:nvPicPr>
            <p:cNvPr id="104471" name="Picture 2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66738" y="3979863"/>
              <a:ext cx="2471738" cy="124618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606" name="Picture 5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3963" y="3836988"/>
              <a:ext cx="1528762" cy="954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454" name="Picture 6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548188" y="3697288"/>
              <a:ext cx="2378075" cy="149066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4458" name="Picture 10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1781176" y="3697288"/>
              <a:ext cx="2767012" cy="18383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4457" name="Picture 9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2708276" y="5226051"/>
              <a:ext cx="1839912" cy="7651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4459" name="Picture 11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1055688" y="4791076"/>
              <a:ext cx="1652588" cy="12287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611" name="Picture 4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425" y="4376738"/>
              <a:ext cx="1670050" cy="1055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460" name="Picture 12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4547905" y="5535455"/>
              <a:ext cx="1428170" cy="30748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04462" name="Picture 14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6081713" y="4022726"/>
              <a:ext cx="1997075" cy="151288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614" name="Picture 8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8188" y="5114925"/>
              <a:ext cx="3654425" cy="42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615" name="Picture 7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5850" y="4791075"/>
              <a:ext cx="45767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616" name="Picture 13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0388" y="4478338"/>
              <a:ext cx="2562225" cy="312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466" name="Picture 18"/>
            <p:cNvPicPr>
              <a:picLocks noChangeAspect="1"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6526213" y="4987926"/>
              <a:ext cx="1800225" cy="10033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4463" name="Picture 15"/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5476876" y="5432426"/>
              <a:ext cx="604837" cy="13811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14619" name="Group 54"/>
            <p:cNvGrpSpPr>
              <a:grpSpLocks/>
            </p:cNvGrpSpPr>
            <p:nvPr/>
          </p:nvGrpSpPr>
          <p:grpSpPr bwMode="auto">
            <a:xfrm>
              <a:off x="5746750" y="5675313"/>
              <a:ext cx="1025525" cy="387350"/>
              <a:chOff x="5746110" y="5674618"/>
              <a:chExt cx="1025960" cy="387585"/>
            </a:xfrm>
          </p:grpSpPr>
          <p:pic>
            <p:nvPicPr>
              <p:cNvPr id="104469" name="Picture 21"/>
              <p:cNvPicPr>
                <a:picLocks noChangeAspect="1" noChangeArrowheads="1"/>
              </p:cNvPicPr>
              <p:nvPr/>
            </p:nvPicPr>
            <p:blipFill>
              <a:blip r:embed="rId21" cstate="print"/>
              <a:srcRect/>
              <a:stretch>
                <a:fillRect/>
              </a:stretch>
            </p:blipFill>
            <p:spPr bwMode="auto">
              <a:xfrm>
                <a:off x="5746111" y="5674618"/>
                <a:ext cx="1025960" cy="387585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04470" name="Picture 22"/>
              <p:cNvPicPr>
                <a:picLocks noChangeAspect="1" noChangeArrowheads="1"/>
              </p:cNvPicPr>
              <p:nvPr/>
            </p:nvPicPr>
            <p:blipFill>
              <a:blip r:embed="rId22" cstate="print"/>
              <a:srcRect/>
              <a:stretch>
                <a:fillRect/>
              </a:stretch>
            </p:blipFill>
            <p:spPr bwMode="auto">
              <a:xfrm>
                <a:off x="5761993" y="5695269"/>
                <a:ext cx="606682" cy="247800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</p:grp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1828801" y="4289000"/>
          <a:ext cx="8532813" cy="2092328"/>
        </p:xfrm>
        <a:graphic>
          <a:graphicData uri="http://schemas.openxmlformats.org/drawingml/2006/table">
            <a:tbl>
              <a:tblPr/>
              <a:tblGrid>
                <a:gridCol w="1905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69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8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2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09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76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491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03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924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221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4159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13653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Model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Commonness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FFFFFF"/>
                          </a:solidFill>
                          <a:latin typeface="Tele-GroteskNor"/>
                        </a:rPr>
                        <a:t>Used By: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Jinni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Taste Kid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Nanocrowd</a:t>
                      </a:r>
                      <a:r>
                        <a:rPr lang="en-US" sz="600" b="0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Clerkdogs</a:t>
                      </a:r>
                      <a:endParaRPr lang="en-US" sz="600" b="0" i="0" u="none" strike="noStrike" baseline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Criticker</a:t>
                      </a:r>
                      <a:endParaRPr lang="en-US" sz="600" b="0" i="0" u="none" strike="noStrike" baseline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IMDb</a:t>
                      </a:r>
                      <a:endParaRPr lang="en-US" sz="600" b="0" i="0" u="none" strike="noStrike" baseline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Flixster</a:t>
                      </a:r>
                      <a:endParaRPr lang="en-US" sz="600" b="0" i="0" u="none" strike="noStrike" baseline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Movielens</a:t>
                      </a:r>
                      <a:endParaRPr lang="en-US" sz="600" b="0" i="0" u="none" strike="noStrike" baseline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Netflix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Shazam</a:t>
                      </a:r>
                      <a:endParaRPr lang="en-US" sz="600" b="0" i="0" u="none" strike="noStrike" baseline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Pandora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FFFFFF"/>
                          </a:solidFill>
                          <a:latin typeface="+mn-lt"/>
                        </a:rPr>
                        <a:t>LastFM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YooChoose</a:t>
                      </a:r>
                      <a:endParaRPr lang="en-US" sz="600" b="0" i="0" u="none" strike="noStrike" baseline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Think Analytics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 err="1">
                          <a:solidFill>
                            <a:srgbClr val="FFFFFF"/>
                          </a:solidFill>
                          <a:latin typeface="+mn-lt"/>
                        </a:rPr>
                        <a:t>Itunes</a:t>
                      </a:r>
                      <a:endParaRPr lang="en-US" sz="600" b="0" i="0" u="none" strike="noStrike" baseline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>
                          <a:solidFill>
                            <a:srgbClr val="FFFFFF"/>
                          </a:solidFill>
                          <a:latin typeface="+mn-lt"/>
                        </a:rPr>
                        <a:t>Amazon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Collaborative Filtering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Content-Based Techniques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5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Knowledge-Based Techniques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5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Stereotype-Based Recommender Systems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0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baseline="0" dirty="0" err="1">
                          <a:latin typeface="+mn-lt"/>
                        </a:rPr>
                        <a:t>Ontologies</a:t>
                      </a:r>
                      <a:r>
                        <a:rPr lang="en-US" sz="700" b="1" i="0" u="none" strike="noStrike" baseline="0" dirty="0">
                          <a:latin typeface="+mn-lt"/>
                        </a:rPr>
                        <a:t> and Semantic Web Technologies for Recommender Systems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6534">
                <a:tc>
                  <a:txBody>
                    <a:bodyPr/>
                    <a:lstStyle/>
                    <a:p>
                      <a:pPr marL="0" marR="0" lvl="0" indent="0" algn="l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 dirty="0">
                          <a:latin typeface="+mn-lt"/>
                        </a:rPr>
                        <a:t>Community Based Recommender Systems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065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1" i="0" u="none" strike="noStrike" baseline="0" dirty="0" err="1">
                          <a:latin typeface="+mn-lt"/>
                        </a:rPr>
                        <a:t>Demographic</a:t>
                      </a:r>
                      <a:r>
                        <a:rPr lang="fr-FR" sz="700" b="1" i="0" u="none" strike="noStrike" baseline="0" dirty="0">
                          <a:latin typeface="+mn-lt"/>
                        </a:rPr>
                        <a:t> </a:t>
                      </a:r>
                      <a:r>
                        <a:rPr lang="fr-FR" sz="700" b="1" i="0" u="none" strike="noStrike" baseline="0" dirty="0" err="1">
                          <a:latin typeface="+mn-lt"/>
                        </a:rPr>
                        <a:t>Based</a:t>
                      </a:r>
                      <a:r>
                        <a:rPr lang="fr-FR" sz="700" b="1" i="0" u="none" strike="noStrike" baseline="0" dirty="0">
                          <a:latin typeface="+mn-lt"/>
                        </a:rPr>
                        <a:t> </a:t>
                      </a:r>
                      <a:r>
                        <a:rPr lang="fr-FR" sz="700" b="1" i="0" u="none" strike="noStrike" baseline="0" dirty="0" err="1">
                          <a:latin typeface="+mn-lt"/>
                        </a:rPr>
                        <a:t>Recommender</a:t>
                      </a:r>
                      <a:r>
                        <a:rPr lang="fr-FR" sz="700" b="1" i="0" u="none" strike="noStrike" baseline="0" dirty="0">
                          <a:latin typeface="+mn-lt"/>
                        </a:rPr>
                        <a:t> </a:t>
                      </a:r>
                      <a:r>
                        <a:rPr lang="fr-FR" sz="700" b="1" i="0" u="none" strike="noStrike" baseline="0" dirty="0" err="1">
                          <a:latin typeface="+mn-lt"/>
                        </a:rPr>
                        <a:t>Systems</a:t>
                      </a:r>
                      <a:endParaRPr lang="fr-FR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65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Context Aware Recommender Systems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Conversational/Critiquing Recommender Systems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566">
                <a:tc>
                  <a:txBody>
                    <a:bodyPr/>
                    <a:lstStyle/>
                    <a:p>
                      <a:pPr marL="0" marR="0" lvl="0" indent="0" algn="l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 dirty="0">
                          <a:latin typeface="+mn-lt"/>
                        </a:rPr>
                        <a:t>Hybrid Techniques</a:t>
                      </a:r>
                    </a:p>
                    <a:p>
                      <a:pPr algn="l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57" name="Group 85"/>
          <p:cNvGrpSpPr>
            <a:grpSpLocks/>
          </p:cNvGrpSpPr>
          <p:nvPr/>
        </p:nvGrpSpPr>
        <p:grpSpPr bwMode="auto">
          <a:xfrm>
            <a:off x="4029075" y="4577925"/>
            <a:ext cx="101600" cy="1714500"/>
            <a:chOff x="2552700" y="4147461"/>
            <a:chExt cx="101094" cy="1715881"/>
          </a:xfrm>
        </p:grpSpPr>
        <p:grpSp>
          <p:nvGrpSpPr>
            <p:cNvPr id="58" name="Group 50"/>
            <p:cNvGrpSpPr>
              <a:grpSpLocks/>
            </p:cNvGrpSpPr>
            <p:nvPr/>
          </p:nvGrpSpPr>
          <p:grpSpPr bwMode="auto">
            <a:xfrm>
              <a:off x="2552700" y="4147461"/>
              <a:ext cx="100800" cy="100800"/>
              <a:chOff x="756616" y="2038350"/>
              <a:chExt cx="914400" cy="914400"/>
            </a:xfrm>
          </p:grpSpPr>
          <p:sp>
            <p:nvSpPr>
              <p:cNvPr id="91" name="Oval 51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92" name="Pie 91"/>
              <p:cNvSpPr/>
              <p:nvPr/>
            </p:nvSpPr>
            <p:spPr bwMode="auto">
              <a:xfrm rot="5400000">
                <a:off x="761157" y="2033809"/>
                <a:ext cx="907981" cy="917063"/>
              </a:xfrm>
              <a:prstGeom prst="pie">
                <a:avLst>
                  <a:gd name="adj1" fmla="val 10855090"/>
                  <a:gd name="adj2" fmla="val 5431113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  <p:grpSp>
          <p:nvGrpSpPr>
            <p:cNvPr id="60" name="Group 50"/>
            <p:cNvGrpSpPr>
              <a:grpSpLocks/>
            </p:cNvGrpSpPr>
            <p:nvPr/>
          </p:nvGrpSpPr>
          <p:grpSpPr bwMode="auto">
            <a:xfrm>
              <a:off x="2552700" y="4283665"/>
              <a:ext cx="100800" cy="100800"/>
              <a:chOff x="756616" y="2038350"/>
              <a:chExt cx="914400" cy="914400"/>
            </a:xfrm>
          </p:grpSpPr>
          <p:sp>
            <p:nvSpPr>
              <p:cNvPr id="89" name="Oval 51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90" name="Pie 89"/>
              <p:cNvSpPr/>
              <p:nvPr/>
            </p:nvSpPr>
            <p:spPr bwMode="auto">
              <a:xfrm rot="5400000">
                <a:off x="761157" y="2037722"/>
                <a:ext cx="907981" cy="917063"/>
              </a:xfrm>
              <a:prstGeom prst="pie">
                <a:avLst>
                  <a:gd name="adj1" fmla="val 10855090"/>
                  <a:gd name="adj2" fmla="val 5431113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  <p:grpSp>
          <p:nvGrpSpPr>
            <p:cNvPr id="61" name="Group 40"/>
            <p:cNvGrpSpPr>
              <a:grpSpLocks/>
            </p:cNvGrpSpPr>
            <p:nvPr/>
          </p:nvGrpSpPr>
          <p:grpSpPr bwMode="auto">
            <a:xfrm>
              <a:off x="2552700" y="4419869"/>
              <a:ext cx="100800" cy="100800"/>
              <a:chOff x="756616" y="2038350"/>
              <a:chExt cx="914400" cy="914400"/>
            </a:xfrm>
          </p:grpSpPr>
          <p:sp>
            <p:nvSpPr>
              <p:cNvPr id="87" name="Oval 41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88" name="Pie 87"/>
              <p:cNvSpPr/>
              <p:nvPr/>
            </p:nvSpPr>
            <p:spPr bwMode="auto">
              <a:xfrm rot="5400000">
                <a:off x="753948" y="2034418"/>
                <a:ext cx="922398" cy="917063"/>
              </a:xfrm>
              <a:prstGeom prst="pie">
                <a:avLst>
                  <a:gd name="adj1" fmla="val 10855090"/>
                  <a:gd name="adj2" fmla="val 20706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  <p:grpSp>
          <p:nvGrpSpPr>
            <p:cNvPr id="63" name="Group 53"/>
            <p:cNvGrpSpPr>
              <a:grpSpLocks/>
            </p:cNvGrpSpPr>
            <p:nvPr/>
          </p:nvGrpSpPr>
          <p:grpSpPr bwMode="auto">
            <a:xfrm>
              <a:off x="2552700" y="4761798"/>
              <a:ext cx="100800" cy="100800"/>
              <a:chOff x="756616" y="2038350"/>
              <a:chExt cx="914400" cy="914400"/>
            </a:xfrm>
          </p:grpSpPr>
          <p:sp>
            <p:nvSpPr>
              <p:cNvPr id="85" name="Oval 54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86" name="Pie 85"/>
              <p:cNvSpPr/>
              <p:nvPr/>
            </p:nvSpPr>
            <p:spPr bwMode="auto">
              <a:xfrm rot="5400000">
                <a:off x="761148" y="2038530"/>
                <a:ext cx="907990" cy="917063"/>
              </a:xfrm>
              <a:prstGeom prst="pie">
                <a:avLst>
                  <a:gd name="adj1" fmla="val 10855090"/>
                  <a:gd name="adj2" fmla="val 1622376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  <p:grpSp>
          <p:nvGrpSpPr>
            <p:cNvPr id="64" name="Group 40"/>
            <p:cNvGrpSpPr>
              <a:grpSpLocks/>
            </p:cNvGrpSpPr>
            <p:nvPr/>
          </p:nvGrpSpPr>
          <p:grpSpPr bwMode="auto">
            <a:xfrm>
              <a:off x="2552700" y="4556367"/>
              <a:ext cx="100800" cy="100800"/>
              <a:chOff x="756616" y="2038350"/>
              <a:chExt cx="914400" cy="914400"/>
            </a:xfrm>
          </p:grpSpPr>
          <p:sp>
            <p:nvSpPr>
              <p:cNvPr id="83" name="Oval 41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84" name="Pie 83"/>
              <p:cNvSpPr/>
              <p:nvPr/>
            </p:nvSpPr>
            <p:spPr bwMode="auto">
              <a:xfrm rot="5400000">
                <a:off x="753948" y="2035661"/>
                <a:ext cx="922398" cy="917063"/>
              </a:xfrm>
              <a:prstGeom prst="pie">
                <a:avLst>
                  <a:gd name="adj1" fmla="val 10855090"/>
                  <a:gd name="adj2" fmla="val 20706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  <p:grpSp>
          <p:nvGrpSpPr>
            <p:cNvPr id="67" name="Group 40"/>
            <p:cNvGrpSpPr>
              <a:grpSpLocks/>
            </p:cNvGrpSpPr>
            <p:nvPr/>
          </p:nvGrpSpPr>
          <p:grpSpPr bwMode="auto">
            <a:xfrm>
              <a:off x="2552700" y="4960581"/>
              <a:ext cx="100800" cy="100800"/>
              <a:chOff x="756616" y="2038350"/>
              <a:chExt cx="914400" cy="914400"/>
            </a:xfrm>
          </p:grpSpPr>
          <p:sp>
            <p:nvSpPr>
              <p:cNvPr id="81" name="Oval 41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82" name="Pie 81"/>
              <p:cNvSpPr/>
              <p:nvPr/>
            </p:nvSpPr>
            <p:spPr bwMode="auto">
              <a:xfrm rot="5400000">
                <a:off x="761157" y="2036842"/>
                <a:ext cx="907981" cy="917063"/>
              </a:xfrm>
              <a:prstGeom prst="pie">
                <a:avLst>
                  <a:gd name="adj1" fmla="val 10855090"/>
                  <a:gd name="adj2" fmla="val 20706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  <p:sp>
          <p:nvSpPr>
            <p:cNvPr id="68" name="Oval 57"/>
            <p:cNvSpPr>
              <a:spLocks noChangeArrowheads="1"/>
            </p:cNvSpPr>
            <p:nvPr/>
          </p:nvSpPr>
          <p:spPr bwMode="auto">
            <a:xfrm>
              <a:off x="2552700" y="5149639"/>
              <a:ext cx="100800" cy="100800"/>
            </a:xfrm>
            <a:prstGeom prst="ellipse">
              <a:avLst/>
            </a:prstGeom>
            <a:solidFill>
              <a:schemeClr val="bg1"/>
            </a:solidFill>
            <a:ln w="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220663" indent="-220663"/>
              <a:endParaRPr lang="en-US"/>
            </a:p>
          </p:txBody>
        </p:sp>
        <p:grpSp>
          <p:nvGrpSpPr>
            <p:cNvPr id="70" name="Group 40"/>
            <p:cNvGrpSpPr>
              <a:grpSpLocks/>
            </p:cNvGrpSpPr>
            <p:nvPr/>
          </p:nvGrpSpPr>
          <p:grpSpPr bwMode="auto">
            <a:xfrm>
              <a:off x="2552994" y="5356365"/>
              <a:ext cx="100800" cy="100800"/>
              <a:chOff x="756616" y="2038350"/>
              <a:chExt cx="914400" cy="914400"/>
            </a:xfrm>
          </p:grpSpPr>
          <p:sp>
            <p:nvSpPr>
              <p:cNvPr id="79" name="Oval 41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80" name="Pie 79"/>
              <p:cNvSpPr/>
              <p:nvPr/>
            </p:nvSpPr>
            <p:spPr bwMode="auto">
              <a:xfrm rot="5400000">
                <a:off x="758485" y="2035235"/>
                <a:ext cx="907990" cy="917063"/>
              </a:xfrm>
              <a:prstGeom prst="pie">
                <a:avLst>
                  <a:gd name="adj1" fmla="val 10855090"/>
                  <a:gd name="adj2" fmla="val 20706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  <p:grpSp>
          <p:nvGrpSpPr>
            <p:cNvPr id="71" name="Group 53"/>
            <p:cNvGrpSpPr>
              <a:grpSpLocks/>
            </p:cNvGrpSpPr>
            <p:nvPr/>
          </p:nvGrpSpPr>
          <p:grpSpPr bwMode="auto">
            <a:xfrm>
              <a:off x="2552700" y="5531287"/>
              <a:ext cx="100800" cy="100800"/>
              <a:chOff x="756616" y="2038350"/>
              <a:chExt cx="914400" cy="914400"/>
            </a:xfrm>
          </p:grpSpPr>
          <p:sp>
            <p:nvSpPr>
              <p:cNvPr id="77" name="Oval 54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78" name="Pie 77"/>
              <p:cNvSpPr/>
              <p:nvPr/>
            </p:nvSpPr>
            <p:spPr bwMode="auto">
              <a:xfrm rot="5400000">
                <a:off x="761148" y="2033818"/>
                <a:ext cx="907990" cy="917063"/>
              </a:xfrm>
              <a:prstGeom prst="pie">
                <a:avLst>
                  <a:gd name="adj1" fmla="val 10855090"/>
                  <a:gd name="adj2" fmla="val 1622376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  <p:grpSp>
          <p:nvGrpSpPr>
            <p:cNvPr id="73" name="Group 40"/>
            <p:cNvGrpSpPr>
              <a:grpSpLocks/>
            </p:cNvGrpSpPr>
            <p:nvPr/>
          </p:nvGrpSpPr>
          <p:grpSpPr bwMode="auto">
            <a:xfrm>
              <a:off x="2552700" y="5762542"/>
              <a:ext cx="100800" cy="100800"/>
              <a:chOff x="756616" y="2038350"/>
              <a:chExt cx="914400" cy="914400"/>
            </a:xfrm>
          </p:grpSpPr>
          <p:sp>
            <p:nvSpPr>
              <p:cNvPr id="74" name="Oval 41"/>
              <p:cNvSpPr>
                <a:spLocks noChangeArrowheads="1"/>
              </p:cNvSpPr>
              <p:nvPr/>
            </p:nvSpPr>
            <p:spPr bwMode="auto">
              <a:xfrm>
                <a:off x="756616" y="203835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220663" indent="-220663"/>
                <a:endParaRPr lang="en-US"/>
              </a:p>
            </p:txBody>
          </p:sp>
          <p:sp>
            <p:nvSpPr>
              <p:cNvPr id="76" name="Pie 75"/>
              <p:cNvSpPr/>
              <p:nvPr/>
            </p:nvSpPr>
            <p:spPr bwMode="auto">
              <a:xfrm rot="5400000">
                <a:off x="761148" y="2040228"/>
                <a:ext cx="907990" cy="917063"/>
              </a:xfrm>
              <a:prstGeom prst="pie">
                <a:avLst>
                  <a:gd name="adj1" fmla="val 10855090"/>
                  <a:gd name="adj2" fmla="val 20706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220663" indent="-220663">
                  <a:defRPr/>
                </a:pP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798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Challenges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Cold start / Data sparsity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Collaborative filtering methods recommend items based on users’ past preferences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New users will need to rate several items to enable the system to capture their preferences accurately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For new systems, the initial state is an empty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8476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Challenges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“Gray sheep”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Refers to the users whose opinions do not consistently agree or disagree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with any group of people, and thus do not benefit from collaborative filtering.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Scalability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As the numbers of users and items grow, traditional CF algorithms will suffer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serious scalability problems.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404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The Netflix Problem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The Netflix problem was introduced in 2006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Hundreds of thousands of users across thousands of movies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Predict user rating (1-5)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Many missing data = </a:t>
            </a:r>
            <a:r>
              <a:rPr lang="en-US" sz="2400" b="1" dirty="0"/>
              <a:t>sparse</a:t>
            </a:r>
            <a:r>
              <a:rPr lang="en-US" sz="2400" dirty="0"/>
              <a:t> matrix (a lot of missing values or zeros)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2050" name="Picture 2" descr="Sparse Matrices · Matt Eding">
            <a:extLst>
              <a:ext uri="{FF2B5EF4-FFF2-40B4-BE49-F238E27FC236}">
                <a16:creationId xmlns:a16="http://schemas.microsoft.com/office/drawing/2014/main" id="{19234589-4A67-5BF8-27B4-E011EB059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7" t="25833" r="11806" b="25972"/>
          <a:stretch/>
        </p:blipFill>
        <p:spPr bwMode="auto">
          <a:xfrm>
            <a:off x="3166532" y="4013680"/>
            <a:ext cx="5452266" cy="177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04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The Netflix Problem -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85193-8F9A-FC4C-8A0A-576770FA2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7" y="1860961"/>
            <a:ext cx="8246533" cy="277095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D318AA-CFB3-8846-ADDB-97234B8C1BEF}"/>
              </a:ext>
            </a:extLst>
          </p:cNvPr>
          <p:cNvSpPr/>
          <p:nvPr/>
        </p:nvSpPr>
        <p:spPr>
          <a:xfrm>
            <a:off x="3395133" y="3098801"/>
            <a:ext cx="1126066" cy="41486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026" name="Picture 2" descr="Shock, shocked, smiley Free Icon - Icon-Icons.com">
            <a:extLst>
              <a:ext uri="{FF2B5EF4-FFF2-40B4-BE49-F238E27FC236}">
                <a16:creationId xmlns:a16="http://schemas.microsoft.com/office/drawing/2014/main" id="{45C19C4D-3625-ED41-8992-A978B35D3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83" y="3980714"/>
            <a:ext cx="1513417" cy="151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0695F9-C156-354D-A6D8-A662E53D1424}"/>
              </a:ext>
            </a:extLst>
          </p:cNvPr>
          <p:cNvSpPr/>
          <p:nvPr/>
        </p:nvSpPr>
        <p:spPr>
          <a:xfrm>
            <a:off x="3885294" y="5442430"/>
            <a:ext cx="4201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L" dirty="0"/>
              <a:t>https://en.wikipedia.org/wiki/Netflix_Prize</a:t>
            </a:r>
          </a:p>
        </p:txBody>
      </p:sp>
    </p:spTree>
    <p:extLst>
      <p:ext uri="{BB962C8B-B14F-4D97-AF65-F5344CB8AC3E}">
        <p14:creationId xmlns:p14="http://schemas.microsoft.com/office/powerpoint/2010/main" val="138223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fld id="{BBFCFDFE-CEE7-49E5-8528-20E4BC5C9AF7}" type="slidenum">
              <a:rPr lang="he-IL" altLang="en-US" smtClean="0">
                <a:solidFill>
                  <a:srgbClr val="000000"/>
                </a:solidFill>
              </a:rPr>
              <a:pPr/>
              <a:t>10</a:t>
            </a:fld>
            <a:endParaRPr lang="de-DE" altLang="en-US">
              <a:solidFill>
                <a:srgbClr val="00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4" y="404813"/>
            <a:ext cx="8923337" cy="605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 bwMode="auto">
          <a:xfrm>
            <a:off x="9696400" y="4077072"/>
            <a:ext cx="432048" cy="36004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825038" y="4478484"/>
            <a:ext cx="735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 min later</a:t>
            </a:r>
          </a:p>
        </p:txBody>
      </p:sp>
    </p:spTree>
    <p:extLst>
      <p:ext uri="{BB962C8B-B14F-4D97-AF65-F5344CB8AC3E}">
        <p14:creationId xmlns:p14="http://schemas.microsoft.com/office/powerpoint/2010/main" val="1891165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Prize Goes To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a team succeeded to improve the RMSE by 10%, the jury issue a last call, giving all teams 30 days to send their submissions.</a:t>
            </a:r>
          </a:p>
          <a:p>
            <a:r>
              <a:rPr lang="en-US" dirty="0"/>
              <a:t>On July 25, 2009 the team "The Ensemble” achieved a 10.09% improvement.</a:t>
            </a:r>
          </a:p>
          <a:p>
            <a:r>
              <a:rPr lang="en-US" dirty="0"/>
              <a:t>After some dispute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fld id="{BBFCFDFE-CEE7-49E5-8528-20E4BC5C9AF7}" type="slidenum">
              <a:rPr lang="he-IL" altLang="en-US" smtClean="0">
                <a:solidFill>
                  <a:srgbClr val="000000"/>
                </a:solidFill>
              </a:rPr>
              <a:pPr/>
              <a:t>11</a:t>
            </a:fld>
            <a:endParaRPr lang="de-DE" altLang="en-US">
              <a:solidFill>
                <a:srgbClr val="000000"/>
              </a:solidFill>
            </a:endParaRPr>
          </a:p>
        </p:txBody>
      </p:sp>
      <p:pic>
        <p:nvPicPr>
          <p:cNvPr id="28674" name="Picture 2" descr="Image result for netflix priz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010" y="3591340"/>
            <a:ext cx="3528392" cy="235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29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631951" y="6442075"/>
            <a:ext cx="671513" cy="268288"/>
          </a:xfrm>
          <a:prstGeom prst="rect">
            <a:avLst/>
          </a:prstGeom>
        </p:spPr>
        <p:txBody>
          <a:bodyPr/>
          <a:lstStyle/>
          <a:p>
            <a:fld id="{FB54F68F-55FB-4A07-887D-E3C66E96E8FF}" type="slidenum">
              <a:rPr lang="he-IL"/>
              <a:pPr/>
              <a:t>12</a:t>
            </a:fld>
            <a:endParaRPr lang="en-GB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467600" cy="725470"/>
          </a:xfrm>
        </p:spPr>
        <p:txBody>
          <a:bodyPr>
            <a:normAutofit/>
          </a:bodyPr>
          <a:lstStyle/>
          <a:p>
            <a:r>
              <a:rPr lang="en-US" dirty="0"/>
              <a:t>Approaches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931333"/>
            <a:ext cx="11514666" cy="5542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systems can be loosely broken down into three categories: </a:t>
            </a:r>
            <a:endParaRPr lang="he-IL" dirty="0"/>
          </a:p>
          <a:p>
            <a:pPr marL="0" indent="0">
              <a:buNone/>
            </a:pPr>
            <a:r>
              <a:rPr lang="en-US" b="1" dirty="0"/>
              <a:t>content-based systems</a:t>
            </a:r>
            <a:endParaRPr lang="he-IL" dirty="0"/>
          </a:p>
          <a:p>
            <a:pPr marL="0" indent="0">
              <a:buNone/>
            </a:pPr>
            <a:r>
              <a:rPr lang="en-US" b="1" dirty="0"/>
              <a:t>collaborative filtering systems</a:t>
            </a:r>
            <a:endParaRPr lang="he-IL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hybrid systems</a:t>
            </a:r>
            <a:endParaRPr lang="he-IL" b="1" dirty="0"/>
          </a:p>
          <a:p>
            <a:pPr marL="0" indent="0">
              <a:buNone/>
            </a:pPr>
            <a:r>
              <a:rPr lang="en-US" b="1" dirty="0"/>
              <a:t> </a:t>
            </a:r>
            <a:r>
              <a:rPr lang="en-US" dirty="0"/>
              <a:t>(a combination of the other two).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4A4F71-EB4C-2F38-6F97-3A35D0BF9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733" y="2352041"/>
            <a:ext cx="5198002" cy="318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6676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631951" y="6442075"/>
            <a:ext cx="671513" cy="268288"/>
          </a:xfrm>
          <a:prstGeom prst="rect">
            <a:avLst/>
          </a:prstGeom>
        </p:spPr>
        <p:txBody>
          <a:bodyPr/>
          <a:lstStyle/>
          <a:p>
            <a:fld id="{FB54F68F-55FB-4A07-887D-E3C66E96E8FF}" type="slidenum">
              <a:rPr lang="he-IL"/>
              <a:pPr/>
              <a:t>13</a:t>
            </a:fld>
            <a:endParaRPr lang="en-GB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467600" cy="725470"/>
          </a:xfrm>
        </p:spPr>
        <p:txBody>
          <a:bodyPr>
            <a:normAutofit/>
          </a:bodyPr>
          <a:lstStyle/>
          <a:p>
            <a:r>
              <a:rPr lang="en-US" dirty="0"/>
              <a:t>Approaches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939800"/>
            <a:ext cx="11514666" cy="5542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Collaborative filtering approach</a:t>
            </a:r>
            <a:r>
              <a:rPr lang="en-US" dirty="0"/>
              <a:t> builds a model from a user’s past behaviors (items previously purchased or selected and/or numerical ratings given to those items) as well as similar decisions made by other users. </a:t>
            </a:r>
            <a:endParaRPr lang="he-IL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This model is then used to predict items (or ratings for items) that the user may have an interest in.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54558F4-19C6-4625-CCDC-68F9D20C2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499" y="3780167"/>
            <a:ext cx="4563002" cy="279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5757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631951" y="6442075"/>
            <a:ext cx="671513" cy="268288"/>
          </a:xfrm>
          <a:prstGeom prst="rect">
            <a:avLst/>
          </a:prstGeom>
        </p:spPr>
        <p:txBody>
          <a:bodyPr/>
          <a:lstStyle/>
          <a:p>
            <a:fld id="{FB54F68F-55FB-4A07-887D-E3C66E96E8FF}" type="slidenum">
              <a:rPr lang="he-IL"/>
              <a:pPr/>
              <a:t>14</a:t>
            </a:fld>
            <a:endParaRPr lang="en-GB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467600" cy="725470"/>
          </a:xfrm>
        </p:spPr>
        <p:txBody>
          <a:bodyPr>
            <a:normAutofit/>
          </a:bodyPr>
          <a:lstStyle/>
          <a:p>
            <a:r>
              <a:rPr lang="en-US" dirty="0"/>
              <a:t>Approaches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931333"/>
            <a:ext cx="11514666" cy="5542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Content based approach</a:t>
            </a:r>
            <a:r>
              <a:rPr lang="en-US" dirty="0"/>
              <a:t> utilizes a series of discrete characteristics of an item in order to recommend additional items with similar properties.</a:t>
            </a:r>
            <a:br>
              <a:rPr lang="en-US" dirty="0"/>
            </a:br>
            <a:r>
              <a:rPr lang="en-US" b="1" dirty="0"/>
              <a:t>Hybrid approach</a:t>
            </a:r>
            <a:r>
              <a:rPr lang="en-US" dirty="0"/>
              <a:t> combines the previous two approaches. Most businesses probably use hybrid approach in their production recommender systems.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D7630E7-A362-A611-ED50-56B4BFD1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598" y="3429000"/>
            <a:ext cx="4563002" cy="279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48739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631951" y="6442075"/>
            <a:ext cx="671513" cy="268288"/>
          </a:xfrm>
          <a:prstGeom prst="rect">
            <a:avLst/>
          </a:prstGeom>
        </p:spPr>
        <p:txBody>
          <a:bodyPr/>
          <a:lstStyle/>
          <a:p>
            <a:fld id="{FB54F68F-55FB-4A07-887D-E3C66E96E8FF}" type="slidenum">
              <a:rPr lang="he-IL"/>
              <a:pPr/>
              <a:t>15</a:t>
            </a:fld>
            <a:endParaRPr lang="en-GB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467600" cy="725470"/>
          </a:xfrm>
        </p:spPr>
        <p:txBody>
          <a:bodyPr>
            <a:normAutofit/>
          </a:bodyPr>
          <a:lstStyle/>
          <a:p>
            <a:r>
              <a:rPr lang="en-US" dirty="0"/>
              <a:t>Collaborative Filtering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931333"/>
            <a:ext cx="11514666" cy="5542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Collaborative Filtering is a mathematical method to find the predictions about how users can rate a particular item based on ratings of other similar users. </a:t>
            </a:r>
          </a:p>
          <a:p>
            <a:pPr marL="0" indent="0">
              <a:buNone/>
            </a:pPr>
            <a:r>
              <a:rPr lang="en-US" dirty="0"/>
              <a:t>Typical Collaborative Filtering involves 4 different stages:</a:t>
            </a:r>
            <a:br>
              <a:rPr lang="en-US" dirty="0"/>
            </a:br>
            <a:r>
              <a:rPr lang="en-US" b="1" dirty="0"/>
              <a:t>Data Collection</a:t>
            </a:r>
            <a:r>
              <a:rPr lang="en-US" dirty="0"/>
              <a:t> — Collecting user behaviors and associated data items</a:t>
            </a:r>
            <a:br>
              <a:rPr lang="en-US" dirty="0"/>
            </a:br>
            <a:r>
              <a:rPr lang="en-US" b="1" dirty="0"/>
              <a:t>Data Processing</a:t>
            </a:r>
            <a:r>
              <a:rPr lang="en-US" dirty="0"/>
              <a:t> — Processing the collected data</a:t>
            </a:r>
            <a:br>
              <a:rPr lang="en-US" dirty="0"/>
            </a:br>
            <a:r>
              <a:rPr lang="en-US" b="1" dirty="0"/>
              <a:t>Recommendation Calculation</a:t>
            </a:r>
            <a:r>
              <a:rPr lang="en-US" dirty="0"/>
              <a:t> — Calculate referrals based on processed data</a:t>
            </a:r>
            <a:br>
              <a:rPr lang="en-US" dirty="0"/>
            </a:br>
            <a:r>
              <a:rPr lang="en-US" b="1" dirty="0"/>
              <a:t>Result Derivation</a:t>
            </a:r>
            <a:r>
              <a:rPr lang="en-US" dirty="0"/>
              <a:t> — Extract the similarity and return the top N results</a:t>
            </a:r>
          </a:p>
        </p:txBody>
      </p:sp>
    </p:spTree>
    <p:extLst>
      <p:ext uri="{BB962C8B-B14F-4D97-AF65-F5344CB8AC3E}">
        <p14:creationId xmlns:p14="http://schemas.microsoft.com/office/powerpoint/2010/main" val="364288757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631951" y="6442075"/>
            <a:ext cx="671513" cy="268288"/>
          </a:xfrm>
          <a:prstGeom prst="rect">
            <a:avLst/>
          </a:prstGeom>
        </p:spPr>
        <p:txBody>
          <a:bodyPr/>
          <a:lstStyle/>
          <a:p>
            <a:fld id="{FB54F68F-55FB-4A07-887D-E3C66E96E8FF}" type="slidenum">
              <a:rPr lang="he-IL"/>
              <a:pPr/>
              <a:t>16</a:t>
            </a:fld>
            <a:endParaRPr lang="en-GB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467600" cy="725470"/>
          </a:xfrm>
        </p:spPr>
        <p:txBody>
          <a:bodyPr>
            <a:normAutofit/>
          </a:bodyPr>
          <a:lstStyle/>
          <a:p>
            <a:r>
              <a:rPr lang="en-US" dirty="0"/>
              <a:t>Explicit and Implicit Feedbacks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931333"/>
            <a:ext cx="11514666" cy="5542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Explicit Feedback </a:t>
            </a:r>
            <a:r>
              <a:rPr lang="en-US" dirty="0"/>
              <a:t>is ratings given by users, which Netflix is collecting to make recommendations to their customers after they provide ratings to the movies they have watched.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Implicit Feedback </a:t>
            </a:r>
            <a:r>
              <a:rPr lang="en-US" dirty="0"/>
              <a:t>is (less straightforward) based on the users’ interactions with the platform, ranging from clicks, views, likes and purchases. Spotify makes use of Implicit Feedbacks to implement it’s recommendation system.</a:t>
            </a:r>
          </a:p>
        </p:txBody>
      </p:sp>
      <p:pic>
        <p:nvPicPr>
          <p:cNvPr id="3074" name="Picture 2" descr="Netflix TechBlog">
            <a:extLst>
              <a:ext uri="{FF2B5EF4-FFF2-40B4-BE49-F238E27FC236}">
                <a16:creationId xmlns:a16="http://schemas.microsoft.com/office/drawing/2014/main" id="{BB5621BD-F5CC-E77A-A08A-A9D1B1F5A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334" y="2347929"/>
            <a:ext cx="1467553" cy="110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indows download - Spotify">
            <a:extLst>
              <a:ext uri="{FF2B5EF4-FFF2-40B4-BE49-F238E27FC236}">
                <a16:creationId xmlns:a16="http://schemas.microsoft.com/office/drawing/2014/main" id="{D6967825-3E2C-DF4F-2BAF-7C6196A899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9" t="25794" r="11042" b="24207"/>
          <a:stretch/>
        </p:blipFill>
        <p:spPr bwMode="auto">
          <a:xfrm>
            <a:off x="4212166" y="5323592"/>
            <a:ext cx="3005668" cy="100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07080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Slide Number Placeholder 36"/>
          <p:cNvSpPr>
            <a:spLocks noGrp="1"/>
          </p:cNvSpPr>
          <p:nvPr>
            <p:ph type="sldNum" sz="quarter" idx="4294967295"/>
          </p:nvPr>
        </p:nvSpPr>
        <p:spPr>
          <a:xfrm>
            <a:off x="9825038" y="6602413"/>
            <a:ext cx="539750" cy="1444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ele-GroteskNor" pitchFamily="2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ele-GroteskNor" pitchFamily="2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ele-GroteskNor" pitchFamily="2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ele-GroteskNor" pitchFamily="2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ele-GroteskNor" pitchFamily="2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Tele-GroteskNor" pitchFamily="2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Tele-GroteskNor" pitchFamily="2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Tele-GroteskNor" pitchFamily="2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Tele-GroteskNor" pitchFamily="2" charset="0"/>
              </a:defRPr>
            </a:lvl9pPr>
          </a:lstStyle>
          <a:p>
            <a:pPr eaLnBrk="1" hangingPunct="1"/>
            <a:fld id="{18E7CAF1-60C5-41AC-9A83-FD810DD05EBF}" type="slidenum">
              <a:rPr lang="he-IL" sz="900">
                <a:latin typeface="Arial" charset="0"/>
                <a:cs typeface="Arial" charset="0"/>
              </a:rPr>
              <a:pPr eaLnBrk="1" hangingPunct="1"/>
              <a:t>17</a:t>
            </a:fld>
            <a:endParaRPr lang="de-DE" sz="900">
              <a:latin typeface="Arial" charset="0"/>
              <a:cs typeface="Arial" charset="0"/>
            </a:endParaRPr>
          </a:p>
        </p:txBody>
      </p:sp>
      <p:sp>
        <p:nvSpPr>
          <p:cNvPr id="25608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828800" y="444557"/>
            <a:ext cx="8532813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</a:pPr>
            <a:r>
              <a:rPr lang="en-US" sz="3200" b="1" dirty="0">
                <a:ea typeface="+mj-ea"/>
                <a:cs typeface="+mj-cs"/>
              </a:rPr>
              <a:t>Collaborative Filtering Techniques</a:t>
            </a:r>
          </a:p>
        </p:txBody>
      </p:sp>
      <p:sp>
        <p:nvSpPr>
          <p:cNvPr id="38" name="AutoShape 1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77844" y="1576940"/>
            <a:ext cx="9201389" cy="3647791"/>
          </a:xfrm>
          <a:prstGeom prst="roundRect">
            <a:avLst>
              <a:gd name="adj" fmla="val 4685"/>
            </a:avLst>
          </a:prstGeom>
          <a:noFill/>
          <a:ln w="9525">
            <a:solidFill>
              <a:srgbClr val="DEDEDE"/>
            </a:solidFill>
            <a:round/>
            <a:headEnd/>
            <a:tailEnd/>
          </a:ln>
        </p:spPr>
        <p:txBody>
          <a:bodyPr anchor="ctr"/>
          <a:lstStyle/>
          <a:p>
            <a:pPr marL="180975">
              <a:spcBef>
                <a:spcPct val="0"/>
              </a:spcBef>
              <a:spcAft>
                <a:spcPct val="30000"/>
              </a:spcAft>
            </a:pPr>
            <a:r>
              <a:rPr lang="en-US" sz="2800" dirty="0">
                <a:cs typeface="Arial" charset="0"/>
              </a:rPr>
              <a:t>Nearest Neighbor  (Pandas)</a:t>
            </a:r>
          </a:p>
          <a:p>
            <a:pPr marL="361950" indent="-180975">
              <a:spcBef>
                <a:spcPct val="0"/>
              </a:spcBef>
              <a:spcAft>
                <a:spcPct val="30000"/>
              </a:spcAft>
              <a:buFont typeface="Wingdings" pitchFamily="2" charset="2"/>
              <a:buChar char="§"/>
            </a:pPr>
            <a:endParaRPr lang="en-US" sz="2800" dirty="0">
              <a:cs typeface="Arial" charset="0"/>
            </a:endParaRPr>
          </a:p>
          <a:p>
            <a:pPr marL="180975">
              <a:spcBef>
                <a:spcPct val="0"/>
              </a:spcBef>
              <a:spcAft>
                <a:spcPct val="30000"/>
              </a:spcAft>
            </a:pPr>
            <a:r>
              <a:rPr lang="en-US" sz="2800" dirty="0">
                <a:cs typeface="Arial" charset="0"/>
              </a:rPr>
              <a:t>Matrix Factorization (Spark)</a:t>
            </a:r>
          </a:p>
          <a:p>
            <a:pPr marL="361950" indent="-180975">
              <a:spcBef>
                <a:spcPct val="0"/>
              </a:spcBef>
              <a:spcAft>
                <a:spcPct val="30000"/>
              </a:spcAft>
              <a:buFont typeface="Wingdings" pitchFamily="2" charset="2"/>
              <a:buChar char="§"/>
            </a:pPr>
            <a:endParaRPr lang="en-US" sz="2800" dirty="0">
              <a:cs typeface="Arial" charset="0"/>
            </a:endParaRPr>
          </a:p>
          <a:p>
            <a:pPr marL="180975">
              <a:spcBef>
                <a:spcPct val="0"/>
              </a:spcBef>
              <a:spcAft>
                <a:spcPct val="30000"/>
              </a:spcAft>
            </a:pPr>
            <a:r>
              <a:rPr lang="en-US" sz="2800" dirty="0">
                <a:cs typeface="Arial" charset="0"/>
              </a:rPr>
              <a:t>Deep Learning NN (</a:t>
            </a:r>
            <a:r>
              <a:rPr lang="en-US" sz="2800" dirty="0" err="1">
                <a:cs typeface="Arial" charset="0"/>
              </a:rPr>
              <a:t>Keras</a:t>
            </a:r>
            <a:r>
              <a:rPr lang="en-US" sz="2800" dirty="0">
                <a:cs typeface="Arial" charset="0"/>
              </a:rPr>
              <a:t>) – not here</a:t>
            </a:r>
            <a:endParaRPr lang="en-US" sz="2400" dirty="0">
              <a:cs typeface="Arial" charset="0"/>
            </a:endParaRPr>
          </a:p>
        </p:txBody>
      </p:sp>
      <p:pic>
        <p:nvPicPr>
          <p:cNvPr id="8194" name="Picture 2" descr="Image result for nearest neighbor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728" y="1256833"/>
            <a:ext cx="2240467" cy="12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 result for matrix factorizati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728" y="2955695"/>
            <a:ext cx="2232248" cy="87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mage result for neural network ic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728" y="423027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37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A11A2-B510-D84C-9ADC-C9D0389EDA81}"/>
              </a:ext>
            </a:extLst>
          </p:cNvPr>
          <p:cNvSpPr/>
          <p:nvPr/>
        </p:nvSpPr>
        <p:spPr>
          <a:xfrm>
            <a:off x="334433" y="2590799"/>
            <a:ext cx="11523133" cy="770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Technique 1 – K Nearest Neighbors</a:t>
            </a:r>
            <a:endParaRPr lang="en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35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143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latin typeface="+mn-lt"/>
                <a:ea typeface="+mn-ea"/>
                <a:cs typeface="+mn-cs"/>
              </a:rPr>
              <a:t>KNN item-Based Collaborative Filtering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7DA884E-BDEE-AF4D-AAB9-CC634CD9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19</a:t>
            </a:fld>
            <a:endParaRPr lang="en-I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12366CD-949D-8440-B796-0DD970BE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A90A956-1B7B-114E-847E-C2C804E4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130643"/>
            <a:ext cx="11183620" cy="5134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KNN</a:t>
            </a:r>
            <a:r>
              <a:rPr lang="en-US" dirty="0"/>
              <a:t> is a </a:t>
            </a:r>
            <a:r>
              <a:rPr lang="en-US" b="1" dirty="0"/>
              <a:t>non-parametric, </a:t>
            </a:r>
            <a:r>
              <a:rPr lang="en-US" b="1" dirty="0">
                <a:solidFill>
                  <a:srgbClr val="FF0000"/>
                </a:solidFill>
              </a:rPr>
              <a:t>lazy</a:t>
            </a:r>
            <a:r>
              <a:rPr lang="en-US" b="1" dirty="0"/>
              <a:t> </a:t>
            </a:r>
            <a:r>
              <a:rPr lang="en-US" dirty="0"/>
              <a:t>learning method. </a:t>
            </a:r>
          </a:p>
          <a:p>
            <a:pPr marL="0" indent="0">
              <a:buNone/>
            </a:pPr>
            <a:r>
              <a:rPr lang="en-US" dirty="0"/>
              <a:t>It uses a database in which the data points are separated into several clusters to make inference for new samples.	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8091105-1553-9970-5E34-0759DE234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633" y="3208867"/>
            <a:ext cx="364705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795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143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latin typeface="+mn-lt"/>
                <a:ea typeface="+mn-ea"/>
                <a:cs typeface="+mn-cs"/>
              </a:rPr>
              <a:t>KNN item-Based Collaborative Filtering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7DA884E-BDEE-AF4D-AAB9-CC634CD9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20</a:t>
            </a:fld>
            <a:endParaRPr lang="en-I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12366CD-949D-8440-B796-0DD970BE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A90A956-1B7B-114E-847E-C2C804E4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130643"/>
            <a:ext cx="11183620" cy="5134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KNN makes inference about a datapoint, KNN will calculate the “distance” between the target and every other points in its database, then it ranks its distances and returns the top K nearest neighbor points as the most similar recommendations.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2171517-0CEF-22E9-C342-0AE94A474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300" y="3496733"/>
            <a:ext cx="364705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79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B5900F9-6492-FAA7-C9A6-D4830C4FB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5539" y="862013"/>
            <a:ext cx="8162925" cy="762000"/>
          </a:xfrm>
        </p:spPr>
        <p:txBody>
          <a:bodyPr/>
          <a:lstStyle/>
          <a:p>
            <a:r>
              <a:rPr lang="en-US" altLang="en-IL"/>
              <a:t>1-Nearest Neighbor</a:t>
            </a:r>
          </a:p>
        </p:txBody>
      </p:sp>
      <p:sp>
        <p:nvSpPr>
          <p:cNvPr id="11276" name="Oval 12">
            <a:extLst>
              <a:ext uri="{FF2B5EF4-FFF2-40B4-BE49-F238E27FC236}">
                <a16:creationId xmlns:a16="http://schemas.microsoft.com/office/drawing/2014/main" id="{5DC05BEE-700E-2562-A437-FEF99C77D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953000"/>
            <a:ext cx="3048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9" name="Oval 15">
            <a:extLst>
              <a:ext uri="{FF2B5EF4-FFF2-40B4-BE49-F238E27FC236}">
                <a16:creationId xmlns:a16="http://schemas.microsoft.com/office/drawing/2014/main" id="{1F25CA23-2614-DD80-741A-10848FE68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819400"/>
            <a:ext cx="129540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1" name="Oval 7">
            <a:extLst>
              <a:ext uri="{FF2B5EF4-FFF2-40B4-BE49-F238E27FC236}">
                <a16:creationId xmlns:a16="http://schemas.microsoft.com/office/drawing/2014/main" id="{FD1DB8A9-5B27-7C37-F22D-0324C810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581400"/>
            <a:ext cx="2286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2" name="Oval 8">
            <a:extLst>
              <a:ext uri="{FF2B5EF4-FFF2-40B4-BE49-F238E27FC236}">
                <a16:creationId xmlns:a16="http://schemas.microsoft.com/office/drawing/2014/main" id="{22F25B61-6B4D-57D2-5408-6ECFE385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581400"/>
            <a:ext cx="3048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3" name="Oval 9">
            <a:extLst>
              <a:ext uri="{FF2B5EF4-FFF2-40B4-BE49-F238E27FC236}">
                <a16:creationId xmlns:a16="http://schemas.microsoft.com/office/drawing/2014/main" id="{DFCA6B32-BD73-BEB7-E730-312714338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962400"/>
            <a:ext cx="2286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4" name="Oval 10">
            <a:extLst>
              <a:ext uri="{FF2B5EF4-FFF2-40B4-BE49-F238E27FC236}">
                <a16:creationId xmlns:a16="http://schemas.microsoft.com/office/drawing/2014/main" id="{0BAE918D-BDC7-D5AB-CF00-546B15030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743200"/>
            <a:ext cx="2286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5" name="Oval 11">
            <a:extLst>
              <a:ext uri="{FF2B5EF4-FFF2-40B4-BE49-F238E27FC236}">
                <a16:creationId xmlns:a16="http://schemas.microsoft.com/office/drawing/2014/main" id="{85A0461A-A6E6-6768-1EA3-C8248E349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971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7" name="Oval 13">
            <a:extLst>
              <a:ext uri="{FF2B5EF4-FFF2-40B4-BE49-F238E27FC236}">
                <a16:creationId xmlns:a16="http://schemas.microsoft.com/office/drawing/2014/main" id="{6008EE29-C5BB-4242-5B8B-32FEF244E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495800"/>
            <a:ext cx="2286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8" name="Oval 14">
            <a:extLst>
              <a:ext uri="{FF2B5EF4-FFF2-40B4-BE49-F238E27FC236}">
                <a16:creationId xmlns:a16="http://schemas.microsoft.com/office/drawing/2014/main" id="{4652A98B-DD5D-923E-8B5E-DFFB3B22A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029200"/>
            <a:ext cx="2286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82" name="Oval 18">
            <a:extLst>
              <a:ext uri="{FF2B5EF4-FFF2-40B4-BE49-F238E27FC236}">
                <a16:creationId xmlns:a16="http://schemas.microsoft.com/office/drawing/2014/main" id="{FA7200E4-F40D-3C80-2E3C-30E364D2345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48400" y="3581400"/>
            <a:ext cx="3048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C22DEA00-250F-06FB-F43B-DA48A4F9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21</a:t>
            </a:fld>
            <a:endParaRPr lang="en-IL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FBD2FE7-643C-224F-5558-5D1888D8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3" name="Oval 15">
            <a:extLst>
              <a:ext uri="{FF2B5EF4-FFF2-40B4-BE49-F238E27FC236}">
                <a16:creationId xmlns:a16="http://schemas.microsoft.com/office/drawing/2014/main" id="{F046EFE5-0EAC-5BA7-54DD-67CE6746A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743200"/>
            <a:ext cx="2209800" cy="213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E442B3BF-1E96-90B7-C646-760EEAEBE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5539" y="862013"/>
            <a:ext cx="8162925" cy="762000"/>
          </a:xfrm>
        </p:spPr>
        <p:txBody>
          <a:bodyPr/>
          <a:lstStyle/>
          <a:p>
            <a:r>
              <a:rPr lang="en-US" altLang="en-IL"/>
              <a:t>3-Nearest Neighbor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940CEEB-2592-E035-99BF-E48EC6110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L" altLang="en-IL"/>
          </a:p>
        </p:txBody>
      </p:sp>
      <p:sp>
        <p:nvSpPr>
          <p:cNvPr id="12294" name="Oval 6">
            <a:extLst>
              <a:ext uri="{FF2B5EF4-FFF2-40B4-BE49-F238E27FC236}">
                <a16:creationId xmlns:a16="http://schemas.microsoft.com/office/drawing/2014/main" id="{4DC301D4-C972-1268-8D7D-6B9B96C48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581400"/>
            <a:ext cx="2286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5" name="Oval 7">
            <a:extLst>
              <a:ext uri="{FF2B5EF4-FFF2-40B4-BE49-F238E27FC236}">
                <a16:creationId xmlns:a16="http://schemas.microsoft.com/office/drawing/2014/main" id="{67DC01EA-904A-2007-B5A5-452D9C551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581400"/>
            <a:ext cx="3048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6" name="Oval 8">
            <a:extLst>
              <a:ext uri="{FF2B5EF4-FFF2-40B4-BE49-F238E27FC236}">
                <a16:creationId xmlns:a16="http://schemas.microsoft.com/office/drawing/2014/main" id="{289BC90D-D138-50CD-A4AA-0637BE52B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962400"/>
            <a:ext cx="2286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7" name="Oval 9">
            <a:extLst>
              <a:ext uri="{FF2B5EF4-FFF2-40B4-BE49-F238E27FC236}">
                <a16:creationId xmlns:a16="http://schemas.microsoft.com/office/drawing/2014/main" id="{616B1C3E-7E00-5DDB-0DAC-25FE9F78B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743200"/>
            <a:ext cx="2286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8" name="Oval 10">
            <a:extLst>
              <a:ext uri="{FF2B5EF4-FFF2-40B4-BE49-F238E27FC236}">
                <a16:creationId xmlns:a16="http://schemas.microsoft.com/office/drawing/2014/main" id="{2E92C4E2-0A8F-662B-C1C6-7CD4C236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9718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9" name="Oval 11">
            <a:extLst>
              <a:ext uri="{FF2B5EF4-FFF2-40B4-BE49-F238E27FC236}">
                <a16:creationId xmlns:a16="http://schemas.microsoft.com/office/drawing/2014/main" id="{3554FE81-3A7D-C716-4412-86F0B0B46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495800"/>
            <a:ext cx="2286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00" name="Oval 12">
            <a:extLst>
              <a:ext uri="{FF2B5EF4-FFF2-40B4-BE49-F238E27FC236}">
                <a16:creationId xmlns:a16="http://schemas.microsoft.com/office/drawing/2014/main" id="{2A92A73C-8CCE-5DC2-F8A4-9AFD5FC0A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029200"/>
            <a:ext cx="2286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01" name="Oval 13">
            <a:extLst>
              <a:ext uri="{FF2B5EF4-FFF2-40B4-BE49-F238E27FC236}">
                <a16:creationId xmlns:a16="http://schemas.microsoft.com/office/drawing/2014/main" id="{51CF02ED-2F8B-4902-0087-3AFBE3D73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648200"/>
            <a:ext cx="3048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02" name="Oval 14">
            <a:extLst>
              <a:ext uri="{FF2B5EF4-FFF2-40B4-BE49-F238E27FC236}">
                <a16:creationId xmlns:a16="http://schemas.microsoft.com/office/drawing/2014/main" id="{2DA4C781-7914-451E-B582-9D7B8266C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86200"/>
            <a:ext cx="3048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1C0126E-DBE6-DBC5-13A4-5D41AAF7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22</a:t>
            </a:fld>
            <a:endParaRPr lang="en-IL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8675FD7-5721-3F40-1A9D-D2AFFAC5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143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latin typeface="+mn-lt"/>
                <a:ea typeface="+mn-ea"/>
                <a:cs typeface="+mn-cs"/>
              </a:rPr>
              <a:t>KNN item-Based Collaborative Filtering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7DA884E-BDEE-AF4D-AAB9-CC634CD9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23</a:t>
            </a:fld>
            <a:endParaRPr lang="en-I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12366CD-949D-8440-B796-0DD970BE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A90A956-1B7B-114E-847E-C2C804E4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130643"/>
            <a:ext cx="11183620" cy="5134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to find “close” items?</a:t>
            </a:r>
          </a:p>
          <a:p>
            <a:pPr marL="457200" indent="-457200">
              <a:buAutoNum type="arabicPeriod"/>
            </a:pPr>
            <a:r>
              <a:rPr lang="en-US" b="1" dirty="0"/>
              <a:t>Euclidean distance</a:t>
            </a:r>
            <a:r>
              <a:rPr lang="en-US" dirty="0"/>
              <a:t> - unhelpful in high dimensions because all vectors are almost equidistant to the search query vector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b="1" dirty="0"/>
              <a:t>Cosine similarity - </a:t>
            </a:r>
            <a:r>
              <a:rPr lang="en-US" dirty="0"/>
              <a:t>a</a:t>
            </a:r>
            <a:r>
              <a:rPr lang="en-US" b="1" dirty="0"/>
              <a:t> </a:t>
            </a:r>
            <a:r>
              <a:rPr lang="en-US" dirty="0"/>
              <a:t>measure of similarity between two sequences of numbers</a:t>
            </a:r>
            <a:endParaRPr lang="en-US" b="1" dirty="0"/>
          </a:p>
          <a:p>
            <a:pPr marL="457200" indent="-457200">
              <a:buAutoNum type="arabicPeriod"/>
            </a:pPr>
            <a:r>
              <a:rPr lang="en-US" b="1" dirty="0"/>
              <a:t>Locality sensitive hashing </a:t>
            </a:r>
            <a:r>
              <a:rPr lang="en-US" dirty="0"/>
              <a:t>– not here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9E0321C-92D7-54C3-C151-C5B33F657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150" y="3642464"/>
            <a:ext cx="2389717" cy="266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411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143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latin typeface="+mn-lt"/>
                <a:ea typeface="+mn-ea"/>
                <a:cs typeface="+mn-cs"/>
              </a:rPr>
              <a:t>Cosine Similarity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7DA884E-BDEE-AF4D-AAB9-CC634CD9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24</a:t>
            </a:fld>
            <a:endParaRPr lang="en-I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12366CD-949D-8440-B796-0DD970BE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8">
                <a:extLst>
                  <a:ext uri="{FF2B5EF4-FFF2-40B4-BE49-F238E27FC236}">
                    <a16:creationId xmlns:a16="http://schemas.microsoft.com/office/drawing/2014/main" id="{FA90A956-1B7B-114E-847E-C2C804E4A1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897467" y="1156043"/>
                <a:ext cx="11183620" cy="513468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𝐶𝑜𝑠𝑖𝑛𝑒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18">
                <a:extLst>
                  <a:ext uri="{FF2B5EF4-FFF2-40B4-BE49-F238E27FC236}">
                    <a16:creationId xmlns:a16="http://schemas.microsoft.com/office/drawing/2014/main" id="{FA90A956-1B7B-114E-847E-C2C804E4A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897467" y="1156043"/>
                <a:ext cx="11183620" cy="513468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Cosine similarity - Mastering Machine Learning with Spark 2.x [Book]">
            <a:extLst>
              <a:ext uri="{FF2B5EF4-FFF2-40B4-BE49-F238E27FC236}">
                <a16:creationId xmlns:a16="http://schemas.microsoft.com/office/drawing/2014/main" id="{CB6BB273-C3C1-61C9-FE8D-2EB276CB2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1" y="3610803"/>
            <a:ext cx="5613400" cy="176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osine similarity - Mastering Machine Learning with Spark 2.x [Book]">
            <a:extLst>
              <a:ext uri="{FF2B5EF4-FFF2-40B4-BE49-F238E27FC236}">
                <a16:creationId xmlns:a16="http://schemas.microsoft.com/office/drawing/2014/main" id="{5F067FB8-C5DF-96E4-ABC5-73576C640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1" y="3763203"/>
            <a:ext cx="5613400" cy="176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889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143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latin typeface="+mn-lt"/>
                <a:ea typeface="+mn-ea"/>
                <a:cs typeface="+mn-cs"/>
              </a:rPr>
              <a:t>Cosine Similarity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7DA884E-BDEE-AF4D-AAB9-CC634CD9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25</a:t>
            </a:fld>
            <a:endParaRPr lang="en-I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12366CD-949D-8440-B796-0DD970BE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8">
                <a:extLst>
                  <a:ext uri="{FF2B5EF4-FFF2-40B4-BE49-F238E27FC236}">
                    <a16:creationId xmlns:a16="http://schemas.microsoft.com/office/drawing/2014/main" id="{FA90A956-1B7B-114E-847E-C2C804E4A1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1130643"/>
                <a:ext cx="11183620" cy="513468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𝐶𝑜𝑠𝑖𝑛𝑒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3,2,0,5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=(1,0,0,0)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=3⋅1+2⋅0+0⋅0+5⋅0=3</m:t>
                      </m:r>
                    </m:oMath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=6.164</m:t>
                      </m:r>
                    </m:oMath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𝐶𝑜𝑠𝑖𝑛𝑒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6.164⋅1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0.486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18">
                <a:extLst>
                  <a:ext uri="{FF2B5EF4-FFF2-40B4-BE49-F238E27FC236}">
                    <a16:creationId xmlns:a16="http://schemas.microsoft.com/office/drawing/2014/main" id="{FA90A956-1B7B-114E-847E-C2C804E4A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1130643"/>
                <a:ext cx="11183620" cy="513468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921955E-C69D-B765-89DD-FC8085D2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L"/>
              <a:t>Issue with the user-based </a:t>
            </a:r>
            <a:r>
              <a:rPr lang="en-US" altLang="en-IL" i="1"/>
              <a:t>k</a:t>
            </a:r>
            <a:r>
              <a:rPr lang="en-US" altLang="en-IL"/>
              <a:t>NN 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EEB48-3EE8-4AED-3F63-3A154A42A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problem with the user-based formulation of collaborative filtering is the lack of scalability: 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it requires the real-time comparison of the target user to all user records in order to generate predictions. </a:t>
            </a:r>
          </a:p>
          <a:p>
            <a:pPr>
              <a:defRPr/>
            </a:pPr>
            <a:r>
              <a:rPr lang="en-US" dirty="0"/>
              <a:t>A variation of this approach that remedies this problem is called </a:t>
            </a:r>
            <a:r>
              <a:rPr lang="en-US" b="1" dirty="0"/>
              <a:t>item-based CF</a:t>
            </a:r>
            <a:r>
              <a:rPr lang="en-US" dirty="0"/>
              <a:t>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32EAF87-3A16-4F58-3680-662667A7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26</a:t>
            </a:fld>
            <a:endParaRPr lang="en-IL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5B83388-09B0-6DB7-2932-FC57E13B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92517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143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latin typeface="+mn-lt"/>
                <a:ea typeface="+mn-ea"/>
                <a:cs typeface="+mn-cs"/>
              </a:rPr>
              <a:t>KNN item-Based Collaborative Filtering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57DA884E-BDEE-AF4D-AAB9-CC634CD9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27</a:t>
            </a:fld>
            <a:endParaRPr lang="en-I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12366CD-949D-8440-B796-0DD970BE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A90A956-1B7B-114E-847E-C2C804E4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130643"/>
            <a:ext cx="11183620" cy="5134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MovieLens</a:t>
            </a:r>
            <a:r>
              <a:rPr lang="en-US" dirty="0"/>
              <a:t> dataset contains 27,753,444 ratings and 1,108,997 tag applications across 58,098 movies. These data were created by 283,228 user and the ratings are on a scale from 1 to 5.</a:t>
            </a:r>
          </a:p>
          <a:p>
            <a:pPr marL="0" indent="0">
              <a:buNone/>
            </a:pPr>
            <a:r>
              <a:rPr lang="en-US" dirty="0"/>
              <a:t>			Movies				      Ratings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5997A7-D700-69AC-B7C2-5936AC64DE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06"/>
          <a:stretch/>
        </p:blipFill>
        <p:spPr>
          <a:xfrm>
            <a:off x="2485073" y="3440113"/>
            <a:ext cx="3107054" cy="2015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7D3DE7-21EA-8DCE-FBA7-7DF012EF1B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64"/>
          <a:stretch/>
        </p:blipFill>
        <p:spPr>
          <a:xfrm>
            <a:off x="6850252" y="3440113"/>
            <a:ext cx="2141070" cy="231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16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A11A2-B510-D84C-9ADC-C9D0389EDA81}"/>
              </a:ext>
            </a:extLst>
          </p:cNvPr>
          <p:cNvSpPr/>
          <p:nvPr/>
        </p:nvSpPr>
        <p:spPr>
          <a:xfrm>
            <a:off x="334433" y="2590799"/>
            <a:ext cx="11523133" cy="770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Introduction to Technique 2 – Matrix Factorization</a:t>
            </a:r>
            <a:endParaRPr lang="en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4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Introduction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dirty="0"/>
              <a:t>A common problem faced by internet companies is that of recommending new products to users in personalized settings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Amazon’s product recommender system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Netflix movie recommendations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Streaming Services 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The key factor of recommending with big-data is </a:t>
            </a:r>
            <a:r>
              <a:rPr lang="en-US" sz="2400" b="1" dirty="0"/>
              <a:t>Matrix Factorization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4558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Matrix Factorization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dirty="0"/>
              <a:t>A family of mathematical operations for matrices in linear algebra.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/>
              <a:t>A factorization of a matrix into a product of matrices.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/>
              <a:t>Matrix factorization algorithms work by </a:t>
            </a:r>
            <a:r>
              <a:rPr lang="en-US" sz="2400" b="1" dirty="0"/>
              <a:t>decomposing</a:t>
            </a:r>
            <a:r>
              <a:rPr lang="en-US" sz="2400" dirty="0"/>
              <a:t> the user-item interaction matrix into the product of two </a:t>
            </a:r>
            <a:r>
              <a:rPr lang="en-US" sz="2400" b="1" dirty="0"/>
              <a:t>lower dimensionality rectangular matrices</a:t>
            </a:r>
            <a:r>
              <a:rPr lang="en-US" sz="2400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30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1026" name="Picture 2" descr="Simple Matrix Factorization example on the Movielens dataset using Pyspark  | by Soumya Ghosh | Medium">
            <a:extLst>
              <a:ext uri="{FF2B5EF4-FFF2-40B4-BE49-F238E27FC236}">
                <a16:creationId xmlns:a16="http://schemas.microsoft.com/office/drawing/2014/main" id="{73D155F8-B4E2-37F5-1BA0-F46FC38D6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233" y="3769902"/>
            <a:ext cx="5765800" cy="248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42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Matrix Factorization</a:t>
                </a:r>
                <a:endParaRPr lang="en-US" sz="32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Given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of ratings, factorize it into two matrices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(some versions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31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6" name="Picture 2" descr="Simple Matrix Factorization example on the Movielens dataset using Pyspark  | by Soumya Ghosh | Medium">
            <a:extLst>
              <a:ext uri="{FF2B5EF4-FFF2-40B4-BE49-F238E27FC236}">
                <a16:creationId xmlns:a16="http://schemas.microsoft.com/office/drawing/2014/main" id="{5EC1BBA3-04D2-F898-8E2C-DA72F2B53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33" y="2762368"/>
            <a:ext cx="4960429" cy="213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F">
            <a:extLst>
              <a:ext uri="{FF2B5EF4-FFF2-40B4-BE49-F238E27FC236}">
                <a16:creationId xmlns:a16="http://schemas.microsoft.com/office/drawing/2014/main" id="{68685A68-58FB-BA01-8D93-EED0A084B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749" y="2980267"/>
            <a:ext cx="4458363" cy="183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63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Cost Functions</a:t>
                </a:r>
                <a:endParaRPr lang="en-US" sz="32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Mean Squared Error (MSE)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Root Mean Squared Error (RMSE)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e>
                      </m:ra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 b="-1464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380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Matrix Factorization</a:t>
                </a:r>
                <a:endParaRPr lang="en-US" sz="32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The goal is to find two matrices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such that it minimizes the cost function: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b="1" u="sng" dirty="0"/>
                  <a:t>MSE function </a:t>
                </a:r>
                <a:r>
                  <a:rPr lang="en-US" sz="2400" dirty="0"/>
                  <a:t>- distance measure between the original rating matrix </a:t>
                </a:r>
                <a:r>
                  <a:rPr lang="en-US" sz="2400" i="1" dirty="0"/>
                  <a:t>R</a:t>
                </a:r>
                <a:r>
                  <a:rPr lang="en-US" sz="2400" dirty="0"/>
                  <a:t> and its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approximation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𝑇𝑟𝑢𝑒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𝑃𝑟𝑒𝑑𝑖𝑐𝑡𝑒𝑑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e>
                      </m:rad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b="1" u="sng" dirty="0"/>
                  <a:t>Regularization term </a:t>
                </a:r>
                <a:r>
                  <a:rPr lang="en-US" sz="2400" dirty="0"/>
                  <a:t>- added to govern a generalized solution (to prevent overfitting to some local noisy effects on ratings).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 r="-9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9AD7D-80A8-7ACD-028B-C808173837F8}"/>
              </a:ext>
            </a:extLst>
          </p:cNvPr>
          <p:cNvSpPr txBox="1"/>
          <p:nvPr/>
        </p:nvSpPr>
        <p:spPr>
          <a:xfrm>
            <a:off x="5003799" y="2168668"/>
            <a:ext cx="1583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>
                <a:solidFill>
                  <a:srgbClr val="FF0000"/>
                </a:solidFill>
              </a:rPr>
              <a:t>MSE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6E599-0F69-8882-B32F-F91C8E984936}"/>
              </a:ext>
            </a:extLst>
          </p:cNvPr>
          <p:cNvSpPr txBox="1"/>
          <p:nvPr/>
        </p:nvSpPr>
        <p:spPr>
          <a:xfrm>
            <a:off x="6925731" y="2168668"/>
            <a:ext cx="1583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>
                <a:solidFill>
                  <a:srgbClr val="FF0000"/>
                </a:solidFill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68412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Matrix Factorization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dirty="0"/>
              <a:t>We want to minimize the cost function and the problem become an </a:t>
            </a:r>
            <a:r>
              <a:rPr lang="en-US" sz="2400" dirty="0">
                <a:solidFill>
                  <a:srgbClr val="FF0000"/>
                </a:solidFill>
              </a:rPr>
              <a:t>optimization</a:t>
            </a:r>
            <a:r>
              <a:rPr lang="en-US" sz="2400" dirty="0"/>
              <a:t> problem.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optimization problem is naturally solved by machine learning techniques: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Gradient Descent (not here)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dirty="0"/>
              <a:t>Singular Value Decomposition (SVD)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dirty="0"/>
              <a:t>Alternating Least Squares (ALS) - 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6125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000" y="136525"/>
                <a:ext cx="11760199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Singular Value Decomposition - SVD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SVD is a matrix decomposition technique that has mathematically originated from linear algebra: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dirty="0"/>
                  <a:t>P is a diagonal matrix having the singular values of </a:t>
                </a:r>
                <a:r>
                  <a:rPr lang="en-US" sz="2400" i="1" dirty="0"/>
                  <a:t>A</a:t>
                </a:r>
                <a:r>
                  <a:rPr lang="en-US" sz="2400" dirty="0"/>
                  <a:t> on its diagonal.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i="1" dirty="0"/>
                  <a:t>U</a:t>
                </a:r>
                <a:r>
                  <a:rPr lang="en-US" sz="2400" dirty="0"/>
                  <a:t> and </a:t>
                </a:r>
                <a:r>
                  <a:rPr lang="en-US" sz="2400" i="1" dirty="0"/>
                  <a:t>V</a:t>
                </a:r>
                <a:r>
                  <a:rPr lang="en-US" sz="2400" dirty="0"/>
                  <a:t> are orthonormal matrices (their columns are orthogonal, and their norm equals 1)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dirty="0"/>
                  <a:t>SVD solution is unique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We can refer R as the rating matrix and use this method for decomposition.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000" y="136525"/>
                <a:ext cx="11760199" cy="6485754"/>
              </a:xfrm>
              <a:blipFill>
                <a:blip r:embed="rId3"/>
                <a:stretch>
                  <a:fillRect l="-863" r="-21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6846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36525"/>
            <a:ext cx="11760199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Singular Value Decomposition - SVD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</a:t>
            </a:r>
            <a:r>
              <a:rPr lang="he-IL" sz="2400" dirty="0"/>
              <a:t>׳</a:t>
            </a:r>
            <a:r>
              <a:rPr lang="en-US" sz="2400" dirty="0"/>
              <a:t>s wrong?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High Computational Complexity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The original matrix must be fully dense (no missing values allowed)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This is not the case in most streaming and cloud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18434" name="Picture 2" descr="Sad Icon - Free Icons">
            <a:extLst>
              <a:ext uri="{FF2B5EF4-FFF2-40B4-BE49-F238E27FC236}">
                <a16:creationId xmlns:a16="http://schemas.microsoft.com/office/drawing/2014/main" id="{B0723FAF-A70B-0E4E-4DD9-8A94250B9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932" y="4123266"/>
            <a:ext cx="1820333" cy="182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20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DA11A2-B510-D84C-9ADC-C9D0389EDA81}"/>
              </a:ext>
            </a:extLst>
          </p:cNvPr>
          <p:cNvSpPr/>
          <p:nvPr/>
        </p:nvSpPr>
        <p:spPr>
          <a:xfrm>
            <a:off x="334433" y="2590799"/>
            <a:ext cx="11523133" cy="770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2400" dirty="0">
                <a:solidFill>
                  <a:schemeClr val="tx1"/>
                </a:solidFill>
              </a:rPr>
              <a:t>Technique 2 – Matrix Factorization and ALS</a:t>
            </a:r>
          </a:p>
        </p:txBody>
      </p:sp>
    </p:spTree>
    <p:extLst>
      <p:ext uri="{BB962C8B-B14F-4D97-AF65-F5344CB8AC3E}">
        <p14:creationId xmlns:p14="http://schemas.microsoft.com/office/powerpoint/2010/main" val="10409069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Alternating Least Squares (ALS)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The goal of Alternating Least Squares is to find two matrices,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, such that their product is </a:t>
                </a:r>
                <a:r>
                  <a:rPr lang="en-US" sz="2400" b="1" u="sng" dirty="0"/>
                  <a:t>approximately</a:t>
                </a:r>
                <a:r>
                  <a:rPr lang="en-US" sz="2400" dirty="0"/>
                  <a:t> equal to the original matrix of users and products.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If we fix P and optimize for U alone, the problem is simply reduced to the problem of linear</a:t>
                </a:r>
                <a:r>
                  <a:rPr lang="en-US" sz="2400" dirty="0">
                    <a:hlinkClick r:id="rId3"/>
                  </a:rPr>
                  <a:t> </a:t>
                </a:r>
                <a:r>
                  <a:rPr lang="en-US" sz="2400" dirty="0"/>
                  <a:t>regression.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In this case, we want to optimize both matrices.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highlight>
                      <a:srgbClr val="FFFF00"/>
                    </a:highlight>
                  </a:rPr>
                  <a:t>Since it is an approximation algorithm, the solution is not unique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4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9305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Alternating Least Squares (ALS)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The goal of Alternating Least Squares is to find two matrices,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, such that their product is </a:t>
                </a:r>
                <a:r>
                  <a:rPr lang="en-US" sz="2400" b="1" u="sng" dirty="0"/>
                  <a:t>approximately</a:t>
                </a:r>
                <a:r>
                  <a:rPr lang="en-US" sz="2400" dirty="0"/>
                  <a:t> equal to the original matrix of users and products.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Once such matrices have been found, we are able to predict what user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will think of product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by multiplying row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with row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.</a:t>
                </a:r>
                <a:endParaRPr lang="en-US" sz="2400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1FA16B-84B0-CAD0-DB9E-70DD95200B39}"/>
              </a:ext>
            </a:extLst>
          </p:cNvPr>
          <p:cNvGraphicFramePr>
            <a:graphicFrameLocks noGrp="1"/>
          </p:cNvGraphicFramePr>
          <p:nvPr/>
        </p:nvGraphicFramePr>
        <p:xfrm>
          <a:off x="3420534" y="4256548"/>
          <a:ext cx="570653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633">
                  <a:extLst>
                    <a:ext uri="{9D8B030D-6E8A-4147-A177-3AD203B41FA5}">
                      <a16:colId xmlns:a16="http://schemas.microsoft.com/office/drawing/2014/main" val="1086613704"/>
                    </a:ext>
                  </a:extLst>
                </a:gridCol>
                <a:gridCol w="1426633">
                  <a:extLst>
                    <a:ext uri="{9D8B030D-6E8A-4147-A177-3AD203B41FA5}">
                      <a16:colId xmlns:a16="http://schemas.microsoft.com/office/drawing/2014/main" val="3583944168"/>
                    </a:ext>
                  </a:extLst>
                </a:gridCol>
                <a:gridCol w="1426633">
                  <a:extLst>
                    <a:ext uri="{9D8B030D-6E8A-4147-A177-3AD203B41FA5}">
                      <a16:colId xmlns:a16="http://schemas.microsoft.com/office/drawing/2014/main" val="1553746263"/>
                    </a:ext>
                  </a:extLst>
                </a:gridCol>
                <a:gridCol w="1426633">
                  <a:extLst>
                    <a:ext uri="{9D8B030D-6E8A-4147-A177-3AD203B41FA5}">
                      <a16:colId xmlns:a16="http://schemas.microsoft.com/office/drawing/2014/main" val="3332086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Product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Product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Product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User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422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User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780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98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Alternating Least Squares (ALS)</a:t>
            </a:r>
          </a:p>
          <a:p>
            <a:pPr fontAlgn="base"/>
            <a:r>
              <a:rPr lang="en-US" sz="2400" dirty="0"/>
              <a:t>Consider the following matrix which holds opinions of two users on three products:</a:t>
            </a:r>
          </a:p>
          <a:p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We wish to be able to </a:t>
            </a:r>
            <a:r>
              <a:rPr lang="en-US" sz="2400" b="1" u="sng" dirty="0"/>
              <a:t>predict how user 1 will rate product two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is where Alternating Least Squares (ALS) comes 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40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A170B0FA-CC7F-713E-AECD-BBE4F8098319}"/>
              </a:ext>
            </a:extLst>
          </p:cNvPr>
          <p:cNvGraphicFramePr>
            <a:graphicFrameLocks noGrp="1"/>
          </p:cNvGraphicFramePr>
          <p:nvPr/>
        </p:nvGraphicFramePr>
        <p:xfrm>
          <a:off x="3242734" y="1987482"/>
          <a:ext cx="570653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633">
                  <a:extLst>
                    <a:ext uri="{9D8B030D-6E8A-4147-A177-3AD203B41FA5}">
                      <a16:colId xmlns:a16="http://schemas.microsoft.com/office/drawing/2014/main" val="1086613704"/>
                    </a:ext>
                  </a:extLst>
                </a:gridCol>
                <a:gridCol w="1426633">
                  <a:extLst>
                    <a:ext uri="{9D8B030D-6E8A-4147-A177-3AD203B41FA5}">
                      <a16:colId xmlns:a16="http://schemas.microsoft.com/office/drawing/2014/main" val="3583944168"/>
                    </a:ext>
                  </a:extLst>
                </a:gridCol>
                <a:gridCol w="1426633">
                  <a:extLst>
                    <a:ext uri="{9D8B030D-6E8A-4147-A177-3AD203B41FA5}">
                      <a16:colId xmlns:a16="http://schemas.microsoft.com/office/drawing/2014/main" val="1553746263"/>
                    </a:ext>
                  </a:extLst>
                </a:gridCol>
                <a:gridCol w="1426633">
                  <a:extLst>
                    <a:ext uri="{9D8B030D-6E8A-4147-A177-3AD203B41FA5}">
                      <a16:colId xmlns:a16="http://schemas.microsoft.com/office/drawing/2014/main" val="3332086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Product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Product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Product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User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422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User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780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9972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Computing U and P in ALS</a:t>
            </a:r>
          </a:p>
          <a:p>
            <a:pPr fontAlgn="base">
              <a:lnSpc>
                <a:spcPct val="150000"/>
              </a:lnSpc>
            </a:pPr>
            <a:r>
              <a:rPr lang="en-US" sz="2400" dirty="0"/>
              <a:t>The method is called “alternating” since the following two steps are repeated:</a:t>
            </a:r>
          </a:p>
          <a:p>
            <a:pPr fontAlgn="base">
              <a:lnSpc>
                <a:spcPct val="150000"/>
              </a:lnSpc>
            </a:pPr>
            <a:r>
              <a:rPr lang="en-US" sz="2400" dirty="0"/>
              <a:t>1. Fix matrix U and find the optimal matrix P</a:t>
            </a:r>
          </a:p>
          <a:p>
            <a:pPr fontAlgn="base">
              <a:lnSpc>
                <a:spcPct val="150000"/>
              </a:lnSpc>
            </a:pPr>
            <a:r>
              <a:rPr lang="en-US" sz="2400" dirty="0"/>
              <a:t>2. Fix matrix P and find the optimal matrix U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br>
              <a:rPr lang="en-US" dirty="0"/>
            </a:br>
            <a:endParaRPr lang="en-US" sz="24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41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02907B-D302-B169-FD71-9036483762DC}"/>
              </a:ext>
            </a:extLst>
          </p:cNvPr>
          <p:cNvGraphicFramePr>
            <a:graphicFrameLocks noGrp="1"/>
          </p:cNvGraphicFramePr>
          <p:nvPr/>
        </p:nvGraphicFramePr>
        <p:xfrm>
          <a:off x="1193796" y="3969249"/>
          <a:ext cx="4411140" cy="11197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2785">
                  <a:extLst>
                    <a:ext uri="{9D8B030D-6E8A-4147-A177-3AD203B41FA5}">
                      <a16:colId xmlns:a16="http://schemas.microsoft.com/office/drawing/2014/main" val="1086613704"/>
                    </a:ext>
                  </a:extLst>
                </a:gridCol>
                <a:gridCol w="1102785">
                  <a:extLst>
                    <a:ext uri="{9D8B030D-6E8A-4147-A177-3AD203B41FA5}">
                      <a16:colId xmlns:a16="http://schemas.microsoft.com/office/drawing/2014/main" val="3583944168"/>
                    </a:ext>
                  </a:extLst>
                </a:gridCol>
                <a:gridCol w="1102785">
                  <a:extLst>
                    <a:ext uri="{9D8B030D-6E8A-4147-A177-3AD203B41FA5}">
                      <a16:colId xmlns:a16="http://schemas.microsoft.com/office/drawing/2014/main" val="1553746263"/>
                    </a:ext>
                  </a:extLst>
                </a:gridCol>
                <a:gridCol w="1102785">
                  <a:extLst>
                    <a:ext uri="{9D8B030D-6E8A-4147-A177-3AD203B41FA5}">
                      <a16:colId xmlns:a16="http://schemas.microsoft.com/office/drawing/2014/main" val="3332086410"/>
                    </a:ext>
                  </a:extLst>
                </a:gridCol>
              </a:tblGrid>
              <a:tr h="3732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Product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Product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Product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1554"/>
                  </a:ext>
                </a:extLst>
              </a:tr>
              <a:tr h="373262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User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422487"/>
                  </a:ext>
                </a:extLst>
              </a:tr>
              <a:tr h="373262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User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7808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46C895-0452-6DCC-624C-F3202429089A}"/>
                  </a:ext>
                </a:extLst>
              </p:cNvPr>
              <p:cNvSpPr txBox="1"/>
              <p:nvPr/>
            </p:nvSpPr>
            <p:spPr>
              <a:xfrm>
                <a:off x="5884332" y="4131733"/>
                <a:ext cx="3742267" cy="809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L" sz="28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mr>
                    </m:m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L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46C895-0452-6DCC-624C-F32024290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332" y="4131733"/>
                <a:ext cx="3742267" cy="809773"/>
              </a:xfrm>
              <a:prstGeom prst="rect">
                <a:avLst/>
              </a:prstGeom>
              <a:blipFill>
                <a:blip r:embed="rId3"/>
                <a:stretch>
                  <a:fillRect l="-3390" b="-30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8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Computing U and P in ALS</a:t>
                </a:r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dirty="0"/>
                  <a:t>We start by fixing matrix U. I could have picked any values for U, but I chose 1’s to make the </a:t>
                </a:r>
                <a:r>
                  <a:rPr lang="en-US" sz="2400" dirty="0" err="1"/>
                  <a:t>maths</a:t>
                </a:r>
                <a:r>
                  <a:rPr lang="en-US" sz="2400" dirty="0"/>
                  <a:t> easier.</a:t>
                </a:r>
              </a:p>
              <a:p>
                <a:pPr fontAlgn="base"/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  <a:p>
                <a:pPr fontAlgn="base"/>
                <a:r>
                  <a:rPr lang="en-US" sz="2400" dirty="0"/>
                  <a:t>If we multiply this out, we get 5 equations which involve the components of P:</a:t>
                </a:r>
              </a:p>
              <a:p>
                <a:pPr/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=0.5,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There is a lone equation which governs the second component of P, thus we set that equal to 3. </a:t>
                </a:r>
                <a:endParaRPr lang="en-US" sz="2400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4BC657-67E9-78EA-8DA4-60F4D35D6BA0}"/>
              </a:ext>
            </a:extLst>
          </p:cNvPr>
          <p:cNvGraphicFramePr>
            <a:graphicFrameLocks noGrp="1"/>
          </p:cNvGraphicFramePr>
          <p:nvPr/>
        </p:nvGraphicFramePr>
        <p:xfrm>
          <a:off x="1659463" y="2309780"/>
          <a:ext cx="4411140" cy="11197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2785">
                  <a:extLst>
                    <a:ext uri="{9D8B030D-6E8A-4147-A177-3AD203B41FA5}">
                      <a16:colId xmlns:a16="http://schemas.microsoft.com/office/drawing/2014/main" val="1086613704"/>
                    </a:ext>
                  </a:extLst>
                </a:gridCol>
                <a:gridCol w="1102785">
                  <a:extLst>
                    <a:ext uri="{9D8B030D-6E8A-4147-A177-3AD203B41FA5}">
                      <a16:colId xmlns:a16="http://schemas.microsoft.com/office/drawing/2014/main" val="3583944168"/>
                    </a:ext>
                  </a:extLst>
                </a:gridCol>
                <a:gridCol w="1102785">
                  <a:extLst>
                    <a:ext uri="{9D8B030D-6E8A-4147-A177-3AD203B41FA5}">
                      <a16:colId xmlns:a16="http://schemas.microsoft.com/office/drawing/2014/main" val="1553746263"/>
                    </a:ext>
                  </a:extLst>
                </a:gridCol>
                <a:gridCol w="1102785">
                  <a:extLst>
                    <a:ext uri="{9D8B030D-6E8A-4147-A177-3AD203B41FA5}">
                      <a16:colId xmlns:a16="http://schemas.microsoft.com/office/drawing/2014/main" val="3332086410"/>
                    </a:ext>
                  </a:extLst>
                </a:gridCol>
              </a:tblGrid>
              <a:tr h="3732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Product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Product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Product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1554"/>
                  </a:ext>
                </a:extLst>
              </a:tr>
              <a:tr h="373262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User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422487"/>
                  </a:ext>
                </a:extLst>
              </a:tr>
              <a:tr h="373262"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User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7808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2F0FA8-BF9B-6A4F-41F3-584AF6D3072B}"/>
                  </a:ext>
                </a:extLst>
              </p:cNvPr>
              <p:cNvSpPr txBox="1"/>
              <p:nvPr/>
            </p:nvSpPr>
            <p:spPr>
              <a:xfrm>
                <a:off x="6349999" y="2472264"/>
                <a:ext cx="3742267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L" sz="28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mr>
                    </m:m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L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2F0FA8-BF9B-6A4F-41F3-584AF6D30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999" y="2472264"/>
                <a:ext cx="3742267" cy="807978"/>
              </a:xfrm>
              <a:prstGeom prst="rect">
                <a:avLst/>
              </a:prstGeom>
              <a:blipFill>
                <a:blip r:embed="rId4"/>
                <a:stretch>
                  <a:fillRect l="-3390" b="-769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54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Computing U and P in ALS</a:t>
                </a:r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dirty="0"/>
                  <a:t>We need to select the remaining two components such that the mean squared error is minimized:</a:t>
                </a:r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=2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b="0" dirty="0"/>
                  <a:t>What minimize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b="0" dirty="0"/>
                  <a:t>?</a:t>
                </a:r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84662-932F-BAF6-7D8B-8892BFB4C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133" y="3429000"/>
            <a:ext cx="3285067" cy="21335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5787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Computing U and P in ALS</a:t>
                </a:r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dirty="0"/>
                  <a:t>We need to select the remaining two components such that the mean squared error is minimized:</a:t>
                </a:r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−18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+41</m:t>
                      </m:r>
                    </m:oMath>
                  </m:oMathPara>
                </a14:m>
                <a:endParaRPr lang="en-US" sz="2400" b="0" dirty="0"/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b="0" dirty="0"/>
                  <a:t>What minimize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b="0" dirty="0"/>
                  <a:t>?</a:t>
                </a:r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−18=0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B9AFF9-B4C8-CB7E-9E7C-9758F0D3C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133" y="3601356"/>
            <a:ext cx="2709333" cy="19231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471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Computing U and P in ALS</a:t>
                </a:r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dirty="0"/>
                  <a:t>By solving all the equations, we get the matrix P:</a:t>
                </a:r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0.75, 3,4.5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dirty="0"/>
                  <a:t>Now we keep P fixed and optimize for matrix U. This similarly gives us the following equations for U:</a:t>
                </a:r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0.5=0.75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4=4.5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1=0.75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3=3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5=4.5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3263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Computing U and P in ALS</a:t>
                </a:r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dirty="0"/>
                  <a:t>Repeating this process, we will, at some point, converge upon the optimal matrices U and P. Solving those systems, we get:</a:t>
                </a:r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0.75, 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2.5431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,4.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7999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.7461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1.7966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fontAlgn="base">
                  <a:lnSpc>
                    <a:spcPct val="150000"/>
                  </a:lnSpc>
                </a:pPr>
                <a:r>
                  <a:rPr lang="en-US" sz="2400" dirty="0"/>
                  <a:t>We are now able to predict what user 1 thinks of product 2. By multiplying the first component of U by the second component of P we reach an estimate of:</a:t>
                </a:r>
              </a:p>
              <a:p>
                <a:pPr fontAlgn="base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.7461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2.5431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=1.897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 r="-2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1992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How to Build Collaborative Filtering using ALS?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b="1" dirty="0"/>
              <a:t>Step 1</a:t>
            </a:r>
            <a:r>
              <a:rPr lang="en-US" sz="2400" dirty="0"/>
              <a:t>: Load data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2</a:t>
            </a:r>
            <a:r>
              <a:rPr lang="en-US" sz="2400" dirty="0"/>
              <a:t>: Split data into train, validation and test sets.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r>
              <a:rPr lang="en-US" sz="2400" b="1" u="sng" dirty="0"/>
              <a:t>Train</a:t>
            </a:r>
            <a:r>
              <a:rPr lang="en-US" sz="2400" dirty="0"/>
              <a:t> - The sample of data used to fit the model.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r>
              <a:rPr lang="en-US" sz="2400" b="1" u="sng" dirty="0"/>
              <a:t>Validation</a:t>
            </a:r>
            <a:r>
              <a:rPr lang="en-US" sz="2400" dirty="0"/>
              <a:t> - The evaluation becomes more biased as skill on the validation dataset is 	incorporated into the 	model configuration. (“semi-testing” your model)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r>
              <a:rPr lang="en-US" sz="2400" b="1" u="sng" dirty="0"/>
              <a:t>Test</a:t>
            </a:r>
            <a:r>
              <a:rPr lang="en-US" sz="2400" dirty="0"/>
              <a:t> - The sample of data used to provide an unbiased evaluation of a final model fit 	on the training dataset.</a:t>
            </a:r>
            <a:endParaRPr lang="en-US" sz="2400" b="1" u="sng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8195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How to Build Collaborative Filtering using ALS?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b="1" dirty="0"/>
              <a:t>Step 3: </a:t>
            </a:r>
            <a:r>
              <a:rPr lang="en-US" sz="2400" dirty="0"/>
              <a:t>ALS Model Selection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To find the optimal hyperparameters, use grid search and select the best model.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4: </a:t>
            </a:r>
            <a:r>
              <a:rPr lang="en-US" sz="2400" dirty="0"/>
              <a:t>Learning Curve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As we increased number of iterations in training ALS, we can see how RMSE changes and whether model is overfitted.</a:t>
            </a:r>
            <a:br>
              <a:rPr lang="en-US" sz="2400" dirty="0"/>
            </a:br>
            <a:r>
              <a:rPr lang="en-US" sz="2400" b="1" dirty="0"/>
              <a:t>Step 5: </a:t>
            </a:r>
            <a:r>
              <a:rPr lang="en-US" sz="2400" dirty="0"/>
              <a:t>Make recommendations </a:t>
            </a:r>
            <a:r>
              <a:rPr lang="en-US" sz="2400" dirty="0">
                <a:sym typeface="Wingdings" pitchFamily="2" charset="2"/>
              </a:rPr>
              <a:t>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9221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e0rBPwATUy2fI6mH7qa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NLp4gObK0O9VY1Uf3Xbg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ok.C0uwKkW83pJDj5Gwh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15138</TotalTime>
  <Words>2521</Words>
  <Application>Microsoft Macintosh PowerPoint</Application>
  <PresentationFormat>Widescreen</PresentationFormat>
  <Paragraphs>545</Paragraphs>
  <Slides>48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Tele-GroteskNor</vt:lpstr>
      <vt:lpstr>Wingdings</vt:lpstr>
      <vt:lpstr>Office Theme</vt:lpstr>
      <vt:lpstr>Cloud Based Data Engineering</vt:lpstr>
      <vt:lpstr>Recommender Systems</vt:lpstr>
      <vt:lpstr>The Impact of Recommendation Systems</vt:lpstr>
      <vt:lpstr>The Rise of the Recommender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Prize Goes To …</vt:lpstr>
      <vt:lpstr>Approaches</vt:lpstr>
      <vt:lpstr>Approaches</vt:lpstr>
      <vt:lpstr>Approaches</vt:lpstr>
      <vt:lpstr>Collaborative Filtering</vt:lpstr>
      <vt:lpstr>Explicit and Implicit Feedbacks</vt:lpstr>
      <vt:lpstr>PowerPoint Presentation</vt:lpstr>
      <vt:lpstr>PowerPoint Presentation</vt:lpstr>
      <vt:lpstr>KNN item-Based Collaborative Filtering</vt:lpstr>
      <vt:lpstr>KNN item-Based Collaborative Filtering</vt:lpstr>
      <vt:lpstr>1-Nearest Neighbor</vt:lpstr>
      <vt:lpstr>3-Nearest Neighbor</vt:lpstr>
      <vt:lpstr>KNN item-Based Collaborative Filtering</vt:lpstr>
      <vt:lpstr>Cosine Similarity</vt:lpstr>
      <vt:lpstr>Cosine Similarity</vt:lpstr>
      <vt:lpstr>Issue with the user-based kNN CF</vt:lpstr>
      <vt:lpstr>KNN item-Based Collaborative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creator>Lev</dc:creator>
  <cp:lastModifiedBy>or perets</cp:lastModifiedBy>
  <cp:revision>323</cp:revision>
  <dcterms:created xsi:type="dcterms:W3CDTF">2021-02-09T13:47:38Z</dcterms:created>
  <dcterms:modified xsi:type="dcterms:W3CDTF">2022-05-03T09:18:15Z</dcterms:modified>
</cp:coreProperties>
</file>