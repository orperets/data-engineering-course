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487" r:id="rId3"/>
    <p:sldId id="488" r:id="rId4"/>
    <p:sldId id="489" r:id="rId5"/>
    <p:sldId id="422" r:id="rId6"/>
    <p:sldId id="490" r:id="rId7"/>
    <p:sldId id="420" r:id="rId8"/>
    <p:sldId id="491" r:id="rId9"/>
    <p:sldId id="403" r:id="rId10"/>
    <p:sldId id="439" r:id="rId11"/>
    <p:sldId id="405" r:id="rId12"/>
    <p:sldId id="406" r:id="rId13"/>
    <p:sldId id="407" r:id="rId14"/>
    <p:sldId id="408" r:id="rId15"/>
    <p:sldId id="409" r:id="rId16"/>
    <p:sldId id="410" r:id="rId17"/>
    <p:sldId id="411" r:id="rId18"/>
    <p:sldId id="412" r:id="rId19"/>
    <p:sldId id="413" r:id="rId20"/>
    <p:sldId id="414" r:id="rId21"/>
    <p:sldId id="415" r:id="rId22"/>
    <p:sldId id="416" r:id="rId23"/>
    <p:sldId id="495" r:id="rId24"/>
    <p:sldId id="496" r:id="rId25"/>
    <p:sldId id="497" r:id="rId26"/>
    <p:sldId id="498" r:id="rId27"/>
    <p:sldId id="499" r:id="rId28"/>
    <p:sldId id="500" r:id="rId29"/>
    <p:sldId id="427" r:id="rId30"/>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11" autoAdjust="0"/>
    <p:restoredTop sz="94422"/>
  </p:normalViewPr>
  <p:slideViewPr>
    <p:cSldViewPr snapToGrid="0">
      <p:cViewPr varScale="1">
        <p:scale>
          <a:sx n="121" d="100"/>
          <a:sy n="121" d="100"/>
        </p:scale>
        <p:origin x="1008" y="16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63F32-7DA3-4013-BE26-9191402E55C8}" type="datetimeFigureOut">
              <a:rPr lang="en-IL" smtClean="0"/>
              <a:t>13/02/2023</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8866D-0BA4-4B03-8FA8-A96EE1FB39D0}" type="slidenum">
              <a:rPr lang="en-IL" smtClean="0"/>
              <a:t>‹#›</a:t>
            </a:fld>
            <a:endParaRPr lang="en-IL"/>
          </a:p>
        </p:txBody>
      </p:sp>
    </p:spTree>
    <p:extLst>
      <p:ext uri="{BB962C8B-B14F-4D97-AF65-F5344CB8AC3E}">
        <p14:creationId xmlns:p14="http://schemas.microsoft.com/office/powerpoint/2010/main" val="2421153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a:t>
            </a:fld>
            <a:endParaRPr lang="en-IL"/>
          </a:p>
        </p:txBody>
      </p:sp>
    </p:spTree>
    <p:extLst>
      <p:ext uri="{BB962C8B-B14F-4D97-AF65-F5344CB8AC3E}">
        <p14:creationId xmlns:p14="http://schemas.microsoft.com/office/powerpoint/2010/main" val="1901519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a:t>
            </a:fld>
            <a:endParaRPr lang="en-IL"/>
          </a:p>
        </p:txBody>
      </p:sp>
    </p:spTree>
    <p:extLst>
      <p:ext uri="{BB962C8B-B14F-4D97-AF65-F5344CB8AC3E}">
        <p14:creationId xmlns:p14="http://schemas.microsoft.com/office/powerpoint/2010/main" val="3598018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3072DB-288D-41CF-9840-06B017A0D6A2}" type="slidenum">
              <a:rPr lang="en-US" smtClean="0"/>
              <a:t>5</a:t>
            </a:fld>
            <a:endParaRPr lang="en-US"/>
          </a:p>
        </p:txBody>
      </p:sp>
    </p:spTree>
    <p:extLst>
      <p:ext uri="{BB962C8B-B14F-4D97-AF65-F5344CB8AC3E}">
        <p14:creationId xmlns:p14="http://schemas.microsoft.com/office/powerpoint/2010/main" val="2652968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a:t>
            </a:fld>
            <a:endParaRPr lang="en-IL"/>
          </a:p>
        </p:txBody>
      </p:sp>
    </p:spTree>
    <p:extLst>
      <p:ext uri="{BB962C8B-B14F-4D97-AF65-F5344CB8AC3E}">
        <p14:creationId xmlns:p14="http://schemas.microsoft.com/office/powerpoint/2010/main" val="2004830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a:t>
            </a:fld>
            <a:endParaRPr lang="en-IL"/>
          </a:p>
        </p:txBody>
      </p:sp>
    </p:spTree>
    <p:extLst>
      <p:ext uri="{BB962C8B-B14F-4D97-AF65-F5344CB8AC3E}">
        <p14:creationId xmlns:p14="http://schemas.microsoft.com/office/powerpoint/2010/main" val="1900490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8</a:t>
            </a:fld>
            <a:endParaRPr lang="en-IL"/>
          </a:p>
        </p:txBody>
      </p:sp>
    </p:spTree>
    <p:extLst>
      <p:ext uri="{BB962C8B-B14F-4D97-AF65-F5344CB8AC3E}">
        <p14:creationId xmlns:p14="http://schemas.microsoft.com/office/powerpoint/2010/main" val="1476465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9</a:t>
            </a:fld>
            <a:endParaRPr lang="en-IL"/>
          </a:p>
        </p:txBody>
      </p:sp>
    </p:spTree>
    <p:extLst>
      <p:ext uri="{BB962C8B-B14F-4D97-AF65-F5344CB8AC3E}">
        <p14:creationId xmlns:p14="http://schemas.microsoft.com/office/powerpoint/2010/main" val="3496974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11</a:t>
            </a:fld>
            <a:endParaRPr lang="en-IL"/>
          </a:p>
        </p:txBody>
      </p:sp>
    </p:spTree>
    <p:extLst>
      <p:ext uri="{BB962C8B-B14F-4D97-AF65-F5344CB8AC3E}">
        <p14:creationId xmlns:p14="http://schemas.microsoft.com/office/powerpoint/2010/main" val="3426705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12</a:t>
            </a:fld>
            <a:endParaRPr lang="en-IL"/>
          </a:p>
        </p:txBody>
      </p:sp>
    </p:spTree>
    <p:extLst>
      <p:ext uri="{BB962C8B-B14F-4D97-AF65-F5344CB8AC3E}">
        <p14:creationId xmlns:p14="http://schemas.microsoft.com/office/powerpoint/2010/main" val="1137319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13</a:t>
            </a:fld>
            <a:endParaRPr lang="en-IL"/>
          </a:p>
        </p:txBody>
      </p:sp>
    </p:spTree>
    <p:extLst>
      <p:ext uri="{BB962C8B-B14F-4D97-AF65-F5344CB8AC3E}">
        <p14:creationId xmlns:p14="http://schemas.microsoft.com/office/powerpoint/2010/main" val="168072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14</a:t>
            </a:fld>
            <a:endParaRPr lang="en-IL"/>
          </a:p>
        </p:txBody>
      </p:sp>
    </p:spTree>
    <p:extLst>
      <p:ext uri="{BB962C8B-B14F-4D97-AF65-F5344CB8AC3E}">
        <p14:creationId xmlns:p14="http://schemas.microsoft.com/office/powerpoint/2010/main" val="336759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15</a:t>
            </a:fld>
            <a:endParaRPr lang="en-IL"/>
          </a:p>
        </p:txBody>
      </p:sp>
    </p:spTree>
    <p:extLst>
      <p:ext uri="{BB962C8B-B14F-4D97-AF65-F5344CB8AC3E}">
        <p14:creationId xmlns:p14="http://schemas.microsoft.com/office/powerpoint/2010/main" val="1756509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16</a:t>
            </a:fld>
            <a:endParaRPr lang="en-IL"/>
          </a:p>
        </p:txBody>
      </p:sp>
    </p:spTree>
    <p:extLst>
      <p:ext uri="{BB962C8B-B14F-4D97-AF65-F5344CB8AC3E}">
        <p14:creationId xmlns:p14="http://schemas.microsoft.com/office/powerpoint/2010/main" val="2101667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17</a:t>
            </a:fld>
            <a:endParaRPr lang="en-IL"/>
          </a:p>
        </p:txBody>
      </p:sp>
    </p:spTree>
    <p:extLst>
      <p:ext uri="{BB962C8B-B14F-4D97-AF65-F5344CB8AC3E}">
        <p14:creationId xmlns:p14="http://schemas.microsoft.com/office/powerpoint/2010/main" val="2180306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18</a:t>
            </a:fld>
            <a:endParaRPr lang="en-IL"/>
          </a:p>
        </p:txBody>
      </p:sp>
    </p:spTree>
    <p:extLst>
      <p:ext uri="{BB962C8B-B14F-4D97-AF65-F5344CB8AC3E}">
        <p14:creationId xmlns:p14="http://schemas.microsoft.com/office/powerpoint/2010/main" val="41358084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19</a:t>
            </a:fld>
            <a:endParaRPr lang="en-IL"/>
          </a:p>
        </p:txBody>
      </p:sp>
    </p:spTree>
    <p:extLst>
      <p:ext uri="{BB962C8B-B14F-4D97-AF65-F5344CB8AC3E}">
        <p14:creationId xmlns:p14="http://schemas.microsoft.com/office/powerpoint/2010/main" val="12732100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20</a:t>
            </a:fld>
            <a:endParaRPr lang="en-IL"/>
          </a:p>
        </p:txBody>
      </p:sp>
    </p:spTree>
    <p:extLst>
      <p:ext uri="{BB962C8B-B14F-4D97-AF65-F5344CB8AC3E}">
        <p14:creationId xmlns:p14="http://schemas.microsoft.com/office/powerpoint/2010/main" val="1364136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21</a:t>
            </a:fld>
            <a:endParaRPr lang="en-IL"/>
          </a:p>
        </p:txBody>
      </p:sp>
    </p:spTree>
    <p:extLst>
      <p:ext uri="{BB962C8B-B14F-4D97-AF65-F5344CB8AC3E}">
        <p14:creationId xmlns:p14="http://schemas.microsoft.com/office/powerpoint/2010/main" val="20263276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22</a:t>
            </a:fld>
            <a:endParaRPr lang="en-IL"/>
          </a:p>
        </p:txBody>
      </p:sp>
    </p:spTree>
    <p:extLst>
      <p:ext uri="{BB962C8B-B14F-4D97-AF65-F5344CB8AC3E}">
        <p14:creationId xmlns:p14="http://schemas.microsoft.com/office/powerpoint/2010/main" val="3815522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23</a:t>
            </a:fld>
            <a:endParaRPr lang="en-IL"/>
          </a:p>
        </p:txBody>
      </p:sp>
    </p:spTree>
    <p:extLst>
      <p:ext uri="{BB962C8B-B14F-4D97-AF65-F5344CB8AC3E}">
        <p14:creationId xmlns:p14="http://schemas.microsoft.com/office/powerpoint/2010/main" val="17214689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24</a:t>
            </a:fld>
            <a:endParaRPr lang="en-IL"/>
          </a:p>
        </p:txBody>
      </p:sp>
    </p:spTree>
    <p:extLst>
      <p:ext uri="{BB962C8B-B14F-4D97-AF65-F5344CB8AC3E}">
        <p14:creationId xmlns:p14="http://schemas.microsoft.com/office/powerpoint/2010/main" val="35454550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25</a:t>
            </a:fld>
            <a:endParaRPr lang="en-IL"/>
          </a:p>
        </p:txBody>
      </p:sp>
    </p:spTree>
    <p:extLst>
      <p:ext uri="{BB962C8B-B14F-4D97-AF65-F5344CB8AC3E}">
        <p14:creationId xmlns:p14="http://schemas.microsoft.com/office/powerpoint/2010/main" val="1309998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26</a:t>
            </a:fld>
            <a:endParaRPr lang="en-IL"/>
          </a:p>
        </p:txBody>
      </p:sp>
    </p:spTree>
    <p:extLst>
      <p:ext uri="{BB962C8B-B14F-4D97-AF65-F5344CB8AC3E}">
        <p14:creationId xmlns:p14="http://schemas.microsoft.com/office/powerpoint/2010/main" val="1539907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27</a:t>
            </a:fld>
            <a:endParaRPr lang="en-IL"/>
          </a:p>
        </p:txBody>
      </p:sp>
    </p:spTree>
    <p:extLst>
      <p:ext uri="{BB962C8B-B14F-4D97-AF65-F5344CB8AC3E}">
        <p14:creationId xmlns:p14="http://schemas.microsoft.com/office/powerpoint/2010/main" val="24096679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28</a:t>
            </a:fld>
            <a:endParaRPr lang="en-IL"/>
          </a:p>
        </p:txBody>
      </p:sp>
    </p:spTree>
    <p:extLst>
      <p:ext uri="{BB962C8B-B14F-4D97-AF65-F5344CB8AC3E}">
        <p14:creationId xmlns:p14="http://schemas.microsoft.com/office/powerpoint/2010/main" val="25887840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3072DB-288D-41CF-9840-06B017A0D6A2}" type="slidenum">
              <a:rPr lang="en-US" smtClean="0"/>
              <a:t>29</a:t>
            </a:fld>
            <a:endParaRPr lang="en-US"/>
          </a:p>
        </p:txBody>
      </p:sp>
    </p:spTree>
    <p:extLst>
      <p:ext uri="{BB962C8B-B14F-4D97-AF65-F5344CB8AC3E}">
        <p14:creationId xmlns:p14="http://schemas.microsoft.com/office/powerpoint/2010/main" val="2307515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53BB-FAA3-46ED-8326-AD7EE26F7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06B615E8-3C95-4096-8039-02C1046EA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95CE2517-A02E-4027-BA2C-117CE149DB30}"/>
              </a:ext>
            </a:extLst>
          </p:cNvPr>
          <p:cNvSpPr>
            <a:spLocks noGrp="1"/>
          </p:cNvSpPr>
          <p:nvPr>
            <p:ph type="dt" sz="half" idx="10"/>
          </p:nvPr>
        </p:nvSpPr>
        <p:spPr/>
        <p:txBody>
          <a:bodyPr/>
          <a:lstStyle/>
          <a:p>
            <a:fld id="{6A4BFD53-B117-7140-872B-F4FB2CF797D4}" type="datetime8">
              <a:rPr lang="en-US" smtClean="0"/>
              <a:t>2/13/23 3:03 PM</a:t>
            </a:fld>
            <a:endParaRPr lang="en-IL"/>
          </a:p>
        </p:txBody>
      </p:sp>
      <p:sp>
        <p:nvSpPr>
          <p:cNvPr id="5" name="Footer Placeholder 4">
            <a:extLst>
              <a:ext uri="{FF2B5EF4-FFF2-40B4-BE49-F238E27FC236}">
                <a16:creationId xmlns:a16="http://schemas.microsoft.com/office/drawing/2014/main" id="{C6E5C8B8-C77F-4E96-831A-FC160B4AF490}"/>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6A7E7471-5067-4CA0-9D60-D86D047E9514}"/>
              </a:ext>
            </a:extLst>
          </p:cNvPr>
          <p:cNvSpPr>
            <a:spLocks noGrp="1"/>
          </p:cNvSpPr>
          <p:nvPr>
            <p:ph type="sldNum" sz="quarter" idx="12"/>
          </p:nvPr>
        </p:nvSpPr>
        <p:spPr/>
        <p:txBody>
          <a:bodyPr/>
          <a:lstStyle>
            <a:lvl1pPr>
              <a:defRPr sz="1800"/>
            </a:lvl1pPr>
          </a:lstStyle>
          <a:p>
            <a:fld id="{B62643F8-DFCD-4B5F-9519-933435FA18FB}" type="slidenum">
              <a:rPr lang="en-IL" smtClean="0"/>
              <a:pPr/>
              <a:t>‹#›</a:t>
            </a:fld>
            <a:endParaRPr lang="en-IL" dirty="0"/>
          </a:p>
        </p:txBody>
      </p:sp>
    </p:spTree>
    <p:extLst>
      <p:ext uri="{BB962C8B-B14F-4D97-AF65-F5344CB8AC3E}">
        <p14:creationId xmlns:p14="http://schemas.microsoft.com/office/powerpoint/2010/main" val="2720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257D3F8-87F0-4DF5-8F98-66DFD99EE7B2}"/>
              </a:ext>
            </a:extLst>
          </p:cNvPr>
          <p:cNvSpPr>
            <a:spLocks noGrp="1"/>
          </p:cNvSpPr>
          <p:nvPr>
            <p:ph idx="1"/>
          </p:nvPr>
        </p:nvSpPr>
        <p:spPr>
          <a:xfrm>
            <a:off x="838200" y="583474"/>
            <a:ext cx="10515600" cy="559348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13" name="Date Placeholder 3">
            <a:extLst>
              <a:ext uri="{FF2B5EF4-FFF2-40B4-BE49-F238E27FC236}">
                <a16:creationId xmlns:a16="http://schemas.microsoft.com/office/drawing/2014/main" id="{BCDE1D59-793A-43B8-B383-259A90AD5274}"/>
              </a:ext>
            </a:extLst>
          </p:cNvPr>
          <p:cNvSpPr>
            <a:spLocks noGrp="1"/>
          </p:cNvSpPr>
          <p:nvPr>
            <p:ph type="dt" sz="half" idx="10"/>
          </p:nvPr>
        </p:nvSpPr>
        <p:spPr>
          <a:xfrm>
            <a:off x="838200" y="6356350"/>
            <a:ext cx="2743200" cy="365125"/>
          </a:xfrm>
        </p:spPr>
        <p:txBody>
          <a:bodyPr/>
          <a:lstStyle/>
          <a:p>
            <a:fld id="{45AE441F-2815-D442-85FD-BB2B2A3E54CF}" type="datetime8">
              <a:rPr lang="en-US" smtClean="0"/>
              <a:t>2/13/23 3:03 PM</a:t>
            </a:fld>
            <a:endParaRPr lang="en-IL"/>
          </a:p>
        </p:txBody>
      </p:sp>
      <p:sp>
        <p:nvSpPr>
          <p:cNvPr id="14" name="Footer Placeholder 4">
            <a:extLst>
              <a:ext uri="{FF2B5EF4-FFF2-40B4-BE49-F238E27FC236}">
                <a16:creationId xmlns:a16="http://schemas.microsoft.com/office/drawing/2014/main" id="{AA69F713-2159-4167-B614-5042E8DE4D6E}"/>
              </a:ext>
            </a:extLst>
          </p:cNvPr>
          <p:cNvSpPr>
            <a:spLocks noGrp="1"/>
          </p:cNvSpPr>
          <p:nvPr>
            <p:ph type="ftr" sz="quarter" idx="11"/>
          </p:nvPr>
        </p:nvSpPr>
        <p:spPr>
          <a:xfrm>
            <a:off x="4038600" y="6356350"/>
            <a:ext cx="4114800" cy="365125"/>
          </a:xfrm>
        </p:spPr>
        <p:txBody>
          <a:bodyPr/>
          <a:lstStyle/>
          <a:p>
            <a:r>
              <a:rPr lang="en-US"/>
              <a:t>Or Peretz</a:t>
            </a:r>
            <a:endParaRPr lang="en-IL"/>
          </a:p>
        </p:txBody>
      </p:sp>
      <p:sp>
        <p:nvSpPr>
          <p:cNvPr id="15" name="Slide Number Placeholder 5">
            <a:extLst>
              <a:ext uri="{FF2B5EF4-FFF2-40B4-BE49-F238E27FC236}">
                <a16:creationId xmlns:a16="http://schemas.microsoft.com/office/drawing/2014/main" id="{5F40A595-FC21-4942-AC1C-EC8D0EE8F289}"/>
              </a:ext>
            </a:extLst>
          </p:cNvPr>
          <p:cNvSpPr>
            <a:spLocks noGrp="1"/>
          </p:cNvSpPr>
          <p:nvPr>
            <p:ph type="sldNum" sz="quarter" idx="12"/>
          </p:nvPr>
        </p:nvSpPr>
        <p:spPr>
          <a:xfrm>
            <a:off x="8610600" y="6356350"/>
            <a:ext cx="2743200" cy="365125"/>
          </a:xfrm>
        </p:spPr>
        <p:txBody>
          <a:bodyPr/>
          <a:lstStyle>
            <a:lvl1pPr>
              <a:defRPr sz="1800"/>
            </a:lvl1pPr>
          </a:lstStyle>
          <a:p>
            <a:fld id="{C9D69B18-316A-457F-86C2-CFE4F951EE27}" type="slidenum">
              <a:rPr lang="en-IL" smtClean="0"/>
              <a:pPr/>
              <a:t>‹#›</a:t>
            </a:fld>
            <a:endParaRPr lang="en-IL" dirty="0"/>
          </a:p>
        </p:txBody>
      </p:sp>
    </p:spTree>
    <p:extLst>
      <p:ext uri="{BB962C8B-B14F-4D97-AF65-F5344CB8AC3E}">
        <p14:creationId xmlns:p14="http://schemas.microsoft.com/office/powerpoint/2010/main" val="339576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tmplLst>
          <p:tmpl lvl="1">
            <p:tnLst>
              <p:par>
                <p:cTn presetID="1"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DB71-F16A-411E-A1F0-229842FF42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5FEC0A3-903B-4C81-96AA-FA5FE78795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621F274-0FDC-4FF1-AD1D-E33CBC0B8BE3}"/>
              </a:ext>
            </a:extLst>
          </p:cNvPr>
          <p:cNvSpPr>
            <a:spLocks noGrp="1"/>
          </p:cNvSpPr>
          <p:nvPr>
            <p:ph type="dt" sz="half" idx="10"/>
          </p:nvPr>
        </p:nvSpPr>
        <p:spPr/>
        <p:txBody>
          <a:bodyPr/>
          <a:lstStyle/>
          <a:p>
            <a:fld id="{7653EF91-4AF3-CC45-A245-5528872A1701}" type="datetime8">
              <a:rPr lang="en-US" smtClean="0"/>
              <a:t>2/13/23 3:03 PM</a:t>
            </a:fld>
            <a:endParaRPr lang="en-IL"/>
          </a:p>
        </p:txBody>
      </p:sp>
      <p:sp>
        <p:nvSpPr>
          <p:cNvPr id="5" name="Footer Placeholder 4">
            <a:extLst>
              <a:ext uri="{FF2B5EF4-FFF2-40B4-BE49-F238E27FC236}">
                <a16:creationId xmlns:a16="http://schemas.microsoft.com/office/drawing/2014/main" id="{C5317186-B90F-456C-A210-0CD662FC94AE}"/>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44DCF8B6-F957-4C26-89F8-62EE0895ACB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99978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CB62-2976-4F72-B0D1-D7D5CC8DFE1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E570335-BA28-442F-B929-834D11AFBB7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43D0261-93E1-42EC-B45C-7A9C69E6DB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8ED1B8B7-4BAF-485E-8E14-0A3937A2E61B}"/>
              </a:ext>
            </a:extLst>
          </p:cNvPr>
          <p:cNvSpPr>
            <a:spLocks noGrp="1"/>
          </p:cNvSpPr>
          <p:nvPr>
            <p:ph type="dt" sz="half" idx="10"/>
          </p:nvPr>
        </p:nvSpPr>
        <p:spPr/>
        <p:txBody>
          <a:bodyPr/>
          <a:lstStyle/>
          <a:p>
            <a:fld id="{FC39023D-BDDC-BC44-8C8A-04FEC1BACF2B}" type="datetime8">
              <a:rPr lang="en-US" smtClean="0"/>
              <a:t>2/13/23 3:03 PM</a:t>
            </a:fld>
            <a:endParaRPr lang="en-IL"/>
          </a:p>
        </p:txBody>
      </p:sp>
      <p:sp>
        <p:nvSpPr>
          <p:cNvPr id="6" name="Footer Placeholder 5">
            <a:extLst>
              <a:ext uri="{FF2B5EF4-FFF2-40B4-BE49-F238E27FC236}">
                <a16:creationId xmlns:a16="http://schemas.microsoft.com/office/drawing/2014/main" id="{5FD101D7-C282-4291-A047-A469118DB9A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54E3ACF7-1919-4005-8D18-C065FE37BAF5}"/>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15828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5D40-5A05-454B-BF8D-2ADD226269A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1CDEE7E-1856-4D6C-95E1-B25F3B5CF8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6B7349D-B192-40B0-A682-C3914DCE58B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0C86D532-BD26-45AE-91E7-2BCEE71DE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39C4E2-6DDF-4BCE-9E96-2FEA03A9195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F371B11A-C4F8-4F85-A0D5-34A703DD1683}"/>
              </a:ext>
            </a:extLst>
          </p:cNvPr>
          <p:cNvSpPr>
            <a:spLocks noGrp="1"/>
          </p:cNvSpPr>
          <p:nvPr>
            <p:ph type="dt" sz="half" idx="10"/>
          </p:nvPr>
        </p:nvSpPr>
        <p:spPr/>
        <p:txBody>
          <a:bodyPr/>
          <a:lstStyle/>
          <a:p>
            <a:fld id="{9A54F2CF-9DCB-864C-B864-761F02A67D20}" type="datetime8">
              <a:rPr lang="en-US" smtClean="0"/>
              <a:t>2/13/23 3:03 PM</a:t>
            </a:fld>
            <a:endParaRPr lang="en-IL"/>
          </a:p>
        </p:txBody>
      </p:sp>
      <p:sp>
        <p:nvSpPr>
          <p:cNvPr id="8" name="Footer Placeholder 7">
            <a:extLst>
              <a:ext uri="{FF2B5EF4-FFF2-40B4-BE49-F238E27FC236}">
                <a16:creationId xmlns:a16="http://schemas.microsoft.com/office/drawing/2014/main" id="{3CF8E969-DC51-428E-A40E-10E237847C2B}"/>
              </a:ext>
            </a:extLst>
          </p:cNvPr>
          <p:cNvSpPr>
            <a:spLocks noGrp="1"/>
          </p:cNvSpPr>
          <p:nvPr>
            <p:ph type="ftr" sz="quarter" idx="11"/>
          </p:nvPr>
        </p:nvSpPr>
        <p:spPr/>
        <p:txBody>
          <a:bodyPr/>
          <a:lstStyle/>
          <a:p>
            <a:r>
              <a:rPr lang="en-US"/>
              <a:t>Or Peretz</a:t>
            </a:r>
            <a:endParaRPr lang="en-IL"/>
          </a:p>
        </p:txBody>
      </p:sp>
      <p:sp>
        <p:nvSpPr>
          <p:cNvPr id="9" name="Slide Number Placeholder 8">
            <a:extLst>
              <a:ext uri="{FF2B5EF4-FFF2-40B4-BE49-F238E27FC236}">
                <a16:creationId xmlns:a16="http://schemas.microsoft.com/office/drawing/2014/main" id="{3AF4C0B3-7D21-431B-8C06-6364026C9DAB}"/>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730004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fld id="{70FB96B1-79D8-EB4B-8193-770518D76F5E}" type="datetime8">
              <a:rPr lang="en-US" smtClean="0"/>
              <a:t>2/13/23 3:03 PM</a:t>
            </a:fld>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404704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94F9A-B863-4CA1-A3D9-2612454CB5E8}"/>
              </a:ext>
            </a:extLst>
          </p:cNvPr>
          <p:cNvSpPr>
            <a:spLocks noGrp="1"/>
          </p:cNvSpPr>
          <p:nvPr>
            <p:ph type="dt" sz="half" idx="10"/>
          </p:nvPr>
        </p:nvSpPr>
        <p:spPr/>
        <p:txBody>
          <a:bodyPr/>
          <a:lstStyle/>
          <a:p>
            <a:fld id="{C8F586F7-761E-AC49-A78A-3E60282A375D}" type="datetime8">
              <a:rPr lang="en-US" smtClean="0"/>
              <a:t>2/13/23 3:03 PM</a:t>
            </a:fld>
            <a:endParaRPr lang="en-IL"/>
          </a:p>
        </p:txBody>
      </p:sp>
      <p:sp>
        <p:nvSpPr>
          <p:cNvPr id="3" name="Footer Placeholder 2">
            <a:extLst>
              <a:ext uri="{FF2B5EF4-FFF2-40B4-BE49-F238E27FC236}">
                <a16:creationId xmlns:a16="http://schemas.microsoft.com/office/drawing/2014/main" id="{05856BA7-0F82-4B54-82BF-04EC0B081685}"/>
              </a:ext>
            </a:extLst>
          </p:cNvPr>
          <p:cNvSpPr>
            <a:spLocks noGrp="1"/>
          </p:cNvSpPr>
          <p:nvPr>
            <p:ph type="ftr" sz="quarter" idx="11"/>
          </p:nvPr>
        </p:nvSpPr>
        <p:spPr/>
        <p:txBody>
          <a:bodyPr/>
          <a:lstStyle/>
          <a:p>
            <a:r>
              <a:rPr lang="en-US"/>
              <a:t>Or Peretz</a:t>
            </a:r>
            <a:endParaRPr lang="en-IL"/>
          </a:p>
        </p:txBody>
      </p:sp>
      <p:sp>
        <p:nvSpPr>
          <p:cNvPr id="4" name="Slide Number Placeholder 3">
            <a:extLst>
              <a:ext uri="{FF2B5EF4-FFF2-40B4-BE49-F238E27FC236}">
                <a16:creationId xmlns:a16="http://schemas.microsoft.com/office/drawing/2014/main" id="{026A46C4-110C-4F16-A55B-2CA103D5BC6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29041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F8D4-37EB-4208-8EBF-A36DA15D5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119644F-4231-4135-985A-E35BB7DF79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DDAC084D-8409-4F23-A4F3-946B11E92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57D6E5-0ADE-47F1-BF75-064C0FC0B6AA}"/>
              </a:ext>
            </a:extLst>
          </p:cNvPr>
          <p:cNvSpPr>
            <a:spLocks noGrp="1"/>
          </p:cNvSpPr>
          <p:nvPr>
            <p:ph type="dt" sz="half" idx="10"/>
          </p:nvPr>
        </p:nvSpPr>
        <p:spPr/>
        <p:txBody>
          <a:bodyPr/>
          <a:lstStyle/>
          <a:p>
            <a:fld id="{EA94BBA8-6472-ED4A-98A5-567CC454F752}" type="datetime8">
              <a:rPr lang="en-US" smtClean="0"/>
              <a:t>2/13/23 3:03 PM</a:t>
            </a:fld>
            <a:endParaRPr lang="en-IL"/>
          </a:p>
        </p:txBody>
      </p:sp>
      <p:sp>
        <p:nvSpPr>
          <p:cNvPr id="6" name="Footer Placeholder 5">
            <a:extLst>
              <a:ext uri="{FF2B5EF4-FFF2-40B4-BE49-F238E27FC236}">
                <a16:creationId xmlns:a16="http://schemas.microsoft.com/office/drawing/2014/main" id="{E3A95BE5-8107-4C77-A0C7-320528011EF6}"/>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D2B29687-8674-4B44-BCA8-CA55A7F66AEE}"/>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3551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DB8B-F360-41C1-9E59-41BC175C2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329284B-956D-4A04-AA87-11920CE3AB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6CDA7EC3-09A8-4251-B03C-6044FAB1E4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F06FFE-DADD-4559-BD8F-E4090E8513DA}"/>
              </a:ext>
            </a:extLst>
          </p:cNvPr>
          <p:cNvSpPr>
            <a:spLocks noGrp="1"/>
          </p:cNvSpPr>
          <p:nvPr>
            <p:ph type="dt" sz="half" idx="10"/>
          </p:nvPr>
        </p:nvSpPr>
        <p:spPr/>
        <p:txBody>
          <a:bodyPr/>
          <a:lstStyle/>
          <a:p>
            <a:fld id="{5A605C9F-F652-B24D-8F4F-49D46299503F}" type="datetime8">
              <a:rPr lang="en-US" smtClean="0"/>
              <a:t>2/13/23 3:03 PM</a:t>
            </a:fld>
            <a:endParaRPr lang="en-IL"/>
          </a:p>
        </p:txBody>
      </p:sp>
      <p:sp>
        <p:nvSpPr>
          <p:cNvPr id="6" name="Footer Placeholder 5">
            <a:extLst>
              <a:ext uri="{FF2B5EF4-FFF2-40B4-BE49-F238E27FC236}">
                <a16:creationId xmlns:a16="http://schemas.microsoft.com/office/drawing/2014/main" id="{487A7321-97EB-4815-A837-E4FF27362FF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BAA3595F-1D61-441A-9A46-FC01E1605B5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829192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D421-C27E-4305-9BA4-ABDBC270E32E}"/>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369482A-BFEA-4A85-973C-0414EA50857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2DCE6C9-3B2C-4E59-B407-9DEAA5194AB0}"/>
              </a:ext>
            </a:extLst>
          </p:cNvPr>
          <p:cNvSpPr>
            <a:spLocks noGrp="1"/>
          </p:cNvSpPr>
          <p:nvPr>
            <p:ph type="dt" sz="half" idx="10"/>
          </p:nvPr>
        </p:nvSpPr>
        <p:spPr/>
        <p:txBody>
          <a:bodyPr/>
          <a:lstStyle/>
          <a:p>
            <a:fld id="{329DDC4C-D92B-0A45-9310-46B2F62B571A}" type="datetime8">
              <a:rPr lang="en-US" smtClean="0"/>
              <a:t>2/13/23 3:03 PM</a:t>
            </a:fld>
            <a:endParaRPr lang="en-IL"/>
          </a:p>
        </p:txBody>
      </p:sp>
      <p:sp>
        <p:nvSpPr>
          <p:cNvPr id="5" name="Footer Placeholder 4">
            <a:extLst>
              <a:ext uri="{FF2B5EF4-FFF2-40B4-BE49-F238E27FC236}">
                <a16:creationId xmlns:a16="http://schemas.microsoft.com/office/drawing/2014/main" id="{157B3FA1-84D5-4374-B090-8EED7F0EE76B}"/>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0BB37D06-0BF6-4041-954F-C1D4B14F038F}"/>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0621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0116A-EF9A-40BC-BE26-84DF8D33F6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3EB09AB-DE01-41A1-8BED-34FC1B482AD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6A0832B-4F28-4DE3-AF6D-37975A09FE91}"/>
              </a:ext>
            </a:extLst>
          </p:cNvPr>
          <p:cNvSpPr>
            <a:spLocks noGrp="1"/>
          </p:cNvSpPr>
          <p:nvPr>
            <p:ph type="dt" sz="half" idx="10"/>
          </p:nvPr>
        </p:nvSpPr>
        <p:spPr/>
        <p:txBody>
          <a:bodyPr/>
          <a:lstStyle/>
          <a:p>
            <a:fld id="{01CC6107-2555-F642-9788-A402904F5075}" type="datetime8">
              <a:rPr lang="en-US" smtClean="0"/>
              <a:t>2/13/23 3:03 PM</a:t>
            </a:fld>
            <a:endParaRPr lang="en-IL"/>
          </a:p>
        </p:txBody>
      </p:sp>
      <p:sp>
        <p:nvSpPr>
          <p:cNvPr id="5" name="Footer Placeholder 4">
            <a:extLst>
              <a:ext uri="{FF2B5EF4-FFF2-40B4-BE49-F238E27FC236}">
                <a16:creationId xmlns:a16="http://schemas.microsoft.com/office/drawing/2014/main" id="{18F064A4-73D9-4140-BB4B-47A62F8CBA11}"/>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2241DA01-1032-4191-848B-F8A71F653C2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2474113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lvl1pPr>
              <a:lnSpc>
                <a:spcPct val="130000"/>
              </a:lnSpc>
              <a:spcBef>
                <a:spcPts val="1800"/>
              </a:spcBef>
              <a:spcAft>
                <a:spcPts val="600"/>
              </a:spcAft>
              <a:defRPr/>
            </a:lvl1pPr>
            <a:lvl2pPr>
              <a:lnSpc>
                <a:spcPct val="120000"/>
              </a:lnSpc>
              <a:spcBef>
                <a:spcPts val="900"/>
              </a:spcBef>
              <a:spcAft>
                <a:spcPts val="400"/>
              </a:spcAft>
              <a:defRPr/>
            </a:lvl2pPr>
            <a:lvl3pPr>
              <a:lnSpc>
                <a:spcPct val="110000"/>
              </a:lnSpc>
              <a:spcBef>
                <a:spcPts val="600"/>
              </a:spcBef>
              <a:spcAft>
                <a:spcPts val="300"/>
              </a:spcAft>
              <a:defRPr/>
            </a:lvl3pPr>
            <a:lvl4pPr>
              <a:lnSpc>
                <a:spcPct val="110000"/>
              </a:lnSpc>
              <a:spcBef>
                <a:spcPts val="400"/>
              </a:spcBef>
              <a:spcAft>
                <a:spcPts val="100"/>
              </a:spcAft>
              <a:defRPr/>
            </a:lvl4pPr>
            <a:lvl5pPr>
              <a:lnSpc>
                <a:spcPct val="13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C38EAED-2730-8F47-9A81-EA9D7C152F6D}" type="datetime8">
              <a:rPr lang="en-US" smtClean="0"/>
              <a:t>2/13/23 3:03 PM</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FB070496-1CF9-408E-B326-6CCA99B85165}" type="slidenum">
              <a:rPr lang="en-US" smtClean="0"/>
              <a:t>‹#›</a:t>
            </a:fld>
            <a:endParaRPr lang="en-US"/>
          </a:p>
        </p:txBody>
      </p:sp>
    </p:spTree>
    <p:extLst>
      <p:ext uri="{BB962C8B-B14F-4D97-AF65-F5344CB8AC3E}">
        <p14:creationId xmlns:p14="http://schemas.microsoft.com/office/powerpoint/2010/main" val="665853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5FF43-15EB-48BF-9377-EC78CBDCCB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548A9A9A-96AC-434D-8596-80E7719973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477151C-500A-4CAF-8B1B-C429EEE2CD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747EB7-5745-994C-BBB2-ABD271B75AC1}" type="datetime8">
              <a:rPr lang="en-US" smtClean="0"/>
              <a:t>2/13/23 3:03 PM</a:t>
            </a:fld>
            <a:endParaRPr lang="en-IL"/>
          </a:p>
        </p:txBody>
      </p:sp>
      <p:sp>
        <p:nvSpPr>
          <p:cNvPr id="5" name="Footer Placeholder 4">
            <a:extLst>
              <a:ext uri="{FF2B5EF4-FFF2-40B4-BE49-F238E27FC236}">
                <a16:creationId xmlns:a16="http://schemas.microsoft.com/office/drawing/2014/main" id="{481936C9-3550-4463-A834-A8233EB9F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endParaRPr lang="en-IL"/>
          </a:p>
        </p:txBody>
      </p:sp>
      <p:sp>
        <p:nvSpPr>
          <p:cNvPr id="6" name="Slide Number Placeholder 5">
            <a:extLst>
              <a:ext uri="{FF2B5EF4-FFF2-40B4-BE49-F238E27FC236}">
                <a16:creationId xmlns:a16="http://schemas.microsoft.com/office/drawing/2014/main" id="{77370A5C-A380-420D-86FA-95B4F828D7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643F8-DFCD-4B5F-9519-933435FA18FB}" type="slidenum">
              <a:rPr lang="en-IL" smtClean="0"/>
              <a:t>‹#›</a:t>
            </a:fld>
            <a:endParaRPr lang="en-IL"/>
          </a:p>
        </p:txBody>
      </p:sp>
    </p:spTree>
    <p:extLst>
      <p:ext uri="{BB962C8B-B14F-4D97-AF65-F5344CB8AC3E}">
        <p14:creationId xmlns:p14="http://schemas.microsoft.com/office/powerpoint/2010/main" val="2004471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F07A-A6B2-4AA3-9FB3-FF93725B9B74}"/>
              </a:ext>
            </a:extLst>
          </p:cNvPr>
          <p:cNvSpPr>
            <a:spLocks noGrp="1"/>
          </p:cNvSpPr>
          <p:nvPr>
            <p:ph type="ctrTitle"/>
          </p:nvPr>
        </p:nvSpPr>
        <p:spPr>
          <a:xfrm>
            <a:off x="211666" y="1202003"/>
            <a:ext cx="11768667" cy="2602970"/>
          </a:xfrm>
        </p:spPr>
        <p:txBody>
          <a:bodyPr>
            <a:normAutofit/>
          </a:bodyPr>
          <a:lstStyle/>
          <a:p>
            <a:pPr algn="ctr" defTabSz="914400" rtl="0" eaLnBrk="1" latinLnBrk="0" hangingPunct="1">
              <a:lnSpc>
                <a:spcPct val="90000"/>
              </a:lnSpc>
              <a:spcBef>
                <a:spcPct val="0"/>
              </a:spcBef>
              <a:buNone/>
            </a:pPr>
            <a:r>
              <a:rPr lang="en-IL" sz="7200" u="sng" dirty="0">
                <a:cs typeface="+mn-cs"/>
              </a:rPr>
              <a:t>Cloud Data Engineering</a:t>
            </a:r>
          </a:p>
        </p:txBody>
      </p:sp>
      <p:sp>
        <p:nvSpPr>
          <p:cNvPr id="3" name="Subtitle 2">
            <a:extLst>
              <a:ext uri="{FF2B5EF4-FFF2-40B4-BE49-F238E27FC236}">
                <a16:creationId xmlns:a16="http://schemas.microsoft.com/office/drawing/2014/main" id="{E954BFDD-2D28-4F88-A89F-35EB6574CAC6}"/>
              </a:ext>
            </a:extLst>
          </p:cNvPr>
          <p:cNvSpPr>
            <a:spLocks noGrp="1"/>
          </p:cNvSpPr>
          <p:nvPr>
            <p:ph type="subTitle" idx="1"/>
          </p:nvPr>
        </p:nvSpPr>
        <p:spPr>
          <a:xfrm>
            <a:off x="1523999" y="3804973"/>
            <a:ext cx="9144000" cy="1655762"/>
          </a:xfrm>
        </p:spPr>
        <p:txBody>
          <a:bodyPr>
            <a:normAutofit/>
          </a:bodyPr>
          <a:lstStyle/>
          <a:p>
            <a:pPr marL="0" indent="0" algn="ctr" defTabSz="914400" rtl="1" eaLnBrk="1" latinLnBrk="0" hangingPunct="1">
              <a:lnSpc>
                <a:spcPct val="90000"/>
              </a:lnSpc>
              <a:spcBef>
                <a:spcPts val="1000"/>
              </a:spcBef>
              <a:buFont typeface="Arial" panose="020B0604020202020204" pitchFamily="34" charset="0"/>
              <a:buNone/>
            </a:pPr>
            <a:r>
              <a:rPr lang="en-US" sz="3600" dirty="0"/>
              <a:t>Lecture 4</a:t>
            </a:r>
            <a:endParaRPr lang="en-IL" sz="3600" dirty="0"/>
          </a:p>
        </p:txBody>
      </p:sp>
      <p:sp>
        <p:nvSpPr>
          <p:cNvPr id="4" name="Slide Number Placeholder 3">
            <a:extLst>
              <a:ext uri="{FF2B5EF4-FFF2-40B4-BE49-F238E27FC236}">
                <a16:creationId xmlns:a16="http://schemas.microsoft.com/office/drawing/2014/main" id="{CAD7C810-8880-4D05-860C-4E520C91B935}"/>
              </a:ext>
            </a:extLst>
          </p:cNvPr>
          <p:cNvSpPr>
            <a:spLocks noGrp="1"/>
          </p:cNvSpPr>
          <p:nvPr>
            <p:ph type="sldNum" sz="quarter" idx="12"/>
          </p:nvPr>
        </p:nvSpPr>
        <p:spPr/>
        <p:txBody>
          <a:bodyPr/>
          <a:lstStyle/>
          <a:p>
            <a:fld id="{B62643F8-DFCD-4B5F-9519-933435FA18FB}" type="slidenum">
              <a:rPr lang="en-IL" smtClean="0"/>
              <a:t>1</a:t>
            </a:fld>
            <a:endParaRPr lang="en-IL"/>
          </a:p>
        </p:txBody>
      </p:sp>
      <p:sp>
        <p:nvSpPr>
          <p:cNvPr id="5" name="Footer Placeholder 4">
            <a:extLst>
              <a:ext uri="{FF2B5EF4-FFF2-40B4-BE49-F238E27FC236}">
                <a16:creationId xmlns:a16="http://schemas.microsoft.com/office/drawing/2014/main" id="{B708135C-5A11-DB47-A5FC-BE38DE9D9770}"/>
              </a:ext>
            </a:extLst>
          </p:cNvPr>
          <p:cNvSpPr>
            <a:spLocks noGrp="1"/>
          </p:cNvSpPr>
          <p:nvPr>
            <p:ph type="ftr" sz="quarter" idx="11"/>
          </p:nvPr>
        </p:nvSpPr>
        <p:spPr/>
        <p:txBody>
          <a:bodyPr/>
          <a:lstStyle/>
          <a:p>
            <a:r>
              <a:rPr lang="en-US" dirty="0"/>
              <a:t>Or </a:t>
            </a:r>
            <a:r>
              <a:rPr lang="en-US" dirty="0" err="1"/>
              <a:t>Peretz</a:t>
            </a:r>
            <a:endParaRPr lang="en-US" dirty="0"/>
          </a:p>
        </p:txBody>
      </p:sp>
    </p:spTree>
    <p:extLst>
      <p:ext uri="{BB962C8B-B14F-4D97-AF65-F5344CB8AC3E}">
        <p14:creationId xmlns:p14="http://schemas.microsoft.com/office/powerpoint/2010/main" val="3017308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425458-3AC0-4977-A476-AD5A91A7871F}"/>
              </a:ext>
            </a:extLst>
          </p:cNvPr>
          <p:cNvSpPr txBox="1"/>
          <p:nvPr/>
        </p:nvSpPr>
        <p:spPr>
          <a:xfrm>
            <a:off x="642551" y="1907975"/>
            <a:ext cx="10711248" cy="1656949"/>
          </a:xfrm>
          <a:prstGeom prst="rect">
            <a:avLst/>
          </a:prstGeom>
          <a:solidFill>
            <a:schemeClr val="accent2">
              <a:lumMod val="20000"/>
              <a:lumOff val="80000"/>
            </a:schemeClr>
          </a:solidFill>
        </p:spPr>
        <p:txBody>
          <a:bodyPr wrap="square" rtlCol="0">
            <a:spAutoFit/>
          </a:bodyPr>
          <a:lstStyle/>
          <a:p>
            <a:pPr marL="0" algn="r" defTabSz="914400" rtl="1" eaLnBrk="1" latinLnBrk="0" hangingPunct="1"/>
            <a:endParaRPr lang="en-US" sz="2400" dirty="0"/>
          </a:p>
        </p:txBody>
      </p:sp>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1149178" y="1025611"/>
            <a:ext cx="10204621" cy="5695864"/>
          </a:xfrm>
        </p:spPr>
        <p:txBody>
          <a:bodyPr>
            <a:normAutofit/>
          </a:bodyPr>
          <a:lstStyle/>
          <a:p>
            <a:pPr algn="ctr">
              <a:lnSpc>
                <a:spcPct val="150000"/>
              </a:lnSpc>
            </a:pPr>
            <a:endParaRPr lang="en-US" sz="4800" dirty="0"/>
          </a:p>
          <a:p>
            <a:pPr algn="ctr">
              <a:lnSpc>
                <a:spcPct val="150000"/>
              </a:lnSpc>
            </a:pPr>
            <a:r>
              <a:rPr lang="en-US" sz="3500" dirty="0"/>
              <a:t>MapReduce Model and Techniques</a:t>
            </a:r>
          </a:p>
          <a:p>
            <a:pPr>
              <a:lnSpc>
                <a:spcPct val="150000"/>
              </a:lnSpc>
            </a:pPr>
            <a:endParaRPr lang="en-US" dirty="0"/>
          </a:p>
          <a:p>
            <a:pPr marL="457200" indent="-457200">
              <a:lnSpc>
                <a:spcPct val="150000"/>
              </a:lnSpc>
              <a:buFontTx/>
              <a:buChar char="-"/>
            </a:pPr>
            <a:endParaRPr lang="en-US" dirty="0"/>
          </a:p>
          <a:p>
            <a:pPr marL="0" indent="0" algn="l" defTabSz="914400" eaLnBrk="1" latinLnBrk="0" hangingPunct="1">
              <a:lnSpc>
                <a:spcPct val="150000"/>
              </a:lnSpc>
              <a:spcBef>
                <a:spcPts val="1000"/>
              </a:spcBef>
              <a:buFont typeface="Arial" panose="020B0604020202020204" pitchFamily="34" charset="0"/>
              <a:buNone/>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a:t>
            </a:fld>
            <a:endParaRPr lang="en-IL" dirty="0"/>
          </a:p>
        </p:txBody>
      </p:sp>
      <p:sp>
        <p:nvSpPr>
          <p:cNvPr id="5" name="Footer Placeholder 4">
            <a:extLst>
              <a:ext uri="{FF2B5EF4-FFF2-40B4-BE49-F238E27FC236}">
                <a16:creationId xmlns:a16="http://schemas.microsoft.com/office/drawing/2014/main" id="{40803E65-83D3-354B-8CF1-A1C85FDB349A}"/>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53466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Introduction to Big Data Solutions – Traditional Approach</a:t>
            </a:r>
          </a:p>
          <a:p>
            <a:pPr>
              <a:lnSpc>
                <a:spcPct val="150000"/>
              </a:lnSpc>
            </a:pPr>
            <a:r>
              <a:rPr lang="en-US" sz="2400" dirty="0"/>
              <a:t>An enterprise will have a computer to store and process big data. For storage purpose, the programmers will take the help of their choice of database vendors such as Oracle, IBM, etc. In this approach, the user interacts with the application, which in turn handles the part of data storage and analysis.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Oval 5">
            <a:extLst>
              <a:ext uri="{FF2B5EF4-FFF2-40B4-BE49-F238E27FC236}">
                <a16:creationId xmlns:a16="http://schemas.microsoft.com/office/drawing/2014/main" id="{AF969FD4-2455-C542-9C1C-613E09F72066}"/>
              </a:ext>
            </a:extLst>
          </p:cNvPr>
          <p:cNvSpPr/>
          <p:nvPr/>
        </p:nvSpPr>
        <p:spPr>
          <a:xfrm>
            <a:off x="2235201" y="3987800"/>
            <a:ext cx="1312334" cy="1117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User</a:t>
            </a:r>
          </a:p>
        </p:txBody>
      </p:sp>
      <p:sp>
        <p:nvSpPr>
          <p:cNvPr id="7" name="Left-Right Arrow 6">
            <a:extLst>
              <a:ext uri="{FF2B5EF4-FFF2-40B4-BE49-F238E27FC236}">
                <a16:creationId xmlns:a16="http://schemas.microsoft.com/office/drawing/2014/main" id="{9D7C1A07-76B3-2D4B-81BA-F266A449EB5B}"/>
              </a:ext>
            </a:extLst>
          </p:cNvPr>
          <p:cNvSpPr/>
          <p:nvPr/>
        </p:nvSpPr>
        <p:spPr>
          <a:xfrm>
            <a:off x="3886201" y="4445000"/>
            <a:ext cx="787400" cy="21166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
        <p:nvSpPr>
          <p:cNvPr id="8" name="Cube 7">
            <a:extLst>
              <a:ext uri="{FF2B5EF4-FFF2-40B4-BE49-F238E27FC236}">
                <a16:creationId xmlns:a16="http://schemas.microsoft.com/office/drawing/2014/main" id="{2C7CADE0-CDD3-1B41-B7EC-06ECAA513F16}"/>
              </a:ext>
            </a:extLst>
          </p:cNvPr>
          <p:cNvSpPr/>
          <p:nvPr/>
        </p:nvSpPr>
        <p:spPr>
          <a:xfrm>
            <a:off x="4919135" y="3721100"/>
            <a:ext cx="1964266" cy="1651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Centralized</a:t>
            </a:r>
          </a:p>
          <a:p>
            <a:pPr algn="ctr"/>
            <a:r>
              <a:rPr lang="en-IL" dirty="0"/>
              <a:t>System</a:t>
            </a:r>
          </a:p>
        </p:txBody>
      </p:sp>
      <p:sp>
        <p:nvSpPr>
          <p:cNvPr id="10" name="Left-Right Arrow 9">
            <a:extLst>
              <a:ext uri="{FF2B5EF4-FFF2-40B4-BE49-F238E27FC236}">
                <a16:creationId xmlns:a16="http://schemas.microsoft.com/office/drawing/2014/main" id="{A308F697-4718-1544-B9E9-531DBCD6B8FE}"/>
              </a:ext>
            </a:extLst>
          </p:cNvPr>
          <p:cNvSpPr/>
          <p:nvPr/>
        </p:nvSpPr>
        <p:spPr>
          <a:xfrm>
            <a:off x="7213601" y="4419600"/>
            <a:ext cx="787400" cy="21166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Can 8">
            <a:extLst>
              <a:ext uri="{FF2B5EF4-FFF2-40B4-BE49-F238E27FC236}">
                <a16:creationId xmlns:a16="http://schemas.microsoft.com/office/drawing/2014/main" id="{A95A9998-CE3D-B246-8557-812FB2BCBDE5}"/>
              </a:ext>
            </a:extLst>
          </p:cNvPr>
          <p:cNvSpPr/>
          <p:nvPr/>
        </p:nvSpPr>
        <p:spPr>
          <a:xfrm>
            <a:off x="8407400" y="3721100"/>
            <a:ext cx="1574800" cy="1701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Relational</a:t>
            </a:r>
          </a:p>
          <a:p>
            <a:pPr algn="ctr"/>
            <a:r>
              <a:rPr lang="en-IL" dirty="0"/>
              <a:t>DB</a:t>
            </a:r>
          </a:p>
        </p:txBody>
      </p:sp>
      <p:sp>
        <p:nvSpPr>
          <p:cNvPr id="3" name="Rectangle 2">
            <a:extLst>
              <a:ext uri="{FF2B5EF4-FFF2-40B4-BE49-F238E27FC236}">
                <a16:creationId xmlns:a16="http://schemas.microsoft.com/office/drawing/2014/main" id="{B7969FD3-4769-E141-A620-7D245B97A314}"/>
              </a:ext>
            </a:extLst>
          </p:cNvPr>
          <p:cNvSpPr/>
          <p:nvPr/>
        </p:nvSpPr>
        <p:spPr>
          <a:xfrm>
            <a:off x="694266" y="5600504"/>
            <a:ext cx="10803467" cy="523220"/>
          </a:xfrm>
          <a:prstGeom prst="rect">
            <a:avLst/>
          </a:prstGeom>
        </p:spPr>
        <p:txBody>
          <a:bodyPr wrap="square">
            <a:spAutoFit/>
          </a:bodyPr>
          <a:lstStyle/>
          <a:p>
            <a:r>
              <a:rPr lang="en-US" sz="1400" dirty="0">
                <a:solidFill>
                  <a:srgbClr val="222222"/>
                </a:solidFill>
                <a:latin typeface="Arial" panose="020B0604020202020204" pitchFamily="34" charset="0"/>
              </a:rPr>
              <a:t>Ghemawat, S., </a:t>
            </a:r>
            <a:r>
              <a:rPr lang="en-US" sz="1400" dirty="0" err="1">
                <a:solidFill>
                  <a:srgbClr val="222222"/>
                </a:solidFill>
                <a:latin typeface="Arial" panose="020B0604020202020204" pitchFamily="34" charset="0"/>
              </a:rPr>
              <a:t>Gobioff</a:t>
            </a:r>
            <a:r>
              <a:rPr lang="en-US" sz="1400" dirty="0">
                <a:solidFill>
                  <a:srgbClr val="222222"/>
                </a:solidFill>
                <a:latin typeface="Arial" panose="020B0604020202020204" pitchFamily="34" charset="0"/>
              </a:rPr>
              <a:t>, H., &amp; Leung, S. T. (2003, October). The Google file system. In </a:t>
            </a:r>
            <a:r>
              <a:rPr lang="en-US" sz="1400" i="1" dirty="0">
                <a:solidFill>
                  <a:srgbClr val="222222"/>
                </a:solidFill>
                <a:latin typeface="Arial" panose="020B0604020202020204" pitchFamily="34" charset="0"/>
              </a:rPr>
              <a:t>Proceedings of the nineteenth ACM symposium on Operating systems principles</a:t>
            </a:r>
            <a:r>
              <a:rPr lang="en-US" sz="1400" dirty="0">
                <a:solidFill>
                  <a:srgbClr val="222222"/>
                </a:solidFill>
                <a:latin typeface="Arial" panose="020B0604020202020204" pitchFamily="34" charset="0"/>
              </a:rPr>
              <a:t> (pp. 29-43).</a:t>
            </a:r>
            <a:endParaRPr lang="en-IL" sz="1400" dirty="0"/>
          </a:p>
        </p:txBody>
      </p:sp>
    </p:spTree>
    <p:extLst>
      <p:ext uri="{BB962C8B-B14F-4D97-AF65-F5344CB8AC3E}">
        <p14:creationId xmlns:p14="http://schemas.microsoft.com/office/powerpoint/2010/main" val="199253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Traditional Approach - What is the limit? </a:t>
            </a:r>
          </a:p>
          <a:p>
            <a:pPr>
              <a:lnSpc>
                <a:spcPct val="150000"/>
              </a:lnSpc>
            </a:pPr>
            <a:r>
              <a:rPr lang="en-US" sz="2400" dirty="0"/>
              <a:t>This approach works fine with those applications that process </a:t>
            </a:r>
            <a:r>
              <a:rPr lang="en-US" sz="2400" b="1" dirty="0"/>
              <a:t>less voluminous data</a:t>
            </a:r>
            <a:r>
              <a:rPr lang="en-US" sz="2400" dirty="0"/>
              <a:t> that can be accommodated by standard database servers, or up to the limit of the processor that is processing the data. </a:t>
            </a:r>
          </a:p>
          <a:p>
            <a:pPr>
              <a:lnSpc>
                <a:spcPct val="150000"/>
              </a:lnSpc>
            </a:pPr>
            <a:br>
              <a:rPr lang="en-US" sz="2400" dirty="0"/>
            </a:br>
            <a:r>
              <a:rPr lang="en-US" sz="2400" dirty="0"/>
              <a:t>For example, we have 10TB documents with average size of 20KB (total of 200TB). We want to build a model to count occurrences of words. Simple iterative loop will take ~1 month on simple computer.</a:t>
            </a:r>
          </a:p>
          <a:p>
            <a:pPr>
              <a:lnSpc>
                <a:spcPct val="150000"/>
              </a:lnSpc>
            </a:pPr>
            <a:r>
              <a:rPr lang="en-US" sz="2400" dirty="0"/>
              <a:t>What’s next?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927422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 calcmode="lin" valueType="num">
                                      <p:cBhvr additive="base">
                                        <p:cTn id="25"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lnSpc>
                <a:spcPct val="150000"/>
              </a:lnSpc>
              <a:spcBef>
                <a:spcPts val="1000"/>
              </a:spcBef>
            </a:pPr>
            <a:r>
              <a:rPr lang="en-US" sz="3000" dirty="0">
                <a:latin typeface="+mn-lt"/>
                <a:ea typeface="+mn-ea"/>
                <a:cs typeface="+mn-cs"/>
              </a:rPr>
              <a:t>Motivation</a:t>
            </a:r>
          </a:p>
        </p:txBody>
      </p:sp>
      <p:sp>
        <p:nvSpPr>
          <p:cNvPr id="3" name="Content Placeholder 2"/>
          <p:cNvSpPr>
            <a:spLocks noGrp="1"/>
          </p:cNvSpPr>
          <p:nvPr>
            <p:ph idx="1"/>
          </p:nvPr>
        </p:nvSpPr>
        <p:spPr>
          <a:xfrm>
            <a:off x="704335" y="1421027"/>
            <a:ext cx="10515600" cy="4935323"/>
          </a:xfrm>
        </p:spPr>
        <p:txBody>
          <a:bodyPr>
            <a:normAutofit/>
          </a:bodyPr>
          <a:lstStyle/>
          <a:p>
            <a:r>
              <a:rPr lang="en-US" sz="2400" dirty="0"/>
              <a:t>Process lots of data</a:t>
            </a:r>
          </a:p>
          <a:p>
            <a:pPr lvl="2">
              <a:spcBef>
                <a:spcPts val="0"/>
              </a:spcBef>
              <a:spcAft>
                <a:spcPts val="0"/>
              </a:spcAft>
            </a:pPr>
            <a:r>
              <a:rPr lang="en-US" sz="2400" dirty="0"/>
              <a:t>Google processed about </a:t>
            </a:r>
            <a:r>
              <a:rPr lang="en-US" sz="2400" dirty="0">
                <a:solidFill>
                  <a:srgbClr val="FF0000"/>
                </a:solidFill>
              </a:rPr>
              <a:t>24 petabytes </a:t>
            </a:r>
            <a:r>
              <a:rPr lang="en-US" sz="2400" dirty="0"/>
              <a:t>of data per day in 2009.</a:t>
            </a:r>
            <a:endParaRPr lang="en-US" sz="2400" b="1" dirty="0"/>
          </a:p>
          <a:p>
            <a:r>
              <a:rPr lang="en-US" sz="2400" b="1" dirty="0">
                <a:solidFill>
                  <a:schemeClr val="tx2">
                    <a:lumMod val="50000"/>
                  </a:schemeClr>
                </a:solidFill>
                <a:effectLst>
                  <a:outerShdw blurRad="38100" dist="38100" dir="2700000" algn="tl">
                    <a:srgbClr val="000000">
                      <a:alpha val="43137"/>
                    </a:srgbClr>
                  </a:outerShdw>
                </a:effectLst>
              </a:rPr>
              <a:t>A single machine </a:t>
            </a:r>
            <a:r>
              <a:rPr lang="en-US" sz="2400" dirty="0"/>
              <a:t>cannot serve all the data</a:t>
            </a:r>
          </a:p>
          <a:p>
            <a:pPr lvl="2"/>
            <a:r>
              <a:rPr lang="en-US" sz="2400" dirty="0"/>
              <a:t>You need a distributed system to store and process </a:t>
            </a:r>
            <a:r>
              <a:rPr lang="en-US" sz="2400" b="1" dirty="0">
                <a:solidFill>
                  <a:srgbClr val="CC00CC"/>
                </a:solidFill>
                <a:effectLst>
                  <a:outerShdw blurRad="38100" dist="38100" dir="2700000" algn="tl">
                    <a:srgbClr val="000000">
                      <a:alpha val="43137"/>
                    </a:srgbClr>
                  </a:outerShdw>
                </a:effectLst>
              </a:rPr>
              <a:t>in parallel</a:t>
            </a:r>
          </a:p>
          <a:p>
            <a:pPr>
              <a:spcBef>
                <a:spcPts val="0"/>
              </a:spcBef>
              <a:spcAft>
                <a:spcPts val="0"/>
              </a:spcAft>
            </a:pPr>
            <a:r>
              <a:rPr lang="en-US" sz="2400" dirty="0"/>
              <a:t>Parallel programming?</a:t>
            </a:r>
          </a:p>
          <a:p>
            <a:pPr lvl="2"/>
            <a:r>
              <a:rPr lang="en-US" sz="2400" b="1" dirty="0">
                <a:solidFill>
                  <a:srgbClr val="663300"/>
                </a:solidFill>
              </a:rPr>
              <a:t>Threading</a:t>
            </a:r>
            <a:r>
              <a:rPr lang="en-US" sz="2400" dirty="0"/>
              <a:t> is hard!</a:t>
            </a:r>
          </a:p>
          <a:p>
            <a:pPr lvl="2"/>
            <a:r>
              <a:rPr lang="en-US" sz="2400" dirty="0"/>
              <a:t>How do you facilitate </a:t>
            </a:r>
            <a:r>
              <a:rPr lang="en-US" sz="2400" dirty="0">
                <a:solidFill>
                  <a:srgbClr val="7030A0"/>
                </a:solidFill>
                <a:effectLst>
                  <a:outerShdw blurRad="38100" dist="38100" dir="2700000" algn="tl">
                    <a:srgbClr val="000000">
                      <a:alpha val="43137"/>
                    </a:srgbClr>
                  </a:outerShdw>
                </a:effectLst>
              </a:rPr>
              <a:t>communication</a:t>
            </a:r>
            <a:r>
              <a:rPr lang="en-US" sz="2400" dirty="0">
                <a:effectLst>
                  <a:outerShdw blurRad="38100" dist="38100" dir="2700000" algn="tl">
                    <a:srgbClr val="000000">
                      <a:alpha val="43137"/>
                    </a:srgbClr>
                  </a:outerShdw>
                </a:effectLst>
              </a:rPr>
              <a:t> </a:t>
            </a:r>
            <a:r>
              <a:rPr lang="en-US" sz="2400" dirty="0"/>
              <a:t>between nodes?</a:t>
            </a:r>
          </a:p>
          <a:p>
            <a:pPr lvl="2"/>
            <a:r>
              <a:rPr lang="en-US" sz="2400" dirty="0"/>
              <a:t>How do you </a:t>
            </a:r>
            <a:r>
              <a:rPr lang="en-US" sz="2400" b="1" dirty="0"/>
              <a:t>scale to </a:t>
            </a:r>
            <a:r>
              <a:rPr lang="en-US" sz="2400" b="1" dirty="0">
                <a:solidFill>
                  <a:srgbClr val="006600"/>
                </a:solidFill>
              </a:rPr>
              <a:t>more machines</a:t>
            </a:r>
            <a:r>
              <a:rPr lang="en-US" sz="2400" dirty="0"/>
              <a:t>?</a:t>
            </a:r>
          </a:p>
          <a:p>
            <a:pPr lvl="2">
              <a:spcBef>
                <a:spcPts val="0"/>
              </a:spcBef>
            </a:pPr>
            <a:r>
              <a:rPr lang="en-US" sz="2400" dirty="0"/>
              <a:t>How do you handle machine </a:t>
            </a:r>
            <a:r>
              <a:rPr lang="en-US" sz="2400" dirty="0">
                <a:solidFill>
                  <a:srgbClr val="FF0000"/>
                </a:solidFill>
                <a:effectLst>
                  <a:outerShdw blurRad="38100" dist="38100" dir="2700000" algn="tl">
                    <a:srgbClr val="000000">
                      <a:alpha val="43137"/>
                    </a:srgbClr>
                  </a:outerShdw>
                </a:effectLst>
              </a:rPr>
              <a:t>failures</a:t>
            </a:r>
            <a:r>
              <a:rPr lang="en-US" sz="2400" dirty="0"/>
              <a:t>?</a:t>
            </a:r>
          </a:p>
        </p:txBody>
      </p:sp>
      <p:sp>
        <p:nvSpPr>
          <p:cNvPr id="4" name="Slide Number Placeholder 3"/>
          <p:cNvSpPr>
            <a:spLocks noGrp="1"/>
          </p:cNvSpPr>
          <p:nvPr>
            <p:ph type="sldNum" sz="quarter" idx="12"/>
          </p:nvPr>
        </p:nvSpPr>
        <p:spPr/>
        <p:txBody>
          <a:bodyPr/>
          <a:lstStyle/>
          <a:p>
            <a:fld id="{FB070496-1CF9-408E-B326-6CCA99B85165}" type="slidenum">
              <a:rPr lang="en-US" smtClean="0"/>
              <a:t>5</a:t>
            </a:fld>
            <a:endParaRPr lang="en-US"/>
          </a:p>
        </p:txBody>
      </p:sp>
      <p:sp>
        <p:nvSpPr>
          <p:cNvPr id="5" name="Footer Placeholder 4">
            <a:extLst>
              <a:ext uri="{FF2B5EF4-FFF2-40B4-BE49-F238E27FC236}">
                <a16:creationId xmlns:a16="http://schemas.microsoft.com/office/drawing/2014/main" id="{718D0546-90EE-8A46-BB46-17B61B146FD5}"/>
              </a:ext>
            </a:extLst>
          </p:cNvPr>
          <p:cNvSpPr>
            <a:spLocks noGrp="1"/>
          </p:cNvSpPr>
          <p:nvPr>
            <p:ph type="ftr" sz="quarter" idx="11"/>
          </p:nvPr>
        </p:nvSpPr>
        <p:spPr/>
        <p:txBody>
          <a:bodyPr/>
          <a:lstStyle/>
          <a:p>
            <a:r>
              <a:rPr lang="en-US"/>
              <a:t>Or Peretz</a:t>
            </a:r>
          </a:p>
        </p:txBody>
      </p:sp>
    </p:spTree>
    <p:extLst>
      <p:ext uri="{BB962C8B-B14F-4D97-AF65-F5344CB8AC3E}">
        <p14:creationId xmlns:p14="http://schemas.microsoft.com/office/powerpoint/2010/main" val="1263795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Google’s Solution</a:t>
            </a:r>
          </a:p>
          <a:p>
            <a:pPr>
              <a:lnSpc>
                <a:spcPct val="150000"/>
              </a:lnSpc>
            </a:pPr>
            <a:r>
              <a:rPr lang="en-US" sz="2400" dirty="0"/>
              <a:t>Google solved this problem using an algorithm called </a:t>
            </a:r>
            <a:r>
              <a:rPr lang="en-US" sz="2400" b="1" u="sng" dirty="0"/>
              <a:t>MapReduce</a:t>
            </a:r>
            <a:r>
              <a:rPr lang="en-US" sz="2400" dirty="0"/>
              <a:t>. This algorithm divides the task into small parts and assigns them to many computers, and collects the results from them which when integrated, form the result dataset.</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Can 2">
            <a:extLst>
              <a:ext uri="{FF2B5EF4-FFF2-40B4-BE49-F238E27FC236}">
                <a16:creationId xmlns:a16="http://schemas.microsoft.com/office/drawing/2014/main" id="{8940CFD2-D691-1949-95BA-CCCB0F0F41F2}"/>
              </a:ext>
            </a:extLst>
          </p:cNvPr>
          <p:cNvSpPr/>
          <p:nvPr/>
        </p:nvSpPr>
        <p:spPr>
          <a:xfrm>
            <a:off x="2853267" y="3047999"/>
            <a:ext cx="499533" cy="643467"/>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Can 11">
            <a:extLst>
              <a:ext uri="{FF2B5EF4-FFF2-40B4-BE49-F238E27FC236}">
                <a16:creationId xmlns:a16="http://schemas.microsoft.com/office/drawing/2014/main" id="{95B4A001-1136-DD4A-9B73-EFC74D66CC2E}"/>
              </a:ext>
            </a:extLst>
          </p:cNvPr>
          <p:cNvSpPr/>
          <p:nvPr/>
        </p:nvSpPr>
        <p:spPr>
          <a:xfrm>
            <a:off x="2853267" y="4013199"/>
            <a:ext cx="499533" cy="643467"/>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Can 12">
            <a:extLst>
              <a:ext uri="{FF2B5EF4-FFF2-40B4-BE49-F238E27FC236}">
                <a16:creationId xmlns:a16="http://schemas.microsoft.com/office/drawing/2014/main" id="{AD7E5B11-5FD0-B349-A1EF-7E8A55A4A440}"/>
              </a:ext>
            </a:extLst>
          </p:cNvPr>
          <p:cNvSpPr/>
          <p:nvPr/>
        </p:nvSpPr>
        <p:spPr>
          <a:xfrm>
            <a:off x="2853268" y="4978399"/>
            <a:ext cx="499533" cy="643467"/>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Cube 8">
            <a:extLst>
              <a:ext uri="{FF2B5EF4-FFF2-40B4-BE49-F238E27FC236}">
                <a16:creationId xmlns:a16="http://schemas.microsoft.com/office/drawing/2014/main" id="{AFAA0F24-92D1-2044-AB97-C74CE86F1038}"/>
              </a:ext>
            </a:extLst>
          </p:cNvPr>
          <p:cNvSpPr/>
          <p:nvPr/>
        </p:nvSpPr>
        <p:spPr>
          <a:xfrm>
            <a:off x="5041899" y="3335864"/>
            <a:ext cx="2328333" cy="1811867"/>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Centralized</a:t>
            </a:r>
          </a:p>
          <a:p>
            <a:pPr algn="ctr"/>
            <a:r>
              <a:rPr lang="en-IL" dirty="0"/>
              <a:t>System</a:t>
            </a:r>
          </a:p>
        </p:txBody>
      </p:sp>
      <p:cxnSp>
        <p:nvCxnSpPr>
          <p:cNvPr id="11" name="Straight Arrow Connector 10">
            <a:extLst>
              <a:ext uri="{FF2B5EF4-FFF2-40B4-BE49-F238E27FC236}">
                <a16:creationId xmlns:a16="http://schemas.microsoft.com/office/drawing/2014/main" id="{915D7C46-0077-5642-8F87-5D94008FC861}"/>
              </a:ext>
            </a:extLst>
          </p:cNvPr>
          <p:cNvCxnSpPr>
            <a:stCxn id="3" idx="4"/>
            <a:endCxn id="9" idx="2"/>
          </p:cNvCxnSpPr>
          <p:nvPr/>
        </p:nvCxnSpPr>
        <p:spPr>
          <a:xfrm>
            <a:off x="3352800" y="3369733"/>
            <a:ext cx="1689099" cy="1098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EF67CE9-AB66-664E-8EBD-2AD7926EC3B7}"/>
              </a:ext>
            </a:extLst>
          </p:cNvPr>
          <p:cNvCxnSpPr>
            <a:stCxn id="12" idx="4"/>
            <a:endCxn id="9" idx="2"/>
          </p:cNvCxnSpPr>
          <p:nvPr/>
        </p:nvCxnSpPr>
        <p:spPr>
          <a:xfrm>
            <a:off x="3352800" y="4334933"/>
            <a:ext cx="1689099" cy="133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15666F7-3EEC-4548-932B-198921B4645F}"/>
              </a:ext>
            </a:extLst>
          </p:cNvPr>
          <p:cNvCxnSpPr>
            <a:stCxn id="13" idx="4"/>
            <a:endCxn id="9" idx="2"/>
          </p:cNvCxnSpPr>
          <p:nvPr/>
        </p:nvCxnSpPr>
        <p:spPr>
          <a:xfrm flipV="1">
            <a:off x="3352801" y="4468281"/>
            <a:ext cx="1689098" cy="831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AFF3CCAB-C353-894F-AE80-CB27D96CB760}"/>
              </a:ext>
            </a:extLst>
          </p:cNvPr>
          <p:cNvSpPr/>
          <p:nvPr/>
        </p:nvSpPr>
        <p:spPr>
          <a:xfrm>
            <a:off x="8610600" y="3709454"/>
            <a:ext cx="1312334" cy="1117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User</a:t>
            </a:r>
          </a:p>
        </p:txBody>
      </p:sp>
      <p:sp>
        <p:nvSpPr>
          <p:cNvPr id="22" name="Left-Right Arrow 21">
            <a:extLst>
              <a:ext uri="{FF2B5EF4-FFF2-40B4-BE49-F238E27FC236}">
                <a16:creationId xmlns:a16="http://schemas.microsoft.com/office/drawing/2014/main" id="{BB0DE406-BE25-6E42-83D1-D439A62D817C}"/>
              </a:ext>
            </a:extLst>
          </p:cNvPr>
          <p:cNvSpPr/>
          <p:nvPr/>
        </p:nvSpPr>
        <p:spPr>
          <a:xfrm>
            <a:off x="7603066" y="4162421"/>
            <a:ext cx="787400" cy="21166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spTree>
    <p:extLst>
      <p:ext uri="{BB962C8B-B14F-4D97-AF65-F5344CB8AC3E}">
        <p14:creationId xmlns:p14="http://schemas.microsoft.com/office/powerpoint/2010/main" val="2901677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Google’s Solution</a:t>
            </a:r>
          </a:p>
          <a:p>
            <a:pPr fontAlgn="base"/>
            <a:r>
              <a:rPr lang="en-US" sz="2400" b="1" dirty="0"/>
              <a:t>Problem</a:t>
            </a:r>
            <a:r>
              <a:rPr lang="en-US" sz="2400" dirty="0"/>
              <a:t>: Can’t use a single computer to process the data (take too long to process data).</a:t>
            </a:r>
          </a:p>
          <a:p>
            <a:pPr fontAlgn="base"/>
            <a:r>
              <a:rPr lang="en-US" sz="2400" b="1" dirty="0"/>
              <a:t>Solution</a:t>
            </a:r>
            <a:r>
              <a:rPr lang="en-US" sz="2400" dirty="0"/>
              <a:t>: Use a group of interconnected computers (processor, and memory independent).</a:t>
            </a:r>
          </a:p>
          <a:p>
            <a:pPr fontAlgn="base"/>
            <a:endParaRPr lang="en-US" sz="2400" dirty="0"/>
          </a:p>
          <a:p>
            <a:pPr fontAlgn="base"/>
            <a:r>
              <a:rPr lang="en-US" sz="2400" b="1" dirty="0"/>
              <a:t>Problem</a:t>
            </a:r>
            <a:r>
              <a:rPr lang="en-US" sz="2400" dirty="0"/>
              <a:t>: Conventional algorithms are not designed around memory independence.</a:t>
            </a:r>
          </a:p>
          <a:p>
            <a:pPr fontAlgn="base"/>
            <a:r>
              <a:rPr lang="en-US" sz="2400" b="1" dirty="0"/>
              <a:t>Solution</a:t>
            </a:r>
            <a:r>
              <a:rPr lang="en-US" sz="2400" dirty="0"/>
              <a:t>: MapReduce</a:t>
            </a:r>
          </a:p>
          <a:p>
            <a:pPr fontAlgn="base"/>
            <a:endParaRPr lang="en-US" sz="2400" dirty="0"/>
          </a:p>
          <a:p>
            <a:pPr fontAlgn="base">
              <a:lnSpc>
                <a:spcPct val="150000"/>
              </a:lnSpc>
            </a:pPr>
            <a:r>
              <a:rPr lang="en-US" sz="2400" b="1" dirty="0"/>
              <a:t>Definition.</a:t>
            </a:r>
            <a:r>
              <a:rPr lang="en-US" sz="2400" dirty="0"/>
              <a:t> </a:t>
            </a:r>
            <a:r>
              <a:rPr lang="en-US" sz="2400" i="1" dirty="0"/>
              <a:t>MapReduce</a:t>
            </a:r>
            <a:r>
              <a:rPr lang="en-US" sz="2400" dirty="0"/>
              <a:t> is a programming paradigm model of using parallel, distributed algorithms to process or generate data sets. </a:t>
            </a:r>
            <a:endParaRPr lang="en-US" sz="2400" b="1" dirty="0"/>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57586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How Is It Work? </a:t>
            </a:r>
          </a:p>
          <a:p>
            <a:pPr>
              <a:lnSpc>
                <a:spcPct val="150000"/>
              </a:lnSpc>
            </a:pPr>
            <a:r>
              <a:rPr lang="en-US" sz="2400" dirty="0"/>
              <a:t>The MapReduce algorithm contains two important tasks:</a:t>
            </a:r>
          </a:p>
          <a:p>
            <a:pPr marL="514350" indent="-514350">
              <a:lnSpc>
                <a:spcPct val="150000"/>
              </a:lnSpc>
              <a:buAutoNum type="arabicPeriod"/>
            </a:pPr>
            <a:r>
              <a:rPr lang="en-US" sz="2400" dirty="0"/>
              <a:t>The </a:t>
            </a:r>
            <a:r>
              <a:rPr lang="en-US" sz="2400" b="1" u="sng" dirty="0"/>
              <a:t>Map</a:t>
            </a:r>
            <a:r>
              <a:rPr lang="en-US" sz="2400" dirty="0"/>
              <a:t> task takes a set of data and converts it into another set of data, where individual elements are broken down into tuples (key-value pairs).</a:t>
            </a:r>
          </a:p>
          <a:p>
            <a:pPr marL="514350" indent="-514350">
              <a:lnSpc>
                <a:spcPct val="150000"/>
              </a:lnSpc>
              <a:buAutoNum type="arabicPeriod"/>
            </a:pPr>
            <a:r>
              <a:rPr lang="en-US" sz="2400" dirty="0"/>
              <a:t>The </a:t>
            </a:r>
            <a:r>
              <a:rPr lang="en-US" sz="2400" b="1" u="sng" dirty="0"/>
              <a:t>Reduce</a:t>
            </a:r>
            <a:r>
              <a:rPr lang="en-US" sz="2400" dirty="0"/>
              <a:t> task takes the output from the Map as an input and combines those data tuples (key-value pairs) into a smaller set of tuples.</a:t>
            </a:r>
          </a:p>
          <a:p>
            <a:pPr>
              <a:lnSpc>
                <a:spcPct val="150000"/>
              </a:lnSpc>
            </a:pPr>
            <a:endParaRPr lang="en-US" sz="2400" dirty="0"/>
          </a:p>
          <a:p>
            <a:r>
              <a:rPr lang="en-US" sz="2400" dirty="0"/>
              <a:t>The reduce task is always performed after the map job.</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54098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 calcmode="lin" valueType="num">
                                      <p:cBhvr additive="base">
                                        <p:cTn id="3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How Is It Work? </a:t>
            </a:r>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r>
              <a:rPr lang="en-US" sz="2400" dirty="0"/>
              <a:t>The reduce task is always performed after the map job.</a:t>
            </a:r>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2052" name="Picture 4" descr="The MapReduce architecture.  MapReduce Algorithm There are four steps... |  Download Scientific Diagram">
            <a:extLst>
              <a:ext uri="{FF2B5EF4-FFF2-40B4-BE49-F238E27FC236}">
                <a16:creationId xmlns:a16="http://schemas.microsoft.com/office/drawing/2014/main" id="{4B082B5C-DECF-6448-9A1D-B50CBF2F6F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268"/>
          <a:stretch/>
        </p:blipFill>
        <p:spPr bwMode="auto">
          <a:xfrm>
            <a:off x="2387599" y="1362463"/>
            <a:ext cx="7814735" cy="3605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94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anim calcmode="lin" valueType="num">
                                      <p:cBhvr additive="base">
                                        <p:cTn id="7"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MapReduce workflow</a:t>
            </a:r>
          </a:p>
        </p:txBody>
      </p:sp>
      <p:sp>
        <p:nvSpPr>
          <p:cNvPr id="4" name="Slide Number Placeholder 3"/>
          <p:cNvSpPr>
            <a:spLocks noGrp="1"/>
          </p:cNvSpPr>
          <p:nvPr>
            <p:ph type="sldNum" sz="quarter" idx="12"/>
          </p:nvPr>
        </p:nvSpPr>
        <p:spPr/>
        <p:txBody>
          <a:bodyPr/>
          <a:lstStyle/>
          <a:p>
            <a:fld id="{FB070496-1CF9-408E-B326-6CCA99B85165}" type="slidenum">
              <a:rPr lang="en-US" smtClean="0"/>
              <a:t>10</a:t>
            </a:fld>
            <a:endParaRPr lang="en-US"/>
          </a:p>
        </p:txBody>
      </p:sp>
      <p:grpSp>
        <p:nvGrpSpPr>
          <p:cNvPr id="135" name="Group 134"/>
          <p:cNvGrpSpPr/>
          <p:nvPr/>
        </p:nvGrpSpPr>
        <p:grpSpPr>
          <a:xfrm>
            <a:off x="7162800" y="2886348"/>
            <a:ext cx="990600" cy="1447800"/>
            <a:chOff x="5638800" y="2886348"/>
            <a:chExt cx="990600" cy="1447800"/>
          </a:xfrm>
        </p:grpSpPr>
        <p:sp>
          <p:nvSpPr>
            <p:cNvPr id="70" name="Oval 23"/>
            <p:cNvSpPr>
              <a:spLocks noChangeArrowheads="1"/>
            </p:cNvSpPr>
            <p:nvPr/>
          </p:nvSpPr>
          <p:spPr bwMode="auto">
            <a:xfrm>
              <a:off x="5638800" y="3876948"/>
              <a:ext cx="990600" cy="4572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dirty="0"/>
                <a:t>Worker</a:t>
              </a:r>
            </a:p>
          </p:txBody>
        </p:sp>
        <p:sp>
          <p:nvSpPr>
            <p:cNvPr id="71" name="Oval 24"/>
            <p:cNvSpPr>
              <a:spLocks noChangeArrowheads="1"/>
            </p:cNvSpPr>
            <p:nvPr/>
          </p:nvSpPr>
          <p:spPr bwMode="auto">
            <a:xfrm>
              <a:off x="5638800" y="2886348"/>
              <a:ext cx="990600" cy="4572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dirty="0"/>
                <a:t>Worker</a:t>
              </a:r>
            </a:p>
          </p:txBody>
        </p:sp>
      </p:grpSp>
      <p:grpSp>
        <p:nvGrpSpPr>
          <p:cNvPr id="75" name="Group 65"/>
          <p:cNvGrpSpPr>
            <a:grpSpLocks/>
          </p:cNvGrpSpPr>
          <p:nvPr/>
        </p:nvGrpSpPr>
        <p:grpSpPr bwMode="auto">
          <a:xfrm>
            <a:off x="3505200" y="2581548"/>
            <a:ext cx="990600" cy="2133600"/>
            <a:chOff x="1248" y="2352"/>
            <a:chExt cx="624" cy="1344"/>
          </a:xfrm>
        </p:grpSpPr>
        <p:sp>
          <p:nvSpPr>
            <p:cNvPr id="83" name="Oval 6"/>
            <p:cNvSpPr>
              <a:spLocks noChangeArrowheads="1"/>
            </p:cNvSpPr>
            <p:nvPr/>
          </p:nvSpPr>
          <p:spPr bwMode="auto">
            <a:xfrm>
              <a:off x="1248" y="2352"/>
              <a:ext cx="624" cy="28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dirty="0"/>
                <a:t>Worker</a:t>
              </a:r>
            </a:p>
          </p:txBody>
        </p:sp>
        <p:sp>
          <p:nvSpPr>
            <p:cNvPr id="84" name="Oval 7"/>
            <p:cNvSpPr>
              <a:spLocks noChangeArrowheads="1"/>
            </p:cNvSpPr>
            <p:nvPr/>
          </p:nvSpPr>
          <p:spPr bwMode="auto">
            <a:xfrm>
              <a:off x="1248" y="2880"/>
              <a:ext cx="624" cy="28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Worker</a:t>
              </a:r>
            </a:p>
          </p:txBody>
        </p:sp>
        <p:sp>
          <p:nvSpPr>
            <p:cNvPr id="85" name="Oval 8"/>
            <p:cNvSpPr>
              <a:spLocks noChangeArrowheads="1"/>
            </p:cNvSpPr>
            <p:nvPr/>
          </p:nvSpPr>
          <p:spPr bwMode="auto">
            <a:xfrm>
              <a:off x="1248" y="3408"/>
              <a:ext cx="624" cy="28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Worker</a:t>
              </a:r>
            </a:p>
          </p:txBody>
        </p:sp>
      </p:grpSp>
      <p:grpSp>
        <p:nvGrpSpPr>
          <p:cNvPr id="91" name="Group 46"/>
          <p:cNvGrpSpPr>
            <a:grpSpLocks/>
          </p:cNvGrpSpPr>
          <p:nvPr/>
        </p:nvGrpSpPr>
        <p:grpSpPr bwMode="auto">
          <a:xfrm>
            <a:off x="2590800" y="2810148"/>
            <a:ext cx="914400" cy="1676400"/>
            <a:chOff x="672" y="2496"/>
            <a:chExt cx="576" cy="1056"/>
          </a:xfrm>
        </p:grpSpPr>
        <p:sp>
          <p:nvSpPr>
            <p:cNvPr id="92" name="Line 42"/>
            <p:cNvSpPr>
              <a:spLocks noChangeShapeType="1"/>
            </p:cNvSpPr>
            <p:nvPr/>
          </p:nvSpPr>
          <p:spPr bwMode="auto">
            <a:xfrm flipV="1">
              <a:off x="672" y="2496"/>
              <a:ext cx="576"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3" name="Line 43"/>
            <p:cNvSpPr>
              <a:spLocks noChangeShapeType="1"/>
            </p:cNvSpPr>
            <p:nvPr/>
          </p:nvSpPr>
          <p:spPr bwMode="auto">
            <a:xfrm>
              <a:off x="672" y="3024"/>
              <a:ext cx="5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4" name="Line 44"/>
            <p:cNvSpPr>
              <a:spLocks noChangeShapeType="1"/>
            </p:cNvSpPr>
            <p:nvPr/>
          </p:nvSpPr>
          <p:spPr bwMode="auto">
            <a:xfrm>
              <a:off x="672" y="3216"/>
              <a:ext cx="576"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5" name="Text Box 45"/>
            <p:cNvSpPr txBox="1">
              <a:spLocks noChangeArrowheads="1"/>
            </p:cNvSpPr>
            <p:nvPr/>
          </p:nvSpPr>
          <p:spPr bwMode="auto">
            <a:xfrm>
              <a:off x="672" y="2784"/>
              <a:ext cx="43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a:t>read</a:t>
              </a:r>
            </a:p>
          </p:txBody>
        </p:sp>
      </p:grpSp>
      <p:grpSp>
        <p:nvGrpSpPr>
          <p:cNvPr id="96" name="Group 51"/>
          <p:cNvGrpSpPr>
            <a:grpSpLocks/>
          </p:cNvGrpSpPr>
          <p:nvPr/>
        </p:nvGrpSpPr>
        <p:grpSpPr bwMode="auto">
          <a:xfrm>
            <a:off x="4495800" y="2581548"/>
            <a:ext cx="1600200" cy="2133600"/>
            <a:chOff x="1872" y="2352"/>
            <a:chExt cx="1008" cy="1344"/>
          </a:xfrm>
        </p:grpSpPr>
        <p:grpSp>
          <p:nvGrpSpPr>
            <p:cNvPr id="97" name="Group 16"/>
            <p:cNvGrpSpPr>
              <a:grpSpLocks/>
            </p:cNvGrpSpPr>
            <p:nvPr/>
          </p:nvGrpSpPr>
          <p:grpSpPr bwMode="auto">
            <a:xfrm>
              <a:off x="2592" y="2352"/>
              <a:ext cx="288" cy="288"/>
              <a:chOff x="2640" y="2160"/>
              <a:chExt cx="288" cy="288"/>
            </a:xfrm>
          </p:grpSpPr>
          <p:sp>
            <p:nvSpPr>
              <p:cNvPr id="108" name="Rectangle 14"/>
              <p:cNvSpPr>
                <a:spLocks noChangeArrowheads="1"/>
              </p:cNvSpPr>
              <p:nvPr/>
            </p:nvSpPr>
            <p:spPr bwMode="auto">
              <a:xfrm>
                <a:off x="2640"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sp>
            <p:nvSpPr>
              <p:cNvPr id="109" name="Rectangle 15"/>
              <p:cNvSpPr>
                <a:spLocks noChangeArrowheads="1"/>
              </p:cNvSpPr>
              <p:nvPr/>
            </p:nvSpPr>
            <p:spPr bwMode="auto">
              <a:xfrm>
                <a:off x="2784"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grpSp>
        <p:grpSp>
          <p:nvGrpSpPr>
            <p:cNvPr id="98" name="Group 17"/>
            <p:cNvGrpSpPr>
              <a:grpSpLocks/>
            </p:cNvGrpSpPr>
            <p:nvPr/>
          </p:nvGrpSpPr>
          <p:grpSpPr bwMode="auto">
            <a:xfrm>
              <a:off x="2592" y="2880"/>
              <a:ext cx="288" cy="288"/>
              <a:chOff x="2640" y="2160"/>
              <a:chExt cx="288" cy="288"/>
            </a:xfrm>
          </p:grpSpPr>
          <p:sp>
            <p:nvSpPr>
              <p:cNvPr id="106" name="Rectangle 18"/>
              <p:cNvSpPr>
                <a:spLocks noChangeArrowheads="1"/>
              </p:cNvSpPr>
              <p:nvPr/>
            </p:nvSpPr>
            <p:spPr bwMode="auto">
              <a:xfrm>
                <a:off x="2640"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sp>
            <p:nvSpPr>
              <p:cNvPr id="107" name="Rectangle 19"/>
              <p:cNvSpPr>
                <a:spLocks noChangeArrowheads="1"/>
              </p:cNvSpPr>
              <p:nvPr/>
            </p:nvSpPr>
            <p:spPr bwMode="auto">
              <a:xfrm>
                <a:off x="2784"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grpSp>
        <p:grpSp>
          <p:nvGrpSpPr>
            <p:cNvPr id="99" name="Group 20"/>
            <p:cNvGrpSpPr>
              <a:grpSpLocks/>
            </p:cNvGrpSpPr>
            <p:nvPr/>
          </p:nvGrpSpPr>
          <p:grpSpPr bwMode="auto">
            <a:xfrm>
              <a:off x="2592" y="3408"/>
              <a:ext cx="288" cy="288"/>
              <a:chOff x="2640" y="2160"/>
              <a:chExt cx="288" cy="288"/>
            </a:xfrm>
          </p:grpSpPr>
          <p:sp>
            <p:nvSpPr>
              <p:cNvPr id="104" name="Rectangle 21"/>
              <p:cNvSpPr>
                <a:spLocks noChangeArrowheads="1"/>
              </p:cNvSpPr>
              <p:nvPr/>
            </p:nvSpPr>
            <p:spPr bwMode="auto">
              <a:xfrm>
                <a:off x="2640"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sp>
            <p:nvSpPr>
              <p:cNvPr id="105" name="Rectangle 22"/>
              <p:cNvSpPr>
                <a:spLocks noChangeArrowheads="1"/>
              </p:cNvSpPr>
              <p:nvPr/>
            </p:nvSpPr>
            <p:spPr bwMode="auto">
              <a:xfrm>
                <a:off x="2784" y="2160"/>
                <a:ext cx="144" cy="288"/>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endParaRPr lang="en-US" altLang="en-US"/>
              </a:p>
            </p:txBody>
          </p:sp>
        </p:grpSp>
        <p:sp>
          <p:nvSpPr>
            <p:cNvPr id="100" name="Line 47"/>
            <p:cNvSpPr>
              <a:spLocks noChangeShapeType="1"/>
            </p:cNvSpPr>
            <p:nvPr/>
          </p:nvSpPr>
          <p:spPr bwMode="auto">
            <a:xfrm>
              <a:off x="1872" y="2496"/>
              <a:ext cx="7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1" name="Line 48"/>
            <p:cNvSpPr>
              <a:spLocks noChangeShapeType="1"/>
            </p:cNvSpPr>
            <p:nvPr/>
          </p:nvSpPr>
          <p:spPr bwMode="auto">
            <a:xfrm>
              <a:off x="1872" y="3024"/>
              <a:ext cx="7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 name="Line 49"/>
            <p:cNvSpPr>
              <a:spLocks noChangeShapeType="1"/>
            </p:cNvSpPr>
            <p:nvPr/>
          </p:nvSpPr>
          <p:spPr bwMode="auto">
            <a:xfrm>
              <a:off x="1872" y="3552"/>
              <a:ext cx="7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 name="Text Box 50"/>
            <p:cNvSpPr txBox="1">
              <a:spLocks noChangeArrowheads="1"/>
            </p:cNvSpPr>
            <p:nvPr/>
          </p:nvSpPr>
          <p:spPr bwMode="auto">
            <a:xfrm>
              <a:off x="1970" y="2620"/>
              <a:ext cx="48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sz="1600" dirty="0"/>
                <a:t>local</a:t>
              </a:r>
              <a:endParaRPr lang="en-US" altLang="en-US" dirty="0"/>
            </a:p>
            <a:p>
              <a:r>
                <a:rPr lang="en-US" altLang="en-US" dirty="0"/>
                <a:t>write</a:t>
              </a:r>
            </a:p>
          </p:txBody>
        </p:sp>
      </p:grpSp>
      <p:grpSp>
        <p:nvGrpSpPr>
          <p:cNvPr id="110" name="Group 59"/>
          <p:cNvGrpSpPr>
            <a:grpSpLocks/>
          </p:cNvGrpSpPr>
          <p:nvPr/>
        </p:nvGrpSpPr>
        <p:grpSpPr bwMode="auto">
          <a:xfrm>
            <a:off x="6096000" y="2810148"/>
            <a:ext cx="1074738" cy="2416175"/>
            <a:chOff x="2880" y="2496"/>
            <a:chExt cx="677" cy="1522"/>
          </a:xfrm>
        </p:grpSpPr>
        <p:sp>
          <p:nvSpPr>
            <p:cNvPr id="111" name="Line 52"/>
            <p:cNvSpPr>
              <a:spLocks noChangeShapeType="1"/>
            </p:cNvSpPr>
            <p:nvPr/>
          </p:nvSpPr>
          <p:spPr bwMode="auto">
            <a:xfrm>
              <a:off x="2880" y="2496"/>
              <a:ext cx="67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 name="Line 53"/>
            <p:cNvSpPr>
              <a:spLocks noChangeShapeType="1"/>
            </p:cNvSpPr>
            <p:nvPr/>
          </p:nvSpPr>
          <p:spPr bwMode="auto">
            <a:xfrm>
              <a:off x="2880" y="2496"/>
              <a:ext cx="672"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3" name="Line 54"/>
            <p:cNvSpPr>
              <a:spLocks noChangeShapeType="1"/>
            </p:cNvSpPr>
            <p:nvPr/>
          </p:nvSpPr>
          <p:spPr bwMode="auto">
            <a:xfrm flipV="1">
              <a:off x="2880" y="2688"/>
              <a:ext cx="672"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4" name="Line 55"/>
            <p:cNvSpPr>
              <a:spLocks noChangeShapeType="1"/>
            </p:cNvSpPr>
            <p:nvPr/>
          </p:nvSpPr>
          <p:spPr bwMode="auto">
            <a:xfrm>
              <a:off x="2880" y="3024"/>
              <a:ext cx="67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5" name="Line 56"/>
            <p:cNvSpPr>
              <a:spLocks noChangeShapeType="1"/>
            </p:cNvSpPr>
            <p:nvPr/>
          </p:nvSpPr>
          <p:spPr bwMode="auto">
            <a:xfrm flipV="1">
              <a:off x="2880" y="2736"/>
              <a:ext cx="672"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6" name="Line 57"/>
            <p:cNvSpPr>
              <a:spLocks noChangeShapeType="1"/>
            </p:cNvSpPr>
            <p:nvPr/>
          </p:nvSpPr>
          <p:spPr bwMode="auto">
            <a:xfrm flipV="1">
              <a:off x="2880" y="3312"/>
              <a:ext cx="672"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7" name="Text Box 58"/>
            <p:cNvSpPr txBox="1">
              <a:spLocks noChangeArrowheads="1"/>
            </p:cNvSpPr>
            <p:nvPr/>
          </p:nvSpPr>
          <p:spPr bwMode="auto">
            <a:xfrm>
              <a:off x="2976" y="3456"/>
              <a:ext cx="581"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sz="1600" dirty="0"/>
                <a:t>remote</a:t>
              </a:r>
            </a:p>
            <a:p>
              <a:r>
                <a:rPr lang="en-US" altLang="en-US" sz="1600" dirty="0"/>
                <a:t>read</a:t>
              </a:r>
              <a:r>
                <a:rPr lang="en-US" altLang="en-US" dirty="0"/>
                <a:t>,</a:t>
              </a:r>
            </a:p>
            <a:p>
              <a:r>
                <a:rPr lang="en-US" altLang="en-US" dirty="0"/>
                <a:t>sort</a:t>
              </a:r>
            </a:p>
          </p:txBody>
        </p:sp>
      </p:grpSp>
      <p:grpSp>
        <p:nvGrpSpPr>
          <p:cNvPr id="118" name="Group 63"/>
          <p:cNvGrpSpPr>
            <a:grpSpLocks/>
          </p:cNvGrpSpPr>
          <p:nvPr/>
        </p:nvGrpSpPr>
        <p:grpSpPr bwMode="auto">
          <a:xfrm>
            <a:off x="8153400" y="2733948"/>
            <a:ext cx="1981200" cy="1600200"/>
            <a:chOff x="4176" y="2448"/>
            <a:chExt cx="1248" cy="1008"/>
          </a:xfrm>
        </p:grpSpPr>
        <p:sp>
          <p:nvSpPr>
            <p:cNvPr id="119" name="Rectangle 27"/>
            <p:cNvSpPr>
              <a:spLocks noChangeArrowheads="1"/>
            </p:cNvSpPr>
            <p:nvPr/>
          </p:nvSpPr>
          <p:spPr bwMode="auto">
            <a:xfrm>
              <a:off x="4848" y="2448"/>
              <a:ext cx="576" cy="384"/>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Output</a:t>
              </a:r>
            </a:p>
            <a:p>
              <a:pPr algn="ctr"/>
              <a:r>
                <a:rPr lang="en-US" altLang="en-US"/>
                <a:t>File 0</a:t>
              </a:r>
            </a:p>
          </p:txBody>
        </p:sp>
        <p:sp>
          <p:nvSpPr>
            <p:cNvPr id="120" name="Rectangle 28"/>
            <p:cNvSpPr>
              <a:spLocks noChangeArrowheads="1"/>
            </p:cNvSpPr>
            <p:nvPr/>
          </p:nvSpPr>
          <p:spPr bwMode="auto">
            <a:xfrm>
              <a:off x="4848" y="3072"/>
              <a:ext cx="576" cy="384"/>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Output</a:t>
              </a:r>
            </a:p>
            <a:p>
              <a:pPr algn="ctr"/>
              <a:r>
                <a:rPr lang="en-US" altLang="en-US"/>
                <a:t>File 1</a:t>
              </a:r>
            </a:p>
          </p:txBody>
        </p:sp>
        <p:sp>
          <p:nvSpPr>
            <p:cNvPr id="121" name="Line 60"/>
            <p:cNvSpPr>
              <a:spLocks noChangeShapeType="1"/>
            </p:cNvSpPr>
            <p:nvPr/>
          </p:nvSpPr>
          <p:spPr bwMode="auto">
            <a:xfrm>
              <a:off x="4176" y="2688"/>
              <a:ext cx="6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2" name="Line 61"/>
            <p:cNvSpPr>
              <a:spLocks noChangeShapeType="1"/>
            </p:cNvSpPr>
            <p:nvPr/>
          </p:nvSpPr>
          <p:spPr bwMode="auto">
            <a:xfrm>
              <a:off x="4176" y="3312"/>
              <a:ext cx="6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 name="Text Box 62"/>
            <p:cNvSpPr txBox="1">
              <a:spLocks noChangeArrowheads="1"/>
            </p:cNvSpPr>
            <p:nvPr/>
          </p:nvSpPr>
          <p:spPr bwMode="auto">
            <a:xfrm>
              <a:off x="4214" y="2468"/>
              <a:ext cx="4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a:t>write</a:t>
              </a:r>
            </a:p>
          </p:txBody>
        </p:sp>
      </p:grpSp>
      <p:grpSp>
        <p:nvGrpSpPr>
          <p:cNvPr id="125" name="Group 64"/>
          <p:cNvGrpSpPr>
            <a:grpSpLocks/>
          </p:cNvGrpSpPr>
          <p:nvPr/>
        </p:nvGrpSpPr>
        <p:grpSpPr bwMode="auto">
          <a:xfrm>
            <a:off x="1752600" y="3191148"/>
            <a:ext cx="838200" cy="914400"/>
            <a:chOff x="144" y="2736"/>
            <a:chExt cx="528" cy="576"/>
          </a:xfrm>
        </p:grpSpPr>
        <p:sp>
          <p:nvSpPr>
            <p:cNvPr id="127" name="Rectangle 9"/>
            <p:cNvSpPr>
              <a:spLocks noChangeArrowheads="1"/>
            </p:cNvSpPr>
            <p:nvPr/>
          </p:nvSpPr>
          <p:spPr bwMode="auto">
            <a:xfrm>
              <a:off x="144" y="2736"/>
              <a:ext cx="528" cy="192"/>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Split 0</a:t>
              </a:r>
            </a:p>
          </p:txBody>
        </p:sp>
        <p:sp>
          <p:nvSpPr>
            <p:cNvPr id="128" name="Rectangle 10"/>
            <p:cNvSpPr>
              <a:spLocks noChangeArrowheads="1"/>
            </p:cNvSpPr>
            <p:nvPr/>
          </p:nvSpPr>
          <p:spPr bwMode="auto">
            <a:xfrm>
              <a:off x="144" y="2928"/>
              <a:ext cx="528" cy="192"/>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Split 1</a:t>
              </a:r>
            </a:p>
          </p:txBody>
        </p:sp>
        <p:sp>
          <p:nvSpPr>
            <p:cNvPr id="129" name="Rectangle 11"/>
            <p:cNvSpPr>
              <a:spLocks noChangeArrowheads="1"/>
            </p:cNvSpPr>
            <p:nvPr/>
          </p:nvSpPr>
          <p:spPr bwMode="auto">
            <a:xfrm>
              <a:off x="144" y="3120"/>
              <a:ext cx="528" cy="192"/>
            </a:xfrm>
            <a:prstGeom prst="rect">
              <a:avLst/>
            </a:prstGeom>
            <a:solidFill>
              <a:srgbClr val="FF5050"/>
            </a:solidFill>
            <a:ln w="9525">
              <a:solidFill>
                <a:schemeClr val="tx1"/>
              </a:solidFill>
              <a:miter lim="800000"/>
              <a:headEnd/>
              <a:tailEnd/>
            </a:ln>
          </p:spPr>
          <p:txBody>
            <a:bodyPr wrap="none" anchor="ct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a:r>
                <a:rPr lang="en-US" altLang="en-US"/>
                <a:t>Split 2</a:t>
              </a:r>
            </a:p>
          </p:txBody>
        </p:sp>
      </p:grpSp>
      <p:sp>
        <p:nvSpPr>
          <p:cNvPr id="126" name="Text Box 69"/>
          <p:cNvSpPr txBox="1">
            <a:spLocks noChangeArrowheads="1"/>
          </p:cNvSpPr>
          <p:nvPr/>
        </p:nvSpPr>
        <p:spPr bwMode="auto">
          <a:xfrm>
            <a:off x="1458912" y="2060849"/>
            <a:ext cx="14239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dirty="0"/>
              <a:t>Input Data</a:t>
            </a:r>
          </a:p>
        </p:txBody>
      </p:sp>
      <p:sp>
        <p:nvSpPr>
          <p:cNvPr id="131" name="Text Box 69"/>
          <p:cNvSpPr txBox="1">
            <a:spLocks noChangeArrowheads="1"/>
          </p:cNvSpPr>
          <p:nvPr/>
        </p:nvSpPr>
        <p:spPr bwMode="auto">
          <a:xfrm>
            <a:off x="8870954" y="2060848"/>
            <a:ext cx="1611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itchFamily="34" charset="0"/>
              </a:defRPr>
            </a:lvl1pPr>
            <a:lvl2pPr marL="742950" indent="-285750">
              <a:defRPr>
                <a:solidFill>
                  <a:schemeClr val="tx1"/>
                </a:solidFill>
                <a:latin typeface="Verdana" pitchFamily="34" charset="0"/>
              </a:defRPr>
            </a:lvl2pPr>
            <a:lvl3pPr marL="1143000" indent="-228600">
              <a:defRPr>
                <a:solidFill>
                  <a:schemeClr val="tx1"/>
                </a:solidFill>
                <a:latin typeface="Verdana" pitchFamily="34" charset="0"/>
              </a:defRPr>
            </a:lvl3pPr>
            <a:lvl4pPr marL="1600200" indent="-228600">
              <a:defRPr>
                <a:solidFill>
                  <a:schemeClr val="tx1"/>
                </a:solidFill>
                <a:latin typeface="Verdana" pitchFamily="34" charset="0"/>
              </a:defRPr>
            </a:lvl4pPr>
            <a:lvl5pPr marL="2057400" indent="-22860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r>
              <a:rPr lang="en-US" altLang="en-US" dirty="0"/>
              <a:t>Output Data</a:t>
            </a:r>
          </a:p>
        </p:txBody>
      </p:sp>
      <p:sp>
        <p:nvSpPr>
          <p:cNvPr id="132" name="Rectangle 131"/>
          <p:cNvSpPr/>
          <p:nvPr/>
        </p:nvSpPr>
        <p:spPr>
          <a:xfrm>
            <a:off x="2778919" y="5226322"/>
            <a:ext cx="2443162" cy="1292662"/>
          </a:xfrm>
          <a:prstGeom prst="rect">
            <a:avLst/>
          </a:prstGeom>
        </p:spPr>
        <p:txBody>
          <a:bodyPr wrap="square">
            <a:spAutoFit/>
          </a:bodyPr>
          <a:lstStyle/>
          <a:p>
            <a:pPr algn="ctr"/>
            <a:r>
              <a:rPr lang="en-US" sz="2400" b="1" dirty="0">
                <a:solidFill>
                  <a:srgbClr val="FF0000"/>
                </a:solidFill>
              </a:rPr>
              <a:t>Map</a:t>
            </a:r>
            <a:endParaRPr lang="en-US" b="1" dirty="0"/>
          </a:p>
          <a:p>
            <a:pPr algn="ctr"/>
            <a:r>
              <a:rPr lang="en-US" dirty="0"/>
              <a:t>extract something you care about from each record</a:t>
            </a:r>
          </a:p>
        </p:txBody>
      </p:sp>
      <p:sp>
        <p:nvSpPr>
          <p:cNvPr id="134" name="Rectangle 133"/>
          <p:cNvSpPr/>
          <p:nvPr/>
        </p:nvSpPr>
        <p:spPr>
          <a:xfrm>
            <a:off x="6753852" y="5226322"/>
            <a:ext cx="1808496" cy="1292662"/>
          </a:xfrm>
          <a:prstGeom prst="rect">
            <a:avLst/>
          </a:prstGeom>
        </p:spPr>
        <p:txBody>
          <a:bodyPr wrap="square">
            <a:spAutoFit/>
          </a:bodyPr>
          <a:lstStyle/>
          <a:p>
            <a:pPr algn="ctr"/>
            <a:r>
              <a:rPr lang="en-US" sz="2400" b="1" dirty="0">
                <a:solidFill>
                  <a:srgbClr val="FF0000"/>
                </a:solidFill>
              </a:rPr>
              <a:t>Reduce</a:t>
            </a:r>
            <a:r>
              <a:rPr lang="en-US" sz="2400" dirty="0">
                <a:solidFill>
                  <a:srgbClr val="FF0000"/>
                </a:solidFill>
              </a:rPr>
              <a:t> </a:t>
            </a:r>
            <a:r>
              <a:rPr lang="en-US" dirty="0"/>
              <a:t>aggregate, summarize, filter, or transform</a:t>
            </a:r>
          </a:p>
        </p:txBody>
      </p:sp>
      <p:sp>
        <p:nvSpPr>
          <p:cNvPr id="3" name="Footer Placeholder 2">
            <a:extLst>
              <a:ext uri="{FF2B5EF4-FFF2-40B4-BE49-F238E27FC236}">
                <a16:creationId xmlns:a16="http://schemas.microsoft.com/office/drawing/2014/main" id="{8AFC1FC6-945A-114C-A6DC-5CBE211AB853}"/>
              </a:ext>
            </a:extLst>
          </p:cNvPr>
          <p:cNvSpPr>
            <a:spLocks noGrp="1"/>
          </p:cNvSpPr>
          <p:nvPr>
            <p:ph type="ftr" sz="quarter" idx="11"/>
          </p:nvPr>
        </p:nvSpPr>
        <p:spPr/>
        <p:txBody>
          <a:bodyPr/>
          <a:lstStyle/>
          <a:p>
            <a:r>
              <a:rPr lang="en-US"/>
              <a:t>Or Peretz</a:t>
            </a:r>
          </a:p>
        </p:txBody>
      </p:sp>
    </p:spTree>
    <p:extLst>
      <p:ext uri="{BB962C8B-B14F-4D97-AF65-F5344CB8AC3E}">
        <p14:creationId xmlns:p14="http://schemas.microsoft.com/office/powerpoint/2010/main" val="1550609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dissolve">
                                      <p:cBhvr>
                                        <p:cTn id="7" dur="500"/>
                                        <p:tgtEl>
                                          <p:spTgt spid="91"/>
                                        </p:tgtEl>
                                      </p:cBhvr>
                                    </p:animEffect>
                                  </p:childTnLst>
                                </p:cTn>
                              </p:par>
                              <p:par>
                                <p:cTn id="8" presetID="1" presetClass="entr" presetSubtype="0" fill="hold" nodeType="withEffect">
                                  <p:stCondLst>
                                    <p:cond delay="0"/>
                                  </p:stCondLst>
                                  <p:childTnLst>
                                    <p:set>
                                      <p:cBhvr>
                                        <p:cTn id="9" dur="1" fill="hold">
                                          <p:stCondLst>
                                            <p:cond delay="0"/>
                                          </p:stCondLst>
                                        </p:cTn>
                                        <p:tgtEl>
                                          <p:spTgt spid="7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3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10"/>
                                        </p:tgtEl>
                                        <p:attrNameLst>
                                          <p:attrName>style.visibility</p:attrName>
                                        </p:attrNameLst>
                                      </p:cBhvr>
                                      <p:to>
                                        <p:strVal val="visible"/>
                                      </p:to>
                                    </p:set>
                                    <p:animEffect transition="in" filter="dissolve">
                                      <p:cBhvr>
                                        <p:cTn id="20" dur="500"/>
                                        <p:tgtEl>
                                          <p:spTgt spid="110"/>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1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18"/>
                                        </p:tgtEl>
                                        <p:attrNameLst>
                                          <p:attrName>style.visibility</p:attrName>
                                        </p:attrNameLst>
                                      </p:cBhvr>
                                      <p:to>
                                        <p:strVal val="visible"/>
                                      </p:to>
                                    </p:set>
                                    <p:animEffect transition="in" filter="dissolve">
                                      <p:cBhvr>
                                        <p:cTn id="29" dur="500"/>
                                        <p:tgtEl>
                                          <p:spTgt spid="1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1"/>
                                        </p:tgtEl>
                                        <p:attrNameLst>
                                          <p:attrName>style.visibility</p:attrName>
                                        </p:attrNameLst>
                                      </p:cBhvr>
                                      <p:to>
                                        <p:strVal val="visible"/>
                                      </p:to>
                                    </p:set>
                                    <p:animEffect transition="in" filter="fade">
                                      <p:cBhvr>
                                        <p:cTn id="32"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P spid="132" grpId="0"/>
      <p:bldP spid="134"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MapReduce Architecture</a:t>
            </a:r>
          </a:p>
          <a:p>
            <a:pPr>
              <a:lnSpc>
                <a:spcPct val="150000"/>
              </a:lnSpc>
            </a:pPr>
            <a:r>
              <a:rPr lang="en-US" sz="2400" b="1" dirty="0"/>
              <a:t>Input Phase</a:t>
            </a:r>
            <a:r>
              <a:rPr lang="en-US" sz="2400" dirty="0"/>
              <a:t> − Here we have a Record Reader that translates each record in an input file and sends the parsed data to the mapper in the form of key-value pairs.</a:t>
            </a:r>
          </a:p>
          <a:p>
            <a:pPr>
              <a:lnSpc>
                <a:spcPct val="150000"/>
              </a:lnSpc>
            </a:pPr>
            <a:r>
              <a:rPr lang="en-US" sz="2400" b="1" dirty="0"/>
              <a:t>Map</a:t>
            </a:r>
            <a:r>
              <a:rPr lang="en-US" sz="2400" dirty="0"/>
              <a:t> − Map is a user-defined function, which takes a series of key-value pairs and processes each one of them to generate zero or more key-value pairs.</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Rounded Rectangle 5">
            <a:extLst>
              <a:ext uri="{FF2B5EF4-FFF2-40B4-BE49-F238E27FC236}">
                <a16:creationId xmlns:a16="http://schemas.microsoft.com/office/drawing/2014/main" id="{CDD13228-D798-A543-9CF3-83A10A6F83A8}"/>
              </a:ext>
            </a:extLst>
          </p:cNvPr>
          <p:cNvSpPr/>
          <p:nvPr/>
        </p:nvSpPr>
        <p:spPr>
          <a:xfrm>
            <a:off x="2777067" y="3623741"/>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7" name="Rounded Rectangle 6">
            <a:extLst>
              <a:ext uri="{FF2B5EF4-FFF2-40B4-BE49-F238E27FC236}">
                <a16:creationId xmlns:a16="http://schemas.microsoft.com/office/drawing/2014/main" id="{264630C5-F7F6-644E-A3A3-6C5BE2751DA9}"/>
              </a:ext>
            </a:extLst>
          </p:cNvPr>
          <p:cNvSpPr/>
          <p:nvPr/>
        </p:nvSpPr>
        <p:spPr>
          <a:xfrm>
            <a:off x="4038600" y="3623740"/>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8" name="Rounded Rectangle 7">
            <a:extLst>
              <a:ext uri="{FF2B5EF4-FFF2-40B4-BE49-F238E27FC236}">
                <a16:creationId xmlns:a16="http://schemas.microsoft.com/office/drawing/2014/main" id="{9ABFA56E-6EF8-8046-B5E4-CA1FB2E395A6}"/>
              </a:ext>
            </a:extLst>
          </p:cNvPr>
          <p:cNvSpPr/>
          <p:nvPr/>
        </p:nvSpPr>
        <p:spPr>
          <a:xfrm>
            <a:off x="5300133" y="3623739"/>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9" name="Rounded Rectangle 8">
            <a:extLst>
              <a:ext uri="{FF2B5EF4-FFF2-40B4-BE49-F238E27FC236}">
                <a16:creationId xmlns:a16="http://schemas.microsoft.com/office/drawing/2014/main" id="{5A37C5B1-41B1-814D-9968-562351759BC4}"/>
              </a:ext>
            </a:extLst>
          </p:cNvPr>
          <p:cNvSpPr/>
          <p:nvPr/>
        </p:nvSpPr>
        <p:spPr>
          <a:xfrm>
            <a:off x="6595533" y="3623739"/>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10" name="Rounded Rectangle 9">
            <a:extLst>
              <a:ext uri="{FF2B5EF4-FFF2-40B4-BE49-F238E27FC236}">
                <a16:creationId xmlns:a16="http://schemas.microsoft.com/office/drawing/2014/main" id="{F83D2799-5FAD-704B-ADB5-56D01C7DB85F}"/>
              </a:ext>
            </a:extLst>
          </p:cNvPr>
          <p:cNvSpPr/>
          <p:nvPr/>
        </p:nvSpPr>
        <p:spPr>
          <a:xfrm>
            <a:off x="7950199" y="3623739"/>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cxnSp>
        <p:nvCxnSpPr>
          <p:cNvPr id="11" name="Straight Arrow Connector 10">
            <a:extLst>
              <a:ext uri="{FF2B5EF4-FFF2-40B4-BE49-F238E27FC236}">
                <a16:creationId xmlns:a16="http://schemas.microsoft.com/office/drawing/2014/main" id="{EFD7DBEC-8DCC-B445-BA8A-08C4D9AE8B69}"/>
              </a:ext>
            </a:extLst>
          </p:cNvPr>
          <p:cNvCxnSpPr/>
          <p:nvPr/>
        </p:nvCxnSpPr>
        <p:spPr>
          <a:xfrm>
            <a:off x="3344333" y="4089406"/>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C502997-222F-EC4F-8345-8BFABC85A89E}"/>
              </a:ext>
            </a:extLst>
          </p:cNvPr>
          <p:cNvSpPr/>
          <p:nvPr/>
        </p:nvSpPr>
        <p:spPr>
          <a:xfrm>
            <a:off x="2891368" y="4529675"/>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3" name="Straight Arrow Connector 12">
            <a:extLst>
              <a:ext uri="{FF2B5EF4-FFF2-40B4-BE49-F238E27FC236}">
                <a16:creationId xmlns:a16="http://schemas.microsoft.com/office/drawing/2014/main" id="{E1398C68-0BE3-C541-B49C-AB26A5F1BA29}"/>
              </a:ext>
            </a:extLst>
          </p:cNvPr>
          <p:cNvCxnSpPr/>
          <p:nvPr/>
        </p:nvCxnSpPr>
        <p:spPr>
          <a:xfrm>
            <a:off x="4580466" y="4089406"/>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A85AFA8-2BD4-2C43-B0A8-FF3D11B9AAB1}"/>
              </a:ext>
            </a:extLst>
          </p:cNvPr>
          <p:cNvSpPr/>
          <p:nvPr/>
        </p:nvSpPr>
        <p:spPr>
          <a:xfrm>
            <a:off x="4127501" y="4529675"/>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5" name="Straight Arrow Connector 14">
            <a:extLst>
              <a:ext uri="{FF2B5EF4-FFF2-40B4-BE49-F238E27FC236}">
                <a16:creationId xmlns:a16="http://schemas.microsoft.com/office/drawing/2014/main" id="{AB82AAC2-459F-594D-8047-9B31C2DAA613}"/>
              </a:ext>
            </a:extLst>
          </p:cNvPr>
          <p:cNvCxnSpPr/>
          <p:nvPr/>
        </p:nvCxnSpPr>
        <p:spPr>
          <a:xfrm>
            <a:off x="5837768" y="4089406"/>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D8879A-972D-6240-BCB9-E4894468C637}"/>
              </a:ext>
            </a:extLst>
          </p:cNvPr>
          <p:cNvSpPr/>
          <p:nvPr/>
        </p:nvSpPr>
        <p:spPr>
          <a:xfrm>
            <a:off x="5384803" y="4529675"/>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7" name="Straight Arrow Connector 16">
            <a:extLst>
              <a:ext uri="{FF2B5EF4-FFF2-40B4-BE49-F238E27FC236}">
                <a16:creationId xmlns:a16="http://schemas.microsoft.com/office/drawing/2014/main" id="{80401179-7AEC-8141-8D23-60F060DA6DC8}"/>
              </a:ext>
            </a:extLst>
          </p:cNvPr>
          <p:cNvCxnSpPr/>
          <p:nvPr/>
        </p:nvCxnSpPr>
        <p:spPr>
          <a:xfrm>
            <a:off x="7215716" y="4089406"/>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5EA08D9-672F-9F47-B02D-DA93ECE026FD}"/>
              </a:ext>
            </a:extLst>
          </p:cNvPr>
          <p:cNvSpPr/>
          <p:nvPr/>
        </p:nvSpPr>
        <p:spPr>
          <a:xfrm>
            <a:off x="6762751" y="4529675"/>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9" name="Straight Arrow Connector 18">
            <a:extLst>
              <a:ext uri="{FF2B5EF4-FFF2-40B4-BE49-F238E27FC236}">
                <a16:creationId xmlns:a16="http://schemas.microsoft.com/office/drawing/2014/main" id="{4830161A-BD35-2940-8069-582A45ACC441}"/>
              </a:ext>
            </a:extLst>
          </p:cNvPr>
          <p:cNvCxnSpPr/>
          <p:nvPr/>
        </p:nvCxnSpPr>
        <p:spPr>
          <a:xfrm>
            <a:off x="8572492" y="4089406"/>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36C9BC6-EEBF-484F-B51A-0E92639A43C1}"/>
              </a:ext>
            </a:extLst>
          </p:cNvPr>
          <p:cNvSpPr/>
          <p:nvPr/>
        </p:nvSpPr>
        <p:spPr>
          <a:xfrm>
            <a:off x="8119527" y="4529675"/>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spTree>
    <p:extLst>
      <p:ext uri="{BB962C8B-B14F-4D97-AF65-F5344CB8AC3E}">
        <p14:creationId xmlns:p14="http://schemas.microsoft.com/office/powerpoint/2010/main" val="2169052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MapReduce Architecture</a:t>
            </a:r>
          </a:p>
          <a:p>
            <a:pPr>
              <a:lnSpc>
                <a:spcPct val="150000"/>
              </a:lnSpc>
            </a:pPr>
            <a:r>
              <a:rPr lang="en-US" sz="2200" b="1" dirty="0"/>
              <a:t>Intermediate Keys</a:t>
            </a:r>
            <a:r>
              <a:rPr lang="en-US" sz="2200" dirty="0"/>
              <a:t> − They key-value pairs generated by the mapper are known as intermediate keys.</a:t>
            </a:r>
          </a:p>
          <a:p>
            <a:pPr>
              <a:lnSpc>
                <a:spcPct val="150000"/>
              </a:lnSpc>
            </a:pPr>
            <a:r>
              <a:rPr lang="en-US" sz="2200" b="1" dirty="0"/>
              <a:t>Combiner (Optional)</a:t>
            </a:r>
            <a:r>
              <a:rPr lang="en-US" sz="2200" dirty="0"/>
              <a:t> − A combiner is a type of local Reducer that groups similar data from the map phase into identifiable sets. </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Rounded Rectangle 5">
            <a:extLst>
              <a:ext uri="{FF2B5EF4-FFF2-40B4-BE49-F238E27FC236}">
                <a16:creationId xmlns:a16="http://schemas.microsoft.com/office/drawing/2014/main" id="{CDD13228-D798-A543-9CF3-83A10A6F83A8}"/>
              </a:ext>
            </a:extLst>
          </p:cNvPr>
          <p:cNvSpPr/>
          <p:nvPr/>
        </p:nvSpPr>
        <p:spPr>
          <a:xfrm>
            <a:off x="2777067" y="2768607"/>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7" name="Rounded Rectangle 6">
            <a:extLst>
              <a:ext uri="{FF2B5EF4-FFF2-40B4-BE49-F238E27FC236}">
                <a16:creationId xmlns:a16="http://schemas.microsoft.com/office/drawing/2014/main" id="{264630C5-F7F6-644E-A3A3-6C5BE2751DA9}"/>
              </a:ext>
            </a:extLst>
          </p:cNvPr>
          <p:cNvSpPr/>
          <p:nvPr/>
        </p:nvSpPr>
        <p:spPr>
          <a:xfrm>
            <a:off x="4038600" y="2768606"/>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8" name="Rounded Rectangle 7">
            <a:extLst>
              <a:ext uri="{FF2B5EF4-FFF2-40B4-BE49-F238E27FC236}">
                <a16:creationId xmlns:a16="http://schemas.microsoft.com/office/drawing/2014/main" id="{9ABFA56E-6EF8-8046-B5E4-CA1FB2E395A6}"/>
              </a:ext>
            </a:extLst>
          </p:cNvPr>
          <p:cNvSpPr/>
          <p:nvPr/>
        </p:nvSpPr>
        <p:spPr>
          <a:xfrm>
            <a:off x="5300133" y="27686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9" name="Rounded Rectangle 8">
            <a:extLst>
              <a:ext uri="{FF2B5EF4-FFF2-40B4-BE49-F238E27FC236}">
                <a16:creationId xmlns:a16="http://schemas.microsoft.com/office/drawing/2014/main" id="{5A37C5B1-41B1-814D-9968-562351759BC4}"/>
              </a:ext>
            </a:extLst>
          </p:cNvPr>
          <p:cNvSpPr/>
          <p:nvPr/>
        </p:nvSpPr>
        <p:spPr>
          <a:xfrm>
            <a:off x="6595533" y="27686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10" name="Rounded Rectangle 9">
            <a:extLst>
              <a:ext uri="{FF2B5EF4-FFF2-40B4-BE49-F238E27FC236}">
                <a16:creationId xmlns:a16="http://schemas.microsoft.com/office/drawing/2014/main" id="{F83D2799-5FAD-704B-ADB5-56D01C7DB85F}"/>
              </a:ext>
            </a:extLst>
          </p:cNvPr>
          <p:cNvSpPr/>
          <p:nvPr/>
        </p:nvSpPr>
        <p:spPr>
          <a:xfrm>
            <a:off x="7950199" y="27686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cxnSp>
        <p:nvCxnSpPr>
          <p:cNvPr id="11" name="Straight Arrow Connector 10">
            <a:extLst>
              <a:ext uri="{FF2B5EF4-FFF2-40B4-BE49-F238E27FC236}">
                <a16:creationId xmlns:a16="http://schemas.microsoft.com/office/drawing/2014/main" id="{EFD7DBEC-8DCC-B445-BA8A-08C4D9AE8B69}"/>
              </a:ext>
            </a:extLst>
          </p:cNvPr>
          <p:cNvCxnSpPr/>
          <p:nvPr/>
        </p:nvCxnSpPr>
        <p:spPr>
          <a:xfrm>
            <a:off x="3344333" y="32342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C502997-222F-EC4F-8345-8BFABC85A89E}"/>
              </a:ext>
            </a:extLst>
          </p:cNvPr>
          <p:cNvSpPr/>
          <p:nvPr/>
        </p:nvSpPr>
        <p:spPr>
          <a:xfrm>
            <a:off x="2891368" y="36745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3" name="Straight Arrow Connector 12">
            <a:extLst>
              <a:ext uri="{FF2B5EF4-FFF2-40B4-BE49-F238E27FC236}">
                <a16:creationId xmlns:a16="http://schemas.microsoft.com/office/drawing/2014/main" id="{E1398C68-0BE3-C541-B49C-AB26A5F1BA29}"/>
              </a:ext>
            </a:extLst>
          </p:cNvPr>
          <p:cNvCxnSpPr/>
          <p:nvPr/>
        </p:nvCxnSpPr>
        <p:spPr>
          <a:xfrm>
            <a:off x="4580466" y="32342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A85AFA8-2BD4-2C43-B0A8-FF3D11B9AAB1}"/>
              </a:ext>
            </a:extLst>
          </p:cNvPr>
          <p:cNvSpPr/>
          <p:nvPr/>
        </p:nvSpPr>
        <p:spPr>
          <a:xfrm>
            <a:off x="4127501" y="36745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5" name="Straight Arrow Connector 14">
            <a:extLst>
              <a:ext uri="{FF2B5EF4-FFF2-40B4-BE49-F238E27FC236}">
                <a16:creationId xmlns:a16="http://schemas.microsoft.com/office/drawing/2014/main" id="{AB82AAC2-459F-594D-8047-9B31C2DAA613}"/>
              </a:ext>
            </a:extLst>
          </p:cNvPr>
          <p:cNvCxnSpPr/>
          <p:nvPr/>
        </p:nvCxnSpPr>
        <p:spPr>
          <a:xfrm>
            <a:off x="5837768" y="32342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D8879A-972D-6240-BCB9-E4894468C637}"/>
              </a:ext>
            </a:extLst>
          </p:cNvPr>
          <p:cNvSpPr/>
          <p:nvPr/>
        </p:nvSpPr>
        <p:spPr>
          <a:xfrm>
            <a:off x="5384803" y="36745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7" name="Straight Arrow Connector 16">
            <a:extLst>
              <a:ext uri="{FF2B5EF4-FFF2-40B4-BE49-F238E27FC236}">
                <a16:creationId xmlns:a16="http://schemas.microsoft.com/office/drawing/2014/main" id="{80401179-7AEC-8141-8D23-60F060DA6DC8}"/>
              </a:ext>
            </a:extLst>
          </p:cNvPr>
          <p:cNvCxnSpPr/>
          <p:nvPr/>
        </p:nvCxnSpPr>
        <p:spPr>
          <a:xfrm>
            <a:off x="7215716" y="32342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5EA08D9-672F-9F47-B02D-DA93ECE026FD}"/>
              </a:ext>
            </a:extLst>
          </p:cNvPr>
          <p:cNvSpPr/>
          <p:nvPr/>
        </p:nvSpPr>
        <p:spPr>
          <a:xfrm>
            <a:off x="6762751" y="36745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9" name="Straight Arrow Connector 18">
            <a:extLst>
              <a:ext uri="{FF2B5EF4-FFF2-40B4-BE49-F238E27FC236}">
                <a16:creationId xmlns:a16="http://schemas.microsoft.com/office/drawing/2014/main" id="{4830161A-BD35-2940-8069-582A45ACC441}"/>
              </a:ext>
            </a:extLst>
          </p:cNvPr>
          <p:cNvCxnSpPr/>
          <p:nvPr/>
        </p:nvCxnSpPr>
        <p:spPr>
          <a:xfrm>
            <a:off x="8572492" y="32342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36C9BC6-EEBF-484F-B51A-0E92639A43C1}"/>
              </a:ext>
            </a:extLst>
          </p:cNvPr>
          <p:cNvSpPr/>
          <p:nvPr/>
        </p:nvSpPr>
        <p:spPr>
          <a:xfrm>
            <a:off x="8119527" y="36745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21" name="Straight Arrow Connector 20">
            <a:extLst>
              <a:ext uri="{FF2B5EF4-FFF2-40B4-BE49-F238E27FC236}">
                <a16:creationId xmlns:a16="http://schemas.microsoft.com/office/drawing/2014/main" id="{AC7F85E8-A6CE-C94D-BFCE-0D6F20AAA8D7}"/>
              </a:ext>
            </a:extLst>
          </p:cNvPr>
          <p:cNvCxnSpPr/>
          <p:nvPr/>
        </p:nvCxnSpPr>
        <p:spPr>
          <a:xfrm>
            <a:off x="3327399" y="44450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CCD4676-410F-C649-96DD-0DF2A87D3742}"/>
              </a:ext>
            </a:extLst>
          </p:cNvPr>
          <p:cNvSpPr/>
          <p:nvPr/>
        </p:nvSpPr>
        <p:spPr>
          <a:xfrm>
            <a:off x="2874434" y="49028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3" name="Straight Arrow Connector 22">
            <a:extLst>
              <a:ext uri="{FF2B5EF4-FFF2-40B4-BE49-F238E27FC236}">
                <a16:creationId xmlns:a16="http://schemas.microsoft.com/office/drawing/2014/main" id="{0F8D036E-875B-C84C-A4AE-E018165D85AF}"/>
              </a:ext>
            </a:extLst>
          </p:cNvPr>
          <p:cNvCxnSpPr/>
          <p:nvPr/>
        </p:nvCxnSpPr>
        <p:spPr>
          <a:xfrm>
            <a:off x="4563532" y="44450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968847B-A061-8140-9D1D-0F49735F68A0}"/>
              </a:ext>
            </a:extLst>
          </p:cNvPr>
          <p:cNvSpPr/>
          <p:nvPr/>
        </p:nvSpPr>
        <p:spPr>
          <a:xfrm>
            <a:off x="4110567" y="49028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5" name="Straight Arrow Connector 24">
            <a:extLst>
              <a:ext uri="{FF2B5EF4-FFF2-40B4-BE49-F238E27FC236}">
                <a16:creationId xmlns:a16="http://schemas.microsoft.com/office/drawing/2014/main" id="{12564B4F-CA91-2546-AB5B-81BD6F0B5DC9}"/>
              </a:ext>
            </a:extLst>
          </p:cNvPr>
          <p:cNvCxnSpPr/>
          <p:nvPr/>
        </p:nvCxnSpPr>
        <p:spPr>
          <a:xfrm>
            <a:off x="5799664" y="44450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1C800D7-F785-0E41-956D-8D3AFD0A562E}"/>
              </a:ext>
            </a:extLst>
          </p:cNvPr>
          <p:cNvSpPr/>
          <p:nvPr/>
        </p:nvSpPr>
        <p:spPr>
          <a:xfrm>
            <a:off x="5346699" y="49028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7" name="Straight Arrow Connector 26">
            <a:extLst>
              <a:ext uri="{FF2B5EF4-FFF2-40B4-BE49-F238E27FC236}">
                <a16:creationId xmlns:a16="http://schemas.microsoft.com/office/drawing/2014/main" id="{96C6C4D4-CDDE-844C-B550-C9D3BF0B7210}"/>
              </a:ext>
            </a:extLst>
          </p:cNvPr>
          <p:cNvCxnSpPr/>
          <p:nvPr/>
        </p:nvCxnSpPr>
        <p:spPr>
          <a:xfrm>
            <a:off x="7207247" y="4445679"/>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3A82C8F-0A6B-4D41-8EFD-2B8573524BD7}"/>
              </a:ext>
            </a:extLst>
          </p:cNvPr>
          <p:cNvSpPr/>
          <p:nvPr/>
        </p:nvSpPr>
        <p:spPr>
          <a:xfrm>
            <a:off x="6754282" y="4903551"/>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9" name="Straight Arrow Connector 28">
            <a:extLst>
              <a:ext uri="{FF2B5EF4-FFF2-40B4-BE49-F238E27FC236}">
                <a16:creationId xmlns:a16="http://schemas.microsoft.com/office/drawing/2014/main" id="{3C1EC9CF-CD06-5048-ABF6-ABC105A2B3D0}"/>
              </a:ext>
            </a:extLst>
          </p:cNvPr>
          <p:cNvCxnSpPr/>
          <p:nvPr/>
        </p:nvCxnSpPr>
        <p:spPr>
          <a:xfrm>
            <a:off x="8564023" y="445953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71383F9A-7B75-5A43-AA28-6FA3234F851B}"/>
              </a:ext>
            </a:extLst>
          </p:cNvPr>
          <p:cNvSpPr/>
          <p:nvPr/>
        </p:nvSpPr>
        <p:spPr>
          <a:xfrm>
            <a:off x="8111058" y="491740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sp>
        <p:nvSpPr>
          <p:cNvPr id="31" name="Alternate Process 30">
            <a:extLst>
              <a:ext uri="{FF2B5EF4-FFF2-40B4-BE49-F238E27FC236}">
                <a16:creationId xmlns:a16="http://schemas.microsoft.com/office/drawing/2014/main" id="{D370CA9E-5551-BC41-A8BA-82786E61C0A3}"/>
              </a:ext>
            </a:extLst>
          </p:cNvPr>
          <p:cNvSpPr/>
          <p:nvPr/>
        </p:nvSpPr>
        <p:spPr>
          <a:xfrm>
            <a:off x="4656664" y="5612013"/>
            <a:ext cx="2489201" cy="508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Combiner</a:t>
            </a:r>
          </a:p>
        </p:txBody>
      </p:sp>
      <p:cxnSp>
        <p:nvCxnSpPr>
          <p:cNvPr id="32" name="Straight Arrow Connector 31">
            <a:extLst>
              <a:ext uri="{FF2B5EF4-FFF2-40B4-BE49-F238E27FC236}">
                <a16:creationId xmlns:a16="http://schemas.microsoft.com/office/drawing/2014/main" id="{6C510A89-800B-BE48-8C5D-DCD01A23781B}"/>
              </a:ext>
            </a:extLst>
          </p:cNvPr>
          <p:cNvCxnSpPr>
            <a:cxnSpLocks/>
          </p:cNvCxnSpPr>
          <p:nvPr/>
        </p:nvCxnSpPr>
        <p:spPr>
          <a:xfrm>
            <a:off x="3327398" y="5266944"/>
            <a:ext cx="1689098" cy="345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FE7A30-DBB4-C549-9D0E-F790FD3E68CD}"/>
              </a:ext>
            </a:extLst>
          </p:cNvPr>
          <p:cNvCxnSpPr>
            <a:cxnSpLocks/>
            <a:stCxn id="24" idx="2"/>
          </p:cNvCxnSpPr>
          <p:nvPr/>
        </p:nvCxnSpPr>
        <p:spPr>
          <a:xfrm>
            <a:off x="4555067" y="5266944"/>
            <a:ext cx="808561"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F6F4986-B1E1-B645-B0C3-B8A26FF4BA13}"/>
              </a:ext>
            </a:extLst>
          </p:cNvPr>
          <p:cNvCxnSpPr>
            <a:cxnSpLocks/>
          </p:cNvCxnSpPr>
          <p:nvPr/>
        </p:nvCxnSpPr>
        <p:spPr>
          <a:xfrm flipH="1">
            <a:off x="5761570" y="5250809"/>
            <a:ext cx="4230" cy="404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8FF7819-8E2F-9540-ABFE-213969E9EF71}"/>
              </a:ext>
            </a:extLst>
          </p:cNvPr>
          <p:cNvCxnSpPr>
            <a:cxnSpLocks/>
            <a:stCxn id="28" idx="2"/>
            <a:endCxn id="31" idx="0"/>
          </p:cNvCxnSpPr>
          <p:nvPr/>
        </p:nvCxnSpPr>
        <p:spPr>
          <a:xfrm flipH="1">
            <a:off x="5901265" y="5267618"/>
            <a:ext cx="1297517"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4439728-FBA7-1E46-83A5-9B39669E3F01}"/>
              </a:ext>
            </a:extLst>
          </p:cNvPr>
          <p:cNvCxnSpPr>
            <a:cxnSpLocks/>
            <a:stCxn id="30" idx="2"/>
          </p:cNvCxnSpPr>
          <p:nvPr/>
        </p:nvCxnSpPr>
        <p:spPr>
          <a:xfrm flipH="1">
            <a:off x="6468534" y="5281474"/>
            <a:ext cx="2087024" cy="329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923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96333" y="136525"/>
            <a:ext cx="4402673" cy="5734344"/>
          </a:xfrm>
        </p:spPr>
        <p:txBody>
          <a:bodyPr>
            <a:normAutofit fontScale="85000" lnSpcReduction="10000"/>
          </a:bodyPr>
          <a:lstStyle/>
          <a:p>
            <a:pPr algn="ctr">
              <a:lnSpc>
                <a:spcPct val="170000"/>
              </a:lnSpc>
            </a:pPr>
            <a:r>
              <a:rPr lang="en-US" sz="3200" b="1" dirty="0"/>
              <a:t>MapReduce Architecture</a:t>
            </a:r>
          </a:p>
          <a:p>
            <a:pPr>
              <a:lnSpc>
                <a:spcPct val="150000"/>
              </a:lnSpc>
            </a:pPr>
            <a:r>
              <a:rPr lang="en-US" sz="2400" b="1" dirty="0"/>
              <a:t>Shuffle and Sort</a:t>
            </a:r>
            <a:r>
              <a:rPr lang="en-US" sz="2400" dirty="0"/>
              <a:t> − The Reducer task starts with the Shuffle and Sort step. It downloads the grouped key-value pairs onto the local machine, where the Reducer is running. </a:t>
            </a:r>
          </a:p>
          <a:p>
            <a:pPr>
              <a:lnSpc>
                <a:spcPct val="150000"/>
              </a:lnSpc>
            </a:pPr>
            <a:r>
              <a:rPr lang="en-US" sz="2400" dirty="0"/>
              <a:t>The individual key-value pairs are sorted by key into a larger data list. The data list groups the equivalent keys together so that their values can be iterated easily in the Reducer task.</a:t>
            </a:r>
          </a:p>
          <a:p>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a:xfrm>
            <a:off x="4123267" y="6356350"/>
            <a:ext cx="4114800" cy="365125"/>
          </a:xfrm>
        </p:spPr>
        <p:txBody>
          <a:bodyPr/>
          <a:lstStyle/>
          <a:p>
            <a:r>
              <a:rPr lang="en-US"/>
              <a:t>Or Peretz</a:t>
            </a:r>
            <a:endParaRPr lang="en-IL"/>
          </a:p>
        </p:txBody>
      </p:sp>
      <p:sp>
        <p:nvSpPr>
          <p:cNvPr id="6" name="Rounded Rectangle 5">
            <a:extLst>
              <a:ext uri="{FF2B5EF4-FFF2-40B4-BE49-F238E27FC236}">
                <a16:creationId xmlns:a16="http://schemas.microsoft.com/office/drawing/2014/main" id="{CDD13228-D798-A543-9CF3-83A10A6F83A8}"/>
              </a:ext>
            </a:extLst>
          </p:cNvPr>
          <p:cNvSpPr/>
          <p:nvPr/>
        </p:nvSpPr>
        <p:spPr>
          <a:xfrm>
            <a:off x="5249338" y="1193807"/>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7" name="Rounded Rectangle 6">
            <a:extLst>
              <a:ext uri="{FF2B5EF4-FFF2-40B4-BE49-F238E27FC236}">
                <a16:creationId xmlns:a16="http://schemas.microsoft.com/office/drawing/2014/main" id="{264630C5-F7F6-644E-A3A3-6C5BE2751DA9}"/>
              </a:ext>
            </a:extLst>
          </p:cNvPr>
          <p:cNvSpPr/>
          <p:nvPr/>
        </p:nvSpPr>
        <p:spPr>
          <a:xfrm>
            <a:off x="6510871" y="1193806"/>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8" name="Rounded Rectangle 7">
            <a:extLst>
              <a:ext uri="{FF2B5EF4-FFF2-40B4-BE49-F238E27FC236}">
                <a16:creationId xmlns:a16="http://schemas.microsoft.com/office/drawing/2014/main" id="{9ABFA56E-6EF8-8046-B5E4-CA1FB2E395A6}"/>
              </a:ext>
            </a:extLst>
          </p:cNvPr>
          <p:cNvSpPr/>
          <p:nvPr/>
        </p:nvSpPr>
        <p:spPr>
          <a:xfrm>
            <a:off x="7772404" y="11938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9" name="Rounded Rectangle 8">
            <a:extLst>
              <a:ext uri="{FF2B5EF4-FFF2-40B4-BE49-F238E27FC236}">
                <a16:creationId xmlns:a16="http://schemas.microsoft.com/office/drawing/2014/main" id="{5A37C5B1-41B1-814D-9968-562351759BC4}"/>
              </a:ext>
            </a:extLst>
          </p:cNvPr>
          <p:cNvSpPr/>
          <p:nvPr/>
        </p:nvSpPr>
        <p:spPr>
          <a:xfrm>
            <a:off x="9067804" y="11938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10" name="Rounded Rectangle 9">
            <a:extLst>
              <a:ext uri="{FF2B5EF4-FFF2-40B4-BE49-F238E27FC236}">
                <a16:creationId xmlns:a16="http://schemas.microsoft.com/office/drawing/2014/main" id="{F83D2799-5FAD-704B-ADB5-56D01C7DB85F}"/>
              </a:ext>
            </a:extLst>
          </p:cNvPr>
          <p:cNvSpPr/>
          <p:nvPr/>
        </p:nvSpPr>
        <p:spPr>
          <a:xfrm>
            <a:off x="10422470" y="11938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cxnSp>
        <p:nvCxnSpPr>
          <p:cNvPr id="11" name="Straight Arrow Connector 10">
            <a:extLst>
              <a:ext uri="{FF2B5EF4-FFF2-40B4-BE49-F238E27FC236}">
                <a16:creationId xmlns:a16="http://schemas.microsoft.com/office/drawing/2014/main" id="{EFD7DBEC-8DCC-B445-BA8A-08C4D9AE8B69}"/>
              </a:ext>
            </a:extLst>
          </p:cNvPr>
          <p:cNvCxnSpPr/>
          <p:nvPr/>
        </p:nvCxnSpPr>
        <p:spPr>
          <a:xfrm>
            <a:off x="5816604" y="16594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C502997-222F-EC4F-8345-8BFABC85A89E}"/>
              </a:ext>
            </a:extLst>
          </p:cNvPr>
          <p:cNvSpPr/>
          <p:nvPr/>
        </p:nvSpPr>
        <p:spPr>
          <a:xfrm>
            <a:off x="5363639" y="20997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3" name="Straight Arrow Connector 12">
            <a:extLst>
              <a:ext uri="{FF2B5EF4-FFF2-40B4-BE49-F238E27FC236}">
                <a16:creationId xmlns:a16="http://schemas.microsoft.com/office/drawing/2014/main" id="{E1398C68-0BE3-C541-B49C-AB26A5F1BA29}"/>
              </a:ext>
            </a:extLst>
          </p:cNvPr>
          <p:cNvCxnSpPr/>
          <p:nvPr/>
        </p:nvCxnSpPr>
        <p:spPr>
          <a:xfrm>
            <a:off x="7052737" y="16594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A85AFA8-2BD4-2C43-B0A8-FF3D11B9AAB1}"/>
              </a:ext>
            </a:extLst>
          </p:cNvPr>
          <p:cNvSpPr/>
          <p:nvPr/>
        </p:nvSpPr>
        <p:spPr>
          <a:xfrm>
            <a:off x="6599772" y="20997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5" name="Straight Arrow Connector 14">
            <a:extLst>
              <a:ext uri="{FF2B5EF4-FFF2-40B4-BE49-F238E27FC236}">
                <a16:creationId xmlns:a16="http://schemas.microsoft.com/office/drawing/2014/main" id="{AB82AAC2-459F-594D-8047-9B31C2DAA613}"/>
              </a:ext>
            </a:extLst>
          </p:cNvPr>
          <p:cNvCxnSpPr/>
          <p:nvPr/>
        </p:nvCxnSpPr>
        <p:spPr>
          <a:xfrm>
            <a:off x="8310039" y="16594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D8879A-972D-6240-BCB9-E4894468C637}"/>
              </a:ext>
            </a:extLst>
          </p:cNvPr>
          <p:cNvSpPr/>
          <p:nvPr/>
        </p:nvSpPr>
        <p:spPr>
          <a:xfrm>
            <a:off x="7857074" y="20997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7" name="Straight Arrow Connector 16">
            <a:extLst>
              <a:ext uri="{FF2B5EF4-FFF2-40B4-BE49-F238E27FC236}">
                <a16:creationId xmlns:a16="http://schemas.microsoft.com/office/drawing/2014/main" id="{80401179-7AEC-8141-8D23-60F060DA6DC8}"/>
              </a:ext>
            </a:extLst>
          </p:cNvPr>
          <p:cNvCxnSpPr/>
          <p:nvPr/>
        </p:nvCxnSpPr>
        <p:spPr>
          <a:xfrm>
            <a:off x="9687987" y="16594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5EA08D9-672F-9F47-B02D-DA93ECE026FD}"/>
              </a:ext>
            </a:extLst>
          </p:cNvPr>
          <p:cNvSpPr/>
          <p:nvPr/>
        </p:nvSpPr>
        <p:spPr>
          <a:xfrm>
            <a:off x="9235022" y="20997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9" name="Straight Arrow Connector 18">
            <a:extLst>
              <a:ext uri="{FF2B5EF4-FFF2-40B4-BE49-F238E27FC236}">
                <a16:creationId xmlns:a16="http://schemas.microsoft.com/office/drawing/2014/main" id="{4830161A-BD35-2940-8069-582A45ACC441}"/>
              </a:ext>
            </a:extLst>
          </p:cNvPr>
          <p:cNvCxnSpPr/>
          <p:nvPr/>
        </p:nvCxnSpPr>
        <p:spPr>
          <a:xfrm>
            <a:off x="11044763" y="1659472"/>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36C9BC6-EEBF-484F-B51A-0E92639A43C1}"/>
              </a:ext>
            </a:extLst>
          </p:cNvPr>
          <p:cNvSpPr/>
          <p:nvPr/>
        </p:nvSpPr>
        <p:spPr>
          <a:xfrm>
            <a:off x="10591798" y="2099741"/>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21" name="Straight Arrow Connector 20">
            <a:extLst>
              <a:ext uri="{FF2B5EF4-FFF2-40B4-BE49-F238E27FC236}">
                <a16:creationId xmlns:a16="http://schemas.microsoft.com/office/drawing/2014/main" id="{AC7F85E8-A6CE-C94D-BFCE-0D6F20AAA8D7}"/>
              </a:ext>
            </a:extLst>
          </p:cNvPr>
          <p:cNvCxnSpPr/>
          <p:nvPr/>
        </p:nvCxnSpPr>
        <p:spPr>
          <a:xfrm>
            <a:off x="5799670" y="28702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CCD4676-410F-C649-96DD-0DF2A87D3742}"/>
              </a:ext>
            </a:extLst>
          </p:cNvPr>
          <p:cNvSpPr/>
          <p:nvPr/>
        </p:nvSpPr>
        <p:spPr>
          <a:xfrm>
            <a:off x="5346705" y="33280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3" name="Straight Arrow Connector 22">
            <a:extLst>
              <a:ext uri="{FF2B5EF4-FFF2-40B4-BE49-F238E27FC236}">
                <a16:creationId xmlns:a16="http://schemas.microsoft.com/office/drawing/2014/main" id="{0F8D036E-875B-C84C-A4AE-E018165D85AF}"/>
              </a:ext>
            </a:extLst>
          </p:cNvPr>
          <p:cNvCxnSpPr/>
          <p:nvPr/>
        </p:nvCxnSpPr>
        <p:spPr>
          <a:xfrm>
            <a:off x="7035803" y="28702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968847B-A061-8140-9D1D-0F49735F68A0}"/>
              </a:ext>
            </a:extLst>
          </p:cNvPr>
          <p:cNvSpPr/>
          <p:nvPr/>
        </p:nvSpPr>
        <p:spPr>
          <a:xfrm>
            <a:off x="6582838" y="33280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5" name="Straight Arrow Connector 24">
            <a:extLst>
              <a:ext uri="{FF2B5EF4-FFF2-40B4-BE49-F238E27FC236}">
                <a16:creationId xmlns:a16="http://schemas.microsoft.com/office/drawing/2014/main" id="{12564B4F-CA91-2546-AB5B-81BD6F0B5DC9}"/>
              </a:ext>
            </a:extLst>
          </p:cNvPr>
          <p:cNvCxnSpPr/>
          <p:nvPr/>
        </p:nvCxnSpPr>
        <p:spPr>
          <a:xfrm>
            <a:off x="8271935" y="28702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1C800D7-F785-0E41-956D-8D3AFD0A562E}"/>
              </a:ext>
            </a:extLst>
          </p:cNvPr>
          <p:cNvSpPr/>
          <p:nvPr/>
        </p:nvSpPr>
        <p:spPr>
          <a:xfrm>
            <a:off x="7818970" y="332807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7" name="Straight Arrow Connector 26">
            <a:extLst>
              <a:ext uri="{FF2B5EF4-FFF2-40B4-BE49-F238E27FC236}">
                <a16:creationId xmlns:a16="http://schemas.microsoft.com/office/drawing/2014/main" id="{96C6C4D4-CDDE-844C-B550-C9D3BF0B7210}"/>
              </a:ext>
            </a:extLst>
          </p:cNvPr>
          <p:cNvCxnSpPr/>
          <p:nvPr/>
        </p:nvCxnSpPr>
        <p:spPr>
          <a:xfrm>
            <a:off x="9679518" y="2870879"/>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3A82C8F-0A6B-4D41-8EFD-2B8573524BD7}"/>
              </a:ext>
            </a:extLst>
          </p:cNvPr>
          <p:cNvSpPr/>
          <p:nvPr/>
        </p:nvSpPr>
        <p:spPr>
          <a:xfrm>
            <a:off x="9226553" y="3328751"/>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9" name="Straight Arrow Connector 28">
            <a:extLst>
              <a:ext uri="{FF2B5EF4-FFF2-40B4-BE49-F238E27FC236}">
                <a16:creationId xmlns:a16="http://schemas.microsoft.com/office/drawing/2014/main" id="{3C1EC9CF-CD06-5048-ABF6-ABC105A2B3D0}"/>
              </a:ext>
            </a:extLst>
          </p:cNvPr>
          <p:cNvCxnSpPr/>
          <p:nvPr/>
        </p:nvCxnSpPr>
        <p:spPr>
          <a:xfrm>
            <a:off x="11036294" y="288473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71383F9A-7B75-5A43-AA28-6FA3234F851B}"/>
              </a:ext>
            </a:extLst>
          </p:cNvPr>
          <p:cNvSpPr/>
          <p:nvPr/>
        </p:nvSpPr>
        <p:spPr>
          <a:xfrm>
            <a:off x="10583329" y="3342607"/>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sp>
        <p:nvSpPr>
          <p:cNvPr id="31" name="Alternate Process 30">
            <a:extLst>
              <a:ext uri="{FF2B5EF4-FFF2-40B4-BE49-F238E27FC236}">
                <a16:creationId xmlns:a16="http://schemas.microsoft.com/office/drawing/2014/main" id="{D370CA9E-5551-BC41-A8BA-82786E61C0A3}"/>
              </a:ext>
            </a:extLst>
          </p:cNvPr>
          <p:cNvSpPr/>
          <p:nvPr/>
        </p:nvSpPr>
        <p:spPr>
          <a:xfrm>
            <a:off x="7128935" y="4037213"/>
            <a:ext cx="2489201" cy="508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Combiner</a:t>
            </a:r>
          </a:p>
        </p:txBody>
      </p:sp>
      <p:cxnSp>
        <p:nvCxnSpPr>
          <p:cNvPr id="32" name="Straight Arrow Connector 31">
            <a:extLst>
              <a:ext uri="{FF2B5EF4-FFF2-40B4-BE49-F238E27FC236}">
                <a16:creationId xmlns:a16="http://schemas.microsoft.com/office/drawing/2014/main" id="{6C510A89-800B-BE48-8C5D-DCD01A23781B}"/>
              </a:ext>
            </a:extLst>
          </p:cNvPr>
          <p:cNvCxnSpPr>
            <a:cxnSpLocks/>
          </p:cNvCxnSpPr>
          <p:nvPr/>
        </p:nvCxnSpPr>
        <p:spPr>
          <a:xfrm>
            <a:off x="5799669" y="3692144"/>
            <a:ext cx="1689098" cy="345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FE7A30-DBB4-C549-9D0E-F790FD3E68CD}"/>
              </a:ext>
            </a:extLst>
          </p:cNvPr>
          <p:cNvCxnSpPr>
            <a:cxnSpLocks/>
            <a:stCxn id="24" idx="2"/>
          </p:cNvCxnSpPr>
          <p:nvPr/>
        </p:nvCxnSpPr>
        <p:spPr>
          <a:xfrm>
            <a:off x="7027338" y="3692144"/>
            <a:ext cx="808561"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F6F4986-B1E1-B645-B0C3-B8A26FF4BA13}"/>
              </a:ext>
            </a:extLst>
          </p:cNvPr>
          <p:cNvCxnSpPr>
            <a:cxnSpLocks/>
          </p:cNvCxnSpPr>
          <p:nvPr/>
        </p:nvCxnSpPr>
        <p:spPr>
          <a:xfrm flipH="1">
            <a:off x="8233841" y="3676009"/>
            <a:ext cx="4230" cy="404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8FF7819-8E2F-9540-ABFE-213969E9EF71}"/>
              </a:ext>
            </a:extLst>
          </p:cNvPr>
          <p:cNvCxnSpPr>
            <a:cxnSpLocks/>
            <a:stCxn id="28" idx="2"/>
            <a:endCxn id="31" idx="0"/>
          </p:cNvCxnSpPr>
          <p:nvPr/>
        </p:nvCxnSpPr>
        <p:spPr>
          <a:xfrm flipH="1">
            <a:off x="8373536" y="3692818"/>
            <a:ext cx="1297517"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4439728-FBA7-1E46-83A5-9B39669E3F01}"/>
              </a:ext>
            </a:extLst>
          </p:cNvPr>
          <p:cNvCxnSpPr>
            <a:cxnSpLocks/>
            <a:stCxn id="30" idx="2"/>
          </p:cNvCxnSpPr>
          <p:nvPr/>
        </p:nvCxnSpPr>
        <p:spPr>
          <a:xfrm flipH="1">
            <a:off x="8940805" y="3706674"/>
            <a:ext cx="2087024" cy="329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517BBBE-20C1-A34F-A223-D91847F58EA3}"/>
              </a:ext>
            </a:extLst>
          </p:cNvPr>
          <p:cNvSpPr/>
          <p:nvPr/>
        </p:nvSpPr>
        <p:spPr>
          <a:xfrm>
            <a:off x="6108708" y="4797043"/>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8" name="Rectangle 37">
            <a:extLst>
              <a:ext uri="{FF2B5EF4-FFF2-40B4-BE49-F238E27FC236}">
                <a16:creationId xmlns:a16="http://schemas.microsoft.com/office/drawing/2014/main" id="{7AA83EA7-20F7-BD4B-A915-BB4D7CE0FDB1}"/>
              </a:ext>
            </a:extLst>
          </p:cNvPr>
          <p:cNvSpPr/>
          <p:nvPr/>
        </p:nvSpPr>
        <p:spPr>
          <a:xfrm>
            <a:off x="7344841" y="4797043"/>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9" name="Rectangle 38">
            <a:extLst>
              <a:ext uri="{FF2B5EF4-FFF2-40B4-BE49-F238E27FC236}">
                <a16:creationId xmlns:a16="http://schemas.microsoft.com/office/drawing/2014/main" id="{92D336FC-F1D1-D94C-BE04-4C00044D349F}"/>
              </a:ext>
            </a:extLst>
          </p:cNvPr>
          <p:cNvSpPr/>
          <p:nvPr/>
        </p:nvSpPr>
        <p:spPr>
          <a:xfrm>
            <a:off x="8580973" y="4797043"/>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40" name="Rectangle 39">
            <a:extLst>
              <a:ext uri="{FF2B5EF4-FFF2-40B4-BE49-F238E27FC236}">
                <a16:creationId xmlns:a16="http://schemas.microsoft.com/office/drawing/2014/main" id="{C11AAD5D-9725-9D48-805F-795C839CCAF8}"/>
              </a:ext>
            </a:extLst>
          </p:cNvPr>
          <p:cNvSpPr/>
          <p:nvPr/>
        </p:nvSpPr>
        <p:spPr>
          <a:xfrm>
            <a:off x="9988556" y="4797717"/>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Tree>
    <p:extLst>
      <p:ext uri="{BB962C8B-B14F-4D97-AF65-F5344CB8AC3E}">
        <p14:creationId xmlns:p14="http://schemas.microsoft.com/office/powerpoint/2010/main" val="3462987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160861" y="136525"/>
            <a:ext cx="4402673" cy="5734344"/>
          </a:xfrm>
        </p:spPr>
        <p:txBody>
          <a:bodyPr>
            <a:normAutofit fontScale="92500" lnSpcReduction="10000"/>
          </a:bodyPr>
          <a:lstStyle/>
          <a:p>
            <a:pPr algn="ctr">
              <a:lnSpc>
                <a:spcPct val="160000"/>
              </a:lnSpc>
            </a:pPr>
            <a:r>
              <a:rPr lang="en-US" sz="3200" b="1" dirty="0"/>
              <a:t>MapReduce Architecture</a:t>
            </a:r>
          </a:p>
          <a:p>
            <a:pPr>
              <a:lnSpc>
                <a:spcPct val="150000"/>
              </a:lnSpc>
            </a:pPr>
            <a:r>
              <a:rPr lang="en-US" sz="2400" b="1" dirty="0"/>
              <a:t>Reducer</a:t>
            </a:r>
            <a:r>
              <a:rPr lang="en-US" sz="2400" dirty="0"/>
              <a:t> − The Reducer takes the grouped key-value paired data as input and runs a Reducer function on each one of them. Here, the data can be aggregated, filtered, and combined in a number of ways, and it requires a wide range of processing. Once the execution is over, it gives zero or more key-value pairs to the final step.</a:t>
            </a:r>
          </a:p>
          <a:p>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a:xfrm>
            <a:off x="4123267" y="6356350"/>
            <a:ext cx="4114800" cy="365125"/>
          </a:xfrm>
        </p:spPr>
        <p:txBody>
          <a:bodyPr/>
          <a:lstStyle/>
          <a:p>
            <a:r>
              <a:rPr lang="en-US"/>
              <a:t>Or Peretz</a:t>
            </a:r>
            <a:endParaRPr lang="en-IL"/>
          </a:p>
        </p:txBody>
      </p:sp>
      <p:sp>
        <p:nvSpPr>
          <p:cNvPr id="6" name="Rounded Rectangle 5">
            <a:extLst>
              <a:ext uri="{FF2B5EF4-FFF2-40B4-BE49-F238E27FC236}">
                <a16:creationId xmlns:a16="http://schemas.microsoft.com/office/drawing/2014/main" id="{CDD13228-D798-A543-9CF3-83A10A6F83A8}"/>
              </a:ext>
            </a:extLst>
          </p:cNvPr>
          <p:cNvSpPr/>
          <p:nvPr/>
        </p:nvSpPr>
        <p:spPr>
          <a:xfrm>
            <a:off x="5249338" y="533406"/>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7" name="Rounded Rectangle 6">
            <a:extLst>
              <a:ext uri="{FF2B5EF4-FFF2-40B4-BE49-F238E27FC236}">
                <a16:creationId xmlns:a16="http://schemas.microsoft.com/office/drawing/2014/main" id="{264630C5-F7F6-644E-A3A3-6C5BE2751DA9}"/>
              </a:ext>
            </a:extLst>
          </p:cNvPr>
          <p:cNvSpPr/>
          <p:nvPr/>
        </p:nvSpPr>
        <p:spPr>
          <a:xfrm>
            <a:off x="6510871" y="5334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8" name="Rounded Rectangle 7">
            <a:extLst>
              <a:ext uri="{FF2B5EF4-FFF2-40B4-BE49-F238E27FC236}">
                <a16:creationId xmlns:a16="http://schemas.microsoft.com/office/drawing/2014/main" id="{9ABFA56E-6EF8-8046-B5E4-CA1FB2E395A6}"/>
              </a:ext>
            </a:extLst>
          </p:cNvPr>
          <p:cNvSpPr/>
          <p:nvPr/>
        </p:nvSpPr>
        <p:spPr>
          <a:xfrm>
            <a:off x="7772404"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9" name="Rounded Rectangle 8">
            <a:extLst>
              <a:ext uri="{FF2B5EF4-FFF2-40B4-BE49-F238E27FC236}">
                <a16:creationId xmlns:a16="http://schemas.microsoft.com/office/drawing/2014/main" id="{5A37C5B1-41B1-814D-9968-562351759BC4}"/>
              </a:ext>
            </a:extLst>
          </p:cNvPr>
          <p:cNvSpPr/>
          <p:nvPr/>
        </p:nvSpPr>
        <p:spPr>
          <a:xfrm>
            <a:off x="9067804"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10" name="Rounded Rectangle 9">
            <a:extLst>
              <a:ext uri="{FF2B5EF4-FFF2-40B4-BE49-F238E27FC236}">
                <a16:creationId xmlns:a16="http://schemas.microsoft.com/office/drawing/2014/main" id="{F83D2799-5FAD-704B-ADB5-56D01C7DB85F}"/>
              </a:ext>
            </a:extLst>
          </p:cNvPr>
          <p:cNvSpPr/>
          <p:nvPr/>
        </p:nvSpPr>
        <p:spPr>
          <a:xfrm>
            <a:off x="10422470"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cxnSp>
        <p:nvCxnSpPr>
          <p:cNvPr id="11" name="Straight Arrow Connector 10">
            <a:extLst>
              <a:ext uri="{FF2B5EF4-FFF2-40B4-BE49-F238E27FC236}">
                <a16:creationId xmlns:a16="http://schemas.microsoft.com/office/drawing/2014/main" id="{EFD7DBEC-8DCC-B445-BA8A-08C4D9AE8B69}"/>
              </a:ext>
            </a:extLst>
          </p:cNvPr>
          <p:cNvCxnSpPr/>
          <p:nvPr/>
        </p:nvCxnSpPr>
        <p:spPr>
          <a:xfrm>
            <a:off x="5816604"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C502997-222F-EC4F-8345-8BFABC85A89E}"/>
              </a:ext>
            </a:extLst>
          </p:cNvPr>
          <p:cNvSpPr/>
          <p:nvPr/>
        </p:nvSpPr>
        <p:spPr>
          <a:xfrm>
            <a:off x="5363639"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3" name="Straight Arrow Connector 12">
            <a:extLst>
              <a:ext uri="{FF2B5EF4-FFF2-40B4-BE49-F238E27FC236}">
                <a16:creationId xmlns:a16="http://schemas.microsoft.com/office/drawing/2014/main" id="{E1398C68-0BE3-C541-B49C-AB26A5F1BA29}"/>
              </a:ext>
            </a:extLst>
          </p:cNvPr>
          <p:cNvCxnSpPr/>
          <p:nvPr/>
        </p:nvCxnSpPr>
        <p:spPr>
          <a:xfrm>
            <a:off x="7052737"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A85AFA8-2BD4-2C43-B0A8-FF3D11B9AAB1}"/>
              </a:ext>
            </a:extLst>
          </p:cNvPr>
          <p:cNvSpPr/>
          <p:nvPr/>
        </p:nvSpPr>
        <p:spPr>
          <a:xfrm>
            <a:off x="6599772"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5" name="Straight Arrow Connector 14">
            <a:extLst>
              <a:ext uri="{FF2B5EF4-FFF2-40B4-BE49-F238E27FC236}">
                <a16:creationId xmlns:a16="http://schemas.microsoft.com/office/drawing/2014/main" id="{AB82AAC2-459F-594D-8047-9B31C2DAA613}"/>
              </a:ext>
            </a:extLst>
          </p:cNvPr>
          <p:cNvCxnSpPr/>
          <p:nvPr/>
        </p:nvCxnSpPr>
        <p:spPr>
          <a:xfrm>
            <a:off x="8310039"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D8879A-972D-6240-BCB9-E4894468C637}"/>
              </a:ext>
            </a:extLst>
          </p:cNvPr>
          <p:cNvSpPr/>
          <p:nvPr/>
        </p:nvSpPr>
        <p:spPr>
          <a:xfrm>
            <a:off x="7857074"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7" name="Straight Arrow Connector 16">
            <a:extLst>
              <a:ext uri="{FF2B5EF4-FFF2-40B4-BE49-F238E27FC236}">
                <a16:creationId xmlns:a16="http://schemas.microsoft.com/office/drawing/2014/main" id="{80401179-7AEC-8141-8D23-60F060DA6DC8}"/>
              </a:ext>
            </a:extLst>
          </p:cNvPr>
          <p:cNvCxnSpPr/>
          <p:nvPr/>
        </p:nvCxnSpPr>
        <p:spPr>
          <a:xfrm>
            <a:off x="9687987"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5EA08D9-672F-9F47-B02D-DA93ECE026FD}"/>
              </a:ext>
            </a:extLst>
          </p:cNvPr>
          <p:cNvSpPr/>
          <p:nvPr/>
        </p:nvSpPr>
        <p:spPr>
          <a:xfrm>
            <a:off x="9235022"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9" name="Straight Arrow Connector 18">
            <a:extLst>
              <a:ext uri="{FF2B5EF4-FFF2-40B4-BE49-F238E27FC236}">
                <a16:creationId xmlns:a16="http://schemas.microsoft.com/office/drawing/2014/main" id="{4830161A-BD35-2940-8069-582A45ACC441}"/>
              </a:ext>
            </a:extLst>
          </p:cNvPr>
          <p:cNvCxnSpPr/>
          <p:nvPr/>
        </p:nvCxnSpPr>
        <p:spPr>
          <a:xfrm>
            <a:off x="11044763"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36C9BC6-EEBF-484F-B51A-0E92639A43C1}"/>
              </a:ext>
            </a:extLst>
          </p:cNvPr>
          <p:cNvSpPr/>
          <p:nvPr/>
        </p:nvSpPr>
        <p:spPr>
          <a:xfrm>
            <a:off x="10591798"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21" name="Straight Arrow Connector 20">
            <a:extLst>
              <a:ext uri="{FF2B5EF4-FFF2-40B4-BE49-F238E27FC236}">
                <a16:creationId xmlns:a16="http://schemas.microsoft.com/office/drawing/2014/main" id="{AC7F85E8-A6CE-C94D-BFCE-0D6F20AAA8D7}"/>
              </a:ext>
            </a:extLst>
          </p:cNvPr>
          <p:cNvCxnSpPr/>
          <p:nvPr/>
        </p:nvCxnSpPr>
        <p:spPr>
          <a:xfrm>
            <a:off x="5799670"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CCD4676-410F-C649-96DD-0DF2A87D3742}"/>
              </a:ext>
            </a:extLst>
          </p:cNvPr>
          <p:cNvSpPr/>
          <p:nvPr/>
        </p:nvSpPr>
        <p:spPr>
          <a:xfrm>
            <a:off x="5346705"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3" name="Straight Arrow Connector 22">
            <a:extLst>
              <a:ext uri="{FF2B5EF4-FFF2-40B4-BE49-F238E27FC236}">
                <a16:creationId xmlns:a16="http://schemas.microsoft.com/office/drawing/2014/main" id="{0F8D036E-875B-C84C-A4AE-E018165D85AF}"/>
              </a:ext>
            </a:extLst>
          </p:cNvPr>
          <p:cNvCxnSpPr/>
          <p:nvPr/>
        </p:nvCxnSpPr>
        <p:spPr>
          <a:xfrm>
            <a:off x="7035803"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968847B-A061-8140-9D1D-0F49735F68A0}"/>
              </a:ext>
            </a:extLst>
          </p:cNvPr>
          <p:cNvSpPr/>
          <p:nvPr/>
        </p:nvSpPr>
        <p:spPr>
          <a:xfrm>
            <a:off x="6582838"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5" name="Straight Arrow Connector 24">
            <a:extLst>
              <a:ext uri="{FF2B5EF4-FFF2-40B4-BE49-F238E27FC236}">
                <a16:creationId xmlns:a16="http://schemas.microsoft.com/office/drawing/2014/main" id="{12564B4F-CA91-2546-AB5B-81BD6F0B5DC9}"/>
              </a:ext>
            </a:extLst>
          </p:cNvPr>
          <p:cNvCxnSpPr/>
          <p:nvPr/>
        </p:nvCxnSpPr>
        <p:spPr>
          <a:xfrm>
            <a:off x="8271935"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1C800D7-F785-0E41-956D-8D3AFD0A562E}"/>
              </a:ext>
            </a:extLst>
          </p:cNvPr>
          <p:cNvSpPr/>
          <p:nvPr/>
        </p:nvSpPr>
        <p:spPr>
          <a:xfrm>
            <a:off x="7818970"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7" name="Straight Arrow Connector 26">
            <a:extLst>
              <a:ext uri="{FF2B5EF4-FFF2-40B4-BE49-F238E27FC236}">
                <a16:creationId xmlns:a16="http://schemas.microsoft.com/office/drawing/2014/main" id="{96C6C4D4-CDDE-844C-B550-C9D3BF0B7210}"/>
              </a:ext>
            </a:extLst>
          </p:cNvPr>
          <p:cNvCxnSpPr/>
          <p:nvPr/>
        </p:nvCxnSpPr>
        <p:spPr>
          <a:xfrm>
            <a:off x="9679518" y="2210478"/>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3A82C8F-0A6B-4D41-8EFD-2B8573524BD7}"/>
              </a:ext>
            </a:extLst>
          </p:cNvPr>
          <p:cNvSpPr/>
          <p:nvPr/>
        </p:nvSpPr>
        <p:spPr>
          <a:xfrm>
            <a:off x="9226553" y="2668350"/>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9" name="Straight Arrow Connector 28">
            <a:extLst>
              <a:ext uri="{FF2B5EF4-FFF2-40B4-BE49-F238E27FC236}">
                <a16:creationId xmlns:a16="http://schemas.microsoft.com/office/drawing/2014/main" id="{3C1EC9CF-CD06-5048-ABF6-ABC105A2B3D0}"/>
              </a:ext>
            </a:extLst>
          </p:cNvPr>
          <p:cNvCxnSpPr/>
          <p:nvPr/>
        </p:nvCxnSpPr>
        <p:spPr>
          <a:xfrm>
            <a:off x="11036294" y="222433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71383F9A-7B75-5A43-AA28-6FA3234F851B}"/>
              </a:ext>
            </a:extLst>
          </p:cNvPr>
          <p:cNvSpPr/>
          <p:nvPr/>
        </p:nvSpPr>
        <p:spPr>
          <a:xfrm>
            <a:off x="10583329" y="268220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sp>
        <p:nvSpPr>
          <p:cNvPr id="31" name="Alternate Process 30">
            <a:extLst>
              <a:ext uri="{FF2B5EF4-FFF2-40B4-BE49-F238E27FC236}">
                <a16:creationId xmlns:a16="http://schemas.microsoft.com/office/drawing/2014/main" id="{D370CA9E-5551-BC41-A8BA-82786E61C0A3}"/>
              </a:ext>
            </a:extLst>
          </p:cNvPr>
          <p:cNvSpPr/>
          <p:nvPr/>
        </p:nvSpPr>
        <p:spPr>
          <a:xfrm>
            <a:off x="7128935" y="3376812"/>
            <a:ext cx="2489201" cy="508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Combiner</a:t>
            </a:r>
          </a:p>
        </p:txBody>
      </p:sp>
      <p:cxnSp>
        <p:nvCxnSpPr>
          <p:cNvPr id="32" name="Straight Arrow Connector 31">
            <a:extLst>
              <a:ext uri="{FF2B5EF4-FFF2-40B4-BE49-F238E27FC236}">
                <a16:creationId xmlns:a16="http://schemas.microsoft.com/office/drawing/2014/main" id="{6C510A89-800B-BE48-8C5D-DCD01A23781B}"/>
              </a:ext>
            </a:extLst>
          </p:cNvPr>
          <p:cNvCxnSpPr>
            <a:cxnSpLocks/>
          </p:cNvCxnSpPr>
          <p:nvPr/>
        </p:nvCxnSpPr>
        <p:spPr>
          <a:xfrm>
            <a:off x="5799669" y="3031743"/>
            <a:ext cx="1689098" cy="345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FE7A30-DBB4-C549-9D0E-F790FD3E68CD}"/>
              </a:ext>
            </a:extLst>
          </p:cNvPr>
          <p:cNvCxnSpPr>
            <a:cxnSpLocks/>
            <a:stCxn id="24" idx="2"/>
          </p:cNvCxnSpPr>
          <p:nvPr/>
        </p:nvCxnSpPr>
        <p:spPr>
          <a:xfrm>
            <a:off x="7027338" y="3031743"/>
            <a:ext cx="808561"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F6F4986-B1E1-B645-B0C3-B8A26FF4BA13}"/>
              </a:ext>
            </a:extLst>
          </p:cNvPr>
          <p:cNvCxnSpPr>
            <a:cxnSpLocks/>
          </p:cNvCxnSpPr>
          <p:nvPr/>
        </p:nvCxnSpPr>
        <p:spPr>
          <a:xfrm flipH="1">
            <a:off x="8233841" y="3015608"/>
            <a:ext cx="4230" cy="404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8FF7819-8E2F-9540-ABFE-213969E9EF71}"/>
              </a:ext>
            </a:extLst>
          </p:cNvPr>
          <p:cNvCxnSpPr>
            <a:cxnSpLocks/>
            <a:stCxn id="28" idx="2"/>
            <a:endCxn id="31" idx="0"/>
          </p:cNvCxnSpPr>
          <p:nvPr/>
        </p:nvCxnSpPr>
        <p:spPr>
          <a:xfrm flipH="1">
            <a:off x="8373536" y="3032417"/>
            <a:ext cx="1297517"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4439728-FBA7-1E46-83A5-9B39669E3F01}"/>
              </a:ext>
            </a:extLst>
          </p:cNvPr>
          <p:cNvCxnSpPr>
            <a:cxnSpLocks/>
            <a:stCxn id="30" idx="2"/>
          </p:cNvCxnSpPr>
          <p:nvPr/>
        </p:nvCxnSpPr>
        <p:spPr>
          <a:xfrm flipH="1">
            <a:off x="8940805" y="3046273"/>
            <a:ext cx="2087024" cy="329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517BBBE-20C1-A34F-A223-D91847F58EA3}"/>
              </a:ext>
            </a:extLst>
          </p:cNvPr>
          <p:cNvSpPr/>
          <p:nvPr/>
        </p:nvSpPr>
        <p:spPr>
          <a:xfrm>
            <a:off x="6108708"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8" name="Rectangle 37">
            <a:extLst>
              <a:ext uri="{FF2B5EF4-FFF2-40B4-BE49-F238E27FC236}">
                <a16:creationId xmlns:a16="http://schemas.microsoft.com/office/drawing/2014/main" id="{7AA83EA7-20F7-BD4B-A915-BB4D7CE0FDB1}"/>
              </a:ext>
            </a:extLst>
          </p:cNvPr>
          <p:cNvSpPr/>
          <p:nvPr/>
        </p:nvSpPr>
        <p:spPr>
          <a:xfrm>
            <a:off x="7344841"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9" name="Rectangle 38">
            <a:extLst>
              <a:ext uri="{FF2B5EF4-FFF2-40B4-BE49-F238E27FC236}">
                <a16:creationId xmlns:a16="http://schemas.microsoft.com/office/drawing/2014/main" id="{92D336FC-F1D1-D94C-BE04-4C00044D349F}"/>
              </a:ext>
            </a:extLst>
          </p:cNvPr>
          <p:cNvSpPr/>
          <p:nvPr/>
        </p:nvSpPr>
        <p:spPr>
          <a:xfrm>
            <a:off x="8580973"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40" name="Rectangle 39">
            <a:extLst>
              <a:ext uri="{FF2B5EF4-FFF2-40B4-BE49-F238E27FC236}">
                <a16:creationId xmlns:a16="http://schemas.microsoft.com/office/drawing/2014/main" id="{C11AAD5D-9725-9D48-805F-795C839CCAF8}"/>
              </a:ext>
            </a:extLst>
          </p:cNvPr>
          <p:cNvSpPr/>
          <p:nvPr/>
        </p:nvSpPr>
        <p:spPr>
          <a:xfrm>
            <a:off x="9988556" y="4137316"/>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cxnSp>
        <p:nvCxnSpPr>
          <p:cNvPr id="41" name="Straight Arrow Connector 40">
            <a:extLst>
              <a:ext uri="{FF2B5EF4-FFF2-40B4-BE49-F238E27FC236}">
                <a16:creationId xmlns:a16="http://schemas.microsoft.com/office/drawing/2014/main" id="{EA3F8F20-0C06-4A41-B1AE-7DF255DC42C8}"/>
              </a:ext>
            </a:extLst>
          </p:cNvPr>
          <p:cNvCxnSpPr/>
          <p:nvPr/>
        </p:nvCxnSpPr>
        <p:spPr>
          <a:xfrm>
            <a:off x="6529921" y="451693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0711989-6A4E-2C41-8C9F-B61FAD4FDA2C}"/>
              </a:ext>
            </a:extLst>
          </p:cNvPr>
          <p:cNvSpPr/>
          <p:nvPr/>
        </p:nvSpPr>
        <p:spPr>
          <a:xfrm>
            <a:off x="5911854" y="495148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3" name="Straight Arrow Connector 42">
            <a:extLst>
              <a:ext uri="{FF2B5EF4-FFF2-40B4-BE49-F238E27FC236}">
                <a16:creationId xmlns:a16="http://schemas.microsoft.com/office/drawing/2014/main" id="{1D2073D7-F856-7940-A6F6-6941F9B14126}"/>
              </a:ext>
            </a:extLst>
          </p:cNvPr>
          <p:cNvCxnSpPr/>
          <p:nvPr/>
        </p:nvCxnSpPr>
        <p:spPr>
          <a:xfrm>
            <a:off x="7791454" y="4536230"/>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84E51DCD-B3AC-6243-B558-FE5496DF93F1}"/>
              </a:ext>
            </a:extLst>
          </p:cNvPr>
          <p:cNvSpPr/>
          <p:nvPr/>
        </p:nvSpPr>
        <p:spPr>
          <a:xfrm>
            <a:off x="7173387" y="4970776"/>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5" name="Straight Arrow Connector 44">
            <a:extLst>
              <a:ext uri="{FF2B5EF4-FFF2-40B4-BE49-F238E27FC236}">
                <a16:creationId xmlns:a16="http://schemas.microsoft.com/office/drawing/2014/main" id="{092AEAD5-A122-1748-B784-796AA4FBE2FD}"/>
              </a:ext>
            </a:extLst>
          </p:cNvPr>
          <p:cNvCxnSpPr/>
          <p:nvPr/>
        </p:nvCxnSpPr>
        <p:spPr>
          <a:xfrm>
            <a:off x="9052987" y="45496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BD5D824F-FD22-BB4A-A83D-B2A6C2142B9B}"/>
              </a:ext>
            </a:extLst>
          </p:cNvPr>
          <p:cNvSpPr/>
          <p:nvPr/>
        </p:nvSpPr>
        <p:spPr>
          <a:xfrm>
            <a:off x="8434920" y="498415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7" name="Straight Arrow Connector 46">
            <a:extLst>
              <a:ext uri="{FF2B5EF4-FFF2-40B4-BE49-F238E27FC236}">
                <a16:creationId xmlns:a16="http://schemas.microsoft.com/office/drawing/2014/main" id="{8B5A7E81-0D7D-864D-9557-3AE3A09BB39C}"/>
              </a:ext>
            </a:extLst>
          </p:cNvPr>
          <p:cNvCxnSpPr/>
          <p:nvPr/>
        </p:nvCxnSpPr>
        <p:spPr>
          <a:xfrm>
            <a:off x="10441520" y="454448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DD89D06E-FBD5-2941-ABF9-4D381020AD82}"/>
              </a:ext>
            </a:extLst>
          </p:cNvPr>
          <p:cNvSpPr/>
          <p:nvPr/>
        </p:nvSpPr>
        <p:spPr>
          <a:xfrm>
            <a:off x="9823453" y="497903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spTree>
    <p:extLst>
      <p:ext uri="{BB962C8B-B14F-4D97-AF65-F5344CB8AC3E}">
        <p14:creationId xmlns:p14="http://schemas.microsoft.com/office/powerpoint/2010/main" val="2270228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160861" y="186402"/>
            <a:ext cx="4402673" cy="5734344"/>
          </a:xfrm>
        </p:spPr>
        <p:txBody>
          <a:bodyPr>
            <a:normAutofit/>
          </a:bodyPr>
          <a:lstStyle/>
          <a:p>
            <a:pPr algn="ctr">
              <a:lnSpc>
                <a:spcPct val="150000"/>
              </a:lnSpc>
            </a:pPr>
            <a:r>
              <a:rPr lang="en-US" sz="3000" b="1" dirty="0"/>
              <a:t>MapReduce Architecture</a:t>
            </a:r>
          </a:p>
          <a:p>
            <a:pPr>
              <a:lnSpc>
                <a:spcPct val="150000"/>
              </a:lnSpc>
            </a:pPr>
            <a:r>
              <a:rPr lang="en-US" sz="2400" b="1" dirty="0"/>
              <a:t>Output Phase</a:t>
            </a:r>
            <a:r>
              <a:rPr lang="en-US" sz="2400" dirty="0"/>
              <a:t> − In the output phase, we have an output formatter that translates the final key-value pairs from the Reducer function and writes them onto a file using a record writer.</a:t>
            </a:r>
          </a:p>
          <a:p>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a:xfrm>
            <a:off x="4123267" y="6356350"/>
            <a:ext cx="4114800" cy="365125"/>
          </a:xfrm>
        </p:spPr>
        <p:txBody>
          <a:bodyPr/>
          <a:lstStyle/>
          <a:p>
            <a:r>
              <a:rPr lang="en-US"/>
              <a:t>Or Peretz</a:t>
            </a:r>
            <a:endParaRPr lang="en-IL"/>
          </a:p>
        </p:txBody>
      </p:sp>
      <p:sp>
        <p:nvSpPr>
          <p:cNvPr id="6" name="Rounded Rectangle 5">
            <a:extLst>
              <a:ext uri="{FF2B5EF4-FFF2-40B4-BE49-F238E27FC236}">
                <a16:creationId xmlns:a16="http://schemas.microsoft.com/office/drawing/2014/main" id="{CDD13228-D798-A543-9CF3-83A10A6F83A8}"/>
              </a:ext>
            </a:extLst>
          </p:cNvPr>
          <p:cNvSpPr/>
          <p:nvPr/>
        </p:nvSpPr>
        <p:spPr>
          <a:xfrm>
            <a:off x="5249338" y="533406"/>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7" name="Rounded Rectangle 6">
            <a:extLst>
              <a:ext uri="{FF2B5EF4-FFF2-40B4-BE49-F238E27FC236}">
                <a16:creationId xmlns:a16="http://schemas.microsoft.com/office/drawing/2014/main" id="{264630C5-F7F6-644E-A3A3-6C5BE2751DA9}"/>
              </a:ext>
            </a:extLst>
          </p:cNvPr>
          <p:cNvSpPr/>
          <p:nvPr/>
        </p:nvSpPr>
        <p:spPr>
          <a:xfrm>
            <a:off x="6510871" y="533405"/>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8" name="Rounded Rectangle 7">
            <a:extLst>
              <a:ext uri="{FF2B5EF4-FFF2-40B4-BE49-F238E27FC236}">
                <a16:creationId xmlns:a16="http://schemas.microsoft.com/office/drawing/2014/main" id="{9ABFA56E-6EF8-8046-B5E4-CA1FB2E395A6}"/>
              </a:ext>
            </a:extLst>
          </p:cNvPr>
          <p:cNvSpPr/>
          <p:nvPr/>
        </p:nvSpPr>
        <p:spPr>
          <a:xfrm>
            <a:off x="7772404"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9" name="Rounded Rectangle 8">
            <a:extLst>
              <a:ext uri="{FF2B5EF4-FFF2-40B4-BE49-F238E27FC236}">
                <a16:creationId xmlns:a16="http://schemas.microsoft.com/office/drawing/2014/main" id="{5A37C5B1-41B1-814D-9968-562351759BC4}"/>
              </a:ext>
            </a:extLst>
          </p:cNvPr>
          <p:cNvSpPr/>
          <p:nvPr/>
        </p:nvSpPr>
        <p:spPr>
          <a:xfrm>
            <a:off x="9067804"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sp>
        <p:nvSpPr>
          <p:cNvPr id="10" name="Rounded Rectangle 9">
            <a:extLst>
              <a:ext uri="{FF2B5EF4-FFF2-40B4-BE49-F238E27FC236}">
                <a16:creationId xmlns:a16="http://schemas.microsoft.com/office/drawing/2014/main" id="{F83D2799-5FAD-704B-ADB5-56D01C7DB85F}"/>
              </a:ext>
            </a:extLst>
          </p:cNvPr>
          <p:cNvSpPr/>
          <p:nvPr/>
        </p:nvSpPr>
        <p:spPr>
          <a:xfrm>
            <a:off x="10422470" y="533404"/>
            <a:ext cx="1134533" cy="4656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Input</a:t>
            </a:r>
          </a:p>
        </p:txBody>
      </p:sp>
      <p:cxnSp>
        <p:nvCxnSpPr>
          <p:cNvPr id="11" name="Straight Arrow Connector 10">
            <a:extLst>
              <a:ext uri="{FF2B5EF4-FFF2-40B4-BE49-F238E27FC236}">
                <a16:creationId xmlns:a16="http://schemas.microsoft.com/office/drawing/2014/main" id="{EFD7DBEC-8DCC-B445-BA8A-08C4D9AE8B69}"/>
              </a:ext>
            </a:extLst>
          </p:cNvPr>
          <p:cNvCxnSpPr/>
          <p:nvPr/>
        </p:nvCxnSpPr>
        <p:spPr>
          <a:xfrm>
            <a:off x="5816604"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C502997-222F-EC4F-8345-8BFABC85A89E}"/>
              </a:ext>
            </a:extLst>
          </p:cNvPr>
          <p:cNvSpPr/>
          <p:nvPr/>
        </p:nvSpPr>
        <p:spPr>
          <a:xfrm>
            <a:off x="5363639"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3" name="Straight Arrow Connector 12">
            <a:extLst>
              <a:ext uri="{FF2B5EF4-FFF2-40B4-BE49-F238E27FC236}">
                <a16:creationId xmlns:a16="http://schemas.microsoft.com/office/drawing/2014/main" id="{E1398C68-0BE3-C541-B49C-AB26A5F1BA29}"/>
              </a:ext>
            </a:extLst>
          </p:cNvPr>
          <p:cNvCxnSpPr/>
          <p:nvPr/>
        </p:nvCxnSpPr>
        <p:spPr>
          <a:xfrm>
            <a:off x="7052737"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A85AFA8-2BD4-2C43-B0A8-FF3D11B9AAB1}"/>
              </a:ext>
            </a:extLst>
          </p:cNvPr>
          <p:cNvSpPr/>
          <p:nvPr/>
        </p:nvSpPr>
        <p:spPr>
          <a:xfrm>
            <a:off x="6599772"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5" name="Straight Arrow Connector 14">
            <a:extLst>
              <a:ext uri="{FF2B5EF4-FFF2-40B4-BE49-F238E27FC236}">
                <a16:creationId xmlns:a16="http://schemas.microsoft.com/office/drawing/2014/main" id="{AB82AAC2-459F-594D-8047-9B31C2DAA613}"/>
              </a:ext>
            </a:extLst>
          </p:cNvPr>
          <p:cNvCxnSpPr/>
          <p:nvPr/>
        </p:nvCxnSpPr>
        <p:spPr>
          <a:xfrm>
            <a:off x="8310039"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D8879A-972D-6240-BCB9-E4894468C637}"/>
              </a:ext>
            </a:extLst>
          </p:cNvPr>
          <p:cNvSpPr/>
          <p:nvPr/>
        </p:nvSpPr>
        <p:spPr>
          <a:xfrm>
            <a:off x="7857074"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7" name="Straight Arrow Connector 16">
            <a:extLst>
              <a:ext uri="{FF2B5EF4-FFF2-40B4-BE49-F238E27FC236}">
                <a16:creationId xmlns:a16="http://schemas.microsoft.com/office/drawing/2014/main" id="{80401179-7AEC-8141-8D23-60F060DA6DC8}"/>
              </a:ext>
            </a:extLst>
          </p:cNvPr>
          <p:cNvCxnSpPr/>
          <p:nvPr/>
        </p:nvCxnSpPr>
        <p:spPr>
          <a:xfrm>
            <a:off x="9687987"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5EA08D9-672F-9F47-B02D-DA93ECE026FD}"/>
              </a:ext>
            </a:extLst>
          </p:cNvPr>
          <p:cNvSpPr/>
          <p:nvPr/>
        </p:nvSpPr>
        <p:spPr>
          <a:xfrm>
            <a:off x="9235022"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19" name="Straight Arrow Connector 18">
            <a:extLst>
              <a:ext uri="{FF2B5EF4-FFF2-40B4-BE49-F238E27FC236}">
                <a16:creationId xmlns:a16="http://schemas.microsoft.com/office/drawing/2014/main" id="{4830161A-BD35-2940-8069-582A45ACC441}"/>
              </a:ext>
            </a:extLst>
          </p:cNvPr>
          <p:cNvCxnSpPr/>
          <p:nvPr/>
        </p:nvCxnSpPr>
        <p:spPr>
          <a:xfrm>
            <a:off x="11044763" y="999071"/>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36C9BC6-EEBF-484F-B51A-0E92639A43C1}"/>
              </a:ext>
            </a:extLst>
          </p:cNvPr>
          <p:cNvSpPr/>
          <p:nvPr/>
        </p:nvSpPr>
        <p:spPr>
          <a:xfrm>
            <a:off x="10591798" y="1439340"/>
            <a:ext cx="905929" cy="770466"/>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Map</a:t>
            </a:r>
          </a:p>
        </p:txBody>
      </p:sp>
      <p:cxnSp>
        <p:nvCxnSpPr>
          <p:cNvPr id="21" name="Straight Arrow Connector 20">
            <a:extLst>
              <a:ext uri="{FF2B5EF4-FFF2-40B4-BE49-F238E27FC236}">
                <a16:creationId xmlns:a16="http://schemas.microsoft.com/office/drawing/2014/main" id="{AC7F85E8-A6CE-C94D-BFCE-0D6F20AAA8D7}"/>
              </a:ext>
            </a:extLst>
          </p:cNvPr>
          <p:cNvCxnSpPr/>
          <p:nvPr/>
        </p:nvCxnSpPr>
        <p:spPr>
          <a:xfrm>
            <a:off x="5799670"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CCD4676-410F-C649-96DD-0DF2A87D3742}"/>
              </a:ext>
            </a:extLst>
          </p:cNvPr>
          <p:cNvSpPr/>
          <p:nvPr/>
        </p:nvSpPr>
        <p:spPr>
          <a:xfrm>
            <a:off x="5346705"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3" name="Straight Arrow Connector 22">
            <a:extLst>
              <a:ext uri="{FF2B5EF4-FFF2-40B4-BE49-F238E27FC236}">
                <a16:creationId xmlns:a16="http://schemas.microsoft.com/office/drawing/2014/main" id="{0F8D036E-875B-C84C-A4AE-E018165D85AF}"/>
              </a:ext>
            </a:extLst>
          </p:cNvPr>
          <p:cNvCxnSpPr/>
          <p:nvPr/>
        </p:nvCxnSpPr>
        <p:spPr>
          <a:xfrm>
            <a:off x="7035803"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968847B-A061-8140-9D1D-0F49735F68A0}"/>
              </a:ext>
            </a:extLst>
          </p:cNvPr>
          <p:cNvSpPr/>
          <p:nvPr/>
        </p:nvSpPr>
        <p:spPr>
          <a:xfrm>
            <a:off x="6582838"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5" name="Straight Arrow Connector 24">
            <a:extLst>
              <a:ext uri="{FF2B5EF4-FFF2-40B4-BE49-F238E27FC236}">
                <a16:creationId xmlns:a16="http://schemas.microsoft.com/office/drawing/2014/main" id="{12564B4F-CA91-2546-AB5B-81BD6F0B5DC9}"/>
              </a:ext>
            </a:extLst>
          </p:cNvPr>
          <p:cNvCxnSpPr/>
          <p:nvPr/>
        </p:nvCxnSpPr>
        <p:spPr>
          <a:xfrm>
            <a:off x="8271935" y="220980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1C800D7-F785-0E41-956D-8D3AFD0A562E}"/>
              </a:ext>
            </a:extLst>
          </p:cNvPr>
          <p:cNvSpPr/>
          <p:nvPr/>
        </p:nvSpPr>
        <p:spPr>
          <a:xfrm>
            <a:off x="7818970" y="266767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7" name="Straight Arrow Connector 26">
            <a:extLst>
              <a:ext uri="{FF2B5EF4-FFF2-40B4-BE49-F238E27FC236}">
                <a16:creationId xmlns:a16="http://schemas.microsoft.com/office/drawing/2014/main" id="{96C6C4D4-CDDE-844C-B550-C9D3BF0B7210}"/>
              </a:ext>
            </a:extLst>
          </p:cNvPr>
          <p:cNvCxnSpPr/>
          <p:nvPr/>
        </p:nvCxnSpPr>
        <p:spPr>
          <a:xfrm>
            <a:off x="9679518" y="2210478"/>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3A82C8F-0A6B-4D41-8EFD-2B8573524BD7}"/>
              </a:ext>
            </a:extLst>
          </p:cNvPr>
          <p:cNvSpPr/>
          <p:nvPr/>
        </p:nvSpPr>
        <p:spPr>
          <a:xfrm>
            <a:off x="9226553" y="2668350"/>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cxnSp>
        <p:nvCxnSpPr>
          <p:cNvPr id="29" name="Straight Arrow Connector 28">
            <a:extLst>
              <a:ext uri="{FF2B5EF4-FFF2-40B4-BE49-F238E27FC236}">
                <a16:creationId xmlns:a16="http://schemas.microsoft.com/office/drawing/2014/main" id="{3C1EC9CF-CD06-5048-ABF6-ABC105A2B3D0}"/>
              </a:ext>
            </a:extLst>
          </p:cNvPr>
          <p:cNvCxnSpPr/>
          <p:nvPr/>
        </p:nvCxnSpPr>
        <p:spPr>
          <a:xfrm>
            <a:off x="11036294" y="2224334"/>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71383F9A-7B75-5A43-AA28-6FA3234F851B}"/>
              </a:ext>
            </a:extLst>
          </p:cNvPr>
          <p:cNvSpPr/>
          <p:nvPr/>
        </p:nvSpPr>
        <p:spPr>
          <a:xfrm>
            <a:off x="10583329" y="2682206"/>
            <a:ext cx="889000" cy="36406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Keys</a:t>
            </a:r>
          </a:p>
        </p:txBody>
      </p:sp>
      <p:sp>
        <p:nvSpPr>
          <p:cNvPr id="31" name="Alternate Process 30">
            <a:extLst>
              <a:ext uri="{FF2B5EF4-FFF2-40B4-BE49-F238E27FC236}">
                <a16:creationId xmlns:a16="http://schemas.microsoft.com/office/drawing/2014/main" id="{D370CA9E-5551-BC41-A8BA-82786E61C0A3}"/>
              </a:ext>
            </a:extLst>
          </p:cNvPr>
          <p:cNvSpPr/>
          <p:nvPr/>
        </p:nvSpPr>
        <p:spPr>
          <a:xfrm>
            <a:off x="7128935" y="3376812"/>
            <a:ext cx="2489201" cy="508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Combiner</a:t>
            </a:r>
          </a:p>
        </p:txBody>
      </p:sp>
      <p:cxnSp>
        <p:nvCxnSpPr>
          <p:cNvPr id="32" name="Straight Arrow Connector 31">
            <a:extLst>
              <a:ext uri="{FF2B5EF4-FFF2-40B4-BE49-F238E27FC236}">
                <a16:creationId xmlns:a16="http://schemas.microsoft.com/office/drawing/2014/main" id="{6C510A89-800B-BE48-8C5D-DCD01A23781B}"/>
              </a:ext>
            </a:extLst>
          </p:cNvPr>
          <p:cNvCxnSpPr>
            <a:cxnSpLocks/>
          </p:cNvCxnSpPr>
          <p:nvPr/>
        </p:nvCxnSpPr>
        <p:spPr>
          <a:xfrm>
            <a:off x="5799669" y="3031743"/>
            <a:ext cx="1689098" cy="345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FE7A30-DBB4-C549-9D0E-F790FD3E68CD}"/>
              </a:ext>
            </a:extLst>
          </p:cNvPr>
          <p:cNvCxnSpPr>
            <a:cxnSpLocks/>
            <a:stCxn id="24" idx="2"/>
          </p:cNvCxnSpPr>
          <p:nvPr/>
        </p:nvCxnSpPr>
        <p:spPr>
          <a:xfrm>
            <a:off x="7027338" y="3031743"/>
            <a:ext cx="808561"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F6F4986-B1E1-B645-B0C3-B8A26FF4BA13}"/>
              </a:ext>
            </a:extLst>
          </p:cNvPr>
          <p:cNvCxnSpPr>
            <a:cxnSpLocks/>
          </p:cNvCxnSpPr>
          <p:nvPr/>
        </p:nvCxnSpPr>
        <p:spPr>
          <a:xfrm flipH="1">
            <a:off x="8233841" y="3015608"/>
            <a:ext cx="4230" cy="404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8FF7819-8E2F-9540-ABFE-213969E9EF71}"/>
              </a:ext>
            </a:extLst>
          </p:cNvPr>
          <p:cNvCxnSpPr>
            <a:cxnSpLocks/>
            <a:stCxn id="28" idx="2"/>
            <a:endCxn id="31" idx="0"/>
          </p:cNvCxnSpPr>
          <p:nvPr/>
        </p:nvCxnSpPr>
        <p:spPr>
          <a:xfrm flipH="1">
            <a:off x="8373536" y="3032417"/>
            <a:ext cx="1297517" cy="34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4439728-FBA7-1E46-83A5-9B39669E3F01}"/>
              </a:ext>
            </a:extLst>
          </p:cNvPr>
          <p:cNvCxnSpPr>
            <a:cxnSpLocks/>
            <a:stCxn id="30" idx="2"/>
          </p:cNvCxnSpPr>
          <p:nvPr/>
        </p:nvCxnSpPr>
        <p:spPr>
          <a:xfrm flipH="1">
            <a:off x="8940805" y="3046273"/>
            <a:ext cx="2087024" cy="329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517BBBE-20C1-A34F-A223-D91847F58EA3}"/>
              </a:ext>
            </a:extLst>
          </p:cNvPr>
          <p:cNvSpPr/>
          <p:nvPr/>
        </p:nvSpPr>
        <p:spPr>
          <a:xfrm>
            <a:off x="6108708"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8" name="Rectangle 37">
            <a:extLst>
              <a:ext uri="{FF2B5EF4-FFF2-40B4-BE49-F238E27FC236}">
                <a16:creationId xmlns:a16="http://schemas.microsoft.com/office/drawing/2014/main" id="{7AA83EA7-20F7-BD4B-A915-BB4D7CE0FDB1}"/>
              </a:ext>
            </a:extLst>
          </p:cNvPr>
          <p:cNvSpPr/>
          <p:nvPr/>
        </p:nvSpPr>
        <p:spPr>
          <a:xfrm>
            <a:off x="7344841"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39" name="Rectangle 38">
            <a:extLst>
              <a:ext uri="{FF2B5EF4-FFF2-40B4-BE49-F238E27FC236}">
                <a16:creationId xmlns:a16="http://schemas.microsoft.com/office/drawing/2014/main" id="{92D336FC-F1D1-D94C-BE04-4C00044D349F}"/>
              </a:ext>
            </a:extLst>
          </p:cNvPr>
          <p:cNvSpPr/>
          <p:nvPr/>
        </p:nvSpPr>
        <p:spPr>
          <a:xfrm>
            <a:off x="8580973" y="4136642"/>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sp>
        <p:nvSpPr>
          <p:cNvPr id="40" name="Rectangle 39">
            <a:extLst>
              <a:ext uri="{FF2B5EF4-FFF2-40B4-BE49-F238E27FC236}">
                <a16:creationId xmlns:a16="http://schemas.microsoft.com/office/drawing/2014/main" id="{C11AAD5D-9725-9D48-805F-795C839CCAF8}"/>
              </a:ext>
            </a:extLst>
          </p:cNvPr>
          <p:cNvSpPr/>
          <p:nvPr/>
        </p:nvSpPr>
        <p:spPr>
          <a:xfrm>
            <a:off x="9988556" y="4137316"/>
            <a:ext cx="889000" cy="36406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S/S</a:t>
            </a:r>
          </a:p>
        </p:txBody>
      </p:sp>
      <p:cxnSp>
        <p:nvCxnSpPr>
          <p:cNvPr id="41" name="Straight Arrow Connector 40">
            <a:extLst>
              <a:ext uri="{FF2B5EF4-FFF2-40B4-BE49-F238E27FC236}">
                <a16:creationId xmlns:a16="http://schemas.microsoft.com/office/drawing/2014/main" id="{EA3F8F20-0C06-4A41-B1AE-7DF255DC42C8}"/>
              </a:ext>
            </a:extLst>
          </p:cNvPr>
          <p:cNvCxnSpPr/>
          <p:nvPr/>
        </p:nvCxnSpPr>
        <p:spPr>
          <a:xfrm>
            <a:off x="6529921" y="451693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0711989-6A4E-2C41-8C9F-B61FAD4FDA2C}"/>
              </a:ext>
            </a:extLst>
          </p:cNvPr>
          <p:cNvSpPr/>
          <p:nvPr/>
        </p:nvSpPr>
        <p:spPr>
          <a:xfrm>
            <a:off x="5911854" y="495148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3" name="Straight Arrow Connector 42">
            <a:extLst>
              <a:ext uri="{FF2B5EF4-FFF2-40B4-BE49-F238E27FC236}">
                <a16:creationId xmlns:a16="http://schemas.microsoft.com/office/drawing/2014/main" id="{1D2073D7-F856-7940-A6F6-6941F9B14126}"/>
              </a:ext>
            </a:extLst>
          </p:cNvPr>
          <p:cNvCxnSpPr/>
          <p:nvPr/>
        </p:nvCxnSpPr>
        <p:spPr>
          <a:xfrm>
            <a:off x="7791454" y="4536230"/>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84E51DCD-B3AC-6243-B558-FE5496DF93F1}"/>
              </a:ext>
            </a:extLst>
          </p:cNvPr>
          <p:cNvSpPr/>
          <p:nvPr/>
        </p:nvSpPr>
        <p:spPr>
          <a:xfrm>
            <a:off x="7173387" y="4970776"/>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5" name="Straight Arrow Connector 44">
            <a:extLst>
              <a:ext uri="{FF2B5EF4-FFF2-40B4-BE49-F238E27FC236}">
                <a16:creationId xmlns:a16="http://schemas.microsoft.com/office/drawing/2014/main" id="{092AEAD5-A122-1748-B784-796AA4FBE2FD}"/>
              </a:ext>
            </a:extLst>
          </p:cNvPr>
          <p:cNvCxnSpPr/>
          <p:nvPr/>
        </p:nvCxnSpPr>
        <p:spPr>
          <a:xfrm>
            <a:off x="9052987" y="454960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BD5D824F-FD22-BB4A-A83D-B2A6C2142B9B}"/>
              </a:ext>
            </a:extLst>
          </p:cNvPr>
          <p:cNvSpPr/>
          <p:nvPr/>
        </p:nvSpPr>
        <p:spPr>
          <a:xfrm>
            <a:off x="8434920" y="498415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cxnSp>
        <p:nvCxnSpPr>
          <p:cNvPr id="47" name="Straight Arrow Connector 46">
            <a:extLst>
              <a:ext uri="{FF2B5EF4-FFF2-40B4-BE49-F238E27FC236}">
                <a16:creationId xmlns:a16="http://schemas.microsoft.com/office/drawing/2014/main" id="{8B5A7E81-0D7D-864D-9557-3AE3A09BB39C}"/>
              </a:ext>
            </a:extLst>
          </p:cNvPr>
          <p:cNvCxnSpPr/>
          <p:nvPr/>
        </p:nvCxnSpPr>
        <p:spPr>
          <a:xfrm>
            <a:off x="10441520" y="4544485"/>
            <a:ext cx="0" cy="440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DD89D06E-FBD5-2941-ABF9-4D381020AD82}"/>
              </a:ext>
            </a:extLst>
          </p:cNvPr>
          <p:cNvSpPr/>
          <p:nvPr/>
        </p:nvSpPr>
        <p:spPr>
          <a:xfrm>
            <a:off x="9823453" y="4979031"/>
            <a:ext cx="1236133" cy="53366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1600" dirty="0"/>
              <a:t>Reduce</a:t>
            </a:r>
          </a:p>
        </p:txBody>
      </p:sp>
      <p:sp>
        <p:nvSpPr>
          <p:cNvPr id="3" name="Rectangle 2">
            <a:extLst>
              <a:ext uri="{FF2B5EF4-FFF2-40B4-BE49-F238E27FC236}">
                <a16:creationId xmlns:a16="http://schemas.microsoft.com/office/drawing/2014/main" id="{6AB1ADF7-E336-A549-B0B1-F425124C6137}"/>
              </a:ext>
            </a:extLst>
          </p:cNvPr>
          <p:cNvSpPr/>
          <p:nvPr/>
        </p:nvSpPr>
        <p:spPr>
          <a:xfrm>
            <a:off x="6832600" y="5808058"/>
            <a:ext cx="3149600" cy="4854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Output</a:t>
            </a:r>
          </a:p>
        </p:txBody>
      </p:sp>
    </p:spTree>
    <p:extLst>
      <p:ext uri="{BB962C8B-B14F-4D97-AF65-F5344CB8AC3E}">
        <p14:creationId xmlns:p14="http://schemas.microsoft.com/office/powerpoint/2010/main" val="2945329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lternate Process 2">
            <a:extLst>
              <a:ext uri="{FF2B5EF4-FFF2-40B4-BE49-F238E27FC236}">
                <a16:creationId xmlns:a16="http://schemas.microsoft.com/office/drawing/2014/main" id="{0EECF884-FE53-9245-972A-83D98525E38F}"/>
              </a:ext>
            </a:extLst>
          </p:cNvPr>
          <p:cNvSpPr/>
          <p:nvPr/>
        </p:nvSpPr>
        <p:spPr>
          <a:xfrm>
            <a:off x="948266" y="2751667"/>
            <a:ext cx="2065867" cy="1524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a:p>
            <a:pPr algn="ctr"/>
            <a:r>
              <a:rPr lang="en-IL" dirty="0"/>
              <a:t>C C R</a:t>
            </a:r>
          </a:p>
          <a:p>
            <a:pPr algn="ctr"/>
            <a:r>
              <a:rPr lang="en-IL" dirty="0"/>
              <a:t>A C B</a:t>
            </a:r>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9" name="TextBox 8">
            <a:extLst>
              <a:ext uri="{FF2B5EF4-FFF2-40B4-BE49-F238E27FC236}">
                <a16:creationId xmlns:a16="http://schemas.microsoft.com/office/drawing/2014/main" id="{37CC957F-CEEF-004A-ADEC-ABA33BF2738C}"/>
              </a:ext>
            </a:extLst>
          </p:cNvPr>
          <p:cNvSpPr txBox="1"/>
          <p:nvPr/>
        </p:nvSpPr>
        <p:spPr>
          <a:xfrm>
            <a:off x="7958668" y="1092200"/>
            <a:ext cx="1532466" cy="369332"/>
          </a:xfrm>
          <a:prstGeom prst="rect">
            <a:avLst/>
          </a:prstGeom>
          <a:noFill/>
        </p:spPr>
        <p:txBody>
          <a:bodyPr wrap="square" rtlCol="0">
            <a:spAutoFit/>
          </a:bodyPr>
          <a:lstStyle/>
          <a:p>
            <a:r>
              <a:rPr lang="en-IL" dirty="0"/>
              <a:t>Shuffle &amp; Sort</a:t>
            </a:r>
          </a:p>
        </p:txBody>
      </p:sp>
      <p:sp>
        <p:nvSpPr>
          <p:cNvPr id="10" name="TextBox 9">
            <a:extLst>
              <a:ext uri="{FF2B5EF4-FFF2-40B4-BE49-F238E27FC236}">
                <a16:creationId xmlns:a16="http://schemas.microsoft.com/office/drawing/2014/main" id="{0C599264-8E37-1548-A143-5E554CADAB16}"/>
              </a:ext>
            </a:extLst>
          </p:cNvPr>
          <p:cNvSpPr txBox="1"/>
          <p:nvPr/>
        </p:nvSpPr>
        <p:spPr>
          <a:xfrm>
            <a:off x="10854267" y="1092200"/>
            <a:ext cx="1337733" cy="369332"/>
          </a:xfrm>
          <a:prstGeom prst="rect">
            <a:avLst/>
          </a:prstGeom>
          <a:noFill/>
        </p:spPr>
        <p:txBody>
          <a:bodyPr wrap="square" rtlCol="0">
            <a:spAutoFit/>
          </a:bodyPr>
          <a:lstStyle/>
          <a:p>
            <a:r>
              <a:rPr lang="en-IL" dirty="0"/>
              <a:t>Reduce</a:t>
            </a:r>
          </a:p>
        </p:txBody>
      </p:sp>
    </p:spTree>
    <p:extLst>
      <p:ext uri="{BB962C8B-B14F-4D97-AF65-F5344CB8AC3E}">
        <p14:creationId xmlns:p14="http://schemas.microsoft.com/office/powerpoint/2010/main" val="382865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lternate Process 2">
            <a:extLst>
              <a:ext uri="{FF2B5EF4-FFF2-40B4-BE49-F238E27FC236}">
                <a16:creationId xmlns:a16="http://schemas.microsoft.com/office/drawing/2014/main" id="{0EECF884-FE53-9245-972A-83D98525E38F}"/>
              </a:ext>
            </a:extLst>
          </p:cNvPr>
          <p:cNvSpPr/>
          <p:nvPr/>
        </p:nvSpPr>
        <p:spPr>
          <a:xfrm>
            <a:off x="948266" y="2751667"/>
            <a:ext cx="2065867" cy="1524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a:p>
            <a:pPr algn="ctr"/>
            <a:r>
              <a:rPr lang="en-IL" dirty="0"/>
              <a:t>C C R</a:t>
            </a:r>
          </a:p>
          <a:p>
            <a:pPr algn="ctr"/>
            <a:r>
              <a:rPr lang="en-IL" dirty="0"/>
              <a:t>A C B</a:t>
            </a:r>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9" name="TextBox 8">
            <a:extLst>
              <a:ext uri="{FF2B5EF4-FFF2-40B4-BE49-F238E27FC236}">
                <a16:creationId xmlns:a16="http://schemas.microsoft.com/office/drawing/2014/main" id="{37CC957F-CEEF-004A-ADEC-ABA33BF2738C}"/>
              </a:ext>
            </a:extLst>
          </p:cNvPr>
          <p:cNvSpPr txBox="1"/>
          <p:nvPr/>
        </p:nvSpPr>
        <p:spPr>
          <a:xfrm>
            <a:off x="7958668" y="1092200"/>
            <a:ext cx="1532466" cy="369332"/>
          </a:xfrm>
          <a:prstGeom prst="rect">
            <a:avLst/>
          </a:prstGeom>
          <a:noFill/>
        </p:spPr>
        <p:txBody>
          <a:bodyPr wrap="square" rtlCol="0">
            <a:spAutoFit/>
          </a:bodyPr>
          <a:lstStyle/>
          <a:p>
            <a:r>
              <a:rPr lang="en-IL" dirty="0"/>
              <a:t>Shuffle &amp; Sort</a:t>
            </a:r>
          </a:p>
        </p:txBody>
      </p:sp>
      <p:sp>
        <p:nvSpPr>
          <p:cNvPr id="10" name="TextBox 9">
            <a:extLst>
              <a:ext uri="{FF2B5EF4-FFF2-40B4-BE49-F238E27FC236}">
                <a16:creationId xmlns:a16="http://schemas.microsoft.com/office/drawing/2014/main" id="{0C599264-8E37-1548-A143-5E554CADAB16}"/>
              </a:ext>
            </a:extLst>
          </p:cNvPr>
          <p:cNvSpPr txBox="1"/>
          <p:nvPr/>
        </p:nvSpPr>
        <p:spPr>
          <a:xfrm>
            <a:off x="108542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44133"/>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7" y="3227504"/>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C R</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C B</a:t>
            </a:r>
          </a:p>
        </p:txBody>
      </p:sp>
      <p:cxnSp>
        <p:nvCxnSpPr>
          <p:cNvPr id="15" name="Straight Arrow Connector 14">
            <a:extLst>
              <a:ext uri="{FF2B5EF4-FFF2-40B4-BE49-F238E27FC236}">
                <a16:creationId xmlns:a16="http://schemas.microsoft.com/office/drawing/2014/main" id="{0C24BAE1-B3B4-4841-A985-F58C74A6DE21}"/>
              </a:ext>
            </a:extLst>
          </p:cNvPr>
          <p:cNvCxnSpPr>
            <a:stCxn id="3" idx="3"/>
            <a:endCxn id="11" idx="1"/>
          </p:cNvCxnSpPr>
          <p:nvPr/>
        </p:nvCxnSpPr>
        <p:spPr>
          <a:xfrm flipV="1">
            <a:off x="3014133" y="1968500"/>
            <a:ext cx="728134" cy="1545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stCxn id="3" idx="3"/>
            <a:endCxn id="12" idx="1"/>
          </p:cNvCxnSpPr>
          <p:nvPr/>
        </p:nvCxnSpPr>
        <p:spPr>
          <a:xfrm flipV="1">
            <a:off x="3014133" y="3451871"/>
            <a:ext cx="728134" cy="61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stCxn id="3" idx="3"/>
            <a:endCxn id="13" idx="1"/>
          </p:cNvCxnSpPr>
          <p:nvPr/>
        </p:nvCxnSpPr>
        <p:spPr>
          <a:xfrm>
            <a:off x="3014133" y="3513667"/>
            <a:ext cx="728133" cy="1466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0432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lternate Process 2">
            <a:extLst>
              <a:ext uri="{FF2B5EF4-FFF2-40B4-BE49-F238E27FC236}">
                <a16:creationId xmlns:a16="http://schemas.microsoft.com/office/drawing/2014/main" id="{0EECF884-FE53-9245-972A-83D98525E38F}"/>
              </a:ext>
            </a:extLst>
          </p:cNvPr>
          <p:cNvSpPr/>
          <p:nvPr/>
        </p:nvSpPr>
        <p:spPr>
          <a:xfrm>
            <a:off x="948266" y="2751667"/>
            <a:ext cx="2065867" cy="1524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a:p>
            <a:pPr algn="ctr"/>
            <a:r>
              <a:rPr lang="en-IL" dirty="0"/>
              <a:t>C C R</a:t>
            </a:r>
          </a:p>
          <a:p>
            <a:pPr algn="ctr"/>
            <a:r>
              <a:rPr lang="en-IL" dirty="0"/>
              <a:t>A C B</a:t>
            </a:r>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9" name="TextBox 8">
            <a:extLst>
              <a:ext uri="{FF2B5EF4-FFF2-40B4-BE49-F238E27FC236}">
                <a16:creationId xmlns:a16="http://schemas.microsoft.com/office/drawing/2014/main" id="{37CC957F-CEEF-004A-ADEC-ABA33BF2738C}"/>
              </a:ext>
            </a:extLst>
          </p:cNvPr>
          <p:cNvSpPr txBox="1"/>
          <p:nvPr/>
        </p:nvSpPr>
        <p:spPr>
          <a:xfrm>
            <a:off x="7958668" y="1092200"/>
            <a:ext cx="1532466" cy="369332"/>
          </a:xfrm>
          <a:prstGeom prst="rect">
            <a:avLst/>
          </a:prstGeom>
          <a:noFill/>
        </p:spPr>
        <p:txBody>
          <a:bodyPr wrap="square" rtlCol="0">
            <a:spAutoFit/>
          </a:bodyPr>
          <a:lstStyle/>
          <a:p>
            <a:r>
              <a:rPr lang="en-IL" dirty="0"/>
              <a:t>Shuffle &amp; Sort</a:t>
            </a:r>
          </a:p>
        </p:txBody>
      </p:sp>
      <p:sp>
        <p:nvSpPr>
          <p:cNvPr id="10" name="TextBox 9">
            <a:extLst>
              <a:ext uri="{FF2B5EF4-FFF2-40B4-BE49-F238E27FC236}">
                <a16:creationId xmlns:a16="http://schemas.microsoft.com/office/drawing/2014/main" id="{0C599264-8E37-1548-A143-5E554CADAB16}"/>
              </a:ext>
            </a:extLst>
          </p:cNvPr>
          <p:cNvSpPr txBox="1"/>
          <p:nvPr/>
        </p:nvSpPr>
        <p:spPr>
          <a:xfrm>
            <a:off x="108542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44133"/>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7" y="3227504"/>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C R</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C B</a:t>
            </a:r>
          </a:p>
        </p:txBody>
      </p:sp>
      <p:cxnSp>
        <p:nvCxnSpPr>
          <p:cNvPr id="15" name="Straight Arrow Connector 14">
            <a:extLst>
              <a:ext uri="{FF2B5EF4-FFF2-40B4-BE49-F238E27FC236}">
                <a16:creationId xmlns:a16="http://schemas.microsoft.com/office/drawing/2014/main" id="{0C24BAE1-B3B4-4841-A985-F58C74A6DE21}"/>
              </a:ext>
            </a:extLst>
          </p:cNvPr>
          <p:cNvCxnSpPr>
            <a:stCxn id="3" idx="3"/>
            <a:endCxn id="11" idx="1"/>
          </p:cNvCxnSpPr>
          <p:nvPr/>
        </p:nvCxnSpPr>
        <p:spPr>
          <a:xfrm flipV="1">
            <a:off x="3014133" y="1968500"/>
            <a:ext cx="728134" cy="1545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stCxn id="3" idx="3"/>
            <a:endCxn id="12" idx="1"/>
          </p:cNvCxnSpPr>
          <p:nvPr/>
        </p:nvCxnSpPr>
        <p:spPr>
          <a:xfrm flipV="1">
            <a:off x="3014133" y="3451871"/>
            <a:ext cx="728134" cy="61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stCxn id="3" idx="3"/>
            <a:endCxn id="13" idx="1"/>
          </p:cNvCxnSpPr>
          <p:nvPr/>
        </p:nvCxnSpPr>
        <p:spPr>
          <a:xfrm>
            <a:off x="3014133" y="3513667"/>
            <a:ext cx="728133" cy="1466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C5D07B7-DA4D-414C-83F3-B271E87DC543}"/>
              </a:ext>
            </a:extLst>
          </p:cNvPr>
          <p:cNvSpPr/>
          <p:nvPr/>
        </p:nvSpPr>
        <p:spPr>
          <a:xfrm>
            <a:off x="5808134" y="168910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B, 1</a:t>
            </a:r>
          </a:p>
          <a:p>
            <a:pPr algn="ctr"/>
            <a:r>
              <a:rPr lang="en-IL" dirty="0"/>
              <a:t>R, 1</a:t>
            </a:r>
          </a:p>
        </p:txBody>
      </p:sp>
      <p:sp>
        <p:nvSpPr>
          <p:cNvPr id="20" name="Rectangle 19">
            <a:extLst>
              <a:ext uri="{FF2B5EF4-FFF2-40B4-BE49-F238E27FC236}">
                <a16:creationId xmlns:a16="http://schemas.microsoft.com/office/drawing/2014/main" id="{33A82160-2C8F-CF4A-97EB-5DF10B205288}"/>
              </a:ext>
            </a:extLst>
          </p:cNvPr>
          <p:cNvSpPr/>
          <p:nvPr/>
        </p:nvSpPr>
        <p:spPr>
          <a:xfrm>
            <a:off x="5808134" y="313411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1</a:t>
            </a:r>
          </a:p>
          <a:p>
            <a:pPr algn="ctr"/>
            <a:r>
              <a:rPr lang="en-IL" dirty="0"/>
              <a:t>C, 1</a:t>
            </a:r>
          </a:p>
          <a:p>
            <a:pPr algn="ctr"/>
            <a:r>
              <a:rPr lang="en-IL" dirty="0"/>
              <a:t>R, 1</a:t>
            </a:r>
          </a:p>
        </p:txBody>
      </p:sp>
      <p:sp>
        <p:nvSpPr>
          <p:cNvPr id="21" name="Rectangle 20">
            <a:extLst>
              <a:ext uri="{FF2B5EF4-FFF2-40B4-BE49-F238E27FC236}">
                <a16:creationId xmlns:a16="http://schemas.microsoft.com/office/drawing/2014/main" id="{D0C80C25-DB38-EB44-B74A-5FABC203B048}"/>
              </a:ext>
            </a:extLst>
          </p:cNvPr>
          <p:cNvSpPr/>
          <p:nvPr/>
        </p:nvSpPr>
        <p:spPr>
          <a:xfrm>
            <a:off x="5808134" y="4700318"/>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C, 1 </a:t>
            </a:r>
          </a:p>
          <a:p>
            <a:pPr algn="ctr"/>
            <a:r>
              <a:rPr lang="en-IL" dirty="0"/>
              <a:t>B, 1</a:t>
            </a:r>
          </a:p>
        </p:txBody>
      </p:sp>
      <p:cxnSp>
        <p:nvCxnSpPr>
          <p:cNvPr id="22" name="Straight Arrow Connector 21">
            <a:extLst>
              <a:ext uri="{FF2B5EF4-FFF2-40B4-BE49-F238E27FC236}">
                <a16:creationId xmlns:a16="http://schemas.microsoft.com/office/drawing/2014/main" id="{AEFCB9CA-3981-FF43-91A0-EB7CB1D6F458}"/>
              </a:ext>
            </a:extLst>
          </p:cNvPr>
          <p:cNvCxnSpPr>
            <a:cxnSpLocks/>
            <a:stCxn id="11" idx="3"/>
            <a:endCxn id="18" idx="1"/>
          </p:cNvCxnSpPr>
          <p:nvPr/>
        </p:nvCxnSpPr>
        <p:spPr>
          <a:xfrm>
            <a:off x="5232400" y="1968500"/>
            <a:ext cx="575734"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7CFA86D-647F-E143-8E05-8F35B4DD8EBE}"/>
              </a:ext>
            </a:extLst>
          </p:cNvPr>
          <p:cNvCxnSpPr>
            <a:cxnSpLocks/>
            <a:stCxn id="12" idx="3"/>
            <a:endCxn id="20" idx="1"/>
          </p:cNvCxnSpPr>
          <p:nvPr/>
        </p:nvCxnSpPr>
        <p:spPr>
          <a:xfrm>
            <a:off x="5232400" y="3451871"/>
            <a:ext cx="575734" cy="186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FC26473-D386-5A4A-8B01-B06C83C94995}"/>
              </a:ext>
            </a:extLst>
          </p:cNvPr>
          <p:cNvCxnSpPr>
            <a:cxnSpLocks/>
            <a:stCxn id="13" idx="3"/>
            <a:endCxn id="21" idx="1"/>
          </p:cNvCxnSpPr>
          <p:nvPr/>
        </p:nvCxnSpPr>
        <p:spPr>
          <a:xfrm>
            <a:off x="5232399" y="4979718"/>
            <a:ext cx="575735"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90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lternate Process 2">
            <a:extLst>
              <a:ext uri="{FF2B5EF4-FFF2-40B4-BE49-F238E27FC236}">
                <a16:creationId xmlns:a16="http://schemas.microsoft.com/office/drawing/2014/main" id="{0EECF884-FE53-9245-972A-83D98525E38F}"/>
              </a:ext>
            </a:extLst>
          </p:cNvPr>
          <p:cNvSpPr/>
          <p:nvPr/>
        </p:nvSpPr>
        <p:spPr>
          <a:xfrm>
            <a:off x="948266" y="2751667"/>
            <a:ext cx="2065867" cy="1524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a:p>
            <a:pPr algn="ctr"/>
            <a:r>
              <a:rPr lang="en-IL" dirty="0"/>
              <a:t>C C R</a:t>
            </a:r>
          </a:p>
          <a:p>
            <a:pPr algn="ctr"/>
            <a:r>
              <a:rPr lang="en-IL" dirty="0"/>
              <a:t>A C B</a:t>
            </a:r>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9" name="TextBox 8">
            <a:extLst>
              <a:ext uri="{FF2B5EF4-FFF2-40B4-BE49-F238E27FC236}">
                <a16:creationId xmlns:a16="http://schemas.microsoft.com/office/drawing/2014/main" id="{37CC957F-CEEF-004A-ADEC-ABA33BF2738C}"/>
              </a:ext>
            </a:extLst>
          </p:cNvPr>
          <p:cNvSpPr txBox="1"/>
          <p:nvPr/>
        </p:nvSpPr>
        <p:spPr>
          <a:xfrm>
            <a:off x="7958668" y="1092200"/>
            <a:ext cx="1532466" cy="369332"/>
          </a:xfrm>
          <a:prstGeom prst="rect">
            <a:avLst/>
          </a:prstGeom>
          <a:noFill/>
        </p:spPr>
        <p:txBody>
          <a:bodyPr wrap="square" rtlCol="0">
            <a:spAutoFit/>
          </a:bodyPr>
          <a:lstStyle/>
          <a:p>
            <a:r>
              <a:rPr lang="en-IL" dirty="0"/>
              <a:t>Shuffle &amp; Sort</a:t>
            </a:r>
          </a:p>
        </p:txBody>
      </p:sp>
      <p:sp>
        <p:nvSpPr>
          <p:cNvPr id="10" name="TextBox 9">
            <a:extLst>
              <a:ext uri="{FF2B5EF4-FFF2-40B4-BE49-F238E27FC236}">
                <a16:creationId xmlns:a16="http://schemas.microsoft.com/office/drawing/2014/main" id="{0C599264-8E37-1548-A143-5E554CADAB16}"/>
              </a:ext>
            </a:extLst>
          </p:cNvPr>
          <p:cNvSpPr txBox="1"/>
          <p:nvPr/>
        </p:nvSpPr>
        <p:spPr>
          <a:xfrm>
            <a:off x="108542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44133"/>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7" y="3227504"/>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C R</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C B</a:t>
            </a:r>
          </a:p>
        </p:txBody>
      </p:sp>
      <p:cxnSp>
        <p:nvCxnSpPr>
          <p:cNvPr id="15" name="Straight Arrow Connector 14">
            <a:extLst>
              <a:ext uri="{FF2B5EF4-FFF2-40B4-BE49-F238E27FC236}">
                <a16:creationId xmlns:a16="http://schemas.microsoft.com/office/drawing/2014/main" id="{0C24BAE1-B3B4-4841-A985-F58C74A6DE21}"/>
              </a:ext>
            </a:extLst>
          </p:cNvPr>
          <p:cNvCxnSpPr>
            <a:stCxn id="3" idx="3"/>
            <a:endCxn id="11" idx="1"/>
          </p:cNvCxnSpPr>
          <p:nvPr/>
        </p:nvCxnSpPr>
        <p:spPr>
          <a:xfrm flipV="1">
            <a:off x="3014133" y="1968500"/>
            <a:ext cx="728134" cy="1545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stCxn id="3" idx="3"/>
            <a:endCxn id="12" idx="1"/>
          </p:cNvCxnSpPr>
          <p:nvPr/>
        </p:nvCxnSpPr>
        <p:spPr>
          <a:xfrm flipV="1">
            <a:off x="3014133" y="3451871"/>
            <a:ext cx="728134" cy="61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stCxn id="3" idx="3"/>
            <a:endCxn id="13" idx="1"/>
          </p:cNvCxnSpPr>
          <p:nvPr/>
        </p:nvCxnSpPr>
        <p:spPr>
          <a:xfrm>
            <a:off x="3014133" y="3513667"/>
            <a:ext cx="728133" cy="1466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C5D07B7-DA4D-414C-83F3-B271E87DC543}"/>
              </a:ext>
            </a:extLst>
          </p:cNvPr>
          <p:cNvSpPr/>
          <p:nvPr/>
        </p:nvSpPr>
        <p:spPr>
          <a:xfrm>
            <a:off x="5808134" y="168910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B, 1</a:t>
            </a:r>
          </a:p>
          <a:p>
            <a:pPr algn="ctr"/>
            <a:r>
              <a:rPr lang="en-IL" dirty="0"/>
              <a:t>R, 1</a:t>
            </a:r>
          </a:p>
        </p:txBody>
      </p:sp>
      <p:sp>
        <p:nvSpPr>
          <p:cNvPr id="20" name="Rectangle 19">
            <a:extLst>
              <a:ext uri="{FF2B5EF4-FFF2-40B4-BE49-F238E27FC236}">
                <a16:creationId xmlns:a16="http://schemas.microsoft.com/office/drawing/2014/main" id="{33A82160-2C8F-CF4A-97EB-5DF10B205288}"/>
              </a:ext>
            </a:extLst>
          </p:cNvPr>
          <p:cNvSpPr/>
          <p:nvPr/>
        </p:nvSpPr>
        <p:spPr>
          <a:xfrm>
            <a:off x="5808134" y="313411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1</a:t>
            </a:r>
          </a:p>
          <a:p>
            <a:pPr algn="ctr"/>
            <a:r>
              <a:rPr lang="en-IL" dirty="0"/>
              <a:t>C, 1</a:t>
            </a:r>
          </a:p>
          <a:p>
            <a:pPr algn="ctr"/>
            <a:r>
              <a:rPr lang="en-IL" dirty="0"/>
              <a:t>R, 1</a:t>
            </a:r>
          </a:p>
        </p:txBody>
      </p:sp>
      <p:sp>
        <p:nvSpPr>
          <p:cNvPr id="21" name="Rectangle 20">
            <a:extLst>
              <a:ext uri="{FF2B5EF4-FFF2-40B4-BE49-F238E27FC236}">
                <a16:creationId xmlns:a16="http://schemas.microsoft.com/office/drawing/2014/main" id="{D0C80C25-DB38-EB44-B74A-5FABC203B048}"/>
              </a:ext>
            </a:extLst>
          </p:cNvPr>
          <p:cNvSpPr/>
          <p:nvPr/>
        </p:nvSpPr>
        <p:spPr>
          <a:xfrm>
            <a:off x="5808134" y="4700318"/>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C, 1 </a:t>
            </a:r>
          </a:p>
          <a:p>
            <a:pPr algn="ctr"/>
            <a:r>
              <a:rPr lang="en-IL" dirty="0"/>
              <a:t>B, 1</a:t>
            </a:r>
          </a:p>
        </p:txBody>
      </p:sp>
      <p:cxnSp>
        <p:nvCxnSpPr>
          <p:cNvPr id="22" name="Straight Arrow Connector 21">
            <a:extLst>
              <a:ext uri="{FF2B5EF4-FFF2-40B4-BE49-F238E27FC236}">
                <a16:creationId xmlns:a16="http://schemas.microsoft.com/office/drawing/2014/main" id="{AEFCB9CA-3981-FF43-91A0-EB7CB1D6F458}"/>
              </a:ext>
            </a:extLst>
          </p:cNvPr>
          <p:cNvCxnSpPr>
            <a:cxnSpLocks/>
            <a:stCxn id="11" idx="3"/>
            <a:endCxn id="18" idx="1"/>
          </p:cNvCxnSpPr>
          <p:nvPr/>
        </p:nvCxnSpPr>
        <p:spPr>
          <a:xfrm>
            <a:off x="5232400" y="1968500"/>
            <a:ext cx="575734"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7CFA86D-647F-E143-8E05-8F35B4DD8EBE}"/>
              </a:ext>
            </a:extLst>
          </p:cNvPr>
          <p:cNvCxnSpPr>
            <a:cxnSpLocks/>
            <a:stCxn id="12" idx="3"/>
            <a:endCxn id="20" idx="1"/>
          </p:cNvCxnSpPr>
          <p:nvPr/>
        </p:nvCxnSpPr>
        <p:spPr>
          <a:xfrm>
            <a:off x="5232400" y="3451871"/>
            <a:ext cx="575734" cy="186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FC26473-D386-5A4A-8B01-B06C83C94995}"/>
              </a:ext>
            </a:extLst>
          </p:cNvPr>
          <p:cNvCxnSpPr>
            <a:cxnSpLocks/>
            <a:stCxn id="13" idx="3"/>
            <a:endCxn id="21" idx="1"/>
          </p:cNvCxnSpPr>
          <p:nvPr/>
        </p:nvCxnSpPr>
        <p:spPr>
          <a:xfrm>
            <a:off x="5232399" y="4979718"/>
            <a:ext cx="575735"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AB6F327-B807-4043-9404-51A896FD3FC8}"/>
              </a:ext>
            </a:extLst>
          </p:cNvPr>
          <p:cNvSpPr/>
          <p:nvPr/>
        </p:nvSpPr>
        <p:spPr>
          <a:xfrm>
            <a:off x="8098367" y="1689100"/>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A, 1</a:t>
            </a:r>
          </a:p>
        </p:txBody>
      </p:sp>
      <p:sp>
        <p:nvSpPr>
          <p:cNvPr id="25" name="Rectangle 24">
            <a:extLst>
              <a:ext uri="{FF2B5EF4-FFF2-40B4-BE49-F238E27FC236}">
                <a16:creationId xmlns:a16="http://schemas.microsoft.com/office/drawing/2014/main" id="{08AE1C2C-2679-2A49-9100-6720AFEEADFC}"/>
              </a:ext>
            </a:extLst>
          </p:cNvPr>
          <p:cNvSpPr/>
          <p:nvPr/>
        </p:nvSpPr>
        <p:spPr>
          <a:xfrm>
            <a:off x="8098367" y="2901407"/>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B, 1</a:t>
            </a:r>
          </a:p>
          <a:p>
            <a:pPr algn="ctr"/>
            <a:r>
              <a:rPr lang="en-IL" dirty="0"/>
              <a:t>B, 1</a:t>
            </a:r>
          </a:p>
        </p:txBody>
      </p:sp>
      <p:sp>
        <p:nvSpPr>
          <p:cNvPr id="26" name="Rectangle 25">
            <a:extLst>
              <a:ext uri="{FF2B5EF4-FFF2-40B4-BE49-F238E27FC236}">
                <a16:creationId xmlns:a16="http://schemas.microsoft.com/office/drawing/2014/main" id="{91D4D04C-FE64-B344-BF84-BBF6152F5221}"/>
              </a:ext>
            </a:extLst>
          </p:cNvPr>
          <p:cNvSpPr/>
          <p:nvPr/>
        </p:nvSpPr>
        <p:spPr>
          <a:xfrm>
            <a:off x="8098367" y="4161366"/>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1</a:t>
            </a:r>
          </a:p>
          <a:p>
            <a:pPr algn="ctr"/>
            <a:r>
              <a:rPr lang="en-IL" dirty="0"/>
              <a:t>C, 1</a:t>
            </a:r>
          </a:p>
          <a:p>
            <a:pPr algn="ctr"/>
            <a:r>
              <a:rPr lang="en-IL" dirty="0"/>
              <a:t>C, 1</a:t>
            </a:r>
          </a:p>
        </p:txBody>
      </p:sp>
      <p:sp>
        <p:nvSpPr>
          <p:cNvPr id="28" name="Rectangle 27">
            <a:extLst>
              <a:ext uri="{FF2B5EF4-FFF2-40B4-BE49-F238E27FC236}">
                <a16:creationId xmlns:a16="http://schemas.microsoft.com/office/drawing/2014/main" id="{0B8E6385-03E0-DA42-9797-9D806724118C}"/>
              </a:ext>
            </a:extLst>
          </p:cNvPr>
          <p:cNvSpPr/>
          <p:nvPr/>
        </p:nvSpPr>
        <p:spPr>
          <a:xfrm>
            <a:off x="8098367" y="5421325"/>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R, 1</a:t>
            </a:r>
          </a:p>
          <a:p>
            <a:pPr algn="ctr"/>
            <a:r>
              <a:rPr lang="en-IL" dirty="0"/>
              <a:t>R, 1</a:t>
            </a:r>
          </a:p>
        </p:txBody>
      </p:sp>
      <p:cxnSp>
        <p:nvCxnSpPr>
          <p:cNvPr id="29" name="Straight Arrow Connector 28">
            <a:extLst>
              <a:ext uri="{FF2B5EF4-FFF2-40B4-BE49-F238E27FC236}">
                <a16:creationId xmlns:a16="http://schemas.microsoft.com/office/drawing/2014/main" id="{D3477D2D-2C34-F84D-B361-A191CCC635C9}"/>
              </a:ext>
            </a:extLst>
          </p:cNvPr>
          <p:cNvCxnSpPr>
            <a:cxnSpLocks/>
            <a:stCxn id="18" idx="3"/>
            <a:endCxn id="23" idx="1"/>
          </p:cNvCxnSpPr>
          <p:nvPr/>
        </p:nvCxnSpPr>
        <p:spPr>
          <a:xfrm>
            <a:off x="7061202" y="2192867"/>
            <a:ext cx="10371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8E0ABEE-6A79-5847-9235-B5BB1A2E13D0}"/>
              </a:ext>
            </a:extLst>
          </p:cNvPr>
          <p:cNvCxnSpPr>
            <a:cxnSpLocks/>
            <a:stCxn id="18" idx="3"/>
            <a:endCxn id="25" idx="1"/>
          </p:cNvCxnSpPr>
          <p:nvPr/>
        </p:nvCxnSpPr>
        <p:spPr>
          <a:xfrm>
            <a:off x="7061202" y="2192867"/>
            <a:ext cx="1037165" cy="12123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39A9FFF-953E-3C4F-AEB3-9E9F309637DE}"/>
              </a:ext>
            </a:extLst>
          </p:cNvPr>
          <p:cNvCxnSpPr>
            <a:cxnSpLocks/>
            <a:stCxn id="18" idx="3"/>
            <a:endCxn id="26" idx="1"/>
          </p:cNvCxnSpPr>
          <p:nvPr/>
        </p:nvCxnSpPr>
        <p:spPr>
          <a:xfrm>
            <a:off x="7061202" y="2192867"/>
            <a:ext cx="1037165" cy="2472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8D612A7-5F96-4747-9308-EB7D652CA88A}"/>
              </a:ext>
            </a:extLst>
          </p:cNvPr>
          <p:cNvCxnSpPr>
            <a:cxnSpLocks/>
            <a:stCxn id="18" idx="3"/>
            <a:endCxn id="28" idx="1"/>
          </p:cNvCxnSpPr>
          <p:nvPr/>
        </p:nvCxnSpPr>
        <p:spPr>
          <a:xfrm>
            <a:off x="7061202" y="2192867"/>
            <a:ext cx="1037165" cy="3732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24195B4-8012-4D40-9C5D-56DE05A61130}"/>
              </a:ext>
            </a:extLst>
          </p:cNvPr>
          <p:cNvCxnSpPr>
            <a:cxnSpLocks/>
            <a:stCxn id="20" idx="3"/>
            <a:endCxn id="23" idx="1"/>
          </p:cNvCxnSpPr>
          <p:nvPr/>
        </p:nvCxnSpPr>
        <p:spPr>
          <a:xfrm flipV="1">
            <a:off x="7061202" y="2192867"/>
            <a:ext cx="1037165" cy="1445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23B11FF-8BC7-4F44-A1C9-B2CA7860FDD9}"/>
              </a:ext>
            </a:extLst>
          </p:cNvPr>
          <p:cNvCxnSpPr>
            <a:cxnSpLocks/>
            <a:stCxn id="20" idx="3"/>
            <a:endCxn id="25" idx="1"/>
          </p:cNvCxnSpPr>
          <p:nvPr/>
        </p:nvCxnSpPr>
        <p:spPr>
          <a:xfrm flipV="1">
            <a:off x="7061202" y="3405174"/>
            <a:ext cx="1037165" cy="232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25335DD-DEC9-4541-9DCF-8FDD9A4EFA86}"/>
              </a:ext>
            </a:extLst>
          </p:cNvPr>
          <p:cNvCxnSpPr>
            <a:cxnSpLocks/>
            <a:stCxn id="20" idx="3"/>
            <a:endCxn id="26" idx="1"/>
          </p:cNvCxnSpPr>
          <p:nvPr/>
        </p:nvCxnSpPr>
        <p:spPr>
          <a:xfrm>
            <a:off x="7061202" y="3637877"/>
            <a:ext cx="1037165" cy="1027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9B31CF8-E86E-214E-BBC8-9F42B77A98E2}"/>
              </a:ext>
            </a:extLst>
          </p:cNvPr>
          <p:cNvCxnSpPr>
            <a:cxnSpLocks/>
            <a:stCxn id="20" idx="3"/>
            <a:endCxn id="28" idx="1"/>
          </p:cNvCxnSpPr>
          <p:nvPr/>
        </p:nvCxnSpPr>
        <p:spPr>
          <a:xfrm>
            <a:off x="7061202" y="3637877"/>
            <a:ext cx="1037165" cy="2287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AA61CD2-9642-E040-9EC1-A079E66F4F2C}"/>
              </a:ext>
            </a:extLst>
          </p:cNvPr>
          <p:cNvCxnSpPr>
            <a:cxnSpLocks/>
            <a:stCxn id="21" idx="3"/>
            <a:endCxn id="23" idx="1"/>
          </p:cNvCxnSpPr>
          <p:nvPr/>
        </p:nvCxnSpPr>
        <p:spPr>
          <a:xfrm flipV="1">
            <a:off x="7061202" y="2192867"/>
            <a:ext cx="1037165" cy="301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8DAD30D-8C1A-724E-8653-95A7D158856B}"/>
              </a:ext>
            </a:extLst>
          </p:cNvPr>
          <p:cNvCxnSpPr>
            <a:cxnSpLocks/>
            <a:stCxn id="21" idx="3"/>
            <a:endCxn id="25" idx="1"/>
          </p:cNvCxnSpPr>
          <p:nvPr/>
        </p:nvCxnSpPr>
        <p:spPr>
          <a:xfrm flipV="1">
            <a:off x="7061202" y="3405174"/>
            <a:ext cx="1037165" cy="179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CB7263F-259B-A14C-B845-29B74C63B2D9}"/>
              </a:ext>
            </a:extLst>
          </p:cNvPr>
          <p:cNvCxnSpPr>
            <a:cxnSpLocks/>
            <a:stCxn id="21" idx="3"/>
            <a:endCxn id="26" idx="1"/>
          </p:cNvCxnSpPr>
          <p:nvPr/>
        </p:nvCxnSpPr>
        <p:spPr>
          <a:xfrm flipV="1">
            <a:off x="7061202" y="4665133"/>
            <a:ext cx="1037165" cy="538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E145192-75EC-734C-85BA-F0E4F037DA18}"/>
              </a:ext>
            </a:extLst>
          </p:cNvPr>
          <p:cNvCxnSpPr>
            <a:cxnSpLocks/>
            <a:stCxn id="21" idx="3"/>
            <a:endCxn id="28" idx="1"/>
          </p:cNvCxnSpPr>
          <p:nvPr/>
        </p:nvCxnSpPr>
        <p:spPr>
          <a:xfrm>
            <a:off x="7061202" y="5204085"/>
            <a:ext cx="1037165" cy="721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245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lternate Process 2">
            <a:extLst>
              <a:ext uri="{FF2B5EF4-FFF2-40B4-BE49-F238E27FC236}">
                <a16:creationId xmlns:a16="http://schemas.microsoft.com/office/drawing/2014/main" id="{0EECF884-FE53-9245-972A-83D98525E38F}"/>
              </a:ext>
            </a:extLst>
          </p:cNvPr>
          <p:cNvSpPr/>
          <p:nvPr/>
        </p:nvSpPr>
        <p:spPr>
          <a:xfrm>
            <a:off x="948266" y="2751667"/>
            <a:ext cx="2065867" cy="1524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a:p>
            <a:pPr algn="ctr"/>
            <a:r>
              <a:rPr lang="en-IL" dirty="0"/>
              <a:t>C C R</a:t>
            </a:r>
          </a:p>
          <a:p>
            <a:pPr algn="ctr"/>
            <a:r>
              <a:rPr lang="en-IL" dirty="0"/>
              <a:t>A C B</a:t>
            </a:r>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9" name="TextBox 8">
            <a:extLst>
              <a:ext uri="{FF2B5EF4-FFF2-40B4-BE49-F238E27FC236}">
                <a16:creationId xmlns:a16="http://schemas.microsoft.com/office/drawing/2014/main" id="{37CC957F-CEEF-004A-ADEC-ABA33BF2738C}"/>
              </a:ext>
            </a:extLst>
          </p:cNvPr>
          <p:cNvSpPr txBox="1"/>
          <p:nvPr/>
        </p:nvSpPr>
        <p:spPr>
          <a:xfrm>
            <a:off x="7958668" y="1092200"/>
            <a:ext cx="1532466" cy="369332"/>
          </a:xfrm>
          <a:prstGeom prst="rect">
            <a:avLst/>
          </a:prstGeom>
          <a:noFill/>
        </p:spPr>
        <p:txBody>
          <a:bodyPr wrap="square" rtlCol="0">
            <a:spAutoFit/>
          </a:bodyPr>
          <a:lstStyle/>
          <a:p>
            <a:r>
              <a:rPr lang="en-IL" dirty="0"/>
              <a:t>Shuffle &amp; Sort</a:t>
            </a:r>
          </a:p>
        </p:txBody>
      </p:sp>
      <p:sp>
        <p:nvSpPr>
          <p:cNvPr id="10" name="TextBox 9">
            <a:extLst>
              <a:ext uri="{FF2B5EF4-FFF2-40B4-BE49-F238E27FC236}">
                <a16:creationId xmlns:a16="http://schemas.microsoft.com/office/drawing/2014/main" id="{0C599264-8E37-1548-A143-5E554CADAB16}"/>
              </a:ext>
            </a:extLst>
          </p:cNvPr>
          <p:cNvSpPr txBox="1"/>
          <p:nvPr/>
        </p:nvSpPr>
        <p:spPr>
          <a:xfrm>
            <a:off x="108542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44133"/>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B R</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7" y="3227504"/>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C R</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1490133" cy="4487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C B</a:t>
            </a:r>
          </a:p>
        </p:txBody>
      </p:sp>
      <p:cxnSp>
        <p:nvCxnSpPr>
          <p:cNvPr id="15" name="Straight Arrow Connector 14">
            <a:extLst>
              <a:ext uri="{FF2B5EF4-FFF2-40B4-BE49-F238E27FC236}">
                <a16:creationId xmlns:a16="http://schemas.microsoft.com/office/drawing/2014/main" id="{0C24BAE1-B3B4-4841-A985-F58C74A6DE21}"/>
              </a:ext>
            </a:extLst>
          </p:cNvPr>
          <p:cNvCxnSpPr>
            <a:stCxn id="3" idx="3"/>
            <a:endCxn id="11" idx="1"/>
          </p:cNvCxnSpPr>
          <p:nvPr/>
        </p:nvCxnSpPr>
        <p:spPr>
          <a:xfrm flipV="1">
            <a:off x="3014133" y="1968500"/>
            <a:ext cx="728134" cy="1545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stCxn id="3" idx="3"/>
            <a:endCxn id="12" idx="1"/>
          </p:cNvCxnSpPr>
          <p:nvPr/>
        </p:nvCxnSpPr>
        <p:spPr>
          <a:xfrm flipV="1">
            <a:off x="3014133" y="3451871"/>
            <a:ext cx="728134" cy="61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stCxn id="3" idx="3"/>
            <a:endCxn id="13" idx="1"/>
          </p:cNvCxnSpPr>
          <p:nvPr/>
        </p:nvCxnSpPr>
        <p:spPr>
          <a:xfrm>
            <a:off x="3014133" y="3513667"/>
            <a:ext cx="728133" cy="1466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C5D07B7-DA4D-414C-83F3-B271E87DC543}"/>
              </a:ext>
            </a:extLst>
          </p:cNvPr>
          <p:cNvSpPr/>
          <p:nvPr/>
        </p:nvSpPr>
        <p:spPr>
          <a:xfrm>
            <a:off x="5808134" y="168910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B, 1</a:t>
            </a:r>
          </a:p>
          <a:p>
            <a:pPr algn="ctr"/>
            <a:r>
              <a:rPr lang="en-IL" dirty="0"/>
              <a:t>R, 1</a:t>
            </a:r>
          </a:p>
        </p:txBody>
      </p:sp>
      <p:sp>
        <p:nvSpPr>
          <p:cNvPr id="20" name="Rectangle 19">
            <a:extLst>
              <a:ext uri="{FF2B5EF4-FFF2-40B4-BE49-F238E27FC236}">
                <a16:creationId xmlns:a16="http://schemas.microsoft.com/office/drawing/2014/main" id="{33A82160-2C8F-CF4A-97EB-5DF10B205288}"/>
              </a:ext>
            </a:extLst>
          </p:cNvPr>
          <p:cNvSpPr/>
          <p:nvPr/>
        </p:nvSpPr>
        <p:spPr>
          <a:xfrm>
            <a:off x="5808134" y="3134110"/>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1</a:t>
            </a:r>
          </a:p>
          <a:p>
            <a:pPr algn="ctr"/>
            <a:r>
              <a:rPr lang="en-IL" dirty="0"/>
              <a:t>C, 1</a:t>
            </a:r>
          </a:p>
          <a:p>
            <a:pPr algn="ctr"/>
            <a:r>
              <a:rPr lang="en-IL" dirty="0"/>
              <a:t>R, 1</a:t>
            </a:r>
          </a:p>
        </p:txBody>
      </p:sp>
      <p:sp>
        <p:nvSpPr>
          <p:cNvPr id="21" name="Rectangle 20">
            <a:extLst>
              <a:ext uri="{FF2B5EF4-FFF2-40B4-BE49-F238E27FC236}">
                <a16:creationId xmlns:a16="http://schemas.microsoft.com/office/drawing/2014/main" id="{D0C80C25-DB38-EB44-B74A-5FABC203B048}"/>
              </a:ext>
            </a:extLst>
          </p:cNvPr>
          <p:cNvSpPr/>
          <p:nvPr/>
        </p:nvSpPr>
        <p:spPr>
          <a:xfrm>
            <a:off x="5808134" y="4700318"/>
            <a:ext cx="1253068" cy="100753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C, 1 </a:t>
            </a:r>
          </a:p>
          <a:p>
            <a:pPr algn="ctr"/>
            <a:r>
              <a:rPr lang="en-IL" dirty="0"/>
              <a:t>B, 1</a:t>
            </a:r>
          </a:p>
        </p:txBody>
      </p:sp>
      <p:cxnSp>
        <p:nvCxnSpPr>
          <p:cNvPr id="22" name="Straight Arrow Connector 21">
            <a:extLst>
              <a:ext uri="{FF2B5EF4-FFF2-40B4-BE49-F238E27FC236}">
                <a16:creationId xmlns:a16="http://schemas.microsoft.com/office/drawing/2014/main" id="{AEFCB9CA-3981-FF43-91A0-EB7CB1D6F458}"/>
              </a:ext>
            </a:extLst>
          </p:cNvPr>
          <p:cNvCxnSpPr>
            <a:cxnSpLocks/>
            <a:stCxn id="11" idx="3"/>
            <a:endCxn id="18" idx="1"/>
          </p:cNvCxnSpPr>
          <p:nvPr/>
        </p:nvCxnSpPr>
        <p:spPr>
          <a:xfrm>
            <a:off x="5232400" y="1968500"/>
            <a:ext cx="575734"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7CFA86D-647F-E143-8E05-8F35B4DD8EBE}"/>
              </a:ext>
            </a:extLst>
          </p:cNvPr>
          <p:cNvCxnSpPr>
            <a:cxnSpLocks/>
            <a:stCxn id="12" idx="3"/>
            <a:endCxn id="20" idx="1"/>
          </p:cNvCxnSpPr>
          <p:nvPr/>
        </p:nvCxnSpPr>
        <p:spPr>
          <a:xfrm>
            <a:off x="5232400" y="3451871"/>
            <a:ext cx="575734" cy="186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FC26473-D386-5A4A-8B01-B06C83C94995}"/>
              </a:ext>
            </a:extLst>
          </p:cNvPr>
          <p:cNvCxnSpPr>
            <a:cxnSpLocks/>
            <a:stCxn id="13" idx="3"/>
            <a:endCxn id="21" idx="1"/>
          </p:cNvCxnSpPr>
          <p:nvPr/>
        </p:nvCxnSpPr>
        <p:spPr>
          <a:xfrm>
            <a:off x="5232399" y="4979718"/>
            <a:ext cx="575735" cy="22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AB6F327-B807-4043-9404-51A896FD3FC8}"/>
              </a:ext>
            </a:extLst>
          </p:cNvPr>
          <p:cNvSpPr/>
          <p:nvPr/>
        </p:nvSpPr>
        <p:spPr>
          <a:xfrm>
            <a:off x="8098367" y="1689100"/>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1</a:t>
            </a:r>
          </a:p>
          <a:p>
            <a:pPr algn="ctr"/>
            <a:r>
              <a:rPr lang="en-IL" dirty="0"/>
              <a:t>A, 1</a:t>
            </a:r>
          </a:p>
        </p:txBody>
      </p:sp>
      <p:sp>
        <p:nvSpPr>
          <p:cNvPr id="25" name="Rectangle 24">
            <a:extLst>
              <a:ext uri="{FF2B5EF4-FFF2-40B4-BE49-F238E27FC236}">
                <a16:creationId xmlns:a16="http://schemas.microsoft.com/office/drawing/2014/main" id="{08AE1C2C-2679-2A49-9100-6720AFEEADFC}"/>
              </a:ext>
            </a:extLst>
          </p:cNvPr>
          <p:cNvSpPr/>
          <p:nvPr/>
        </p:nvSpPr>
        <p:spPr>
          <a:xfrm>
            <a:off x="8098367" y="2901407"/>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B, 1</a:t>
            </a:r>
          </a:p>
          <a:p>
            <a:pPr algn="ctr"/>
            <a:r>
              <a:rPr lang="en-IL" dirty="0"/>
              <a:t>B, 1</a:t>
            </a:r>
          </a:p>
        </p:txBody>
      </p:sp>
      <p:sp>
        <p:nvSpPr>
          <p:cNvPr id="26" name="Rectangle 25">
            <a:extLst>
              <a:ext uri="{FF2B5EF4-FFF2-40B4-BE49-F238E27FC236}">
                <a16:creationId xmlns:a16="http://schemas.microsoft.com/office/drawing/2014/main" id="{91D4D04C-FE64-B344-BF84-BBF6152F5221}"/>
              </a:ext>
            </a:extLst>
          </p:cNvPr>
          <p:cNvSpPr/>
          <p:nvPr/>
        </p:nvSpPr>
        <p:spPr>
          <a:xfrm>
            <a:off x="8098367" y="4161366"/>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 1</a:t>
            </a:r>
          </a:p>
          <a:p>
            <a:pPr algn="ctr"/>
            <a:r>
              <a:rPr lang="en-IL" dirty="0"/>
              <a:t>C, 1</a:t>
            </a:r>
          </a:p>
          <a:p>
            <a:pPr algn="ctr"/>
            <a:r>
              <a:rPr lang="en-IL" dirty="0"/>
              <a:t>C, 1</a:t>
            </a:r>
          </a:p>
        </p:txBody>
      </p:sp>
      <p:sp>
        <p:nvSpPr>
          <p:cNvPr id="28" name="Rectangle 27">
            <a:extLst>
              <a:ext uri="{FF2B5EF4-FFF2-40B4-BE49-F238E27FC236}">
                <a16:creationId xmlns:a16="http://schemas.microsoft.com/office/drawing/2014/main" id="{0B8E6385-03E0-DA42-9797-9D806724118C}"/>
              </a:ext>
            </a:extLst>
          </p:cNvPr>
          <p:cNvSpPr/>
          <p:nvPr/>
        </p:nvSpPr>
        <p:spPr>
          <a:xfrm>
            <a:off x="8098367" y="5421325"/>
            <a:ext cx="1253068" cy="1007534"/>
          </a:xfrm>
          <a:prstGeom prst="rect">
            <a:avLst/>
          </a:prstGeom>
          <a:solidFill>
            <a:srgbClr val="009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R, 1</a:t>
            </a:r>
          </a:p>
          <a:p>
            <a:pPr algn="ctr"/>
            <a:r>
              <a:rPr lang="en-IL" dirty="0"/>
              <a:t>R, 1</a:t>
            </a:r>
          </a:p>
        </p:txBody>
      </p:sp>
      <p:cxnSp>
        <p:nvCxnSpPr>
          <p:cNvPr id="29" name="Straight Arrow Connector 28">
            <a:extLst>
              <a:ext uri="{FF2B5EF4-FFF2-40B4-BE49-F238E27FC236}">
                <a16:creationId xmlns:a16="http://schemas.microsoft.com/office/drawing/2014/main" id="{D3477D2D-2C34-F84D-B361-A191CCC635C9}"/>
              </a:ext>
            </a:extLst>
          </p:cNvPr>
          <p:cNvCxnSpPr>
            <a:cxnSpLocks/>
            <a:stCxn id="18" idx="3"/>
            <a:endCxn id="23" idx="1"/>
          </p:cNvCxnSpPr>
          <p:nvPr/>
        </p:nvCxnSpPr>
        <p:spPr>
          <a:xfrm>
            <a:off x="7061202" y="2192867"/>
            <a:ext cx="10371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8E0ABEE-6A79-5847-9235-B5BB1A2E13D0}"/>
              </a:ext>
            </a:extLst>
          </p:cNvPr>
          <p:cNvCxnSpPr>
            <a:cxnSpLocks/>
            <a:stCxn id="18" idx="3"/>
            <a:endCxn id="25" idx="1"/>
          </p:cNvCxnSpPr>
          <p:nvPr/>
        </p:nvCxnSpPr>
        <p:spPr>
          <a:xfrm>
            <a:off x="7061202" y="2192867"/>
            <a:ext cx="1037165" cy="12123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39A9FFF-953E-3C4F-AEB3-9E9F309637DE}"/>
              </a:ext>
            </a:extLst>
          </p:cNvPr>
          <p:cNvCxnSpPr>
            <a:cxnSpLocks/>
            <a:stCxn id="18" idx="3"/>
            <a:endCxn id="26" idx="1"/>
          </p:cNvCxnSpPr>
          <p:nvPr/>
        </p:nvCxnSpPr>
        <p:spPr>
          <a:xfrm>
            <a:off x="7061202" y="2192867"/>
            <a:ext cx="1037165" cy="2472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8D612A7-5F96-4747-9308-EB7D652CA88A}"/>
              </a:ext>
            </a:extLst>
          </p:cNvPr>
          <p:cNvCxnSpPr>
            <a:cxnSpLocks/>
            <a:stCxn id="18" idx="3"/>
            <a:endCxn id="28" idx="1"/>
          </p:cNvCxnSpPr>
          <p:nvPr/>
        </p:nvCxnSpPr>
        <p:spPr>
          <a:xfrm>
            <a:off x="7061202" y="2192867"/>
            <a:ext cx="1037165" cy="3732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24195B4-8012-4D40-9C5D-56DE05A61130}"/>
              </a:ext>
            </a:extLst>
          </p:cNvPr>
          <p:cNvCxnSpPr>
            <a:cxnSpLocks/>
            <a:stCxn id="20" idx="3"/>
            <a:endCxn id="23" idx="1"/>
          </p:cNvCxnSpPr>
          <p:nvPr/>
        </p:nvCxnSpPr>
        <p:spPr>
          <a:xfrm flipV="1">
            <a:off x="7061202" y="2192867"/>
            <a:ext cx="1037165" cy="1445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23B11FF-8BC7-4F44-A1C9-B2CA7860FDD9}"/>
              </a:ext>
            </a:extLst>
          </p:cNvPr>
          <p:cNvCxnSpPr>
            <a:cxnSpLocks/>
            <a:stCxn id="20" idx="3"/>
            <a:endCxn id="25" idx="1"/>
          </p:cNvCxnSpPr>
          <p:nvPr/>
        </p:nvCxnSpPr>
        <p:spPr>
          <a:xfrm flipV="1">
            <a:off x="7061202" y="3405174"/>
            <a:ext cx="1037165" cy="232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25335DD-DEC9-4541-9DCF-8FDD9A4EFA86}"/>
              </a:ext>
            </a:extLst>
          </p:cNvPr>
          <p:cNvCxnSpPr>
            <a:cxnSpLocks/>
            <a:stCxn id="20" idx="3"/>
            <a:endCxn id="26" idx="1"/>
          </p:cNvCxnSpPr>
          <p:nvPr/>
        </p:nvCxnSpPr>
        <p:spPr>
          <a:xfrm>
            <a:off x="7061202" y="3637877"/>
            <a:ext cx="1037165" cy="1027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9B31CF8-E86E-214E-BBC8-9F42B77A98E2}"/>
              </a:ext>
            </a:extLst>
          </p:cNvPr>
          <p:cNvCxnSpPr>
            <a:cxnSpLocks/>
            <a:stCxn id="20" idx="3"/>
            <a:endCxn id="28" idx="1"/>
          </p:cNvCxnSpPr>
          <p:nvPr/>
        </p:nvCxnSpPr>
        <p:spPr>
          <a:xfrm>
            <a:off x="7061202" y="3637877"/>
            <a:ext cx="1037165" cy="2287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AA61CD2-9642-E040-9EC1-A079E66F4F2C}"/>
              </a:ext>
            </a:extLst>
          </p:cNvPr>
          <p:cNvCxnSpPr>
            <a:cxnSpLocks/>
            <a:stCxn id="21" idx="3"/>
            <a:endCxn id="23" idx="1"/>
          </p:cNvCxnSpPr>
          <p:nvPr/>
        </p:nvCxnSpPr>
        <p:spPr>
          <a:xfrm flipV="1">
            <a:off x="7061202" y="2192867"/>
            <a:ext cx="1037165" cy="301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8DAD30D-8C1A-724E-8653-95A7D158856B}"/>
              </a:ext>
            </a:extLst>
          </p:cNvPr>
          <p:cNvCxnSpPr>
            <a:cxnSpLocks/>
            <a:stCxn id="21" idx="3"/>
            <a:endCxn id="25" idx="1"/>
          </p:cNvCxnSpPr>
          <p:nvPr/>
        </p:nvCxnSpPr>
        <p:spPr>
          <a:xfrm flipV="1">
            <a:off x="7061202" y="3405174"/>
            <a:ext cx="1037165" cy="179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CB7263F-259B-A14C-B845-29B74C63B2D9}"/>
              </a:ext>
            </a:extLst>
          </p:cNvPr>
          <p:cNvCxnSpPr>
            <a:cxnSpLocks/>
            <a:stCxn id="21" idx="3"/>
            <a:endCxn id="26" idx="1"/>
          </p:cNvCxnSpPr>
          <p:nvPr/>
        </p:nvCxnSpPr>
        <p:spPr>
          <a:xfrm flipV="1">
            <a:off x="7061202" y="4665133"/>
            <a:ext cx="1037165" cy="538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E145192-75EC-734C-85BA-F0E4F037DA18}"/>
              </a:ext>
            </a:extLst>
          </p:cNvPr>
          <p:cNvCxnSpPr>
            <a:cxnSpLocks/>
            <a:stCxn id="21" idx="3"/>
            <a:endCxn id="28" idx="1"/>
          </p:cNvCxnSpPr>
          <p:nvPr/>
        </p:nvCxnSpPr>
        <p:spPr>
          <a:xfrm>
            <a:off x="7061202" y="5204085"/>
            <a:ext cx="1037165" cy="721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7FA73CAD-A962-5C46-939D-79E188E79291}"/>
              </a:ext>
            </a:extLst>
          </p:cNvPr>
          <p:cNvSpPr/>
          <p:nvPr/>
        </p:nvSpPr>
        <p:spPr>
          <a:xfrm>
            <a:off x="10414000" y="2506133"/>
            <a:ext cx="1481667" cy="215900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 2</a:t>
            </a:r>
          </a:p>
          <a:p>
            <a:pPr algn="ctr"/>
            <a:r>
              <a:rPr lang="en-IL" dirty="0"/>
              <a:t>B, 2</a:t>
            </a:r>
          </a:p>
          <a:p>
            <a:pPr algn="ctr"/>
            <a:r>
              <a:rPr lang="en-IL" dirty="0"/>
              <a:t>C, 3</a:t>
            </a:r>
          </a:p>
          <a:p>
            <a:pPr algn="ctr"/>
            <a:r>
              <a:rPr lang="en-IL" dirty="0"/>
              <a:t>R, 2</a:t>
            </a:r>
          </a:p>
        </p:txBody>
      </p:sp>
      <p:cxnSp>
        <p:nvCxnSpPr>
          <p:cNvPr id="40" name="Straight Arrow Connector 39">
            <a:extLst>
              <a:ext uri="{FF2B5EF4-FFF2-40B4-BE49-F238E27FC236}">
                <a16:creationId xmlns:a16="http://schemas.microsoft.com/office/drawing/2014/main" id="{913013E3-9951-2A42-8EDC-98B99E1E0EA2}"/>
              </a:ext>
            </a:extLst>
          </p:cNvPr>
          <p:cNvCxnSpPr>
            <a:cxnSpLocks/>
            <a:stCxn id="23" idx="3"/>
            <a:endCxn id="14" idx="1"/>
          </p:cNvCxnSpPr>
          <p:nvPr/>
        </p:nvCxnSpPr>
        <p:spPr>
          <a:xfrm>
            <a:off x="9351435" y="2192867"/>
            <a:ext cx="1062565" cy="1392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4F81FCF-3F0E-BA47-B320-3ECC6AF0422A}"/>
              </a:ext>
            </a:extLst>
          </p:cNvPr>
          <p:cNvCxnSpPr>
            <a:cxnSpLocks/>
            <a:stCxn id="25" idx="3"/>
            <a:endCxn id="14" idx="1"/>
          </p:cNvCxnSpPr>
          <p:nvPr/>
        </p:nvCxnSpPr>
        <p:spPr>
          <a:xfrm>
            <a:off x="9351435" y="3405174"/>
            <a:ext cx="1062565" cy="180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C0F9BAF-088E-EF46-9CE8-C91969995B01}"/>
              </a:ext>
            </a:extLst>
          </p:cNvPr>
          <p:cNvCxnSpPr>
            <a:cxnSpLocks/>
            <a:stCxn id="26" idx="3"/>
            <a:endCxn id="14" idx="1"/>
          </p:cNvCxnSpPr>
          <p:nvPr/>
        </p:nvCxnSpPr>
        <p:spPr>
          <a:xfrm flipV="1">
            <a:off x="9351435" y="3585633"/>
            <a:ext cx="1062565" cy="107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BCAD225-A42E-AE4F-864B-B11FFC06AAA2}"/>
              </a:ext>
            </a:extLst>
          </p:cNvPr>
          <p:cNvCxnSpPr>
            <a:cxnSpLocks/>
            <a:stCxn id="28" idx="3"/>
            <a:endCxn id="14" idx="1"/>
          </p:cNvCxnSpPr>
          <p:nvPr/>
        </p:nvCxnSpPr>
        <p:spPr>
          <a:xfrm flipV="1">
            <a:off x="9351435" y="3585633"/>
            <a:ext cx="1062565" cy="2339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12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87867" y="186123"/>
            <a:ext cx="11616266" cy="6485754"/>
          </a:xfrm>
        </p:spPr>
        <p:txBody>
          <a:bodyPr>
            <a:normAutofit/>
          </a:bodyPr>
          <a:lstStyle/>
          <a:p>
            <a:pPr algn="ctr">
              <a:lnSpc>
                <a:spcPct val="150000"/>
              </a:lnSpc>
            </a:pPr>
            <a:r>
              <a:rPr lang="en-US" sz="3000" b="1" dirty="0"/>
              <a:t>The Power of Map-Reduce</a:t>
            </a:r>
          </a:p>
          <a:p>
            <a:pPr>
              <a:lnSpc>
                <a:spcPct val="150000"/>
              </a:lnSpc>
            </a:pPr>
            <a:endParaRPr lang="en-US" sz="26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a:extLst>
              <a:ext uri="{FF2B5EF4-FFF2-40B4-BE49-F238E27FC236}">
                <a16:creationId xmlns:a16="http://schemas.microsoft.com/office/drawing/2014/main" id="{D42745F3-35FE-6047-A5D1-EC6D2922EE8F}"/>
              </a:ext>
            </a:extLst>
          </p:cNvPr>
          <p:cNvPicPr>
            <a:picLocks noChangeAspect="1"/>
          </p:cNvPicPr>
          <p:nvPr/>
        </p:nvPicPr>
        <p:blipFill>
          <a:blip r:embed="rId3"/>
          <a:stretch>
            <a:fillRect/>
          </a:stretch>
        </p:blipFill>
        <p:spPr>
          <a:xfrm>
            <a:off x="2143125" y="1195490"/>
            <a:ext cx="7905750" cy="4762926"/>
          </a:xfrm>
          <a:prstGeom prst="rect">
            <a:avLst/>
          </a:prstGeom>
        </p:spPr>
      </p:pic>
    </p:spTree>
    <p:extLst>
      <p:ext uri="{BB962C8B-B14F-4D97-AF65-F5344CB8AC3E}">
        <p14:creationId xmlns:p14="http://schemas.microsoft.com/office/powerpoint/2010/main" val="299660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87867" y="186123"/>
            <a:ext cx="11616266" cy="6485754"/>
          </a:xfrm>
        </p:spPr>
        <p:txBody>
          <a:bodyPr>
            <a:normAutofit/>
          </a:bodyPr>
          <a:lstStyle/>
          <a:p>
            <a:pPr algn="ctr">
              <a:lnSpc>
                <a:spcPct val="150000"/>
              </a:lnSpc>
            </a:pPr>
            <a:r>
              <a:rPr lang="en-US" sz="3000" b="1" dirty="0"/>
              <a:t>Why is Map-Reduce Popular?</a:t>
            </a:r>
          </a:p>
          <a:p>
            <a:pPr marL="342900" indent="-342900">
              <a:lnSpc>
                <a:spcPct val="150000"/>
              </a:lnSpc>
              <a:buFontTx/>
              <a:buChar char="-"/>
            </a:pPr>
            <a:r>
              <a:rPr lang="en-US" sz="2400" dirty="0"/>
              <a:t>Distributed computation before MapReduce </a:t>
            </a:r>
          </a:p>
          <a:p>
            <a:pPr marL="800100" lvl="1" indent="-342900">
              <a:lnSpc>
                <a:spcPct val="150000"/>
              </a:lnSpc>
              <a:buFontTx/>
              <a:buChar char="-"/>
            </a:pPr>
            <a:r>
              <a:rPr lang="en-US" sz="2000" dirty="0"/>
              <a:t>Divide the workload among multiple machines</a:t>
            </a:r>
          </a:p>
          <a:p>
            <a:pPr marL="800100" lvl="1" indent="-342900">
              <a:lnSpc>
                <a:spcPct val="150000"/>
              </a:lnSpc>
              <a:buFontTx/>
              <a:buChar char="-"/>
            </a:pPr>
            <a:r>
              <a:rPr lang="en-US" sz="2000" dirty="0"/>
              <a:t>Distribute data and program to other machines</a:t>
            </a:r>
          </a:p>
          <a:p>
            <a:pPr marL="342900" indent="-342900">
              <a:lnSpc>
                <a:spcPct val="150000"/>
              </a:lnSpc>
              <a:buFontTx/>
              <a:buChar char="-"/>
            </a:pPr>
            <a:r>
              <a:rPr lang="en-US" sz="2400" dirty="0"/>
              <a:t>Distributed computation after MapReduce </a:t>
            </a:r>
          </a:p>
          <a:p>
            <a:pPr marL="800100" lvl="1" indent="-342900">
              <a:lnSpc>
                <a:spcPct val="150000"/>
              </a:lnSpc>
              <a:buFontTx/>
              <a:buChar char="-"/>
            </a:pPr>
            <a:r>
              <a:rPr lang="en-US" sz="2000" dirty="0"/>
              <a:t>Write Map function</a:t>
            </a:r>
          </a:p>
          <a:p>
            <a:pPr marL="800100" lvl="1" indent="-342900">
              <a:lnSpc>
                <a:spcPct val="150000"/>
              </a:lnSpc>
              <a:buFontTx/>
              <a:buChar char="-"/>
            </a:pPr>
            <a:r>
              <a:rPr lang="en-US" sz="2000" dirty="0"/>
              <a:t>Write Reduce function</a:t>
            </a:r>
          </a:p>
          <a:p>
            <a:pPr marL="342900" indent="-342900">
              <a:lnSpc>
                <a:spcPct val="150000"/>
              </a:lnSpc>
              <a:buFontTx/>
              <a:buChar char="-"/>
            </a:pPr>
            <a:r>
              <a:rPr lang="en-US" sz="2400" dirty="0"/>
              <a:t>Developers’ tasks made easy</a:t>
            </a:r>
          </a:p>
          <a:p>
            <a:pPr marL="342900" indent="-342900">
              <a:lnSpc>
                <a:spcPct val="150000"/>
              </a:lnSpc>
              <a:buFontTx/>
              <a:buChar char="-"/>
            </a:pPr>
            <a:r>
              <a:rPr lang="en-US" sz="2400" dirty="0"/>
              <a:t>Divide the problem into sub-problems</a:t>
            </a:r>
            <a:r>
              <a:rPr lang="he-IL" sz="2400" dirty="0"/>
              <a:t> </a:t>
            </a:r>
            <a:r>
              <a:rPr lang="en-US" sz="2400" dirty="0"/>
              <a:t> (divide and conquer paradigm)</a:t>
            </a:r>
            <a:endParaRPr lang="en-US" sz="26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537255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Mean 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10" name="TextBox 9">
            <a:extLst>
              <a:ext uri="{FF2B5EF4-FFF2-40B4-BE49-F238E27FC236}">
                <a16:creationId xmlns:a16="http://schemas.microsoft.com/office/drawing/2014/main" id="{0C599264-8E37-1548-A143-5E554CADAB16}"/>
              </a:ext>
            </a:extLst>
          </p:cNvPr>
          <p:cNvSpPr txBox="1"/>
          <p:nvPr/>
        </p:nvSpPr>
        <p:spPr>
          <a:xfrm>
            <a:off x="7857067" y="1092200"/>
            <a:ext cx="1337733" cy="369332"/>
          </a:xfrm>
          <a:prstGeom prst="rect">
            <a:avLst/>
          </a:prstGeom>
          <a:noFill/>
        </p:spPr>
        <p:txBody>
          <a:bodyPr wrap="square" rtlCol="0">
            <a:spAutoFit/>
          </a:bodyPr>
          <a:lstStyle/>
          <a:p>
            <a:r>
              <a:rPr lang="en-IL" dirty="0"/>
              <a:t>Reduce</a:t>
            </a:r>
          </a:p>
        </p:txBody>
      </p:sp>
      <p:sp>
        <p:nvSpPr>
          <p:cNvPr id="18" name="Alternate Process 17">
            <a:extLst>
              <a:ext uri="{FF2B5EF4-FFF2-40B4-BE49-F238E27FC236}">
                <a16:creationId xmlns:a16="http://schemas.microsoft.com/office/drawing/2014/main" id="{9E2AF447-2B5F-714C-8BCA-891551DC4FA8}"/>
              </a:ext>
            </a:extLst>
          </p:cNvPr>
          <p:cNvSpPr/>
          <p:nvPr/>
        </p:nvSpPr>
        <p:spPr>
          <a:xfrm>
            <a:off x="1397000" y="2417207"/>
            <a:ext cx="702734" cy="1921933"/>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a:t>
            </a:r>
          </a:p>
          <a:p>
            <a:pPr algn="ctr"/>
            <a:r>
              <a:rPr lang="en-IL" dirty="0"/>
              <a:t>54</a:t>
            </a:r>
          </a:p>
          <a:p>
            <a:pPr algn="ctr"/>
            <a:r>
              <a:rPr lang="en-IL" dirty="0"/>
              <a:t>12</a:t>
            </a:r>
          </a:p>
          <a:p>
            <a:pPr algn="ctr"/>
            <a:r>
              <a:rPr lang="en-IL" dirty="0"/>
              <a:t>60</a:t>
            </a:r>
          </a:p>
          <a:p>
            <a:pPr algn="ctr"/>
            <a:r>
              <a:rPr lang="en-IL" dirty="0"/>
              <a:t>29</a:t>
            </a:r>
          </a:p>
          <a:p>
            <a:pPr algn="ctr"/>
            <a:r>
              <a:rPr lang="en-IL" dirty="0"/>
              <a:t>52</a:t>
            </a:r>
          </a:p>
        </p:txBody>
      </p:sp>
    </p:spTree>
    <p:extLst>
      <p:ext uri="{BB962C8B-B14F-4D97-AF65-F5344CB8AC3E}">
        <p14:creationId xmlns:p14="http://schemas.microsoft.com/office/powerpoint/2010/main" val="350520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Mean 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10" name="TextBox 9">
            <a:extLst>
              <a:ext uri="{FF2B5EF4-FFF2-40B4-BE49-F238E27FC236}">
                <a16:creationId xmlns:a16="http://schemas.microsoft.com/office/drawing/2014/main" id="{0C599264-8E37-1548-A143-5E554CADAB16}"/>
              </a:ext>
            </a:extLst>
          </p:cNvPr>
          <p:cNvSpPr txBox="1"/>
          <p:nvPr/>
        </p:nvSpPr>
        <p:spPr>
          <a:xfrm>
            <a:off x="78570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25070"/>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a:t>
            </a:r>
          </a:p>
          <a:p>
            <a:pPr algn="ctr"/>
            <a:r>
              <a:rPr lang="en-IL" dirty="0"/>
              <a:t>54</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8" y="3227504"/>
            <a:ext cx="846666" cy="56688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12</a:t>
            </a:r>
          </a:p>
          <a:p>
            <a:pPr algn="ctr"/>
            <a:r>
              <a:rPr lang="en-IL" dirty="0"/>
              <a:t>60</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846667" cy="64532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29</a:t>
            </a:r>
          </a:p>
          <a:p>
            <a:pPr algn="ctr"/>
            <a:r>
              <a:rPr lang="en-IL" dirty="0"/>
              <a:t>52</a:t>
            </a:r>
          </a:p>
        </p:txBody>
      </p:sp>
      <p:cxnSp>
        <p:nvCxnSpPr>
          <p:cNvPr id="15" name="Straight Arrow Connector 14">
            <a:extLst>
              <a:ext uri="{FF2B5EF4-FFF2-40B4-BE49-F238E27FC236}">
                <a16:creationId xmlns:a16="http://schemas.microsoft.com/office/drawing/2014/main" id="{0C24BAE1-B3B4-4841-A985-F58C74A6DE21}"/>
              </a:ext>
            </a:extLst>
          </p:cNvPr>
          <p:cNvCxnSpPr>
            <a:cxnSpLocks/>
            <a:stCxn id="18" idx="3"/>
            <a:endCxn id="11" idx="1"/>
          </p:cNvCxnSpPr>
          <p:nvPr/>
        </p:nvCxnSpPr>
        <p:spPr>
          <a:xfrm flipV="1">
            <a:off x="2099734" y="2061607"/>
            <a:ext cx="1642533" cy="131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cxnSpLocks/>
            <a:stCxn id="18" idx="3"/>
            <a:endCxn id="12" idx="1"/>
          </p:cNvCxnSpPr>
          <p:nvPr/>
        </p:nvCxnSpPr>
        <p:spPr>
          <a:xfrm>
            <a:off x="2099734" y="3378174"/>
            <a:ext cx="1642534" cy="132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cxnSpLocks/>
            <a:stCxn id="18" idx="3"/>
            <a:endCxn id="13" idx="1"/>
          </p:cNvCxnSpPr>
          <p:nvPr/>
        </p:nvCxnSpPr>
        <p:spPr>
          <a:xfrm>
            <a:off x="2099734" y="3378174"/>
            <a:ext cx="1642532" cy="1699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Alternate Process 17">
            <a:extLst>
              <a:ext uri="{FF2B5EF4-FFF2-40B4-BE49-F238E27FC236}">
                <a16:creationId xmlns:a16="http://schemas.microsoft.com/office/drawing/2014/main" id="{9E2AF447-2B5F-714C-8BCA-891551DC4FA8}"/>
              </a:ext>
            </a:extLst>
          </p:cNvPr>
          <p:cNvSpPr/>
          <p:nvPr/>
        </p:nvSpPr>
        <p:spPr>
          <a:xfrm>
            <a:off x="1397000" y="2417207"/>
            <a:ext cx="702734" cy="1921933"/>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a:t>
            </a:r>
          </a:p>
          <a:p>
            <a:pPr algn="ctr"/>
            <a:r>
              <a:rPr lang="en-IL" dirty="0"/>
              <a:t>54</a:t>
            </a:r>
          </a:p>
          <a:p>
            <a:pPr algn="ctr"/>
            <a:r>
              <a:rPr lang="en-IL" dirty="0"/>
              <a:t>12</a:t>
            </a:r>
          </a:p>
          <a:p>
            <a:pPr algn="ctr"/>
            <a:r>
              <a:rPr lang="en-IL" dirty="0"/>
              <a:t>60</a:t>
            </a:r>
          </a:p>
          <a:p>
            <a:pPr algn="ctr"/>
            <a:r>
              <a:rPr lang="en-IL" dirty="0"/>
              <a:t>29</a:t>
            </a:r>
          </a:p>
          <a:p>
            <a:pPr algn="ctr"/>
            <a:r>
              <a:rPr lang="en-IL" dirty="0"/>
              <a:t>52</a:t>
            </a:r>
          </a:p>
        </p:txBody>
      </p:sp>
    </p:spTree>
    <p:extLst>
      <p:ext uri="{BB962C8B-B14F-4D97-AF65-F5344CB8AC3E}">
        <p14:creationId xmlns:p14="http://schemas.microsoft.com/office/powerpoint/2010/main" val="2295676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Mean 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10" name="TextBox 9">
            <a:extLst>
              <a:ext uri="{FF2B5EF4-FFF2-40B4-BE49-F238E27FC236}">
                <a16:creationId xmlns:a16="http://schemas.microsoft.com/office/drawing/2014/main" id="{0C599264-8E37-1548-A143-5E554CADAB16}"/>
              </a:ext>
            </a:extLst>
          </p:cNvPr>
          <p:cNvSpPr txBox="1"/>
          <p:nvPr/>
        </p:nvSpPr>
        <p:spPr>
          <a:xfrm>
            <a:off x="78570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25070"/>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a:t>
            </a:r>
          </a:p>
          <a:p>
            <a:pPr algn="ctr"/>
            <a:r>
              <a:rPr lang="en-IL" dirty="0"/>
              <a:t>54</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8" y="3227504"/>
            <a:ext cx="846666" cy="56688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12</a:t>
            </a:r>
          </a:p>
          <a:p>
            <a:pPr algn="ctr"/>
            <a:r>
              <a:rPr lang="en-IL" dirty="0"/>
              <a:t>60</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846667" cy="64532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29</a:t>
            </a:r>
          </a:p>
          <a:p>
            <a:pPr algn="ctr"/>
            <a:r>
              <a:rPr lang="en-IL" dirty="0"/>
              <a:t>52</a:t>
            </a:r>
          </a:p>
        </p:txBody>
      </p:sp>
      <p:cxnSp>
        <p:nvCxnSpPr>
          <p:cNvPr id="15" name="Straight Arrow Connector 14">
            <a:extLst>
              <a:ext uri="{FF2B5EF4-FFF2-40B4-BE49-F238E27FC236}">
                <a16:creationId xmlns:a16="http://schemas.microsoft.com/office/drawing/2014/main" id="{0C24BAE1-B3B4-4841-A985-F58C74A6DE21}"/>
              </a:ext>
            </a:extLst>
          </p:cNvPr>
          <p:cNvCxnSpPr>
            <a:cxnSpLocks/>
            <a:stCxn id="18" idx="3"/>
            <a:endCxn id="11" idx="1"/>
          </p:cNvCxnSpPr>
          <p:nvPr/>
        </p:nvCxnSpPr>
        <p:spPr>
          <a:xfrm flipV="1">
            <a:off x="2099734" y="2061607"/>
            <a:ext cx="1642533" cy="131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cxnSpLocks/>
            <a:stCxn id="18" idx="3"/>
            <a:endCxn id="12" idx="1"/>
          </p:cNvCxnSpPr>
          <p:nvPr/>
        </p:nvCxnSpPr>
        <p:spPr>
          <a:xfrm>
            <a:off x="2099734" y="3378174"/>
            <a:ext cx="1642534" cy="132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cxnSpLocks/>
            <a:stCxn id="18" idx="3"/>
            <a:endCxn id="13" idx="1"/>
          </p:cNvCxnSpPr>
          <p:nvPr/>
        </p:nvCxnSpPr>
        <p:spPr>
          <a:xfrm>
            <a:off x="2099734" y="3378174"/>
            <a:ext cx="1642532" cy="1699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Alternate Process 17">
            <a:extLst>
              <a:ext uri="{FF2B5EF4-FFF2-40B4-BE49-F238E27FC236}">
                <a16:creationId xmlns:a16="http://schemas.microsoft.com/office/drawing/2014/main" id="{9E2AF447-2B5F-714C-8BCA-891551DC4FA8}"/>
              </a:ext>
            </a:extLst>
          </p:cNvPr>
          <p:cNvSpPr/>
          <p:nvPr/>
        </p:nvSpPr>
        <p:spPr>
          <a:xfrm>
            <a:off x="1397000" y="2417207"/>
            <a:ext cx="702734" cy="1921933"/>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a:t>
            </a:r>
          </a:p>
          <a:p>
            <a:pPr algn="ctr"/>
            <a:r>
              <a:rPr lang="en-IL" dirty="0"/>
              <a:t>54</a:t>
            </a:r>
          </a:p>
          <a:p>
            <a:pPr algn="ctr"/>
            <a:r>
              <a:rPr lang="en-IL" dirty="0"/>
              <a:t>12</a:t>
            </a:r>
          </a:p>
          <a:p>
            <a:pPr algn="ctr"/>
            <a:r>
              <a:rPr lang="en-IL" dirty="0"/>
              <a:t>60</a:t>
            </a:r>
          </a:p>
          <a:p>
            <a:pPr algn="ctr"/>
            <a:r>
              <a:rPr lang="en-IL" dirty="0"/>
              <a:t>29</a:t>
            </a:r>
          </a:p>
          <a:p>
            <a:pPr algn="ctr"/>
            <a:r>
              <a:rPr lang="en-IL" dirty="0"/>
              <a:t>52</a:t>
            </a:r>
          </a:p>
        </p:txBody>
      </p:sp>
      <p:cxnSp>
        <p:nvCxnSpPr>
          <p:cNvPr id="27" name="Straight Arrow Connector 26">
            <a:extLst>
              <a:ext uri="{FF2B5EF4-FFF2-40B4-BE49-F238E27FC236}">
                <a16:creationId xmlns:a16="http://schemas.microsoft.com/office/drawing/2014/main" id="{B7C79FFB-637C-5D44-904F-A8AD5EFED67D}"/>
              </a:ext>
            </a:extLst>
          </p:cNvPr>
          <p:cNvCxnSpPr>
            <a:stCxn id="11" idx="3"/>
          </p:cNvCxnSpPr>
          <p:nvPr/>
        </p:nvCxnSpPr>
        <p:spPr>
          <a:xfrm>
            <a:off x="4588933" y="2061607"/>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5EB5850-C080-9D48-9B9C-5DDC79CA2B7C}"/>
              </a:ext>
            </a:extLst>
          </p:cNvPr>
          <p:cNvSpPr/>
          <p:nvPr/>
        </p:nvSpPr>
        <p:spPr>
          <a:xfrm>
            <a:off x="5842001" y="1744133"/>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96,1</a:t>
            </a:r>
          </a:p>
          <a:p>
            <a:pPr algn="ctr"/>
            <a:r>
              <a:rPr lang="en-IL" dirty="0"/>
              <a:t>54,1</a:t>
            </a:r>
          </a:p>
        </p:txBody>
      </p:sp>
      <p:sp>
        <p:nvSpPr>
          <p:cNvPr id="29" name="Rectangle 28">
            <a:extLst>
              <a:ext uri="{FF2B5EF4-FFF2-40B4-BE49-F238E27FC236}">
                <a16:creationId xmlns:a16="http://schemas.microsoft.com/office/drawing/2014/main" id="{A40DF9AA-384F-8B45-B62E-331BB50B1C60}"/>
              </a:ext>
            </a:extLst>
          </p:cNvPr>
          <p:cNvSpPr/>
          <p:nvPr/>
        </p:nvSpPr>
        <p:spPr>
          <a:xfrm>
            <a:off x="5833535" y="3092463"/>
            <a:ext cx="846666" cy="673074"/>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12,1</a:t>
            </a:r>
          </a:p>
          <a:p>
            <a:pPr algn="ctr"/>
            <a:r>
              <a:rPr lang="en-IL" dirty="0"/>
              <a:t>60,1</a:t>
            </a:r>
          </a:p>
        </p:txBody>
      </p:sp>
      <p:cxnSp>
        <p:nvCxnSpPr>
          <p:cNvPr id="30" name="Straight Arrow Connector 29">
            <a:extLst>
              <a:ext uri="{FF2B5EF4-FFF2-40B4-BE49-F238E27FC236}">
                <a16:creationId xmlns:a16="http://schemas.microsoft.com/office/drawing/2014/main" id="{21534A8E-107B-444C-9D64-8E334F22C6C6}"/>
              </a:ext>
            </a:extLst>
          </p:cNvPr>
          <p:cNvCxnSpPr/>
          <p:nvPr/>
        </p:nvCxnSpPr>
        <p:spPr>
          <a:xfrm>
            <a:off x="4588933" y="3510944"/>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122E11F-7C87-7C4F-8F62-0E70CCD1BDF9}"/>
              </a:ext>
            </a:extLst>
          </p:cNvPr>
          <p:cNvCxnSpPr/>
          <p:nvPr/>
        </p:nvCxnSpPr>
        <p:spPr>
          <a:xfrm>
            <a:off x="4588933" y="5078013"/>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2C2E5A0-F7BE-0E43-8D79-F9CCED993E09}"/>
              </a:ext>
            </a:extLst>
          </p:cNvPr>
          <p:cNvSpPr/>
          <p:nvPr/>
        </p:nvSpPr>
        <p:spPr>
          <a:xfrm>
            <a:off x="5842001" y="4755351"/>
            <a:ext cx="846666" cy="67307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29,1</a:t>
            </a:r>
          </a:p>
          <a:p>
            <a:pPr algn="ctr"/>
            <a:r>
              <a:rPr lang="en-IL" dirty="0"/>
              <a:t>52,1</a:t>
            </a:r>
          </a:p>
        </p:txBody>
      </p:sp>
    </p:spTree>
    <p:extLst>
      <p:ext uri="{BB962C8B-B14F-4D97-AF65-F5344CB8AC3E}">
        <p14:creationId xmlns:p14="http://schemas.microsoft.com/office/powerpoint/2010/main" val="55597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Mean 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10" name="TextBox 9">
            <a:extLst>
              <a:ext uri="{FF2B5EF4-FFF2-40B4-BE49-F238E27FC236}">
                <a16:creationId xmlns:a16="http://schemas.microsoft.com/office/drawing/2014/main" id="{0C599264-8E37-1548-A143-5E554CADAB16}"/>
              </a:ext>
            </a:extLst>
          </p:cNvPr>
          <p:cNvSpPr txBox="1"/>
          <p:nvPr/>
        </p:nvSpPr>
        <p:spPr>
          <a:xfrm>
            <a:off x="78570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25070"/>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a:t>
            </a:r>
          </a:p>
          <a:p>
            <a:pPr algn="ctr"/>
            <a:r>
              <a:rPr lang="en-IL" dirty="0"/>
              <a:t>54</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8" y="3227504"/>
            <a:ext cx="846666" cy="56688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12</a:t>
            </a:r>
          </a:p>
          <a:p>
            <a:pPr algn="ctr"/>
            <a:r>
              <a:rPr lang="en-IL" dirty="0"/>
              <a:t>60</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846667" cy="64532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29</a:t>
            </a:r>
          </a:p>
          <a:p>
            <a:pPr algn="ctr"/>
            <a:r>
              <a:rPr lang="en-IL" dirty="0"/>
              <a:t>52</a:t>
            </a:r>
          </a:p>
        </p:txBody>
      </p:sp>
      <p:cxnSp>
        <p:nvCxnSpPr>
          <p:cNvPr id="15" name="Straight Arrow Connector 14">
            <a:extLst>
              <a:ext uri="{FF2B5EF4-FFF2-40B4-BE49-F238E27FC236}">
                <a16:creationId xmlns:a16="http://schemas.microsoft.com/office/drawing/2014/main" id="{0C24BAE1-B3B4-4841-A985-F58C74A6DE21}"/>
              </a:ext>
            </a:extLst>
          </p:cNvPr>
          <p:cNvCxnSpPr>
            <a:cxnSpLocks/>
            <a:stCxn id="18" idx="3"/>
            <a:endCxn id="11" idx="1"/>
          </p:cNvCxnSpPr>
          <p:nvPr/>
        </p:nvCxnSpPr>
        <p:spPr>
          <a:xfrm flipV="1">
            <a:off x="2099734" y="2061607"/>
            <a:ext cx="1642533" cy="131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cxnSpLocks/>
            <a:stCxn id="18" idx="3"/>
            <a:endCxn id="12" idx="1"/>
          </p:cNvCxnSpPr>
          <p:nvPr/>
        </p:nvCxnSpPr>
        <p:spPr>
          <a:xfrm>
            <a:off x="2099734" y="3378174"/>
            <a:ext cx="1642534" cy="132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cxnSpLocks/>
            <a:stCxn id="18" idx="3"/>
            <a:endCxn id="13" idx="1"/>
          </p:cNvCxnSpPr>
          <p:nvPr/>
        </p:nvCxnSpPr>
        <p:spPr>
          <a:xfrm>
            <a:off x="2099734" y="3378174"/>
            <a:ext cx="1642532" cy="1699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Alternate Process 17">
            <a:extLst>
              <a:ext uri="{FF2B5EF4-FFF2-40B4-BE49-F238E27FC236}">
                <a16:creationId xmlns:a16="http://schemas.microsoft.com/office/drawing/2014/main" id="{9E2AF447-2B5F-714C-8BCA-891551DC4FA8}"/>
              </a:ext>
            </a:extLst>
          </p:cNvPr>
          <p:cNvSpPr/>
          <p:nvPr/>
        </p:nvSpPr>
        <p:spPr>
          <a:xfrm>
            <a:off x="1397000" y="2417207"/>
            <a:ext cx="702734" cy="1921933"/>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a:t>
            </a:r>
          </a:p>
          <a:p>
            <a:pPr algn="ctr"/>
            <a:r>
              <a:rPr lang="en-IL" dirty="0"/>
              <a:t>54</a:t>
            </a:r>
          </a:p>
          <a:p>
            <a:pPr algn="ctr"/>
            <a:r>
              <a:rPr lang="en-IL" dirty="0"/>
              <a:t>12</a:t>
            </a:r>
          </a:p>
          <a:p>
            <a:pPr algn="ctr"/>
            <a:r>
              <a:rPr lang="en-IL" dirty="0"/>
              <a:t>60</a:t>
            </a:r>
          </a:p>
          <a:p>
            <a:pPr algn="ctr"/>
            <a:r>
              <a:rPr lang="en-IL" dirty="0"/>
              <a:t>29</a:t>
            </a:r>
          </a:p>
          <a:p>
            <a:pPr algn="ctr"/>
            <a:r>
              <a:rPr lang="en-IL" dirty="0"/>
              <a:t>52</a:t>
            </a:r>
          </a:p>
        </p:txBody>
      </p:sp>
      <p:cxnSp>
        <p:nvCxnSpPr>
          <p:cNvPr id="27" name="Straight Arrow Connector 26">
            <a:extLst>
              <a:ext uri="{FF2B5EF4-FFF2-40B4-BE49-F238E27FC236}">
                <a16:creationId xmlns:a16="http://schemas.microsoft.com/office/drawing/2014/main" id="{B7C79FFB-637C-5D44-904F-A8AD5EFED67D}"/>
              </a:ext>
            </a:extLst>
          </p:cNvPr>
          <p:cNvCxnSpPr>
            <a:stCxn id="11" idx="3"/>
          </p:cNvCxnSpPr>
          <p:nvPr/>
        </p:nvCxnSpPr>
        <p:spPr>
          <a:xfrm>
            <a:off x="4588933" y="2061607"/>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5EB5850-C080-9D48-9B9C-5DDC79CA2B7C}"/>
              </a:ext>
            </a:extLst>
          </p:cNvPr>
          <p:cNvSpPr/>
          <p:nvPr/>
        </p:nvSpPr>
        <p:spPr>
          <a:xfrm>
            <a:off x="5842001" y="1744133"/>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96,1</a:t>
            </a:r>
          </a:p>
          <a:p>
            <a:pPr algn="ctr"/>
            <a:r>
              <a:rPr lang="en-IL" dirty="0"/>
              <a:t>54,1</a:t>
            </a:r>
          </a:p>
        </p:txBody>
      </p:sp>
      <p:sp>
        <p:nvSpPr>
          <p:cNvPr id="29" name="Rectangle 28">
            <a:extLst>
              <a:ext uri="{FF2B5EF4-FFF2-40B4-BE49-F238E27FC236}">
                <a16:creationId xmlns:a16="http://schemas.microsoft.com/office/drawing/2014/main" id="{A40DF9AA-384F-8B45-B62E-331BB50B1C60}"/>
              </a:ext>
            </a:extLst>
          </p:cNvPr>
          <p:cNvSpPr/>
          <p:nvPr/>
        </p:nvSpPr>
        <p:spPr>
          <a:xfrm>
            <a:off x="5833535" y="3092463"/>
            <a:ext cx="846666" cy="673074"/>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12,1</a:t>
            </a:r>
          </a:p>
          <a:p>
            <a:pPr algn="ctr"/>
            <a:r>
              <a:rPr lang="en-IL" dirty="0"/>
              <a:t>60,1</a:t>
            </a:r>
          </a:p>
        </p:txBody>
      </p:sp>
      <p:cxnSp>
        <p:nvCxnSpPr>
          <p:cNvPr id="30" name="Straight Arrow Connector 29">
            <a:extLst>
              <a:ext uri="{FF2B5EF4-FFF2-40B4-BE49-F238E27FC236}">
                <a16:creationId xmlns:a16="http://schemas.microsoft.com/office/drawing/2014/main" id="{21534A8E-107B-444C-9D64-8E334F22C6C6}"/>
              </a:ext>
            </a:extLst>
          </p:cNvPr>
          <p:cNvCxnSpPr/>
          <p:nvPr/>
        </p:nvCxnSpPr>
        <p:spPr>
          <a:xfrm>
            <a:off x="4588933" y="3510944"/>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122E11F-7C87-7C4F-8F62-0E70CCD1BDF9}"/>
              </a:ext>
            </a:extLst>
          </p:cNvPr>
          <p:cNvCxnSpPr/>
          <p:nvPr/>
        </p:nvCxnSpPr>
        <p:spPr>
          <a:xfrm>
            <a:off x="4588933" y="5078013"/>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2C2E5A0-F7BE-0E43-8D79-F9CCED993E09}"/>
              </a:ext>
            </a:extLst>
          </p:cNvPr>
          <p:cNvSpPr/>
          <p:nvPr/>
        </p:nvSpPr>
        <p:spPr>
          <a:xfrm>
            <a:off x="5842001" y="4755351"/>
            <a:ext cx="846666" cy="67307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29,1</a:t>
            </a:r>
          </a:p>
          <a:p>
            <a:pPr algn="ctr"/>
            <a:r>
              <a:rPr lang="en-IL" dirty="0"/>
              <a:t>52,1</a:t>
            </a:r>
          </a:p>
        </p:txBody>
      </p:sp>
      <p:sp>
        <p:nvSpPr>
          <p:cNvPr id="33" name="Rectangle 32">
            <a:extLst>
              <a:ext uri="{FF2B5EF4-FFF2-40B4-BE49-F238E27FC236}">
                <a16:creationId xmlns:a16="http://schemas.microsoft.com/office/drawing/2014/main" id="{5813FE9B-4F86-B548-9975-50870B8F48DF}"/>
              </a:ext>
            </a:extLst>
          </p:cNvPr>
          <p:cNvSpPr/>
          <p:nvPr/>
        </p:nvSpPr>
        <p:spPr>
          <a:xfrm>
            <a:off x="7882469" y="1716383"/>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150,2</a:t>
            </a:r>
          </a:p>
        </p:txBody>
      </p:sp>
      <p:sp>
        <p:nvSpPr>
          <p:cNvPr id="35" name="Rectangle 34">
            <a:extLst>
              <a:ext uri="{FF2B5EF4-FFF2-40B4-BE49-F238E27FC236}">
                <a16:creationId xmlns:a16="http://schemas.microsoft.com/office/drawing/2014/main" id="{4B2EFC5D-1504-754A-AE57-ADA5E7FB2BD1}"/>
              </a:ext>
            </a:extLst>
          </p:cNvPr>
          <p:cNvSpPr/>
          <p:nvPr/>
        </p:nvSpPr>
        <p:spPr>
          <a:xfrm>
            <a:off x="7878233" y="3108441"/>
            <a:ext cx="846666" cy="673074"/>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72,2</a:t>
            </a:r>
          </a:p>
        </p:txBody>
      </p:sp>
      <p:sp>
        <p:nvSpPr>
          <p:cNvPr id="37" name="Rectangle 36">
            <a:extLst>
              <a:ext uri="{FF2B5EF4-FFF2-40B4-BE49-F238E27FC236}">
                <a16:creationId xmlns:a16="http://schemas.microsoft.com/office/drawing/2014/main" id="{BE63B3F1-13B8-E248-977A-FCEE35CAA4B7}"/>
              </a:ext>
            </a:extLst>
          </p:cNvPr>
          <p:cNvSpPr/>
          <p:nvPr/>
        </p:nvSpPr>
        <p:spPr>
          <a:xfrm>
            <a:off x="7882468" y="4755351"/>
            <a:ext cx="846666" cy="67307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81,2</a:t>
            </a:r>
          </a:p>
        </p:txBody>
      </p:sp>
      <p:cxnSp>
        <p:nvCxnSpPr>
          <p:cNvPr id="40" name="Straight Arrow Connector 39">
            <a:extLst>
              <a:ext uri="{FF2B5EF4-FFF2-40B4-BE49-F238E27FC236}">
                <a16:creationId xmlns:a16="http://schemas.microsoft.com/office/drawing/2014/main" id="{FD7691BD-3C0D-BB4E-BE51-D82F27F24542}"/>
              </a:ext>
            </a:extLst>
          </p:cNvPr>
          <p:cNvCxnSpPr/>
          <p:nvPr/>
        </p:nvCxnSpPr>
        <p:spPr>
          <a:xfrm>
            <a:off x="6692899" y="2076410"/>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D367818-0CA8-2947-8158-334B0E5AB206}"/>
              </a:ext>
            </a:extLst>
          </p:cNvPr>
          <p:cNvCxnSpPr/>
          <p:nvPr/>
        </p:nvCxnSpPr>
        <p:spPr>
          <a:xfrm>
            <a:off x="6680201" y="3510944"/>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790C92C-0725-2047-B9E9-8FB0BCB10EF3}"/>
              </a:ext>
            </a:extLst>
          </p:cNvPr>
          <p:cNvCxnSpPr/>
          <p:nvPr/>
        </p:nvCxnSpPr>
        <p:spPr>
          <a:xfrm>
            <a:off x="6688667" y="5160407"/>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0303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Mean 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10" name="TextBox 9">
            <a:extLst>
              <a:ext uri="{FF2B5EF4-FFF2-40B4-BE49-F238E27FC236}">
                <a16:creationId xmlns:a16="http://schemas.microsoft.com/office/drawing/2014/main" id="{0C599264-8E37-1548-A143-5E554CADAB16}"/>
              </a:ext>
            </a:extLst>
          </p:cNvPr>
          <p:cNvSpPr txBox="1"/>
          <p:nvPr/>
        </p:nvSpPr>
        <p:spPr>
          <a:xfrm>
            <a:off x="78570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25070"/>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a:t>
            </a:r>
          </a:p>
          <a:p>
            <a:pPr algn="ctr"/>
            <a:r>
              <a:rPr lang="en-IL" dirty="0"/>
              <a:t>54</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8" y="3227504"/>
            <a:ext cx="846666" cy="56688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12</a:t>
            </a:r>
          </a:p>
          <a:p>
            <a:pPr algn="ctr"/>
            <a:r>
              <a:rPr lang="en-IL" dirty="0"/>
              <a:t>60</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846667" cy="64532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29</a:t>
            </a:r>
          </a:p>
          <a:p>
            <a:pPr algn="ctr"/>
            <a:r>
              <a:rPr lang="en-IL" dirty="0"/>
              <a:t>52</a:t>
            </a:r>
          </a:p>
        </p:txBody>
      </p:sp>
      <p:cxnSp>
        <p:nvCxnSpPr>
          <p:cNvPr id="15" name="Straight Arrow Connector 14">
            <a:extLst>
              <a:ext uri="{FF2B5EF4-FFF2-40B4-BE49-F238E27FC236}">
                <a16:creationId xmlns:a16="http://schemas.microsoft.com/office/drawing/2014/main" id="{0C24BAE1-B3B4-4841-A985-F58C74A6DE21}"/>
              </a:ext>
            </a:extLst>
          </p:cNvPr>
          <p:cNvCxnSpPr>
            <a:cxnSpLocks/>
            <a:stCxn id="18" idx="3"/>
            <a:endCxn id="11" idx="1"/>
          </p:cNvCxnSpPr>
          <p:nvPr/>
        </p:nvCxnSpPr>
        <p:spPr>
          <a:xfrm flipV="1">
            <a:off x="2099734" y="2061607"/>
            <a:ext cx="1642533" cy="131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cxnSpLocks/>
            <a:stCxn id="18" idx="3"/>
            <a:endCxn id="12" idx="1"/>
          </p:cNvCxnSpPr>
          <p:nvPr/>
        </p:nvCxnSpPr>
        <p:spPr>
          <a:xfrm>
            <a:off x="2099734" y="3378174"/>
            <a:ext cx="1642534" cy="132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cxnSpLocks/>
            <a:stCxn id="18" idx="3"/>
            <a:endCxn id="13" idx="1"/>
          </p:cNvCxnSpPr>
          <p:nvPr/>
        </p:nvCxnSpPr>
        <p:spPr>
          <a:xfrm>
            <a:off x="2099734" y="3378174"/>
            <a:ext cx="1642532" cy="1699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Alternate Process 17">
            <a:extLst>
              <a:ext uri="{FF2B5EF4-FFF2-40B4-BE49-F238E27FC236}">
                <a16:creationId xmlns:a16="http://schemas.microsoft.com/office/drawing/2014/main" id="{9E2AF447-2B5F-714C-8BCA-891551DC4FA8}"/>
              </a:ext>
            </a:extLst>
          </p:cNvPr>
          <p:cNvSpPr/>
          <p:nvPr/>
        </p:nvSpPr>
        <p:spPr>
          <a:xfrm>
            <a:off x="1397000" y="2417207"/>
            <a:ext cx="702734" cy="1921933"/>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a:t>
            </a:r>
          </a:p>
          <a:p>
            <a:pPr algn="ctr"/>
            <a:r>
              <a:rPr lang="en-IL" dirty="0"/>
              <a:t>54</a:t>
            </a:r>
          </a:p>
          <a:p>
            <a:pPr algn="ctr"/>
            <a:r>
              <a:rPr lang="en-IL" dirty="0"/>
              <a:t>12</a:t>
            </a:r>
          </a:p>
          <a:p>
            <a:pPr algn="ctr"/>
            <a:r>
              <a:rPr lang="en-IL" dirty="0"/>
              <a:t>60</a:t>
            </a:r>
          </a:p>
          <a:p>
            <a:pPr algn="ctr"/>
            <a:r>
              <a:rPr lang="en-IL" dirty="0"/>
              <a:t>29</a:t>
            </a:r>
          </a:p>
          <a:p>
            <a:pPr algn="ctr"/>
            <a:r>
              <a:rPr lang="en-IL" dirty="0"/>
              <a:t>52</a:t>
            </a:r>
          </a:p>
        </p:txBody>
      </p:sp>
      <p:cxnSp>
        <p:nvCxnSpPr>
          <p:cNvPr id="27" name="Straight Arrow Connector 26">
            <a:extLst>
              <a:ext uri="{FF2B5EF4-FFF2-40B4-BE49-F238E27FC236}">
                <a16:creationId xmlns:a16="http://schemas.microsoft.com/office/drawing/2014/main" id="{B7C79FFB-637C-5D44-904F-A8AD5EFED67D}"/>
              </a:ext>
            </a:extLst>
          </p:cNvPr>
          <p:cNvCxnSpPr>
            <a:stCxn id="11" idx="3"/>
          </p:cNvCxnSpPr>
          <p:nvPr/>
        </p:nvCxnSpPr>
        <p:spPr>
          <a:xfrm>
            <a:off x="4588933" y="2061607"/>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5EB5850-C080-9D48-9B9C-5DDC79CA2B7C}"/>
              </a:ext>
            </a:extLst>
          </p:cNvPr>
          <p:cNvSpPr/>
          <p:nvPr/>
        </p:nvSpPr>
        <p:spPr>
          <a:xfrm>
            <a:off x="5842001" y="1744133"/>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96,1</a:t>
            </a:r>
          </a:p>
          <a:p>
            <a:pPr algn="ctr"/>
            <a:r>
              <a:rPr lang="en-IL" dirty="0"/>
              <a:t>54,1</a:t>
            </a:r>
          </a:p>
        </p:txBody>
      </p:sp>
      <p:sp>
        <p:nvSpPr>
          <p:cNvPr id="29" name="Rectangle 28">
            <a:extLst>
              <a:ext uri="{FF2B5EF4-FFF2-40B4-BE49-F238E27FC236}">
                <a16:creationId xmlns:a16="http://schemas.microsoft.com/office/drawing/2014/main" id="{A40DF9AA-384F-8B45-B62E-331BB50B1C60}"/>
              </a:ext>
            </a:extLst>
          </p:cNvPr>
          <p:cNvSpPr/>
          <p:nvPr/>
        </p:nvSpPr>
        <p:spPr>
          <a:xfrm>
            <a:off x="5833535" y="3092463"/>
            <a:ext cx="846666" cy="673074"/>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12,1</a:t>
            </a:r>
          </a:p>
          <a:p>
            <a:pPr algn="ctr"/>
            <a:r>
              <a:rPr lang="en-IL" dirty="0"/>
              <a:t>60,1</a:t>
            </a:r>
          </a:p>
        </p:txBody>
      </p:sp>
      <p:cxnSp>
        <p:nvCxnSpPr>
          <p:cNvPr id="30" name="Straight Arrow Connector 29">
            <a:extLst>
              <a:ext uri="{FF2B5EF4-FFF2-40B4-BE49-F238E27FC236}">
                <a16:creationId xmlns:a16="http://schemas.microsoft.com/office/drawing/2014/main" id="{21534A8E-107B-444C-9D64-8E334F22C6C6}"/>
              </a:ext>
            </a:extLst>
          </p:cNvPr>
          <p:cNvCxnSpPr/>
          <p:nvPr/>
        </p:nvCxnSpPr>
        <p:spPr>
          <a:xfrm>
            <a:off x="4588933" y="3510944"/>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122E11F-7C87-7C4F-8F62-0E70CCD1BDF9}"/>
              </a:ext>
            </a:extLst>
          </p:cNvPr>
          <p:cNvCxnSpPr/>
          <p:nvPr/>
        </p:nvCxnSpPr>
        <p:spPr>
          <a:xfrm>
            <a:off x="4588933" y="5078013"/>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2C2E5A0-F7BE-0E43-8D79-F9CCED993E09}"/>
              </a:ext>
            </a:extLst>
          </p:cNvPr>
          <p:cNvSpPr/>
          <p:nvPr/>
        </p:nvSpPr>
        <p:spPr>
          <a:xfrm>
            <a:off x="5842001" y="4755351"/>
            <a:ext cx="846666" cy="67307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29,1</a:t>
            </a:r>
          </a:p>
          <a:p>
            <a:pPr algn="ctr"/>
            <a:r>
              <a:rPr lang="en-IL" dirty="0"/>
              <a:t>52,1</a:t>
            </a:r>
          </a:p>
        </p:txBody>
      </p:sp>
      <p:cxnSp>
        <p:nvCxnSpPr>
          <p:cNvPr id="34" name="Straight Arrow Connector 33">
            <a:extLst>
              <a:ext uri="{FF2B5EF4-FFF2-40B4-BE49-F238E27FC236}">
                <a16:creationId xmlns:a16="http://schemas.microsoft.com/office/drawing/2014/main" id="{35699D61-8E6E-8646-9438-9D7E81E726F3}"/>
              </a:ext>
            </a:extLst>
          </p:cNvPr>
          <p:cNvCxnSpPr>
            <a:cxnSpLocks/>
          </p:cNvCxnSpPr>
          <p:nvPr/>
        </p:nvCxnSpPr>
        <p:spPr>
          <a:xfrm>
            <a:off x="8729144" y="2086021"/>
            <a:ext cx="1126066" cy="806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34859E1-8BEE-4C48-8708-9D0019A16B89}"/>
              </a:ext>
            </a:extLst>
          </p:cNvPr>
          <p:cNvCxnSpPr>
            <a:cxnSpLocks/>
          </p:cNvCxnSpPr>
          <p:nvPr/>
        </p:nvCxnSpPr>
        <p:spPr>
          <a:xfrm flipV="1">
            <a:off x="8746065" y="3406877"/>
            <a:ext cx="1176866" cy="49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06BF6C6-B6BA-8346-883E-C4A19265703E}"/>
              </a:ext>
            </a:extLst>
          </p:cNvPr>
          <p:cNvCxnSpPr>
            <a:cxnSpLocks/>
          </p:cNvCxnSpPr>
          <p:nvPr/>
        </p:nvCxnSpPr>
        <p:spPr>
          <a:xfrm flipV="1">
            <a:off x="8813811" y="4036367"/>
            <a:ext cx="1024466" cy="1121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1D5768A-8ADB-4846-9ACC-8D5AD5FA7312}"/>
              </a:ext>
            </a:extLst>
          </p:cNvPr>
          <p:cNvSpPr/>
          <p:nvPr/>
        </p:nvSpPr>
        <p:spPr>
          <a:xfrm>
            <a:off x="10121899" y="3070340"/>
            <a:ext cx="846666" cy="6730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303,6</a:t>
            </a:r>
          </a:p>
        </p:txBody>
      </p:sp>
      <p:sp>
        <p:nvSpPr>
          <p:cNvPr id="33" name="Rectangle 32">
            <a:extLst>
              <a:ext uri="{FF2B5EF4-FFF2-40B4-BE49-F238E27FC236}">
                <a16:creationId xmlns:a16="http://schemas.microsoft.com/office/drawing/2014/main" id="{5813FE9B-4F86-B548-9975-50870B8F48DF}"/>
              </a:ext>
            </a:extLst>
          </p:cNvPr>
          <p:cNvSpPr/>
          <p:nvPr/>
        </p:nvSpPr>
        <p:spPr>
          <a:xfrm>
            <a:off x="7882469" y="1716383"/>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150,2</a:t>
            </a:r>
          </a:p>
        </p:txBody>
      </p:sp>
      <p:sp>
        <p:nvSpPr>
          <p:cNvPr id="35" name="Rectangle 34">
            <a:extLst>
              <a:ext uri="{FF2B5EF4-FFF2-40B4-BE49-F238E27FC236}">
                <a16:creationId xmlns:a16="http://schemas.microsoft.com/office/drawing/2014/main" id="{4B2EFC5D-1504-754A-AE57-ADA5E7FB2BD1}"/>
              </a:ext>
            </a:extLst>
          </p:cNvPr>
          <p:cNvSpPr/>
          <p:nvPr/>
        </p:nvSpPr>
        <p:spPr>
          <a:xfrm>
            <a:off x="7878233" y="3108441"/>
            <a:ext cx="846666" cy="673074"/>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72,2</a:t>
            </a:r>
          </a:p>
        </p:txBody>
      </p:sp>
      <p:sp>
        <p:nvSpPr>
          <p:cNvPr id="37" name="Rectangle 36">
            <a:extLst>
              <a:ext uri="{FF2B5EF4-FFF2-40B4-BE49-F238E27FC236}">
                <a16:creationId xmlns:a16="http://schemas.microsoft.com/office/drawing/2014/main" id="{BE63B3F1-13B8-E248-977A-FCEE35CAA4B7}"/>
              </a:ext>
            </a:extLst>
          </p:cNvPr>
          <p:cNvSpPr/>
          <p:nvPr/>
        </p:nvSpPr>
        <p:spPr>
          <a:xfrm>
            <a:off x="7882468" y="4755351"/>
            <a:ext cx="846666" cy="67307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81,2</a:t>
            </a:r>
          </a:p>
        </p:txBody>
      </p:sp>
      <p:cxnSp>
        <p:nvCxnSpPr>
          <p:cNvPr id="40" name="Straight Arrow Connector 39">
            <a:extLst>
              <a:ext uri="{FF2B5EF4-FFF2-40B4-BE49-F238E27FC236}">
                <a16:creationId xmlns:a16="http://schemas.microsoft.com/office/drawing/2014/main" id="{FD7691BD-3C0D-BB4E-BE51-D82F27F24542}"/>
              </a:ext>
            </a:extLst>
          </p:cNvPr>
          <p:cNvCxnSpPr/>
          <p:nvPr/>
        </p:nvCxnSpPr>
        <p:spPr>
          <a:xfrm>
            <a:off x="6692899" y="2076410"/>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D367818-0CA8-2947-8158-334B0E5AB206}"/>
              </a:ext>
            </a:extLst>
          </p:cNvPr>
          <p:cNvCxnSpPr/>
          <p:nvPr/>
        </p:nvCxnSpPr>
        <p:spPr>
          <a:xfrm>
            <a:off x="6680201" y="3510944"/>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790C92C-0725-2047-B9E9-8FB0BCB10EF3}"/>
              </a:ext>
            </a:extLst>
          </p:cNvPr>
          <p:cNvCxnSpPr/>
          <p:nvPr/>
        </p:nvCxnSpPr>
        <p:spPr>
          <a:xfrm>
            <a:off x="6688667" y="5160407"/>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263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Mean Example</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587018DC-63B1-914A-9AE8-9A5FB1593549}"/>
              </a:ext>
            </a:extLst>
          </p:cNvPr>
          <p:cNvSpPr txBox="1"/>
          <p:nvPr/>
        </p:nvSpPr>
        <p:spPr>
          <a:xfrm>
            <a:off x="1397000" y="1092200"/>
            <a:ext cx="1337733" cy="369332"/>
          </a:xfrm>
          <a:prstGeom prst="rect">
            <a:avLst/>
          </a:prstGeom>
          <a:noFill/>
        </p:spPr>
        <p:txBody>
          <a:bodyPr wrap="square" rtlCol="0">
            <a:spAutoFit/>
          </a:bodyPr>
          <a:lstStyle/>
          <a:p>
            <a:r>
              <a:rPr lang="en-IL" dirty="0"/>
              <a:t>Input</a:t>
            </a:r>
          </a:p>
        </p:txBody>
      </p:sp>
      <p:sp>
        <p:nvSpPr>
          <p:cNvPr id="7" name="TextBox 6">
            <a:extLst>
              <a:ext uri="{FF2B5EF4-FFF2-40B4-BE49-F238E27FC236}">
                <a16:creationId xmlns:a16="http://schemas.microsoft.com/office/drawing/2014/main" id="{CE2BDBB2-3C9B-614C-9B46-F7B3969C84EB}"/>
              </a:ext>
            </a:extLst>
          </p:cNvPr>
          <p:cNvSpPr txBox="1"/>
          <p:nvPr/>
        </p:nvSpPr>
        <p:spPr>
          <a:xfrm>
            <a:off x="3979335" y="1092200"/>
            <a:ext cx="1337733" cy="369332"/>
          </a:xfrm>
          <a:prstGeom prst="rect">
            <a:avLst/>
          </a:prstGeom>
          <a:noFill/>
        </p:spPr>
        <p:txBody>
          <a:bodyPr wrap="square" rtlCol="0">
            <a:spAutoFit/>
          </a:bodyPr>
          <a:lstStyle/>
          <a:p>
            <a:r>
              <a:rPr lang="en-IL" dirty="0"/>
              <a:t>Split</a:t>
            </a:r>
          </a:p>
        </p:txBody>
      </p:sp>
      <p:sp>
        <p:nvSpPr>
          <p:cNvPr id="8" name="TextBox 7">
            <a:extLst>
              <a:ext uri="{FF2B5EF4-FFF2-40B4-BE49-F238E27FC236}">
                <a16:creationId xmlns:a16="http://schemas.microsoft.com/office/drawing/2014/main" id="{B2D7A096-E4E0-6542-A179-15807F975373}"/>
              </a:ext>
            </a:extLst>
          </p:cNvPr>
          <p:cNvSpPr txBox="1"/>
          <p:nvPr/>
        </p:nvSpPr>
        <p:spPr>
          <a:xfrm>
            <a:off x="6011335" y="1092200"/>
            <a:ext cx="1337733" cy="369332"/>
          </a:xfrm>
          <a:prstGeom prst="rect">
            <a:avLst/>
          </a:prstGeom>
          <a:noFill/>
        </p:spPr>
        <p:txBody>
          <a:bodyPr wrap="square" rtlCol="0">
            <a:spAutoFit/>
          </a:bodyPr>
          <a:lstStyle/>
          <a:p>
            <a:r>
              <a:rPr lang="en-IL" dirty="0"/>
              <a:t>Map</a:t>
            </a:r>
          </a:p>
        </p:txBody>
      </p:sp>
      <p:sp>
        <p:nvSpPr>
          <p:cNvPr id="10" name="TextBox 9">
            <a:extLst>
              <a:ext uri="{FF2B5EF4-FFF2-40B4-BE49-F238E27FC236}">
                <a16:creationId xmlns:a16="http://schemas.microsoft.com/office/drawing/2014/main" id="{0C599264-8E37-1548-A143-5E554CADAB16}"/>
              </a:ext>
            </a:extLst>
          </p:cNvPr>
          <p:cNvSpPr txBox="1"/>
          <p:nvPr/>
        </p:nvSpPr>
        <p:spPr>
          <a:xfrm>
            <a:off x="7857067" y="1092200"/>
            <a:ext cx="1337733" cy="369332"/>
          </a:xfrm>
          <a:prstGeom prst="rect">
            <a:avLst/>
          </a:prstGeom>
          <a:noFill/>
        </p:spPr>
        <p:txBody>
          <a:bodyPr wrap="square" rtlCol="0">
            <a:spAutoFit/>
          </a:bodyPr>
          <a:lstStyle/>
          <a:p>
            <a:r>
              <a:rPr lang="en-IL" dirty="0"/>
              <a:t>Reduce</a:t>
            </a:r>
          </a:p>
        </p:txBody>
      </p:sp>
      <p:sp>
        <p:nvSpPr>
          <p:cNvPr id="11" name="Rectangle 10">
            <a:extLst>
              <a:ext uri="{FF2B5EF4-FFF2-40B4-BE49-F238E27FC236}">
                <a16:creationId xmlns:a16="http://schemas.microsoft.com/office/drawing/2014/main" id="{553AF6E7-4D32-FD4E-A62A-D191941AC8C0}"/>
              </a:ext>
            </a:extLst>
          </p:cNvPr>
          <p:cNvSpPr/>
          <p:nvPr/>
        </p:nvSpPr>
        <p:spPr>
          <a:xfrm>
            <a:off x="3742267" y="1725070"/>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a:t>
            </a:r>
          </a:p>
          <a:p>
            <a:pPr algn="ctr"/>
            <a:r>
              <a:rPr lang="en-IL" dirty="0"/>
              <a:t>54</a:t>
            </a:r>
          </a:p>
        </p:txBody>
      </p:sp>
      <p:sp>
        <p:nvSpPr>
          <p:cNvPr id="12" name="Rectangle 11">
            <a:extLst>
              <a:ext uri="{FF2B5EF4-FFF2-40B4-BE49-F238E27FC236}">
                <a16:creationId xmlns:a16="http://schemas.microsoft.com/office/drawing/2014/main" id="{0DFFEB46-978F-2946-AFEF-9E8EC17587DC}"/>
              </a:ext>
            </a:extLst>
          </p:cNvPr>
          <p:cNvSpPr/>
          <p:nvPr/>
        </p:nvSpPr>
        <p:spPr>
          <a:xfrm>
            <a:off x="3742268" y="3227504"/>
            <a:ext cx="846666" cy="56688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12</a:t>
            </a:r>
          </a:p>
          <a:p>
            <a:pPr algn="ctr"/>
            <a:r>
              <a:rPr lang="en-IL" dirty="0"/>
              <a:t>60</a:t>
            </a:r>
          </a:p>
        </p:txBody>
      </p:sp>
      <p:sp>
        <p:nvSpPr>
          <p:cNvPr id="13" name="Rectangle 12">
            <a:extLst>
              <a:ext uri="{FF2B5EF4-FFF2-40B4-BE49-F238E27FC236}">
                <a16:creationId xmlns:a16="http://schemas.microsoft.com/office/drawing/2014/main" id="{C7FE1AD3-7180-E044-866A-EC938FCE1588}"/>
              </a:ext>
            </a:extLst>
          </p:cNvPr>
          <p:cNvSpPr/>
          <p:nvPr/>
        </p:nvSpPr>
        <p:spPr>
          <a:xfrm>
            <a:off x="3742266" y="4755351"/>
            <a:ext cx="846667" cy="64532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29</a:t>
            </a:r>
          </a:p>
          <a:p>
            <a:pPr algn="ctr"/>
            <a:r>
              <a:rPr lang="en-IL" dirty="0"/>
              <a:t>52</a:t>
            </a:r>
          </a:p>
        </p:txBody>
      </p:sp>
      <p:cxnSp>
        <p:nvCxnSpPr>
          <p:cNvPr id="15" name="Straight Arrow Connector 14">
            <a:extLst>
              <a:ext uri="{FF2B5EF4-FFF2-40B4-BE49-F238E27FC236}">
                <a16:creationId xmlns:a16="http://schemas.microsoft.com/office/drawing/2014/main" id="{0C24BAE1-B3B4-4841-A985-F58C74A6DE21}"/>
              </a:ext>
            </a:extLst>
          </p:cNvPr>
          <p:cNvCxnSpPr>
            <a:cxnSpLocks/>
            <a:stCxn id="18" idx="3"/>
            <a:endCxn id="11" idx="1"/>
          </p:cNvCxnSpPr>
          <p:nvPr/>
        </p:nvCxnSpPr>
        <p:spPr>
          <a:xfrm flipV="1">
            <a:off x="2099734" y="2061607"/>
            <a:ext cx="1642533" cy="1316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7F08B-BBFB-B740-9E06-ACDA93109D0A}"/>
              </a:ext>
            </a:extLst>
          </p:cNvPr>
          <p:cNvCxnSpPr>
            <a:cxnSpLocks/>
            <a:stCxn id="18" idx="3"/>
            <a:endCxn id="12" idx="1"/>
          </p:cNvCxnSpPr>
          <p:nvPr/>
        </p:nvCxnSpPr>
        <p:spPr>
          <a:xfrm>
            <a:off x="2099734" y="3378174"/>
            <a:ext cx="1642534" cy="132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DA819-36C5-6A47-ADC4-B9E03DEDC527}"/>
              </a:ext>
            </a:extLst>
          </p:cNvPr>
          <p:cNvCxnSpPr>
            <a:cxnSpLocks/>
            <a:stCxn id="18" idx="3"/>
            <a:endCxn id="13" idx="1"/>
          </p:cNvCxnSpPr>
          <p:nvPr/>
        </p:nvCxnSpPr>
        <p:spPr>
          <a:xfrm>
            <a:off x="2099734" y="3378174"/>
            <a:ext cx="1642532" cy="1699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Alternate Process 17">
            <a:extLst>
              <a:ext uri="{FF2B5EF4-FFF2-40B4-BE49-F238E27FC236}">
                <a16:creationId xmlns:a16="http://schemas.microsoft.com/office/drawing/2014/main" id="{9E2AF447-2B5F-714C-8BCA-891551DC4FA8}"/>
              </a:ext>
            </a:extLst>
          </p:cNvPr>
          <p:cNvSpPr/>
          <p:nvPr/>
        </p:nvSpPr>
        <p:spPr>
          <a:xfrm>
            <a:off x="1397000" y="2417207"/>
            <a:ext cx="702734" cy="1921933"/>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a:t>
            </a:r>
          </a:p>
          <a:p>
            <a:pPr algn="ctr"/>
            <a:r>
              <a:rPr lang="en-IL" dirty="0"/>
              <a:t>54</a:t>
            </a:r>
          </a:p>
          <a:p>
            <a:pPr algn="ctr"/>
            <a:r>
              <a:rPr lang="en-IL" dirty="0"/>
              <a:t>12</a:t>
            </a:r>
          </a:p>
          <a:p>
            <a:pPr algn="ctr"/>
            <a:r>
              <a:rPr lang="en-IL" dirty="0"/>
              <a:t>60</a:t>
            </a:r>
          </a:p>
          <a:p>
            <a:pPr algn="ctr"/>
            <a:r>
              <a:rPr lang="en-IL" dirty="0"/>
              <a:t>29</a:t>
            </a:r>
          </a:p>
          <a:p>
            <a:pPr algn="ctr"/>
            <a:r>
              <a:rPr lang="en-IL" dirty="0"/>
              <a:t>52</a:t>
            </a:r>
          </a:p>
        </p:txBody>
      </p:sp>
      <p:cxnSp>
        <p:nvCxnSpPr>
          <p:cNvPr id="27" name="Straight Arrow Connector 26">
            <a:extLst>
              <a:ext uri="{FF2B5EF4-FFF2-40B4-BE49-F238E27FC236}">
                <a16:creationId xmlns:a16="http://schemas.microsoft.com/office/drawing/2014/main" id="{B7C79FFB-637C-5D44-904F-A8AD5EFED67D}"/>
              </a:ext>
            </a:extLst>
          </p:cNvPr>
          <p:cNvCxnSpPr>
            <a:stCxn id="11" idx="3"/>
          </p:cNvCxnSpPr>
          <p:nvPr/>
        </p:nvCxnSpPr>
        <p:spPr>
          <a:xfrm>
            <a:off x="4588933" y="2061607"/>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5EB5850-C080-9D48-9B9C-5DDC79CA2B7C}"/>
              </a:ext>
            </a:extLst>
          </p:cNvPr>
          <p:cNvSpPr/>
          <p:nvPr/>
        </p:nvSpPr>
        <p:spPr>
          <a:xfrm>
            <a:off x="5842001" y="1744133"/>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96,1</a:t>
            </a:r>
          </a:p>
          <a:p>
            <a:pPr algn="ctr"/>
            <a:r>
              <a:rPr lang="en-IL" dirty="0"/>
              <a:t>54,1</a:t>
            </a:r>
          </a:p>
        </p:txBody>
      </p:sp>
      <p:sp>
        <p:nvSpPr>
          <p:cNvPr id="29" name="Rectangle 28">
            <a:extLst>
              <a:ext uri="{FF2B5EF4-FFF2-40B4-BE49-F238E27FC236}">
                <a16:creationId xmlns:a16="http://schemas.microsoft.com/office/drawing/2014/main" id="{A40DF9AA-384F-8B45-B62E-331BB50B1C60}"/>
              </a:ext>
            </a:extLst>
          </p:cNvPr>
          <p:cNvSpPr/>
          <p:nvPr/>
        </p:nvSpPr>
        <p:spPr>
          <a:xfrm>
            <a:off x="5833535" y="3092463"/>
            <a:ext cx="846666" cy="673074"/>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12,1</a:t>
            </a:r>
          </a:p>
          <a:p>
            <a:pPr algn="ctr"/>
            <a:r>
              <a:rPr lang="en-IL" dirty="0"/>
              <a:t>60,1</a:t>
            </a:r>
          </a:p>
        </p:txBody>
      </p:sp>
      <p:cxnSp>
        <p:nvCxnSpPr>
          <p:cNvPr id="30" name="Straight Arrow Connector 29">
            <a:extLst>
              <a:ext uri="{FF2B5EF4-FFF2-40B4-BE49-F238E27FC236}">
                <a16:creationId xmlns:a16="http://schemas.microsoft.com/office/drawing/2014/main" id="{21534A8E-107B-444C-9D64-8E334F22C6C6}"/>
              </a:ext>
            </a:extLst>
          </p:cNvPr>
          <p:cNvCxnSpPr/>
          <p:nvPr/>
        </p:nvCxnSpPr>
        <p:spPr>
          <a:xfrm>
            <a:off x="4588933" y="3510944"/>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122E11F-7C87-7C4F-8F62-0E70CCD1BDF9}"/>
              </a:ext>
            </a:extLst>
          </p:cNvPr>
          <p:cNvCxnSpPr/>
          <p:nvPr/>
        </p:nvCxnSpPr>
        <p:spPr>
          <a:xfrm>
            <a:off x="4588933" y="5078013"/>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2C2E5A0-F7BE-0E43-8D79-F9CCED993E09}"/>
              </a:ext>
            </a:extLst>
          </p:cNvPr>
          <p:cNvSpPr/>
          <p:nvPr/>
        </p:nvSpPr>
        <p:spPr>
          <a:xfrm>
            <a:off x="5842001" y="4755351"/>
            <a:ext cx="846666" cy="67307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29,1</a:t>
            </a:r>
          </a:p>
          <a:p>
            <a:pPr algn="ctr"/>
            <a:r>
              <a:rPr lang="en-IL" dirty="0"/>
              <a:t>52,1</a:t>
            </a:r>
          </a:p>
        </p:txBody>
      </p:sp>
      <p:cxnSp>
        <p:nvCxnSpPr>
          <p:cNvPr id="34" name="Straight Arrow Connector 33">
            <a:extLst>
              <a:ext uri="{FF2B5EF4-FFF2-40B4-BE49-F238E27FC236}">
                <a16:creationId xmlns:a16="http://schemas.microsoft.com/office/drawing/2014/main" id="{35699D61-8E6E-8646-9438-9D7E81E726F3}"/>
              </a:ext>
            </a:extLst>
          </p:cNvPr>
          <p:cNvCxnSpPr>
            <a:cxnSpLocks/>
          </p:cNvCxnSpPr>
          <p:nvPr/>
        </p:nvCxnSpPr>
        <p:spPr>
          <a:xfrm>
            <a:off x="8729144" y="2086021"/>
            <a:ext cx="1126066" cy="806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34859E1-8BEE-4C48-8708-9D0019A16B89}"/>
              </a:ext>
            </a:extLst>
          </p:cNvPr>
          <p:cNvCxnSpPr>
            <a:cxnSpLocks/>
          </p:cNvCxnSpPr>
          <p:nvPr/>
        </p:nvCxnSpPr>
        <p:spPr>
          <a:xfrm flipV="1">
            <a:off x="8746065" y="3406877"/>
            <a:ext cx="1176866" cy="49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06BF6C6-B6BA-8346-883E-C4A19265703E}"/>
              </a:ext>
            </a:extLst>
          </p:cNvPr>
          <p:cNvCxnSpPr>
            <a:cxnSpLocks/>
          </p:cNvCxnSpPr>
          <p:nvPr/>
        </p:nvCxnSpPr>
        <p:spPr>
          <a:xfrm flipV="1">
            <a:off x="8813811" y="4036367"/>
            <a:ext cx="1024466" cy="1121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1D5768A-8ADB-4846-9ACC-8D5AD5FA7312}"/>
              </a:ext>
            </a:extLst>
          </p:cNvPr>
          <p:cNvSpPr/>
          <p:nvPr/>
        </p:nvSpPr>
        <p:spPr>
          <a:xfrm>
            <a:off x="10121899" y="3070340"/>
            <a:ext cx="846666" cy="6730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303,6</a:t>
            </a:r>
          </a:p>
        </p:txBody>
      </p:sp>
      <p:sp>
        <p:nvSpPr>
          <p:cNvPr id="33" name="Rectangle 32">
            <a:extLst>
              <a:ext uri="{FF2B5EF4-FFF2-40B4-BE49-F238E27FC236}">
                <a16:creationId xmlns:a16="http://schemas.microsoft.com/office/drawing/2014/main" id="{5813FE9B-4F86-B548-9975-50870B8F48DF}"/>
              </a:ext>
            </a:extLst>
          </p:cNvPr>
          <p:cNvSpPr/>
          <p:nvPr/>
        </p:nvSpPr>
        <p:spPr>
          <a:xfrm>
            <a:off x="7882469" y="1716383"/>
            <a:ext cx="846666" cy="6730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150,2</a:t>
            </a:r>
          </a:p>
        </p:txBody>
      </p:sp>
      <p:sp>
        <p:nvSpPr>
          <p:cNvPr id="35" name="Rectangle 34">
            <a:extLst>
              <a:ext uri="{FF2B5EF4-FFF2-40B4-BE49-F238E27FC236}">
                <a16:creationId xmlns:a16="http://schemas.microsoft.com/office/drawing/2014/main" id="{4B2EFC5D-1504-754A-AE57-ADA5E7FB2BD1}"/>
              </a:ext>
            </a:extLst>
          </p:cNvPr>
          <p:cNvSpPr/>
          <p:nvPr/>
        </p:nvSpPr>
        <p:spPr>
          <a:xfrm>
            <a:off x="7878233" y="3108441"/>
            <a:ext cx="846666" cy="673074"/>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72,2</a:t>
            </a:r>
          </a:p>
        </p:txBody>
      </p:sp>
      <p:sp>
        <p:nvSpPr>
          <p:cNvPr id="37" name="Rectangle 36">
            <a:extLst>
              <a:ext uri="{FF2B5EF4-FFF2-40B4-BE49-F238E27FC236}">
                <a16:creationId xmlns:a16="http://schemas.microsoft.com/office/drawing/2014/main" id="{BE63B3F1-13B8-E248-977A-FCEE35CAA4B7}"/>
              </a:ext>
            </a:extLst>
          </p:cNvPr>
          <p:cNvSpPr/>
          <p:nvPr/>
        </p:nvSpPr>
        <p:spPr>
          <a:xfrm>
            <a:off x="7882468" y="4755351"/>
            <a:ext cx="846666" cy="673074"/>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81,2</a:t>
            </a:r>
          </a:p>
        </p:txBody>
      </p:sp>
      <p:cxnSp>
        <p:nvCxnSpPr>
          <p:cNvPr id="40" name="Straight Arrow Connector 39">
            <a:extLst>
              <a:ext uri="{FF2B5EF4-FFF2-40B4-BE49-F238E27FC236}">
                <a16:creationId xmlns:a16="http://schemas.microsoft.com/office/drawing/2014/main" id="{FD7691BD-3C0D-BB4E-BE51-D82F27F24542}"/>
              </a:ext>
            </a:extLst>
          </p:cNvPr>
          <p:cNvCxnSpPr/>
          <p:nvPr/>
        </p:nvCxnSpPr>
        <p:spPr>
          <a:xfrm>
            <a:off x="6692899" y="2076410"/>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D367818-0CA8-2947-8158-334B0E5AB206}"/>
              </a:ext>
            </a:extLst>
          </p:cNvPr>
          <p:cNvCxnSpPr/>
          <p:nvPr/>
        </p:nvCxnSpPr>
        <p:spPr>
          <a:xfrm>
            <a:off x="6680201" y="3510944"/>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790C92C-0725-2047-B9E9-8FB0BCB10EF3}"/>
              </a:ext>
            </a:extLst>
          </p:cNvPr>
          <p:cNvCxnSpPr/>
          <p:nvPr/>
        </p:nvCxnSpPr>
        <p:spPr>
          <a:xfrm>
            <a:off x="6688667" y="5160407"/>
            <a:ext cx="11853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702C178-B6AD-6848-955D-C246B3EFEC55}"/>
                  </a:ext>
                </a:extLst>
              </p:cNvPr>
              <p:cNvSpPr txBox="1"/>
              <p:nvPr/>
            </p:nvSpPr>
            <p:spPr>
              <a:xfrm>
                <a:off x="10244666" y="4228093"/>
                <a:ext cx="1854209"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303</m:t>
                          </m:r>
                        </m:num>
                        <m:den>
                          <m:r>
                            <a:rPr lang="en-US" b="0" i="1" smtClean="0">
                              <a:latin typeface="Cambria Math" panose="02040503050406030204" pitchFamily="18" charset="0"/>
                            </a:rPr>
                            <m:t>6</m:t>
                          </m:r>
                        </m:den>
                      </m:f>
                      <m:r>
                        <a:rPr lang="en-US" b="0" i="1" smtClean="0">
                          <a:latin typeface="Cambria Math" panose="02040503050406030204" pitchFamily="18" charset="0"/>
                        </a:rPr>
                        <m:t>=50.5</m:t>
                      </m:r>
                    </m:oMath>
                  </m:oMathPara>
                </a14:m>
                <a:endParaRPr lang="en-IL" dirty="0"/>
              </a:p>
            </p:txBody>
          </p:sp>
        </mc:Choice>
        <mc:Fallback xmlns="">
          <p:sp>
            <p:nvSpPr>
              <p:cNvPr id="3" name="TextBox 2">
                <a:extLst>
                  <a:ext uri="{FF2B5EF4-FFF2-40B4-BE49-F238E27FC236}">
                    <a16:creationId xmlns:a16="http://schemas.microsoft.com/office/drawing/2014/main" id="{2702C178-B6AD-6848-955D-C246B3EFEC55}"/>
                  </a:ext>
                </a:extLst>
              </p:cNvPr>
              <p:cNvSpPr txBox="1">
                <a:spLocks noRot="1" noChangeAspect="1" noMove="1" noResize="1" noEditPoints="1" noAdjustHandles="1" noChangeArrowheads="1" noChangeShapeType="1" noTextEdit="1"/>
              </p:cNvSpPr>
              <p:nvPr/>
            </p:nvSpPr>
            <p:spPr>
              <a:xfrm>
                <a:off x="10244666" y="4228093"/>
                <a:ext cx="1854209" cy="612732"/>
              </a:xfrm>
              <a:prstGeom prst="rect">
                <a:avLst/>
              </a:prstGeom>
              <a:blipFill>
                <a:blip r:embed="rId3"/>
                <a:stretch>
                  <a:fillRect b="-4082"/>
                </a:stretch>
              </a:blipFill>
            </p:spPr>
            <p:txBody>
              <a:bodyPr/>
              <a:lstStyle/>
              <a:p>
                <a:r>
                  <a:rPr lang="en-IL">
                    <a:noFill/>
                  </a:rPr>
                  <a:t> </a:t>
                </a:r>
              </a:p>
            </p:txBody>
          </p:sp>
        </mc:Fallback>
      </mc:AlternateContent>
    </p:spTree>
    <p:extLst>
      <p:ext uri="{BB962C8B-B14F-4D97-AF65-F5344CB8AC3E}">
        <p14:creationId xmlns:p14="http://schemas.microsoft.com/office/powerpoint/2010/main" val="1739748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Mappers and Reducers</a:t>
            </a:r>
          </a:p>
        </p:txBody>
      </p:sp>
      <p:sp>
        <p:nvSpPr>
          <p:cNvPr id="3" name="Content Placeholder 2"/>
          <p:cNvSpPr>
            <a:spLocks noGrp="1"/>
          </p:cNvSpPr>
          <p:nvPr>
            <p:ph idx="1"/>
          </p:nvPr>
        </p:nvSpPr>
        <p:spPr/>
        <p:txBody>
          <a:bodyPr>
            <a:normAutofit/>
          </a:bodyPr>
          <a:lstStyle/>
          <a:p>
            <a:r>
              <a:rPr lang="en-US" dirty="0"/>
              <a:t>Need to handle</a:t>
            </a:r>
            <a:r>
              <a:rPr lang="en-US" dirty="0">
                <a:solidFill>
                  <a:srgbClr val="00B050"/>
                </a:solidFill>
              </a:rPr>
              <a:t> more data</a:t>
            </a:r>
            <a:r>
              <a:rPr lang="en-US" dirty="0"/>
              <a:t>? Just add </a:t>
            </a:r>
            <a:r>
              <a:rPr lang="en-US" dirty="0">
                <a:solidFill>
                  <a:srgbClr val="0000FF"/>
                </a:solidFill>
              </a:rPr>
              <a:t>more Mappers/Reducers</a:t>
            </a:r>
            <a:r>
              <a:rPr lang="en-US" dirty="0"/>
              <a:t>!</a:t>
            </a:r>
          </a:p>
          <a:p>
            <a:r>
              <a:rPr lang="en-US" dirty="0"/>
              <a:t>No need to handle </a:t>
            </a:r>
            <a:r>
              <a:rPr lang="en-US" dirty="0">
                <a:solidFill>
                  <a:srgbClr val="CC3300"/>
                </a:solidFill>
              </a:rPr>
              <a:t>multithreaded code </a:t>
            </a:r>
            <a:r>
              <a:rPr lang="en-US" dirty="0">
                <a:sym typeface="Wingdings" pitchFamily="2" charset="2"/>
              </a:rPr>
              <a:t></a:t>
            </a:r>
            <a:endParaRPr lang="en-US" dirty="0"/>
          </a:p>
          <a:p>
            <a:pPr lvl="1"/>
            <a:r>
              <a:rPr lang="en-US" dirty="0"/>
              <a:t>Mappers and Reducers are typically single threaded and </a:t>
            </a:r>
            <a:r>
              <a:rPr lang="en-US" dirty="0">
                <a:solidFill>
                  <a:srgbClr val="006600"/>
                </a:solidFill>
              </a:rPr>
              <a:t>deterministic</a:t>
            </a:r>
          </a:p>
          <a:p>
            <a:pPr lvl="2"/>
            <a:r>
              <a:rPr lang="en-US" dirty="0">
                <a:solidFill>
                  <a:srgbClr val="006600"/>
                </a:solidFill>
              </a:rPr>
              <a:t>Determinism</a:t>
            </a:r>
            <a:r>
              <a:rPr lang="en-US" dirty="0"/>
              <a:t> allows for </a:t>
            </a:r>
            <a:r>
              <a:rPr lang="en-US" dirty="0">
                <a:solidFill>
                  <a:srgbClr val="7030A0"/>
                </a:solidFill>
              </a:rPr>
              <a:t>restarting of failed jobs</a:t>
            </a:r>
          </a:p>
          <a:p>
            <a:pPr lvl="1"/>
            <a:r>
              <a:rPr lang="en-US" dirty="0"/>
              <a:t>Mappers/Reducers run </a:t>
            </a:r>
            <a:r>
              <a:rPr lang="en-US" dirty="0">
                <a:solidFill>
                  <a:srgbClr val="FF0000"/>
                </a:solidFill>
              </a:rPr>
              <a:t>entirely independent </a:t>
            </a:r>
            <a:r>
              <a:rPr lang="en-US" dirty="0"/>
              <a:t>of each other</a:t>
            </a:r>
          </a:p>
          <a:p>
            <a:pPr lvl="2"/>
            <a:r>
              <a:rPr lang="en-US" dirty="0"/>
              <a:t>In Hadoop, they run in </a:t>
            </a:r>
            <a:r>
              <a:rPr lang="en-US" dirty="0">
                <a:solidFill>
                  <a:srgbClr val="000066"/>
                </a:solidFill>
              </a:rPr>
              <a:t>separate JVMs</a:t>
            </a:r>
          </a:p>
          <a:p>
            <a:endParaRPr lang="en-US" dirty="0"/>
          </a:p>
        </p:txBody>
      </p:sp>
      <p:sp>
        <p:nvSpPr>
          <p:cNvPr id="4" name="Slide Number Placeholder 3"/>
          <p:cNvSpPr>
            <a:spLocks noGrp="1"/>
          </p:cNvSpPr>
          <p:nvPr>
            <p:ph type="sldNum" sz="quarter" idx="12"/>
          </p:nvPr>
        </p:nvSpPr>
        <p:spPr/>
        <p:txBody>
          <a:bodyPr/>
          <a:lstStyle/>
          <a:p>
            <a:fld id="{FB070496-1CF9-408E-B326-6CCA99B85165}" type="slidenum">
              <a:rPr lang="en-US" smtClean="0"/>
              <a:t>29</a:t>
            </a:fld>
            <a:endParaRPr lang="en-US"/>
          </a:p>
        </p:txBody>
      </p:sp>
      <p:sp>
        <p:nvSpPr>
          <p:cNvPr id="5" name="Footer Placeholder 4">
            <a:extLst>
              <a:ext uri="{FF2B5EF4-FFF2-40B4-BE49-F238E27FC236}">
                <a16:creationId xmlns:a16="http://schemas.microsoft.com/office/drawing/2014/main" id="{3BDAE89D-F871-EC4B-8C83-206E2C8864C3}"/>
              </a:ext>
            </a:extLst>
          </p:cNvPr>
          <p:cNvSpPr>
            <a:spLocks noGrp="1"/>
          </p:cNvSpPr>
          <p:nvPr>
            <p:ph type="ftr" sz="quarter" idx="11"/>
          </p:nvPr>
        </p:nvSpPr>
        <p:spPr/>
        <p:txBody>
          <a:bodyPr/>
          <a:lstStyle/>
          <a:p>
            <a:r>
              <a:rPr lang="en-US"/>
              <a:t>Or Peretz</a:t>
            </a:r>
          </a:p>
        </p:txBody>
      </p:sp>
    </p:spTree>
    <p:extLst>
      <p:ext uri="{BB962C8B-B14F-4D97-AF65-F5344CB8AC3E}">
        <p14:creationId xmlns:p14="http://schemas.microsoft.com/office/powerpoint/2010/main" val="7895528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14965</TotalTime>
  <Words>1585</Words>
  <Application>Microsoft Macintosh PowerPoint</Application>
  <PresentationFormat>Widescreen</PresentationFormat>
  <Paragraphs>541</Paragraphs>
  <Slides>29</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Cambria Math</vt:lpstr>
      <vt:lpstr>Verdana</vt:lpstr>
      <vt:lpstr>Office Theme</vt:lpstr>
      <vt:lpstr>Cloud Data Engineering</vt:lpstr>
      <vt:lpstr>PowerPoint Presentation</vt:lpstr>
      <vt:lpstr>PowerPoint Presentation</vt:lpstr>
      <vt:lpstr>PowerPoint Presentation</vt:lpstr>
      <vt:lpstr>Motivation</vt:lpstr>
      <vt:lpstr>PowerPoint Presentation</vt:lpstr>
      <vt:lpstr>PowerPoint Presentation</vt:lpstr>
      <vt:lpstr>PowerPoint Presentation</vt:lpstr>
      <vt:lpstr>PowerPoint Presentation</vt:lpstr>
      <vt:lpstr>MapReduce workflow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Mappers and Reducers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dc:title>
  <dc:creator>Lev</dc:creator>
  <cp:lastModifiedBy>or perets</cp:lastModifiedBy>
  <cp:revision>296</cp:revision>
  <dcterms:created xsi:type="dcterms:W3CDTF">2021-02-09T13:47:38Z</dcterms:created>
  <dcterms:modified xsi:type="dcterms:W3CDTF">2023-02-13T13:03:15Z</dcterms:modified>
</cp:coreProperties>
</file>