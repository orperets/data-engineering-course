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notesSlides/notesSlide49.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50.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5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notesSlides/notesSlide52.xml" ContentType="application/vnd.openxmlformats-officedocument.presentationml.notesSlide+xml"/>
  <Override PartName="/ppt/tags/tag11.xml" ContentType="application/vnd.openxmlformats-officedocument.presentationml.tags+xml"/>
  <Override PartName="/ppt/tags/tag12.xml" ContentType="application/vnd.openxmlformats-officedocument.presentationml.tags+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257" r:id="rId2"/>
    <p:sldId id="488" r:id="rId3"/>
    <p:sldId id="489" r:id="rId4"/>
    <p:sldId id="422" r:id="rId5"/>
    <p:sldId id="490" r:id="rId6"/>
    <p:sldId id="420" r:id="rId7"/>
    <p:sldId id="491" r:id="rId8"/>
    <p:sldId id="403" r:id="rId9"/>
    <p:sldId id="439" r:id="rId10"/>
    <p:sldId id="405" r:id="rId11"/>
    <p:sldId id="406" r:id="rId12"/>
    <p:sldId id="407" r:id="rId13"/>
    <p:sldId id="408" r:id="rId14"/>
    <p:sldId id="409" r:id="rId15"/>
    <p:sldId id="410" r:id="rId16"/>
    <p:sldId id="411" r:id="rId17"/>
    <p:sldId id="412" r:id="rId18"/>
    <p:sldId id="413" r:id="rId19"/>
    <p:sldId id="414" r:id="rId20"/>
    <p:sldId id="415" r:id="rId21"/>
    <p:sldId id="416" r:id="rId22"/>
    <p:sldId id="495" r:id="rId23"/>
    <p:sldId id="496" r:id="rId24"/>
    <p:sldId id="497" r:id="rId25"/>
    <p:sldId id="498" r:id="rId26"/>
    <p:sldId id="499" r:id="rId27"/>
    <p:sldId id="500" r:id="rId28"/>
    <p:sldId id="427" r:id="rId29"/>
    <p:sldId id="501" r:id="rId30"/>
    <p:sldId id="418" r:id="rId31"/>
    <p:sldId id="419" r:id="rId32"/>
    <p:sldId id="382" r:id="rId33"/>
    <p:sldId id="384" r:id="rId34"/>
    <p:sldId id="399" r:id="rId35"/>
    <p:sldId id="383" r:id="rId36"/>
    <p:sldId id="385" r:id="rId37"/>
    <p:sldId id="386" r:id="rId38"/>
    <p:sldId id="421" r:id="rId39"/>
    <p:sldId id="362" r:id="rId40"/>
    <p:sldId id="363" r:id="rId41"/>
    <p:sldId id="502" r:id="rId42"/>
    <p:sldId id="366" r:id="rId43"/>
    <p:sldId id="367" r:id="rId44"/>
    <p:sldId id="258" r:id="rId45"/>
    <p:sldId id="368" r:id="rId46"/>
    <p:sldId id="371" r:id="rId47"/>
    <p:sldId id="370" r:id="rId48"/>
    <p:sldId id="375" r:id="rId49"/>
    <p:sldId id="376" r:id="rId50"/>
    <p:sldId id="369" r:id="rId51"/>
    <p:sldId id="372" r:id="rId52"/>
    <p:sldId id="373" r:id="rId53"/>
    <p:sldId id="503" r:id="rId54"/>
    <p:sldId id="356" r:id="rId55"/>
    <p:sldId id="311" r:id="rId56"/>
    <p:sldId id="434" r:id="rId57"/>
    <p:sldId id="312" r:id="rId58"/>
    <p:sldId id="314" r:id="rId59"/>
    <p:sldId id="315" r:id="rId60"/>
    <p:sldId id="317" r:id="rId61"/>
    <p:sldId id="318" r:id="rId62"/>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94" autoAdjust="0"/>
    <p:restoredTop sz="94427"/>
  </p:normalViewPr>
  <p:slideViewPr>
    <p:cSldViewPr snapToGrid="0">
      <p:cViewPr varScale="1">
        <p:scale>
          <a:sx n="103" d="100"/>
          <a:sy n="103" d="100"/>
        </p:scale>
        <p:origin x="1136" y="184"/>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B63F32-7DA3-4013-BE26-9191402E55C8}" type="datetimeFigureOut">
              <a:rPr lang="en-IL" smtClean="0"/>
              <a:t>4/8/25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8866D-0BA4-4B03-8FA8-A96EE1FB39D0}" type="slidenum">
              <a:rPr lang="en-IL" smtClean="0"/>
              <a:t>‹#›</a:t>
            </a:fld>
            <a:endParaRPr lang="en-IL"/>
          </a:p>
        </p:txBody>
      </p:sp>
    </p:spTree>
    <p:extLst>
      <p:ext uri="{BB962C8B-B14F-4D97-AF65-F5344CB8AC3E}">
        <p14:creationId xmlns:p14="http://schemas.microsoft.com/office/powerpoint/2010/main" val="24211533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a:t>
            </a:fld>
            <a:endParaRPr lang="en-IL"/>
          </a:p>
        </p:txBody>
      </p:sp>
    </p:spTree>
    <p:extLst>
      <p:ext uri="{BB962C8B-B14F-4D97-AF65-F5344CB8AC3E}">
        <p14:creationId xmlns:p14="http://schemas.microsoft.com/office/powerpoint/2010/main" val="1901519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a:t>
            </a:fld>
            <a:endParaRPr lang="en-IL"/>
          </a:p>
        </p:txBody>
      </p:sp>
    </p:spTree>
    <p:extLst>
      <p:ext uri="{BB962C8B-B14F-4D97-AF65-F5344CB8AC3E}">
        <p14:creationId xmlns:p14="http://schemas.microsoft.com/office/powerpoint/2010/main" val="35980183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D3072DB-288D-41CF-9840-06B017A0D6A2}" type="slidenum">
              <a:rPr lang="en-US" smtClean="0"/>
              <a:t>4</a:t>
            </a:fld>
            <a:endParaRPr lang="en-US"/>
          </a:p>
        </p:txBody>
      </p:sp>
    </p:spTree>
    <p:extLst>
      <p:ext uri="{BB962C8B-B14F-4D97-AF65-F5344CB8AC3E}">
        <p14:creationId xmlns:p14="http://schemas.microsoft.com/office/powerpoint/2010/main" val="2652968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5</a:t>
            </a:fld>
            <a:endParaRPr lang="en-IL"/>
          </a:p>
        </p:txBody>
      </p:sp>
    </p:spTree>
    <p:extLst>
      <p:ext uri="{BB962C8B-B14F-4D97-AF65-F5344CB8AC3E}">
        <p14:creationId xmlns:p14="http://schemas.microsoft.com/office/powerpoint/2010/main" val="2004830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6</a:t>
            </a:fld>
            <a:endParaRPr lang="en-IL"/>
          </a:p>
        </p:txBody>
      </p:sp>
    </p:spTree>
    <p:extLst>
      <p:ext uri="{BB962C8B-B14F-4D97-AF65-F5344CB8AC3E}">
        <p14:creationId xmlns:p14="http://schemas.microsoft.com/office/powerpoint/2010/main" val="19004908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7</a:t>
            </a:fld>
            <a:endParaRPr lang="en-IL"/>
          </a:p>
        </p:txBody>
      </p:sp>
    </p:spTree>
    <p:extLst>
      <p:ext uri="{BB962C8B-B14F-4D97-AF65-F5344CB8AC3E}">
        <p14:creationId xmlns:p14="http://schemas.microsoft.com/office/powerpoint/2010/main" val="14764655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8</a:t>
            </a:fld>
            <a:endParaRPr lang="en-IL"/>
          </a:p>
        </p:txBody>
      </p:sp>
    </p:spTree>
    <p:extLst>
      <p:ext uri="{BB962C8B-B14F-4D97-AF65-F5344CB8AC3E}">
        <p14:creationId xmlns:p14="http://schemas.microsoft.com/office/powerpoint/2010/main" val="34969744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10</a:t>
            </a:fld>
            <a:endParaRPr lang="en-IL"/>
          </a:p>
        </p:txBody>
      </p:sp>
    </p:spTree>
    <p:extLst>
      <p:ext uri="{BB962C8B-B14F-4D97-AF65-F5344CB8AC3E}">
        <p14:creationId xmlns:p14="http://schemas.microsoft.com/office/powerpoint/2010/main" val="3426705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11</a:t>
            </a:fld>
            <a:endParaRPr lang="en-IL"/>
          </a:p>
        </p:txBody>
      </p:sp>
    </p:spTree>
    <p:extLst>
      <p:ext uri="{BB962C8B-B14F-4D97-AF65-F5344CB8AC3E}">
        <p14:creationId xmlns:p14="http://schemas.microsoft.com/office/powerpoint/2010/main" val="1137319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12</a:t>
            </a:fld>
            <a:endParaRPr lang="en-IL"/>
          </a:p>
        </p:txBody>
      </p:sp>
    </p:spTree>
    <p:extLst>
      <p:ext uri="{BB962C8B-B14F-4D97-AF65-F5344CB8AC3E}">
        <p14:creationId xmlns:p14="http://schemas.microsoft.com/office/powerpoint/2010/main" val="1680720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13</a:t>
            </a:fld>
            <a:endParaRPr lang="en-IL"/>
          </a:p>
        </p:txBody>
      </p:sp>
    </p:spTree>
    <p:extLst>
      <p:ext uri="{BB962C8B-B14F-4D97-AF65-F5344CB8AC3E}">
        <p14:creationId xmlns:p14="http://schemas.microsoft.com/office/powerpoint/2010/main" val="3367591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14</a:t>
            </a:fld>
            <a:endParaRPr lang="en-IL"/>
          </a:p>
        </p:txBody>
      </p:sp>
    </p:spTree>
    <p:extLst>
      <p:ext uri="{BB962C8B-B14F-4D97-AF65-F5344CB8AC3E}">
        <p14:creationId xmlns:p14="http://schemas.microsoft.com/office/powerpoint/2010/main" val="17565091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15</a:t>
            </a:fld>
            <a:endParaRPr lang="en-IL"/>
          </a:p>
        </p:txBody>
      </p:sp>
    </p:spTree>
    <p:extLst>
      <p:ext uri="{BB962C8B-B14F-4D97-AF65-F5344CB8AC3E}">
        <p14:creationId xmlns:p14="http://schemas.microsoft.com/office/powerpoint/2010/main" val="21016678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16</a:t>
            </a:fld>
            <a:endParaRPr lang="en-IL"/>
          </a:p>
        </p:txBody>
      </p:sp>
    </p:spTree>
    <p:extLst>
      <p:ext uri="{BB962C8B-B14F-4D97-AF65-F5344CB8AC3E}">
        <p14:creationId xmlns:p14="http://schemas.microsoft.com/office/powerpoint/2010/main" val="2180306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17</a:t>
            </a:fld>
            <a:endParaRPr lang="en-IL"/>
          </a:p>
        </p:txBody>
      </p:sp>
    </p:spTree>
    <p:extLst>
      <p:ext uri="{BB962C8B-B14F-4D97-AF65-F5344CB8AC3E}">
        <p14:creationId xmlns:p14="http://schemas.microsoft.com/office/powerpoint/2010/main" val="41358084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18</a:t>
            </a:fld>
            <a:endParaRPr lang="en-IL"/>
          </a:p>
        </p:txBody>
      </p:sp>
    </p:spTree>
    <p:extLst>
      <p:ext uri="{BB962C8B-B14F-4D97-AF65-F5344CB8AC3E}">
        <p14:creationId xmlns:p14="http://schemas.microsoft.com/office/powerpoint/2010/main" val="12732100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19</a:t>
            </a:fld>
            <a:endParaRPr lang="en-IL"/>
          </a:p>
        </p:txBody>
      </p:sp>
    </p:spTree>
    <p:extLst>
      <p:ext uri="{BB962C8B-B14F-4D97-AF65-F5344CB8AC3E}">
        <p14:creationId xmlns:p14="http://schemas.microsoft.com/office/powerpoint/2010/main" val="13641363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20</a:t>
            </a:fld>
            <a:endParaRPr lang="en-IL"/>
          </a:p>
        </p:txBody>
      </p:sp>
    </p:spTree>
    <p:extLst>
      <p:ext uri="{BB962C8B-B14F-4D97-AF65-F5344CB8AC3E}">
        <p14:creationId xmlns:p14="http://schemas.microsoft.com/office/powerpoint/2010/main" val="20263276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21</a:t>
            </a:fld>
            <a:endParaRPr lang="en-IL"/>
          </a:p>
        </p:txBody>
      </p:sp>
    </p:spTree>
    <p:extLst>
      <p:ext uri="{BB962C8B-B14F-4D97-AF65-F5344CB8AC3E}">
        <p14:creationId xmlns:p14="http://schemas.microsoft.com/office/powerpoint/2010/main" val="38155223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22</a:t>
            </a:fld>
            <a:endParaRPr lang="en-IL"/>
          </a:p>
        </p:txBody>
      </p:sp>
    </p:spTree>
    <p:extLst>
      <p:ext uri="{BB962C8B-B14F-4D97-AF65-F5344CB8AC3E}">
        <p14:creationId xmlns:p14="http://schemas.microsoft.com/office/powerpoint/2010/main" val="17214689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23</a:t>
            </a:fld>
            <a:endParaRPr lang="en-IL"/>
          </a:p>
        </p:txBody>
      </p:sp>
    </p:spTree>
    <p:extLst>
      <p:ext uri="{BB962C8B-B14F-4D97-AF65-F5344CB8AC3E}">
        <p14:creationId xmlns:p14="http://schemas.microsoft.com/office/powerpoint/2010/main" val="35454550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24</a:t>
            </a:fld>
            <a:endParaRPr lang="en-IL"/>
          </a:p>
        </p:txBody>
      </p:sp>
    </p:spTree>
    <p:extLst>
      <p:ext uri="{BB962C8B-B14F-4D97-AF65-F5344CB8AC3E}">
        <p14:creationId xmlns:p14="http://schemas.microsoft.com/office/powerpoint/2010/main" val="13099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25</a:t>
            </a:fld>
            <a:endParaRPr lang="en-IL"/>
          </a:p>
        </p:txBody>
      </p:sp>
    </p:spTree>
    <p:extLst>
      <p:ext uri="{BB962C8B-B14F-4D97-AF65-F5344CB8AC3E}">
        <p14:creationId xmlns:p14="http://schemas.microsoft.com/office/powerpoint/2010/main" val="1539907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26</a:t>
            </a:fld>
            <a:endParaRPr lang="en-IL"/>
          </a:p>
        </p:txBody>
      </p:sp>
    </p:spTree>
    <p:extLst>
      <p:ext uri="{BB962C8B-B14F-4D97-AF65-F5344CB8AC3E}">
        <p14:creationId xmlns:p14="http://schemas.microsoft.com/office/powerpoint/2010/main" val="24096679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27</a:t>
            </a:fld>
            <a:endParaRPr lang="en-IL"/>
          </a:p>
        </p:txBody>
      </p:sp>
    </p:spTree>
    <p:extLst>
      <p:ext uri="{BB962C8B-B14F-4D97-AF65-F5344CB8AC3E}">
        <p14:creationId xmlns:p14="http://schemas.microsoft.com/office/powerpoint/2010/main" val="25887840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D3072DB-288D-41CF-9840-06B017A0D6A2}" type="slidenum">
              <a:rPr lang="en-US" smtClean="0"/>
              <a:t>28</a:t>
            </a:fld>
            <a:endParaRPr lang="en-US"/>
          </a:p>
        </p:txBody>
      </p:sp>
    </p:spTree>
    <p:extLst>
      <p:ext uri="{BB962C8B-B14F-4D97-AF65-F5344CB8AC3E}">
        <p14:creationId xmlns:p14="http://schemas.microsoft.com/office/powerpoint/2010/main" val="23075153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30</a:t>
            </a:fld>
            <a:endParaRPr lang="en-IL"/>
          </a:p>
        </p:txBody>
      </p:sp>
    </p:spTree>
    <p:extLst>
      <p:ext uri="{BB962C8B-B14F-4D97-AF65-F5344CB8AC3E}">
        <p14:creationId xmlns:p14="http://schemas.microsoft.com/office/powerpoint/2010/main" val="32337272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31</a:t>
            </a:fld>
            <a:endParaRPr lang="en-IL"/>
          </a:p>
        </p:txBody>
      </p:sp>
    </p:spTree>
    <p:extLst>
      <p:ext uri="{BB962C8B-B14F-4D97-AF65-F5344CB8AC3E}">
        <p14:creationId xmlns:p14="http://schemas.microsoft.com/office/powerpoint/2010/main" val="24093299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33</a:t>
            </a:fld>
            <a:endParaRPr lang="en-IL"/>
          </a:p>
        </p:txBody>
      </p:sp>
    </p:spTree>
    <p:extLst>
      <p:ext uri="{BB962C8B-B14F-4D97-AF65-F5344CB8AC3E}">
        <p14:creationId xmlns:p14="http://schemas.microsoft.com/office/powerpoint/2010/main" val="26809567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34</a:t>
            </a:fld>
            <a:endParaRPr lang="en-IL"/>
          </a:p>
        </p:txBody>
      </p:sp>
    </p:spTree>
    <p:extLst>
      <p:ext uri="{BB962C8B-B14F-4D97-AF65-F5344CB8AC3E}">
        <p14:creationId xmlns:p14="http://schemas.microsoft.com/office/powerpoint/2010/main" val="13988690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35</a:t>
            </a:fld>
            <a:endParaRPr lang="en-IL"/>
          </a:p>
        </p:txBody>
      </p:sp>
    </p:spTree>
    <p:extLst>
      <p:ext uri="{BB962C8B-B14F-4D97-AF65-F5344CB8AC3E}">
        <p14:creationId xmlns:p14="http://schemas.microsoft.com/office/powerpoint/2010/main" val="40568446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36</a:t>
            </a:fld>
            <a:endParaRPr lang="en-IL"/>
          </a:p>
        </p:txBody>
      </p:sp>
    </p:spTree>
    <p:extLst>
      <p:ext uri="{BB962C8B-B14F-4D97-AF65-F5344CB8AC3E}">
        <p14:creationId xmlns:p14="http://schemas.microsoft.com/office/powerpoint/2010/main" val="794840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37</a:t>
            </a:fld>
            <a:endParaRPr lang="en-IL"/>
          </a:p>
        </p:txBody>
      </p:sp>
    </p:spTree>
    <p:extLst>
      <p:ext uri="{BB962C8B-B14F-4D97-AF65-F5344CB8AC3E}">
        <p14:creationId xmlns:p14="http://schemas.microsoft.com/office/powerpoint/2010/main" val="17824400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39</a:t>
            </a:fld>
            <a:endParaRPr lang="en-IL"/>
          </a:p>
        </p:txBody>
      </p:sp>
    </p:spTree>
    <p:extLst>
      <p:ext uri="{BB962C8B-B14F-4D97-AF65-F5344CB8AC3E}">
        <p14:creationId xmlns:p14="http://schemas.microsoft.com/office/powerpoint/2010/main" val="4266963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40</a:t>
            </a:fld>
            <a:endParaRPr lang="en-IL"/>
          </a:p>
        </p:txBody>
      </p:sp>
    </p:spTree>
    <p:extLst>
      <p:ext uri="{BB962C8B-B14F-4D97-AF65-F5344CB8AC3E}">
        <p14:creationId xmlns:p14="http://schemas.microsoft.com/office/powerpoint/2010/main" val="10159598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42</a:t>
            </a:fld>
            <a:endParaRPr lang="en-IL"/>
          </a:p>
        </p:txBody>
      </p:sp>
    </p:spTree>
    <p:extLst>
      <p:ext uri="{BB962C8B-B14F-4D97-AF65-F5344CB8AC3E}">
        <p14:creationId xmlns:p14="http://schemas.microsoft.com/office/powerpoint/2010/main" val="40706848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43</a:t>
            </a:fld>
            <a:endParaRPr lang="en-IL"/>
          </a:p>
        </p:txBody>
      </p:sp>
    </p:spTree>
    <p:extLst>
      <p:ext uri="{BB962C8B-B14F-4D97-AF65-F5344CB8AC3E}">
        <p14:creationId xmlns:p14="http://schemas.microsoft.com/office/powerpoint/2010/main" val="427912686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a:extLst>
              <a:ext uri="{FF2B5EF4-FFF2-40B4-BE49-F238E27FC236}">
                <a16:creationId xmlns:a16="http://schemas.microsoft.com/office/drawing/2014/main" id="{A78235AE-3112-0C41-B13F-4A347D37FA0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fld id="{59304B59-D91A-C24F-A550-F2C65B2080AE}" type="slidenum">
              <a:rPr lang="en-US" altLang="en-IL" sz="1200"/>
              <a:pPr/>
              <a:t>44</a:t>
            </a:fld>
            <a:endParaRPr lang="en-US" altLang="en-IL" sz="1200"/>
          </a:p>
        </p:txBody>
      </p:sp>
      <p:sp>
        <p:nvSpPr>
          <p:cNvPr id="94211" name="Rectangle 2">
            <a:extLst>
              <a:ext uri="{FF2B5EF4-FFF2-40B4-BE49-F238E27FC236}">
                <a16:creationId xmlns:a16="http://schemas.microsoft.com/office/drawing/2014/main" id="{7326C0D7-EF9C-F149-BF67-BB29BA239DC4}"/>
              </a:ext>
            </a:extLst>
          </p:cNvPr>
          <p:cNvSpPr>
            <a:spLocks noGrp="1" noRot="1" noChangeAspect="1" noChangeArrowheads="1" noTextEdit="1"/>
          </p:cNvSpPr>
          <p:nvPr>
            <p:ph type="sldImg"/>
          </p:nvPr>
        </p:nvSpPr>
        <p:spPr>
          <a:solidFill>
            <a:srgbClr val="FFFFFF"/>
          </a:solidFill>
          <a:ln/>
        </p:spPr>
      </p:sp>
      <p:sp>
        <p:nvSpPr>
          <p:cNvPr id="94212" name="Rectangle 3">
            <a:extLst>
              <a:ext uri="{FF2B5EF4-FFF2-40B4-BE49-F238E27FC236}">
                <a16:creationId xmlns:a16="http://schemas.microsoft.com/office/drawing/2014/main" id="{AF5D5BCA-ECB1-814F-BF37-8017458AF1F8}"/>
              </a:ext>
            </a:extLst>
          </p:cNvPr>
          <p:cNvSpPr>
            <a:spLocks noGrp="1" noChangeArrowheads="1"/>
          </p:cNvSpPr>
          <p:nvPr>
            <p:ph type="body" idx="1"/>
          </p:nvPr>
        </p:nvSpPr>
        <p:spPr>
          <a:solidFill>
            <a:srgbClr val="FFFFFF"/>
          </a:solidFill>
          <a:ln>
            <a:solidFill>
              <a:srgbClr val="000000"/>
            </a:solidFill>
          </a:ln>
        </p:spPr>
        <p:txBody>
          <a:bodyPr/>
          <a:lstStyle/>
          <a:p>
            <a:pPr eaLnBrk="1" hangingPunct="1"/>
            <a:endParaRPr lang="en-IL" altLang="en-IL">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34813606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45</a:t>
            </a:fld>
            <a:endParaRPr lang="en-IL"/>
          </a:p>
        </p:txBody>
      </p:sp>
    </p:spTree>
    <p:extLst>
      <p:ext uri="{BB962C8B-B14F-4D97-AF65-F5344CB8AC3E}">
        <p14:creationId xmlns:p14="http://schemas.microsoft.com/office/powerpoint/2010/main" val="421066324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46</a:t>
            </a:fld>
            <a:endParaRPr lang="en-IL"/>
          </a:p>
        </p:txBody>
      </p:sp>
    </p:spTree>
    <p:extLst>
      <p:ext uri="{BB962C8B-B14F-4D97-AF65-F5344CB8AC3E}">
        <p14:creationId xmlns:p14="http://schemas.microsoft.com/office/powerpoint/2010/main" val="25441699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47</a:t>
            </a:fld>
            <a:endParaRPr lang="en-IL"/>
          </a:p>
        </p:txBody>
      </p:sp>
    </p:spTree>
    <p:extLst>
      <p:ext uri="{BB962C8B-B14F-4D97-AF65-F5344CB8AC3E}">
        <p14:creationId xmlns:p14="http://schemas.microsoft.com/office/powerpoint/2010/main" val="22787554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48</a:t>
            </a:fld>
            <a:endParaRPr lang="en-IL"/>
          </a:p>
        </p:txBody>
      </p:sp>
    </p:spTree>
    <p:extLst>
      <p:ext uri="{BB962C8B-B14F-4D97-AF65-F5344CB8AC3E}">
        <p14:creationId xmlns:p14="http://schemas.microsoft.com/office/powerpoint/2010/main" val="32039679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49</a:t>
            </a:fld>
            <a:endParaRPr lang="en-IL"/>
          </a:p>
        </p:txBody>
      </p:sp>
    </p:spTree>
    <p:extLst>
      <p:ext uri="{BB962C8B-B14F-4D97-AF65-F5344CB8AC3E}">
        <p14:creationId xmlns:p14="http://schemas.microsoft.com/office/powerpoint/2010/main" val="41198412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50</a:t>
            </a:fld>
            <a:endParaRPr lang="en-IL"/>
          </a:p>
        </p:txBody>
      </p:sp>
    </p:spTree>
    <p:extLst>
      <p:ext uri="{BB962C8B-B14F-4D97-AF65-F5344CB8AC3E}">
        <p14:creationId xmlns:p14="http://schemas.microsoft.com/office/powerpoint/2010/main" val="37795714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51</a:t>
            </a:fld>
            <a:endParaRPr lang="en-IL"/>
          </a:p>
        </p:txBody>
      </p:sp>
    </p:spTree>
    <p:extLst>
      <p:ext uri="{BB962C8B-B14F-4D97-AF65-F5344CB8AC3E}">
        <p14:creationId xmlns:p14="http://schemas.microsoft.com/office/powerpoint/2010/main" val="35797787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52</a:t>
            </a:fld>
            <a:endParaRPr lang="en-IL"/>
          </a:p>
        </p:txBody>
      </p:sp>
    </p:spTree>
    <p:extLst>
      <p:ext uri="{BB962C8B-B14F-4D97-AF65-F5344CB8AC3E}">
        <p14:creationId xmlns:p14="http://schemas.microsoft.com/office/powerpoint/2010/main" val="1521953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a:extLst>
              <a:ext uri="{FF2B5EF4-FFF2-40B4-BE49-F238E27FC236}">
                <a16:creationId xmlns:a16="http://schemas.microsoft.com/office/drawing/2014/main" id="{DCDD53E8-BB23-F441-A090-0D389B19BE9C}"/>
              </a:ext>
            </a:extLst>
          </p:cNvPr>
          <p:cNvSpPr>
            <a:spLocks noGrp="1" noRot="1" noChangeAspect="1" noTextEdit="1"/>
          </p:cNvSpPr>
          <p:nvPr>
            <p:ph type="sldImg"/>
          </p:nvPr>
        </p:nvSpPr>
        <p:spPr>
          <a:ln/>
        </p:spPr>
      </p:sp>
      <p:sp>
        <p:nvSpPr>
          <p:cNvPr id="24579" name="Notes Placeholder 2">
            <a:extLst>
              <a:ext uri="{FF2B5EF4-FFF2-40B4-BE49-F238E27FC236}">
                <a16:creationId xmlns:a16="http://schemas.microsoft.com/office/drawing/2014/main" id="{5D342BBC-1A37-DF46-B394-24D3B10C286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a typeface="ＭＳ Ｐゴシック" panose="020B0600070205080204" pitchFamily="34" charset="-128"/>
            </a:endParaRPr>
          </a:p>
        </p:txBody>
      </p:sp>
      <p:sp>
        <p:nvSpPr>
          <p:cNvPr id="24580" name="Slide Number Placeholder 3">
            <a:extLst>
              <a:ext uri="{FF2B5EF4-FFF2-40B4-BE49-F238E27FC236}">
                <a16:creationId xmlns:a16="http://schemas.microsoft.com/office/drawing/2014/main" id="{52FD38A4-F9FD-BD42-8503-E1D5D25A9AC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lgn="r" eaLnBrk="1" hangingPunct="1">
              <a:spcBef>
                <a:spcPct val="0"/>
              </a:spcBef>
            </a:pPr>
            <a:fld id="{4B3038D5-55E6-9B46-BCCE-CD833604ABDF}" type="slidenum">
              <a:rPr lang="en-US" altLang="en-US" sz="1300"/>
              <a:pPr algn="r" eaLnBrk="1" hangingPunct="1">
                <a:spcBef>
                  <a:spcPct val="0"/>
                </a:spcBef>
              </a:pPr>
              <a:t>55</a:t>
            </a:fld>
            <a:endParaRPr lang="en-US" altLang="en-US" sz="1300"/>
          </a:p>
        </p:txBody>
      </p:sp>
    </p:spTree>
    <p:extLst>
      <p:ext uri="{BB962C8B-B14F-4D97-AF65-F5344CB8AC3E}">
        <p14:creationId xmlns:p14="http://schemas.microsoft.com/office/powerpoint/2010/main" val="33306818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600">
                <a:solidFill>
                  <a:srgbClr val="009900"/>
                </a:solidFill>
                <a:latin typeface="Tahoma" charset="0"/>
                <a:ea typeface="ＭＳ Ｐゴシック" charset="0"/>
                <a:cs typeface="ＭＳ Ｐゴシック" charset="0"/>
              </a:defRPr>
            </a:lvl1pPr>
            <a:lvl2pPr marL="742950" indent="-285750" eaLnBrk="0" hangingPunct="0">
              <a:defRPr sz="1600">
                <a:solidFill>
                  <a:srgbClr val="009900"/>
                </a:solidFill>
                <a:latin typeface="Tahoma" charset="0"/>
                <a:ea typeface="ＭＳ Ｐゴシック" charset="0"/>
              </a:defRPr>
            </a:lvl2pPr>
            <a:lvl3pPr marL="1143000" indent="-228600" eaLnBrk="0" hangingPunct="0">
              <a:defRPr sz="1600">
                <a:solidFill>
                  <a:srgbClr val="009900"/>
                </a:solidFill>
                <a:latin typeface="Tahoma" charset="0"/>
                <a:ea typeface="ＭＳ Ｐゴシック" charset="0"/>
              </a:defRPr>
            </a:lvl3pPr>
            <a:lvl4pPr marL="1600200" indent="-228600" eaLnBrk="0" hangingPunct="0">
              <a:defRPr sz="1600">
                <a:solidFill>
                  <a:srgbClr val="009900"/>
                </a:solidFill>
                <a:latin typeface="Tahoma" charset="0"/>
                <a:ea typeface="ＭＳ Ｐゴシック" charset="0"/>
              </a:defRPr>
            </a:lvl4pPr>
            <a:lvl5pPr marL="2057400" indent="-228600" eaLnBrk="0" hangingPunct="0">
              <a:defRPr sz="1600">
                <a:solidFill>
                  <a:srgbClr val="009900"/>
                </a:solidFill>
                <a:latin typeface="Tahoma" charset="0"/>
                <a:ea typeface="ＭＳ Ｐゴシック" charset="0"/>
              </a:defRPr>
            </a:lvl5pPr>
            <a:lvl6pPr marL="2514600" indent="-228600" eaLnBrk="0" fontAlgn="base" hangingPunct="0">
              <a:spcBef>
                <a:spcPct val="0"/>
              </a:spcBef>
              <a:spcAft>
                <a:spcPct val="0"/>
              </a:spcAft>
              <a:defRPr sz="1600">
                <a:solidFill>
                  <a:srgbClr val="009900"/>
                </a:solidFill>
                <a:latin typeface="Tahoma" charset="0"/>
                <a:ea typeface="ＭＳ Ｐゴシック" charset="0"/>
              </a:defRPr>
            </a:lvl6pPr>
            <a:lvl7pPr marL="2971800" indent="-228600" eaLnBrk="0" fontAlgn="base" hangingPunct="0">
              <a:spcBef>
                <a:spcPct val="0"/>
              </a:spcBef>
              <a:spcAft>
                <a:spcPct val="0"/>
              </a:spcAft>
              <a:defRPr sz="1600">
                <a:solidFill>
                  <a:srgbClr val="009900"/>
                </a:solidFill>
                <a:latin typeface="Tahoma" charset="0"/>
                <a:ea typeface="ＭＳ Ｐゴシック" charset="0"/>
              </a:defRPr>
            </a:lvl7pPr>
            <a:lvl8pPr marL="3429000" indent="-228600" eaLnBrk="0" fontAlgn="base" hangingPunct="0">
              <a:spcBef>
                <a:spcPct val="0"/>
              </a:spcBef>
              <a:spcAft>
                <a:spcPct val="0"/>
              </a:spcAft>
              <a:defRPr sz="1600">
                <a:solidFill>
                  <a:srgbClr val="009900"/>
                </a:solidFill>
                <a:latin typeface="Tahoma" charset="0"/>
                <a:ea typeface="ＭＳ Ｐゴシック" charset="0"/>
              </a:defRPr>
            </a:lvl8pPr>
            <a:lvl9pPr marL="3886200" indent="-228600" eaLnBrk="0" fontAlgn="base" hangingPunct="0">
              <a:spcBef>
                <a:spcPct val="0"/>
              </a:spcBef>
              <a:spcAft>
                <a:spcPct val="0"/>
              </a:spcAft>
              <a:defRPr sz="1600">
                <a:solidFill>
                  <a:srgbClr val="009900"/>
                </a:solidFill>
                <a:latin typeface="Tahoma" charset="0"/>
                <a:ea typeface="ＭＳ Ｐゴシック" charset="0"/>
              </a:defRPr>
            </a:lvl9pPr>
          </a:lstStyle>
          <a:p>
            <a:pPr eaLnBrk="1" hangingPunct="1"/>
            <a:fld id="{19FF8415-03E6-5541-A0E0-2A96651B53E4}" type="slidenum">
              <a:rPr lang="en-US" sz="1200">
                <a:solidFill>
                  <a:schemeClr val="tx1"/>
                </a:solidFill>
                <a:latin typeface="Times New Roman" charset="0"/>
              </a:rPr>
              <a:pPr eaLnBrk="1" hangingPunct="1"/>
              <a:t>56</a:t>
            </a:fld>
            <a:endParaRPr lang="en-US" sz="1200">
              <a:solidFill>
                <a:schemeClr val="tx1"/>
              </a:solidFill>
              <a:latin typeface="Times New Roman" charset="0"/>
            </a:endParaRPr>
          </a:p>
        </p:txBody>
      </p:sp>
      <p:sp>
        <p:nvSpPr>
          <p:cNvPr id="50178" name="Rectangle 1026"/>
          <p:cNvSpPr>
            <a:spLocks noGrp="1" noRot="1" noChangeAspect="1" noChangeArrowheads="1" noTextEdit="1"/>
          </p:cNvSpPr>
          <p:nvPr>
            <p:ph type="sldImg"/>
          </p:nvPr>
        </p:nvSpPr>
        <p:spPr>
          <a:ln/>
        </p:spPr>
      </p:sp>
      <p:sp>
        <p:nvSpPr>
          <p:cNvPr id="50179" name="Rectangle 1027"/>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8966545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Slide Image Placeholder 1">
            <a:extLst>
              <a:ext uri="{FF2B5EF4-FFF2-40B4-BE49-F238E27FC236}">
                <a16:creationId xmlns:a16="http://schemas.microsoft.com/office/drawing/2014/main" id="{D19E8AA3-0FC6-4743-AC00-AA51B2FCA0E5}"/>
              </a:ext>
            </a:extLst>
          </p:cNvPr>
          <p:cNvSpPr>
            <a:spLocks noGrp="1" noRot="1" noChangeAspect="1" noTextEdit="1"/>
          </p:cNvSpPr>
          <p:nvPr>
            <p:ph type="sldImg"/>
          </p:nvPr>
        </p:nvSpPr>
        <p:spPr>
          <a:ln/>
        </p:spPr>
      </p:sp>
      <p:sp>
        <p:nvSpPr>
          <p:cNvPr id="26627" name="Notes Placeholder 2">
            <a:extLst>
              <a:ext uri="{FF2B5EF4-FFF2-40B4-BE49-F238E27FC236}">
                <a16:creationId xmlns:a16="http://schemas.microsoft.com/office/drawing/2014/main" id="{CBBF2071-3AB4-F04F-A761-D38BF88083B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a typeface="ＭＳ Ｐゴシック" panose="020B0600070205080204" pitchFamily="34" charset="-128"/>
            </a:endParaRPr>
          </a:p>
        </p:txBody>
      </p:sp>
      <p:sp>
        <p:nvSpPr>
          <p:cNvPr id="26628" name="Slide Number Placeholder 3">
            <a:extLst>
              <a:ext uri="{FF2B5EF4-FFF2-40B4-BE49-F238E27FC236}">
                <a16:creationId xmlns:a16="http://schemas.microsoft.com/office/drawing/2014/main" id="{6B2F4017-7F4A-3B4D-A9C7-95882119713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lgn="r" eaLnBrk="1" hangingPunct="1">
              <a:spcBef>
                <a:spcPct val="0"/>
              </a:spcBef>
            </a:pPr>
            <a:fld id="{AB5EF5A2-C010-0846-854D-BBCAF133F689}" type="slidenum">
              <a:rPr lang="en-US" altLang="en-US" sz="1300"/>
              <a:pPr algn="r" eaLnBrk="1" hangingPunct="1">
                <a:spcBef>
                  <a:spcPct val="0"/>
                </a:spcBef>
              </a:pPr>
              <a:t>57</a:t>
            </a:fld>
            <a:endParaRPr lang="en-US" altLang="en-US" sz="1300"/>
          </a:p>
        </p:txBody>
      </p:sp>
    </p:spTree>
    <p:extLst>
      <p:ext uri="{BB962C8B-B14F-4D97-AF65-F5344CB8AC3E}">
        <p14:creationId xmlns:p14="http://schemas.microsoft.com/office/powerpoint/2010/main" val="3695363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a:extLst>
              <a:ext uri="{FF2B5EF4-FFF2-40B4-BE49-F238E27FC236}">
                <a16:creationId xmlns:a16="http://schemas.microsoft.com/office/drawing/2014/main" id="{5DE203A0-AA4E-5F49-AFB4-0A45F7710D12}"/>
              </a:ext>
            </a:extLst>
          </p:cNvPr>
          <p:cNvSpPr>
            <a:spLocks noGrp="1" noRot="1" noChangeAspect="1" noTextEdit="1"/>
          </p:cNvSpPr>
          <p:nvPr>
            <p:ph type="sldImg"/>
          </p:nvPr>
        </p:nvSpPr>
        <p:spPr>
          <a:ln/>
        </p:spPr>
      </p:sp>
      <p:sp>
        <p:nvSpPr>
          <p:cNvPr id="28675" name="Notes Placeholder 2">
            <a:extLst>
              <a:ext uri="{FF2B5EF4-FFF2-40B4-BE49-F238E27FC236}">
                <a16:creationId xmlns:a16="http://schemas.microsoft.com/office/drawing/2014/main" id="{69F6052E-6B06-6843-9715-F5345334FD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a typeface="ＭＳ Ｐゴシック" panose="020B0600070205080204" pitchFamily="34" charset="-128"/>
            </a:endParaRPr>
          </a:p>
        </p:txBody>
      </p:sp>
      <p:sp>
        <p:nvSpPr>
          <p:cNvPr id="28676" name="Slide Number Placeholder 3">
            <a:extLst>
              <a:ext uri="{FF2B5EF4-FFF2-40B4-BE49-F238E27FC236}">
                <a16:creationId xmlns:a16="http://schemas.microsoft.com/office/drawing/2014/main" id="{EAE1390C-A66A-C34E-B664-E3A388CB93E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lgn="l" defTabSz="990600" eaLnBrk="0" hangingPunct="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defTabSz="990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lgn="r" eaLnBrk="1" hangingPunct="1">
              <a:spcBef>
                <a:spcPct val="0"/>
              </a:spcBef>
            </a:pPr>
            <a:fld id="{6065B0BB-AFB8-BE49-B30C-DD64B19AE969}" type="slidenum">
              <a:rPr lang="en-US" altLang="en-US" sz="1300"/>
              <a:pPr algn="r" eaLnBrk="1" hangingPunct="1">
                <a:spcBef>
                  <a:spcPct val="0"/>
                </a:spcBef>
              </a:pPr>
              <a:t>58</a:t>
            </a:fld>
            <a:endParaRPr lang="en-US" altLang="en-US" sz="1300"/>
          </a:p>
        </p:txBody>
      </p:sp>
    </p:spTree>
    <p:extLst>
      <p:ext uri="{BB962C8B-B14F-4D97-AF65-F5344CB8AC3E}">
        <p14:creationId xmlns:p14="http://schemas.microsoft.com/office/powerpoint/2010/main" val="643930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471583D6-DC4D-CB48-A60C-046018049E6A}"/>
              </a:ext>
            </a:extLst>
          </p:cNvPr>
          <p:cNvSpPr>
            <a:spLocks noGrp="1" noRot="1" noChangeAspect="1" noChangeArrowheads="1" noTextEdit="1"/>
          </p:cNvSpPr>
          <p:nvPr>
            <p:ph type="sldImg"/>
          </p:nvPr>
        </p:nvSpPr>
        <p:spPr>
          <a:ln/>
        </p:spPr>
      </p:sp>
      <p:sp>
        <p:nvSpPr>
          <p:cNvPr id="29699" name="Rectangle 3">
            <a:extLst>
              <a:ext uri="{FF2B5EF4-FFF2-40B4-BE49-F238E27FC236}">
                <a16:creationId xmlns:a16="http://schemas.microsoft.com/office/drawing/2014/main" id="{5706025F-902D-4746-AFBE-32519DEA31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Arial" panose="020B0604020202020204" pitchFamily="34" charset="0"/>
                <a:ea typeface="ＭＳ Ｐゴシック" panose="020B0600070205080204" pitchFamily="34" charset="-128"/>
              </a:rPr>
              <a:t>Answer:</a:t>
            </a:r>
          </a:p>
          <a:p>
            <a:endParaRPr lang="en-US" altLang="en-US">
              <a:latin typeface="Arial" panose="020B0604020202020204" pitchFamily="34" charset="0"/>
              <a:ea typeface="ＭＳ Ｐゴシック" panose="020B0600070205080204" pitchFamily="34" charset="-128"/>
            </a:endParaRPr>
          </a:p>
          <a:p>
            <a:endParaRPr lang="en-US" altLang="en-US">
              <a:latin typeface="Arial" panose="020B0604020202020204" pitchFamily="34" charset="0"/>
              <a:ea typeface="ＭＳ Ｐゴシック" panose="020B0600070205080204" pitchFamily="34" charset="-128"/>
            </a:endParaRPr>
          </a:p>
          <a:p>
            <a:endParaRPr lang="en-US" altLang="en-US">
              <a:latin typeface="Arial" panose="020B0604020202020204" pitchFamily="34" charset="0"/>
              <a:ea typeface="ＭＳ Ｐゴシック" panose="020B0600070205080204" pitchFamily="34" charset="-128"/>
            </a:endParaRPr>
          </a:p>
          <a:p>
            <a:endParaRPr lang="en-US" altLang="en-US">
              <a:latin typeface="Arial" panose="020B0604020202020204" pitchFamily="34" charset="0"/>
              <a:ea typeface="ＭＳ Ｐゴシック" panose="020B0600070205080204" pitchFamily="34" charset="-128"/>
            </a:endParaRPr>
          </a:p>
          <a:p>
            <a:endParaRPr lang="en-US" altLang="en-US">
              <a:latin typeface="Arial" panose="020B0604020202020204" pitchFamily="34" charset="0"/>
              <a:ea typeface="ＭＳ Ｐゴシック" panose="020B0600070205080204" pitchFamily="34" charset="-128"/>
            </a:endParaRPr>
          </a:p>
          <a:p>
            <a:r>
              <a:rPr lang="en-US" altLang="en-US">
                <a:latin typeface="Arial" panose="020B0604020202020204" pitchFamily="34" charset="0"/>
                <a:ea typeface="ＭＳ Ｐゴシック" panose="020B0600070205080204" pitchFamily="34" charset="-128"/>
              </a:rPr>
              <a:t>egrep "\^_*\^" chat.txt</a:t>
            </a:r>
          </a:p>
        </p:txBody>
      </p:sp>
    </p:spTree>
    <p:extLst>
      <p:ext uri="{BB962C8B-B14F-4D97-AF65-F5344CB8AC3E}">
        <p14:creationId xmlns:p14="http://schemas.microsoft.com/office/powerpoint/2010/main" val="31456238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C036908E-33C8-8E4C-9D92-DB4883D3FE0B}"/>
              </a:ext>
            </a:extLst>
          </p:cNvPr>
          <p:cNvSpPr>
            <a:spLocks noGrp="1" noRot="1" noChangeAspect="1" noChangeArrowheads="1" noTextEdit="1"/>
          </p:cNvSpPr>
          <p:nvPr>
            <p:ph type="sldImg"/>
          </p:nvPr>
        </p:nvSpPr>
        <p:spPr>
          <a:ln/>
        </p:spPr>
      </p:sp>
      <p:sp>
        <p:nvSpPr>
          <p:cNvPr id="31747" name="Rectangle 3">
            <a:extLst>
              <a:ext uri="{FF2B5EF4-FFF2-40B4-BE49-F238E27FC236}">
                <a16:creationId xmlns:a16="http://schemas.microsoft.com/office/drawing/2014/main" id="{DCBA292F-37AA-FF4E-927C-B47EAEB9792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Consolas" panose="020B0609020204030204" pitchFamily="49" charset="0"/>
                <a:ea typeface="ＭＳ Ｐゴシック" panose="020B0600070205080204" pitchFamily="34" charset="-128"/>
              </a:rPr>
              <a:t>Answer:</a:t>
            </a: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r>
              <a:rPr lang="en-US" altLang="en-US">
                <a:latin typeface="Consolas" panose="020B0609020204030204" pitchFamily="49" charset="0"/>
                <a:ea typeface="ＭＳ Ｐゴシック" panose="020B0600070205080204" pitchFamily="34" charset="-128"/>
              </a:rPr>
              <a:t>egrep "</a:t>
            </a:r>
            <a:r>
              <a:rPr lang="en-US" altLang="en-US">
                <a:latin typeface="Arial" panose="020B0604020202020204" pitchFamily="34" charset="0"/>
                <a:ea typeface="ＭＳ Ｐゴシック" panose="020B0600070205080204" pitchFamily="34" charset="-128"/>
              </a:rPr>
              <a:t>[ABCDF][+\-]?" 143.txt</a:t>
            </a:r>
          </a:p>
        </p:txBody>
      </p:sp>
    </p:spTree>
    <p:extLst>
      <p:ext uri="{BB962C8B-B14F-4D97-AF65-F5344CB8AC3E}">
        <p14:creationId xmlns:p14="http://schemas.microsoft.com/office/powerpoint/2010/main" val="157892840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EBBAF01C-C95A-BA43-AAAE-3D137306CEB1}"/>
              </a:ext>
            </a:extLst>
          </p:cNvPr>
          <p:cNvSpPr>
            <a:spLocks noGrp="1" noRot="1" noChangeAspect="1" noChangeArrowheads="1" noTextEdit="1"/>
          </p:cNvSpPr>
          <p:nvPr>
            <p:ph type="sldImg"/>
          </p:nvPr>
        </p:nvSpPr>
        <p:spPr>
          <a:ln/>
        </p:spPr>
      </p:sp>
      <p:sp>
        <p:nvSpPr>
          <p:cNvPr id="32771" name="Rectangle 3">
            <a:extLst>
              <a:ext uri="{FF2B5EF4-FFF2-40B4-BE49-F238E27FC236}">
                <a16:creationId xmlns:a16="http://schemas.microsoft.com/office/drawing/2014/main" id="{F938D07A-53FF-9E42-81FF-137F5FD398E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Consolas" panose="020B0609020204030204" pitchFamily="49" charset="0"/>
                <a:ea typeface="ＭＳ Ｐゴシック" panose="020B0600070205080204" pitchFamily="34" charset="-128"/>
              </a:rPr>
              <a:t>Answer:</a:t>
            </a: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endParaRPr lang="en-US" altLang="en-US">
              <a:latin typeface="Consolas" panose="020B0609020204030204" pitchFamily="49" charset="0"/>
              <a:ea typeface="ＭＳ Ｐゴシック" panose="020B0600070205080204" pitchFamily="34" charset="-128"/>
            </a:endParaRPr>
          </a:p>
          <a:p>
            <a:r>
              <a:rPr lang="en-US" altLang="en-US">
                <a:latin typeface="Consolas" panose="020B0609020204030204" pitchFamily="49" charset="0"/>
                <a:ea typeface="ＭＳ Ｐゴシック" panose="020B0600070205080204" pitchFamily="34" charset="-128"/>
              </a:rPr>
              <a:t>egrep "[0-9]{3}-[0-9]{3}-[0-9]{4}" faculty.html</a:t>
            </a:r>
            <a:endParaRPr lang="en-US" altLang="en-US">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795126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553BB-FAA3-46ED-8326-AD7EE26F78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06B615E8-3C95-4096-8039-02C1046EA5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95CE2517-A02E-4027-BA2C-117CE149DB30}"/>
              </a:ext>
            </a:extLst>
          </p:cNvPr>
          <p:cNvSpPr>
            <a:spLocks noGrp="1"/>
          </p:cNvSpPr>
          <p:nvPr>
            <p:ph type="dt" sz="half" idx="10"/>
          </p:nvPr>
        </p:nvSpPr>
        <p:spPr/>
        <p:txBody>
          <a:bodyPr/>
          <a:lstStyle/>
          <a:p>
            <a:fld id="{6A4BFD53-B117-7140-872B-F4FB2CF797D4}" type="datetime8">
              <a:rPr lang="en-US" smtClean="0"/>
              <a:t>4/8/25 12:05 PM</a:t>
            </a:fld>
            <a:endParaRPr lang="en-IL"/>
          </a:p>
        </p:txBody>
      </p:sp>
      <p:sp>
        <p:nvSpPr>
          <p:cNvPr id="5" name="Footer Placeholder 4">
            <a:extLst>
              <a:ext uri="{FF2B5EF4-FFF2-40B4-BE49-F238E27FC236}">
                <a16:creationId xmlns:a16="http://schemas.microsoft.com/office/drawing/2014/main" id="{C6E5C8B8-C77F-4E96-831A-FC160B4AF490}"/>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6A7E7471-5067-4CA0-9D60-D86D047E9514}"/>
              </a:ext>
            </a:extLst>
          </p:cNvPr>
          <p:cNvSpPr>
            <a:spLocks noGrp="1"/>
          </p:cNvSpPr>
          <p:nvPr>
            <p:ph type="sldNum" sz="quarter" idx="12"/>
          </p:nvPr>
        </p:nvSpPr>
        <p:spPr/>
        <p:txBody>
          <a:bodyPr/>
          <a:lstStyle>
            <a:lvl1pPr>
              <a:defRPr sz="1800"/>
            </a:lvl1pPr>
          </a:lstStyle>
          <a:p>
            <a:fld id="{B62643F8-DFCD-4B5F-9519-933435FA18FB}" type="slidenum">
              <a:rPr lang="en-IL" smtClean="0"/>
              <a:pPr/>
              <a:t>‹#›</a:t>
            </a:fld>
            <a:endParaRPr lang="en-IL" dirty="0"/>
          </a:p>
        </p:txBody>
      </p:sp>
    </p:spTree>
    <p:extLst>
      <p:ext uri="{BB962C8B-B14F-4D97-AF65-F5344CB8AC3E}">
        <p14:creationId xmlns:p14="http://schemas.microsoft.com/office/powerpoint/2010/main" val="27201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8257D3F8-87F0-4DF5-8F98-66DFD99EE7B2}"/>
              </a:ext>
            </a:extLst>
          </p:cNvPr>
          <p:cNvSpPr>
            <a:spLocks noGrp="1"/>
          </p:cNvSpPr>
          <p:nvPr>
            <p:ph idx="1"/>
          </p:nvPr>
        </p:nvSpPr>
        <p:spPr>
          <a:xfrm>
            <a:off x="838200" y="583474"/>
            <a:ext cx="10515600" cy="5593489"/>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L" dirty="0"/>
          </a:p>
        </p:txBody>
      </p:sp>
      <p:sp>
        <p:nvSpPr>
          <p:cNvPr id="13" name="Date Placeholder 3">
            <a:extLst>
              <a:ext uri="{FF2B5EF4-FFF2-40B4-BE49-F238E27FC236}">
                <a16:creationId xmlns:a16="http://schemas.microsoft.com/office/drawing/2014/main" id="{BCDE1D59-793A-43B8-B383-259A90AD5274}"/>
              </a:ext>
            </a:extLst>
          </p:cNvPr>
          <p:cNvSpPr>
            <a:spLocks noGrp="1"/>
          </p:cNvSpPr>
          <p:nvPr>
            <p:ph type="dt" sz="half" idx="10"/>
          </p:nvPr>
        </p:nvSpPr>
        <p:spPr>
          <a:xfrm>
            <a:off x="838200" y="6356350"/>
            <a:ext cx="2743200" cy="365125"/>
          </a:xfrm>
        </p:spPr>
        <p:txBody>
          <a:bodyPr/>
          <a:lstStyle/>
          <a:p>
            <a:fld id="{45AE441F-2815-D442-85FD-BB2B2A3E54CF}" type="datetime8">
              <a:rPr lang="en-US" smtClean="0"/>
              <a:t>4/8/25 12:05 PM</a:t>
            </a:fld>
            <a:endParaRPr lang="en-IL"/>
          </a:p>
        </p:txBody>
      </p:sp>
      <p:sp>
        <p:nvSpPr>
          <p:cNvPr id="14" name="Footer Placeholder 4">
            <a:extLst>
              <a:ext uri="{FF2B5EF4-FFF2-40B4-BE49-F238E27FC236}">
                <a16:creationId xmlns:a16="http://schemas.microsoft.com/office/drawing/2014/main" id="{AA69F713-2159-4167-B614-5042E8DE4D6E}"/>
              </a:ext>
            </a:extLst>
          </p:cNvPr>
          <p:cNvSpPr>
            <a:spLocks noGrp="1"/>
          </p:cNvSpPr>
          <p:nvPr>
            <p:ph type="ftr" sz="quarter" idx="11"/>
          </p:nvPr>
        </p:nvSpPr>
        <p:spPr>
          <a:xfrm>
            <a:off x="4038600" y="6356350"/>
            <a:ext cx="4114800" cy="365125"/>
          </a:xfrm>
        </p:spPr>
        <p:txBody>
          <a:bodyPr/>
          <a:lstStyle/>
          <a:p>
            <a:r>
              <a:rPr lang="en-US"/>
              <a:t>Or Peretz</a:t>
            </a:r>
            <a:endParaRPr lang="en-IL"/>
          </a:p>
        </p:txBody>
      </p:sp>
      <p:sp>
        <p:nvSpPr>
          <p:cNvPr id="15" name="Slide Number Placeholder 5">
            <a:extLst>
              <a:ext uri="{FF2B5EF4-FFF2-40B4-BE49-F238E27FC236}">
                <a16:creationId xmlns:a16="http://schemas.microsoft.com/office/drawing/2014/main" id="{5F40A595-FC21-4942-AC1C-EC8D0EE8F289}"/>
              </a:ext>
            </a:extLst>
          </p:cNvPr>
          <p:cNvSpPr>
            <a:spLocks noGrp="1"/>
          </p:cNvSpPr>
          <p:nvPr>
            <p:ph type="sldNum" sz="quarter" idx="12"/>
          </p:nvPr>
        </p:nvSpPr>
        <p:spPr>
          <a:xfrm>
            <a:off x="8610600" y="6356350"/>
            <a:ext cx="2743200" cy="365125"/>
          </a:xfrm>
        </p:spPr>
        <p:txBody>
          <a:bodyPr/>
          <a:lstStyle>
            <a:lvl1pPr>
              <a:defRPr sz="1800"/>
            </a:lvl1pPr>
          </a:lstStyle>
          <a:p>
            <a:fld id="{C9D69B18-316A-457F-86C2-CFE4F951EE27}" type="slidenum">
              <a:rPr lang="en-IL" smtClean="0"/>
              <a:pPr/>
              <a:t>‹#›</a:t>
            </a:fld>
            <a:endParaRPr lang="en-IL" dirty="0"/>
          </a:p>
        </p:txBody>
      </p:sp>
    </p:spTree>
    <p:extLst>
      <p:ext uri="{BB962C8B-B14F-4D97-AF65-F5344CB8AC3E}">
        <p14:creationId xmlns:p14="http://schemas.microsoft.com/office/powerpoint/2010/main" val="3395765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tmplLst>
          <p:tmpl lvl="1">
            <p:tnLst>
              <p:par>
                <p:cTn presetID="1"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2">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3">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4">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5">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DB71-F16A-411E-A1F0-229842FF42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55FEC0A3-903B-4C81-96AA-FA5FE78795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2621F274-0FDC-4FF1-AD1D-E33CBC0B8BE3}"/>
              </a:ext>
            </a:extLst>
          </p:cNvPr>
          <p:cNvSpPr>
            <a:spLocks noGrp="1"/>
          </p:cNvSpPr>
          <p:nvPr>
            <p:ph type="dt" sz="half" idx="10"/>
          </p:nvPr>
        </p:nvSpPr>
        <p:spPr/>
        <p:txBody>
          <a:bodyPr/>
          <a:lstStyle/>
          <a:p>
            <a:fld id="{7653EF91-4AF3-CC45-A245-5528872A1701}" type="datetime8">
              <a:rPr lang="en-US" smtClean="0"/>
              <a:t>4/8/25 12:05 PM</a:t>
            </a:fld>
            <a:endParaRPr lang="en-IL"/>
          </a:p>
        </p:txBody>
      </p:sp>
      <p:sp>
        <p:nvSpPr>
          <p:cNvPr id="5" name="Footer Placeholder 4">
            <a:extLst>
              <a:ext uri="{FF2B5EF4-FFF2-40B4-BE49-F238E27FC236}">
                <a16:creationId xmlns:a16="http://schemas.microsoft.com/office/drawing/2014/main" id="{C5317186-B90F-456C-A210-0CD662FC94AE}"/>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44DCF8B6-F957-4C26-89F8-62EE0895ACBC}"/>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999782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BCB62-2976-4F72-B0D1-D7D5CC8DFE10}"/>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0E570335-BA28-442F-B929-834D11AFBB7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443D0261-93E1-42EC-B45C-7A9C69E6DB7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8ED1B8B7-4BAF-485E-8E14-0A3937A2E61B}"/>
              </a:ext>
            </a:extLst>
          </p:cNvPr>
          <p:cNvSpPr>
            <a:spLocks noGrp="1"/>
          </p:cNvSpPr>
          <p:nvPr>
            <p:ph type="dt" sz="half" idx="10"/>
          </p:nvPr>
        </p:nvSpPr>
        <p:spPr/>
        <p:txBody>
          <a:bodyPr/>
          <a:lstStyle/>
          <a:p>
            <a:fld id="{FC39023D-BDDC-BC44-8C8A-04FEC1BACF2B}" type="datetime8">
              <a:rPr lang="en-US" smtClean="0"/>
              <a:t>4/8/25 12:05 PM</a:t>
            </a:fld>
            <a:endParaRPr lang="en-IL"/>
          </a:p>
        </p:txBody>
      </p:sp>
      <p:sp>
        <p:nvSpPr>
          <p:cNvPr id="6" name="Footer Placeholder 5">
            <a:extLst>
              <a:ext uri="{FF2B5EF4-FFF2-40B4-BE49-F238E27FC236}">
                <a16:creationId xmlns:a16="http://schemas.microsoft.com/office/drawing/2014/main" id="{5FD101D7-C282-4291-A047-A469118DB9AC}"/>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54E3ACF7-1919-4005-8D18-C065FE37BAF5}"/>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1158286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25D40-5A05-454B-BF8D-2ADD226269A0}"/>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F1CDEE7E-1856-4D6C-95E1-B25F3B5CF8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B6B7349D-B192-40B0-A682-C3914DCE58B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0C86D532-BD26-45AE-91E7-2BCEE71DE7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F139C4E2-6DDF-4BCE-9E96-2FEA03A9195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F371B11A-C4F8-4F85-A0D5-34A703DD1683}"/>
              </a:ext>
            </a:extLst>
          </p:cNvPr>
          <p:cNvSpPr>
            <a:spLocks noGrp="1"/>
          </p:cNvSpPr>
          <p:nvPr>
            <p:ph type="dt" sz="half" idx="10"/>
          </p:nvPr>
        </p:nvSpPr>
        <p:spPr/>
        <p:txBody>
          <a:bodyPr/>
          <a:lstStyle/>
          <a:p>
            <a:fld id="{9A54F2CF-9DCB-864C-B864-761F02A67D20}" type="datetime8">
              <a:rPr lang="en-US" smtClean="0"/>
              <a:t>4/8/25 12:05 PM</a:t>
            </a:fld>
            <a:endParaRPr lang="en-IL"/>
          </a:p>
        </p:txBody>
      </p:sp>
      <p:sp>
        <p:nvSpPr>
          <p:cNvPr id="8" name="Footer Placeholder 7">
            <a:extLst>
              <a:ext uri="{FF2B5EF4-FFF2-40B4-BE49-F238E27FC236}">
                <a16:creationId xmlns:a16="http://schemas.microsoft.com/office/drawing/2014/main" id="{3CF8E969-DC51-428E-A40E-10E237847C2B}"/>
              </a:ext>
            </a:extLst>
          </p:cNvPr>
          <p:cNvSpPr>
            <a:spLocks noGrp="1"/>
          </p:cNvSpPr>
          <p:nvPr>
            <p:ph type="ftr" sz="quarter" idx="11"/>
          </p:nvPr>
        </p:nvSpPr>
        <p:spPr/>
        <p:txBody>
          <a:bodyPr/>
          <a:lstStyle/>
          <a:p>
            <a:r>
              <a:rPr lang="en-US"/>
              <a:t>Or Peretz</a:t>
            </a:r>
            <a:endParaRPr lang="en-IL"/>
          </a:p>
        </p:txBody>
      </p:sp>
      <p:sp>
        <p:nvSpPr>
          <p:cNvPr id="9" name="Slide Number Placeholder 8">
            <a:extLst>
              <a:ext uri="{FF2B5EF4-FFF2-40B4-BE49-F238E27FC236}">
                <a16:creationId xmlns:a16="http://schemas.microsoft.com/office/drawing/2014/main" id="{3AF4C0B3-7D21-431B-8C06-6364026C9DAB}"/>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1730004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CF8A9-2FB1-463C-A055-7D8DEF623488}"/>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D4834B02-6F21-4BD3-9253-024380CFAB64}"/>
              </a:ext>
            </a:extLst>
          </p:cNvPr>
          <p:cNvSpPr>
            <a:spLocks noGrp="1"/>
          </p:cNvSpPr>
          <p:nvPr>
            <p:ph type="dt" sz="half" idx="10"/>
          </p:nvPr>
        </p:nvSpPr>
        <p:spPr/>
        <p:txBody>
          <a:bodyPr/>
          <a:lstStyle/>
          <a:p>
            <a:fld id="{70FB96B1-79D8-EB4B-8193-770518D76F5E}" type="datetime8">
              <a:rPr lang="en-US" smtClean="0"/>
              <a:t>4/8/25 12:05 PM</a:t>
            </a:fld>
            <a:endParaRPr lang="en-IL"/>
          </a:p>
        </p:txBody>
      </p:sp>
      <p:sp>
        <p:nvSpPr>
          <p:cNvPr id="4" name="Footer Placeholder 3">
            <a:extLst>
              <a:ext uri="{FF2B5EF4-FFF2-40B4-BE49-F238E27FC236}">
                <a16:creationId xmlns:a16="http://schemas.microsoft.com/office/drawing/2014/main" id="{6E6109D8-60DE-4EAE-9FA4-4743AF1B53C8}"/>
              </a:ext>
            </a:extLst>
          </p:cNvPr>
          <p:cNvSpPr>
            <a:spLocks noGrp="1"/>
          </p:cNvSpPr>
          <p:nvPr>
            <p:ph type="ftr" sz="quarter" idx="11"/>
          </p:nvPr>
        </p:nvSpPr>
        <p:spPr/>
        <p:txBody>
          <a:bodyPr/>
          <a:lstStyle/>
          <a:p>
            <a:r>
              <a:rPr lang="en-US"/>
              <a:t>Or Peretz</a:t>
            </a:r>
            <a:endParaRPr lang="en-IL"/>
          </a:p>
        </p:txBody>
      </p:sp>
      <p:sp>
        <p:nvSpPr>
          <p:cNvPr id="5" name="Slide Number Placeholder 4">
            <a:extLst>
              <a:ext uri="{FF2B5EF4-FFF2-40B4-BE49-F238E27FC236}">
                <a16:creationId xmlns:a16="http://schemas.microsoft.com/office/drawing/2014/main" id="{5C2833B9-F0EF-4F2D-B1F5-59A0518ACC67}"/>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4047048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F94F9A-B863-4CA1-A3D9-2612454CB5E8}"/>
              </a:ext>
            </a:extLst>
          </p:cNvPr>
          <p:cNvSpPr>
            <a:spLocks noGrp="1"/>
          </p:cNvSpPr>
          <p:nvPr>
            <p:ph type="dt" sz="half" idx="10"/>
          </p:nvPr>
        </p:nvSpPr>
        <p:spPr/>
        <p:txBody>
          <a:bodyPr/>
          <a:lstStyle/>
          <a:p>
            <a:fld id="{C8F586F7-761E-AC49-A78A-3E60282A375D}" type="datetime8">
              <a:rPr lang="en-US" smtClean="0"/>
              <a:t>4/8/25 12:05 PM</a:t>
            </a:fld>
            <a:endParaRPr lang="en-IL"/>
          </a:p>
        </p:txBody>
      </p:sp>
      <p:sp>
        <p:nvSpPr>
          <p:cNvPr id="3" name="Footer Placeholder 2">
            <a:extLst>
              <a:ext uri="{FF2B5EF4-FFF2-40B4-BE49-F238E27FC236}">
                <a16:creationId xmlns:a16="http://schemas.microsoft.com/office/drawing/2014/main" id="{05856BA7-0F82-4B54-82BF-04EC0B081685}"/>
              </a:ext>
            </a:extLst>
          </p:cNvPr>
          <p:cNvSpPr>
            <a:spLocks noGrp="1"/>
          </p:cNvSpPr>
          <p:nvPr>
            <p:ph type="ftr" sz="quarter" idx="11"/>
          </p:nvPr>
        </p:nvSpPr>
        <p:spPr/>
        <p:txBody>
          <a:bodyPr/>
          <a:lstStyle/>
          <a:p>
            <a:r>
              <a:rPr lang="en-US"/>
              <a:t>Or Peretz</a:t>
            </a:r>
            <a:endParaRPr lang="en-IL"/>
          </a:p>
        </p:txBody>
      </p:sp>
      <p:sp>
        <p:nvSpPr>
          <p:cNvPr id="4" name="Slide Number Placeholder 3">
            <a:extLst>
              <a:ext uri="{FF2B5EF4-FFF2-40B4-BE49-F238E27FC236}">
                <a16:creationId xmlns:a16="http://schemas.microsoft.com/office/drawing/2014/main" id="{026A46C4-110C-4F16-A55B-2CA103D5BC69}"/>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290415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0DF8D4-37EB-4208-8EBF-A36DA15D5A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F119644F-4231-4135-985A-E35BB7DF79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DDAC084D-8409-4F23-A4F3-946B11E92E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857D6E5-0ADE-47F1-BF75-064C0FC0B6AA}"/>
              </a:ext>
            </a:extLst>
          </p:cNvPr>
          <p:cNvSpPr>
            <a:spLocks noGrp="1"/>
          </p:cNvSpPr>
          <p:nvPr>
            <p:ph type="dt" sz="half" idx="10"/>
          </p:nvPr>
        </p:nvSpPr>
        <p:spPr/>
        <p:txBody>
          <a:bodyPr/>
          <a:lstStyle/>
          <a:p>
            <a:fld id="{EA94BBA8-6472-ED4A-98A5-567CC454F752}" type="datetime8">
              <a:rPr lang="en-US" smtClean="0"/>
              <a:t>4/8/25 12:05 PM</a:t>
            </a:fld>
            <a:endParaRPr lang="en-IL"/>
          </a:p>
        </p:txBody>
      </p:sp>
      <p:sp>
        <p:nvSpPr>
          <p:cNvPr id="6" name="Footer Placeholder 5">
            <a:extLst>
              <a:ext uri="{FF2B5EF4-FFF2-40B4-BE49-F238E27FC236}">
                <a16:creationId xmlns:a16="http://schemas.microsoft.com/office/drawing/2014/main" id="{E3A95BE5-8107-4C77-A0C7-320528011EF6}"/>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D2B29687-8674-4B44-BCA8-CA55A7F66AEE}"/>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535512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DDB8B-F360-41C1-9E59-41BC175C2C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6329284B-956D-4A04-AA87-11920CE3AB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6CDA7EC3-09A8-4251-B03C-6044FAB1E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F06FFE-DADD-4559-BD8F-E4090E8513DA}"/>
              </a:ext>
            </a:extLst>
          </p:cNvPr>
          <p:cNvSpPr>
            <a:spLocks noGrp="1"/>
          </p:cNvSpPr>
          <p:nvPr>
            <p:ph type="dt" sz="half" idx="10"/>
          </p:nvPr>
        </p:nvSpPr>
        <p:spPr/>
        <p:txBody>
          <a:bodyPr/>
          <a:lstStyle/>
          <a:p>
            <a:fld id="{5A605C9F-F652-B24D-8F4F-49D46299503F}" type="datetime8">
              <a:rPr lang="en-US" smtClean="0"/>
              <a:t>4/8/25 12:05 PM</a:t>
            </a:fld>
            <a:endParaRPr lang="en-IL"/>
          </a:p>
        </p:txBody>
      </p:sp>
      <p:sp>
        <p:nvSpPr>
          <p:cNvPr id="6" name="Footer Placeholder 5">
            <a:extLst>
              <a:ext uri="{FF2B5EF4-FFF2-40B4-BE49-F238E27FC236}">
                <a16:creationId xmlns:a16="http://schemas.microsoft.com/office/drawing/2014/main" id="{487A7321-97EB-4815-A837-E4FF27362FFC}"/>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BAA3595F-1D61-441A-9A46-FC01E1605B5C}"/>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829192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6D421-C27E-4305-9BA4-ABDBC270E32E}"/>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D369482A-BFEA-4A85-973C-0414EA50857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D2DCE6C9-3B2C-4E59-B407-9DEAA5194AB0}"/>
              </a:ext>
            </a:extLst>
          </p:cNvPr>
          <p:cNvSpPr>
            <a:spLocks noGrp="1"/>
          </p:cNvSpPr>
          <p:nvPr>
            <p:ph type="dt" sz="half" idx="10"/>
          </p:nvPr>
        </p:nvSpPr>
        <p:spPr/>
        <p:txBody>
          <a:bodyPr/>
          <a:lstStyle/>
          <a:p>
            <a:fld id="{329DDC4C-D92B-0A45-9310-46B2F62B571A}" type="datetime8">
              <a:rPr lang="en-US" smtClean="0"/>
              <a:t>4/8/25 12:05 PM</a:t>
            </a:fld>
            <a:endParaRPr lang="en-IL"/>
          </a:p>
        </p:txBody>
      </p:sp>
      <p:sp>
        <p:nvSpPr>
          <p:cNvPr id="5" name="Footer Placeholder 4">
            <a:extLst>
              <a:ext uri="{FF2B5EF4-FFF2-40B4-BE49-F238E27FC236}">
                <a16:creationId xmlns:a16="http://schemas.microsoft.com/office/drawing/2014/main" id="{157B3FA1-84D5-4374-B090-8EED7F0EE76B}"/>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0BB37D06-0BF6-4041-954F-C1D4B14F038F}"/>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506217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A0116A-EF9A-40BC-BE26-84DF8D33F6D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E3EB09AB-DE01-41A1-8BED-34FC1B482AD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46A0832B-4F28-4DE3-AF6D-37975A09FE91}"/>
              </a:ext>
            </a:extLst>
          </p:cNvPr>
          <p:cNvSpPr>
            <a:spLocks noGrp="1"/>
          </p:cNvSpPr>
          <p:nvPr>
            <p:ph type="dt" sz="half" idx="10"/>
          </p:nvPr>
        </p:nvSpPr>
        <p:spPr/>
        <p:txBody>
          <a:bodyPr/>
          <a:lstStyle/>
          <a:p>
            <a:fld id="{01CC6107-2555-F642-9788-A402904F5075}" type="datetime8">
              <a:rPr lang="en-US" smtClean="0"/>
              <a:t>4/8/25 12:05 PM</a:t>
            </a:fld>
            <a:endParaRPr lang="en-IL"/>
          </a:p>
        </p:txBody>
      </p:sp>
      <p:sp>
        <p:nvSpPr>
          <p:cNvPr id="5" name="Footer Placeholder 4">
            <a:extLst>
              <a:ext uri="{FF2B5EF4-FFF2-40B4-BE49-F238E27FC236}">
                <a16:creationId xmlns:a16="http://schemas.microsoft.com/office/drawing/2014/main" id="{18F064A4-73D9-4140-BB4B-47A62F8CBA11}"/>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2241DA01-1032-4191-848B-F8A71F653C29}"/>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24741138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dirty="0"/>
              <a:t>Click to edit Master title style</a:t>
            </a:r>
          </a:p>
        </p:txBody>
      </p:sp>
      <p:sp>
        <p:nvSpPr>
          <p:cNvPr id="3" name="Content Placeholder 2"/>
          <p:cNvSpPr>
            <a:spLocks noGrp="1"/>
          </p:cNvSpPr>
          <p:nvPr>
            <p:ph idx="1"/>
          </p:nvPr>
        </p:nvSpPr>
        <p:spPr/>
        <p:txBody>
          <a:bodyPr/>
          <a:lstStyle>
            <a:lvl1pPr>
              <a:lnSpc>
                <a:spcPct val="130000"/>
              </a:lnSpc>
              <a:spcBef>
                <a:spcPts val="1800"/>
              </a:spcBef>
              <a:spcAft>
                <a:spcPts val="600"/>
              </a:spcAft>
              <a:defRPr/>
            </a:lvl1pPr>
            <a:lvl2pPr>
              <a:lnSpc>
                <a:spcPct val="120000"/>
              </a:lnSpc>
              <a:spcBef>
                <a:spcPts val="900"/>
              </a:spcBef>
              <a:spcAft>
                <a:spcPts val="400"/>
              </a:spcAft>
              <a:defRPr/>
            </a:lvl2pPr>
            <a:lvl3pPr>
              <a:lnSpc>
                <a:spcPct val="110000"/>
              </a:lnSpc>
              <a:spcBef>
                <a:spcPts val="600"/>
              </a:spcBef>
              <a:spcAft>
                <a:spcPts val="300"/>
              </a:spcAft>
              <a:defRPr/>
            </a:lvl3pPr>
            <a:lvl4pPr>
              <a:lnSpc>
                <a:spcPct val="110000"/>
              </a:lnSpc>
              <a:spcBef>
                <a:spcPts val="400"/>
              </a:spcBef>
              <a:spcAft>
                <a:spcPts val="100"/>
              </a:spcAft>
              <a:defRPr/>
            </a:lvl4pPr>
            <a:lvl5pPr>
              <a:lnSpc>
                <a:spcPct val="13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1C38EAED-2730-8F47-9A81-EA9D7C152F6D}" type="datetime8">
              <a:rPr lang="en-US" smtClean="0"/>
              <a:t>4/8/25 12:05 PM</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FB070496-1CF9-408E-B326-6CCA99B85165}" type="slidenum">
              <a:rPr lang="en-US" smtClean="0"/>
              <a:t>‹#›</a:t>
            </a:fld>
            <a:endParaRPr lang="en-US"/>
          </a:p>
        </p:txBody>
      </p:sp>
    </p:spTree>
    <p:extLst>
      <p:ext uri="{BB962C8B-B14F-4D97-AF65-F5344CB8AC3E}">
        <p14:creationId xmlns:p14="http://schemas.microsoft.com/office/powerpoint/2010/main" val="665853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D5FF43-15EB-48BF-9377-EC78CBDCCB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548A9A9A-96AC-434D-8596-80E7719973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0477151C-500A-4CAF-8B1B-C429EEE2CD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2747EB7-5745-994C-BBB2-ABD271B75AC1}" type="datetime8">
              <a:rPr lang="en-US" smtClean="0"/>
              <a:t>4/8/25 12:05 PM</a:t>
            </a:fld>
            <a:endParaRPr lang="en-IL"/>
          </a:p>
        </p:txBody>
      </p:sp>
      <p:sp>
        <p:nvSpPr>
          <p:cNvPr id="5" name="Footer Placeholder 4">
            <a:extLst>
              <a:ext uri="{FF2B5EF4-FFF2-40B4-BE49-F238E27FC236}">
                <a16:creationId xmlns:a16="http://schemas.microsoft.com/office/drawing/2014/main" id="{481936C9-3550-4463-A834-A8233EB9F3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Or Peretz</a:t>
            </a:r>
            <a:endParaRPr lang="en-IL"/>
          </a:p>
        </p:txBody>
      </p:sp>
      <p:sp>
        <p:nvSpPr>
          <p:cNvPr id="6" name="Slide Number Placeholder 5">
            <a:extLst>
              <a:ext uri="{FF2B5EF4-FFF2-40B4-BE49-F238E27FC236}">
                <a16:creationId xmlns:a16="http://schemas.microsoft.com/office/drawing/2014/main" id="{77370A5C-A380-420D-86FA-95B4F828D7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2643F8-DFCD-4B5F-9519-933435FA18FB}" type="slidenum">
              <a:rPr lang="en-IL" smtClean="0"/>
              <a:t>‹#›</a:t>
            </a:fld>
            <a:endParaRPr lang="en-IL"/>
          </a:p>
        </p:txBody>
      </p:sp>
    </p:spTree>
    <p:extLst>
      <p:ext uri="{BB962C8B-B14F-4D97-AF65-F5344CB8AC3E}">
        <p14:creationId xmlns:p14="http://schemas.microsoft.com/office/powerpoint/2010/main" val="20044710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4.xml"/><Relationship Id="rId1" Type="http://schemas.openxmlformats.org/officeDocument/2006/relationships/tags" Target="../tags/tag3.xml"/><Relationship Id="rId4"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6.xml"/><Relationship Id="rId1" Type="http://schemas.openxmlformats.org/officeDocument/2006/relationships/tags" Target="../tags/tag5.xml"/><Relationship Id="rId4"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10.xml"/><Relationship Id="rId1" Type="http://schemas.openxmlformats.org/officeDocument/2006/relationships/tags" Target="../tags/tag9.xml"/><Relationship Id="rId4"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tags" Target="../tags/tag12.xml"/><Relationship Id="rId1" Type="http://schemas.openxmlformats.org/officeDocument/2006/relationships/tags" Target="../tags/tag11.xml"/><Relationship Id="rId4"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BF07A-A6B2-4AA3-9FB3-FF93725B9B74}"/>
              </a:ext>
            </a:extLst>
          </p:cNvPr>
          <p:cNvSpPr>
            <a:spLocks noGrp="1"/>
          </p:cNvSpPr>
          <p:nvPr>
            <p:ph type="ctrTitle"/>
          </p:nvPr>
        </p:nvSpPr>
        <p:spPr>
          <a:xfrm>
            <a:off x="211666" y="1202003"/>
            <a:ext cx="11768667" cy="2602970"/>
          </a:xfrm>
        </p:spPr>
        <p:txBody>
          <a:bodyPr>
            <a:normAutofit/>
          </a:bodyPr>
          <a:lstStyle/>
          <a:p>
            <a:pPr algn="ctr" defTabSz="914400" rtl="0" eaLnBrk="1" latinLnBrk="0" hangingPunct="1">
              <a:lnSpc>
                <a:spcPct val="90000"/>
              </a:lnSpc>
              <a:spcBef>
                <a:spcPct val="0"/>
              </a:spcBef>
              <a:buNone/>
            </a:pPr>
            <a:r>
              <a:rPr lang="en-IL" sz="7200" u="sng" dirty="0">
                <a:cs typeface="+mn-cs"/>
              </a:rPr>
              <a:t>Cloud Data Engineering</a:t>
            </a:r>
          </a:p>
        </p:txBody>
      </p:sp>
      <p:sp>
        <p:nvSpPr>
          <p:cNvPr id="3" name="Subtitle 2">
            <a:extLst>
              <a:ext uri="{FF2B5EF4-FFF2-40B4-BE49-F238E27FC236}">
                <a16:creationId xmlns:a16="http://schemas.microsoft.com/office/drawing/2014/main" id="{E954BFDD-2D28-4F88-A89F-35EB6574CAC6}"/>
              </a:ext>
            </a:extLst>
          </p:cNvPr>
          <p:cNvSpPr>
            <a:spLocks noGrp="1"/>
          </p:cNvSpPr>
          <p:nvPr>
            <p:ph type="subTitle" idx="1"/>
          </p:nvPr>
        </p:nvSpPr>
        <p:spPr>
          <a:xfrm>
            <a:off x="1523999" y="3804973"/>
            <a:ext cx="9144000" cy="1655762"/>
          </a:xfrm>
        </p:spPr>
        <p:txBody>
          <a:bodyPr>
            <a:normAutofit/>
          </a:bodyPr>
          <a:lstStyle/>
          <a:p>
            <a:pPr marL="0" indent="0" algn="ctr" defTabSz="914400" rtl="1" eaLnBrk="1" latinLnBrk="0" hangingPunct="1">
              <a:lnSpc>
                <a:spcPct val="90000"/>
              </a:lnSpc>
              <a:spcBef>
                <a:spcPts val="1000"/>
              </a:spcBef>
              <a:buFont typeface="Arial" panose="020B0604020202020204" pitchFamily="34" charset="0"/>
              <a:buNone/>
            </a:pPr>
            <a:r>
              <a:rPr lang="en-US" sz="3600" dirty="0" err="1"/>
              <a:t>Intrudction</a:t>
            </a:r>
            <a:r>
              <a:rPr lang="en-US" sz="3600" dirty="0"/>
              <a:t> to MapReduce</a:t>
            </a:r>
            <a:endParaRPr lang="en-IL" sz="3600" dirty="0"/>
          </a:p>
        </p:txBody>
      </p:sp>
      <p:sp>
        <p:nvSpPr>
          <p:cNvPr id="4" name="Slide Number Placeholder 3">
            <a:extLst>
              <a:ext uri="{FF2B5EF4-FFF2-40B4-BE49-F238E27FC236}">
                <a16:creationId xmlns:a16="http://schemas.microsoft.com/office/drawing/2014/main" id="{CAD7C810-8880-4D05-860C-4E520C91B935}"/>
              </a:ext>
            </a:extLst>
          </p:cNvPr>
          <p:cNvSpPr>
            <a:spLocks noGrp="1"/>
          </p:cNvSpPr>
          <p:nvPr>
            <p:ph type="sldNum" sz="quarter" idx="12"/>
          </p:nvPr>
        </p:nvSpPr>
        <p:spPr/>
        <p:txBody>
          <a:bodyPr/>
          <a:lstStyle/>
          <a:p>
            <a:fld id="{B62643F8-DFCD-4B5F-9519-933435FA18FB}" type="slidenum">
              <a:rPr lang="en-IL" smtClean="0"/>
              <a:t>1</a:t>
            </a:fld>
            <a:endParaRPr lang="en-IL"/>
          </a:p>
        </p:txBody>
      </p:sp>
      <p:sp>
        <p:nvSpPr>
          <p:cNvPr id="5" name="Footer Placeholder 4">
            <a:extLst>
              <a:ext uri="{FF2B5EF4-FFF2-40B4-BE49-F238E27FC236}">
                <a16:creationId xmlns:a16="http://schemas.microsoft.com/office/drawing/2014/main" id="{B708135C-5A11-DB47-A5FC-BE38DE9D9770}"/>
              </a:ext>
            </a:extLst>
          </p:cNvPr>
          <p:cNvSpPr>
            <a:spLocks noGrp="1"/>
          </p:cNvSpPr>
          <p:nvPr>
            <p:ph type="ftr" sz="quarter" idx="11"/>
          </p:nvPr>
        </p:nvSpPr>
        <p:spPr/>
        <p:txBody>
          <a:bodyPr/>
          <a:lstStyle/>
          <a:p>
            <a:r>
              <a:rPr lang="en-US" dirty="0"/>
              <a:t>Or </a:t>
            </a:r>
            <a:r>
              <a:rPr lang="en-US" dirty="0" err="1"/>
              <a:t>Peretz</a:t>
            </a:r>
            <a:endParaRPr lang="en-US" dirty="0"/>
          </a:p>
        </p:txBody>
      </p:sp>
    </p:spTree>
    <p:extLst>
      <p:ext uri="{BB962C8B-B14F-4D97-AF65-F5344CB8AC3E}">
        <p14:creationId xmlns:p14="http://schemas.microsoft.com/office/powerpoint/2010/main" val="3017308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Introduction to Big Data Solutions – Traditional Approach</a:t>
            </a:r>
          </a:p>
          <a:p>
            <a:pPr>
              <a:lnSpc>
                <a:spcPct val="150000"/>
              </a:lnSpc>
            </a:pPr>
            <a:r>
              <a:rPr lang="en-US" sz="2400" dirty="0"/>
              <a:t>An enterprise will have a computer to store and process big data. For storage purpose, the programmers will take the help of their choice of database vendors such as Oracle, IBM, etc. In this approach, the user interacts with the application, which in turn handles the part of data storage and analysis.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Oval 5">
            <a:extLst>
              <a:ext uri="{FF2B5EF4-FFF2-40B4-BE49-F238E27FC236}">
                <a16:creationId xmlns:a16="http://schemas.microsoft.com/office/drawing/2014/main" id="{AF969FD4-2455-C542-9C1C-613E09F72066}"/>
              </a:ext>
            </a:extLst>
          </p:cNvPr>
          <p:cNvSpPr/>
          <p:nvPr/>
        </p:nvSpPr>
        <p:spPr>
          <a:xfrm>
            <a:off x="2235201" y="3987800"/>
            <a:ext cx="1312334" cy="1117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User</a:t>
            </a:r>
          </a:p>
        </p:txBody>
      </p:sp>
      <p:sp>
        <p:nvSpPr>
          <p:cNvPr id="7" name="Left-Right Arrow 6">
            <a:extLst>
              <a:ext uri="{FF2B5EF4-FFF2-40B4-BE49-F238E27FC236}">
                <a16:creationId xmlns:a16="http://schemas.microsoft.com/office/drawing/2014/main" id="{9D7C1A07-76B3-2D4B-81BA-F266A449EB5B}"/>
              </a:ext>
            </a:extLst>
          </p:cNvPr>
          <p:cNvSpPr/>
          <p:nvPr/>
        </p:nvSpPr>
        <p:spPr>
          <a:xfrm>
            <a:off x="3886201" y="4445000"/>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914400" rtl="1" eaLnBrk="1" latinLnBrk="0" hangingPunct="1"/>
            <a:endParaRPr lang="en-IL"/>
          </a:p>
        </p:txBody>
      </p:sp>
      <p:sp>
        <p:nvSpPr>
          <p:cNvPr id="8" name="Cube 7">
            <a:extLst>
              <a:ext uri="{FF2B5EF4-FFF2-40B4-BE49-F238E27FC236}">
                <a16:creationId xmlns:a16="http://schemas.microsoft.com/office/drawing/2014/main" id="{2C7CADE0-CDD3-1B41-B7EC-06ECAA513F16}"/>
              </a:ext>
            </a:extLst>
          </p:cNvPr>
          <p:cNvSpPr/>
          <p:nvPr/>
        </p:nvSpPr>
        <p:spPr>
          <a:xfrm>
            <a:off x="4919135" y="3721100"/>
            <a:ext cx="1964266" cy="1651000"/>
          </a:xfrm>
          <a:prstGeom prst="cub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Centralized</a:t>
            </a:r>
          </a:p>
          <a:p>
            <a:pPr algn="ctr"/>
            <a:r>
              <a:rPr lang="en-IL" dirty="0"/>
              <a:t>System</a:t>
            </a:r>
          </a:p>
        </p:txBody>
      </p:sp>
      <p:sp>
        <p:nvSpPr>
          <p:cNvPr id="10" name="Left-Right Arrow 9">
            <a:extLst>
              <a:ext uri="{FF2B5EF4-FFF2-40B4-BE49-F238E27FC236}">
                <a16:creationId xmlns:a16="http://schemas.microsoft.com/office/drawing/2014/main" id="{A308F697-4718-1544-B9E9-531DBCD6B8FE}"/>
              </a:ext>
            </a:extLst>
          </p:cNvPr>
          <p:cNvSpPr/>
          <p:nvPr/>
        </p:nvSpPr>
        <p:spPr>
          <a:xfrm>
            <a:off x="7213601" y="4419600"/>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Can 8">
            <a:extLst>
              <a:ext uri="{FF2B5EF4-FFF2-40B4-BE49-F238E27FC236}">
                <a16:creationId xmlns:a16="http://schemas.microsoft.com/office/drawing/2014/main" id="{A95A9998-CE3D-B246-8557-812FB2BCBDE5}"/>
              </a:ext>
            </a:extLst>
          </p:cNvPr>
          <p:cNvSpPr/>
          <p:nvPr/>
        </p:nvSpPr>
        <p:spPr>
          <a:xfrm>
            <a:off x="8407400" y="3721100"/>
            <a:ext cx="1574800" cy="170180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Relational</a:t>
            </a:r>
          </a:p>
          <a:p>
            <a:pPr algn="ctr"/>
            <a:r>
              <a:rPr lang="en-IL" dirty="0"/>
              <a:t>DB</a:t>
            </a:r>
          </a:p>
        </p:txBody>
      </p:sp>
      <p:sp>
        <p:nvSpPr>
          <p:cNvPr id="3" name="Rectangle 2">
            <a:extLst>
              <a:ext uri="{FF2B5EF4-FFF2-40B4-BE49-F238E27FC236}">
                <a16:creationId xmlns:a16="http://schemas.microsoft.com/office/drawing/2014/main" id="{B7969FD3-4769-E141-A620-7D245B97A314}"/>
              </a:ext>
            </a:extLst>
          </p:cNvPr>
          <p:cNvSpPr/>
          <p:nvPr/>
        </p:nvSpPr>
        <p:spPr>
          <a:xfrm>
            <a:off x="694266" y="5600504"/>
            <a:ext cx="10803467" cy="523220"/>
          </a:xfrm>
          <a:prstGeom prst="rect">
            <a:avLst/>
          </a:prstGeom>
        </p:spPr>
        <p:txBody>
          <a:bodyPr wrap="square">
            <a:spAutoFit/>
          </a:bodyPr>
          <a:lstStyle/>
          <a:p>
            <a:r>
              <a:rPr lang="en-US" sz="1400" dirty="0">
                <a:solidFill>
                  <a:srgbClr val="222222"/>
                </a:solidFill>
                <a:latin typeface="Arial" panose="020B0604020202020204" pitchFamily="34" charset="0"/>
              </a:rPr>
              <a:t>Ghemawat, S., </a:t>
            </a:r>
            <a:r>
              <a:rPr lang="en-US" sz="1400" dirty="0" err="1">
                <a:solidFill>
                  <a:srgbClr val="222222"/>
                </a:solidFill>
                <a:latin typeface="Arial" panose="020B0604020202020204" pitchFamily="34" charset="0"/>
              </a:rPr>
              <a:t>Gobioff</a:t>
            </a:r>
            <a:r>
              <a:rPr lang="en-US" sz="1400" dirty="0">
                <a:solidFill>
                  <a:srgbClr val="222222"/>
                </a:solidFill>
                <a:latin typeface="Arial" panose="020B0604020202020204" pitchFamily="34" charset="0"/>
              </a:rPr>
              <a:t>, H., &amp; Leung, S. T. (2003, October). The Google file system. In </a:t>
            </a:r>
            <a:r>
              <a:rPr lang="en-US" sz="1400" i="1" dirty="0">
                <a:solidFill>
                  <a:srgbClr val="222222"/>
                </a:solidFill>
                <a:latin typeface="Arial" panose="020B0604020202020204" pitchFamily="34" charset="0"/>
              </a:rPr>
              <a:t>Proceedings of the nineteenth ACM symposium on Operating systems principles</a:t>
            </a:r>
            <a:r>
              <a:rPr lang="en-US" sz="1400" dirty="0">
                <a:solidFill>
                  <a:srgbClr val="222222"/>
                </a:solidFill>
                <a:latin typeface="Arial" panose="020B0604020202020204" pitchFamily="34" charset="0"/>
              </a:rPr>
              <a:t> (pp. 29-43).</a:t>
            </a:r>
            <a:endParaRPr lang="en-IL" sz="1400" dirty="0"/>
          </a:p>
        </p:txBody>
      </p:sp>
    </p:spTree>
    <p:extLst>
      <p:ext uri="{BB962C8B-B14F-4D97-AF65-F5344CB8AC3E}">
        <p14:creationId xmlns:p14="http://schemas.microsoft.com/office/powerpoint/2010/main" val="1992535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Traditional Approach - What is the limit? </a:t>
            </a:r>
          </a:p>
          <a:p>
            <a:pPr>
              <a:lnSpc>
                <a:spcPct val="150000"/>
              </a:lnSpc>
            </a:pPr>
            <a:r>
              <a:rPr lang="en-US" sz="2400" dirty="0"/>
              <a:t>This approach works fine with those applications that process </a:t>
            </a:r>
            <a:r>
              <a:rPr lang="en-US" sz="2400" b="1" dirty="0"/>
              <a:t>less voluminous data</a:t>
            </a:r>
            <a:r>
              <a:rPr lang="en-US" sz="2400" dirty="0"/>
              <a:t> that can be accommodated by standard database servers, or up to the limit of the processor that is processing the data. </a:t>
            </a:r>
          </a:p>
          <a:p>
            <a:pPr>
              <a:lnSpc>
                <a:spcPct val="150000"/>
              </a:lnSpc>
            </a:pPr>
            <a:br>
              <a:rPr lang="en-US" sz="2400" dirty="0"/>
            </a:br>
            <a:r>
              <a:rPr lang="en-US" sz="2400" dirty="0"/>
              <a:t>For example, we have 10TB documents with average size of 20KB (total of 200TB). We want to build a model to count occurrences of words. Simple iterative loop will take ~1 month on simple computer.</a:t>
            </a:r>
          </a:p>
          <a:p>
            <a:pPr>
              <a:lnSpc>
                <a:spcPct val="150000"/>
              </a:lnSpc>
            </a:pPr>
            <a:r>
              <a:rPr lang="en-US" sz="2400" dirty="0"/>
              <a:t>What’s next?</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927422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 calcmode="lin" valueType="num">
                                      <p:cBhvr additive="base">
                                        <p:cTn id="25"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lnSpc>
                <a:spcPct val="150000"/>
              </a:lnSpc>
              <a:spcBef>
                <a:spcPts val="1000"/>
              </a:spcBef>
            </a:pPr>
            <a:r>
              <a:rPr lang="en-US" sz="3000" dirty="0">
                <a:latin typeface="+mn-lt"/>
                <a:ea typeface="+mn-ea"/>
                <a:cs typeface="+mn-cs"/>
              </a:rPr>
              <a:t>Motivation</a:t>
            </a:r>
          </a:p>
        </p:txBody>
      </p:sp>
      <p:sp>
        <p:nvSpPr>
          <p:cNvPr id="3" name="Content Placeholder 2"/>
          <p:cNvSpPr>
            <a:spLocks noGrp="1"/>
          </p:cNvSpPr>
          <p:nvPr>
            <p:ph idx="1"/>
          </p:nvPr>
        </p:nvSpPr>
        <p:spPr>
          <a:xfrm>
            <a:off x="704335" y="1421027"/>
            <a:ext cx="10515600" cy="4935323"/>
          </a:xfrm>
        </p:spPr>
        <p:txBody>
          <a:bodyPr>
            <a:normAutofit/>
          </a:bodyPr>
          <a:lstStyle/>
          <a:p>
            <a:r>
              <a:rPr lang="en-US" sz="2400" dirty="0"/>
              <a:t>Process lots of data</a:t>
            </a:r>
          </a:p>
          <a:p>
            <a:pPr lvl="2">
              <a:spcBef>
                <a:spcPts val="0"/>
              </a:spcBef>
              <a:spcAft>
                <a:spcPts val="0"/>
              </a:spcAft>
            </a:pPr>
            <a:r>
              <a:rPr lang="en-US" sz="2400" dirty="0"/>
              <a:t>Google processed about </a:t>
            </a:r>
            <a:r>
              <a:rPr lang="en-US" sz="2400" dirty="0">
                <a:solidFill>
                  <a:srgbClr val="FF0000"/>
                </a:solidFill>
              </a:rPr>
              <a:t>24 petabytes </a:t>
            </a:r>
            <a:r>
              <a:rPr lang="en-US" sz="2400" dirty="0"/>
              <a:t>of data per day in 2009.</a:t>
            </a:r>
            <a:endParaRPr lang="en-US" sz="2400" b="1" dirty="0"/>
          </a:p>
          <a:p>
            <a:r>
              <a:rPr lang="en-US" sz="2400" b="1" dirty="0">
                <a:solidFill>
                  <a:schemeClr val="tx2">
                    <a:lumMod val="50000"/>
                  </a:schemeClr>
                </a:solidFill>
                <a:effectLst>
                  <a:outerShdw blurRad="38100" dist="38100" dir="2700000" algn="tl">
                    <a:srgbClr val="000000">
                      <a:alpha val="43137"/>
                    </a:srgbClr>
                  </a:outerShdw>
                </a:effectLst>
              </a:rPr>
              <a:t>A single machine </a:t>
            </a:r>
            <a:r>
              <a:rPr lang="en-US" sz="2400" dirty="0"/>
              <a:t>cannot serve all the data</a:t>
            </a:r>
          </a:p>
          <a:p>
            <a:pPr lvl="2"/>
            <a:r>
              <a:rPr lang="en-US" sz="2400" dirty="0"/>
              <a:t>You need a distributed system to store and process </a:t>
            </a:r>
            <a:r>
              <a:rPr lang="en-US" sz="2400" b="1" dirty="0">
                <a:solidFill>
                  <a:srgbClr val="CC00CC"/>
                </a:solidFill>
                <a:effectLst>
                  <a:outerShdw blurRad="38100" dist="38100" dir="2700000" algn="tl">
                    <a:srgbClr val="000000">
                      <a:alpha val="43137"/>
                    </a:srgbClr>
                  </a:outerShdw>
                </a:effectLst>
              </a:rPr>
              <a:t>in parallel</a:t>
            </a:r>
          </a:p>
          <a:p>
            <a:pPr>
              <a:spcBef>
                <a:spcPts val="0"/>
              </a:spcBef>
              <a:spcAft>
                <a:spcPts val="0"/>
              </a:spcAft>
            </a:pPr>
            <a:r>
              <a:rPr lang="en-US" sz="2400" dirty="0"/>
              <a:t>Parallel programming?</a:t>
            </a:r>
          </a:p>
          <a:p>
            <a:pPr lvl="2"/>
            <a:r>
              <a:rPr lang="en-US" sz="2400" b="1" dirty="0">
                <a:solidFill>
                  <a:srgbClr val="663300"/>
                </a:solidFill>
              </a:rPr>
              <a:t>Threading</a:t>
            </a:r>
            <a:r>
              <a:rPr lang="en-US" sz="2400" dirty="0"/>
              <a:t> is hard!</a:t>
            </a:r>
          </a:p>
          <a:p>
            <a:pPr lvl="2"/>
            <a:r>
              <a:rPr lang="en-US" sz="2400" dirty="0"/>
              <a:t>How do you facilitate </a:t>
            </a:r>
            <a:r>
              <a:rPr lang="en-US" sz="2400" dirty="0">
                <a:solidFill>
                  <a:srgbClr val="7030A0"/>
                </a:solidFill>
                <a:effectLst>
                  <a:outerShdw blurRad="38100" dist="38100" dir="2700000" algn="tl">
                    <a:srgbClr val="000000">
                      <a:alpha val="43137"/>
                    </a:srgbClr>
                  </a:outerShdw>
                </a:effectLst>
              </a:rPr>
              <a:t>communication</a:t>
            </a:r>
            <a:r>
              <a:rPr lang="en-US" sz="2400" dirty="0">
                <a:effectLst>
                  <a:outerShdw blurRad="38100" dist="38100" dir="2700000" algn="tl">
                    <a:srgbClr val="000000">
                      <a:alpha val="43137"/>
                    </a:srgbClr>
                  </a:outerShdw>
                </a:effectLst>
              </a:rPr>
              <a:t> </a:t>
            </a:r>
            <a:r>
              <a:rPr lang="en-US" sz="2400" dirty="0"/>
              <a:t>between nodes?</a:t>
            </a:r>
          </a:p>
          <a:p>
            <a:pPr lvl="2"/>
            <a:r>
              <a:rPr lang="en-US" sz="2400" dirty="0"/>
              <a:t>How do you </a:t>
            </a:r>
            <a:r>
              <a:rPr lang="en-US" sz="2400" b="1" dirty="0"/>
              <a:t>scale to </a:t>
            </a:r>
            <a:r>
              <a:rPr lang="en-US" sz="2400" b="1" dirty="0">
                <a:solidFill>
                  <a:srgbClr val="006600"/>
                </a:solidFill>
              </a:rPr>
              <a:t>more machines</a:t>
            </a:r>
            <a:r>
              <a:rPr lang="en-US" sz="2400" dirty="0"/>
              <a:t>?</a:t>
            </a:r>
          </a:p>
          <a:p>
            <a:pPr lvl="2">
              <a:spcBef>
                <a:spcPts val="0"/>
              </a:spcBef>
            </a:pPr>
            <a:r>
              <a:rPr lang="en-US" sz="2400" dirty="0"/>
              <a:t>How do you handle machine </a:t>
            </a:r>
            <a:r>
              <a:rPr lang="en-US" sz="2400" dirty="0">
                <a:solidFill>
                  <a:srgbClr val="FF0000"/>
                </a:solidFill>
                <a:effectLst>
                  <a:outerShdw blurRad="38100" dist="38100" dir="2700000" algn="tl">
                    <a:srgbClr val="000000">
                      <a:alpha val="43137"/>
                    </a:srgbClr>
                  </a:outerShdw>
                </a:effectLst>
              </a:rPr>
              <a:t>failures</a:t>
            </a:r>
            <a:r>
              <a:rPr lang="en-US" sz="2400" dirty="0"/>
              <a:t>?</a:t>
            </a:r>
          </a:p>
        </p:txBody>
      </p:sp>
      <p:sp>
        <p:nvSpPr>
          <p:cNvPr id="4" name="Slide Number Placeholder 3"/>
          <p:cNvSpPr>
            <a:spLocks noGrp="1"/>
          </p:cNvSpPr>
          <p:nvPr>
            <p:ph type="sldNum" sz="quarter" idx="12"/>
          </p:nvPr>
        </p:nvSpPr>
        <p:spPr/>
        <p:txBody>
          <a:bodyPr/>
          <a:lstStyle/>
          <a:p>
            <a:fld id="{FB070496-1CF9-408E-B326-6CCA99B85165}" type="slidenum">
              <a:rPr lang="en-US" smtClean="0"/>
              <a:t>4</a:t>
            </a:fld>
            <a:endParaRPr lang="en-US"/>
          </a:p>
        </p:txBody>
      </p:sp>
      <p:sp>
        <p:nvSpPr>
          <p:cNvPr id="5" name="Footer Placeholder 4">
            <a:extLst>
              <a:ext uri="{FF2B5EF4-FFF2-40B4-BE49-F238E27FC236}">
                <a16:creationId xmlns:a16="http://schemas.microsoft.com/office/drawing/2014/main" id="{718D0546-90EE-8A46-BB46-17B61B146FD5}"/>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12637953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Google’s Solution</a:t>
            </a:r>
          </a:p>
          <a:p>
            <a:pPr>
              <a:lnSpc>
                <a:spcPct val="150000"/>
              </a:lnSpc>
            </a:pPr>
            <a:r>
              <a:rPr lang="en-US" sz="2400" dirty="0"/>
              <a:t>Google solved this problem using an algorithm called </a:t>
            </a:r>
            <a:r>
              <a:rPr lang="en-US" sz="2400" b="1" u="sng" dirty="0"/>
              <a:t>MapReduce</a:t>
            </a:r>
            <a:r>
              <a:rPr lang="en-US" sz="2400" dirty="0"/>
              <a:t>. This algorithm divides the task into small parts and assigns them to many computers, and collects the results from them which when integrated, form the result dataset.</a:t>
            </a:r>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Can 2">
            <a:extLst>
              <a:ext uri="{FF2B5EF4-FFF2-40B4-BE49-F238E27FC236}">
                <a16:creationId xmlns:a16="http://schemas.microsoft.com/office/drawing/2014/main" id="{8940CFD2-D691-1949-95BA-CCCB0F0F41F2}"/>
              </a:ext>
            </a:extLst>
          </p:cNvPr>
          <p:cNvSpPr/>
          <p:nvPr/>
        </p:nvSpPr>
        <p:spPr>
          <a:xfrm>
            <a:off x="2853267" y="30479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Can 11">
            <a:extLst>
              <a:ext uri="{FF2B5EF4-FFF2-40B4-BE49-F238E27FC236}">
                <a16:creationId xmlns:a16="http://schemas.microsoft.com/office/drawing/2014/main" id="{95B4A001-1136-DD4A-9B73-EFC74D66CC2E}"/>
              </a:ext>
            </a:extLst>
          </p:cNvPr>
          <p:cNvSpPr/>
          <p:nvPr/>
        </p:nvSpPr>
        <p:spPr>
          <a:xfrm>
            <a:off x="2853267" y="40131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Can 12">
            <a:extLst>
              <a:ext uri="{FF2B5EF4-FFF2-40B4-BE49-F238E27FC236}">
                <a16:creationId xmlns:a16="http://schemas.microsoft.com/office/drawing/2014/main" id="{AD7E5B11-5FD0-B349-A1EF-7E8A55A4A440}"/>
              </a:ext>
            </a:extLst>
          </p:cNvPr>
          <p:cNvSpPr/>
          <p:nvPr/>
        </p:nvSpPr>
        <p:spPr>
          <a:xfrm>
            <a:off x="2853268" y="49783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Cube 8">
            <a:extLst>
              <a:ext uri="{FF2B5EF4-FFF2-40B4-BE49-F238E27FC236}">
                <a16:creationId xmlns:a16="http://schemas.microsoft.com/office/drawing/2014/main" id="{AFAA0F24-92D1-2044-AB97-C74CE86F1038}"/>
              </a:ext>
            </a:extLst>
          </p:cNvPr>
          <p:cNvSpPr/>
          <p:nvPr/>
        </p:nvSpPr>
        <p:spPr>
          <a:xfrm>
            <a:off x="5041899" y="3335864"/>
            <a:ext cx="2328333" cy="1811867"/>
          </a:xfrm>
          <a:prstGeom prst="cub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Centralized</a:t>
            </a:r>
          </a:p>
          <a:p>
            <a:pPr algn="ctr"/>
            <a:r>
              <a:rPr lang="en-IL" dirty="0"/>
              <a:t>System</a:t>
            </a:r>
          </a:p>
        </p:txBody>
      </p:sp>
      <p:cxnSp>
        <p:nvCxnSpPr>
          <p:cNvPr id="11" name="Straight Arrow Connector 10">
            <a:extLst>
              <a:ext uri="{FF2B5EF4-FFF2-40B4-BE49-F238E27FC236}">
                <a16:creationId xmlns:a16="http://schemas.microsoft.com/office/drawing/2014/main" id="{915D7C46-0077-5642-8F87-5D94008FC861}"/>
              </a:ext>
            </a:extLst>
          </p:cNvPr>
          <p:cNvCxnSpPr>
            <a:stCxn id="3" idx="4"/>
            <a:endCxn id="9" idx="2"/>
          </p:cNvCxnSpPr>
          <p:nvPr/>
        </p:nvCxnSpPr>
        <p:spPr>
          <a:xfrm>
            <a:off x="3352800" y="3369733"/>
            <a:ext cx="1689099" cy="10985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F67CE9-AB66-664E-8EBD-2AD7926EC3B7}"/>
              </a:ext>
            </a:extLst>
          </p:cNvPr>
          <p:cNvCxnSpPr>
            <a:stCxn id="12" idx="4"/>
            <a:endCxn id="9" idx="2"/>
          </p:cNvCxnSpPr>
          <p:nvPr/>
        </p:nvCxnSpPr>
        <p:spPr>
          <a:xfrm>
            <a:off x="3352800" y="4334933"/>
            <a:ext cx="1689099" cy="133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15666F7-3EEC-4548-932B-198921B4645F}"/>
              </a:ext>
            </a:extLst>
          </p:cNvPr>
          <p:cNvCxnSpPr>
            <a:stCxn id="13" idx="4"/>
            <a:endCxn id="9" idx="2"/>
          </p:cNvCxnSpPr>
          <p:nvPr/>
        </p:nvCxnSpPr>
        <p:spPr>
          <a:xfrm flipV="1">
            <a:off x="3352801" y="4468281"/>
            <a:ext cx="1689098" cy="8318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AFF3CCAB-C353-894F-AE80-CB27D96CB760}"/>
              </a:ext>
            </a:extLst>
          </p:cNvPr>
          <p:cNvSpPr/>
          <p:nvPr/>
        </p:nvSpPr>
        <p:spPr>
          <a:xfrm>
            <a:off x="8610600" y="3709454"/>
            <a:ext cx="1312334" cy="1117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User</a:t>
            </a:r>
          </a:p>
        </p:txBody>
      </p:sp>
      <p:sp>
        <p:nvSpPr>
          <p:cNvPr id="22" name="Left-Right Arrow 21">
            <a:extLst>
              <a:ext uri="{FF2B5EF4-FFF2-40B4-BE49-F238E27FC236}">
                <a16:creationId xmlns:a16="http://schemas.microsoft.com/office/drawing/2014/main" id="{BB0DE406-BE25-6E42-83D1-D439A62D817C}"/>
              </a:ext>
            </a:extLst>
          </p:cNvPr>
          <p:cNvSpPr/>
          <p:nvPr/>
        </p:nvSpPr>
        <p:spPr>
          <a:xfrm>
            <a:off x="7603066" y="4162421"/>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914400" rtl="1" eaLnBrk="1" latinLnBrk="0" hangingPunct="1"/>
            <a:endParaRPr lang="en-IL"/>
          </a:p>
        </p:txBody>
      </p:sp>
    </p:spTree>
    <p:extLst>
      <p:ext uri="{BB962C8B-B14F-4D97-AF65-F5344CB8AC3E}">
        <p14:creationId xmlns:p14="http://schemas.microsoft.com/office/powerpoint/2010/main" val="2901677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Google’s Solution</a:t>
            </a:r>
          </a:p>
          <a:p>
            <a:pPr fontAlgn="base"/>
            <a:r>
              <a:rPr lang="en-US" sz="2400" b="1" dirty="0"/>
              <a:t>Problem</a:t>
            </a:r>
            <a:r>
              <a:rPr lang="en-US" sz="2400" dirty="0"/>
              <a:t>: Can’t use a single computer to process the data (take too long to process data).</a:t>
            </a:r>
          </a:p>
          <a:p>
            <a:pPr fontAlgn="base"/>
            <a:r>
              <a:rPr lang="en-US" sz="2400" b="1" dirty="0"/>
              <a:t>Solution</a:t>
            </a:r>
            <a:r>
              <a:rPr lang="en-US" sz="2400" dirty="0"/>
              <a:t>: Use a group of interconnected computers (processor, and memory independent).</a:t>
            </a:r>
          </a:p>
          <a:p>
            <a:pPr fontAlgn="base"/>
            <a:endParaRPr lang="en-US" sz="2400" dirty="0"/>
          </a:p>
          <a:p>
            <a:pPr fontAlgn="base"/>
            <a:r>
              <a:rPr lang="en-US" sz="2400" b="1" dirty="0"/>
              <a:t>Problem</a:t>
            </a:r>
            <a:r>
              <a:rPr lang="en-US" sz="2400" dirty="0"/>
              <a:t>: Conventional algorithms are not designed around memory independence.</a:t>
            </a:r>
          </a:p>
          <a:p>
            <a:pPr fontAlgn="base"/>
            <a:r>
              <a:rPr lang="en-US" sz="2400" b="1" dirty="0"/>
              <a:t>Solution</a:t>
            </a:r>
            <a:r>
              <a:rPr lang="en-US" sz="2400" dirty="0"/>
              <a:t>: MapReduce</a:t>
            </a:r>
          </a:p>
          <a:p>
            <a:pPr fontAlgn="base"/>
            <a:endParaRPr lang="en-US" sz="2400" dirty="0"/>
          </a:p>
          <a:p>
            <a:pPr fontAlgn="base">
              <a:lnSpc>
                <a:spcPct val="150000"/>
              </a:lnSpc>
            </a:pPr>
            <a:r>
              <a:rPr lang="en-US" sz="2400" b="1" dirty="0"/>
              <a:t>Definition.</a:t>
            </a:r>
            <a:r>
              <a:rPr lang="en-US" sz="2400" dirty="0"/>
              <a:t> </a:t>
            </a:r>
            <a:r>
              <a:rPr lang="en-US" sz="2400" i="1" dirty="0"/>
              <a:t>MapReduce</a:t>
            </a:r>
            <a:r>
              <a:rPr lang="en-US" sz="2400" dirty="0"/>
              <a:t> is a programming paradigm model of using parallel, distributed algorithms to process or generate data sets. </a:t>
            </a:r>
            <a:endParaRPr lang="en-US" sz="2400" b="1" dirty="0"/>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575867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4" end="4"/>
                                            </p:txEl>
                                          </p:spTgt>
                                        </p:tgtEl>
                                        <p:attrNameLst>
                                          <p:attrName>style.visibility</p:attrName>
                                        </p:attrNameLst>
                                      </p:cBhvr>
                                      <p:to>
                                        <p:strVal val="visible"/>
                                      </p:to>
                                    </p:set>
                                    <p:anim calcmode="lin" valueType="num">
                                      <p:cBhvr additive="base">
                                        <p:cTn id="25"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anim calcmode="lin" valueType="num">
                                      <p:cBhvr additive="base">
                                        <p:cTn id="3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7" end="7"/>
                                            </p:txEl>
                                          </p:spTgt>
                                        </p:tgtEl>
                                        <p:attrNameLst>
                                          <p:attrName>style.visibility</p:attrName>
                                        </p:attrNameLst>
                                      </p:cBhvr>
                                      <p:to>
                                        <p:strVal val="visible"/>
                                      </p:to>
                                    </p:set>
                                    <p:anim calcmode="lin" valueType="num">
                                      <p:cBhvr additive="base">
                                        <p:cTn id="37" dur="500" fill="hold"/>
                                        <p:tgtEl>
                                          <p:spTgt spid="2">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How Is It Work? </a:t>
            </a:r>
          </a:p>
          <a:p>
            <a:pPr>
              <a:lnSpc>
                <a:spcPct val="150000"/>
              </a:lnSpc>
            </a:pPr>
            <a:r>
              <a:rPr lang="en-US" sz="2400" dirty="0"/>
              <a:t>The MapReduce algorithm contains two important tasks:</a:t>
            </a:r>
          </a:p>
          <a:p>
            <a:pPr marL="514350" indent="-514350">
              <a:lnSpc>
                <a:spcPct val="150000"/>
              </a:lnSpc>
              <a:buAutoNum type="arabicPeriod"/>
            </a:pPr>
            <a:r>
              <a:rPr lang="en-US" sz="2400" dirty="0"/>
              <a:t>The </a:t>
            </a:r>
            <a:r>
              <a:rPr lang="en-US" sz="2400" b="1" u="sng" dirty="0"/>
              <a:t>Map</a:t>
            </a:r>
            <a:r>
              <a:rPr lang="en-US" sz="2400" dirty="0"/>
              <a:t> task takes a set of data and converts it into another set of data, where individual elements are broken down into tuples (key-value pairs).</a:t>
            </a:r>
          </a:p>
          <a:p>
            <a:pPr marL="514350" indent="-514350">
              <a:lnSpc>
                <a:spcPct val="150000"/>
              </a:lnSpc>
              <a:buAutoNum type="arabicPeriod"/>
            </a:pPr>
            <a:r>
              <a:rPr lang="en-US" sz="2400" dirty="0"/>
              <a:t>The </a:t>
            </a:r>
            <a:r>
              <a:rPr lang="en-US" sz="2400" b="1" u="sng" dirty="0"/>
              <a:t>Reduce</a:t>
            </a:r>
            <a:r>
              <a:rPr lang="en-US" sz="2400" dirty="0"/>
              <a:t> task takes the output from the Map as an input and combines those data tuples (key-value pairs) into a smaller set of tuples.</a:t>
            </a:r>
          </a:p>
          <a:p>
            <a:pPr>
              <a:lnSpc>
                <a:spcPct val="150000"/>
              </a:lnSpc>
            </a:pPr>
            <a:endParaRPr lang="en-US" sz="2400" dirty="0"/>
          </a:p>
          <a:p>
            <a:r>
              <a:rPr lang="en-US" sz="2400" dirty="0"/>
              <a:t>The reduce task is always performed after the map job.</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1540988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 calcmode="lin" valueType="num">
                                      <p:cBhvr additive="base">
                                        <p:cTn id="25" dur="500" fill="hold"/>
                                        <p:tgtEl>
                                          <p:spTgt spid="2">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anim calcmode="lin" valueType="num">
                                      <p:cBhvr additive="base">
                                        <p:cTn id="3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 calcmode="lin" valueType="num">
                                      <p:cBhvr additive="base">
                                        <p:cTn id="3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How Is It Work? </a:t>
            </a:r>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r>
              <a:rPr lang="en-US" sz="2400" dirty="0"/>
              <a:t>The reduce task is always performed after the map job.</a:t>
            </a:r>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2052" name="Picture 4" descr="The MapReduce architecture.  MapReduce Algorithm There are four steps... |  Download Scientific Diagram">
            <a:extLst>
              <a:ext uri="{FF2B5EF4-FFF2-40B4-BE49-F238E27FC236}">
                <a16:creationId xmlns:a16="http://schemas.microsoft.com/office/drawing/2014/main" id="{4B082B5C-DECF-6448-9A1D-B50CBF2F6F2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268"/>
          <a:stretch/>
        </p:blipFill>
        <p:spPr bwMode="auto">
          <a:xfrm>
            <a:off x="2387599" y="1362463"/>
            <a:ext cx="7814735" cy="36057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1943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8" end="8"/>
                                            </p:txEl>
                                          </p:spTgt>
                                        </p:tgtEl>
                                        <p:attrNameLst>
                                          <p:attrName>style.visibility</p:attrName>
                                        </p:attrNameLst>
                                      </p:cBhvr>
                                      <p:to>
                                        <p:strVal val="visible"/>
                                      </p:to>
                                    </p:set>
                                    <p:anim calcmode="lin" valueType="num">
                                      <p:cBhvr additive="base">
                                        <p:cTn id="7" dur="500" fill="hold"/>
                                        <p:tgtEl>
                                          <p:spTgt spid="2">
                                            <p:txEl>
                                              <p:pRg st="8" end="8"/>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MapReduce workflow</a:t>
            </a:r>
          </a:p>
        </p:txBody>
      </p:sp>
      <p:sp>
        <p:nvSpPr>
          <p:cNvPr id="4" name="Slide Number Placeholder 3"/>
          <p:cNvSpPr>
            <a:spLocks noGrp="1"/>
          </p:cNvSpPr>
          <p:nvPr>
            <p:ph type="sldNum" sz="quarter" idx="12"/>
          </p:nvPr>
        </p:nvSpPr>
        <p:spPr/>
        <p:txBody>
          <a:bodyPr/>
          <a:lstStyle/>
          <a:p>
            <a:fld id="{FB070496-1CF9-408E-B326-6CCA99B85165}" type="slidenum">
              <a:rPr lang="en-US" smtClean="0"/>
              <a:t>9</a:t>
            </a:fld>
            <a:endParaRPr lang="en-US"/>
          </a:p>
        </p:txBody>
      </p:sp>
      <p:grpSp>
        <p:nvGrpSpPr>
          <p:cNvPr id="135" name="Group 134"/>
          <p:cNvGrpSpPr/>
          <p:nvPr/>
        </p:nvGrpSpPr>
        <p:grpSpPr>
          <a:xfrm>
            <a:off x="7162800" y="2886348"/>
            <a:ext cx="990600" cy="1447800"/>
            <a:chOff x="5638800" y="2886348"/>
            <a:chExt cx="990600" cy="1447800"/>
          </a:xfrm>
        </p:grpSpPr>
        <p:sp>
          <p:nvSpPr>
            <p:cNvPr id="70" name="Oval 23"/>
            <p:cNvSpPr>
              <a:spLocks noChangeArrowheads="1"/>
            </p:cNvSpPr>
            <p:nvPr/>
          </p:nvSpPr>
          <p:spPr bwMode="auto">
            <a:xfrm>
              <a:off x="5638800" y="3876948"/>
              <a:ext cx="990600" cy="457200"/>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sp>
          <p:nvSpPr>
            <p:cNvPr id="71" name="Oval 24"/>
            <p:cNvSpPr>
              <a:spLocks noChangeArrowheads="1"/>
            </p:cNvSpPr>
            <p:nvPr/>
          </p:nvSpPr>
          <p:spPr bwMode="auto">
            <a:xfrm>
              <a:off x="5638800" y="2886348"/>
              <a:ext cx="990600" cy="457200"/>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grpSp>
      <p:grpSp>
        <p:nvGrpSpPr>
          <p:cNvPr id="75" name="Group 65"/>
          <p:cNvGrpSpPr>
            <a:grpSpLocks/>
          </p:cNvGrpSpPr>
          <p:nvPr/>
        </p:nvGrpSpPr>
        <p:grpSpPr bwMode="auto">
          <a:xfrm>
            <a:off x="3505200" y="2581548"/>
            <a:ext cx="990600" cy="2133600"/>
            <a:chOff x="1248" y="2352"/>
            <a:chExt cx="624" cy="1344"/>
          </a:xfrm>
        </p:grpSpPr>
        <p:sp>
          <p:nvSpPr>
            <p:cNvPr id="83" name="Oval 6"/>
            <p:cNvSpPr>
              <a:spLocks noChangeArrowheads="1"/>
            </p:cNvSpPr>
            <p:nvPr/>
          </p:nvSpPr>
          <p:spPr bwMode="auto">
            <a:xfrm>
              <a:off x="1248" y="2352"/>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sp>
          <p:nvSpPr>
            <p:cNvPr id="84" name="Oval 7"/>
            <p:cNvSpPr>
              <a:spLocks noChangeArrowheads="1"/>
            </p:cNvSpPr>
            <p:nvPr/>
          </p:nvSpPr>
          <p:spPr bwMode="auto">
            <a:xfrm>
              <a:off x="1248" y="2880"/>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Worker</a:t>
              </a:r>
            </a:p>
          </p:txBody>
        </p:sp>
        <p:sp>
          <p:nvSpPr>
            <p:cNvPr id="85" name="Oval 8"/>
            <p:cNvSpPr>
              <a:spLocks noChangeArrowheads="1"/>
            </p:cNvSpPr>
            <p:nvPr/>
          </p:nvSpPr>
          <p:spPr bwMode="auto">
            <a:xfrm>
              <a:off x="1248" y="3408"/>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Worker</a:t>
              </a:r>
            </a:p>
          </p:txBody>
        </p:sp>
      </p:grpSp>
      <p:grpSp>
        <p:nvGrpSpPr>
          <p:cNvPr id="91" name="Group 46"/>
          <p:cNvGrpSpPr>
            <a:grpSpLocks/>
          </p:cNvGrpSpPr>
          <p:nvPr/>
        </p:nvGrpSpPr>
        <p:grpSpPr bwMode="auto">
          <a:xfrm>
            <a:off x="2590800" y="2810148"/>
            <a:ext cx="914400" cy="1676400"/>
            <a:chOff x="672" y="2496"/>
            <a:chExt cx="576" cy="1056"/>
          </a:xfrm>
        </p:grpSpPr>
        <p:sp>
          <p:nvSpPr>
            <p:cNvPr id="92" name="Line 42"/>
            <p:cNvSpPr>
              <a:spLocks noChangeShapeType="1"/>
            </p:cNvSpPr>
            <p:nvPr/>
          </p:nvSpPr>
          <p:spPr bwMode="auto">
            <a:xfrm flipV="1">
              <a:off x="672" y="2496"/>
              <a:ext cx="576"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3" name="Line 43"/>
            <p:cNvSpPr>
              <a:spLocks noChangeShapeType="1"/>
            </p:cNvSpPr>
            <p:nvPr/>
          </p:nvSpPr>
          <p:spPr bwMode="auto">
            <a:xfrm>
              <a:off x="672" y="3024"/>
              <a:ext cx="57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4" name="Line 44"/>
            <p:cNvSpPr>
              <a:spLocks noChangeShapeType="1"/>
            </p:cNvSpPr>
            <p:nvPr/>
          </p:nvSpPr>
          <p:spPr bwMode="auto">
            <a:xfrm>
              <a:off x="672" y="3216"/>
              <a:ext cx="576"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5" name="Text Box 45"/>
            <p:cNvSpPr txBox="1">
              <a:spLocks noChangeArrowheads="1"/>
            </p:cNvSpPr>
            <p:nvPr/>
          </p:nvSpPr>
          <p:spPr bwMode="auto">
            <a:xfrm>
              <a:off x="672" y="2784"/>
              <a:ext cx="439"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a:t>read</a:t>
              </a:r>
            </a:p>
          </p:txBody>
        </p:sp>
      </p:grpSp>
      <p:grpSp>
        <p:nvGrpSpPr>
          <p:cNvPr id="96" name="Group 51"/>
          <p:cNvGrpSpPr>
            <a:grpSpLocks/>
          </p:cNvGrpSpPr>
          <p:nvPr/>
        </p:nvGrpSpPr>
        <p:grpSpPr bwMode="auto">
          <a:xfrm>
            <a:off x="4495800" y="2581548"/>
            <a:ext cx="1600200" cy="2133600"/>
            <a:chOff x="1872" y="2352"/>
            <a:chExt cx="1008" cy="1344"/>
          </a:xfrm>
        </p:grpSpPr>
        <p:grpSp>
          <p:nvGrpSpPr>
            <p:cNvPr id="97" name="Group 16"/>
            <p:cNvGrpSpPr>
              <a:grpSpLocks/>
            </p:cNvGrpSpPr>
            <p:nvPr/>
          </p:nvGrpSpPr>
          <p:grpSpPr bwMode="auto">
            <a:xfrm>
              <a:off x="2592" y="2352"/>
              <a:ext cx="288" cy="288"/>
              <a:chOff x="2640" y="2160"/>
              <a:chExt cx="288" cy="288"/>
            </a:xfrm>
          </p:grpSpPr>
          <p:sp>
            <p:nvSpPr>
              <p:cNvPr id="108" name="Rectangle 14"/>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9" name="Rectangle 15"/>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grpSp>
          <p:nvGrpSpPr>
            <p:cNvPr id="98" name="Group 17"/>
            <p:cNvGrpSpPr>
              <a:grpSpLocks/>
            </p:cNvGrpSpPr>
            <p:nvPr/>
          </p:nvGrpSpPr>
          <p:grpSpPr bwMode="auto">
            <a:xfrm>
              <a:off x="2592" y="2880"/>
              <a:ext cx="288" cy="288"/>
              <a:chOff x="2640" y="2160"/>
              <a:chExt cx="288" cy="288"/>
            </a:xfrm>
          </p:grpSpPr>
          <p:sp>
            <p:nvSpPr>
              <p:cNvPr id="106" name="Rectangle 18"/>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7" name="Rectangle 19"/>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grpSp>
          <p:nvGrpSpPr>
            <p:cNvPr id="99" name="Group 20"/>
            <p:cNvGrpSpPr>
              <a:grpSpLocks/>
            </p:cNvGrpSpPr>
            <p:nvPr/>
          </p:nvGrpSpPr>
          <p:grpSpPr bwMode="auto">
            <a:xfrm>
              <a:off x="2592" y="3408"/>
              <a:ext cx="288" cy="288"/>
              <a:chOff x="2640" y="2160"/>
              <a:chExt cx="288" cy="288"/>
            </a:xfrm>
          </p:grpSpPr>
          <p:sp>
            <p:nvSpPr>
              <p:cNvPr id="104" name="Rectangle 21"/>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5" name="Rectangle 22"/>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sp>
          <p:nvSpPr>
            <p:cNvPr id="100" name="Line 47"/>
            <p:cNvSpPr>
              <a:spLocks noChangeShapeType="1"/>
            </p:cNvSpPr>
            <p:nvPr/>
          </p:nvSpPr>
          <p:spPr bwMode="auto">
            <a:xfrm>
              <a:off x="1872" y="2496"/>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1" name="Line 48"/>
            <p:cNvSpPr>
              <a:spLocks noChangeShapeType="1"/>
            </p:cNvSpPr>
            <p:nvPr/>
          </p:nvSpPr>
          <p:spPr bwMode="auto">
            <a:xfrm>
              <a:off x="1872" y="3024"/>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2" name="Line 49"/>
            <p:cNvSpPr>
              <a:spLocks noChangeShapeType="1"/>
            </p:cNvSpPr>
            <p:nvPr/>
          </p:nvSpPr>
          <p:spPr bwMode="auto">
            <a:xfrm>
              <a:off x="1872" y="3552"/>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3" name="Text Box 50"/>
            <p:cNvSpPr txBox="1">
              <a:spLocks noChangeArrowheads="1"/>
            </p:cNvSpPr>
            <p:nvPr/>
          </p:nvSpPr>
          <p:spPr bwMode="auto">
            <a:xfrm>
              <a:off x="1970" y="2620"/>
              <a:ext cx="482" cy="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sz="1600" dirty="0"/>
                <a:t>local</a:t>
              </a:r>
              <a:endParaRPr lang="en-US" altLang="en-US" dirty="0"/>
            </a:p>
            <a:p>
              <a:r>
                <a:rPr lang="en-US" altLang="en-US" dirty="0"/>
                <a:t>write</a:t>
              </a:r>
            </a:p>
          </p:txBody>
        </p:sp>
      </p:grpSp>
      <p:grpSp>
        <p:nvGrpSpPr>
          <p:cNvPr id="110" name="Group 59"/>
          <p:cNvGrpSpPr>
            <a:grpSpLocks/>
          </p:cNvGrpSpPr>
          <p:nvPr/>
        </p:nvGrpSpPr>
        <p:grpSpPr bwMode="auto">
          <a:xfrm>
            <a:off x="6096000" y="2810148"/>
            <a:ext cx="1074738" cy="2416175"/>
            <a:chOff x="2880" y="2496"/>
            <a:chExt cx="677" cy="1522"/>
          </a:xfrm>
        </p:grpSpPr>
        <p:sp>
          <p:nvSpPr>
            <p:cNvPr id="111" name="Line 52"/>
            <p:cNvSpPr>
              <a:spLocks noChangeShapeType="1"/>
            </p:cNvSpPr>
            <p:nvPr/>
          </p:nvSpPr>
          <p:spPr bwMode="auto">
            <a:xfrm>
              <a:off x="2880" y="2496"/>
              <a:ext cx="672"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 name="Line 53"/>
            <p:cNvSpPr>
              <a:spLocks noChangeShapeType="1"/>
            </p:cNvSpPr>
            <p:nvPr/>
          </p:nvSpPr>
          <p:spPr bwMode="auto">
            <a:xfrm>
              <a:off x="2880" y="2496"/>
              <a:ext cx="672" cy="81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3" name="Line 54"/>
            <p:cNvSpPr>
              <a:spLocks noChangeShapeType="1"/>
            </p:cNvSpPr>
            <p:nvPr/>
          </p:nvSpPr>
          <p:spPr bwMode="auto">
            <a:xfrm flipV="1">
              <a:off x="2880" y="2688"/>
              <a:ext cx="672"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4" name="Line 55"/>
            <p:cNvSpPr>
              <a:spLocks noChangeShapeType="1"/>
            </p:cNvSpPr>
            <p:nvPr/>
          </p:nvSpPr>
          <p:spPr bwMode="auto">
            <a:xfrm>
              <a:off x="2880" y="3024"/>
              <a:ext cx="672" cy="28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5" name="Line 56"/>
            <p:cNvSpPr>
              <a:spLocks noChangeShapeType="1"/>
            </p:cNvSpPr>
            <p:nvPr/>
          </p:nvSpPr>
          <p:spPr bwMode="auto">
            <a:xfrm flipV="1">
              <a:off x="2880" y="2736"/>
              <a:ext cx="672" cy="81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6" name="Line 57"/>
            <p:cNvSpPr>
              <a:spLocks noChangeShapeType="1"/>
            </p:cNvSpPr>
            <p:nvPr/>
          </p:nvSpPr>
          <p:spPr bwMode="auto">
            <a:xfrm flipV="1">
              <a:off x="2880" y="3312"/>
              <a:ext cx="672" cy="24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7" name="Text Box 58"/>
            <p:cNvSpPr txBox="1">
              <a:spLocks noChangeArrowheads="1"/>
            </p:cNvSpPr>
            <p:nvPr/>
          </p:nvSpPr>
          <p:spPr bwMode="auto">
            <a:xfrm>
              <a:off x="2976" y="3456"/>
              <a:ext cx="581" cy="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sz="1600" dirty="0"/>
                <a:t>remote</a:t>
              </a:r>
            </a:p>
            <a:p>
              <a:r>
                <a:rPr lang="en-US" altLang="en-US" sz="1600" dirty="0"/>
                <a:t>read</a:t>
              </a:r>
              <a:r>
                <a:rPr lang="en-US" altLang="en-US" dirty="0"/>
                <a:t>,</a:t>
              </a:r>
            </a:p>
            <a:p>
              <a:r>
                <a:rPr lang="en-US" altLang="en-US" dirty="0"/>
                <a:t>sort</a:t>
              </a:r>
            </a:p>
          </p:txBody>
        </p:sp>
      </p:grpSp>
      <p:grpSp>
        <p:nvGrpSpPr>
          <p:cNvPr id="118" name="Group 63"/>
          <p:cNvGrpSpPr>
            <a:grpSpLocks/>
          </p:cNvGrpSpPr>
          <p:nvPr/>
        </p:nvGrpSpPr>
        <p:grpSpPr bwMode="auto">
          <a:xfrm>
            <a:off x="8153400" y="2733948"/>
            <a:ext cx="1981200" cy="1600200"/>
            <a:chOff x="4176" y="2448"/>
            <a:chExt cx="1248" cy="1008"/>
          </a:xfrm>
        </p:grpSpPr>
        <p:sp>
          <p:nvSpPr>
            <p:cNvPr id="119" name="Rectangle 27"/>
            <p:cNvSpPr>
              <a:spLocks noChangeArrowheads="1"/>
            </p:cNvSpPr>
            <p:nvPr/>
          </p:nvSpPr>
          <p:spPr bwMode="auto">
            <a:xfrm>
              <a:off x="4848" y="2448"/>
              <a:ext cx="576" cy="384"/>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Output</a:t>
              </a:r>
            </a:p>
            <a:p>
              <a:pPr algn="ctr"/>
              <a:r>
                <a:rPr lang="en-US" altLang="en-US"/>
                <a:t>File 0</a:t>
              </a:r>
            </a:p>
          </p:txBody>
        </p:sp>
        <p:sp>
          <p:nvSpPr>
            <p:cNvPr id="120" name="Rectangle 28"/>
            <p:cNvSpPr>
              <a:spLocks noChangeArrowheads="1"/>
            </p:cNvSpPr>
            <p:nvPr/>
          </p:nvSpPr>
          <p:spPr bwMode="auto">
            <a:xfrm>
              <a:off x="4848" y="3072"/>
              <a:ext cx="576" cy="384"/>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Output</a:t>
              </a:r>
            </a:p>
            <a:p>
              <a:pPr algn="ctr"/>
              <a:r>
                <a:rPr lang="en-US" altLang="en-US"/>
                <a:t>File 1</a:t>
              </a:r>
            </a:p>
          </p:txBody>
        </p:sp>
        <p:sp>
          <p:nvSpPr>
            <p:cNvPr id="121" name="Line 60"/>
            <p:cNvSpPr>
              <a:spLocks noChangeShapeType="1"/>
            </p:cNvSpPr>
            <p:nvPr/>
          </p:nvSpPr>
          <p:spPr bwMode="auto">
            <a:xfrm>
              <a:off x="4176" y="2688"/>
              <a:ext cx="67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2" name="Line 61"/>
            <p:cNvSpPr>
              <a:spLocks noChangeShapeType="1"/>
            </p:cNvSpPr>
            <p:nvPr/>
          </p:nvSpPr>
          <p:spPr bwMode="auto">
            <a:xfrm>
              <a:off x="4176" y="3312"/>
              <a:ext cx="67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 name="Text Box 62"/>
            <p:cNvSpPr txBox="1">
              <a:spLocks noChangeArrowheads="1"/>
            </p:cNvSpPr>
            <p:nvPr/>
          </p:nvSpPr>
          <p:spPr bwMode="auto">
            <a:xfrm>
              <a:off x="4214" y="2468"/>
              <a:ext cx="47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a:t>write</a:t>
              </a:r>
            </a:p>
          </p:txBody>
        </p:sp>
      </p:grpSp>
      <p:grpSp>
        <p:nvGrpSpPr>
          <p:cNvPr id="125" name="Group 64"/>
          <p:cNvGrpSpPr>
            <a:grpSpLocks/>
          </p:cNvGrpSpPr>
          <p:nvPr/>
        </p:nvGrpSpPr>
        <p:grpSpPr bwMode="auto">
          <a:xfrm>
            <a:off x="1752600" y="3191148"/>
            <a:ext cx="838200" cy="914400"/>
            <a:chOff x="144" y="2736"/>
            <a:chExt cx="528" cy="576"/>
          </a:xfrm>
        </p:grpSpPr>
        <p:sp>
          <p:nvSpPr>
            <p:cNvPr id="127" name="Rectangle 9"/>
            <p:cNvSpPr>
              <a:spLocks noChangeArrowheads="1"/>
            </p:cNvSpPr>
            <p:nvPr/>
          </p:nvSpPr>
          <p:spPr bwMode="auto">
            <a:xfrm>
              <a:off x="144" y="2736"/>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0</a:t>
              </a:r>
            </a:p>
          </p:txBody>
        </p:sp>
        <p:sp>
          <p:nvSpPr>
            <p:cNvPr id="128" name="Rectangle 10"/>
            <p:cNvSpPr>
              <a:spLocks noChangeArrowheads="1"/>
            </p:cNvSpPr>
            <p:nvPr/>
          </p:nvSpPr>
          <p:spPr bwMode="auto">
            <a:xfrm>
              <a:off x="144" y="2928"/>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1</a:t>
              </a:r>
            </a:p>
          </p:txBody>
        </p:sp>
        <p:sp>
          <p:nvSpPr>
            <p:cNvPr id="129" name="Rectangle 11"/>
            <p:cNvSpPr>
              <a:spLocks noChangeArrowheads="1"/>
            </p:cNvSpPr>
            <p:nvPr/>
          </p:nvSpPr>
          <p:spPr bwMode="auto">
            <a:xfrm>
              <a:off x="144" y="3120"/>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2</a:t>
              </a:r>
            </a:p>
          </p:txBody>
        </p:sp>
      </p:grpSp>
      <p:sp>
        <p:nvSpPr>
          <p:cNvPr id="126" name="Text Box 69"/>
          <p:cNvSpPr txBox="1">
            <a:spLocks noChangeArrowheads="1"/>
          </p:cNvSpPr>
          <p:nvPr/>
        </p:nvSpPr>
        <p:spPr bwMode="auto">
          <a:xfrm>
            <a:off x="1458912" y="2060849"/>
            <a:ext cx="142398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dirty="0"/>
              <a:t>Input Data</a:t>
            </a:r>
          </a:p>
        </p:txBody>
      </p:sp>
      <p:sp>
        <p:nvSpPr>
          <p:cNvPr id="131" name="Text Box 69"/>
          <p:cNvSpPr txBox="1">
            <a:spLocks noChangeArrowheads="1"/>
          </p:cNvSpPr>
          <p:nvPr/>
        </p:nvSpPr>
        <p:spPr bwMode="auto">
          <a:xfrm>
            <a:off x="8870954" y="2060848"/>
            <a:ext cx="1611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dirty="0"/>
              <a:t>Output Data</a:t>
            </a:r>
          </a:p>
        </p:txBody>
      </p:sp>
      <p:sp>
        <p:nvSpPr>
          <p:cNvPr id="132" name="Rectangle 131"/>
          <p:cNvSpPr/>
          <p:nvPr/>
        </p:nvSpPr>
        <p:spPr>
          <a:xfrm>
            <a:off x="2778919" y="5226322"/>
            <a:ext cx="2443162" cy="1292662"/>
          </a:xfrm>
          <a:prstGeom prst="rect">
            <a:avLst/>
          </a:prstGeom>
        </p:spPr>
        <p:txBody>
          <a:bodyPr wrap="square">
            <a:spAutoFit/>
          </a:bodyPr>
          <a:lstStyle/>
          <a:p>
            <a:pPr algn="ctr"/>
            <a:r>
              <a:rPr lang="en-US" sz="2400" b="1" dirty="0">
                <a:solidFill>
                  <a:srgbClr val="FF0000"/>
                </a:solidFill>
              </a:rPr>
              <a:t>Map</a:t>
            </a:r>
            <a:endParaRPr lang="en-US" b="1" dirty="0"/>
          </a:p>
          <a:p>
            <a:pPr algn="ctr"/>
            <a:r>
              <a:rPr lang="en-US" dirty="0"/>
              <a:t>extract something you care about from each record</a:t>
            </a:r>
          </a:p>
        </p:txBody>
      </p:sp>
      <p:sp>
        <p:nvSpPr>
          <p:cNvPr id="134" name="Rectangle 133"/>
          <p:cNvSpPr/>
          <p:nvPr/>
        </p:nvSpPr>
        <p:spPr>
          <a:xfrm>
            <a:off x="6753852" y="5226322"/>
            <a:ext cx="1808496" cy="1292662"/>
          </a:xfrm>
          <a:prstGeom prst="rect">
            <a:avLst/>
          </a:prstGeom>
        </p:spPr>
        <p:txBody>
          <a:bodyPr wrap="square">
            <a:spAutoFit/>
          </a:bodyPr>
          <a:lstStyle/>
          <a:p>
            <a:pPr algn="ctr"/>
            <a:r>
              <a:rPr lang="en-US" sz="2400" b="1" dirty="0">
                <a:solidFill>
                  <a:srgbClr val="FF0000"/>
                </a:solidFill>
              </a:rPr>
              <a:t>Reduce</a:t>
            </a:r>
            <a:r>
              <a:rPr lang="en-US" sz="2400" dirty="0">
                <a:solidFill>
                  <a:srgbClr val="FF0000"/>
                </a:solidFill>
              </a:rPr>
              <a:t> </a:t>
            </a:r>
            <a:r>
              <a:rPr lang="en-US" dirty="0"/>
              <a:t>aggregate, summarize, filter, or transform</a:t>
            </a:r>
          </a:p>
        </p:txBody>
      </p:sp>
      <p:sp>
        <p:nvSpPr>
          <p:cNvPr id="3" name="Footer Placeholder 2">
            <a:extLst>
              <a:ext uri="{FF2B5EF4-FFF2-40B4-BE49-F238E27FC236}">
                <a16:creationId xmlns:a16="http://schemas.microsoft.com/office/drawing/2014/main" id="{8AFC1FC6-945A-114C-A6DC-5CBE211AB853}"/>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1550609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dissolve">
                                      <p:cBhvr>
                                        <p:cTn id="7" dur="500"/>
                                        <p:tgtEl>
                                          <p:spTgt spid="91"/>
                                        </p:tgtEl>
                                      </p:cBhvr>
                                    </p:animEffect>
                                  </p:childTnLst>
                                </p:cTn>
                              </p:par>
                              <p:par>
                                <p:cTn id="8" presetID="1" presetClass="entr" presetSubtype="0" fill="hold" nodeType="withEffect">
                                  <p:stCondLst>
                                    <p:cond delay="0"/>
                                  </p:stCondLst>
                                  <p:childTnLst>
                                    <p:set>
                                      <p:cBhvr>
                                        <p:cTn id="9" dur="1" fill="hold">
                                          <p:stCondLst>
                                            <p:cond delay="0"/>
                                          </p:stCondLst>
                                        </p:cTn>
                                        <p:tgtEl>
                                          <p:spTgt spid="7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3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6"/>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10"/>
                                        </p:tgtEl>
                                        <p:attrNameLst>
                                          <p:attrName>style.visibility</p:attrName>
                                        </p:attrNameLst>
                                      </p:cBhvr>
                                      <p:to>
                                        <p:strVal val="visible"/>
                                      </p:to>
                                    </p:set>
                                    <p:animEffect transition="in" filter="dissolve">
                                      <p:cBhvr>
                                        <p:cTn id="20" dur="500"/>
                                        <p:tgtEl>
                                          <p:spTgt spid="110"/>
                                        </p:tgtEl>
                                      </p:cBhvr>
                                    </p:animEffect>
                                  </p:childTnLst>
                                </p:cTn>
                              </p:par>
                              <p:par>
                                <p:cTn id="21" presetID="1" presetClass="entr" presetSubtype="0" fill="hold" grpId="0" nodeType="withEffect">
                                  <p:stCondLst>
                                    <p:cond delay="0"/>
                                  </p:stCondLst>
                                  <p:childTnLst>
                                    <p:set>
                                      <p:cBhvr>
                                        <p:cTn id="22" dur="1" fill="hold">
                                          <p:stCondLst>
                                            <p:cond delay="0"/>
                                          </p:stCondLst>
                                        </p:cTn>
                                        <p:tgtEl>
                                          <p:spTgt spid="1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118"/>
                                        </p:tgtEl>
                                        <p:attrNameLst>
                                          <p:attrName>style.visibility</p:attrName>
                                        </p:attrNameLst>
                                      </p:cBhvr>
                                      <p:to>
                                        <p:strVal val="visible"/>
                                      </p:to>
                                    </p:set>
                                    <p:animEffect transition="in" filter="dissolve">
                                      <p:cBhvr>
                                        <p:cTn id="29" dur="500"/>
                                        <p:tgtEl>
                                          <p:spTgt spid="1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P spid="132" grpId="0"/>
      <p:bldP spid="134" grpId="0"/>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MapReduce Architecture</a:t>
            </a:r>
          </a:p>
          <a:p>
            <a:pPr>
              <a:lnSpc>
                <a:spcPct val="150000"/>
              </a:lnSpc>
            </a:pPr>
            <a:r>
              <a:rPr lang="en-US" sz="2400" b="1" dirty="0"/>
              <a:t>Input Phase</a:t>
            </a:r>
            <a:r>
              <a:rPr lang="en-US" sz="2400" dirty="0"/>
              <a:t> − Here we have a Record Reader that translates each record in an input file and sends the parsed data to the mapper in the form of key-value pairs.</a:t>
            </a:r>
          </a:p>
          <a:p>
            <a:pPr>
              <a:lnSpc>
                <a:spcPct val="150000"/>
              </a:lnSpc>
            </a:pPr>
            <a:r>
              <a:rPr lang="en-US" sz="2400" b="1" dirty="0"/>
              <a:t>Map</a:t>
            </a:r>
            <a:r>
              <a:rPr lang="en-US" sz="2400" dirty="0"/>
              <a:t> − Map is a user-defined function, which takes a series of key-value pairs and processes each one of them to generate zero or more key-value pairs.</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2777067" y="3623741"/>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4038600" y="3623740"/>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5300133"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6595533"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7950199"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3344333"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2891368"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4580466"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4127501"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5837768"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5384803"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7215716"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6762751"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8572492"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8119527"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spTree>
    <p:extLst>
      <p:ext uri="{BB962C8B-B14F-4D97-AF65-F5344CB8AC3E}">
        <p14:creationId xmlns:p14="http://schemas.microsoft.com/office/powerpoint/2010/main" val="216905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anim calcmode="lin" valueType="num">
                                      <p:cBhvr additive="base">
                                        <p:cTn id="13"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 calcmode="lin" valueType="num">
                                      <p:cBhvr additive="base">
                                        <p:cTn id="19"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anim calcmode="lin" valueType="num">
                                      <p:cBhvr additive="base">
                                        <p:cTn id="2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MapReduce Architecture</a:t>
            </a:r>
          </a:p>
          <a:p>
            <a:pPr>
              <a:lnSpc>
                <a:spcPct val="150000"/>
              </a:lnSpc>
            </a:pPr>
            <a:r>
              <a:rPr lang="en-US" sz="2200" b="1" dirty="0"/>
              <a:t>Intermediate Keys</a:t>
            </a:r>
            <a:r>
              <a:rPr lang="en-US" sz="2200" dirty="0"/>
              <a:t> − They key-value pairs generated by the mapper are known as intermediate keys.</a:t>
            </a:r>
          </a:p>
          <a:p>
            <a:pPr>
              <a:lnSpc>
                <a:spcPct val="150000"/>
              </a:lnSpc>
            </a:pPr>
            <a:r>
              <a:rPr lang="en-US" sz="2200" b="1" dirty="0"/>
              <a:t>Combiner (Optional)</a:t>
            </a:r>
            <a:r>
              <a:rPr lang="en-US" sz="2200" dirty="0"/>
              <a:t> − A combiner is a type of local Reducer that groups similar data from the map phase into identifiable sets. </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11</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2777067" y="2768607"/>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4038600" y="27686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5300133"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6595533"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7950199"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3344333"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2891368"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4580466"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4127501"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5837768"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5384803"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7215716"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6762751"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8572492"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8119527"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3327399"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2874434"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4563532"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4110567"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5799664"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5346699"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7207247" y="4445679"/>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6754282" y="4903551"/>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8564023" y="44595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8111058" y="491740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4656664" y="5612013"/>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3327398" y="5266944"/>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4555067" y="5266944"/>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5761570" y="5250809"/>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5901265" y="5267618"/>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6468534" y="5281474"/>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923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 calcmode="lin" valueType="num">
                                      <p:cBhvr additive="base">
                                        <p:cTn id="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 calcmode="lin" valueType="num">
                                      <p:cBhvr additive="base">
                                        <p:cTn id="19"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anim calcmode="lin" valueType="num">
                                      <p:cBhvr additive="base">
                                        <p:cTn id="2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96333" y="136525"/>
            <a:ext cx="4402673" cy="5734344"/>
          </a:xfrm>
        </p:spPr>
        <p:txBody>
          <a:bodyPr>
            <a:normAutofit fontScale="85000" lnSpcReduction="10000"/>
          </a:bodyPr>
          <a:lstStyle/>
          <a:p>
            <a:pPr algn="ctr">
              <a:lnSpc>
                <a:spcPct val="170000"/>
              </a:lnSpc>
            </a:pPr>
            <a:r>
              <a:rPr lang="en-US" sz="3200" b="1" dirty="0"/>
              <a:t>MapReduce Architecture</a:t>
            </a:r>
          </a:p>
          <a:p>
            <a:pPr>
              <a:lnSpc>
                <a:spcPct val="150000"/>
              </a:lnSpc>
            </a:pPr>
            <a:r>
              <a:rPr lang="en-US" sz="2400" b="1" dirty="0"/>
              <a:t>Shuffle and Sort</a:t>
            </a:r>
            <a:r>
              <a:rPr lang="en-US" sz="2400" dirty="0"/>
              <a:t> − The Reducer task starts with the Shuffle and Sort step. It downloads the grouped key-value pairs onto the local machine, where the Reducer is running. </a:t>
            </a:r>
          </a:p>
          <a:p>
            <a:pPr>
              <a:lnSpc>
                <a:spcPct val="150000"/>
              </a:lnSpc>
            </a:pPr>
            <a:r>
              <a:rPr lang="en-US" sz="2400" dirty="0"/>
              <a:t>The individual key-value pairs are sorted by key into a larger data list. The data list groups the equivalent keys together so that their values can be iterated easily in the Reducer task.</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1193807"/>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11938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870879"/>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3328751"/>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8847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334260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4037213"/>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692144"/>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692144"/>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676009"/>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692818"/>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706674"/>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797717"/>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Tree>
    <p:extLst>
      <p:ext uri="{BB962C8B-B14F-4D97-AF65-F5344CB8AC3E}">
        <p14:creationId xmlns:p14="http://schemas.microsoft.com/office/powerpoint/2010/main" val="3462987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160861" y="136525"/>
            <a:ext cx="4402673" cy="5734344"/>
          </a:xfrm>
        </p:spPr>
        <p:txBody>
          <a:bodyPr>
            <a:normAutofit fontScale="92500" lnSpcReduction="10000"/>
          </a:bodyPr>
          <a:lstStyle/>
          <a:p>
            <a:pPr algn="ctr">
              <a:lnSpc>
                <a:spcPct val="160000"/>
              </a:lnSpc>
            </a:pPr>
            <a:r>
              <a:rPr lang="en-US" sz="3200" b="1" dirty="0"/>
              <a:t>MapReduce Architecture</a:t>
            </a:r>
          </a:p>
          <a:p>
            <a:pPr>
              <a:lnSpc>
                <a:spcPct val="150000"/>
              </a:lnSpc>
            </a:pPr>
            <a:r>
              <a:rPr lang="en-US" sz="2400" b="1" dirty="0"/>
              <a:t>Reducer</a:t>
            </a:r>
            <a:r>
              <a:rPr lang="en-US" sz="2400" dirty="0"/>
              <a:t> − The Reducer takes the grouped key-value paired data as input and runs a Reducer function on each one of them. Here, the data can be aggregated, filtered, and combined in a number of ways, and it requires a wide range of processing. Once the execution is over, it gives zero or more key-value pairs to the final step.</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5334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5334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210478"/>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2668350"/>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22433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268220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3376812"/>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031743"/>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031743"/>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015608"/>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032417"/>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046273"/>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137316"/>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cxnSp>
        <p:nvCxnSpPr>
          <p:cNvPr id="41" name="Straight Arrow Connector 40">
            <a:extLst>
              <a:ext uri="{FF2B5EF4-FFF2-40B4-BE49-F238E27FC236}">
                <a16:creationId xmlns:a16="http://schemas.microsoft.com/office/drawing/2014/main" id="{EA3F8F20-0C06-4A41-B1AE-7DF255DC42C8}"/>
              </a:ext>
            </a:extLst>
          </p:cNvPr>
          <p:cNvCxnSpPr/>
          <p:nvPr/>
        </p:nvCxnSpPr>
        <p:spPr>
          <a:xfrm>
            <a:off x="6529921" y="45169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20711989-6A4E-2C41-8C9F-B61FAD4FDA2C}"/>
              </a:ext>
            </a:extLst>
          </p:cNvPr>
          <p:cNvSpPr/>
          <p:nvPr/>
        </p:nvSpPr>
        <p:spPr>
          <a:xfrm>
            <a:off x="5911854" y="495148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3" name="Straight Arrow Connector 42">
            <a:extLst>
              <a:ext uri="{FF2B5EF4-FFF2-40B4-BE49-F238E27FC236}">
                <a16:creationId xmlns:a16="http://schemas.microsoft.com/office/drawing/2014/main" id="{1D2073D7-F856-7940-A6F6-6941F9B14126}"/>
              </a:ext>
            </a:extLst>
          </p:cNvPr>
          <p:cNvCxnSpPr/>
          <p:nvPr/>
        </p:nvCxnSpPr>
        <p:spPr>
          <a:xfrm>
            <a:off x="7791454" y="4536230"/>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84E51DCD-B3AC-6243-B558-FE5496DF93F1}"/>
              </a:ext>
            </a:extLst>
          </p:cNvPr>
          <p:cNvSpPr/>
          <p:nvPr/>
        </p:nvSpPr>
        <p:spPr>
          <a:xfrm>
            <a:off x="7173387" y="4970776"/>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5" name="Straight Arrow Connector 44">
            <a:extLst>
              <a:ext uri="{FF2B5EF4-FFF2-40B4-BE49-F238E27FC236}">
                <a16:creationId xmlns:a16="http://schemas.microsoft.com/office/drawing/2014/main" id="{092AEAD5-A122-1748-B784-796AA4FBE2FD}"/>
              </a:ext>
            </a:extLst>
          </p:cNvPr>
          <p:cNvCxnSpPr/>
          <p:nvPr/>
        </p:nvCxnSpPr>
        <p:spPr>
          <a:xfrm>
            <a:off x="9052987" y="45496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BD5D824F-FD22-BB4A-A83D-B2A6C2142B9B}"/>
              </a:ext>
            </a:extLst>
          </p:cNvPr>
          <p:cNvSpPr/>
          <p:nvPr/>
        </p:nvSpPr>
        <p:spPr>
          <a:xfrm>
            <a:off x="8434920" y="498415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7" name="Straight Arrow Connector 46">
            <a:extLst>
              <a:ext uri="{FF2B5EF4-FFF2-40B4-BE49-F238E27FC236}">
                <a16:creationId xmlns:a16="http://schemas.microsoft.com/office/drawing/2014/main" id="{8B5A7E81-0D7D-864D-9557-3AE3A09BB39C}"/>
              </a:ext>
            </a:extLst>
          </p:cNvPr>
          <p:cNvCxnSpPr/>
          <p:nvPr/>
        </p:nvCxnSpPr>
        <p:spPr>
          <a:xfrm>
            <a:off x="10441520" y="454448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DD89D06E-FBD5-2941-ABF9-4D381020AD82}"/>
              </a:ext>
            </a:extLst>
          </p:cNvPr>
          <p:cNvSpPr/>
          <p:nvPr/>
        </p:nvSpPr>
        <p:spPr>
          <a:xfrm>
            <a:off x="9823453" y="497903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spTree>
    <p:extLst>
      <p:ext uri="{BB962C8B-B14F-4D97-AF65-F5344CB8AC3E}">
        <p14:creationId xmlns:p14="http://schemas.microsoft.com/office/powerpoint/2010/main" val="22702287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160861" y="186402"/>
            <a:ext cx="4402673" cy="5734344"/>
          </a:xfrm>
        </p:spPr>
        <p:txBody>
          <a:bodyPr>
            <a:normAutofit/>
          </a:bodyPr>
          <a:lstStyle/>
          <a:p>
            <a:pPr algn="ctr">
              <a:lnSpc>
                <a:spcPct val="150000"/>
              </a:lnSpc>
            </a:pPr>
            <a:r>
              <a:rPr lang="en-US" sz="3000" b="1" dirty="0"/>
              <a:t>MapReduce Architecture</a:t>
            </a:r>
          </a:p>
          <a:p>
            <a:pPr>
              <a:lnSpc>
                <a:spcPct val="150000"/>
              </a:lnSpc>
            </a:pPr>
            <a:r>
              <a:rPr lang="en-US" sz="2400" b="1" dirty="0"/>
              <a:t>Output Phase</a:t>
            </a:r>
            <a:r>
              <a:rPr lang="en-US" sz="2400" dirty="0"/>
              <a:t> − In the output phase, we have an output formatter that translates the final key-value pairs from the Reducer function and writes them onto a file using a record writer.</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5334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5334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210478"/>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2668350"/>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22433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268220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3376812"/>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031743"/>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031743"/>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015608"/>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032417"/>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046273"/>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137316"/>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cxnSp>
        <p:nvCxnSpPr>
          <p:cNvPr id="41" name="Straight Arrow Connector 40">
            <a:extLst>
              <a:ext uri="{FF2B5EF4-FFF2-40B4-BE49-F238E27FC236}">
                <a16:creationId xmlns:a16="http://schemas.microsoft.com/office/drawing/2014/main" id="{EA3F8F20-0C06-4A41-B1AE-7DF255DC42C8}"/>
              </a:ext>
            </a:extLst>
          </p:cNvPr>
          <p:cNvCxnSpPr/>
          <p:nvPr/>
        </p:nvCxnSpPr>
        <p:spPr>
          <a:xfrm>
            <a:off x="6529921" y="45169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20711989-6A4E-2C41-8C9F-B61FAD4FDA2C}"/>
              </a:ext>
            </a:extLst>
          </p:cNvPr>
          <p:cNvSpPr/>
          <p:nvPr/>
        </p:nvSpPr>
        <p:spPr>
          <a:xfrm>
            <a:off x="5911854" y="495148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3" name="Straight Arrow Connector 42">
            <a:extLst>
              <a:ext uri="{FF2B5EF4-FFF2-40B4-BE49-F238E27FC236}">
                <a16:creationId xmlns:a16="http://schemas.microsoft.com/office/drawing/2014/main" id="{1D2073D7-F856-7940-A6F6-6941F9B14126}"/>
              </a:ext>
            </a:extLst>
          </p:cNvPr>
          <p:cNvCxnSpPr/>
          <p:nvPr/>
        </p:nvCxnSpPr>
        <p:spPr>
          <a:xfrm>
            <a:off x="7791454" y="4536230"/>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84E51DCD-B3AC-6243-B558-FE5496DF93F1}"/>
              </a:ext>
            </a:extLst>
          </p:cNvPr>
          <p:cNvSpPr/>
          <p:nvPr/>
        </p:nvSpPr>
        <p:spPr>
          <a:xfrm>
            <a:off x="7173387" y="4970776"/>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5" name="Straight Arrow Connector 44">
            <a:extLst>
              <a:ext uri="{FF2B5EF4-FFF2-40B4-BE49-F238E27FC236}">
                <a16:creationId xmlns:a16="http://schemas.microsoft.com/office/drawing/2014/main" id="{092AEAD5-A122-1748-B784-796AA4FBE2FD}"/>
              </a:ext>
            </a:extLst>
          </p:cNvPr>
          <p:cNvCxnSpPr/>
          <p:nvPr/>
        </p:nvCxnSpPr>
        <p:spPr>
          <a:xfrm>
            <a:off x="9052987" y="45496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BD5D824F-FD22-BB4A-A83D-B2A6C2142B9B}"/>
              </a:ext>
            </a:extLst>
          </p:cNvPr>
          <p:cNvSpPr/>
          <p:nvPr/>
        </p:nvSpPr>
        <p:spPr>
          <a:xfrm>
            <a:off x="8434920" y="498415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7" name="Straight Arrow Connector 46">
            <a:extLst>
              <a:ext uri="{FF2B5EF4-FFF2-40B4-BE49-F238E27FC236}">
                <a16:creationId xmlns:a16="http://schemas.microsoft.com/office/drawing/2014/main" id="{8B5A7E81-0D7D-864D-9557-3AE3A09BB39C}"/>
              </a:ext>
            </a:extLst>
          </p:cNvPr>
          <p:cNvCxnSpPr/>
          <p:nvPr/>
        </p:nvCxnSpPr>
        <p:spPr>
          <a:xfrm>
            <a:off x="10441520" y="454448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DD89D06E-FBD5-2941-ABF9-4D381020AD82}"/>
              </a:ext>
            </a:extLst>
          </p:cNvPr>
          <p:cNvSpPr/>
          <p:nvPr/>
        </p:nvSpPr>
        <p:spPr>
          <a:xfrm>
            <a:off x="9823453" y="497903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sp>
        <p:nvSpPr>
          <p:cNvPr id="3" name="Rectangle 2">
            <a:extLst>
              <a:ext uri="{FF2B5EF4-FFF2-40B4-BE49-F238E27FC236}">
                <a16:creationId xmlns:a16="http://schemas.microsoft.com/office/drawing/2014/main" id="{6AB1ADF7-E336-A549-B0B1-F425124C6137}"/>
              </a:ext>
            </a:extLst>
          </p:cNvPr>
          <p:cNvSpPr/>
          <p:nvPr/>
        </p:nvSpPr>
        <p:spPr>
          <a:xfrm>
            <a:off x="6832600" y="5808058"/>
            <a:ext cx="3149600" cy="4854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Output</a:t>
            </a:r>
          </a:p>
        </p:txBody>
      </p:sp>
    </p:spTree>
    <p:extLst>
      <p:ext uri="{BB962C8B-B14F-4D97-AF65-F5344CB8AC3E}">
        <p14:creationId xmlns:p14="http://schemas.microsoft.com/office/powerpoint/2010/main" val="29453299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Tree>
    <p:extLst>
      <p:ext uri="{BB962C8B-B14F-4D97-AF65-F5344CB8AC3E}">
        <p14:creationId xmlns:p14="http://schemas.microsoft.com/office/powerpoint/2010/main" val="3828655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043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909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AB6F327-B807-4043-9404-51A896FD3FC8}"/>
              </a:ext>
            </a:extLst>
          </p:cNvPr>
          <p:cNvSpPr/>
          <p:nvPr/>
        </p:nvSpPr>
        <p:spPr>
          <a:xfrm>
            <a:off x="8098367" y="1689100"/>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A, 1</a:t>
            </a:r>
          </a:p>
        </p:txBody>
      </p:sp>
      <p:sp>
        <p:nvSpPr>
          <p:cNvPr id="25" name="Rectangle 24">
            <a:extLst>
              <a:ext uri="{FF2B5EF4-FFF2-40B4-BE49-F238E27FC236}">
                <a16:creationId xmlns:a16="http://schemas.microsoft.com/office/drawing/2014/main" id="{08AE1C2C-2679-2A49-9100-6720AFEEADFC}"/>
              </a:ext>
            </a:extLst>
          </p:cNvPr>
          <p:cNvSpPr/>
          <p:nvPr/>
        </p:nvSpPr>
        <p:spPr>
          <a:xfrm>
            <a:off x="8098367" y="2901407"/>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B, 1</a:t>
            </a:r>
          </a:p>
          <a:p>
            <a:pPr algn="ctr"/>
            <a:r>
              <a:rPr lang="en-IL" dirty="0"/>
              <a:t>B, 1</a:t>
            </a:r>
          </a:p>
        </p:txBody>
      </p:sp>
      <p:sp>
        <p:nvSpPr>
          <p:cNvPr id="26" name="Rectangle 25">
            <a:extLst>
              <a:ext uri="{FF2B5EF4-FFF2-40B4-BE49-F238E27FC236}">
                <a16:creationId xmlns:a16="http://schemas.microsoft.com/office/drawing/2014/main" id="{91D4D04C-FE64-B344-BF84-BBF6152F5221}"/>
              </a:ext>
            </a:extLst>
          </p:cNvPr>
          <p:cNvSpPr/>
          <p:nvPr/>
        </p:nvSpPr>
        <p:spPr>
          <a:xfrm>
            <a:off x="8098367" y="4161366"/>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C, 1</a:t>
            </a:r>
          </a:p>
        </p:txBody>
      </p:sp>
      <p:sp>
        <p:nvSpPr>
          <p:cNvPr id="28" name="Rectangle 27">
            <a:extLst>
              <a:ext uri="{FF2B5EF4-FFF2-40B4-BE49-F238E27FC236}">
                <a16:creationId xmlns:a16="http://schemas.microsoft.com/office/drawing/2014/main" id="{0B8E6385-03E0-DA42-9797-9D806724118C}"/>
              </a:ext>
            </a:extLst>
          </p:cNvPr>
          <p:cNvSpPr/>
          <p:nvPr/>
        </p:nvSpPr>
        <p:spPr>
          <a:xfrm>
            <a:off x="8098367" y="5421325"/>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 1</a:t>
            </a:r>
          </a:p>
          <a:p>
            <a:pPr algn="ctr"/>
            <a:r>
              <a:rPr lang="en-IL" dirty="0"/>
              <a:t>R, 1</a:t>
            </a:r>
          </a:p>
        </p:txBody>
      </p:sp>
      <p:cxnSp>
        <p:nvCxnSpPr>
          <p:cNvPr id="29" name="Straight Arrow Connector 28">
            <a:extLst>
              <a:ext uri="{FF2B5EF4-FFF2-40B4-BE49-F238E27FC236}">
                <a16:creationId xmlns:a16="http://schemas.microsoft.com/office/drawing/2014/main" id="{D3477D2D-2C34-F84D-B361-A191CCC635C9}"/>
              </a:ext>
            </a:extLst>
          </p:cNvPr>
          <p:cNvCxnSpPr>
            <a:cxnSpLocks/>
            <a:stCxn id="18" idx="3"/>
            <a:endCxn id="23" idx="1"/>
          </p:cNvCxnSpPr>
          <p:nvPr/>
        </p:nvCxnSpPr>
        <p:spPr>
          <a:xfrm>
            <a:off x="7061202" y="2192867"/>
            <a:ext cx="103716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8E0ABEE-6A79-5847-9235-B5BB1A2E13D0}"/>
              </a:ext>
            </a:extLst>
          </p:cNvPr>
          <p:cNvCxnSpPr>
            <a:cxnSpLocks/>
            <a:stCxn id="18" idx="3"/>
            <a:endCxn id="25" idx="1"/>
          </p:cNvCxnSpPr>
          <p:nvPr/>
        </p:nvCxnSpPr>
        <p:spPr>
          <a:xfrm>
            <a:off x="7061202" y="2192867"/>
            <a:ext cx="1037165" cy="12123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9A9FFF-953E-3C4F-AEB3-9E9F309637DE}"/>
              </a:ext>
            </a:extLst>
          </p:cNvPr>
          <p:cNvCxnSpPr>
            <a:cxnSpLocks/>
            <a:stCxn id="18" idx="3"/>
            <a:endCxn id="26" idx="1"/>
          </p:cNvCxnSpPr>
          <p:nvPr/>
        </p:nvCxnSpPr>
        <p:spPr>
          <a:xfrm>
            <a:off x="7061202" y="2192867"/>
            <a:ext cx="1037165" cy="2472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8D612A7-5F96-4747-9308-EB7D652CA88A}"/>
              </a:ext>
            </a:extLst>
          </p:cNvPr>
          <p:cNvCxnSpPr>
            <a:cxnSpLocks/>
            <a:stCxn id="18" idx="3"/>
            <a:endCxn id="28" idx="1"/>
          </p:cNvCxnSpPr>
          <p:nvPr/>
        </p:nvCxnSpPr>
        <p:spPr>
          <a:xfrm>
            <a:off x="7061202" y="2192867"/>
            <a:ext cx="1037165" cy="37322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4195B4-8012-4D40-9C5D-56DE05A61130}"/>
              </a:ext>
            </a:extLst>
          </p:cNvPr>
          <p:cNvCxnSpPr>
            <a:cxnSpLocks/>
            <a:stCxn id="20" idx="3"/>
            <a:endCxn id="23" idx="1"/>
          </p:cNvCxnSpPr>
          <p:nvPr/>
        </p:nvCxnSpPr>
        <p:spPr>
          <a:xfrm flipV="1">
            <a:off x="7061202" y="2192867"/>
            <a:ext cx="1037165" cy="1445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123B11FF-8BC7-4F44-A1C9-B2CA7860FDD9}"/>
              </a:ext>
            </a:extLst>
          </p:cNvPr>
          <p:cNvCxnSpPr>
            <a:cxnSpLocks/>
            <a:stCxn id="20" idx="3"/>
            <a:endCxn id="25" idx="1"/>
          </p:cNvCxnSpPr>
          <p:nvPr/>
        </p:nvCxnSpPr>
        <p:spPr>
          <a:xfrm flipV="1">
            <a:off x="7061202" y="3405174"/>
            <a:ext cx="1037165" cy="232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25335DD-DEC9-4541-9DCF-8FDD9A4EFA86}"/>
              </a:ext>
            </a:extLst>
          </p:cNvPr>
          <p:cNvCxnSpPr>
            <a:cxnSpLocks/>
            <a:stCxn id="20" idx="3"/>
            <a:endCxn id="26" idx="1"/>
          </p:cNvCxnSpPr>
          <p:nvPr/>
        </p:nvCxnSpPr>
        <p:spPr>
          <a:xfrm>
            <a:off x="7061202" y="3637877"/>
            <a:ext cx="1037165" cy="10272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9B31CF8-E86E-214E-BBC8-9F42B77A98E2}"/>
              </a:ext>
            </a:extLst>
          </p:cNvPr>
          <p:cNvCxnSpPr>
            <a:cxnSpLocks/>
            <a:stCxn id="20" idx="3"/>
            <a:endCxn id="28" idx="1"/>
          </p:cNvCxnSpPr>
          <p:nvPr/>
        </p:nvCxnSpPr>
        <p:spPr>
          <a:xfrm>
            <a:off x="7061202" y="3637877"/>
            <a:ext cx="1037165" cy="2287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2AA61CD2-9642-E040-9EC1-A079E66F4F2C}"/>
              </a:ext>
            </a:extLst>
          </p:cNvPr>
          <p:cNvCxnSpPr>
            <a:cxnSpLocks/>
            <a:stCxn id="21" idx="3"/>
            <a:endCxn id="23" idx="1"/>
          </p:cNvCxnSpPr>
          <p:nvPr/>
        </p:nvCxnSpPr>
        <p:spPr>
          <a:xfrm flipV="1">
            <a:off x="7061202" y="2192867"/>
            <a:ext cx="1037165" cy="3011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48DAD30D-8C1A-724E-8653-95A7D158856B}"/>
              </a:ext>
            </a:extLst>
          </p:cNvPr>
          <p:cNvCxnSpPr>
            <a:cxnSpLocks/>
            <a:stCxn id="21" idx="3"/>
            <a:endCxn id="25" idx="1"/>
          </p:cNvCxnSpPr>
          <p:nvPr/>
        </p:nvCxnSpPr>
        <p:spPr>
          <a:xfrm flipV="1">
            <a:off x="7061202" y="3405174"/>
            <a:ext cx="1037165" cy="1798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CCB7263F-259B-A14C-B845-29B74C63B2D9}"/>
              </a:ext>
            </a:extLst>
          </p:cNvPr>
          <p:cNvCxnSpPr>
            <a:cxnSpLocks/>
            <a:stCxn id="21" idx="3"/>
            <a:endCxn id="26" idx="1"/>
          </p:cNvCxnSpPr>
          <p:nvPr/>
        </p:nvCxnSpPr>
        <p:spPr>
          <a:xfrm flipV="1">
            <a:off x="7061202" y="4665133"/>
            <a:ext cx="1037165" cy="5389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6E145192-75EC-734C-85BA-F0E4F037DA18}"/>
              </a:ext>
            </a:extLst>
          </p:cNvPr>
          <p:cNvCxnSpPr>
            <a:cxnSpLocks/>
            <a:stCxn id="21" idx="3"/>
            <a:endCxn id="28" idx="1"/>
          </p:cNvCxnSpPr>
          <p:nvPr/>
        </p:nvCxnSpPr>
        <p:spPr>
          <a:xfrm>
            <a:off x="7061202" y="5204085"/>
            <a:ext cx="1037165" cy="7210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245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AB6F327-B807-4043-9404-51A896FD3FC8}"/>
              </a:ext>
            </a:extLst>
          </p:cNvPr>
          <p:cNvSpPr/>
          <p:nvPr/>
        </p:nvSpPr>
        <p:spPr>
          <a:xfrm>
            <a:off x="8098367" y="1689100"/>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A, 1</a:t>
            </a:r>
          </a:p>
        </p:txBody>
      </p:sp>
      <p:sp>
        <p:nvSpPr>
          <p:cNvPr id="25" name="Rectangle 24">
            <a:extLst>
              <a:ext uri="{FF2B5EF4-FFF2-40B4-BE49-F238E27FC236}">
                <a16:creationId xmlns:a16="http://schemas.microsoft.com/office/drawing/2014/main" id="{08AE1C2C-2679-2A49-9100-6720AFEEADFC}"/>
              </a:ext>
            </a:extLst>
          </p:cNvPr>
          <p:cNvSpPr/>
          <p:nvPr/>
        </p:nvSpPr>
        <p:spPr>
          <a:xfrm>
            <a:off x="8098367" y="2901407"/>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B, 1</a:t>
            </a:r>
          </a:p>
          <a:p>
            <a:pPr algn="ctr"/>
            <a:r>
              <a:rPr lang="en-IL" dirty="0"/>
              <a:t>B, 1</a:t>
            </a:r>
          </a:p>
        </p:txBody>
      </p:sp>
      <p:sp>
        <p:nvSpPr>
          <p:cNvPr id="26" name="Rectangle 25">
            <a:extLst>
              <a:ext uri="{FF2B5EF4-FFF2-40B4-BE49-F238E27FC236}">
                <a16:creationId xmlns:a16="http://schemas.microsoft.com/office/drawing/2014/main" id="{91D4D04C-FE64-B344-BF84-BBF6152F5221}"/>
              </a:ext>
            </a:extLst>
          </p:cNvPr>
          <p:cNvSpPr/>
          <p:nvPr/>
        </p:nvSpPr>
        <p:spPr>
          <a:xfrm>
            <a:off x="8098367" y="4161366"/>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C, 1</a:t>
            </a:r>
          </a:p>
        </p:txBody>
      </p:sp>
      <p:sp>
        <p:nvSpPr>
          <p:cNvPr id="28" name="Rectangle 27">
            <a:extLst>
              <a:ext uri="{FF2B5EF4-FFF2-40B4-BE49-F238E27FC236}">
                <a16:creationId xmlns:a16="http://schemas.microsoft.com/office/drawing/2014/main" id="{0B8E6385-03E0-DA42-9797-9D806724118C}"/>
              </a:ext>
            </a:extLst>
          </p:cNvPr>
          <p:cNvSpPr/>
          <p:nvPr/>
        </p:nvSpPr>
        <p:spPr>
          <a:xfrm>
            <a:off x="8098367" y="5421325"/>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 1</a:t>
            </a:r>
          </a:p>
          <a:p>
            <a:pPr algn="ctr"/>
            <a:r>
              <a:rPr lang="en-IL" dirty="0"/>
              <a:t>R, 1</a:t>
            </a:r>
          </a:p>
        </p:txBody>
      </p:sp>
      <p:cxnSp>
        <p:nvCxnSpPr>
          <p:cNvPr id="29" name="Straight Arrow Connector 28">
            <a:extLst>
              <a:ext uri="{FF2B5EF4-FFF2-40B4-BE49-F238E27FC236}">
                <a16:creationId xmlns:a16="http://schemas.microsoft.com/office/drawing/2014/main" id="{D3477D2D-2C34-F84D-B361-A191CCC635C9}"/>
              </a:ext>
            </a:extLst>
          </p:cNvPr>
          <p:cNvCxnSpPr>
            <a:cxnSpLocks/>
            <a:stCxn id="18" idx="3"/>
            <a:endCxn id="23" idx="1"/>
          </p:cNvCxnSpPr>
          <p:nvPr/>
        </p:nvCxnSpPr>
        <p:spPr>
          <a:xfrm>
            <a:off x="7061202" y="2192867"/>
            <a:ext cx="103716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8E0ABEE-6A79-5847-9235-B5BB1A2E13D0}"/>
              </a:ext>
            </a:extLst>
          </p:cNvPr>
          <p:cNvCxnSpPr>
            <a:cxnSpLocks/>
            <a:stCxn id="18" idx="3"/>
            <a:endCxn id="25" idx="1"/>
          </p:cNvCxnSpPr>
          <p:nvPr/>
        </p:nvCxnSpPr>
        <p:spPr>
          <a:xfrm>
            <a:off x="7061202" y="2192867"/>
            <a:ext cx="1037165" cy="12123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9A9FFF-953E-3C4F-AEB3-9E9F309637DE}"/>
              </a:ext>
            </a:extLst>
          </p:cNvPr>
          <p:cNvCxnSpPr>
            <a:cxnSpLocks/>
            <a:stCxn id="18" idx="3"/>
            <a:endCxn id="26" idx="1"/>
          </p:cNvCxnSpPr>
          <p:nvPr/>
        </p:nvCxnSpPr>
        <p:spPr>
          <a:xfrm>
            <a:off x="7061202" y="2192867"/>
            <a:ext cx="1037165" cy="2472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8D612A7-5F96-4747-9308-EB7D652CA88A}"/>
              </a:ext>
            </a:extLst>
          </p:cNvPr>
          <p:cNvCxnSpPr>
            <a:cxnSpLocks/>
            <a:stCxn id="18" idx="3"/>
            <a:endCxn id="28" idx="1"/>
          </p:cNvCxnSpPr>
          <p:nvPr/>
        </p:nvCxnSpPr>
        <p:spPr>
          <a:xfrm>
            <a:off x="7061202" y="2192867"/>
            <a:ext cx="1037165" cy="37322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4195B4-8012-4D40-9C5D-56DE05A61130}"/>
              </a:ext>
            </a:extLst>
          </p:cNvPr>
          <p:cNvCxnSpPr>
            <a:cxnSpLocks/>
            <a:stCxn id="20" idx="3"/>
            <a:endCxn id="23" idx="1"/>
          </p:cNvCxnSpPr>
          <p:nvPr/>
        </p:nvCxnSpPr>
        <p:spPr>
          <a:xfrm flipV="1">
            <a:off x="7061202" y="2192867"/>
            <a:ext cx="1037165" cy="1445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123B11FF-8BC7-4F44-A1C9-B2CA7860FDD9}"/>
              </a:ext>
            </a:extLst>
          </p:cNvPr>
          <p:cNvCxnSpPr>
            <a:cxnSpLocks/>
            <a:stCxn id="20" idx="3"/>
            <a:endCxn id="25" idx="1"/>
          </p:cNvCxnSpPr>
          <p:nvPr/>
        </p:nvCxnSpPr>
        <p:spPr>
          <a:xfrm flipV="1">
            <a:off x="7061202" y="3405174"/>
            <a:ext cx="1037165" cy="232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25335DD-DEC9-4541-9DCF-8FDD9A4EFA86}"/>
              </a:ext>
            </a:extLst>
          </p:cNvPr>
          <p:cNvCxnSpPr>
            <a:cxnSpLocks/>
            <a:stCxn id="20" idx="3"/>
            <a:endCxn id="26" idx="1"/>
          </p:cNvCxnSpPr>
          <p:nvPr/>
        </p:nvCxnSpPr>
        <p:spPr>
          <a:xfrm>
            <a:off x="7061202" y="3637877"/>
            <a:ext cx="1037165" cy="10272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9B31CF8-E86E-214E-BBC8-9F42B77A98E2}"/>
              </a:ext>
            </a:extLst>
          </p:cNvPr>
          <p:cNvCxnSpPr>
            <a:cxnSpLocks/>
            <a:stCxn id="20" idx="3"/>
            <a:endCxn id="28" idx="1"/>
          </p:cNvCxnSpPr>
          <p:nvPr/>
        </p:nvCxnSpPr>
        <p:spPr>
          <a:xfrm>
            <a:off x="7061202" y="3637877"/>
            <a:ext cx="1037165" cy="2287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2AA61CD2-9642-E040-9EC1-A079E66F4F2C}"/>
              </a:ext>
            </a:extLst>
          </p:cNvPr>
          <p:cNvCxnSpPr>
            <a:cxnSpLocks/>
            <a:stCxn id="21" idx="3"/>
            <a:endCxn id="23" idx="1"/>
          </p:cNvCxnSpPr>
          <p:nvPr/>
        </p:nvCxnSpPr>
        <p:spPr>
          <a:xfrm flipV="1">
            <a:off x="7061202" y="2192867"/>
            <a:ext cx="1037165" cy="3011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48DAD30D-8C1A-724E-8653-95A7D158856B}"/>
              </a:ext>
            </a:extLst>
          </p:cNvPr>
          <p:cNvCxnSpPr>
            <a:cxnSpLocks/>
            <a:stCxn id="21" idx="3"/>
            <a:endCxn id="25" idx="1"/>
          </p:cNvCxnSpPr>
          <p:nvPr/>
        </p:nvCxnSpPr>
        <p:spPr>
          <a:xfrm flipV="1">
            <a:off x="7061202" y="3405174"/>
            <a:ext cx="1037165" cy="1798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CCB7263F-259B-A14C-B845-29B74C63B2D9}"/>
              </a:ext>
            </a:extLst>
          </p:cNvPr>
          <p:cNvCxnSpPr>
            <a:cxnSpLocks/>
            <a:stCxn id="21" idx="3"/>
            <a:endCxn id="26" idx="1"/>
          </p:cNvCxnSpPr>
          <p:nvPr/>
        </p:nvCxnSpPr>
        <p:spPr>
          <a:xfrm flipV="1">
            <a:off x="7061202" y="4665133"/>
            <a:ext cx="1037165" cy="5389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6E145192-75EC-734C-85BA-F0E4F037DA18}"/>
              </a:ext>
            </a:extLst>
          </p:cNvPr>
          <p:cNvCxnSpPr>
            <a:cxnSpLocks/>
            <a:stCxn id="21" idx="3"/>
            <a:endCxn id="28" idx="1"/>
          </p:cNvCxnSpPr>
          <p:nvPr/>
        </p:nvCxnSpPr>
        <p:spPr>
          <a:xfrm>
            <a:off x="7061202" y="5204085"/>
            <a:ext cx="1037165" cy="7210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ounded Rectangle 13">
            <a:extLst>
              <a:ext uri="{FF2B5EF4-FFF2-40B4-BE49-F238E27FC236}">
                <a16:creationId xmlns:a16="http://schemas.microsoft.com/office/drawing/2014/main" id="{7FA73CAD-A962-5C46-939D-79E188E79291}"/>
              </a:ext>
            </a:extLst>
          </p:cNvPr>
          <p:cNvSpPr/>
          <p:nvPr/>
        </p:nvSpPr>
        <p:spPr>
          <a:xfrm>
            <a:off x="10414000" y="2506133"/>
            <a:ext cx="1481667" cy="215900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2</a:t>
            </a:r>
          </a:p>
          <a:p>
            <a:pPr algn="ctr"/>
            <a:r>
              <a:rPr lang="en-IL" dirty="0"/>
              <a:t>B, 2</a:t>
            </a:r>
          </a:p>
          <a:p>
            <a:pPr algn="ctr"/>
            <a:r>
              <a:rPr lang="en-IL" dirty="0"/>
              <a:t>C, 3</a:t>
            </a:r>
          </a:p>
          <a:p>
            <a:pPr algn="ctr"/>
            <a:r>
              <a:rPr lang="en-IL" dirty="0"/>
              <a:t>R, 2</a:t>
            </a:r>
          </a:p>
        </p:txBody>
      </p:sp>
      <p:cxnSp>
        <p:nvCxnSpPr>
          <p:cNvPr id="40" name="Straight Arrow Connector 39">
            <a:extLst>
              <a:ext uri="{FF2B5EF4-FFF2-40B4-BE49-F238E27FC236}">
                <a16:creationId xmlns:a16="http://schemas.microsoft.com/office/drawing/2014/main" id="{913013E3-9951-2A42-8EDC-98B99E1E0EA2}"/>
              </a:ext>
            </a:extLst>
          </p:cNvPr>
          <p:cNvCxnSpPr>
            <a:cxnSpLocks/>
            <a:stCxn id="23" idx="3"/>
            <a:endCxn id="14" idx="1"/>
          </p:cNvCxnSpPr>
          <p:nvPr/>
        </p:nvCxnSpPr>
        <p:spPr>
          <a:xfrm>
            <a:off x="9351435" y="2192867"/>
            <a:ext cx="1062565" cy="1392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4F81FCF-3F0E-BA47-B320-3ECC6AF0422A}"/>
              </a:ext>
            </a:extLst>
          </p:cNvPr>
          <p:cNvCxnSpPr>
            <a:cxnSpLocks/>
            <a:stCxn id="25" idx="3"/>
            <a:endCxn id="14" idx="1"/>
          </p:cNvCxnSpPr>
          <p:nvPr/>
        </p:nvCxnSpPr>
        <p:spPr>
          <a:xfrm>
            <a:off x="9351435" y="3405174"/>
            <a:ext cx="1062565" cy="180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C0F9BAF-088E-EF46-9CE8-C91969995B01}"/>
              </a:ext>
            </a:extLst>
          </p:cNvPr>
          <p:cNvCxnSpPr>
            <a:cxnSpLocks/>
            <a:stCxn id="26" idx="3"/>
            <a:endCxn id="14" idx="1"/>
          </p:cNvCxnSpPr>
          <p:nvPr/>
        </p:nvCxnSpPr>
        <p:spPr>
          <a:xfrm flipV="1">
            <a:off x="9351435" y="3585633"/>
            <a:ext cx="1062565" cy="107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CBCAD225-A42E-AE4F-864B-B11FFC06AAA2}"/>
              </a:ext>
            </a:extLst>
          </p:cNvPr>
          <p:cNvCxnSpPr>
            <a:cxnSpLocks/>
            <a:stCxn id="28" idx="3"/>
            <a:endCxn id="14" idx="1"/>
          </p:cNvCxnSpPr>
          <p:nvPr/>
        </p:nvCxnSpPr>
        <p:spPr>
          <a:xfrm flipV="1">
            <a:off x="9351435" y="3585633"/>
            <a:ext cx="1062565" cy="2339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8128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87867" y="186123"/>
            <a:ext cx="11616266" cy="6485754"/>
          </a:xfrm>
        </p:spPr>
        <p:txBody>
          <a:bodyPr>
            <a:normAutofit/>
          </a:bodyPr>
          <a:lstStyle/>
          <a:p>
            <a:pPr algn="ctr">
              <a:lnSpc>
                <a:spcPct val="150000"/>
              </a:lnSpc>
            </a:pPr>
            <a:r>
              <a:rPr lang="en-US" sz="3000" b="1" dirty="0"/>
              <a:t>The Power of Map-Reduce</a:t>
            </a:r>
          </a:p>
          <a:p>
            <a:pPr>
              <a:lnSpc>
                <a:spcPct val="150000"/>
              </a:lnSpc>
            </a:pPr>
            <a:endParaRPr lang="en-US" sz="26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 name="Picture 2">
            <a:extLst>
              <a:ext uri="{FF2B5EF4-FFF2-40B4-BE49-F238E27FC236}">
                <a16:creationId xmlns:a16="http://schemas.microsoft.com/office/drawing/2014/main" id="{D42745F3-35FE-6047-A5D1-EC6D2922EE8F}"/>
              </a:ext>
            </a:extLst>
          </p:cNvPr>
          <p:cNvPicPr>
            <a:picLocks noChangeAspect="1"/>
          </p:cNvPicPr>
          <p:nvPr/>
        </p:nvPicPr>
        <p:blipFill>
          <a:blip r:embed="rId3"/>
          <a:stretch>
            <a:fillRect/>
          </a:stretch>
        </p:blipFill>
        <p:spPr>
          <a:xfrm>
            <a:off x="2143125" y="1195490"/>
            <a:ext cx="7905750" cy="4762926"/>
          </a:xfrm>
          <a:prstGeom prst="rect">
            <a:avLst/>
          </a:prstGeom>
        </p:spPr>
      </p:pic>
    </p:spTree>
    <p:extLst>
      <p:ext uri="{BB962C8B-B14F-4D97-AF65-F5344CB8AC3E}">
        <p14:creationId xmlns:p14="http://schemas.microsoft.com/office/powerpoint/2010/main" val="2996604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87867" y="186123"/>
            <a:ext cx="11616266" cy="6485754"/>
          </a:xfrm>
        </p:spPr>
        <p:txBody>
          <a:bodyPr>
            <a:normAutofit/>
          </a:bodyPr>
          <a:lstStyle/>
          <a:p>
            <a:pPr algn="ctr">
              <a:lnSpc>
                <a:spcPct val="150000"/>
              </a:lnSpc>
            </a:pPr>
            <a:r>
              <a:rPr lang="en-US" sz="3000" b="1" dirty="0"/>
              <a:t>Why is Map-Reduce Popular?</a:t>
            </a:r>
          </a:p>
          <a:p>
            <a:pPr marL="342900" indent="-342900">
              <a:lnSpc>
                <a:spcPct val="150000"/>
              </a:lnSpc>
              <a:buFontTx/>
              <a:buChar char="-"/>
            </a:pPr>
            <a:r>
              <a:rPr lang="en-US" sz="2400" dirty="0"/>
              <a:t>Distributed computation before MapReduce </a:t>
            </a:r>
          </a:p>
          <a:p>
            <a:pPr marL="800100" lvl="1" indent="-342900">
              <a:lnSpc>
                <a:spcPct val="150000"/>
              </a:lnSpc>
              <a:buFontTx/>
              <a:buChar char="-"/>
            </a:pPr>
            <a:r>
              <a:rPr lang="en-US" sz="2000" dirty="0"/>
              <a:t>Divide the workload among multiple machines</a:t>
            </a:r>
          </a:p>
          <a:p>
            <a:pPr marL="800100" lvl="1" indent="-342900">
              <a:lnSpc>
                <a:spcPct val="150000"/>
              </a:lnSpc>
              <a:buFontTx/>
              <a:buChar char="-"/>
            </a:pPr>
            <a:r>
              <a:rPr lang="en-US" sz="2000" dirty="0"/>
              <a:t>Distribute data and program to other machines</a:t>
            </a:r>
          </a:p>
          <a:p>
            <a:pPr marL="342900" indent="-342900">
              <a:lnSpc>
                <a:spcPct val="150000"/>
              </a:lnSpc>
              <a:buFontTx/>
              <a:buChar char="-"/>
            </a:pPr>
            <a:r>
              <a:rPr lang="en-US" sz="2400" dirty="0"/>
              <a:t>Distributed computation after MapReduce </a:t>
            </a:r>
          </a:p>
          <a:p>
            <a:pPr marL="800100" lvl="1" indent="-342900">
              <a:lnSpc>
                <a:spcPct val="150000"/>
              </a:lnSpc>
              <a:buFontTx/>
              <a:buChar char="-"/>
            </a:pPr>
            <a:r>
              <a:rPr lang="en-US" sz="2000" dirty="0"/>
              <a:t>Write Map function</a:t>
            </a:r>
          </a:p>
          <a:p>
            <a:pPr marL="800100" lvl="1" indent="-342900">
              <a:lnSpc>
                <a:spcPct val="150000"/>
              </a:lnSpc>
              <a:buFontTx/>
              <a:buChar char="-"/>
            </a:pPr>
            <a:r>
              <a:rPr lang="en-US" sz="2000" dirty="0"/>
              <a:t>Write Reduce function</a:t>
            </a:r>
          </a:p>
          <a:p>
            <a:pPr marL="342900" indent="-342900">
              <a:lnSpc>
                <a:spcPct val="150000"/>
              </a:lnSpc>
              <a:buFontTx/>
              <a:buChar char="-"/>
            </a:pPr>
            <a:r>
              <a:rPr lang="en-US" sz="2400" dirty="0"/>
              <a:t>Developers’ tasks made easy</a:t>
            </a:r>
          </a:p>
          <a:p>
            <a:pPr marL="342900" indent="-342900">
              <a:lnSpc>
                <a:spcPct val="150000"/>
              </a:lnSpc>
              <a:buFontTx/>
              <a:buChar char="-"/>
            </a:pPr>
            <a:r>
              <a:rPr lang="en-US" sz="2400" dirty="0"/>
              <a:t>Divide the problem into sub-problems</a:t>
            </a:r>
            <a:r>
              <a:rPr lang="he-IL" sz="2400" dirty="0"/>
              <a:t> </a:t>
            </a:r>
            <a:r>
              <a:rPr lang="en-US" sz="2400" dirty="0"/>
              <a:t> (divide and conquer paradigm)</a:t>
            </a:r>
            <a:endParaRPr lang="en-US" sz="26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21</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5372557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spTree>
    <p:extLst>
      <p:ext uri="{BB962C8B-B14F-4D97-AF65-F5344CB8AC3E}">
        <p14:creationId xmlns:p14="http://schemas.microsoft.com/office/powerpoint/2010/main" val="3505207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spTree>
    <p:extLst>
      <p:ext uri="{BB962C8B-B14F-4D97-AF65-F5344CB8AC3E}">
        <p14:creationId xmlns:p14="http://schemas.microsoft.com/office/powerpoint/2010/main" val="2295676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spTree>
    <p:extLst>
      <p:ext uri="{BB962C8B-B14F-4D97-AF65-F5344CB8AC3E}">
        <p14:creationId xmlns:p14="http://schemas.microsoft.com/office/powerpoint/2010/main" val="555976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0303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cxnSp>
        <p:nvCxnSpPr>
          <p:cNvPr id="34" name="Straight Arrow Connector 33">
            <a:extLst>
              <a:ext uri="{FF2B5EF4-FFF2-40B4-BE49-F238E27FC236}">
                <a16:creationId xmlns:a16="http://schemas.microsoft.com/office/drawing/2014/main" id="{35699D61-8E6E-8646-9438-9D7E81E726F3}"/>
              </a:ext>
            </a:extLst>
          </p:cNvPr>
          <p:cNvCxnSpPr>
            <a:cxnSpLocks/>
          </p:cNvCxnSpPr>
          <p:nvPr/>
        </p:nvCxnSpPr>
        <p:spPr>
          <a:xfrm>
            <a:off x="8729144" y="2086021"/>
            <a:ext cx="1126066" cy="806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4859E1-8BEE-4C48-8708-9D0019A16B89}"/>
              </a:ext>
            </a:extLst>
          </p:cNvPr>
          <p:cNvCxnSpPr>
            <a:cxnSpLocks/>
          </p:cNvCxnSpPr>
          <p:nvPr/>
        </p:nvCxnSpPr>
        <p:spPr>
          <a:xfrm flipV="1">
            <a:off x="8746065" y="3406877"/>
            <a:ext cx="1176866" cy="495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06BF6C6-B6BA-8346-883E-C4A19265703E}"/>
              </a:ext>
            </a:extLst>
          </p:cNvPr>
          <p:cNvCxnSpPr>
            <a:cxnSpLocks/>
          </p:cNvCxnSpPr>
          <p:nvPr/>
        </p:nvCxnSpPr>
        <p:spPr>
          <a:xfrm flipV="1">
            <a:off x="8813811" y="4036367"/>
            <a:ext cx="1024466" cy="1121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E1D5768A-8ADB-4846-9ACC-8D5AD5FA7312}"/>
              </a:ext>
            </a:extLst>
          </p:cNvPr>
          <p:cNvSpPr/>
          <p:nvPr/>
        </p:nvSpPr>
        <p:spPr>
          <a:xfrm>
            <a:off x="10121899" y="3070340"/>
            <a:ext cx="846666" cy="6730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303,6</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2635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cxnSp>
        <p:nvCxnSpPr>
          <p:cNvPr id="34" name="Straight Arrow Connector 33">
            <a:extLst>
              <a:ext uri="{FF2B5EF4-FFF2-40B4-BE49-F238E27FC236}">
                <a16:creationId xmlns:a16="http://schemas.microsoft.com/office/drawing/2014/main" id="{35699D61-8E6E-8646-9438-9D7E81E726F3}"/>
              </a:ext>
            </a:extLst>
          </p:cNvPr>
          <p:cNvCxnSpPr>
            <a:cxnSpLocks/>
          </p:cNvCxnSpPr>
          <p:nvPr/>
        </p:nvCxnSpPr>
        <p:spPr>
          <a:xfrm>
            <a:off x="8729144" y="2086021"/>
            <a:ext cx="1126066" cy="806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4859E1-8BEE-4C48-8708-9D0019A16B89}"/>
              </a:ext>
            </a:extLst>
          </p:cNvPr>
          <p:cNvCxnSpPr>
            <a:cxnSpLocks/>
          </p:cNvCxnSpPr>
          <p:nvPr/>
        </p:nvCxnSpPr>
        <p:spPr>
          <a:xfrm flipV="1">
            <a:off x="8746065" y="3406877"/>
            <a:ext cx="1176866" cy="495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06BF6C6-B6BA-8346-883E-C4A19265703E}"/>
              </a:ext>
            </a:extLst>
          </p:cNvPr>
          <p:cNvCxnSpPr>
            <a:cxnSpLocks/>
          </p:cNvCxnSpPr>
          <p:nvPr/>
        </p:nvCxnSpPr>
        <p:spPr>
          <a:xfrm flipV="1">
            <a:off x="8813811" y="4036367"/>
            <a:ext cx="1024466" cy="1121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E1D5768A-8ADB-4846-9ACC-8D5AD5FA7312}"/>
              </a:ext>
            </a:extLst>
          </p:cNvPr>
          <p:cNvSpPr/>
          <p:nvPr/>
        </p:nvSpPr>
        <p:spPr>
          <a:xfrm>
            <a:off x="10121899" y="3070340"/>
            <a:ext cx="846666" cy="6730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303,6</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702C178-B6AD-6848-955D-C246B3EFEC55}"/>
                  </a:ext>
                </a:extLst>
              </p:cNvPr>
              <p:cNvSpPr txBox="1"/>
              <p:nvPr/>
            </p:nvSpPr>
            <p:spPr>
              <a:xfrm>
                <a:off x="10244666" y="4228093"/>
                <a:ext cx="1854209" cy="6127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303</m:t>
                          </m:r>
                        </m:num>
                        <m:den>
                          <m:r>
                            <a:rPr lang="en-US" b="0" i="1" smtClean="0">
                              <a:latin typeface="Cambria Math" panose="02040503050406030204" pitchFamily="18" charset="0"/>
                            </a:rPr>
                            <m:t>6</m:t>
                          </m:r>
                        </m:den>
                      </m:f>
                      <m:r>
                        <a:rPr lang="en-US" b="0" i="1" smtClean="0">
                          <a:latin typeface="Cambria Math" panose="02040503050406030204" pitchFamily="18" charset="0"/>
                        </a:rPr>
                        <m:t>=50.5</m:t>
                      </m:r>
                    </m:oMath>
                  </m:oMathPara>
                </a14:m>
                <a:endParaRPr lang="en-IL" dirty="0"/>
              </a:p>
            </p:txBody>
          </p:sp>
        </mc:Choice>
        <mc:Fallback xmlns="">
          <p:sp>
            <p:nvSpPr>
              <p:cNvPr id="3" name="TextBox 2">
                <a:extLst>
                  <a:ext uri="{FF2B5EF4-FFF2-40B4-BE49-F238E27FC236}">
                    <a16:creationId xmlns:a16="http://schemas.microsoft.com/office/drawing/2014/main" id="{2702C178-B6AD-6848-955D-C246B3EFEC55}"/>
                  </a:ext>
                </a:extLst>
              </p:cNvPr>
              <p:cNvSpPr txBox="1">
                <a:spLocks noRot="1" noChangeAspect="1" noMove="1" noResize="1" noEditPoints="1" noAdjustHandles="1" noChangeArrowheads="1" noChangeShapeType="1" noTextEdit="1"/>
              </p:cNvSpPr>
              <p:nvPr/>
            </p:nvSpPr>
            <p:spPr>
              <a:xfrm>
                <a:off x="10244666" y="4228093"/>
                <a:ext cx="1854209" cy="612732"/>
              </a:xfrm>
              <a:prstGeom prst="rect">
                <a:avLst/>
              </a:prstGeom>
              <a:blipFill>
                <a:blip r:embed="rId3"/>
                <a:stretch>
                  <a:fillRect b="-4082"/>
                </a:stretch>
              </a:blipFill>
            </p:spPr>
            <p:txBody>
              <a:bodyPr/>
              <a:lstStyle/>
              <a:p>
                <a:r>
                  <a:rPr lang="en-IL">
                    <a:noFill/>
                  </a:rPr>
                  <a:t> </a:t>
                </a:r>
              </a:p>
            </p:txBody>
          </p:sp>
        </mc:Fallback>
      </mc:AlternateContent>
    </p:spTree>
    <p:extLst>
      <p:ext uri="{BB962C8B-B14F-4D97-AF65-F5344CB8AC3E}">
        <p14:creationId xmlns:p14="http://schemas.microsoft.com/office/powerpoint/2010/main" val="173974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Mappers and Reducers</a:t>
            </a:r>
          </a:p>
        </p:txBody>
      </p:sp>
      <p:sp>
        <p:nvSpPr>
          <p:cNvPr id="3" name="Content Placeholder 2"/>
          <p:cNvSpPr>
            <a:spLocks noGrp="1"/>
          </p:cNvSpPr>
          <p:nvPr>
            <p:ph idx="1"/>
          </p:nvPr>
        </p:nvSpPr>
        <p:spPr/>
        <p:txBody>
          <a:bodyPr>
            <a:normAutofit/>
          </a:bodyPr>
          <a:lstStyle/>
          <a:p>
            <a:r>
              <a:rPr lang="en-US" dirty="0"/>
              <a:t>Need to handle</a:t>
            </a:r>
            <a:r>
              <a:rPr lang="en-US" dirty="0">
                <a:solidFill>
                  <a:srgbClr val="00B050"/>
                </a:solidFill>
              </a:rPr>
              <a:t> more data</a:t>
            </a:r>
            <a:r>
              <a:rPr lang="en-US" dirty="0"/>
              <a:t>? Just add </a:t>
            </a:r>
            <a:r>
              <a:rPr lang="en-US" dirty="0">
                <a:solidFill>
                  <a:srgbClr val="0000FF"/>
                </a:solidFill>
              </a:rPr>
              <a:t>more Mappers/Reducers</a:t>
            </a:r>
            <a:r>
              <a:rPr lang="en-US" dirty="0"/>
              <a:t>!</a:t>
            </a:r>
          </a:p>
          <a:p>
            <a:r>
              <a:rPr lang="en-US" dirty="0"/>
              <a:t>No need to handle </a:t>
            </a:r>
            <a:r>
              <a:rPr lang="en-US" dirty="0">
                <a:solidFill>
                  <a:srgbClr val="CC3300"/>
                </a:solidFill>
              </a:rPr>
              <a:t>multithreaded code </a:t>
            </a:r>
            <a:r>
              <a:rPr lang="en-US" dirty="0">
                <a:sym typeface="Wingdings" pitchFamily="2" charset="2"/>
              </a:rPr>
              <a:t></a:t>
            </a:r>
            <a:endParaRPr lang="en-US" dirty="0"/>
          </a:p>
          <a:p>
            <a:pPr lvl="1"/>
            <a:r>
              <a:rPr lang="en-US" dirty="0"/>
              <a:t>Mappers and Reducers are typically single threaded and </a:t>
            </a:r>
            <a:r>
              <a:rPr lang="en-US" dirty="0">
                <a:solidFill>
                  <a:srgbClr val="006600"/>
                </a:solidFill>
              </a:rPr>
              <a:t>deterministic</a:t>
            </a:r>
          </a:p>
          <a:p>
            <a:pPr lvl="2"/>
            <a:r>
              <a:rPr lang="en-US" dirty="0">
                <a:solidFill>
                  <a:srgbClr val="006600"/>
                </a:solidFill>
              </a:rPr>
              <a:t>Determinism</a:t>
            </a:r>
            <a:r>
              <a:rPr lang="en-US" dirty="0"/>
              <a:t> allows for </a:t>
            </a:r>
            <a:r>
              <a:rPr lang="en-US" dirty="0">
                <a:solidFill>
                  <a:srgbClr val="7030A0"/>
                </a:solidFill>
              </a:rPr>
              <a:t>restarting of failed jobs</a:t>
            </a:r>
          </a:p>
          <a:p>
            <a:pPr lvl="1"/>
            <a:r>
              <a:rPr lang="en-US" dirty="0"/>
              <a:t>Mappers/Reducers run </a:t>
            </a:r>
            <a:r>
              <a:rPr lang="en-US" dirty="0">
                <a:solidFill>
                  <a:srgbClr val="FF0000"/>
                </a:solidFill>
              </a:rPr>
              <a:t>entirely independent </a:t>
            </a:r>
            <a:r>
              <a:rPr lang="en-US" dirty="0"/>
              <a:t>of each other</a:t>
            </a:r>
          </a:p>
          <a:p>
            <a:pPr lvl="2"/>
            <a:r>
              <a:rPr lang="en-US" dirty="0"/>
              <a:t>In Hadoop, they run in </a:t>
            </a:r>
            <a:r>
              <a:rPr lang="en-US" dirty="0">
                <a:solidFill>
                  <a:srgbClr val="000066"/>
                </a:solidFill>
              </a:rPr>
              <a:t>separate JVMs</a:t>
            </a:r>
          </a:p>
          <a:p>
            <a:endParaRPr lang="en-US" dirty="0"/>
          </a:p>
        </p:txBody>
      </p:sp>
      <p:sp>
        <p:nvSpPr>
          <p:cNvPr id="4" name="Slide Number Placeholder 3"/>
          <p:cNvSpPr>
            <a:spLocks noGrp="1"/>
          </p:cNvSpPr>
          <p:nvPr>
            <p:ph type="sldNum" sz="quarter" idx="12"/>
          </p:nvPr>
        </p:nvSpPr>
        <p:spPr/>
        <p:txBody>
          <a:bodyPr/>
          <a:lstStyle/>
          <a:p>
            <a:fld id="{FB070496-1CF9-408E-B326-6CCA99B85165}" type="slidenum">
              <a:rPr lang="en-US" smtClean="0"/>
              <a:t>28</a:t>
            </a:fld>
            <a:endParaRPr lang="en-US"/>
          </a:p>
        </p:txBody>
      </p:sp>
      <p:sp>
        <p:nvSpPr>
          <p:cNvPr id="5" name="Footer Placeholder 4">
            <a:extLst>
              <a:ext uri="{FF2B5EF4-FFF2-40B4-BE49-F238E27FC236}">
                <a16:creationId xmlns:a16="http://schemas.microsoft.com/office/drawing/2014/main" id="{3BDAE89D-F871-EC4B-8C83-206E2C8864C3}"/>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7895528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BF07A-A6B2-4AA3-9FB3-FF93725B9B74}"/>
              </a:ext>
            </a:extLst>
          </p:cNvPr>
          <p:cNvSpPr>
            <a:spLocks noGrp="1"/>
          </p:cNvSpPr>
          <p:nvPr>
            <p:ph type="ctrTitle"/>
          </p:nvPr>
        </p:nvSpPr>
        <p:spPr>
          <a:xfrm>
            <a:off x="211666" y="1202003"/>
            <a:ext cx="11768667" cy="2602970"/>
          </a:xfrm>
        </p:spPr>
        <p:txBody>
          <a:bodyPr>
            <a:normAutofit/>
          </a:bodyPr>
          <a:lstStyle/>
          <a:p>
            <a:pPr algn="ctr" defTabSz="914400" rtl="0" eaLnBrk="1" latinLnBrk="0" hangingPunct="1">
              <a:lnSpc>
                <a:spcPct val="90000"/>
              </a:lnSpc>
              <a:spcBef>
                <a:spcPct val="0"/>
              </a:spcBef>
              <a:buNone/>
            </a:pPr>
            <a:r>
              <a:rPr lang="en-IL" sz="7200" u="sng" dirty="0">
                <a:cs typeface="+mn-cs"/>
              </a:rPr>
              <a:t>Cloud Based Data Engineering</a:t>
            </a:r>
          </a:p>
        </p:txBody>
      </p:sp>
      <p:sp>
        <p:nvSpPr>
          <p:cNvPr id="3" name="Subtitle 2">
            <a:extLst>
              <a:ext uri="{FF2B5EF4-FFF2-40B4-BE49-F238E27FC236}">
                <a16:creationId xmlns:a16="http://schemas.microsoft.com/office/drawing/2014/main" id="{E954BFDD-2D28-4F88-A89F-35EB6574CAC6}"/>
              </a:ext>
            </a:extLst>
          </p:cNvPr>
          <p:cNvSpPr>
            <a:spLocks noGrp="1"/>
          </p:cNvSpPr>
          <p:nvPr>
            <p:ph type="subTitle" idx="1"/>
          </p:nvPr>
        </p:nvSpPr>
        <p:spPr>
          <a:xfrm>
            <a:off x="1523999" y="3804973"/>
            <a:ext cx="9144000" cy="1655762"/>
          </a:xfrm>
        </p:spPr>
        <p:txBody>
          <a:bodyPr>
            <a:normAutofit/>
          </a:bodyPr>
          <a:lstStyle/>
          <a:p>
            <a:pPr marL="0" indent="0" algn="ctr" defTabSz="914400" rtl="1" eaLnBrk="1" latinLnBrk="0" hangingPunct="1">
              <a:lnSpc>
                <a:spcPct val="90000"/>
              </a:lnSpc>
              <a:spcBef>
                <a:spcPts val="1000"/>
              </a:spcBef>
              <a:buFont typeface="Arial" panose="020B0604020202020204" pitchFamily="34" charset="0"/>
              <a:buNone/>
            </a:pPr>
            <a:r>
              <a:rPr lang="en-US" sz="3600" dirty="0"/>
              <a:t>Lecture 5</a:t>
            </a:r>
            <a:endParaRPr lang="en-IL" sz="3600" dirty="0"/>
          </a:p>
        </p:txBody>
      </p:sp>
      <p:sp>
        <p:nvSpPr>
          <p:cNvPr id="4" name="Slide Number Placeholder 3">
            <a:extLst>
              <a:ext uri="{FF2B5EF4-FFF2-40B4-BE49-F238E27FC236}">
                <a16:creationId xmlns:a16="http://schemas.microsoft.com/office/drawing/2014/main" id="{CAD7C810-8880-4D05-860C-4E520C91B935}"/>
              </a:ext>
            </a:extLst>
          </p:cNvPr>
          <p:cNvSpPr>
            <a:spLocks noGrp="1"/>
          </p:cNvSpPr>
          <p:nvPr>
            <p:ph type="sldNum" sz="quarter" idx="12"/>
          </p:nvPr>
        </p:nvSpPr>
        <p:spPr/>
        <p:txBody>
          <a:bodyPr/>
          <a:lstStyle/>
          <a:p>
            <a:fld id="{B62643F8-DFCD-4B5F-9519-933435FA18FB}" type="slidenum">
              <a:rPr lang="en-IL" smtClean="0"/>
              <a:t>29</a:t>
            </a:fld>
            <a:endParaRPr lang="en-IL"/>
          </a:p>
        </p:txBody>
      </p:sp>
      <p:sp>
        <p:nvSpPr>
          <p:cNvPr id="5" name="Footer Placeholder 4">
            <a:extLst>
              <a:ext uri="{FF2B5EF4-FFF2-40B4-BE49-F238E27FC236}">
                <a16:creationId xmlns:a16="http://schemas.microsoft.com/office/drawing/2014/main" id="{B708135C-5A11-DB47-A5FC-BE38DE9D9770}"/>
              </a:ext>
            </a:extLst>
          </p:cNvPr>
          <p:cNvSpPr>
            <a:spLocks noGrp="1"/>
          </p:cNvSpPr>
          <p:nvPr>
            <p:ph type="ftr" sz="quarter" idx="11"/>
          </p:nvPr>
        </p:nvSpPr>
        <p:spPr/>
        <p:txBody>
          <a:bodyPr/>
          <a:lstStyle/>
          <a:p>
            <a:r>
              <a:rPr lang="en-US" dirty="0"/>
              <a:t>Or </a:t>
            </a:r>
            <a:r>
              <a:rPr lang="en-US" dirty="0" err="1"/>
              <a:t>Peretz</a:t>
            </a:r>
            <a:endParaRPr lang="en-US" dirty="0"/>
          </a:p>
        </p:txBody>
      </p:sp>
    </p:spTree>
    <p:extLst>
      <p:ext uri="{BB962C8B-B14F-4D97-AF65-F5344CB8AC3E}">
        <p14:creationId xmlns:p14="http://schemas.microsoft.com/office/powerpoint/2010/main" val="4042850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72533" y="235721"/>
            <a:ext cx="11616266" cy="6485754"/>
          </a:xfrm>
        </p:spPr>
        <p:txBody>
          <a:bodyPr>
            <a:normAutofit/>
          </a:bodyPr>
          <a:lstStyle/>
          <a:p>
            <a:pPr algn="ctr">
              <a:lnSpc>
                <a:spcPct val="150000"/>
              </a:lnSpc>
            </a:pPr>
            <a:r>
              <a:rPr lang="en-US" sz="3000" b="1" dirty="0"/>
              <a:t>Centralized DBMS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 name="Picture 2">
            <a:extLst>
              <a:ext uri="{FF2B5EF4-FFF2-40B4-BE49-F238E27FC236}">
                <a16:creationId xmlns:a16="http://schemas.microsoft.com/office/drawing/2014/main" id="{5504C5BF-76C2-F243-9265-638F6B34D860}"/>
              </a:ext>
            </a:extLst>
          </p:cNvPr>
          <p:cNvPicPr>
            <a:picLocks noChangeAspect="1"/>
          </p:cNvPicPr>
          <p:nvPr/>
        </p:nvPicPr>
        <p:blipFill>
          <a:blip r:embed="rId3"/>
          <a:stretch>
            <a:fillRect/>
          </a:stretch>
        </p:blipFill>
        <p:spPr>
          <a:xfrm>
            <a:off x="2079625" y="1157705"/>
            <a:ext cx="8299450" cy="4804945"/>
          </a:xfrm>
          <a:prstGeom prst="rect">
            <a:avLst/>
          </a:prstGeom>
        </p:spPr>
      </p:pic>
    </p:spTree>
    <p:extLst>
      <p:ext uri="{BB962C8B-B14F-4D97-AF65-F5344CB8AC3E}">
        <p14:creationId xmlns:p14="http://schemas.microsoft.com/office/powerpoint/2010/main" val="3378463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72533" y="235721"/>
            <a:ext cx="11616266" cy="6485754"/>
          </a:xfrm>
        </p:spPr>
        <p:txBody>
          <a:bodyPr>
            <a:normAutofit/>
          </a:bodyPr>
          <a:lstStyle/>
          <a:p>
            <a:pPr algn="ctr">
              <a:lnSpc>
                <a:spcPct val="150000"/>
              </a:lnSpc>
            </a:pPr>
            <a:r>
              <a:rPr lang="en-US" sz="3000" b="1" dirty="0"/>
              <a:t>Distributed DBMS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31</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080D2ACD-D7DA-C74C-8F0A-094D3B7D27EC}"/>
              </a:ext>
            </a:extLst>
          </p:cNvPr>
          <p:cNvSpPr txBox="1"/>
          <p:nvPr/>
        </p:nvSpPr>
        <p:spPr>
          <a:xfrm>
            <a:off x="1253067" y="973667"/>
            <a:ext cx="184731" cy="369332"/>
          </a:xfrm>
          <a:prstGeom prst="rect">
            <a:avLst/>
          </a:prstGeom>
          <a:noFill/>
        </p:spPr>
        <p:txBody>
          <a:bodyPr wrap="none" rtlCol="0">
            <a:spAutoFit/>
          </a:bodyPr>
          <a:lstStyle/>
          <a:p>
            <a:endParaRPr lang="en-IL" dirty="0"/>
          </a:p>
        </p:txBody>
      </p:sp>
      <p:pic>
        <p:nvPicPr>
          <p:cNvPr id="55" name="Picture 54">
            <a:extLst>
              <a:ext uri="{FF2B5EF4-FFF2-40B4-BE49-F238E27FC236}">
                <a16:creationId xmlns:a16="http://schemas.microsoft.com/office/drawing/2014/main" id="{07FCD6C9-B493-3348-B750-4FDA808324B3}"/>
              </a:ext>
            </a:extLst>
          </p:cNvPr>
          <p:cNvPicPr>
            <a:picLocks noChangeAspect="1"/>
          </p:cNvPicPr>
          <p:nvPr/>
        </p:nvPicPr>
        <p:blipFill>
          <a:blip r:embed="rId3"/>
          <a:stretch>
            <a:fillRect/>
          </a:stretch>
        </p:blipFill>
        <p:spPr>
          <a:xfrm>
            <a:off x="1853618" y="1265005"/>
            <a:ext cx="8206317" cy="4648962"/>
          </a:xfrm>
          <a:prstGeom prst="rect">
            <a:avLst/>
          </a:prstGeom>
        </p:spPr>
      </p:pic>
    </p:spTree>
    <p:extLst>
      <p:ext uri="{BB962C8B-B14F-4D97-AF65-F5344CB8AC3E}">
        <p14:creationId xmlns:p14="http://schemas.microsoft.com/office/powerpoint/2010/main" val="1276129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425458-3AC0-4977-A476-AD5A91A7871F}"/>
              </a:ext>
            </a:extLst>
          </p:cNvPr>
          <p:cNvSpPr txBox="1"/>
          <p:nvPr/>
        </p:nvSpPr>
        <p:spPr>
          <a:xfrm>
            <a:off x="719668" y="2675467"/>
            <a:ext cx="10430933" cy="863600"/>
          </a:xfrm>
          <a:prstGeom prst="rect">
            <a:avLst/>
          </a:prstGeom>
          <a:solidFill>
            <a:schemeClr val="accent2">
              <a:lumMod val="20000"/>
              <a:lumOff val="80000"/>
            </a:schemeClr>
          </a:solidFill>
        </p:spPr>
        <p:txBody>
          <a:bodyPr wrap="square" rtlCol="0">
            <a:spAutoFit/>
          </a:bodyPr>
          <a:lstStyle/>
          <a:p>
            <a:pPr marL="0" algn="l" defTabSz="914400" rtl="0" eaLnBrk="1" latinLnBrk="0" hangingPunct="1"/>
            <a:endParaRPr lang="en-US" sz="2400" dirty="0"/>
          </a:p>
        </p:txBody>
      </p:sp>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880533" y="1217854"/>
            <a:ext cx="10430933" cy="5805776"/>
          </a:xfrm>
        </p:spPr>
        <p:txBody>
          <a:bodyPr>
            <a:normAutofit/>
          </a:bodyPr>
          <a:lstStyle/>
          <a:p>
            <a:pPr algn="ctr">
              <a:lnSpc>
                <a:spcPct val="150000"/>
              </a:lnSpc>
            </a:pPr>
            <a:endParaRPr lang="en-US" sz="4800" dirty="0"/>
          </a:p>
          <a:p>
            <a:pPr algn="ctr">
              <a:lnSpc>
                <a:spcPct val="150000"/>
              </a:lnSpc>
            </a:pPr>
            <a:r>
              <a:rPr lang="en-US" sz="4800" dirty="0"/>
              <a:t>GFS</a:t>
            </a:r>
          </a:p>
          <a:p>
            <a:pPr>
              <a:lnSpc>
                <a:spcPct val="150000"/>
              </a:lnSpc>
            </a:pPr>
            <a:endParaRPr lang="en-US" dirty="0"/>
          </a:p>
          <a:p>
            <a:pPr marL="457200" indent="-457200">
              <a:lnSpc>
                <a:spcPct val="150000"/>
              </a:lnSpc>
              <a:buFontTx/>
              <a:buChar char="-"/>
            </a:pPr>
            <a:endParaRPr lang="en-US" dirty="0"/>
          </a:p>
          <a:p>
            <a:pPr marL="0" indent="0" algn="l" defTabSz="914400" eaLnBrk="1" latinLnBrk="0" hangingPunct="1">
              <a:lnSpc>
                <a:spcPct val="150000"/>
              </a:lnSpc>
              <a:spcBef>
                <a:spcPts val="1000"/>
              </a:spcBef>
              <a:buFont typeface="Arial" panose="020B0604020202020204" pitchFamily="34" charset="0"/>
              <a:buNone/>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32</a:t>
            </a:fld>
            <a:endParaRPr lang="en-IL" dirty="0"/>
          </a:p>
        </p:txBody>
      </p:sp>
      <p:sp>
        <p:nvSpPr>
          <p:cNvPr id="5" name="Footer Placeholder 4">
            <a:extLst>
              <a:ext uri="{FF2B5EF4-FFF2-40B4-BE49-F238E27FC236}">
                <a16:creationId xmlns:a16="http://schemas.microsoft.com/office/drawing/2014/main" id="{40803E65-83D3-354B-8CF1-A1C85FDB349A}"/>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678524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GFS – Google File System</a:t>
            </a:r>
          </a:p>
          <a:p>
            <a:pPr>
              <a:lnSpc>
                <a:spcPct val="150000"/>
              </a:lnSpc>
            </a:pPr>
            <a:r>
              <a:rPr lang="en-US" sz="2400" b="1" dirty="0"/>
              <a:t>Google File System</a:t>
            </a:r>
            <a:r>
              <a:rPr lang="en-US" sz="2400" dirty="0"/>
              <a:t> (</a:t>
            </a:r>
            <a:r>
              <a:rPr lang="en-US" sz="2400" b="1" dirty="0"/>
              <a:t>GFS</a:t>
            </a:r>
            <a:r>
              <a:rPr lang="en-US" sz="2400" dirty="0"/>
              <a:t>) is a distributed file system developed by Google.</a:t>
            </a:r>
          </a:p>
          <a:p>
            <a:pPr marL="342900" indent="-342900">
              <a:lnSpc>
                <a:spcPct val="150000"/>
              </a:lnSpc>
              <a:buFontTx/>
              <a:buChar char="-"/>
            </a:pPr>
            <a:r>
              <a:rPr lang="en-US" sz="2400" dirty="0"/>
              <a:t>A scalable distributed file system for large distributed data intensive applications</a:t>
            </a:r>
          </a:p>
          <a:p>
            <a:pPr marL="342900" indent="-342900">
              <a:lnSpc>
                <a:spcPct val="150000"/>
              </a:lnSpc>
              <a:buFontTx/>
              <a:buChar char="-"/>
            </a:pPr>
            <a:r>
              <a:rPr lang="en-US" sz="2400" dirty="0"/>
              <a:t>Designed for system-to-system interaction, and </a:t>
            </a:r>
            <a:r>
              <a:rPr lang="en-US" sz="2400" b="1" dirty="0"/>
              <a:t>not for </a:t>
            </a:r>
            <a:r>
              <a:rPr lang="en-US" sz="2400" dirty="0"/>
              <a:t>user-to-system interaction.</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1026" name="Picture 2" descr="12. The Google File System. The paper we will be studying today is… | by  Krisha Mehta | Medium">
            <a:extLst>
              <a:ext uri="{FF2B5EF4-FFF2-40B4-BE49-F238E27FC236}">
                <a16:creationId xmlns:a16="http://schemas.microsoft.com/office/drawing/2014/main" id="{15C31874-A276-FE4D-A324-1FC238A3DA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4070350"/>
            <a:ext cx="8077200" cy="1009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6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GFS – Key Observations</a:t>
            </a:r>
          </a:p>
          <a:p>
            <a:pPr>
              <a:lnSpc>
                <a:spcPct val="150000"/>
              </a:lnSpc>
            </a:pPr>
            <a:r>
              <a:rPr lang="en-US" sz="2400" b="1" dirty="0"/>
              <a:t>Component failures are the norm </a:t>
            </a:r>
            <a:r>
              <a:rPr lang="en-US" sz="2400" dirty="0"/>
              <a:t>- constant monitoring, error detection, fault tolerance</a:t>
            </a:r>
          </a:p>
          <a:p>
            <a:pPr>
              <a:lnSpc>
                <a:spcPct val="150000"/>
              </a:lnSpc>
            </a:pPr>
            <a:r>
              <a:rPr lang="en-US" sz="2400" b="1" dirty="0"/>
              <a:t>Huge files </a:t>
            </a:r>
            <a:r>
              <a:rPr lang="en-US" sz="2400" dirty="0"/>
              <a:t>- Multi GB files are common I/O operations </a:t>
            </a:r>
          </a:p>
          <a:p>
            <a:pPr>
              <a:lnSpc>
                <a:spcPct val="150000"/>
              </a:lnSpc>
            </a:pPr>
            <a:r>
              <a:rPr lang="en-US" sz="2400" b="1" dirty="0"/>
              <a:t>Files are mutated by appending new data </a:t>
            </a:r>
            <a:r>
              <a:rPr lang="en-US" sz="2400" dirty="0"/>
              <a:t>- focus of performance optimization </a:t>
            </a:r>
          </a:p>
          <a:p>
            <a:pPr>
              <a:lnSpc>
                <a:spcPct val="150000"/>
              </a:lnSpc>
            </a:pPr>
            <a:r>
              <a:rPr lang="en-US" sz="2400" b="1" dirty="0"/>
              <a:t>Co-designing</a:t>
            </a:r>
            <a:r>
              <a:rPr lang="en-US" sz="2400" dirty="0"/>
              <a:t> the applications and APIs benefits overall system by increasing flexibility</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53758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89466" y="235721"/>
            <a:ext cx="11616266" cy="6485754"/>
          </a:xfrm>
        </p:spPr>
        <p:txBody>
          <a:bodyPr>
            <a:normAutofit/>
          </a:bodyPr>
          <a:lstStyle/>
          <a:p>
            <a:pPr algn="ctr">
              <a:lnSpc>
                <a:spcPct val="150000"/>
              </a:lnSpc>
            </a:pPr>
            <a:r>
              <a:rPr lang="en-US" sz="3000" b="1" dirty="0"/>
              <a:t>GFS Architecture</a:t>
            </a:r>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1026" name="Picture 2">
            <a:extLst>
              <a:ext uri="{FF2B5EF4-FFF2-40B4-BE49-F238E27FC236}">
                <a16:creationId xmlns:a16="http://schemas.microsoft.com/office/drawing/2014/main" id="{59336E17-EA39-E347-B5D5-80501672B7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3409" y="1228234"/>
            <a:ext cx="8027458" cy="4766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2901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7061200" cy="6485754"/>
          </a:xfrm>
        </p:spPr>
        <p:txBody>
          <a:bodyPr>
            <a:normAutofit/>
          </a:bodyPr>
          <a:lstStyle/>
          <a:p>
            <a:pPr algn="ctr">
              <a:lnSpc>
                <a:spcPct val="150000"/>
              </a:lnSpc>
            </a:pPr>
            <a:r>
              <a:rPr lang="en-US" sz="3000" b="1" dirty="0"/>
              <a:t>The Master</a:t>
            </a:r>
          </a:p>
          <a:p>
            <a:pPr marL="342900" indent="-342900">
              <a:lnSpc>
                <a:spcPct val="150000"/>
              </a:lnSpc>
              <a:buFontTx/>
              <a:buChar char="-"/>
            </a:pPr>
            <a:r>
              <a:rPr lang="en-US" sz="2400" dirty="0"/>
              <a:t>Communicates with chunk-servers</a:t>
            </a:r>
          </a:p>
          <a:p>
            <a:pPr marL="342900" indent="-342900">
              <a:lnSpc>
                <a:spcPct val="150000"/>
              </a:lnSpc>
              <a:buFontTx/>
              <a:buChar char="-"/>
            </a:pPr>
            <a:r>
              <a:rPr lang="en-US" sz="2400" dirty="0"/>
              <a:t>Give instructions </a:t>
            </a:r>
          </a:p>
          <a:p>
            <a:pPr marL="342900" indent="-342900">
              <a:lnSpc>
                <a:spcPct val="150000"/>
              </a:lnSpc>
              <a:buFontTx/>
              <a:buChar char="-"/>
            </a:pPr>
            <a:r>
              <a:rPr lang="en-US" sz="2400" dirty="0"/>
              <a:t>Maintains all file system metadata</a:t>
            </a:r>
          </a:p>
          <a:p>
            <a:pPr marL="342900" indent="-342900">
              <a:lnSpc>
                <a:spcPct val="150000"/>
              </a:lnSpc>
              <a:buFontTx/>
              <a:buChar char="-"/>
            </a:pPr>
            <a:r>
              <a:rPr lang="en-US" sz="2400" dirty="0"/>
              <a:t>Helps make sophisticated chunk placement and replication decision</a:t>
            </a:r>
          </a:p>
          <a:p>
            <a:pPr marL="342900" indent="-342900">
              <a:lnSpc>
                <a:spcPct val="150000"/>
              </a:lnSpc>
              <a:buFontTx/>
              <a:buChar char="-"/>
            </a:pPr>
            <a:r>
              <a:rPr lang="en-US" sz="2400" i="1" dirty="0"/>
              <a:t>For reading and writing, client contacts Master to get chunk locations, then deals directly with </a:t>
            </a:r>
            <a:r>
              <a:rPr lang="en-US" sz="2400" i="1" dirty="0" err="1"/>
              <a:t>chunkservers</a:t>
            </a:r>
            <a:endParaRPr lang="en-US" sz="2400" i="1" dirty="0"/>
          </a:p>
          <a:p>
            <a:pPr marL="342900" indent="-342900">
              <a:lnSpc>
                <a:spcPct val="150000"/>
              </a:lnSpc>
              <a:buFontTx/>
              <a:buChar char="-"/>
            </a:pPr>
            <a:endParaRPr lang="en-US" sz="2400" dirty="0"/>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1026" name="Picture 2">
            <a:extLst>
              <a:ext uri="{FF2B5EF4-FFF2-40B4-BE49-F238E27FC236}">
                <a16:creationId xmlns:a16="http://schemas.microsoft.com/office/drawing/2014/main" id="{59336E17-EA39-E347-B5D5-80501672B7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0778" y="1734320"/>
            <a:ext cx="4993289" cy="29646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2123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5" end="5"/>
                                            </p:txEl>
                                          </p:spTgt>
                                        </p:tgtEl>
                                        <p:attrNameLst>
                                          <p:attrName>style.visibility</p:attrName>
                                        </p:attrNameLst>
                                      </p:cBhvr>
                                      <p:to>
                                        <p:strVal val="visible"/>
                                      </p:to>
                                    </p:set>
                                    <p:anim calcmode="lin" valueType="num">
                                      <p:cBhvr additive="base">
                                        <p:cTn id="37"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7061200" cy="6485754"/>
          </a:xfrm>
        </p:spPr>
        <p:txBody>
          <a:bodyPr>
            <a:normAutofit/>
          </a:bodyPr>
          <a:lstStyle/>
          <a:p>
            <a:pPr algn="ctr">
              <a:lnSpc>
                <a:spcPct val="150000"/>
              </a:lnSpc>
            </a:pPr>
            <a:r>
              <a:rPr lang="en-US" sz="3000" b="1" dirty="0" err="1"/>
              <a:t>Chunkservers</a:t>
            </a:r>
            <a:endParaRPr lang="en-US" sz="3000" b="1" dirty="0"/>
          </a:p>
          <a:p>
            <a:pPr marL="342900" indent="-342900">
              <a:lnSpc>
                <a:spcPct val="150000"/>
              </a:lnSpc>
              <a:buFontTx/>
              <a:buChar char="-"/>
            </a:pPr>
            <a:r>
              <a:rPr lang="en-US" sz="2400" dirty="0"/>
              <a:t>Files are broken into chunks. </a:t>
            </a:r>
          </a:p>
          <a:p>
            <a:pPr marL="342900" indent="-342900">
              <a:lnSpc>
                <a:spcPct val="150000"/>
              </a:lnSpc>
              <a:buFontTx/>
              <a:buChar char="-"/>
            </a:pPr>
            <a:r>
              <a:rPr lang="en-US" sz="2400" dirty="0"/>
              <a:t>Chunk size is 64 MB</a:t>
            </a:r>
          </a:p>
          <a:p>
            <a:pPr marL="342900" indent="-342900">
              <a:lnSpc>
                <a:spcPct val="150000"/>
              </a:lnSpc>
              <a:buFontTx/>
              <a:buChar char="-"/>
            </a:pPr>
            <a:r>
              <a:rPr lang="en-US" sz="2400" dirty="0"/>
              <a:t>Each chunk is replicated on 3 (default) servers</a:t>
            </a:r>
          </a:p>
          <a:p>
            <a:pPr>
              <a:lnSpc>
                <a:spcPct val="150000"/>
              </a:lnSpc>
            </a:pPr>
            <a:endParaRPr lang="en-US" sz="2400" dirty="0"/>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1026" name="Picture 2">
            <a:extLst>
              <a:ext uri="{FF2B5EF4-FFF2-40B4-BE49-F238E27FC236}">
                <a16:creationId xmlns:a16="http://schemas.microsoft.com/office/drawing/2014/main" id="{59336E17-EA39-E347-B5D5-80501672B7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0778" y="1734320"/>
            <a:ext cx="4993289" cy="29646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8651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425458-3AC0-4977-A476-AD5A91A7871F}"/>
              </a:ext>
            </a:extLst>
          </p:cNvPr>
          <p:cNvSpPr txBox="1"/>
          <p:nvPr/>
        </p:nvSpPr>
        <p:spPr>
          <a:xfrm>
            <a:off x="719668" y="2675467"/>
            <a:ext cx="10430933" cy="863600"/>
          </a:xfrm>
          <a:prstGeom prst="rect">
            <a:avLst/>
          </a:prstGeom>
          <a:solidFill>
            <a:schemeClr val="accent2">
              <a:lumMod val="20000"/>
              <a:lumOff val="80000"/>
            </a:schemeClr>
          </a:solidFill>
        </p:spPr>
        <p:txBody>
          <a:bodyPr wrap="square" rtlCol="0">
            <a:spAutoFit/>
          </a:bodyPr>
          <a:lstStyle/>
          <a:p>
            <a:pPr marL="0" algn="l" defTabSz="914400" rtl="0" eaLnBrk="1" latinLnBrk="0" hangingPunct="1"/>
            <a:endParaRPr lang="en-US" sz="2400" dirty="0"/>
          </a:p>
        </p:txBody>
      </p:sp>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880533" y="1217854"/>
            <a:ext cx="10430933" cy="5805776"/>
          </a:xfrm>
        </p:spPr>
        <p:txBody>
          <a:bodyPr>
            <a:normAutofit/>
          </a:bodyPr>
          <a:lstStyle/>
          <a:p>
            <a:pPr algn="ctr">
              <a:lnSpc>
                <a:spcPct val="150000"/>
              </a:lnSpc>
            </a:pPr>
            <a:endParaRPr lang="en-US" sz="4800" dirty="0"/>
          </a:p>
          <a:p>
            <a:pPr algn="ctr">
              <a:lnSpc>
                <a:spcPct val="150000"/>
              </a:lnSpc>
            </a:pPr>
            <a:r>
              <a:rPr lang="en-US" sz="4800" dirty="0"/>
              <a:t>Yarn</a:t>
            </a:r>
          </a:p>
          <a:p>
            <a:pPr>
              <a:lnSpc>
                <a:spcPct val="150000"/>
              </a:lnSpc>
            </a:pPr>
            <a:endParaRPr lang="en-US" dirty="0"/>
          </a:p>
          <a:p>
            <a:pPr marL="457200" indent="-457200">
              <a:lnSpc>
                <a:spcPct val="150000"/>
              </a:lnSpc>
              <a:buFontTx/>
              <a:buChar char="-"/>
            </a:pPr>
            <a:endParaRPr lang="en-US" dirty="0"/>
          </a:p>
          <a:p>
            <a:pPr marL="0" indent="0" algn="l" defTabSz="914400" eaLnBrk="1" latinLnBrk="0" hangingPunct="1">
              <a:lnSpc>
                <a:spcPct val="150000"/>
              </a:lnSpc>
              <a:spcBef>
                <a:spcPts val="1000"/>
              </a:spcBef>
              <a:buFont typeface="Arial" panose="020B0604020202020204" pitchFamily="34" charset="0"/>
              <a:buNone/>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38</a:t>
            </a:fld>
            <a:endParaRPr lang="en-IL" dirty="0"/>
          </a:p>
        </p:txBody>
      </p:sp>
      <p:sp>
        <p:nvSpPr>
          <p:cNvPr id="5" name="Footer Placeholder 4">
            <a:extLst>
              <a:ext uri="{FF2B5EF4-FFF2-40B4-BE49-F238E27FC236}">
                <a16:creationId xmlns:a16="http://schemas.microsoft.com/office/drawing/2014/main" id="{40803E65-83D3-354B-8CF1-A1C85FDB349A}"/>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2742693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11667" y="144991"/>
            <a:ext cx="11624733" cy="6349229"/>
          </a:xfrm>
        </p:spPr>
        <p:txBody>
          <a:bodyPr>
            <a:normAutofit/>
          </a:bodyPr>
          <a:lstStyle/>
          <a:p>
            <a:pPr algn="ctr">
              <a:lnSpc>
                <a:spcPct val="150000"/>
              </a:lnSpc>
            </a:pPr>
            <a:r>
              <a:rPr lang="en-US" sz="3200" b="1" dirty="0"/>
              <a:t>What is YARN?</a:t>
            </a:r>
          </a:p>
          <a:p>
            <a:pPr marL="457200" indent="-457200">
              <a:lnSpc>
                <a:spcPct val="150000"/>
              </a:lnSpc>
              <a:buFontTx/>
              <a:buChar char="-"/>
            </a:pPr>
            <a:r>
              <a:rPr lang="en-US" sz="2400" dirty="0"/>
              <a:t>Resource Manager takes programming </a:t>
            </a:r>
          </a:p>
          <a:p>
            <a:pPr marL="457200" indent="-457200">
              <a:lnSpc>
                <a:spcPct val="150000"/>
              </a:lnSpc>
              <a:buFontTx/>
              <a:buChar char="-"/>
            </a:pPr>
            <a:r>
              <a:rPr lang="en-US" sz="2400" dirty="0"/>
              <a:t>Makes it easy to interact to another application </a:t>
            </a:r>
            <a:r>
              <a:rPr lang="en-US" sz="2400" dirty="0" err="1"/>
              <a:t>Hbase</a:t>
            </a:r>
            <a:r>
              <a:rPr lang="en-US" sz="2400" dirty="0"/>
              <a:t>, Spark etc.</a:t>
            </a:r>
          </a:p>
          <a:p>
            <a:pPr marL="457200" indent="-457200">
              <a:lnSpc>
                <a:spcPct val="150000"/>
              </a:lnSpc>
              <a:buFontTx/>
              <a:buChar char="-"/>
            </a:pPr>
            <a:r>
              <a:rPr lang="en-US" sz="2400" dirty="0"/>
              <a:t>Different Yarn applications can co-exist on the same cluster so MapReduce, </a:t>
            </a:r>
            <a:r>
              <a:rPr lang="en-US" sz="2400" dirty="0" err="1"/>
              <a:t>Hbase</a:t>
            </a:r>
            <a:r>
              <a:rPr lang="en-US" sz="2400" dirty="0"/>
              <a:t>, Spark all can run at the same time bringing great benefits for manageability and cluster utilization.</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1571801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0"/>
            <a:ext cx="11616266" cy="6485754"/>
          </a:xfrm>
        </p:spPr>
        <p:txBody>
          <a:bodyPr>
            <a:normAutofit/>
          </a:bodyPr>
          <a:lstStyle/>
          <a:p>
            <a:pPr algn="ctr">
              <a:lnSpc>
                <a:spcPct val="150000"/>
              </a:lnSpc>
            </a:pPr>
            <a:r>
              <a:rPr lang="en-US" sz="3200" b="1" dirty="0"/>
              <a:t>Components of YARN</a:t>
            </a:r>
          </a:p>
          <a:p>
            <a:pPr marL="457200" indent="-457200">
              <a:lnSpc>
                <a:spcPct val="150000"/>
              </a:lnSpc>
              <a:buAutoNum type="arabicPeriod"/>
            </a:pPr>
            <a:r>
              <a:rPr lang="en-US" sz="2400" b="1" dirty="0"/>
              <a:t>Client:</a:t>
            </a:r>
            <a:r>
              <a:rPr lang="en-US" sz="2400" dirty="0"/>
              <a:t> submitting MapReduce jobs.</a:t>
            </a:r>
          </a:p>
          <a:p>
            <a:pPr marL="457200" indent="-457200">
              <a:lnSpc>
                <a:spcPct val="150000"/>
              </a:lnSpc>
              <a:buAutoNum type="arabicPeriod"/>
            </a:pPr>
            <a:r>
              <a:rPr lang="en-US" sz="2400" b="1" dirty="0"/>
              <a:t>Resource Manager: </a:t>
            </a:r>
            <a:r>
              <a:rPr lang="en-US" sz="2400" dirty="0"/>
              <a:t>manage the use of resources across the cluster</a:t>
            </a:r>
          </a:p>
          <a:p>
            <a:pPr marL="457200" indent="-457200">
              <a:lnSpc>
                <a:spcPct val="150000"/>
              </a:lnSpc>
              <a:buAutoNum type="arabicPeriod"/>
            </a:pPr>
            <a:r>
              <a:rPr lang="en-US" sz="2400" b="1" dirty="0"/>
              <a:t>Node Manager:</a:t>
            </a:r>
            <a:r>
              <a:rPr lang="en-US" sz="2400" dirty="0"/>
              <a:t> launching and monitoring the computer containers on machines in the cluster.</a:t>
            </a:r>
          </a:p>
          <a:p>
            <a:pPr marL="457200" indent="-457200">
              <a:lnSpc>
                <a:spcPct val="150000"/>
              </a:lnSpc>
              <a:buAutoNum type="arabicPeriod"/>
            </a:pPr>
            <a:r>
              <a:rPr lang="en-US" sz="2400" b="1" dirty="0"/>
              <a:t>Map Reduce Application Master: </a:t>
            </a:r>
            <a:r>
              <a:rPr lang="en-US" sz="2400" dirty="0"/>
              <a:t>checks tasks running the MapReduce job. </a:t>
            </a:r>
            <a:br>
              <a:rPr lang="en-US" sz="2400" dirty="0"/>
            </a:br>
            <a:r>
              <a:rPr lang="en-US" sz="2400" dirty="0"/>
              <a:t>The application master and the MapReduce tasks run in containers that are scheduled by the resource manager</a:t>
            </a:r>
            <a:r>
              <a:rPr lang="en-US" dirty="0"/>
              <a:t>.</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1571008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425458-3AC0-4977-A476-AD5A91A7871F}"/>
              </a:ext>
            </a:extLst>
          </p:cNvPr>
          <p:cNvSpPr txBox="1"/>
          <p:nvPr/>
        </p:nvSpPr>
        <p:spPr>
          <a:xfrm>
            <a:off x="719668" y="2675467"/>
            <a:ext cx="10430933" cy="863600"/>
          </a:xfrm>
          <a:prstGeom prst="rect">
            <a:avLst/>
          </a:prstGeom>
          <a:solidFill>
            <a:schemeClr val="accent2">
              <a:lumMod val="20000"/>
              <a:lumOff val="80000"/>
            </a:schemeClr>
          </a:solidFill>
        </p:spPr>
        <p:txBody>
          <a:bodyPr wrap="square" rtlCol="0">
            <a:spAutoFit/>
          </a:bodyPr>
          <a:lstStyle/>
          <a:p>
            <a:pPr marL="0" algn="l" defTabSz="914400" rtl="0" eaLnBrk="1" latinLnBrk="0" hangingPunct="1"/>
            <a:endParaRPr lang="en-US" sz="2400" dirty="0"/>
          </a:p>
        </p:txBody>
      </p:sp>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880533" y="1217854"/>
            <a:ext cx="10430933" cy="5805776"/>
          </a:xfrm>
        </p:spPr>
        <p:txBody>
          <a:bodyPr>
            <a:normAutofit/>
          </a:bodyPr>
          <a:lstStyle/>
          <a:p>
            <a:pPr algn="ctr">
              <a:lnSpc>
                <a:spcPct val="150000"/>
              </a:lnSpc>
            </a:pPr>
            <a:endParaRPr lang="en-US" sz="4800" dirty="0"/>
          </a:p>
          <a:p>
            <a:pPr algn="ctr">
              <a:lnSpc>
                <a:spcPct val="150000"/>
              </a:lnSpc>
            </a:pPr>
            <a:r>
              <a:rPr lang="en-US" sz="4800" dirty="0"/>
              <a:t>Hadoop</a:t>
            </a:r>
          </a:p>
          <a:p>
            <a:pPr>
              <a:lnSpc>
                <a:spcPct val="150000"/>
              </a:lnSpc>
            </a:pPr>
            <a:endParaRPr lang="en-US" dirty="0"/>
          </a:p>
          <a:p>
            <a:pPr marL="457200" indent="-457200">
              <a:lnSpc>
                <a:spcPct val="150000"/>
              </a:lnSpc>
              <a:buFontTx/>
              <a:buChar char="-"/>
            </a:pPr>
            <a:endParaRPr lang="en-US" dirty="0"/>
          </a:p>
          <a:p>
            <a:pPr marL="0" indent="0" algn="l" defTabSz="914400" eaLnBrk="1" latinLnBrk="0" hangingPunct="1">
              <a:lnSpc>
                <a:spcPct val="150000"/>
              </a:lnSpc>
              <a:spcBef>
                <a:spcPts val="1000"/>
              </a:spcBef>
              <a:buFont typeface="Arial" panose="020B0604020202020204" pitchFamily="34" charset="0"/>
              <a:buNone/>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41</a:t>
            </a:fld>
            <a:endParaRPr lang="en-IL" dirty="0"/>
          </a:p>
        </p:txBody>
      </p:sp>
      <p:sp>
        <p:nvSpPr>
          <p:cNvPr id="5" name="Footer Placeholder 4">
            <a:extLst>
              <a:ext uri="{FF2B5EF4-FFF2-40B4-BE49-F238E27FC236}">
                <a16:creationId xmlns:a16="http://schemas.microsoft.com/office/drawing/2014/main" id="{40803E65-83D3-354B-8CF1-A1C85FDB349A}"/>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29689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0"/>
            <a:ext cx="11616266" cy="6485754"/>
          </a:xfrm>
        </p:spPr>
        <p:txBody>
          <a:bodyPr>
            <a:normAutofit/>
          </a:bodyPr>
          <a:lstStyle/>
          <a:p>
            <a:pPr algn="ctr">
              <a:lnSpc>
                <a:spcPct val="150000"/>
              </a:lnSpc>
            </a:pPr>
            <a:r>
              <a:rPr lang="en-US" sz="3200" b="1" dirty="0"/>
              <a:t>HADOOP</a:t>
            </a:r>
          </a:p>
          <a:p>
            <a:pPr marL="342900" indent="-342900">
              <a:lnSpc>
                <a:spcPct val="150000"/>
              </a:lnSpc>
              <a:buFontTx/>
              <a:buChar char="-"/>
            </a:pPr>
            <a:r>
              <a:rPr lang="en-US" sz="2400" b="1" dirty="0"/>
              <a:t>Hadoop</a:t>
            </a:r>
            <a:r>
              <a:rPr lang="en-US" sz="2400" dirty="0"/>
              <a:t> runs applications using the MapReduce algorithm, </a:t>
            </a:r>
            <a:br>
              <a:rPr lang="en-US" sz="2400" dirty="0"/>
            </a:br>
            <a:r>
              <a:rPr lang="en-US" sz="2400" dirty="0"/>
              <a:t>where the data is processed in parallel with others. </a:t>
            </a:r>
          </a:p>
          <a:p>
            <a:pPr marL="342900" indent="-342900">
              <a:lnSpc>
                <a:spcPct val="150000"/>
              </a:lnSpc>
              <a:buFontTx/>
              <a:buChar char="-"/>
            </a:pPr>
            <a:r>
              <a:rPr lang="en-US" sz="2400" b="1" dirty="0"/>
              <a:t>Hadoop</a:t>
            </a:r>
            <a:r>
              <a:rPr lang="en-US" sz="2400" dirty="0"/>
              <a:t> is used to develop applications that could perform complete statistical analysis on huge amounts of data.</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1026" name="Picture 2" descr="Why the world&amp;#39;s largest Hadoop installation may soon become the norm -  TechRepublic">
            <a:extLst>
              <a:ext uri="{FF2B5EF4-FFF2-40B4-BE49-F238E27FC236}">
                <a16:creationId xmlns:a16="http://schemas.microsoft.com/office/drawing/2014/main" id="{D2F53573-4B3D-E348-B449-94E684E156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4902" y="3649420"/>
            <a:ext cx="3062196" cy="23960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405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HADOOP</a:t>
            </a:r>
          </a:p>
          <a:p>
            <a:pPr marL="457200" indent="-457200">
              <a:lnSpc>
                <a:spcPct val="150000"/>
              </a:lnSpc>
              <a:buFontTx/>
              <a:buChar char="-"/>
            </a:pPr>
            <a:r>
              <a:rPr lang="en-US" sz="2400" dirty="0"/>
              <a:t>Allows distributed processing of large datasets across clusters of computers</a:t>
            </a:r>
          </a:p>
          <a:p>
            <a:pPr marL="457200" indent="-457200">
              <a:lnSpc>
                <a:spcPct val="150000"/>
              </a:lnSpc>
              <a:buFontTx/>
              <a:buChar char="-"/>
            </a:pPr>
            <a:r>
              <a:rPr lang="en-US" sz="2400" dirty="0"/>
              <a:t>Hadoop is designed to scale up from </a:t>
            </a:r>
            <a:r>
              <a:rPr lang="en-US" sz="2400" b="1" dirty="0"/>
              <a:t>single server </a:t>
            </a:r>
            <a:r>
              <a:rPr lang="en-US" sz="2400" dirty="0"/>
              <a:t>to </a:t>
            </a:r>
            <a:r>
              <a:rPr lang="en-US" sz="2400" b="1" dirty="0"/>
              <a:t>thousands of machines</a:t>
            </a:r>
          </a:p>
          <a:p>
            <a:pPr marL="457200" indent="-457200">
              <a:lnSpc>
                <a:spcPct val="150000"/>
              </a:lnSpc>
              <a:buFontTx/>
              <a:buChar char="-"/>
            </a:pPr>
            <a:r>
              <a:rPr lang="en-US" sz="2400" dirty="0"/>
              <a:t>It provides a distributed file system (</a:t>
            </a:r>
            <a:r>
              <a:rPr lang="en-US" sz="2400" b="1" dirty="0"/>
              <a:t>HDFS</a:t>
            </a:r>
            <a:r>
              <a:rPr lang="en-US" sz="2400" dirty="0"/>
              <a:t>) that stores data on the compute nodes, providing very high aggregate bandwidth across the cluster.</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197092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E90DF4DB-63FA-DE48-8890-E23FF69A8AF9}"/>
              </a:ext>
            </a:extLst>
          </p:cNvPr>
          <p:cNvSpPr>
            <a:spLocks noGrp="1" noChangeArrowheads="1"/>
          </p:cNvSpPr>
          <p:nvPr>
            <p:ph type="title"/>
          </p:nvPr>
        </p:nvSpPr>
        <p:spPr>
          <a:xfrm>
            <a:off x="838200" y="0"/>
            <a:ext cx="10515600" cy="1325563"/>
          </a:xfrm>
        </p:spPr>
        <p:txBody>
          <a:bodyPr>
            <a:normAutofit/>
          </a:bodyPr>
          <a:lstStyle/>
          <a:p>
            <a:pPr algn="ctr">
              <a:lnSpc>
                <a:spcPct val="150000"/>
              </a:lnSpc>
              <a:spcBef>
                <a:spcPts val="1000"/>
              </a:spcBef>
            </a:pPr>
            <a:r>
              <a:rPr lang="en-US" altLang="en-IL" sz="3200" dirty="0">
                <a:latin typeface="+mn-lt"/>
                <a:ea typeface="+mn-ea"/>
                <a:cs typeface="+mn-cs"/>
              </a:rPr>
              <a:t>Hadoop - Why ?</a:t>
            </a:r>
          </a:p>
        </p:txBody>
      </p:sp>
      <p:sp>
        <p:nvSpPr>
          <p:cNvPr id="7171" name="Rectangle 3">
            <a:extLst>
              <a:ext uri="{FF2B5EF4-FFF2-40B4-BE49-F238E27FC236}">
                <a16:creationId xmlns:a16="http://schemas.microsoft.com/office/drawing/2014/main" id="{37BC5D3B-02FC-C044-8881-A4B2A07A05C0}"/>
              </a:ext>
            </a:extLst>
          </p:cNvPr>
          <p:cNvSpPr>
            <a:spLocks noGrp="1" noChangeArrowheads="1"/>
          </p:cNvSpPr>
          <p:nvPr>
            <p:ph type="body" idx="1"/>
          </p:nvPr>
        </p:nvSpPr>
        <p:spPr>
          <a:xfrm>
            <a:off x="592667" y="1244600"/>
            <a:ext cx="10515600" cy="4758267"/>
          </a:xfrm>
        </p:spPr>
        <p:txBody>
          <a:bodyPr>
            <a:normAutofit fontScale="85000" lnSpcReduction="20000"/>
          </a:bodyPr>
          <a:lstStyle/>
          <a:p>
            <a:pPr eaLnBrk="1" hangingPunct="1"/>
            <a:r>
              <a:rPr lang="en-US" altLang="en-IL" dirty="0"/>
              <a:t>Need to process huge datasets on large clusters of computers</a:t>
            </a:r>
          </a:p>
          <a:p>
            <a:pPr eaLnBrk="1" hangingPunct="1"/>
            <a:r>
              <a:rPr lang="en-US" altLang="en-IL" dirty="0"/>
              <a:t>Very expensive to build reliability into each application</a:t>
            </a:r>
          </a:p>
          <a:p>
            <a:pPr eaLnBrk="1" hangingPunct="1"/>
            <a:r>
              <a:rPr lang="en-US" altLang="en-IL" dirty="0"/>
              <a:t>Nodes fail every day</a:t>
            </a:r>
          </a:p>
          <a:p>
            <a:pPr lvl="1" eaLnBrk="1" hangingPunct="1"/>
            <a:r>
              <a:rPr lang="en-US" altLang="en-IL" dirty="0"/>
              <a:t>Failure is expected, rather than exceptional</a:t>
            </a:r>
          </a:p>
          <a:p>
            <a:pPr lvl="1" eaLnBrk="1" hangingPunct="1"/>
            <a:r>
              <a:rPr lang="en-US" altLang="en-IL" dirty="0"/>
              <a:t>The number of nodes in a cluster is not constant</a:t>
            </a:r>
          </a:p>
          <a:p>
            <a:pPr eaLnBrk="1" hangingPunct="1"/>
            <a:r>
              <a:rPr lang="en-US" altLang="en-IL" dirty="0"/>
              <a:t>Need a common infrastructure</a:t>
            </a:r>
          </a:p>
          <a:p>
            <a:pPr lvl="1" eaLnBrk="1" hangingPunct="1"/>
            <a:r>
              <a:rPr lang="en-US" altLang="en-IL" dirty="0"/>
              <a:t>Efficient, reliable, easy to use</a:t>
            </a:r>
          </a:p>
          <a:p>
            <a:pPr lvl="1" eaLnBrk="1" hangingPunct="1"/>
            <a:r>
              <a:rPr lang="en-US" altLang="en-IL" dirty="0"/>
              <a:t>Open Source, Apache </a:t>
            </a:r>
            <a:r>
              <a:rPr lang="en-US" altLang="en-IL" dirty="0" err="1"/>
              <a:t>Licence</a:t>
            </a:r>
            <a:endParaRPr lang="en-US" altLang="en-IL" dirty="0"/>
          </a:p>
        </p:txBody>
      </p:sp>
    </p:spTree>
    <p:extLst>
      <p:ext uri="{BB962C8B-B14F-4D97-AF65-F5344CB8AC3E}">
        <p14:creationId xmlns:p14="http://schemas.microsoft.com/office/powerpoint/2010/main" val="31239031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HADOOP Architecture</a:t>
            </a:r>
          </a:p>
          <a:p>
            <a:pPr>
              <a:lnSpc>
                <a:spcPct val="150000"/>
              </a:lnSpc>
            </a:pPr>
            <a:r>
              <a:rPr lang="en-US" sz="2400" dirty="0"/>
              <a:t>Hadoop has two major layers:</a:t>
            </a:r>
          </a:p>
          <a:p>
            <a:pPr marL="514350" indent="-514350">
              <a:lnSpc>
                <a:spcPct val="150000"/>
              </a:lnSpc>
              <a:buAutoNum type="arabicPeriod"/>
            </a:pPr>
            <a:r>
              <a:rPr lang="en-US" sz="2400" dirty="0"/>
              <a:t>Processing/Computation layer (MapReduce)</a:t>
            </a:r>
          </a:p>
          <a:p>
            <a:pPr marL="457200" indent="-457200">
              <a:lnSpc>
                <a:spcPct val="150000"/>
              </a:lnSpc>
              <a:buAutoNum type="arabicPeriod"/>
            </a:pPr>
            <a:r>
              <a:rPr lang="en-US" sz="2400" dirty="0"/>
              <a:t>Storage layer (Hadoop Distributed File System</a:t>
            </a:r>
            <a:r>
              <a:rPr lang="he-IL" sz="2400" dirty="0"/>
              <a:t> </a:t>
            </a:r>
            <a:r>
              <a:rPr lang="en-US" sz="2400" dirty="0"/>
              <a:t>- HDFS)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 name="Picture 2">
            <a:extLst>
              <a:ext uri="{FF2B5EF4-FFF2-40B4-BE49-F238E27FC236}">
                <a16:creationId xmlns:a16="http://schemas.microsoft.com/office/drawing/2014/main" id="{8C8F3573-778C-1D44-B613-A9A025D68C16}"/>
              </a:ext>
            </a:extLst>
          </p:cNvPr>
          <p:cNvPicPr>
            <a:picLocks noChangeAspect="1"/>
          </p:cNvPicPr>
          <p:nvPr/>
        </p:nvPicPr>
        <p:blipFill>
          <a:blip r:embed="rId3"/>
          <a:stretch>
            <a:fillRect/>
          </a:stretch>
        </p:blipFill>
        <p:spPr>
          <a:xfrm>
            <a:off x="8034867" y="2260599"/>
            <a:ext cx="3243545" cy="3685117"/>
          </a:xfrm>
          <a:prstGeom prst="rect">
            <a:avLst/>
          </a:prstGeom>
        </p:spPr>
      </p:pic>
    </p:spTree>
    <p:extLst>
      <p:ext uri="{BB962C8B-B14F-4D97-AF65-F5344CB8AC3E}">
        <p14:creationId xmlns:p14="http://schemas.microsoft.com/office/powerpoint/2010/main" val="3489123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HDFS</a:t>
            </a:r>
          </a:p>
          <a:p>
            <a:pPr>
              <a:lnSpc>
                <a:spcPct val="150000"/>
              </a:lnSpc>
            </a:pPr>
            <a:r>
              <a:rPr lang="en-US" sz="2400" dirty="0"/>
              <a:t>The Hadoop Distributed File System (HDFS) is based on the Google File System (GFS) and provides a distributed file system that is designed to run on commodity hardware. It has many similarities with existing distributed file systems. </a:t>
            </a:r>
            <a:endParaRPr lang="he-IL" sz="2400" dirty="0"/>
          </a:p>
          <a:p>
            <a:endParaRPr lang="en-US"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2050" name="Picture 2" descr="The overview of the Hadoop Distributed File System (HDFS). | Download  Scientific Diagram">
            <a:extLst>
              <a:ext uri="{FF2B5EF4-FFF2-40B4-BE49-F238E27FC236}">
                <a16:creationId xmlns:a16="http://schemas.microsoft.com/office/drawing/2014/main" id="{D3B7982F-37F3-4548-82E5-6E979426D9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33233" y="3335867"/>
            <a:ext cx="5028026" cy="26500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8131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HDFS</a:t>
            </a:r>
          </a:p>
          <a:p>
            <a:pPr>
              <a:lnSpc>
                <a:spcPct val="150000"/>
              </a:lnSpc>
            </a:pPr>
            <a:r>
              <a:rPr lang="en-US" sz="2400" dirty="0"/>
              <a:t>The differences from other distributed file systems are </a:t>
            </a:r>
            <a:r>
              <a:rPr lang="en-US" sz="2400" b="1" u="sng" dirty="0"/>
              <a:t>significant</a:t>
            </a:r>
            <a:r>
              <a:rPr lang="en-US" sz="2400" dirty="0"/>
              <a:t>. It is highly fault-tolerant and is designed to be deployed on low-cost hardware. It is suitable for applications having large datasets.</a:t>
            </a:r>
          </a:p>
          <a:p>
            <a:pPr algn="ctr">
              <a:lnSpc>
                <a:spcPct val="150000"/>
              </a:lnSpc>
            </a:pPr>
            <a:r>
              <a:rPr lang="en-US" sz="3600" b="1" dirty="0"/>
              <a:t>Hadoop Modules</a:t>
            </a:r>
          </a:p>
          <a:p>
            <a:pPr>
              <a:lnSpc>
                <a:spcPct val="150000"/>
              </a:lnSpc>
            </a:pPr>
            <a:r>
              <a:rPr lang="en-US" sz="2400" b="1" dirty="0"/>
              <a:t>Hadoop Common</a:t>
            </a:r>
            <a:r>
              <a:rPr lang="en-US" sz="2400" dirty="0"/>
              <a:t> − These are Java libraries and utilities required by other Hadoop modules.</a:t>
            </a:r>
          </a:p>
          <a:p>
            <a:pPr>
              <a:lnSpc>
                <a:spcPct val="150000"/>
              </a:lnSpc>
            </a:pPr>
            <a:r>
              <a:rPr lang="en-US" sz="2400" b="1" dirty="0"/>
              <a:t>Hadoop YARN</a:t>
            </a:r>
            <a:r>
              <a:rPr lang="en-US" sz="2400" dirty="0"/>
              <a:t> − This is a framework for job scheduling and cluster resource management.</a:t>
            </a:r>
          </a:p>
          <a:p>
            <a:pPr>
              <a:lnSpc>
                <a:spcPct val="150000"/>
              </a:lnSpc>
            </a:pPr>
            <a:endParaRPr lang="en-US" dirty="0"/>
          </a:p>
          <a:p>
            <a:endParaRPr lang="en-US"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2130215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Where to use HDFS?</a:t>
            </a:r>
          </a:p>
          <a:p>
            <a:pPr>
              <a:lnSpc>
                <a:spcPct val="150000"/>
              </a:lnSpc>
            </a:pPr>
            <a:r>
              <a:rPr lang="en-US" sz="2400" b="1" dirty="0"/>
              <a:t>Very Large Files</a:t>
            </a:r>
          </a:p>
          <a:p>
            <a:pPr>
              <a:lnSpc>
                <a:spcPct val="150000"/>
              </a:lnSpc>
            </a:pPr>
            <a:r>
              <a:rPr lang="en-US" sz="2400" b="1" dirty="0"/>
              <a:t>	</a:t>
            </a:r>
            <a:r>
              <a:rPr lang="en-US" sz="2400" dirty="0"/>
              <a:t>Files should be of hundreds of megabytes, gigabytes or more.</a:t>
            </a:r>
          </a:p>
          <a:p>
            <a:pPr>
              <a:lnSpc>
                <a:spcPct val="150000"/>
              </a:lnSpc>
            </a:pPr>
            <a:r>
              <a:rPr lang="en-US" sz="2400" b="1" dirty="0"/>
              <a:t>Streaming Data Access</a:t>
            </a:r>
          </a:p>
          <a:p>
            <a:pPr>
              <a:lnSpc>
                <a:spcPct val="150000"/>
              </a:lnSpc>
            </a:pPr>
            <a:r>
              <a:rPr lang="en-US" sz="2400" b="1" dirty="0"/>
              <a:t>	</a:t>
            </a:r>
            <a:r>
              <a:rPr lang="en-US" sz="2400" dirty="0"/>
              <a:t>The time to read whole data set is more important than latency in reading the first. HDFS is built on write-once and read-many-times pattern.</a:t>
            </a:r>
          </a:p>
          <a:p>
            <a:pPr>
              <a:lnSpc>
                <a:spcPct val="150000"/>
              </a:lnSpc>
            </a:pPr>
            <a:r>
              <a:rPr lang="en-US" sz="2400" b="1" dirty="0"/>
              <a:t>Commodity Hardware</a:t>
            </a:r>
          </a:p>
          <a:p>
            <a:pPr>
              <a:lnSpc>
                <a:spcPct val="150000"/>
              </a:lnSpc>
            </a:pPr>
            <a:r>
              <a:rPr lang="en-US" sz="2400" b="1" dirty="0"/>
              <a:t>	</a:t>
            </a:r>
            <a:r>
              <a:rPr lang="en-US" sz="2400" dirty="0"/>
              <a:t>It works on low-cost hardware.</a:t>
            </a:r>
          </a:p>
          <a:p>
            <a:pPr>
              <a:lnSpc>
                <a:spcPct val="150000"/>
              </a:lnSpc>
            </a:pPr>
            <a:endParaRPr lang="en-US" dirty="0"/>
          </a:p>
          <a:p>
            <a:endParaRPr lang="en-US"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442378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Where not to use HDFS?</a:t>
            </a:r>
          </a:p>
          <a:p>
            <a:pPr>
              <a:lnSpc>
                <a:spcPct val="150000"/>
              </a:lnSpc>
            </a:pPr>
            <a:r>
              <a:rPr lang="en-US" sz="2400" b="1" dirty="0"/>
              <a:t>Low Latency data access</a:t>
            </a:r>
          </a:p>
          <a:p>
            <a:pPr>
              <a:lnSpc>
                <a:spcPct val="150000"/>
              </a:lnSpc>
            </a:pPr>
            <a:r>
              <a:rPr lang="en-US" sz="2400" b="1" dirty="0"/>
              <a:t>	</a:t>
            </a:r>
            <a:r>
              <a:rPr lang="en-US" sz="2400" dirty="0"/>
              <a:t>Applications that require very less time to access the first data should not use HDFS</a:t>
            </a:r>
          </a:p>
          <a:p>
            <a:pPr>
              <a:lnSpc>
                <a:spcPct val="150000"/>
              </a:lnSpc>
            </a:pPr>
            <a:r>
              <a:rPr lang="en-US" sz="2400" b="1" dirty="0"/>
              <a:t>Lots Of Small Files</a:t>
            </a:r>
          </a:p>
          <a:p>
            <a:pPr>
              <a:lnSpc>
                <a:spcPct val="150000"/>
              </a:lnSpc>
            </a:pPr>
            <a:r>
              <a:rPr lang="en-US" sz="2400" b="1" dirty="0"/>
              <a:t>Multiple Writes</a:t>
            </a:r>
          </a:p>
          <a:p>
            <a:pPr>
              <a:lnSpc>
                <a:spcPct val="150000"/>
              </a:lnSpc>
            </a:pPr>
            <a:r>
              <a:rPr lang="en-US" sz="2400" b="1" dirty="0"/>
              <a:t>	</a:t>
            </a:r>
            <a:r>
              <a:rPr lang="en-US" sz="2400" dirty="0"/>
              <a:t>It should not be used when we have to write multiple times</a:t>
            </a:r>
          </a:p>
          <a:p>
            <a:pPr>
              <a:lnSpc>
                <a:spcPct val="150000"/>
              </a:lnSpc>
            </a:pPr>
            <a:endParaRPr lang="en-US" dirty="0"/>
          </a:p>
          <a:p>
            <a:endParaRPr lang="en-US"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1673571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Advantages</a:t>
            </a:r>
          </a:p>
          <a:p>
            <a:pPr marL="457200" indent="-457200">
              <a:lnSpc>
                <a:spcPct val="150000"/>
              </a:lnSpc>
              <a:buAutoNum type="arabicPeriod"/>
            </a:pPr>
            <a:r>
              <a:rPr lang="en-US" sz="2400" dirty="0"/>
              <a:t>Allows the user to quickly write and test distributed systems. </a:t>
            </a:r>
          </a:p>
          <a:p>
            <a:pPr lvl="1">
              <a:lnSpc>
                <a:spcPct val="150000"/>
              </a:lnSpc>
            </a:pPr>
            <a:r>
              <a:rPr lang="en-US" sz="2000" dirty="0"/>
              <a:t>Efficient and automatic, utilizes the underlying parallelism of the CPU cores</a:t>
            </a:r>
          </a:p>
          <a:p>
            <a:pPr marL="457200" indent="-457200">
              <a:lnSpc>
                <a:spcPct val="150000"/>
              </a:lnSpc>
              <a:buAutoNum type="arabicPeriod"/>
            </a:pPr>
            <a:r>
              <a:rPr lang="en-US" sz="2400" dirty="0"/>
              <a:t>Does not rely on hardware to provide fault-tolerance and high availability (FTHA)</a:t>
            </a:r>
          </a:p>
          <a:p>
            <a:pPr lvl="1">
              <a:lnSpc>
                <a:spcPct val="150000"/>
              </a:lnSpc>
            </a:pPr>
            <a:r>
              <a:rPr lang="en-US" sz="2000" dirty="0"/>
              <a:t>Hadoop library itself has been designed to detect and handle failures at the application layer.</a:t>
            </a:r>
          </a:p>
          <a:p>
            <a:pPr marL="457200" indent="-457200">
              <a:lnSpc>
                <a:spcPct val="150000"/>
              </a:lnSpc>
              <a:buAutoNum type="arabicPeriod"/>
            </a:pPr>
            <a:r>
              <a:rPr lang="en-US" sz="2400" dirty="0"/>
              <a:t>Servers can be added or removed from the cluster dynamically and Hadoop continues to operate without interruption.</a:t>
            </a:r>
          </a:p>
          <a:p>
            <a:pPr marL="457200" indent="-457200">
              <a:lnSpc>
                <a:spcPct val="150000"/>
              </a:lnSpc>
              <a:buAutoNum type="arabicPeriod"/>
            </a:pPr>
            <a:r>
              <a:rPr lang="en-US" sz="2400" b="1" dirty="0"/>
              <a:t>It is compatible on all the platforms since it is Java based.</a:t>
            </a:r>
          </a:p>
          <a:p>
            <a:pPr>
              <a:lnSpc>
                <a:spcPct val="150000"/>
              </a:lnSpc>
            </a:pPr>
            <a:endParaRPr lang="en-US" sz="2400" b="1"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21601076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59269"/>
            <a:ext cx="11616266" cy="6485754"/>
          </a:xfrm>
        </p:spPr>
        <p:txBody>
          <a:bodyPr>
            <a:normAutofit/>
          </a:bodyPr>
          <a:lstStyle/>
          <a:p>
            <a:pPr algn="ctr">
              <a:lnSpc>
                <a:spcPct val="150000"/>
              </a:lnSpc>
            </a:pPr>
            <a:r>
              <a:rPr lang="en-US" sz="3200" b="1" dirty="0"/>
              <a:t>How Does It Work?</a:t>
            </a:r>
          </a:p>
          <a:p>
            <a:pPr marL="514350" indent="-514350">
              <a:lnSpc>
                <a:spcPct val="150000"/>
              </a:lnSpc>
              <a:buAutoNum type="arabicPeriod"/>
            </a:pPr>
            <a:r>
              <a:rPr lang="en-US" sz="2200" dirty="0"/>
              <a:t>Data is initially divided into directories and files.</a:t>
            </a:r>
          </a:p>
          <a:p>
            <a:pPr marL="514350" indent="-514350">
              <a:lnSpc>
                <a:spcPct val="150000"/>
              </a:lnSpc>
              <a:buAutoNum type="arabicPeriod"/>
            </a:pPr>
            <a:r>
              <a:rPr lang="en-US" sz="2200" dirty="0"/>
              <a:t>Files are divided into sized blocks of 128M and 64M (preferably 128M).</a:t>
            </a:r>
          </a:p>
          <a:p>
            <a:pPr marL="514350" indent="-514350">
              <a:lnSpc>
                <a:spcPct val="150000"/>
              </a:lnSpc>
              <a:buAutoNum type="arabicPeriod"/>
            </a:pPr>
            <a:r>
              <a:rPr lang="en-US" sz="2200" dirty="0"/>
              <a:t>These files are then distributed across various cluster nodes for further processing.</a:t>
            </a:r>
          </a:p>
          <a:p>
            <a:pPr marL="514350" indent="-514350">
              <a:lnSpc>
                <a:spcPct val="150000"/>
              </a:lnSpc>
              <a:buAutoNum type="arabicPeriod"/>
            </a:pPr>
            <a:r>
              <a:rPr lang="en-US" sz="2200" dirty="0"/>
              <a:t>HDFS, being on top of the local file system, supervises the processing.</a:t>
            </a:r>
          </a:p>
          <a:p>
            <a:pPr marL="514350" indent="-514350">
              <a:lnSpc>
                <a:spcPct val="150000"/>
              </a:lnSpc>
              <a:buAutoNum type="arabicPeriod"/>
            </a:pPr>
            <a:r>
              <a:rPr lang="en-US" sz="2200" dirty="0"/>
              <a:t>Checking that the code was executed successfully.</a:t>
            </a:r>
          </a:p>
          <a:p>
            <a:pPr marL="514350" indent="-514350">
              <a:lnSpc>
                <a:spcPct val="150000"/>
              </a:lnSpc>
              <a:buAutoNum type="arabicPeriod"/>
            </a:pPr>
            <a:r>
              <a:rPr lang="en-US" sz="2200" dirty="0"/>
              <a:t>Performing the sort that takes place between the map and reduce stages.</a:t>
            </a:r>
          </a:p>
          <a:p>
            <a:pPr marL="514350" indent="-514350">
              <a:lnSpc>
                <a:spcPct val="150000"/>
              </a:lnSpc>
              <a:buAutoNum type="arabicPeriod"/>
            </a:pPr>
            <a:r>
              <a:rPr lang="en-US" sz="2200" dirty="0"/>
              <a:t>Sending the sorted data to a certain computer.</a:t>
            </a:r>
          </a:p>
          <a:p>
            <a:pPr marL="514350" indent="-514350">
              <a:lnSpc>
                <a:spcPct val="150000"/>
              </a:lnSpc>
              <a:buAutoNum type="arabicPeriod"/>
            </a:pPr>
            <a:r>
              <a:rPr lang="en-US" sz="2200" dirty="0"/>
              <a:t>Writing the debugging logs for each job.</a:t>
            </a:r>
          </a:p>
          <a:p>
            <a:pPr>
              <a:lnSpc>
                <a:spcPct val="150000"/>
              </a:lnSpc>
            </a:pPr>
            <a:endParaRPr lang="en-US" sz="2400" b="1"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51</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088614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20134" y="76203"/>
            <a:ext cx="11616266" cy="6485754"/>
          </a:xfrm>
        </p:spPr>
        <p:txBody>
          <a:bodyPr>
            <a:normAutofit/>
          </a:bodyPr>
          <a:lstStyle/>
          <a:p>
            <a:pPr algn="ctr">
              <a:lnSpc>
                <a:spcPct val="150000"/>
              </a:lnSpc>
            </a:pPr>
            <a:r>
              <a:rPr lang="en-US" sz="3200" b="1" dirty="0"/>
              <a:t>Hadoop – Linear Scalability</a:t>
            </a:r>
          </a:p>
          <a:p>
            <a:pPr marL="514350" indent="-514350">
              <a:lnSpc>
                <a:spcPct val="120000"/>
              </a:lnSpc>
              <a:buAutoNum type="arabicPeriod"/>
            </a:pPr>
            <a:r>
              <a:rPr lang="en-US" sz="2400" dirty="0"/>
              <a:t>If you have </a:t>
            </a:r>
            <a:r>
              <a:rPr lang="en-US" sz="2400" b="1" dirty="0"/>
              <a:t>twice</a:t>
            </a:r>
            <a:r>
              <a:rPr lang="en-US" sz="2400" dirty="0"/>
              <a:t> as many computers, jobs run </a:t>
            </a:r>
            <a:r>
              <a:rPr lang="en-US" sz="2400" b="1" dirty="0"/>
              <a:t>twice</a:t>
            </a:r>
            <a:r>
              <a:rPr lang="en-US" sz="2400" dirty="0"/>
              <a:t> faster</a:t>
            </a:r>
          </a:p>
          <a:p>
            <a:pPr marL="514350" indent="-514350">
              <a:lnSpc>
                <a:spcPct val="120000"/>
              </a:lnSpc>
              <a:buAutoNum type="arabicPeriod"/>
            </a:pPr>
            <a:r>
              <a:rPr lang="en-US" sz="2400" dirty="0"/>
              <a:t>If you have </a:t>
            </a:r>
            <a:r>
              <a:rPr lang="en-US" sz="2400" b="1" dirty="0"/>
              <a:t>twice</a:t>
            </a:r>
            <a:r>
              <a:rPr lang="en-US" sz="2400" dirty="0"/>
              <a:t> as much data, jobs run </a:t>
            </a:r>
            <a:r>
              <a:rPr lang="en-US" sz="2400" b="1" dirty="0"/>
              <a:t>twice</a:t>
            </a:r>
            <a:r>
              <a:rPr lang="en-US" sz="2400" dirty="0"/>
              <a:t> slower</a:t>
            </a:r>
          </a:p>
          <a:p>
            <a:pPr marL="514350" indent="-514350">
              <a:lnSpc>
                <a:spcPct val="120000"/>
              </a:lnSpc>
              <a:buAutoNum type="arabicPeriod"/>
            </a:pPr>
            <a:r>
              <a:rPr lang="en-US" sz="2400" dirty="0"/>
              <a:t>If you have </a:t>
            </a:r>
            <a:r>
              <a:rPr lang="en-US" sz="2400" b="1" dirty="0"/>
              <a:t>twice</a:t>
            </a:r>
            <a:r>
              <a:rPr lang="en-US" sz="2400" dirty="0"/>
              <a:t> as many computers, you can store </a:t>
            </a:r>
            <a:r>
              <a:rPr lang="en-US" sz="2400" b="1" dirty="0"/>
              <a:t>twice</a:t>
            </a:r>
            <a:r>
              <a:rPr lang="en-US" sz="2400" dirty="0"/>
              <a:t> as much data!</a:t>
            </a:r>
          </a:p>
          <a:p>
            <a:pPr>
              <a:lnSpc>
                <a:spcPct val="150000"/>
              </a:lnSpc>
            </a:pPr>
            <a:endParaRPr lang="en-US" sz="2400" b="1"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81954" name="Picture 2" descr="Linear Scalability | Download Scientific Diagram">
            <a:extLst>
              <a:ext uri="{FF2B5EF4-FFF2-40B4-BE49-F238E27FC236}">
                <a16:creationId xmlns:a16="http://schemas.microsoft.com/office/drawing/2014/main" id="{B3246FB0-B513-E240-8352-8144E0B23E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37417" y="3099490"/>
            <a:ext cx="4997450" cy="27361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5399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425458-3AC0-4977-A476-AD5A91A7871F}"/>
              </a:ext>
            </a:extLst>
          </p:cNvPr>
          <p:cNvSpPr txBox="1"/>
          <p:nvPr/>
        </p:nvSpPr>
        <p:spPr>
          <a:xfrm>
            <a:off x="642551" y="1907975"/>
            <a:ext cx="10711248" cy="1656949"/>
          </a:xfrm>
          <a:prstGeom prst="rect">
            <a:avLst/>
          </a:prstGeom>
          <a:solidFill>
            <a:schemeClr val="accent2">
              <a:lumMod val="20000"/>
              <a:lumOff val="80000"/>
            </a:schemeClr>
          </a:solidFill>
        </p:spPr>
        <p:txBody>
          <a:bodyPr wrap="square" rtlCol="0">
            <a:spAutoFit/>
          </a:bodyPr>
          <a:lstStyle/>
          <a:p>
            <a:pPr marL="0" algn="r" defTabSz="914400" rtl="1" eaLnBrk="1" latinLnBrk="0" hangingPunct="1"/>
            <a:endParaRPr lang="en-US" sz="2400" dirty="0"/>
          </a:p>
        </p:txBody>
      </p:sp>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1149178" y="1025611"/>
            <a:ext cx="10204621" cy="5695864"/>
          </a:xfrm>
        </p:spPr>
        <p:txBody>
          <a:bodyPr>
            <a:normAutofit/>
          </a:bodyPr>
          <a:lstStyle/>
          <a:p>
            <a:pPr algn="ctr">
              <a:lnSpc>
                <a:spcPct val="150000"/>
              </a:lnSpc>
            </a:pPr>
            <a:endParaRPr lang="en-US" sz="4800" dirty="0"/>
          </a:p>
          <a:p>
            <a:pPr algn="ctr">
              <a:lnSpc>
                <a:spcPct val="150000"/>
              </a:lnSpc>
            </a:pPr>
            <a:r>
              <a:rPr lang="en-US" sz="3500" dirty="0"/>
              <a:t>Regular Expressions</a:t>
            </a:r>
          </a:p>
          <a:p>
            <a:pPr>
              <a:lnSpc>
                <a:spcPct val="150000"/>
              </a:lnSpc>
            </a:pPr>
            <a:endParaRPr lang="en-US" dirty="0"/>
          </a:p>
          <a:p>
            <a:pPr marL="457200" indent="-457200">
              <a:lnSpc>
                <a:spcPct val="150000"/>
              </a:lnSpc>
              <a:buFontTx/>
              <a:buChar char="-"/>
            </a:pPr>
            <a:endParaRPr lang="en-US" dirty="0"/>
          </a:p>
          <a:p>
            <a:pPr marL="0" indent="0" algn="l" defTabSz="914400" eaLnBrk="1" latinLnBrk="0" hangingPunct="1">
              <a:lnSpc>
                <a:spcPct val="150000"/>
              </a:lnSpc>
              <a:spcBef>
                <a:spcPts val="1000"/>
              </a:spcBef>
              <a:buFont typeface="Arial" panose="020B0604020202020204" pitchFamily="34" charset="0"/>
              <a:buNone/>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53</a:t>
            </a:fld>
            <a:endParaRPr lang="en-IL" dirty="0"/>
          </a:p>
        </p:txBody>
      </p:sp>
      <p:sp>
        <p:nvSpPr>
          <p:cNvPr id="5" name="Footer Placeholder 4">
            <a:extLst>
              <a:ext uri="{FF2B5EF4-FFF2-40B4-BE49-F238E27FC236}">
                <a16:creationId xmlns:a16="http://schemas.microsoft.com/office/drawing/2014/main" id="{40803E65-83D3-354B-8CF1-A1C85FDB349A}"/>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2475735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0"/>
          </p:nvPr>
        </p:nvSpPr>
        <p:spPr/>
        <p:txBody>
          <a:bodyPr/>
          <a:lstStyle/>
          <a:p>
            <a:r>
              <a:rPr lang="en-US" altLang="en-US"/>
              <a:t>Or Peretz</a:t>
            </a:r>
            <a:endParaRPr lang="en-US" altLang="en-US" dirty="0"/>
          </a:p>
        </p:txBody>
      </p:sp>
      <p:sp>
        <p:nvSpPr>
          <p:cNvPr id="5" name="Slide Number Placeholder 4"/>
          <p:cNvSpPr>
            <a:spLocks noGrp="1"/>
          </p:cNvSpPr>
          <p:nvPr>
            <p:ph type="sldNum" sz="quarter" idx="11"/>
          </p:nvPr>
        </p:nvSpPr>
        <p:spPr/>
        <p:txBody>
          <a:bodyPr/>
          <a:lstStyle/>
          <a:p>
            <a:fld id="{EE1AA32D-27BB-4BDB-AF3A-80C53B84EA8B}" type="slidenum">
              <a:rPr lang="en-US" altLang="en-US"/>
              <a:pPr/>
              <a:t>54</a:t>
            </a:fld>
            <a:endParaRPr lang="en-US" altLang="en-US"/>
          </a:p>
        </p:txBody>
      </p:sp>
      <p:sp>
        <p:nvSpPr>
          <p:cNvPr id="65538" name="Rectangle 2"/>
          <p:cNvSpPr>
            <a:spLocks noGrp="1" noChangeArrowheads="1"/>
          </p:cNvSpPr>
          <p:nvPr>
            <p:ph type="title"/>
          </p:nvPr>
        </p:nvSpPr>
        <p:spPr>
          <a:xfrm>
            <a:off x="838199" y="136525"/>
            <a:ext cx="10515600" cy="1325563"/>
          </a:xfrm>
        </p:spPr>
        <p:txBody>
          <a:bodyPr/>
          <a:lstStyle/>
          <a:p>
            <a:pPr algn="ctr">
              <a:lnSpc>
                <a:spcPct val="150000"/>
              </a:lnSpc>
              <a:spcBef>
                <a:spcPts val="1000"/>
              </a:spcBef>
            </a:pPr>
            <a:r>
              <a:rPr lang="en-US" altLang="en-US" sz="3000" dirty="0">
                <a:latin typeface="+mn-lt"/>
                <a:ea typeface="+mn-ea"/>
                <a:cs typeface="+mn-cs"/>
              </a:rPr>
              <a:t>Document Search</a:t>
            </a:r>
          </a:p>
        </p:txBody>
      </p:sp>
      <p:sp>
        <p:nvSpPr>
          <p:cNvPr id="65539" name="Rectangle 3"/>
          <p:cNvSpPr>
            <a:spLocks noGrp="1" noChangeArrowheads="1"/>
          </p:cNvSpPr>
          <p:nvPr>
            <p:ph type="body" idx="1"/>
          </p:nvPr>
        </p:nvSpPr>
        <p:spPr>
          <a:xfrm>
            <a:off x="838199" y="1481667"/>
            <a:ext cx="10329333" cy="4690534"/>
          </a:xfrm>
        </p:spPr>
        <p:txBody>
          <a:bodyPr>
            <a:normAutofit fontScale="85000" lnSpcReduction="20000"/>
          </a:bodyPr>
          <a:lstStyle/>
          <a:p>
            <a:pPr marL="0" indent="0">
              <a:lnSpc>
                <a:spcPct val="150000"/>
              </a:lnSpc>
              <a:buNone/>
            </a:pPr>
            <a:r>
              <a:rPr lang="en-US" altLang="en-US" sz="2400" dirty="0"/>
              <a:t>‘Information Retrieval (IR)’ implies a query (e.g. search terms) </a:t>
            </a:r>
          </a:p>
          <a:p>
            <a:pPr marL="457200" lvl="1" indent="0">
              <a:lnSpc>
                <a:spcPct val="150000"/>
              </a:lnSpc>
              <a:buNone/>
            </a:pPr>
            <a:r>
              <a:rPr lang="en-US" altLang="en-US" dirty="0"/>
              <a:t>- For a given query, </a:t>
            </a:r>
            <a:r>
              <a:rPr lang="en-US" altLang="en-US" i="1" dirty="0"/>
              <a:t>relevant or similar</a:t>
            </a:r>
            <a:r>
              <a:rPr lang="en-US" altLang="en-US" dirty="0"/>
              <a:t> documents are returned.</a:t>
            </a:r>
          </a:p>
          <a:p>
            <a:pPr marL="0" indent="0">
              <a:lnSpc>
                <a:spcPct val="150000"/>
              </a:lnSpc>
              <a:buNone/>
            </a:pPr>
            <a:r>
              <a:rPr lang="en-US" altLang="en-US" sz="2400" dirty="0"/>
              <a:t>Most basic document retrieval technique is </a:t>
            </a:r>
            <a:r>
              <a:rPr lang="en-US" altLang="en-US" sz="2400" b="1" dirty="0"/>
              <a:t>keyword/search term matching</a:t>
            </a:r>
            <a:r>
              <a:rPr lang="en-US" altLang="en-US" sz="2400" dirty="0"/>
              <a:t>.</a:t>
            </a:r>
          </a:p>
          <a:p>
            <a:pPr marL="457200" lvl="1" indent="0">
              <a:lnSpc>
                <a:spcPct val="150000"/>
              </a:lnSpc>
              <a:buNone/>
            </a:pPr>
            <a:r>
              <a:rPr lang="en-US" altLang="en-US" dirty="0"/>
              <a:t>- Retrieve all (or selected) documents which contain the search terms - by string matching</a:t>
            </a:r>
          </a:p>
          <a:p>
            <a:pPr marL="457200" lvl="1" indent="0">
              <a:lnSpc>
                <a:spcPct val="150000"/>
              </a:lnSpc>
              <a:buNone/>
            </a:pPr>
            <a:r>
              <a:rPr lang="en-US" altLang="en-US" dirty="0"/>
              <a:t>- Python example:</a:t>
            </a:r>
            <a:br>
              <a:rPr lang="en-US" sz="2400" dirty="0"/>
            </a:br>
            <a:r>
              <a:rPr lang="en-US" sz="2400" dirty="0"/>
              <a:t>&gt;&gt;&gt; s1 = 'public' </a:t>
            </a:r>
            <a:br>
              <a:rPr lang="en-US" sz="2400" dirty="0"/>
            </a:br>
            <a:r>
              <a:rPr lang="en-US" sz="2400" dirty="0"/>
              <a:t>&gt;&gt;&gt; s2 = 'public' </a:t>
            </a:r>
            <a:br>
              <a:rPr lang="en-US" sz="2400" dirty="0"/>
            </a:br>
            <a:r>
              <a:rPr lang="en-US" sz="2400" dirty="0"/>
              <a:t>&gt;&gt;&gt; s2 == s1 </a:t>
            </a:r>
            <a:br>
              <a:rPr lang="en-US" sz="2400" dirty="0"/>
            </a:br>
            <a:r>
              <a:rPr lang="en-US" sz="2400" dirty="0"/>
              <a:t>True</a:t>
            </a:r>
          </a:p>
        </p:txBody>
      </p:sp>
    </p:spTree>
    <p:extLst>
      <p:ext uri="{BB962C8B-B14F-4D97-AF65-F5344CB8AC3E}">
        <p14:creationId xmlns:p14="http://schemas.microsoft.com/office/powerpoint/2010/main" val="34121937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3986607E-2A00-2843-84D0-BC2848789AB5}"/>
              </a:ext>
            </a:extLst>
          </p:cNvPr>
          <p:cNvSpPr>
            <a:spLocks noGrp="1" noChangeArrowheads="1"/>
          </p:cNvSpPr>
          <p:nvPr>
            <p:ph type="title"/>
            <p:custDataLst>
              <p:tags r:id="rId1"/>
            </p:custDataLst>
          </p:nvPr>
        </p:nvSpPr>
        <p:spPr>
          <a:xfrm>
            <a:off x="838200" y="153458"/>
            <a:ext cx="10515600" cy="1325563"/>
          </a:xfrm>
        </p:spPr>
        <p:txBody>
          <a:bodyPr>
            <a:normAutofit/>
          </a:bodyPr>
          <a:lstStyle/>
          <a:p>
            <a:pPr algn="ctr">
              <a:lnSpc>
                <a:spcPct val="150000"/>
              </a:lnSpc>
              <a:spcBef>
                <a:spcPts val="1000"/>
              </a:spcBef>
            </a:pPr>
            <a:r>
              <a:rPr lang="en-US" altLang="en-US" sz="3000" dirty="0">
                <a:latin typeface="+mn-lt"/>
                <a:ea typeface="+mn-ea"/>
                <a:cs typeface="+mn-cs"/>
              </a:rPr>
              <a:t>What is a Regular Expression?</a:t>
            </a:r>
          </a:p>
        </p:txBody>
      </p:sp>
      <p:sp>
        <p:nvSpPr>
          <p:cNvPr id="5123" name="Rectangle 3">
            <a:extLst>
              <a:ext uri="{FF2B5EF4-FFF2-40B4-BE49-F238E27FC236}">
                <a16:creationId xmlns:a16="http://schemas.microsoft.com/office/drawing/2014/main" id="{C9AE5ABA-0052-0A48-9A90-7E56491C71E6}"/>
              </a:ext>
            </a:extLst>
          </p:cNvPr>
          <p:cNvSpPr>
            <a:spLocks noGrp="1" noChangeArrowheads="1"/>
          </p:cNvSpPr>
          <p:nvPr>
            <p:ph type="body" idx="1"/>
            <p:custDataLst>
              <p:tags r:id="rId2"/>
            </p:custDataLst>
          </p:nvPr>
        </p:nvSpPr>
        <p:spPr>
          <a:xfrm>
            <a:off x="922867" y="1346199"/>
            <a:ext cx="9829800" cy="5147733"/>
          </a:xfrm>
        </p:spPr>
        <p:txBody>
          <a:bodyPr>
            <a:normAutofit/>
          </a:bodyPr>
          <a:lstStyle/>
          <a:p>
            <a:pPr algn="ctr">
              <a:lnSpc>
                <a:spcPct val="150000"/>
              </a:lnSpc>
              <a:buFontTx/>
              <a:buNone/>
            </a:pPr>
            <a:r>
              <a:rPr lang="en-US" altLang="en-US" sz="2400" dirty="0">
                <a:ea typeface="ＭＳ Ｐゴシック" panose="020B0600070205080204" pitchFamily="34" charset="-128"/>
              </a:rPr>
              <a:t>"[a-</a:t>
            </a:r>
            <a:r>
              <a:rPr lang="en-US" altLang="en-US" sz="2400" dirty="0" err="1">
                <a:ea typeface="ＭＳ Ｐゴシック" panose="020B0600070205080204" pitchFamily="34" charset="-128"/>
              </a:rPr>
              <a:t>zA</a:t>
            </a:r>
            <a:r>
              <a:rPr lang="en-US" altLang="en-US" sz="2400" dirty="0">
                <a:ea typeface="ＭＳ Ｐゴシック" panose="020B0600070205080204" pitchFamily="34" charset="-128"/>
              </a:rPr>
              <a:t>-Z_\-]+@(([a-</a:t>
            </a:r>
            <a:r>
              <a:rPr lang="en-US" altLang="en-US" sz="2400" dirty="0" err="1">
                <a:ea typeface="ＭＳ Ｐゴシック" panose="020B0600070205080204" pitchFamily="34" charset="-128"/>
              </a:rPr>
              <a:t>zA</a:t>
            </a:r>
            <a:r>
              <a:rPr lang="en-US" altLang="en-US" sz="2400" dirty="0">
                <a:ea typeface="ＭＳ Ｐゴシック" panose="020B0600070205080204" pitchFamily="34" charset="-128"/>
              </a:rPr>
              <a:t>-Z_\-])+\.)+[a-</a:t>
            </a:r>
            <a:r>
              <a:rPr lang="en-US" altLang="en-US" sz="2400" dirty="0" err="1">
                <a:ea typeface="ＭＳ Ｐゴシック" panose="020B0600070205080204" pitchFamily="34" charset="-128"/>
              </a:rPr>
              <a:t>zA</a:t>
            </a:r>
            <a:r>
              <a:rPr lang="en-US" altLang="en-US" sz="2400" dirty="0">
                <a:ea typeface="ＭＳ Ｐゴシック" panose="020B0600070205080204" pitchFamily="34" charset="-128"/>
              </a:rPr>
              <a:t>-Z]{2,4}"</a:t>
            </a:r>
          </a:p>
          <a:p>
            <a:pPr marL="0" indent="0">
              <a:lnSpc>
                <a:spcPct val="150000"/>
              </a:lnSpc>
              <a:buNone/>
            </a:pPr>
            <a:r>
              <a:rPr lang="en-US" altLang="en-US" sz="2400" b="1" dirty="0">
                <a:ea typeface="ＭＳ Ｐゴシック" panose="020B0600070205080204" pitchFamily="34" charset="-128"/>
              </a:rPr>
              <a:t>regular expression </a:t>
            </a:r>
            <a:r>
              <a:rPr lang="en-US" altLang="en-US" sz="2400" dirty="0">
                <a:ea typeface="ＭＳ Ｐゴシック" panose="020B0600070205080204" pitchFamily="34" charset="-128"/>
              </a:rPr>
              <a:t>("regex"): a description of a pattern of text</a:t>
            </a:r>
          </a:p>
          <a:p>
            <a:pPr lvl="1">
              <a:lnSpc>
                <a:spcPct val="150000"/>
              </a:lnSpc>
              <a:buFontTx/>
              <a:buChar char="-"/>
            </a:pPr>
            <a:r>
              <a:rPr lang="en-US" altLang="en-US" dirty="0">
                <a:ea typeface="ＭＳ Ｐゴシック" panose="020B0600070205080204" pitchFamily="34" charset="-128"/>
              </a:rPr>
              <a:t>can test whether a string matches the expression's pattern</a:t>
            </a:r>
          </a:p>
          <a:p>
            <a:pPr lvl="1">
              <a:lnSpc>
                <a:spcPct val="150000"/>
              </a:lnSpc>
              <a:buFontTx/>
              <a:buChar char="-"/>
            </a:pPr>
            <a:r>
              <a:rPr lang="en-US" altLang="en-US" dirty="0">
                <a:ea typeface="ＭＳ Ｐゴシック" panose="020B0600070205080204" pitchFamily="34" charset="-128"/>
              </a:rPr>
              <a:t>can use a regex to search/replace characters in a string</a:t>
            </a:r>
          </a:p>
          <a:p>
            <a:pPr lvl="1">
              <a:lnSpc>
                <a:spcPct val="150000"/>
              </a:lnSpc>
              <a:buFontTx/>
              <a:buChar char="-"/>
            </a:pPr>
            <a:r>
              <a:rPr lang="en-US" altLang="en-US" dirty="0">
                <a:ea typeface="ＭＳ Ｐゴシック" panose="020B0600070205080204" pitchFamily="34" charset="-128"/>
              </a:rPr>
              <a:t>regular expressions are extremely powerful but tough to read</a:t>
            </a:r>
          </a:p>
          <a:p>
            <a:pPr marL="914400" lvl="2" indent="0">
              <a:lnSpc>
                <a:spcPct val="150000"/>
              </a:lnSpc>
              <a:buNone/>
            </a:pPr>
            <a:r>
              <a:rPr lang="en-US" altLang="en-US" dirty="0">
                <a:ea typeface="ＭＳ Ｐゴシック" panose="020B0600070205080204" pitchFamily="34" charset="-128"/>
              </a:rPr>
              <a:t>(the above regular expression matches email address)</a:t>
            </a:r>
          </a:p>
          <a:p>
            <a:pPr marL="914400" lvl="2" indent="0">
              <a:lnSpc>
                <a:spcPct val="150000"/>
              </a:lnSpc>
              <a:buNone/>
            </a:pPr>
            <a:endParaRPr lang="en-US" altLang="en-US" dirty="0">
              <a:ea typeface="ＭＳ Ｐゴシック" panose="020B0600070205080204" pitchFamily="34" charset="-128"/>
            </a:endParaRPr>
          </a:p>
        </p:txBody>
      </p:sp>
      <p:sp>
        <p:nvSpPr>
          <p:cNvPr id="3" name="Footer Placeholder 2">
            <a:extLst>
              <a:ext uri="{FF2B5EF4-FFF2-40B4-BE49-F238E27FC236}">
                <a16:creationId xmlns:a16="http://schemas.microsoft.com/office/drawing/2014/main" id="{4F0179FA-B50C-1B45-94CA-969B7E47EA89}"/>
              </a:ext>
            </a:extLst>
          </p:cNvPr>
          <p:cNvSpPr>
            <a:spLocks noGrp="1"/>
          </p:cNvSpPr>
          <p:nvPr>
            <p:ph type="ftr" sz="quarter" idx="11"/>
          </p:nvPr>
        </p:nvSpPr>
        <p:spPr/>
        <p:txBody>
          <a:bodyPr/>
          <a:lstStyle/>
          <a:p>
            <a:r>
              <a:rPr lang="en-US"/>
              <a:t>Or Peretz</a:t>
            </a:r>
          </a:p>
        </p:txBody>
      </p:sp>
      <p:sp>
        <p:nvSpPr>
          <p:cNvPr id="4" name="Slide Number Placeholder 3">
            <a:extLst>
              <a:ext uri="{FF2B5EF4-FFF2-40B4-BE49-F238E27FC236}">
                <a16:creationId xmlns:a16="http://schemas.microsoft.com/office/drawing/2014/main" id="{56FB8629-BBFB-D94B-A2B2-9746669DCE86}"/>
              </a:ext>
            </a:extLst>
          </p:cNvPr>
          <p:cNvSpPr>
            <a:spLocks noGrp="1"/>
          </p:cNvSpPr>
          <p:nvPr>
            <p:ph type="sldNum" sz="quarter" idx="12"/>
          </p:nvPr>
        </p:nvSpPr>
        <p:spPr/>
        <p:txBody>
          <a:bodyPr/>
          <a:lstStyle/>
          <a:p>
            <a:fld id="{FB070496-1CF9-408E-B326-6CCA99B85165}" type="slidenum">
              <a:rPr lang="en-US" smtClean="0"/>
              <a:t>55</a:t>
            </a:fld>
            <a:endParaRPr lang="en-US"/>
          </a:p>
        </p:txBody>
      </p:sp>
    </p:spTree>
    <p:extLst>
      <p:ext uri="{BB962C8B-B14F-4D97-AF65-F5344CB8AC3E}">
        <p14:creationId xmlns:p14="http://schemas.microsoft.com/office/powerpoint/2010/main" val="30111556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6" name="Rectangle 2"/>
          <p:cNvSpPr>
            <a:spLocks noGrp="1" noChangeArrowheads="1"/>
          </p:cNvSpPr>
          <p:nvPr>
            <p:ph type="title"/>
          </p:nvPr>
        </p:nvSpPr>
        <p:spPr>
          <a:xfrm>
            <a:off x="838200" y="121785"/>
            <a:ext cx="10515600" cy="1325563"/>
          </a:xfrm>
        </p:spPr>
        <p:txBody>
          <a:bodyPr>
            <a:normAutofit/>
          </a:bodyPr>
          <a:lstStyle/>
          <a:p>
            <a:pPr algn="ctr">
              <a:lnSpc>
                <a:spcPct val="150000"/>
              </a:lnSpc>
              <a:spcBef>
                <a:spcPts val="1000"/>
              </a:spcBef>
            </a:pPr>
            <a:r>
              <a:rPr lang="en-US" sz="3000" dirty="0">
                <a:latin typeface="+mn-lt"/>
                <a:ea typeface="+mn-ea"/>
                <a:cs typeface="+mn-cs"/>
              </a:rPr>
              <a:t>Regular Expressions</a:t>
            </a:r>
          </a:p>
        </p:txBody>
      </p:sp>
      <p:sp>
        <p:nvSpPr>
          <p:cNvPr id="10" name="Footer Placeholder 3"/>
          <p:cNvSpPr>
            <a:spLocks noGrp="1"/>
          </p:cNvSpPr>
          <p:nvPr>
            <p:ph type="ftr" sz="quarter" idx="10"/>
          </p:nvPr>
        </p:nvSpPr>
        <p:spPr>
          <a:xfrm>
            <a:off x="1524000" y="6324600"/>
            <a:ext cx="9144000" cy="533400"/>
          </a:xfrm>
        </p:spPr>
        <p:txBody>
          <a:bodyPr/>
          <a:lstStyle/>
          <a:p>
            <a:r>
              <a:rPr lang="en-US" altLang="en-US"/>
              <a:t>Or Peretz</a:t>
            </a:r>
            <a:endParaRPr lang="en-US" altLang="en-US" dirty="0"/>
          </a:p>
        </p:txBody>
      </p:sp>
      <p:sp>
        <p:nvSpPr>
          <p:cNvPr id="11" name="Slide Number Placeholder 4"/>
          <p:cNvSpPr>
            <a:spLocks noGrp="1"/>
          </p:cNvSpPr>
          <p:nvPr>
            <p:ph type="sldNum" sz="quarter" idx="11"/>
          </p:nvPr>
        </p:nvSpPr>
        <p:spPr>
          <a:xfrm>
            <a:off x="8305800" y="6381750"/>
            <a:ext cx="2133600" cy="476250"/>
          </a:xfrm>
        </p:spPr>
        <p:txBody>
          <a:bodyPr/>
          <a:lstStyle/>
          <a:p>
            <a:fld id="{EE1AA32D-27BB-4BDB-AF3A-80C53B84EA8B}" type="slidenum">
              <a:rPr lang="en-US" altLang="en-US"/>
              <a:pPr/>
              <a:t>56</a:t>
            </a:fld>
            <a:endParaRPr lang="en-US" altLang="en-US"/>
          </a:p>
        </p:txBody>
      </p:sp>
      <p:pic>
        <p:nvPicPr>
          <p:cNvPr id="1026" name="Picture 2" descr="Recitation 26: Regular expressions and finite automata">
            <a:extLst>
              <a:ext uri="{FF2B5EF4-FFF2-40B4-BE49-F238E27FC236}">
                <a16:creationId xmlns:a16="http://schemas.microsoft.com/office/drawing/2014/main" id="{217833C4-8B8B-914A-9CA2-9EA7518465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6774" y="2072793"/>
            <a:ext cx="6658451" cy="2401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80677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C08B235E-8E5A-D947-A82E-CDDAC6E4584B}"/>
              </a:ext>
            </a:extLst>
          </p:cNvPr>
          <p:cNvSpPr>
            <a:spLocks noGrp="1" noChangeArrowheads="1"/>
          </p:cNvSpPr>
          <p:nvPr>
            <p:ph type="title"/>
            <p:custDataLst>
              <p:tags r:id="rId1"/>
            </p:custDataLst>
          </p:nvPr>
        </p:nvSpPr>
        <p:spPr>
          <a:xfrm>
            <a:off x="838199" y="77259"/>
            <a:ext cx="10515600" cy="1325563"/>
          </a:xfrm>
        </p:spPr>
        <p:txBody>
          <a:bodyPr>
            <a:normAutofit/>
          </a:bodyPr>
          <a:lstStyle/>
          <a:p>
            <a:pPr algn="ctr">
              <a:lnSpc>
                <a:spcPct val="150000"/>
              </a:lnSpc>
              <a:spcBef>
                <a:spcPts val="1000"/>
              </a:spcBef>
            </a:pPr>
            <a:r>
              <a:rPr lang="en-US" altLang="en-US" sz="3000" dirty="0">
                <a:latin typeface="+mn-lt"/>
                <a:ea typeface="+mn-ea"/>
                <a:cs typeface="+mn-cs"/>
              </a:rPr>
              <a:t>Basic REs</a:t>
            </a:r>
          </a:p>
        </p:txBody>
      </p:sp>
      <p:sp>
        <p:nvSpPr>
          <p:cNvPr id="7171" name="Rectangle 3">
            <a:extLst>
              <a:ext uri="{FF2B5EF4-FFF2-40B4-BE49-F238E27FC236}">
                <a16:creationId xmlns:a16="http://schemas.microsoft.com/office/drawing/2014/main" id="{CE4643AA-2B2E-314F-BCF5-685F2BD39F52}"/>
              </a:ext>
            </a:extLst>
          </p:cNvPr>
          <p:cNvSpPr>
            <a:spLocks noGrp="1" noChangeArrowheads="1"/>
          </p:cNvSpPr>
          <p:nvPr>
            <p:ph type="body" idx="1"/>
            <p:custDataLst>
              <p:tags r:id="rId2"/>
            </p:custDataLst>
          </p:nvPr>
        </p:nvSpPr>
        <p:spPr>
          <a:xfrm>
            <a:off x="838199" y="1295400"/>
            <a:ext cx="10515599" cy="5562600"/>
          </a:xfrm>
        </p:spPr>
        <p:txBody>
          <a:bodyPr>
            <a:normAutofit/>
          </a:bodyPr>
          <a:lstStyle/>
          <a:p>
            <a:pPr algn="ctr">
              <a:lnSpc>
                <a:spcPct val="150000"/>
              </a:lnSpc>
              <a:buFontTx/>
              <a:buNone/>
            </a:pPr>
            <a:r>
              <a:rPr lang="en-US" altLang="en-US" sz="2200" dirty="0">
                <a:solidFill>
                  <a:srgbClr val="262626"/>
                </a:solidFill>
                <a:ea typeface="ＭＳ Ｐゴシック" panose="020B0600070205080204" pitchFamily="34" charset="-128"/>
              </a:rPr>
              <a:t>"</a:t>
            </a:r>
            <a:r>
              <a:rPr lang="en-US" altLang="en-US" sz="2200" dirty="0" err="1">
                <a:solidFill>
                  <a:srgbClr val="262626"/>
                </a:solidFill>
                <a:ea typeface="ＭＳ Ｐゴシック" panose="020B0600070205080204" pitchFamily="34" charset="-128"/>
              </a:rPr>
              <a:t>abc</a:t>
            </a:r>
            <a:r>
              <a:rPr lang="en-US" altLang="en-US" sz="2200" dirty="0">
                <a:solidFill>
                  <a:srgbClr val="262626"/>
                </a:solidFill>
                <a:ea typeface="ＭＳ Ｐゴシック" panose="020B0600070205080204" pitchFamily="34" charset="-128"/>
              </a:rPr>
              <a:t>"</a:t>
            </a:r>
            <a:endParaRPr lang="en-US" altLang="en-US" sz="2200" dirty="0">
              <a:solidFill>
                <a:srgbClr val="404040"/>
              </a:solidFill>
              <a:ea typeface="ＭＳ Ｐゴシック" panose="020B0600070205080204" pitchFamily="34" charset="-128"/>
            </a:endParaRPr>
          </a:p>
          <a:p>
            <a:pPr>
              <a:lnSpc>
                <a:spcPct val="150000"/>
              </a:lnSpc>
            </a:pPr>
            <a:r>
              <a:rPr lang="en-US" altLang="en-US" sz="2200" dirty="0">
                <a:ea typeface="ＭＳ Ｐゴシック" panose="020B0600070205080204" pitchFamily="34" charset="-128"/>
              </a:rPr>
              <a:t>the simplest regexes simply match a particular substring</a:t>
            </a:r>
          </a:p>
          <a:p>
            <a:pPr>
              <a:lnSpc>
                <a:spcPct val="150000"/>
              </a:lnSpc>
            </a:pPr>
            <a:r>
              <a:rPr lang="en-US" altLang="en-US" sz="2200" dirty="0">
                <a:ea typeface="ＭＳ Ｐゴシック" panose="020B0600070205080204" pitchFamily="34" charset="-128"/>
              </a:rPr>
              <a:t>this is really a pattern, not a string!</a:t>
            </a:r>
          </a:p>
          <a:p>
            <a:pPr>
              <a:lnSpc>
                <a:spcPct val="150000"/>
              </a:lnSpc>
            </a:pPr>
            <a:r>
              <a:rPr lang="en-US" altLang="en-US" sz="2200" dirty="0">
                <a:ea typeface="ＭＳ Ｐゴシック" panose="020B0600070205080204" pitchFamily="34" charset="-128"/>
              </a:rPr>
              <a:t>the above regular expression matches any line containing "</a:t>
            </a:r>
            <a:r>
              <a:rPr lang="en-US" altLang="en-US" sz="2200" dirty="0" err="1">
                <a:ea typeface="ＭＳ Ｐゴシック" panose="020B0600070205080204" pitchFamily="34" charset="-128"/>
              </a:rPr>
              <a:t>abc</a:t>
            </a:r>
            <a:r>
              <a:rPr lang="en-US" altLang="en-US" sz="2200" dirty="0">
                <a:ea typeface="ＭＳ Ｐゴシック" panose="020B0600070205080204" pitchFamily="34" charset="-128"/>
              </a:rPr>
              <a:t>"</a:t>
            </a:r>
          </a:p>
          <a:p>
            <a:pPr lvl="1">
              <a:lnSpc>
                <a:spcPct val="150000"/>
              </a:lnSpc>
            </a:pPr>
            <a:r>
              <a:rPr lang="en-US" altLang="en-US" sz="2200" i="1" dirty="0">
                <a:ea typeface="ＭＳ Ｐゴシック" panose="020B0600070205080204" pitchFamily="34" charset="-128"/>
              </a:rPr>
              <a:t>YES </a:t>
            </a:r>
            <a:r>
              <a:rPr lang="en-US" altLang="en-US" sz="2200" dirty="0">
                <a:ea typeface="ＭＳ Ｐゴシック" panose="020B0600070205080204" pitchFamily="34" charset="-128"/>
              </a:rPr>
              <a:t>: "</a:t>
            </a:r>
            <a:r>
              <a:rPr lang="en-US" altLang="en-US" sz="2200" dirty="0" err="1">
                <a:ea typeface="ＭＳ Ｐゴシック" panose="020B0600070205080204" pitchFamily="34" charset="-128"/>
              </a:rPr>
              <a:t>abc</a:t>
            </a:r>
            <a:r>
              <a:rPr lang="en-US" altLang="en-US" sz="2200" dirty="0">
                <a:ea typeface="ＭＳ Ｐゴシック" panose="020B0600070205080204" pitchFamily="34" charset="-128"/>
              </a:rPr>
              <a:t>",   "</a:t>
            </a:r>
            <a:r>
              <a:rPr lang="en-US" altLang="en-US" sz="2200" dirty="0" err="1">
                <a:ea typeface="ＭＳ Ｐゴシック" panose="020B0600070205080204" pitchFamily="34" charset="-128"/>
              </a:rPr>
              <a:t>abcdef</a:t>
            </a:r>
            <a:r>
              <a:rPr lang="en-US" altLang="en-US" sz="2200" dirty="0">
                <a:ea typeface="ＭＳ Ｐゴシック" panose="020B0600070205080204" pitchFamily="34" charset="-128"/>
              </a:rPr>
              <a:t>",   "</a:t>
            </a:r>
            <a:r>
              <a:rPr lang="en-US" altLang="en-US" sz="2200" dirty="0" err="1">
                <a:ea typeface="ＭＳ Ｐゴシック" panose="020B0600070205080204" pitchFamily="34" charset="-128"/>
              </a:rPr>
              <a:t>defabc</a:t>
            </a:r>
            <a:r>
              <a:rPr lang="en-US" altLang="en-US" sz="2200" dirty="0">
                <a:ea typeface="ＭＳ Ｐゴシック" panose="020B0600070205080204" pitchFamily="34" charset="-128"/>
              </a:rPr>
              <a:t>",   ".=.</a:t>
            </a:r>
            <a:r>
              <a:rPr lang="en-US" altLang="en-US" sz="2200" dirty="0" err="1">
                <a:ea typeface="ＭＳ Ｐゴシック" panose="020B0600070205080204" pitchFamily="34" charset="-128"/>
              </a:rPr>
              <a:t>abc</a:t>
            </a:r>
            <a:r>
              <a:rPr lang="en-US" altLang="en-US" sz="2200" dirty="0">
                <a:ea typeface="ＭＳ Ｐゴシック" panose="020B0600070205080204" pitchFamily="34" charset="-128"/>
              </a:rPr>
              <a:t>.=.",  ...</a:t>
            </a:r>
          </a:p>
          <a:p>
            <a:pPr lvl="1">
              <a:lnSpc>
                <a:spcPct val="150000"/>
              </a:lnSpc>
            </a:pPr>
            <a:r>
              <a:rPr lang="en-US" altLang="en-US" sz="2200" i="1" dirty="0">
                <a:ea typeface="ＭＳ Ｐゴシック" panose="020B0600070205080204" pitchFamily="34" charset="-128"/>
              </a:rPr>
              <a:t>NO </a:t>
            </a:r>
            <a:r>
              <a:rPr lang="en-US" altLang="en-US" sz="2200" dirty="0">
                <a:ea typeface="ＭＳ Ｐゴシック" panose="020B0600070205080204" pitchFamily="34" charset="-128"/>
              </a:rPr>
              <a:t>: "</a:t>
            </a:r>
            <a:r>
              <a:rPr lang="en-US" altLang="en-US" sz="2200" dirty="0" err="1">
                <a:ea typeface="ＭＳ Ｐゴシック" panose="020B0600070205080204" pitchFamily="34" charset="-128"/>
              </a:rPr>
              <a:t>fedcba</a:t>
            </a:r>
            <a:r>
              <a:rPr lang="en-US" altLang="en-US" sz="2200" dirty="0">
                <a:ea typeface="ＭＳ Ｐゴシック" panose="020B0600070205080204" pitchFamily="34" charset="-128"/>
              </a:rPr>
              <a:t>",   "ab c",   "</a:t>
            </a:r>
            <a:r>
              <a:rPr lang="en-US" altLang="en-US" sz="2200" dirty="0" err="1">
                <a:ea typeface="ＭＳ Ｐゴシック" panose="020B0600070205080204" pitchFamily="34" charset="-128"/>
              </a:rPr>
              <a:t>AbC</a:t>
            </a:r>
            <a:r>
              <a:rPr lang="en-US" altLang="en-US" sz="2200" dirty="0">
                <a:ea typeface="ＭＳ Ｐゴシック" panose="020B0600070205080204" pitchFamily="34" charset="-128"/>
              </a:rPr>
              <a:t>",   "Bash", ...</a:t>
            </a:r>
          </a:p>
        </p:txBody>
      </p:sp>
      <p:sp>
        <p:nvSpPr>
          <p:cNvPr id="2" name="Footer Placeholder 1">
            <a:extLst>
              <a:ext uri="{FF2B5EF4-FFF2-40B4-BE49-F238E27FC236}">
                <a16:creationId xmlns:a16="http://schemas.microsoft.com/office/drawing/2014/main" id="{49AAD03C-8935-404D-9A32-9AA4F3322055}"/>
              </a:ext>
            </a:extLst>
          </p:cNvPr>
          <p:cNvSpPr>
            <a:spLocks noGrp="1"/>
          </p:cNvSpPr>
          <p:nvPr>
            <p:ph type="ftr" sz="quarter" idx="11"/>
          </p:nvPr>
        </p:nvSpPr>
        <p:spPr/>
        <p:txBody>
          <a:bodyPr/>
          <a:lstStyle/>
          <a:p>
            <a:r>
              <a:rPr lang="en-US"/>
              <a:t>Or Peretz</a:t>
            </a:r>
          </a:p>
        </p:txBody>
      </p:sp>
      <p:sp>
        <p:nvSpPr>
          <p:cNvPr id="3" name="Slide Number Placeholder 2">
            <a:extLst>
              <a:ext uri="{FF2B5EF4-FFF2-40B4-BE49-F238E27FC236}">
                <a16:creationId xmlns:a16="http://schemas.microsoft.com/office/drawing/2014/main" id="{6B9A0510-BBE2-BD4F-B422-16C00BAF5684}"/>
              </a:ext>
            </a:extLst>
          </p:cNvPr>
          <p:cNvSpPr>
            <a:spLocks noGrp="1"/>
          </p:cNvSpPr>
          <p:nvPr>
            <p:ph type="sldNum" sz="quarter" idx="12"/>
          </p:nvPr>
        </p:nvSpPr>
        <p:spPr/>
        <p:txBody>
          <a:bodyPr/>
          <a:lstStyle/>
          <a:p>
            <a:fld id="{FB070496-1CF9-408E-B326-6CCA99B85165}" type="slidenum">
              <a:rPr lang="en-US" smtClean="0"/>
              <a:t>57</a:t>
            </a:fld>
            <a:endParaRPr lang="en-US"/>
          </a:p>
        </p:txBody>
      </p:sp>
    </p:spTree>
    <p:extLst>
      <p:ext uri="{BB962C8B-B14F-4D97-AF65-F5344CB8AC3E}">
        <p14:creationId xmlns:p14="http://schemas.microsoft.com/office/powerpoint/2010/main" val="2107573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3A20F135-1B8F-6649-8FBD-717389A627D4}"/>
              </a:ext>
            </a:extLst>
          </p:cNvPr>
          <p:cNvSpPr>
            <a:spLocks noGrp="1" noChangeArrowheads="1"/>
          </p:cNvSpPr>
          <p:nvPr>
            <p:ph type="title"/>
            <p:custDataLst>
              <p:tags r:id="rId1"/>
            </p:custDataLst>
          </p:nvPr>
        </p:nvSpPr>
        <p:spPr>
          <a:xfrm>
            <a:off x="838200" y="136525"/>
            <a:ext cx="10515600" cy="1325563"/>
          </a:xfrm>
        </p:spPr>
        <p:txBody>
          <a:bodyPr>
            <a:normAutofit/>
          </a:bodyPr>
          <a:lstStyle/>
          <a:p>
            <a:pPr algn="ctr">
              <a:lnSpc>
                <a:spcPct val="150000"/>
              </a:lnSpc>
              <a:spcBef>
                <a:spcPts val="1000"/>
              </a:spcBef>
            </a:pPr>
            <a:r>
              <a:rPr lang="en-US" altLang="en-US" sz="3000" dirty="0">
                <a:latin typeface="+mn-lt"/>
                <a:ea typeface="+mn-ea"/>
                <a:cs typeface="+mn-cs"/>
              </a:rPr>
              <a:t>Special Characters</a:t>
            </a:r>
          </a:p>
        </p:txBody>
      </p:sp>
      <p:sp>
        <p:nvSpPr>
          <p:cNvPr id="107523" name="Rectangle 3">
            <a:extLst>
              <a:ext uri="{FF2B5EF4-FFF2-40B4-BE49-F238E27FC236}">
                <a16:creationId xmlns:a16="http://schemas.microsoft.com/office/drawing/2014/main" id="{AF720155-E912-CF46-B57B-4D609505B7ED}"/>
              </a:ext>
            </a:extLst>
          </p:cNvPr>
          <p:cNvSpPr>
            <a:spLocks noGrp="1" noChangeArrowheads="1"/>
          </p:cNvSpPr>
          <p:nvPr>
            <p:ph type="body" idx="1"/>
            <p:custDataLst>
              <p:tags r:id="rId2"/>
            </p:custDataLst>
          </p:nvPr>
        </p:nvSpPr>
        <p:spPr>
          <a:xfrm>
            <a:off x="1524000" y="1295400"/>
            <a:ext cx="9144000" cy="5562600"/>
          </a:xfrm>
        </p:spPr>
        <p:txBody>
          <a:bodyPr>
            <a:noAutofit/>
          </a:bodyPr>
          <a:lstStyle/>
          <a:p>
            <a:pPr>
              <a:lnSpc>
                <a:spcPct val="150000"/>
              </a:lnSpc>
              <a:buFontTx/>
              <a:buNone/>
            </a:pPr>
            <a:r>
              <a:rPr lang="en-US" altLang="en-US" sz="2200" dirty="0">
                <a:ea typeface="ＭＳ Ｐゴシック" panose="020B0600070205080204" pitchFamily="34" charset="-128"/>
              </a:rPr>
              <a:t>	| means OR</a:t>
            </a:r>
          </a:p>
          <a:p>
            <a:pPr lvl="1">
              <a:lnSpc>
                <a:spcPct val="150000"/>
              </a:lnSpc>
            </a:pPr>
            <a:r>
              <a:rPr lang="en-US" altLang="en-US" sz="2200" dirty="0">
                <a:ea typeface="ＭＳ Ｐゴシック" panose="020B0600070205080204" pitchFamily="34" charset="-128"/>
              </a:rPr>
              <a:t>"</a:t>
            </a:r>
            <a:r>
              <a:rPr lang="en-US" altLang="en-US" sz="2200" dirty="0" err="1">
                <a:ea typeface="ＭＳ Ｐゴシック" panose="020B0600070205080204" pitchFamily="34" charset="-128"/>
              </a:rPr>
              <a:t>abc|def|g</a:t>
            </a:r>
            <a:r>
              <a:rPr lang="en-US" altLang="en-US" sz="2200" dirty="0">
                <a:ea typeface="ＭＳ Ｐゴシック" panose="020B0600070205080204" pitchFamily="34" charset="-128"/>
              </a:rPr>
              <a:t>" matches lines with  "</a:t>
            </a:r>
            <a:r>
              <a:rPr lang="en-US" altLang="en-US" sz="2200" dirty="0" err="1">
                <a:ea typeface="ＭＳ Ｐゴシック" panose="020B0600070205080204" pitchFamily="34" charset="-128"/>
              </a:rPr>
              <a:t>abc</a:t>
            </a:r>
            <a:r>
              <a:rPr lang="en-US" altLang="en-US" sz="2200" dirty="0">
                <a:ea typeface="ＭＳ Ｐゴシック" panose="020B0600070205080204" pitchFamily="34" charset="-128"/>
              </a:rPr>
              <a:t>", "def", or "g"</a:t>
            </a:r>
          </a:p>
          <a:p>
            <a:pPr lvl="1">
              <a:lnSpc>
                <a:spcPct val="150000"/>
              </a:lnSpc>
            </a:pPr>
            <a:r>
              <a:rPr lang="en-US" altLang="en-US" sz="2200" dirty="0">
                <a:ea typeface="ＭＳ Ｐゴシック" panose="020B0600070205080204" pitchFamily="34" charset="-128"/>
              </a:rPr>
              <a:t>precedence of ^</a:t>
            </a:r>
            <a:r>
              <a:rPr lang="en-US" altLang="en-US" sz="2200" u="sng" dirty="0">
                <a:ea typeface="ＭＳ Ｐゴシック" panose="020B0600070205080204" pitchFamily="34" charset="-128"/>
              </a:rPr>
              <a:t>(</a:t>
            </a:r>
            <a:r>
              <a:rPr lang="en-US" altLang="en-US" sz="2200" u="sng" dirty="0" err="1">
                <a:ea typeface="ＭＳ Ｐゴシック" panose="020B0600070205080204" pitchFamily="34" charset="-128"/>
              </a:rPr>
              <a:t>Subject|Date</a:t>
            </a:r>
            <a:r>
              <a:rPr lang="en-US" altLang="en-US" sz="2200" u="sng" dirty="0">
                <a:ea typeface="ＭＳ Ｐゴシック" panose="020B0600070205080204" pitchFamily="34" charset="-128"/>
              </a:rPr>
              <a:t>)</a:t>
            </a:r>
            <a:r>
              <a:rPr lang="en-US" altLang="en-US" sz="2200" dirty="0">
                <a:ea typeface="ＭＳ Ｐゴシック" panose="020B0600070205080204" pitchFamily="34" charset="-128"/>
              </a:rPr>
              <a:t>  vs.   </a:t>
            </a:r>
            <a:r>
              <a:rPr lang="en-US" altLang="en-US" sz="2200" u="sng" dirty="0">
                <a:ea typeface="ＭＳ Ｐゴシック" panose="020B0600070205080204" pitchFamily="34" charset="-128"/>
              </a:rPr>
              <a:t>^</a:t>
            </a:r>
            <a:r>
              <a:rPr lang="en-US" altLang="en-US" sz="2200" u="sng" dirty="0" err="1">
                <a:ea typeface="ＭＳ Ｐゴシック" panose="020B0600070205080204" pitchFamily="34" charset="-128"/>
              </a:rPr>
              <a:t>Subject</a:t>
            </a:r>
            <a:r>
              <a:rPr lang="en-US" altLang="en-US" sz="2200" dirty="0" err="1">
                <a:ea typeface="ＭＳ Ｐゴシック" panose="020B0600070205080204" pitchFamily="34" charset="-128"/>
              </a:rPr>
              <a:t>|Date</a:t>
            </a:r>
            <a:r>
              <a:rPr lang="en-US" altLang="en-US" sz="2200" dirty="0">
                <a:ea typeface="ＭＳ Ｐゴシック" panose="020B0600070205080204" pitchFamily="34" charset="-128"/>
              </a:rPr>
              <a:t>:</a:t>
            </a:r>
          </a:p>
          <a:p>
            <a:pPr lvl="1">
              <a:lnSpc>
                <a:spcPct val="150000"/>
              </a:lnSpc>
            </a:pPr>
            <a:r>
              <a:rPr lang="en-US" altLang="en-US" sz="2200" dirty="0">
                <a:ea typeface="ＭＳ Ｐゴシック" panose="020B0600070205080204" pitchFamily="34" charset="-128"/>
              </a:rPr>
              <a:t>There's no AND symbol. </a:t>
            </a:r>
          </a:p>
          <a:p>
            <a:pPr>
              <a:lnSpc>
                <a:spcPct val="150000"/>
              </a:lnSpc>
              <a:buFontTx/>
              <a:buNone/>
            </a:pPr>
            <a:r>
              <a:rPr lang="en-US" altLang="en-US" sz="2200" dirty="0">
                <a:ea typeface="ＭＳ Ｐゴシック" panose="020B0600070205080204" pitchFamily="34" charset="-128"/>
              </a:rPr>
              <a:t>	() are for grouping</a:t>
            </a:r>
          </a:p>
          <a:p>
            <a:pPr lvl="1">
              <a:lnSpc>
                <a:spcPct val="150000"/>
              </a:lnSpc>
            </a:pPr>
            <a:r>
              <a:rPr lang="en-US" altLang="en-US" sz="2200" dirty="0">
                <a:ea typeface="ＭＳ Ｐゴシック" panose="020B0600070205080204" pitchFamily="34" charset="-128"/>
              </a:rPr>
              <a:t>"(</a:t>
            </a:r>
            <a:r>
              <a:rPr lang="en-US" altLang="en-US" sz="2200" dirty="0" err="1">
                <a:ea typeface="ＭＳ Ｐゴシック" panose="020B0600070205080204" pitchFamily="34" charset="-128"/>
              </a:rPr>
              <a:t>Homer|Marge</a:t>
            </a:r>
            <a:r>
              <a:rPr lang="en-US" altLang="en-US" sz="2200" dirty="0">
                <a:ea typeface="ＭＳ Ｐゴシック" panose="020B0600070205080204" pitchFamily="34" charset="-128"/>
              </a:rPr>
              <a:t>) Simpson" matches lines containing </a:t>
            </a:r>
            <a:br>
              <a:rPr lang="en-US" altLang="en-US" sz="2200" dirty="0">
                <a:ea typeface="ＭＳ Ｐゴシック" panose="020B0600070205080204" pitchFamily="34" charset="-128"/>
              </a:rPr>
            </a:br>
            <a:r>
              <a:rPr lang="en-US" altLang="en-US" sz="2200" dirty="0">
                <a:ea typeface="ＭＳ Ｐゴシック" panose="020B0600070205080204" pitchFamily="34" charset="-128"/>
              </a:rPr>
              <a:t>"Homer Simpson" or "Marge Simpson"</a:t>
            </a:r>
          </a:p>
        </p:txBody>
      </p:sp>
      <p:sp>
        <p:nvSpPr>
          <p:cNvPr id="2" name="Footer Placeholder 1">
            <a:extLst>
              <a:ext uri="{FF2B5EF4-FFF2-40B4-BE49-F238E27FC236}">
                <a16:creationId xmlns:a16="http://schemas.microsoft.com/office/drawing/2014/main" id="{E149CB7A-88AB-B246-AD42-B939F0A41AD3}"/>
              </a:ext>
            </a:extLst>
          </p:cNvPr>
          <p:cNvSpPr>
            <a:spLocks noGrp="1"/>
          </p:cNvSpPr>
          <p:nvPr>
            <p:ph type="ftr" sz="quarter" idx="11"/>
          </p:nvPr>
        </p:nvSpPr>
        <p:spPr/>
        <p:txBody>
          <a:bodyPr/>
          <a:lstStyle/>
          <a:p>
            <a:r>
              <a:rPr lang="en-US"/>
              <a:t>Or Peretz</a:t>
            </a:r>
          </a:p>
        </p:txBody>
      </p:sp>
      <p:sp>
        <p:nvSpPr>
          <p:cNvPr id="3" name="Slide Number Placeholder 2">
            <a:extLst>
              <a:ext uri="{FF2B5EF4-FFF2-40B4-BE49-F238E27FC236}">
                <a16:creationId xmlns:a16="http://schemas.microsoft.com/office/drawing/2014/main" id="{456E9F7E-6BDC-4548-B48E-AFF34702FA78}"/>
              </a:ext>
            </a:extLst>
          </p:cNvPr>
          <p:cNvSpPr>
            <a:spLocks noGrp="1"/>
          </p:cNvSpPr>
          <p:nvPr>
            <p:ph type="sldNum" sz="quarter" idx="12"/>
          </p:nvPr>
        </p:nvSpPr>
        <p:spPr/>
        <p:txBody>
          <a:bodyPr/>
          <a:lstStyle/>
          <a:p>
            <a:fld id="{FB070496-1CF9-408E-B326-6CCA99B85165}" type="slidenum">
              <a:rPr lang="en-US" smtClean="0"/>
              <a:t>58</a:t>
            </a:fld>
            <a:endParaRPr lang="en-US"/>
          </a:p>
        </p:txBody>
      </p:sp>
    </p:spTree>
    <p:extLst>
      <p:ext uri="{BB962C8B-B14F-4D97-AF65-F5344CB8AC3E}">
        <p14:creationId xmlns:p14="http://schemas.microsoft.com/office/powerpoint/2010/main" val="393008829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07523">
                                            <p:txEl>
                                              <p:pRg st="4" end="4"/>
                                            </p:txEl>
                                          </p:spTgt>
                                        </p:tgtEl>
                                        <p:attrNameLst>
                                          <p:attrName>style.visibility</p:attrName>
                                        </p:attrNameLst>
                                      </p:cBhvr>
                                      <p:to>
                                        <p:strVal val="visible"/>
                                      </p:to>
                                    </p:set>
                                    <p:animEffect transition="in" filter="fade">
                                      <p:cBhvr>
                                        <p:cTn id="7" dur="1000"/>
                                        <p:tgtEl>
                                          <p:spTgt spid="107523">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7523">
                                            <p:txEl>
                                              <p:pRg st="5" end="5"/>
                                            </p:txEl>
                                          </p:spTgt>
                                        </p:tgtEl>
                                        <p:attrNameLst>
                                          <p:attrName>style.visibility</p:attrName>
                                        </p:attrNameLst>
                                      </p:cBhvr>
                                      <p:to>
                                        <p:strVal val="visible"/>
                                      </p:to>
                                    </p:set>
                                    <p:animEffect transition="in" filter="fade">
                                      <p:cBhvr>
                                        <p:cTn id="10" dur="1000"/>
                                        <p:tgtEl>
                                          <p:spTgt spid="1075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8163FBAF-CEB1-3D47-ACE5-2AE078E7BCEA}"/>
              </a:ext>
            </a:extLst>
          </p:cNvPr>
          <p:cNvSpPr>
            <a:spLocks noGrp="1" noChangeArrowheads="1"/>
          </p:cNvSpPr>
          <p:nvPr>
            <p:ph type="title"/>
            <p:custDataLst>
              <p:tags r:id="rId1"/>
            </p:custDataLst>
          </p:nvPr>
        </p:nvSpPr>
        <p:spPr>
          <a:xfrm>
            <a:off x="838200" y="0"/>
            <a:ext cx="10515600" cy="1325563"/>
          </a:xfrm>
        </p:spPr>
        <p:txBody>
          <a:bodyPr>
            <a:normAutofit/>
          </a:bodyPr>
          <a:lstStyle/>
          <a:p>
            <a:pPr algn="ctr">
              <a:lnSpc>
                <a:spcPct val="150000"/>
              </a:lnSpc>
              <a:spcBef>
                <a:spcPts val="1000"/>
              </a:spcBef>
            </a:pPr>
            <a:r>
              <a:rPr lang="en-US" altLang="en-US" sz="3000" dirty="0">
                <a:latin typeface="+mn-lt"/>
                <a:ea typeface="+mn-ea"/>
                <a:cs typeface="+mn-cs"/>
              </a:rPr>
              <a:t>Quantifiers</a:t>
            </a:r>
          </a:p>
        </p:txBody>
      </p:sp>
      <p:sp>
        <p:nvSpPr>
          <p:cNvPr id="108547" name="Rectangle 3">
            <a:extLst>
              <a:ext uri="{FF2B5EF4-FFF2-40B4-BE49-F238E27FC236}">
                <a16:creationId xmlns:a16="http://schemas.microsoft.com/office/drawing/2014/main" id="{30B74A47-BFC7-2A41-BEC7-C7B520F90659}"/>
              </a:ext>
            </a:extLst>
          </p:cNvPr>
          <p:cNvSpPr>
            <a:spLocks noGrp="1" noChangeArrowheads="1"/>
          </p:cNvSpPr>
          <p:nvPr>
            <p:ph type="body" idx="1"/>
            <p:custDataLst>
              <p:tags r:id="rId2"/>
            </p:custDataLst>
          </p:nvPr>
        </p:nvSpPr>
        <p:spPr>
          <a:xfrm>
            <a:off x="736600" y="1422400"/>
            <a:ext cx="9144000" cy="5562600"/>
          </a:xfrm>
        </p:spPr>
        <p:txBody>
          <a:bodyPr>
            <a:noAutofit/>
          </a:bodyPr>
          <a:lstStyle/>
          <a:p>
            <a:pPr>
              <a:lnSpc>
                <a:spcPct val="150000"/>
              </a:lnSpc>
              <a:buFontTx/>
              <a:buNone/>
            </a:pPr>
            <a:r>
              <a:rPr lang="en-US" altLang="en-US" sz="2200" dirty="0">
                <a:latin typeface="Consolas" panose="020B0609020204030204" pitchFamily="49" charset="0"/>
                <a:ea typeface="ＭＳ Ｐゴシック" panose="020B0600070205080204" pitchFamily="34" charset="-128"/>
              </a:rPr>
              <a:t>	*</a:t>
            </a:r>
            <a:r>
              <a:rPr lang="en-US" altLang="en-US" sz="2200" dirty="0">
                <a:ea typeface="ＭＳ Ｐゴシック" panose="020B0600070205080204" pitchFamily="34" charset="-128"/>
              </a:rPr>
              <a:t>  means 0 or more occurrences </a:t>
            </a:r>
          </a:p>
          <a:p>
            <a:pPr lvl="1">
              <a:lnSpc>
                <a:spcPct val="150000"/>
              </a:lnSpc>
            </a:pPr>
            <a:r>
              <a:rPr lang="en-US" altLang="en-US" sz="2000" dirty="0">
                <a:latin typeface="Consolas" panose="020B0609020204030204" pitchFamily="49" charset="0"/>
                <a:ea typeface="ＭＳ Ｐゴシック" panose="020B0600070205080204" pitchFamily="34" charset="-128"/>
              </a:rPr>
              <a:t>"</a:t>
            </a:r>
            <a:r>
              <a:rPr lang="en-US" altLang="en-US" sz="2000" dirty="0" err="1">
                <a:latin typeface="Consolas" panose="020B0609020204030204" pitchFamily="49" charset="0"/>
                <a:ea typeface="ＭＳ Ｐゴシック" panose="020B0600070205080204" pitchFamily="34" charset="-128"/>
              </a:rPr>
              <a:t>ab</a:t>
            </a:r>
            <a:r>
              <a:rPr lang="en-US" altLang="en-US" sz="2000" u="sng" dirty="0" err="1">
                <a:latin typeface="Consolas" panose="020B0609020204030204" pitchFamily="49" charset="0"/>
                <a:ea typeface="ＭＳ Ｐゴシック" panose="020B0600070205080204" pitchFamily="34" charset="-128"/>
              </a:rPr>
              <a:t>c</a:t>
            </a:r>
            <a:r>
              <a:rPr lang="en-US" altLang="en-US" sz="2000" u="sng" dirty="0">
                <a:latin typeface="Consolas" panose="020B0609020204030204" pitchFamily="49" charset="0"/>
                <a:ea typeface="ＭＳ Ｐゴシック" panose="020B0600070205080204" pitchFamily="34" charset="-128"/>
              </a:rPr>
              <a:t>*</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"ab", "</a:t>
            </a:r>
            <a:r>
              <a:rPr lang="en-US" altLang="en-US" sz="2000" dirty="0" err="1">
                <a:ea typeface="ＭＳ Ｐゴシック" panose="020B0600070205080204" pitchFamily="34" charset="-128"/>
              </a:rPr>
              <a:t>abc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abccc</a:t>
            </a:r>
            <a:r>
              <a:rPr lang="en-US" altLang="en-US" sz="2000" dirty="0">
                <a:ea typeface="ＭＳ Ｐゴシック" panose="020B0600070205080204" pitchFamily="34" charset="-128"/>
              </a:rPr>
              <a:t>", ... </a:t>
            </a:r>
          </a:p>
          <a:p>
            <a:pPr lvl="1">
              <a:lnSpc>
                <a:spcPct val="150000"/>
              </a:lnSpc>
            </a:pPr>
            <a:r>
              <a:rPr lang="en-US" altLang="en-US" sz="2000" dirty="0">
                <a:latin typeface="Consolas" panose="020B0609020204030204" pitchFamily="49" charset="0"/>
                <a:ea typeface="ＭＳ Ｐゴシック" panose="020B0600070205080204" pitchFamily="34" charset="-128"/>
              </a:rPr>
              <a:t>"a</a:t>
            </a:r>
            <a:r>
              <a:rPr lang="en-US" altLang="en-US" sz="2000" u="sng" dirty="0">
                <a:latin typeface="Consolas" panose="020B0609020204030204" pitchFamily="49" charset="0"/>
                <a:ea typeface="ＭＳ Ｐゴシック" panose="020B0600070205080204" pitchFamily="34" charset="-128"/>
              </a:rPr>
              <a:t>(</a:t>
            </a:r>
            <a:r>
              <a:rPr lang="en-US" altLang="en-US" sz="2000" u="sng" dirty="0" err="1">
                <a:latin typeface="Consolas" panose="020B0609020204030204" pitchFamily="49" charset="0"/>
                <a:ea typeface="ＭＳ Ｐゴシック" panose="020B0600070205080204" pitchFamily="34" charset="-128"/>
              </a:rPr>
              <a:t>bc</a:t>
            </a:r>
            <a:r>
              <a:rPr lang="en-US" altLang="en-US" sz="2000" u="sng" dirty="0">
                <a:latin typeface="Consolas" panose="020B0609020204030204" pitchFamily="49" charset="0"/>
                <a:ea typeface="ＭＳ Ｐゴシック" panose="020B0600070205080204" pitchFamily="34" charset="-128"/>
              </a:rPr>
              <a:t>)*</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"a", "</a:t>
            </a:r>
            <a:r>
              <a:rPr lang="en-US" altLang="en-US" sz="2000" dirty="0" err="1">
                <a:ea typeface="ＭＳ Ｐゴシック" panose="020B0600070205080204" pitchFamily="34" charset="-128"/>
              </a:rPr>
              <a:t>abc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abcbc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abcbcbc</a:t>
            </a:r>
            <a:r>
              <a:rPr lang="en-US" altLang="en-US" sz="2000" dirty="0">
                <a:ea typeface="ＭＳ Ｐゴシック" panose="020B0600070205080204" pitchFamily="34" charset="-128"/>
              </a:rPr>
              <a:t>", ... </a:t>
            </a:r>
          </a:p>
          <a:p>
            <a:pPr>
              <a:lnSpc>
                <a:spcPct val="150000"/>
              </a:lnSpc>
              <a:buFontTx/>
              <a:buNone/>
            </a:pPr>
            <a:r>
              <a:rPr lang="en-US" altLang="en-US" sz="2200" dirty="0">
                <a:latin typeface="Consolas" panose="020B0609020204030204" pitchFamily="49" charset="0"/>
                <a:ea typeface="ＭＳ Ｐゴシック" panose="020B0600070205080204" pitchFamily="34" charset="-128"/>
              </a:rPr>
              <a:t>	+</a:t>
            </a:r>
            <a:r>
              <a:rPr lang="en-US" altLang="en-US" sz="2200" dirty="0">
                <a:ea typeface="ＭＳ Ｐゴシック" panose="020B0600070205080204" pitchFamily="34" charset="-128"/>
              </a:rPr>
              <a:t>  means 1 or more occurrences </a:t>
            </a:r>
          </a:p>
          <a:p>
            <a:pPr lvl="1">
              <a:lnSpc>
                <a:spcPct val="150000"/>
              </a:lnSpc>
            </a:pPr>
            <a:r>
              <a:rPr lang="en-US" altLang="en-US" sz="2000" dirty="0">
                <a:latin typeface="Consolas" panose="020B0609020204030204" pitchFamily="49" charset="0"/>
                <a:ea typeface="ＭＳ Ｐゴシック" panose="020B0600070205080204" pitchFamily="34" charset="-128"/>
              </a:rPr>
              <a:t>"a</a:t>
            </a:r>
            <a:r>
              <a:rPr lang="en-US" altLang="en-US" sz="2000" u="sng" dirty="0">
                <a:latin typeface="Consolas" panose="020B0609020204030204" pitchFamily="49" charset="0"/>
                <a:ea typeface="ＭＳ Ｐゴシック" panose="020B0600070205080204" pitchFamily="34" charset="-128"/>
              </a:rPr>
              <a:t>(</a:t>
            </a:r>
            <a:r>
              <a:rPr lang="en-US" altLang="en-US" sz="2000" u="sng" dirty="0" err="1">
                <a:latin typeface="Consolas" panose="020B0609020204030204" pitchFamily="49" charset="0"/>
                <a:ea typeface="ＭＳ Ｐゴシック" panose="020B0600070205080204" pitchFamily="34" charset="-128"/>
              </a:rPr>
              <a:t>bc</a:t>
            </a:r>
            <a:r>
              <a:rPr lang="en-US" altLang="en-US" sz="2000" u="sng" dirty="0">
                <a:latin typeface="Consolas" panose="020B0609020204030204" pitchFamily="49" charset="0"/>
                <a:ea typeface="ＭＳ Ｐゴシック" panose="020B0600070205080204" pitchFamily="34" charset="-128"/>
              </a:rPr>
              <a:t>)+</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a:t>
            </a:r>
            <a:r>
              <a:rPr lang="en-US" altLang="en-US" sz="2000" dirty="0" err="1">
                <a:ea typeface="ＭＳ Ｐゴシック" panose="020B0600070205080204" pitchFamily="34" charset="-128"/>
              </a:rPr>
              <a:t>abc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abcbc</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abcbcbc</a:t>
            </a:r>
            <a:r>
              <a:rPr lang="en-US" altLang="en-US" sz="2000" dirty="0">
                <a:ea typeface="ＭＳ Ｐゴシック" panose="020B0600070205080204" pitchFamily="34" charset="-128"/>
              </a:rPr>
              <a:t>", ... </a:t>
            </a:r>
          </a:p>
          <a:p>
            <a:pPr lvl="1">
              <a:lnSpc>
                <a:spcPct val="150000"/>
              </a:lnSpc>
            </a:pPr>
            <a:r>
              <a:rPr lang="en-US" altLang="en-US" sz="2000" dirty="0">
                <a:latin typeface="Consolas" panose="020B0609020204030204" pitchFamily="49" charset="0"/>
                <a:ea typeface="ＭＳ Ｐゴシック" panose="020B0600070205080204" pitchFamily="34" charset="-128"/>
              </a:rPr>
              <a:t>"</a:t>
            </a:r>
            <a:r>
              <a:rPr lang="en-US" altLang="en-US" sz="2000" dirty="0" err="1">
                <a:latin typeface="Consolas" panose="020B0609020204030204" pitchFamily="49" charset="0"/>
                <a:ea typeface="ＭＳ Ｐゴシック" panose="020B0600070205080204" pitchFamily="34" charset="-128"/>
              </a:rPr>
              <a:t>Go</a:t>
            </a:r>
            <a:r>
              <a:rPr lang="en-US" altLang="en-US" sz="2000" u="sng" dirty="0" err="1">
                <a:latin typeface="Consolas" panose="020B0609020204030204" pitchFamily="49" charset="0"/>
                <a:ea typeface="ＭＳ Ｐゴシック" panose="020B0600070205080204" pitchFamily="34" charset="-128"/>
              </a:rPr>
              <a:t>o+</a:t>
            </a:r>
            <a:r>
              <a:rPr lang="en-US" altLang="en-US" sz="2000" dirty="0" err="1">
                <a:latin typeface="Consolas" panose="020B0609020204030204" pitchFamily="49" charset="0"/>
                <a:ea typeface="ＭＳ Ｐゴシック" panose="020B0600070205080204" pitchFamily="34" charset="-128"/>
              </a:rPr>
              <a:t>gle</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"Google", "</a:t>
            </a:r>
            <a:r>
              <a:rPr lang="en-US" altLang="en-US" sz="2000" dirty="0" err="1">
                <a:ea typeface="ＭＳ Ｐゴシック" panose="020B0600070205080204" pitchFamily="34" charset="-128"/>
              </a:rPr>
              <a:t>Gooogle</a:t>
            </a:r>
            <a:r>
              <a:rPr lang="en-US" altLang="en-US" sz="2000" dirty="0">
                <a:ea typeface="ＭＳ Ｐゴシック" panose="020B0600070205080204" pitchFamily="34" charset="-128"/>
              </a:rPr>
              <a:t>", "</a:t>
            </a:r>
            <a:r>
              <a:rPr lang="en-US" altLang="en-US" sz="2000" dirty="0" err="1">
                <a:ea typeface="ＭＳ Ｐゴシック" panose="020B0600070205080204" pitchFamily="34" charset="-128"/>
              </a:rPr>
              <a:t>Goooogle</a:t>
            </a:r>
            <a:r>
              <a:rPr lang="en-US" altLang="en-US" sz="2000" dirty="0">
                <a:ea typeface="ＭＳ Ｐゴシック" panose="020B0600070205080204" pitchFamily="34" charset="-128"/>
              </a:rPr>
              <a:t>", ... </a:t>
            </a:r>
          </a:p>
          <a:p>
            <a:pPr>
              <a:lnSpc>
                <a:spcPct val="150000"/>
              </a:lnSpc>
              <a:buFontTx/>
              <a:buNone/>
            </a:pPr>
            <a:r>
              <a:rPr lang="en-US" altLang="en-US" sz="2200" dirty="0">
                <a:latin typeface="Consolas" panose="020B0609020204030204" pitchFamily="49" charset="0"/>
                <a:ea typeface="ＭＳ Ｐゴシック" panose="020B0600070205080204" pitchFamily="34" charset="-128"/>
              </a:rPr>
              <a:t>	?</a:t>
            </a:r>
            <a:r>
              <a:rPr lang="en-US" altLang="en-US" sz="2200" dirty="0">
                <a:ea typeface="ＭＳ Ｐゴシック" panose="020B0600070205080204" pitchFamily="34" charset="-128"/>
              </a:rPr>
              <a:t>  means 0 or 1 occurrences </a:t>
            </a:r>
          </a:p>
          <a:p>
            <a:pPr lvl="1">
              <a:lnSpc>
                <a:spcPct val="150000"/>
              </a:lnSpc>
            </a:pPr>
            <a:r>
              <a:rPr lang="en-US" altLang="en-US" sz="2000" dirty="0">
                <a:latin typeface="Consolas" panose="020B0609020204030204" pitchFamily="49" charset="0"/>
                <a:ea typeface="ＭＳ Ｐゴシック" panose="020B0600070205080204" pitchFamily="34" charset="-128"/>
              </a:rPr>
              <a:t>"Martin</a:t>
            </a:r>
            <a:r>
              <a:rPr lang="en-US" altLang="en-US" sz="2000" u="sng" dirty="0">
                <a:latin typeface="Consolas" panose="020B0609020204030204" pitchFamily="49" charset="0"/>
                <a:ea typeface="ＭＳ Ｐゴシック" panose="020B0600070205080204" pitchFamily="34" charset="-128"/>
              </a:rPr>
              <a:t>a?</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lines with "Martin" or "Martina"</a:t>
            </a:r>
          </a:p>
          <a:p>
            <a:pPr lvl="1">
              <a:lnSpc>
                <a:spcPct val="150000"/>
              </a:lnSpc>
            </a:pPr>
            <a:r>
              <a:rPr lang="en-US" altLang="en-US" sz="2000" dirty="0">
                <a:latin typeface="Consolas" panose="020B0609020204030204" pitchFamily="49" charset="0"/>
                <a:ea typeface="ＭＳ Ｐゴシック" panose="020B0600070205080204" pitchFamily="34" charset="-128"/>
              </a:rPr>
              <a:t>"Dan</a:t>
            </a:r>
            <a:r>
              <a:rPr lang="en-US" altLang="en-US" sz="2000" u="sng" dirty="0">
                <a:latin typeface="Consolas" panose="020B0609020204030204" pitchFamily="49" charset="0"/>
                <a:ea typeface="ＭＳ Ｐゴシック" panose="020B0600070205080204" pitchFamily="34" charset="-128"/>
              </a:rPr>
              <a:t>(</a:t>
            </a:r>
            <a:r>
              <a:rPr lang="en-US" altLang="en-US" sz="2000" u="sng" dirty="0" err="1">
                <a:latin typeface="Consolas" panose="020B0609020204030204" pitchFamily="49" charset="0"/>
                <a:ea typeface="ＭＳ Ｐゴシック" panose="020B0600070205080204" pitchFamily="34" charset="-128"/>
              </a:rPr>
              <a:t>iel</a:t>
            </a:r>
            <a:r>
              <a:rPr lang="en-US" altLang="en-US" sz="2000" u="sng" dirty="0">
                <a:latin typeface="Consolas" panose="020B0609020204030204" pitchFamily="49" charset="0"/>
                <a:ea typeface="ＭＳ Ｐゴシック" panose="020B0600070205080204" pitchFamily="34" charset="-128"/>
              </a:rPr>
              <a:t>)?</a:t>
            </a:r>
            <a:r>
              <a:rPr lang="en-US" altLang="en-US" sz="2000" dirty="0">
                <a:latin typeface="Consolas" panose="020B0609020204030204" pitchFamily="49" charset="0"/>
                <a:ea typeface="ＭＳ Ｐゴシック" panose="020B0600070205080204" pitchFamily="34" charset="-128"/>
              </a:rPr>
              <a:t>"</a:t>
            </a:r>
            <a:r>
              <a:rPr lang="en-US" altLang="en-US" sz="2000" dirty="0">
                <a:ea typeface="ＭＳ Ｐゴシック" panose="020B0600070205080204" pitchFamily="34" charset="-128"/>
              </a:rPr>
              <a:t> matches lines with "Dan" or "Daniel"</a:t>
            </a:r>
          </a:p>
        </p:txBody>
      </p:sp>
      <p:sp>
        <p:nvSpPr>
          <p:cNvPr id="2" name="Footer Placeholder 1">
            <a:extLst>
              <a:ext uri="{FF2B5EF4-FFF2-40B4-BE49-F238E27FC236}">
                <a16:creationId xmlns:a16="http://schemas.microsoft.com/office/drawing/2014/main" id="{EF44F9BB-2981-354B-B5AA-E67A10242623}"/>
              </a:ext>
            </a:extLst>
          </p:cNvPr>
          <p:cNvSpPr>
            <a:spLocks noGrp="1"/>
          </p:cNvSpPr>
          <p:nvPr>
            <p:ph type="ftr" sz="quarter" idx="11"/>
          </p:nvPr>
        </p:nvSpPr>
        <p:spPr/>
        <p:txBody>
          <a:bodyPr/>
          <a:lstStyle/>
          <a:p>
            <a:r>
              <a:rPr lang="en-US"/>
              <a:t>Or Peretz</a:t>
            </a:r>
          </a:p>
        </p:txBody>
      </p:sp>
      <p:sp>
        <p:nvSpPr>
          <p:cNvPr id="3" name="Slide Number Placeholder 2">
            <a:extLst>
              <a:ext uri="{FF2B5EF4-FFF2-40B4-BE49-F238E27FC236}">
                <a16:creationId xmlns:a16="http://schemas.microsoft.com/office/drawing/2014/main" id="{EE3EEC56-BB7C-9F4E-9363-3409960766EA}"/>
              </a:ext>
            </a:extLst>
          </p:cNvPr>
          <p:cNvSpPr>
            <a:spLocks noGrp="1"/>
          </p:cNvSpPr>
          <p:nvPr>
            <p:ph type="sldNum" sz="quarter" idx="12"/>
          </p:nvPr>
        </p:nvSpPr>
        <p:spPr/>
        <p:txBody>
          <a:bodyPr/>
          <a:lstStyle/>
          <a:p>
            <a:fld id="{FB070496-1CF9-408E-B326-6CCA99B85165}" type="slidenum">
              <a:rPr lang="en-US" smtClean="0"/>
              <a:t>59</a:t>
            </a:fld>
            <a:endParaRPr lang="en-US"/>
          </a:p>
        </p:txBody>
      </p:sp>
    </p:spTree>
    <p:extLst>
      <p:ext uri="{BB962C8B-B14F-4D97-AF65-F5344CB8AC3E}">
        <p14:creationId xmlns:p14="http://schemas.microsoft.com/office/powerpoint/2010/main" val="1243568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A8292F18-0184-5D41-985A-D32661962FBC}"/>
              </a:ext>
            </a:extLst>
          </p:cNvPr>
          <p:cNvSpPr>
            <a:spLocks noGrp="1" noChangeArrowheads="1"/>
          </p:cNvSpPr>
          <p:nvPr>
            <p:ph type="title"/>
            <p:custDataLst>
              <p:tags r:id="rId1"/>
            </p:custDataLst>
          </p:nvPr>
        </p:nvSpPr>
        <p:spPr>
          <a:xfrm>
            <a:off x="838200" y="0"/>
            <a:ext cx="10515600" cy="1325563"/>
          </a:xfrm>
        </p:spPr>
        <p:txBody>
          <a:bodyPr>
            <a:normAutofit/>
          </a:bodyPr>
          <a:lstStyle/>
          <a:p>
            <a:pPr algn="ctr">
              <a:lnSpc>
                <a:spcPct val="150000"/>
              </a:lnSpc>
              <a:spcBef>
                <a:spcPts val="1000"/>
              </a:spcBef>
            </a:pPr>
            <a:r>
              <a:rPr lang="en-US" altLang="en-US" sz="3000" dirty="0">
                <a:latin typeface="+mn-lt"/>
                <a:ea typeface="+mn-ea"/>
                <a:cs typeface="+mn-cs"/>
              </a:rPr>
              <a:t>Character Sets</a:t>
            </a:r>
          </a:p>
        </p:txBody>
      </p:sp>
      <p:sp>
        <p:nvSpPr>
          <p:cNvPr id="12291" name="Rectangle 3">
            <a:extLst>
              <a:ext uri="{FF2B5EF4-FFF2-40B4-BE49-F238E27FC236}">
                <a16:creationId xmlns:a16="http://schemas.microsoft.com/office/drawing/2014/main" id="{3A507C23-0F73-2948-A5F7-52D64A86E560}"/>
              </a:ext>
            </a:extLst>
          </p:cNvPr>
          <p:cNvSpPr>
            <a:spLocks noGrp="1" noChangeArrowheads="1"/>
          </p:cNvSpPr>
          <p:nvPr>
            <p:ph type="body" idx="1"/>
            <p:custDataLst>
              <p:tags r:id="rId2"/>
            </p:custDataLst>
          </p:nvPr>
        </p:nvSpPr>
        <p:spPr>
          <a:xfrm>
            <a:off x="1524000" y="1295400"/>
            <a:ext cx="9144000" cy="5562600"/>
          </a:xfrm>
        </p:spPr>
        <p:txBody>
          <a:bodyPr>
            <a:normAutofit/>
          </a:bodyPr>
          <a:lstStyle/>
          <a:p>
            <a:pPr>
              <a:lnSpc>
                <a:spcPct val="150000"/>
              </a:lnSpc>
              <a:buFontTx/>
              <a:buNone/>
            </a:pPr>
            <a:r>
              <a:rPr lang="en-US" altLang="en-US" sz="2200" dirty="0">
                <a:ea typeface="ＭＳ Ｐゴシック" panose="020B0600070205080204" pitchFamily="34" charset="-128"/>
              </a:rPr>
              <a:t>	[ ] group characters into a character set; </a:t>
            </a:r>
            <a:br>
              <a:rPr lang="en-US" altLang="en-US" sz="2200" dirty="0">
                <a:ea typeface="ＭＳ Ｐゴシック" panose="020B0600070205080204" pitchFamily="34" charset="-128"/>
              </a:rPr>
            </a:br>
            <a:r>
              <a:rPr lang="en-US" altLang="en-US" sz="2200" dirty="0">
                <a:ea typeface="ＭＳ Ｐゴシック" panose="020B0600070205080204" pitchFamily="34" charset="-128"/>
              </a:rPr>
              <a:t>will match any single character from the set </a:t>
            </a:r>
          </a:p>
          <a:p>
            <a:pPr lvl="1">
              <a:lnSpc>
                <a:spcPct val="150000"/>
              </a:lnSpc>
            </a:pPr>
            <a:r>
              <a:rPr lang="en-US" altLang="en-US" sz="2200" dirty="0">
                <a:ea typeface="ＭＳ Ｐゴシック" panose="020B0600070205080204" pitchFamily="34" charset="-128"/>
              </a:rPr>
              <a:t>"[</a:t>
            </a:r>
            <a:r>
              <a:rPr lang="en-US" altLang="en-US" sz="2200" dirty="0" err="1">
                <a:ea typeface="ＭＳ Ｐゴシック" panose="020B0600070205080204" pitchFamily="34" charset="-128"/>
              </a:rPr>
              <a:t>bcd</a:t>
            </a:r>
            <a:r>
              <a:rPr lang="en-US" altLang="en-US" sz="2200" dirty="0">
                <a:ea typeface="ＭＳ Ｐゴシック" panose="020B0600070205080204" pitchFamily="34" charset="-128"/>
              </a:rPr>
              <a:t>]art" matches strings containing "</a:t>
            </a:r>
            <a:r>
              <a:rPr lang="en-US" altLang="en-US" sz="2200" dirty="0" err="1">
                <a:ea typeface="ＭＳ Ｐゴシック" panose="020B0600070205080204" pitchFamily="34" charset="-128"/>
              </a:rPr>
              <a:t>bart</a:t>
            </a:r>
            <a:r>
              <a:rPr lang="en-US" altLang="en-US" sz="2200" dirty="0">
                <a:ea typeface="ＭＳ Ｐゴシック" panose="020B0600070205080204" pitchFamily="34" charset="-128"/>
              </a:rPr>
              <a:t>", "cart", and "dart" </a:t>
            </a:r>
          </a:p>
          <a:p>
            <a:pPr lvl="1">
              <a:lnSpc>
                <a:spcPct val="150000"/>
              </a:lnSpc>
            </a:pPr>
            <a:r>
              <a:rPr lang="en-US" altLang="en-US" sz="2200" dirty="0">
                <a:ea typeface="ＭＳ Ｐゴシック" panose="020B0600070205080204" pitchFamily="34" charset="-128"/>
              </a:rPr>
              <a:t>equivalent to "(</a:t>
            </a:r>
            <a:r>
              <a:rPr lang="en-US" altLang="en-US" sz="2200" dirty="0" err="1">
                <a:ea typeface="ＭＳ Ｐゴシック" panose="020B0600070205080204" pitchFamily="34" charset="-128"/>
              </a:rPr>
              <a:t>b|c|d</a:t>
            </a:r>
            <a:r>
              <a:rPr lang="en-US" altLang="en-US" sz="2200" dirty="0">
                <a:ea typeface="ＭＳ Ｐゴシック" panose="020B0600070205080204" pitchFamily="34" charset="-128"/>
              </a:rPr>
              <a:t>)art" but shorter </a:t>
            </a:r>
          </a:p>
          <a:p>
            <a:pPr>
              <a:lnSpc>
                <a:spcPct val="150000"/>
              </a:lnSpc>
            </a:pPr>
            <a:r>
              <a:rPr lang="en-US" altLang="en-US" sz="2200" dirty="0">
                <a:ea typeface="ＭＳ Ｐゴシック" panose="020B0600070205080204" pitchFamily="34" charset="-128"/>
              </a:rPr>
              <a:t>inside [ ], most modifier keys act as normal characters </a:t>
            </a:r>
          </a:p>
          <a:p>
            <a:pPr lvl="1">
              <a:lnSpc>
                <a:spcPct val="150000"/>
              </a:lnSpc>
            </a:pPr>
            <a:r>
              <a:rPr lang="en-US" altLang="en-US" sz="2200" dirty="0">
                <a:ea typeface="ＭＳ Ｐゴシック" panose="020B0600070205080204" pitchFamily="34" charset="-128"/>
              </a:rPr>
              <a:t>"what[.!*?]*"  matches "what", "what.", "what!", "what?**!", ... </a:t>
            </a:r>
          </a:p>
          <a:p>
            <a:pPr marL="457200" lvl="1" indent="0">
              <a:lnSpc>
                <a:spcPct val="150000"/>
              </a:lnSpc>
              <a:buNone/>
            </a:pPr>
            <a:endParaRPr lang="en-US" altLang="en-US" sz="2200" dirty="0">
              <a:ea typeface="ＭＳ Ｐゴシック" panose="020B0600070205080204" pitchFamily="34" charset="-128"/>
            </a:endParaRPr>
          </a:p>
        </p:txBody>
      </p:sp>
      <p:sp>
        <p:nvSpPr>
          <p:cNvPr id="2" name="Footer Placeholder 1">
            <a:extLst>
              <a:ext uri="{FF2B5EF4-FFF2-40B4-BE49-F238E27FC236}">
                <a16:creationId xmlns:a16="http://schemas.microsoft.com/office/drawing/2014/main" id="{FF7C1BD5-F982-DF46-B852-92D82D50B0AB}"/>
              </a:ext>
            </a:extLst>
          </p:cNvPr>
          <p:cNvSpPr>
            <a:spLocks noGrp="1"/>
          </p:cNvSpPr>
          <p:nvPr>
            <p:ph type="ftr" sz="quarter" idx="11"/>
          </p:nvPr>
        </p:nvSpPr>
        <p:spPr/>
        <p:txBody>
          <a:bodyPr/>
          <a:lstStyle/>
          <a:p>
            <a:r>
              <a:rPr lang="en-US"/>
              <a:t>Or Peretz</a:t>
            </a:r>
          </a:p>
        </p:txBody>
      </p:sp>
      <p:sp>
        <p:nvSpPr>
          <p:cNvPr id="3" name="Slide Number Placeholder 2">
            <a:extLst>
              <a:ext uri="{FF2B5EF4-FFF2-40B4-BE49-F238E27FC236}">
                <a16:creationId xmlns:a16="http://schemas.microsoft.com/office/drawing/2014/main" id="{40D0748A-473F-294B-9390-FE9949336946}"/>
              </a:ext>
            </a:extLst>
          </p:cNvPr>
          <p:cNvSpPr>
            <a:spLocks noGrp="1"/>
          </p:cNvSpPr>
          <p:nvPr>
            <p:ph type="sldNum" sz="quarter" idx="12"/>
          </p:nvPr>
        </p:nvSpPr>
        <p:spPr/>
        <p:txBody>
          <a:bodyPr/>
          <a:lstStyle/>
          <a:p>
            <a:fld id="{FB070496-1CF9-408E-B326-6CCA99B85165}" type="slidenum">
              <a:rPr lang="en-US" smtClean="0"/>
              <a:t>60</a:t>
            </a:fld>
            <a:endParaRPr lang="en-US"/>
          </a:p>
        </p:txBody>
      </p:sp>
    </p:spTree>
    <p:extLst>
      <p:ext uri="{BB962C8B-B14F-4D97-AF65-F5344CB8AC3E}">
        <p14:creationId xmlns:p14="http://schemas.microsoft.com/office/powerpoint/2010/main" val="1852858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0805F623-8762-6E47-8317-39361EA48F19}"/>
              </a:ext>
            </a:extLst>
          </p:cNvPr>
          <p:cNvSpPr>
            <a:spLocks noGrp="1" noChangeArrowheads="1"/>
          </p:cNvSpPr>
          <p:nvPr>
            <p:ph type="title"/>
            <p:custDataLst>
              <p:tags r:id="rId1"/>
            </p:custDataLst>
          </p:nvPr>
        </p:nvSpPr>
        <p:spPr>
          <a:xfrm>
            <a:off x="838200" y="-30163"/>
            <a:ext cx="10515600" cy="1325563"/>
          </a:xfrm>
        </p:spPr>
        <p:txBody>
          <a:bodyPr>
            <a:normAutofit/>
          </a:bodyPr>
          <a:lstStyle/>
          <a:p>
            <a:pPr algn="ctr">
              <a:lnSpc>
                <a:spcPct val="150000"/>
              </a:lnSpc>
              <a:spcBef>
                <a:spcPts val="1000"/>
              </a:spcBef>
            </a:pPr>
            <a:r>
              <a:rPr lang="en-US" altLang="en-US" sz="3000" dirty="0">
                <a:latin typeface="+mn-lt"/>
                <a:ea typeface="+mn-ea"/>
                <a:cs typeface="+mn-cs"/>
              </a:rPr>
              <a:t>Character Ranges</a:t>
            </a:r>
          </a:p>
        </p:txBody>
      </p:sp>
      <p:sp>
        <p:nvSpPr>
          <p:cNvPr id="111619" name="Rectangle 3">
            <a:extLst>
              <a:ext uri="{FF2B5EF4-FFF2-40B4-BE49-F238E27FC236}">
                <a16:creationId xmlns:a16="http://schemas.microsoft.com/office/drawing/2014/main" id="{A7007D67-36B6-154D-ACC1-731DD50DBF2E}"/>
              </a:ext>
            </a:extLst>
          </p:cNvPr>
          <p:cNvSpPr>
            <a:spLocks noGrp="1" noChangeArrowheads="1"/>
          </p:cNvSpPr>
          <p:nvPr>
            <p:ph type="body" idx="1"/>
            <p:custDataLst>
              <p:tags r:id="rId2"/>
            </p:custDataLst>
          </p:nvPr>
        </p:nvSpPr>
        <p:spPr>
          <a:xfrm>
            <a:off x="1524000" y="1295400"/>
            <a:ext cx="9144000" cy="5562600"/>
          </a:xfrm>
        </p:spPr>
        <p:txBody>
          <a:bodyPr>
            <a:normAutofit/>
          </a:bodyPr>
          <a:lstStyle/>
          <a:p>
            <a:pPr>
              <a:lnSpc>
                <a:spcPct val="150000"/>
              </a:lnSpc>
            </a:pPr>
            <a:r>
              <a:rPr lang="en-US" altLang="en-US" sz="2200" dirty="0">
                <a:ea typeface="ＭＳ Ｐゴシック" panose="020B0600070205080204" pitchFamily="34" charset="-128"/>
              </a:rPr>
              <a:t>inside a character set, specify a range of characters with - </a:t>
            </a:r>
          </a:p>
          <a:p>
            <a:pPr lvl="1">
              <a:lnSpc>
                <a:spcPct val="150000"/>
              </a:lnSpc>
            </a:pPr>
            <a:r>
              <a:rPr lang="en-US" altLang="en-US" sz="2200" dirty="0">
                <a:ea typeface="ＭＳ Ｐゴシック" panose="020B0600070205080204" pitchFamily="34" charset="-128"/>
              </a:rPr>
              <a:t>"[a-z]" matches any lowercase letter </a:t>
            </a:r>
          </a:p>
          <a:p>
            <a:pPr lvl="1">
              <a:lnSpc>
                <a:spcPct val="150000"/>
              </a:lnSpc>
            </a:pPr>
            <a:r>
              <a:rPr lang="en-US" altLang="en-US" sz="2200" dirty="0">
                <a:ea typeface="ＭＳ Ｐゴシック" panose="020B0600070205080204" pitchFamily="34" charset="-128"/>
              </a:rPr>
              <a:t>"[a-zA-Z0-9]" matches any lower- or uppercase letter or digit </a:t>
            </a:r>
          </a:p>
          <a:p>
            <a:pPr>
              <a:lnSpc>
                <a:spcPct val="150000"/>
              </a:lnSpc>
            </a:pPr>
            <a:r>
              <a:rPr lang="en-US" altLang="en-US" sz="2200" dirty="0">
                <a:ea typeface="ＭＳ Ｐゴシック" panose="020B0600070205080204" pitchFamily="34" charset="-128"/>
              </a:rPr>
              <a:t>an initial ^ inside a character set negates it </a:t>
            </a:r>
          </a:p>
          <a:p>
            <a:pPr lvl="1">
              <a:lnSpc>
                <a:spcPct val="150000"/>
              </a:lnSpc>
            </a:pPr>
            <a:r>
              <a:rPr lang="en-US" altLang="en-US" sz="2200" dirty="0">
                <a:ea typeface="ＭＳ Ｐゴシック" panose="020B0600070205080204" pitchFamily="34" charset="-128"/>
              </a:rPr>
              <a:t>"[^</a:t>
            </a:r>
            <a:r>
              <a:rPr lang="en-US" altLang="en-US" sz="2200" dirty="0" err="1">
                <a:ea typeface="ＭＳ Ｐゴシック" panose="020B0600070205080204" pitchFamily="34" charset="-128"/>
              </a:rPr>
              <a:t>abcd</a:t>
            </a:r>
            <a:r>
              <a:rPr lang="en-US" altLang="en-US" sz="2200" dirty="0">
                <a:ea typeface="ＭＳ Ｐゴシック" panose="020B0600070205080204" pitchFamily="34" charset="-128"/>
              </a:rPr>
              <a:t>]" matches any character other than a, b, c, or d </a:t>
            </a:r>
          </a:p>
          <a:p>
            <a:pPr>
              <a:lnSpc>
                <a:spcPct val="150000"/>
              </a:lnSpc>
            </a:pPr>
            <a:r>
              <a:rPr lang="en-US" altLang="en-US" sz="2200" dirty="0">
                <a:ea typeface="ＭＳ Ｐゴシック" panose="020B0600070205080204" pitchFamily="34" charset="-128"/>
              </a:rPr>
              <a:t>inside a character set, - must be escaped to be matched </a:t>
            </a:r>
          </a:p>
          <a:p>
            <a:pPr lvl="1">
              <a:lnSpc>
                <a:spcPct val="150000"/>
              </a:lnSpc>
            </a:pPr>
            <a:r>
              <a:rPr lang="en-US" altLang="en-US" sz="2200" dirty="0">
                <a:ea typeface="ＭＳ Ｐゴシック" panose="020B0600070205080204" pitchFamily="34" charset="-128"/>
              </a:rPr>
              <a:t>"[+\-]?[0-9]+" matches optional + or -, followed by </a:t>
            </a:r>
            <a:r>
              <a:rPr lang="en-US" altLang="en-US" sz="2200" dirty="0">
                <a:ea typeface="ＭＳ Ｐゴシック" panose="020B0600070205080204" pitchFamily="34" charset="-128"/>
                <a:sym typeface="Symbol" pitchFamily="2" charset="2"/>
              </a:rPr>
              <a:t> </a:t>
            </a:r>
            <a:r>
              <a:rPr lang="en-US" altLang="en-US" sz="2200" dirty="0">
                <a:ea typeface="ＭＳ Ｐゴシック" panose="020B0600070205080204" pitchFamily="34" charset="-128"/>
              </a:rPr>
              <a:t>one digit </a:t>
            </a:r>
          </a:p>
          <a:p>
            <a:pPr lvl="1">
              <a:lnSpc>
                <a:spcPct val="150000"/>
              </a:lnSpc>
            </a:pPr>
            <a:endParaRPr lang="en-US" altLang="en-US" sz="2200" dirty="0">
              <a:ea typeface="ＭＳ Ｐゴシック" panose="020B0600070205080204" pitchFamily="34" charset="-128"/>
            </a:endParaRPr>
          </a:p>
        </p:txBody>
      </p:sp>
      <p:sp>
        <p:nvSpPr>
          <p:cNvPr id="2" name="Footer Placeholder 1">
            <a:extLst>
              <a:ext uri="{FF2B5EF4-FFF2-40B4-BE49-F238E27FC236}">
                <a16:creationId xmlns:a16="http://schemas.microsoft.com/office/drawing/2014/main" id="{998B295A-2FC0-0D41-B883-6F8F885CB78F}"/>
              </a:ext>
            </a:extLst>
          </p:cNvPr>
          <p:cNvSpPr>
            <a:spLocks noGrp="1"/>
          </p:cNvSpPr>
          <p:nvPr>
            <p:ph type="ftr" sz="quarter" idx="11"/>
          </p:nvPr>
        </p:nvSpPr>
        <p:spPr/>
        <p:txBody>
          <a:bodyPr/>
          <a:lstStyle/>
          <a:p>
            <a:r>
              <a:rPr lang="en-US"/>
              <a:t>Or Peretz</a:t>
            </a:r>
          </a:p>
        </p:txBody>
      </p:sp>
      <p:sp>
        <p:nvSpPr>
          <p:cNvPr id="3" name="Slide Number Placeholder 2">
            <a:extLst>
              <a:ext uri="{FF2B5EF4-FFF2-40B4-BE49-F238E27FC236}">
                <a16:creationId xmlns:a16="http://schemas.microsoft.com/office/drawing/2014/main" id="{943D44F2-83D2-A049-BAF9-BEA35988DAC5}"/>
              </a:ext>
            </a:extLst>
          </p:cNvPr>
          <p:cNvSpPr>
            <a:spLocks noGrp="1"/>
          </p:cNvSpPr>
          <p:nvPr>
            <p:ph type="sldNum" sz="quarter" idx="12"/>
          </p:nvPr>
        </p:nvSpPr>
        <p:spPr/>
        <p:txBody>
          <a:bodyPr/>
          <a:lstStyle/>
          <a:p>
            <a:fld id="{FB070496-1CF9-408E-B326-6CCA99B85165}" type="slidenum">
              <a:rPr lang="en-US" smtClean="0"/>
              <a:t>61</a:t>
            </a:fld>
            <a:endParaRPr lang="en-US"/>
          </a:p>
        </p:txBody>
      </p:sp>
    </p:spTree>
    <p:extLst>
      <p:ext uri="{BB962C8B-B14F-4D97-AF65-F5344CB8AC3E}">
        <p14:creationId xmlns:p14="http://schemas.microsoft.com/office/powerpoint/2010/main" val="15167886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14965</TotalTime>
  <Words>3200</Words>
  <Application>Microsoft Macintosh PowerPoint</Application>
  <PresentationFormat>מסך רחב</PresentationFormat>
  <Paragraphs>801</Paragraphs>
  <Slides>61</Slides>
  <Notes>53</Notes>
  <HiddenSlides>0</HiddenSlides>
  <MMClips>0</MMClips>
  <ScaleCrop>false</ScaleCrop>
  <HeadingPairs>
    <vt:vector size="6" baseType="variant">
      <vt:variant>
        <vt:lpstr>גופנים בשימוש</vt:lpstr>
      </vt:variant>
      <vt:variant>
        <vt:i4>8</vt:i4>
      </vt:variant>
      <vt:variant>
        <vt:lpstr>ערכת נושא</vt:lpstr>
      </vt:variant>
      <vt:variant>
        <vt:i4>1</vt:i4>
      </vt:variant>
      <vt:variant>
        <vt:lpstr>כותרות שקופיות</vt:lpstr>
      </vt:variant>
      <vt:variant>
        <vt:i4>61</vt:i4>
      </vt:variant>
    </vt:vector>
  </HeadingPairs>
  <TitlesOfParts>
    <vt:vector size="70" baseType="lpstr">
      <vt:lpstr>ＭＳ Ｐゴシック</vt:lpstr>
      <vt:lpstr>Arial</vt:lpstr>
      <vt:lpstr>Calibri</vt:lpstr>
      <vt:lpstr>Calibri Light</vt:lpstr>
      <vt:lpstr>Cambria Math</vt:lpstr>
      <vt:lpstr>Consolas</vt:lpstr>
      <vt:lpstr>Times New Roman</vt:lpstr>
      <vt:lpstr>Wingdings</vt:lpstr>
      <vt:lpstr>Office Theme</vt:lpstr>
      <vt:lpstr>Cloud Data Engineering</vt:lpstr>
      <vt:lpstr>מצגת של PowerPoint‏</vt:lpstr>
      <vt:lpstr>מצגת של PowerPoint‏</vt:lpstr>
      <vt:lpstr>Motivation</vt:lpstr>
      <vt:lpstr>מצגת של PowerPoint‏</vt:lpstr>
      <vt:lpstr>מצגת של PowerPoint‏</vt:lpstr>
      <vt:lpstr>מצגת של PowerPoint‏</vt:lpstr>
      <vt:lpstr>מצגת של PowerPoint‏</vt:lpstr>
      <vt:lpstr>MapReduce workflow</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Mappers and Reducers</vt:lpstr>
      <vt:lpstr>Cloud Based Data Engineering</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Hadoop - Why ?</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Document Search</vt:lpstr>
      <vt:lpstr>What is a Regular Expression?</vt:lpstr>
      <vt:lpstr>Regular Expressions</vt:lpstr>
      <vt:lpstr>Basic REs</vt:lpstr>
      <vt:lpstr>Special Characters</vt:lpstr>
      <vt:lpstr>Quantifiers</vt:lpstr>
      <vt:lpstr>Character Sets</vt:lpstr>
      <vt:lpstr>Character Ranges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Groups</dc:title>
  <dc:creator>Lev</dc:creator>
  <cp:lastModifiedBy>or perets</cp:lastModifiedBy>
  <cp:revision>299</cp:revision>
  <dcterms:created xsi:type="dcterms:W3CDTF">2021-02-09T13:47:38Z</dcterms:created>
  <dcterms:modified xsi:type="dcterms:W3CDTF">2025-04-08T09:05:51Z</dcterms:modified>
</cp:coreProperties>
</file>