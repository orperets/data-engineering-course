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405" r:id="rId3"/>
    <p:sldId id="406" r:id="rId4"/>
    <p:sldId id="422" r:id="rId5"/>
    <p:sldId id="455" r:id="rId6"/>
    <p:sldId id="409" r:id="rId7"/>
    <p:sldId id="410" r:id="rId8"/>
    <p:sldId id="424" r:id="rId9"/>
    <p:sldId id="411" r:id="rId10"/>
    <p:sldId id="412" r:id="rId11"/>
    <p:sldId id="413" r:id="rId12"/>
    <p:sldId id="427" r:id="rId13"/>
    <p:sldId id="428" r:id="rId14"/>
    <p:sldId id="420" r:id="rId15"/>
    <p:sldId id="421" r:id="rId16"/>
    <p:sldId id="456" r:id="rId17"/>
    <p:sldId id="459" r:id="rId18"/>
    <p:sldId id="460" r:id="rId1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991B5C-86F2-E144-9AA1-54E31B227C56}">
          <p14:sldIdLst>
            <p14:sldId id="257"/>
            <p14:sldId id="405"/>
            <p14:sldId id="406"/>
            <p14:sldId id="422"/>
            <p14:sldId id="455"/>
            <p14:sldId id="409"/>
            <p14:sldId id="410"/>
            <p14:sldId id="424"/>
            <p14:sldId id="411"/>
            <p14:sldId id="412"/>
            <p14:sldId id="413"/>
            <p14:sldId id="427"/>
            <p14:sldId id="428"/>
            <p14:sldId id="420"/>
            <p14:sldId id="421"/>
            <p14:sldId id="456"/>
            <p14:sldId id="459"/>
            <p14:sldId id="460"/>
          </p14:sldIdLst>
        </p14:section>
        <p14:section name="Default Section" id="{BD4B2485-A594-4023-8BB9-3326100F71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31" autoAdjust="0"/>
    <p:restoredTop sz="94422"/>
  </p:normalViewPr>
  <p:slideViewPr>
    <p:cSldViewPr snapToGrid="0">
      <p:cViewPr varScale="1">
        <p:scale>
          <a:sx n="121" d="100"/>
          <a:sy n="121" d="100"/>
        </p:scale>
        <p:origin x="1368" y="16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15/02/2023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a:t>
            </a:fld>
            <a:endParaRPr lang="en-IL"/>
          </a:p>
        </p:txBody>
      </p:sp>
    </p:spTree>
    <p:extLst>
      <p:ext uri="{BB962C8B-B14F-4D97-AF65-F5344CB8AC3E}">
        <p14:creationId xmlns:p14="http://schemas.microsoft.com/office/powerpoint/2010/main" val="2859461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a:t>
            </a:fld>
            <a:endParaRPr lang="en-IL"/>
          </a:p>
        </p:txBody>
      </p:sp>
    </p:spTree>
    <p:extLst>
      <p:ext uri="{BB962C8B-B14F-4D97-AF65-F5344CB8AC3E}">
        <p14:creationId xmlns:p14="http://schemas.microsoft.com/office/powerpoint/2010/main" val="2061355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a:t>
            </a:fld>
            <a:endParaRPr lang="en-IL"/>
          </a:p>
        </p:txBody>
      </p:sp>
    </p:spTree>
    <p:extLst>
      <p:ext uri="{BB962C8B-B14F-4D97-AF65-F5344CB8AC3E}">
        <p14:creationId xmlns:p14="http://schemas.microsoft.com/office/powerpoint/2010/main" val="69500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a:t>
            </a:fld>
            <a:endParaRPr lang="en-IL"/>
          </a:p>
        </p:txBody>
      </p:sp>
    </p:spTree>
    <p:extLst>
      <p:ext uri="{BB962C8B-B14F-4D97-AF65-F5344CB8AC3E}">
        <p14:creationId xmlns:p14="http://schemas.microsoft.com/office/powerpoint/2010/main" val="1522814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a:t>
            </a:fld>
            <a:endParaRPr lang="en-IL"/>
          </a:p>
        </p:txBody>
      </p:sp>
    </p:spTree>
    <p:extLst>
      <p:ext uri="{BB962C8B-B14F-4D97-AF65-F5344CB8AC3E}">
        <p14:creationId xmlns:p14="http://schemas.microsoft.com/office/powerpoint/2010/main" val="399354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328116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8</a:t>
            </a:fld>
            <a:endParaRPr lang="en-IL"/>
          </a:p>
        </p:txBody>
      </p:sp>
    </p:spTree>
    <p:extLst>
      <p:ext uri="{BB962C8B-B14F-4D97-AF65-F5344CB8AC3E}">
        <p14:creationId xmlns:p14="http://schemas.microsoft.com/office/powerpoint/2010/main" val="563101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9</a:t>
            </a:fld>
            <a:endParaRPr lang="en-IL"/>
          </a:p>
        </p:txBody>
      </p:sp>
    </p:spTree>
    <p:extLst>
      <p:ext uri="{BB962C8B-B14F-4D97-AF65-F5344CB8AC3E}">
        <p14:creationId xmlns:p14="http://schemas.microsoft.com/office/powerpoint/2010/main" val="2216491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10</a:t>
            </a:fld>
            <a:endParaRPr lang="en-IL"/>
          </a:p>
        </p:txBody>
      </p:sp>
    </p:spTree>
    <p:extLst>
      <p:ext uri="{BB962C8B-B14F-4D97-AF65-F5344CB8AC3E}">
        <p14:creationId xmlns:p14="http://schemas.microsoft.com/office/powerpoint/2010/main" val="3150277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4091971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12</a:t>
            </a:fld>
            <a:endParaRPr lang="en-IL"/>
          </a:p>
        </p:txBody>
      </p:sp>
    </p:spTree>
    <p:extLst>
      <p:ext uri="{BB962C8B-B14F-4D97-AF65-F5344CB8AC3E}">
        <p14:creationId xmlns:p14="http://schemas.microsoft.com/office/powerpoint/2010/main" val="1686963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4119569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4233104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891281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2847665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2195376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18</a:t>
            </a:fld>
            <a:endParaRPr lang="en-IL"/>
          </a:p>
        </p:txBody>
      </p:sp>
    </p:spTree>
    <p:extLst>
      <p:ext uri="{BB962C8B-B14F-4D97-AF65-F5344CB8AC3E}">
        <p14:creationId xmlns:p14="http://schemas.microsoft.com/office/powerpoint/2010/main" val="915542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5DF7157C-9C36-0447-8046-5352E14D0F80}" type="datetime8">
              <a:rPr lang="en-US" smtClean="0"/>
              <a:t>2/15/23 4:55 PM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896E8B87-F9FD-464E-B534-DBC261D83ADB}" type="datetime8">
              <a:rPr lang="en-US" smtClean="0"/>
              <a:t>2/15/23 4:55 PM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7E52E3E6-91E3-074B-992C-DFAD5D8203F1}" type="datetime8">
              <a:rPr lang="en-US" smtClean="0"/>
              <a:t>2/15/23 4:55 PM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800260D7-63E2-8F4C-B61F-30E5198AD46D}" type="datetime8">
              <a:rPr lang="en-US" smtClean="0"/>
              <a:t>2/15/23 4:55 PM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B2854800-C55A-184D-A866-767457B6C650}" type="datetime8">
              <a:rPr lang="en-US" smtClean="0"/>
              <a:t>2/15/23 4:55 PM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C13F7541-BDF2-4645-8A4E-8E2D7EE21A60}" type="datetime8">
              <a:rPr lang="en-US" smtClean="0"/>
              <a:t>2/15/23 4:55 PM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3F821F0E-3E80-FE45-B8FD-1C1C83A92A89}" type="datetime8">
              <a:rPr lang="en-US" smtClean="0"/>
              <a:t>2/15/23 4:55 PM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96B84BC4-6D1E-DE4B-8507-B318EEC4AD62}" type="datetime8">
              <a:rPr lang="en-US" smtClean="0"/>
              <a:t>2/15/23 4:55 PM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50CF4522-6391-7F4B-8B88-660A337C3B79}" type="datetime8">
              <a:rPr lang="en-US" smtClean="0"/>
              <a:t>2/15/23 4:55 PM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AABB7FFB-2FB8-ED4D-871F-3A525991ED9E}" type="datetime8">
              <a:rPr lang="en-US" smtClean="0"/>
              <a:t>2/15/23 4:55 PM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B97DA56F-98C1-D743-A051-0A3D6E708A11}" type="datetime8">
              <a:rPr lang="en-US" smtClean="0"/>
              <a:t>2/15/23 4:55 PM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EDC74C-E7D5-9845-AF76-D52732F67C64}" type="datetime8">
              <a:rPr lang="en-US" smtClean="0"/>
              <a:t>2/15/23 4:55 PM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185352" y="395416"/>
            <a:ext cx="11794982" cy="3409557"/>
          </a:xfrm>
        </p:spPr>
        <p:txBody>
          <a:bodyPr>
            <a:normAutofit/>
          </a:bodyPr>
          <a:lstStyle/>
          <a:p>
            <a:pPr algn="ctr" defTabSz="914400" rtl="0" eaLnBrk="1" latinLnBrk="0" hangingPunct="1">
              <a:lnSpc>
                <a:spcPct val="90000"/>
              </a:lnSpc>
              <a:spcBef>
                <a:spcPct val="0"/>
              </a:spcBef>
              <a:buNone/>
            </a:pPr>
            <a:r>
              <a:rPr lang="en-US" u="sng" dirty="0">
                <a:cs typeface="+mn-cs"/>
              </a:rPr>
              <a:t>Business Intelligence</a:t>
            </a:r>
            <a:endParaRPr lang="en-IL" u="sng" dirty="0">
              <a:cs typeface="+mn-cs"/>
            </a:endParaRP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10843" y="4276585"/>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6</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STTM: Source To Target Mapping</a:t>
            </a:r>
          </a:p>
        </p:txBody>
      </p:sp>
    </p:spTree>
    <p:extLst>
      <p:ext uri="{BB962C8B-B14F-4D97-AF65-F5344CB8AC3E}">
        <p14:creationId xmlns:p14="http://schemas.microsoft.com/office/powerpoint/2010/main" val="1065533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Source to Target Mapping</a:t>
            </a:r>
          </a:p>
          <a:p>
            <a:pPr>
              <a:lnSpc>
                <a:spcPct val="150000"/>
              </a:lnSpc>
            </a:pPr>
            <a:r>
              <a:rPr lang="en-US" sz="2400" dirty="0"/>
              <a:t>When moving data from one system to another, it’s almost impossible to have a situation where the source and the target system have the same schema. </a:t>
            </a:r>
          </a:p>
          <a:p>
            <a:pPr marL="457200" indent="-457200">
              <a:lnSpc>
                <a:spcPct val="150000"/>
              </a:lnSpc>
              <a:buFontTx/>
              <a:buChar char="-"/>
            </a:pPr>
            <a:r>
              <a:rPr lang="en-US" sz="2400" dirty="0"/>
              <a:t>Need for a mechanism that allows users to map their attributes.</a:t>
            </a:r>
          </a:p>
          <a:p>
            <a:pPr marL="457200" indent="-457200">
              <a:lnSpc>
                <a:spcPct val="150000"/>
              </a:lnSpc>
              <a:buFontTx/>
              <a:buChar char="-"/>
            </a:pPr>
            <a:r>
              <a:rPr lang="en-US" sz="2400" dirty="0">
                <a:solidFill>
                  <a:srgbClr val="FF0000"/>
                </a:solidFill>
              </a:rPr>
              <a:t>This process becomes more complicated than it already is when there is data that has to be moved to a central data warehouse from various data sources, each having different schemas.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81447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Source to Target Mapping</a:t>
            </a:r>
          </a:p>
          <a:p>
            <a:pPr>
              <a:lnSpc>
                <a:spcPct val="150000"/>
              </a:lnSpc>
            </a:pPr>
            <a:r>
              <a:rPr lang="en-US" sz="2400" b="1" dirty="0"/>
              <a:t>Source to Target mapping </a:t>
            </a:r>
            <a:r>
              <a:rPr lang="en-US" sz="2400" dirty="0"/>
              <a:t>can be defined as a set of instructions that define how the structure and content in a source system would be transferred and stored in the target system. </a:t>
            </a:r>
          </a:p>
          <a:p>
            <a:pPr marL="342900" indent="-342900">
              <a:lnSpc>
                <a:spcPct val="150000"/>
              </a:lnSpc>
              <a:buFontTx/>
              <a:buChar char="-"/>
            </a:pPr>
            <a:r>
              <a:rPr lang="en-US" sz="2400" dirty="0"/>
              <a:t>Guidelines for the ETL (Extract, Transform, Load) process</a:t>
            </a:r>
          </a:p>
          <a:p>
            <a:pPr marL="342900" indent="-342900">
              <a:lnSpc>
                <a:spcPct val="150000"/>
              </a:lnSpc>
              <a:buFontTx/>
              <a:buChar char="-"/>
            </a:pPr>
            <a:r>
              <a:rPr lang="en-US" sz="2400" dirty="0"/>
              <a:t>Instructions on dealing with multiple data types, unknown members and default values, foreign key relationships, metadata, etc.</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680240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Source to Target Mapping</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7170" name="Picture 2" descr="The Importance of Data Mapping for Data Integration Projects - EWSolutions">
            <a:extLst>
              <a:ext uri="{FF2B5EF4-FFF2-40B4-BE49-F238E27FC236}">
                <a16:creationId xmlns:a16="http://schemas.microsoft.com/office/drawing/2014/main" id="{23CA61E1-73E6-8642-8FCD-53CD2331B8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066" y="2014955"/>
            <a:ext cx="9939867" cy="2462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1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Why Source-Target Mapping?</a:t>
            </a:r>
          </a:p>
          <a:p>
            <a:pPr>
              <a:lnSpc>
                <a:spcPct val="150000"/>
              </a:lnSpc>
            </a:pPr>
            <a:r>
              <a:rPr lang="en-US" sz="2400" dirty="0"/>
              <a:t>Source to Target mapping is an integral part of the data management process. </a:t>
            </a:r>
            <a:br>
              <a:rPr lang="en-US" dirty="0"/>
            </a:br>
            <a:r>
              <a:rPr lang="en-US" sz="2400" dirty="0"/>
              <a:t>Source to Target Mapping assists in three processes of the ETL pipeline:</a:t>
            </a:r>
          </a:p>
          <a:p>
            <a:pPr>
              <a:lnSpc>
                <a:spcPct val="150000"/>
              </a:lnSpc>
            </a:pPr>
            <a:r>
              <a:rPr lang="en-US" sz="2400" dirty="0"/>
              <a:t>Data Integration</a:t>
            </a:r>
          </a:p>
          <a:p>
            <a:pPr>
              <a:lnSpc>
                <a:spcPct val="150000"/>
              </a:lnSpc>
            </a:pPr>
            <a:r>
              <a:rPr lang="en-US" sz="2400" dirty="0"/>
              <a:t>Data Migration</a:t>
            </a:r>
          </a:p>
          <a:p>
            <a:pPr>
              <a:lnSpc>
                <a:spcPct val="150000"/>
              </a:lnSpc>
            </a:pPr>
            <a:r>
              <a:rPr lang="en-US" sz="2400" dirty="0"/>
              <a:t>Data Transformation</a:t>
            </a:r>
          </a:p>
          <a:p>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83151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Integration</a:t>
            </a:r>
          </a:p>
          <a:p>
            <a:pPr marL="342900" indent="-342900">
              <a:lnSpc>
                <a:spcPct val="150000"/>
              </a:lnSpc>
              <a:buFontTx/>
              <a:buChar char="-"/>
            </a:pPr>
            <a:r>
              <a:rPr lang="en-US" sz="2400" dirty="0"/>
              <a:t>Moving data from one system to another. </a:t>
            </a:r>
          </a:p>
          <a:p>
            <a:pPr marL="342900" indent="-342900">
              <a:lnSpc>
                <a:spcPct val="150000"/>
              </a:lnSpc>
              <a:buFontTx/>
              <a:buChar char="-"/>
            </a:pPr>
            <a:r>
              <a:rPr lang="en-US" sz="2400" dirty="0"/>
              <a:t>In most cases, this movement of data is from the </a:t>
            </a:r>
            <a:r>
              <a:rPr lang="en-US" sz="2400" b="1" dirty="0"/>
              <a:t>operational database </a:t>
            </a:r>
            <a:r>
              <a:rPr lang="en-US" sz="2400" dirty="0"/>
              <a:t>to the </a:t>
            </a:r>
            <a:br>
              <a:rPr lang="en-US" sz="2400" dirty="0"/>
            </a:br>
            <a:r>
              <a:rPr lang="en-US" sz="2400" b="1" dirty="0"/>
              <a:t>data warehouse</a:t>
            </a:r>
            <a:r>
              <a:rPr lang="en-US" sz="2400" dirty="0"/>
              <a:t>.</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449007E4-53F4-F540-9877-1BF3764B8F4D}"/>
              </a:ext>
            </a:extLst>
          </p:cNvPr>
          <p:cNvPicPr>
            <a:picLocks noChangeAspect="1"/>
          </p:cNvPicPr>
          <p:nvPr/>
        </p:nvPicPr>
        <p:blipFill>
          <a:blip r:embed="rId3"/>
          <a:stretch>
            <a:fillRect/>
          </a:stretch>
        </p:blipFill>
        <p:spPr>
          <a:xfrm>
            <a:off x="4199467" y="3079611"/>
            <a:ext cx="3953933" cy="2476639"/>
          </a:xfrm>
          <a:prstGeom prst="rect">
            <a:avLst/>
          </a:prstGeom>
        </p:spPr>
      </p:pic>
    </p:spTree>
    <p:extLst>
      <p:ext uri="{BB962C8B-B14F-4D97-AF65-F5344CB8AC3E}">
        <p14:creationId xmlns:p14="http://schemas.microsoft.com/office/powerpoint/2010/main" val="2559809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152400" y="136525"/>
            <a:ext cx="11861799" cy="6485754"/>
          </a:xfrm>
        </p:spPr>
        <p:txBody>
          <a:bodyPr>
            <a:normAutofit/>
          </a:bodyPr>
          <a:lstStyle/>
          <a:p>
            <a:pPr algn="ctr">
              <a:lnSpc>
                <a:spcPct val="150000"/>
              </a:lnSpc>
            </a:pPr>
            <a:r>
              <a:rPr lang="en-US" sz="3200" b="1" dirty="0"/>
              <a:t>Data Integration</a:t>
            </a:r>
          </a:p>
          <a:p>
            <a:pPr>
              <a:lnSpc>
                <a:spcPct val="150000"/>
              </a:lnSpc>
            </a:pPr>
            <a:r>
              <a:rPr lang="en-US" sz="2400" dirty="0"/>
              <a:t>The mapping defines how data sources relate to the data warehouse during data integration. Instructions on how multiple data sources intersect with each, which data record is preferred if duplicate data is found, etc.</a:t>
            </a:r>
          </a:p>
          <a:p>
            <a:br>
              <a:rPr lang="en-US" dirty="0"/>
            </a:br>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6" name="Picture 5">
            <a:extLst>
              <a:ext uri="{FF2B5EF4-FFF2-40B4-BE49-F238E27FC236}">
                <a16:creationId xmlns:a16="http://schemas.microsoft.com/office/drawing/2014/main" id="{E1529884-7FA3-B94E-A790-D67AFC88B1B7}"/>
              </a:ext>
            </a:extLst>
          </p:cNvPr>
          <p:cNvPicPr>
            <a:picLocks noChangeAspect="1"/>
          </p:cNvPicPr>
          <p:nvPr/>
        </p:nvPicPr>
        <p:blipFill>
          <a:blip r:embed="rId3"/>
          <a:stretch>
            <a:fillRect/>
          </a:stretch>
        </p:blipFill>
        <p:spPr>
          <a:xfrm>
            <a:off x="4199467" y="3079611"/>
            <a:ext cx="3953933" cy="2476639"/>
          </a:xfrm>
          <a:prstGeom prst="rect">
            <a:avLst/>
          </a:prstGeom>
        </p:spPr>
      </p:pic>
    </p:spTree>
    <p:extLst>
      <p:ext uri="{BB962C8B-B14F-4D97-AF65-F5344CB8AC3E}">
        <p14:creationId xmlns:p14="http://schemas.microsoft.com/office/powerpoint/2010/main" val="408638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Migration</a:t>
            </a:r>
          </a:p>
          <a:p>
            <a:pPr>
              <a:lnSpc>
                <a:spcPct val="150000"/>
              </a:lnSpc>
            </a:pPr>
            <a:r>
              <a:rPr lang="en-US" sz="2400" dirty="0"/>
              <a:t>The movement of data from one system to another performed as a one-time process. </a:t>
            </a:r>
          </a:p>
          <a:p>
            <a:pPr>
              <a:lnSpc>
                <a:spcPct val="150000"/>
              </a:lnSpc>
            </a:pPr>
            <a:r>
              <a:rPr lang="en-US" sz="2400" dirty="0"/>
              <a:t>In most cases, it is done to ensure that multiple systems have a copy of the same data.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6" name="Picture 5">
            <a:extLst>
              <a:ext uri="{FF2B5EF4-FFF2-40B4-BE49-F238E27FC236}">
                <a16:creationId xmlns:a16="http://schemas.microsoft.com/office/drawing/2014/main" id="{1804B1C6-39AB-A747-B5C2-E17A68CC995D}"/>
              </a:ext>
            </a:extLst>
          </p:cNvPr>
          <p:cNvPicPr>
            <a:picLocks noChangeAspect="1"/>
          </p:cNvPicPr>
          <p:nvPr/>
        </p:nvPicPr>
        <p:blipFill>
          <a:blip r:embed="rId3"/>
          <a:stretch>
            <a:fillRect/>
          </a:stretch>
        </p:blipFill>
        <p:spPr>
          <a:xfrm>
            <a:off x="4213225" y="3122083"/>
            <a:ext cx="4121150" cy="2489200"/>
          </a:xfrm>
          <a:prstGeom prst="rect">
            <a:avLst/>
          </a:prstGeom>
        </p:spPr>
      </p:pic>
    </p:spTree>
    <p:extLst>
      <p:ext uri="{BB962C8B-B14F-4D97-AF65-F5344CB8AC3E}">
        <p14:creationId xmlns:p14="http://schemas.microsoft.com/office/powerpoint/2010/main" val="709459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Transformation</a:t>
            </a:r>
          </a:p>
          <a:p>
            <a:pPr>
              <a:lnSpc>
                <a:spcPct val="150000"/>
              </a:lnSpc>
            </a:pPr>
            <a:r>
              <a:rPr lang="en-US" sz="2400" dirty="0"/>
              <a:t>The conversion of data at the source system to a format required by the destination system. </a:t>
            </a:r>
          </a:p>
          <a:p>
            <a:pPr marL="342900" indent="-342900">
              <a:lnSpc>
                <a:spcPct val="150000"/>
              </a:lnSpc>
              <a:buFontTx/>
              <a:buChar char="-"/>
            </a:pPr>
            <a:r>
              <a:rPr lang="en-US" sz="2400" dirty="0"/>
              <a:t>Includes operations such as data type transformation, handling missing data, etc. </a:t>
            </a:r>
          </a:p>
          <a:p>
            <a:pPr marL="342900" indent="-342900">
              <a:lnSpc>
                <a:spcPct val="150000"/>
              </a:lnSpc>
              <a:buFontTx/>
              <a:buChar char="-"/>
            </a:pPr>
            <a:r>
              <a:rPr lang="en-US" sz="2400" dirty="0"/>
              <a:t>Defines how to map, modify, join, filter, or aggregate data as required by the destination system.</a:t>
            </a:r>
          </a:p>
          <a:p>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7170" name="Picture 2" descr="What is Data Transformation? | Alooma">
            <a:extLst>
              <a:ext uri="{FF2B5EF4-FFF2-40B4-BE49-F238E27FC236}">
                <a16:creationId xmlns:a16="http://schemas.microsoft.com/office/drawing/2014/main" id="{3A5A1B15-5142-0A40-B1A1-670B2EDAC2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053" b="20192"/>
          <a:stretch/>
        </p:blipFill>
        <p:spPr bwMode="auto">
          <a:xfrm>
            <a:off x="3754966" y="3645304"/>
            <a:ext cx="4682067" cy="217976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087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Steps in Source to Target Mapping</a:t>
            </a:r>
          </a:p>
          <a:p>
            <a:pPr>
              <a:lnSpc>
                <a:spcPct val="150000"/>
              </a:lnSpc>
            </a:pPr>
            <a:r>
              <a:rPr lang="en-US" sz="2400" b="1" u="sng" dirty="0"/>
              <a:t>Step 1: Defining the Attributes</a:t>
            </a:r>
          </a:p>
          <a:p>
            <a:pPr marL="342900" indent="-342900">
              <a:lnSpc>
                <a:spcPct val="150000"/>
              </a:lnSpc>
              <a:buFontTx/>
              <a:buChar char="-"/>
            </a:pPr>
            <a:r>
              <a:rPr lang="en-US" sz="2400" dirty="0"/>
              <a:t>Defining which tables and which attributes in those tables are to be transferred.</a:t>
            </a:r>
          </a:p>
          <a:p>
            <a:pPr marL="342900" indent="-342900">
              <a:lnSpc>
                <a:spcPct val="150000"/>
              </a:lnSpc>
              <a:buFontTx/>
              <a:buChar char="-"/>
            </a:pPr>
            <a:r>
              <a:rPr lang="en-US" sz="2400" dirty="0"/>
              <a:t>If data integration is being performed, the </a:t>
            </a:r>
            <a:r>
              <a:rPr lang="en-US" sz="2400" u="sng" dirty="0"/>
              <a:t>frequency of integration</a:t>
            </a:r>
            <a:r>
              <a:rPr lang="en-US" sz="2400" dirty="0"/>
              <a:t> is also defined in this step. </a:t>
            </a:r>
          </a:p>
          <a:p>
            <a:pPr>
              <a:lnSpc>
                <a:spcPct val="150000"/>
              </a:lnSpc>
            </a:pPr>
            <a:r>
              <a:rPr lang="en-US" sz="2400" b="1" u="sng" dirty="0"/>
              <a:t>Step 2: Mapping the Attributes</a:t>
            </a:r>
          </a:p>
          <a:p>
            <a:pPr>
              <a:lnSpc>
                <a:spcPct val="150000"/>
              </a:lnSpc>
            </a:pPr>
            <a:r>
              <a:rPr lang="en-US" sz="2400" dirty="0"/>
              <a:t>Once the data to be transferred has been defined, it has to be mapped according to the destination system’s attributes. </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818910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Steps in Source to Target Mapping</a:t>
            </a:r>
          </a:p>
          <a:p>
            <a:pPr>
              <a:lnSpc>
                <a:spcPct val="150000"/>
              </a:lnSpc>
            </a:pPr>
            <a:r>
              <a:rPr lang="en-US" sz="2400" b="1" u="sng" dirty="0"/>
              <a:t>Step 3: Transforming the Data</a:t>
            </a:r>
          </a:p>
          <a:p>
            <a:pPr>
              <a:lnSpc>
                <a:spcPct val="150000"/>
              </a:lnSpc>
            </a:pPr>
            <a:r>
              <a:rPr lang="en-US" sz="2400" dirty="0"/>
              <a:t>Converting the data in a form suitable to be stored in the DW</a:t>
            </a:r>
          </a:p>
          <a:p>
            <a:pPr>
              <a:lnSpc>
                <a:spcPct val="150000"/>
              </a:lnSpc>
            </a:pPr>
            <a:endParaRPr lang="en-US" sz="2400" dirty="0"/>
          </a:p>
          <a:p>
            <a:pPr>
              <a:lnSpc>
                <a:spcPct val="150000"/>
              </a:lnSpc>
            </a:pPr>
            <a:r>
              <a:rPr lang="en-US" sz="2400" b="1" u="sng" dirty="0"/>
              <a:t>Step 4: Testing the Mapping Process</a:t>
            </a:r>
          </a:p>
          <a:p>
            <a:pPr>
              <a:lnSpc>
                <a:spcPct val="150000"/>
              </a:lnSpc>
            </a:pPr>
            <a:r>
              <a:rPr lang="en-US" sz="2400" dirty="0"/>
              <a:t>Once the first three steps have been completed, it has to be tested on some sample data sources to ensure that the right data attributes in the proper form are mapped correctly with the destination system.</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75550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Steps in Source to Target Mapping</a:t>
            </a:r>
          </a:p>
          <a:p>
            <a:pPr>
              <a:lnSpc>
                <a:spcPct val="150000"/>
              </a:lnSpc>
            </a:pPr>
            <a:r>
              <a:rPr lang="en-US" sz="2400" b="1" u="sng" dirty="0"/>
              <a:t>Step 5: Deploying the Mapping Process</a:t>
            </a:r>
          </a:p>
          <a:p>
            <a:pPr>
              <a:lnSpc>
                <a:spcPct val="150000"/>
              </a:lnSpc>
            </a:pPr>
            <a:r>
              <a:rPr lang="en-US" sz="2400" dirty="0"/>
              <a:t>Upon completion of testing and successful data transfer, migration or integration can be scheduled on the live data as per the user’s requirements.</a:t>
            </a:r>
            <a:br>
              <a:rPr lang="en-US" sz="2400" dirty="0"/>
            </a:br>
            <a:endParaRPr lang="en-US" sz="2400" dirty="0"/>
          </a:p>
          <a:p>
            <a:pPr>
              <a:lnSpc>
                <a:spcPct val="150000"/>
              </a:lnSpc>
            </a:pPr>
            <a:r>
              <a:rPr lang="en-US" sz="2400" b="1" u="sng" dirty="0"/>
              <a:t>Step 6: Maintaining the Mapping Process </a:t>
            </a:r>
          </a:p>
          <a:p>
            <a:pPr>
              <a:lnSpc>
                <a:spcPct val="150000"/>
              </a:lnSpc>
            </a:pPr>
            <a:r>
              <a:rPr lang="en-US" sz="2400" dirty="0"/>
              <a:t>The Source to Target Mapping process must be maintained and updated periodically to handle large datasets and any new data sources if required.</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454470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70000"/>
              </a:lnSpc>
            </a:pPr>
            <a:r>
              <a:rPr lang="en-US" sz="3200" b="1" dirty="0"/>
              <a:t>Source to Target Techniques</a:t>
            </a:r>
          </a:p>
          <a:p>
            <a:pPr>
              <a:lnSpc>
                <a:spcPct val="150000"/>
              </a:lnSpc>
            </a:pPr>
            <a:r>
              <a:rPr lang="en-US" sz="2400" b="1" u="sng" dirty="0"/>
              <a:t>Manual</a:t>
            </a:r>
            <a:r>
              <a:rPr lang="en-US" sz="2400" dirty="0"/>
              <a:t> - manually code the connection between the source and the destination system. This process can only be used in case the mapping is to be performed for only a few sources that don’t have much data.</a:t>
            </a:r>
            <a:br>
              <a:rPr lang="en-US" sz="2400" dirty="0"/>
            </a:br>
            <a:r>
              <a:rPr lang="en-US" sz="2400" b="1" dirty="0"/>
              <a:t>Advantages</a:t>
            </a:r>
          </a:p>
          <a:p>
            <a:pPr lvl="1">
              <a:lnSpc>
                <a:spcPct val="150000"/>
              </a:lnSpc>
            </a:pPr>
            <a:r>
              <a:rPr lang="en-US" sz="2000" dirty="0"/>
              <a:t>Flexible, Completely customizable to the exact needs of the user</a:t>
            </a:r>
          </a:p>
          <a:p>
            <a:pPr>
              <a:lnSpc>
                <a:spcPct val="150000"/>
              </a:lnSpc>
            </a:pPr>
            <a:r>
              <a:rPr lang="en-US" sz="2400" b="1" dirty="0"/>
              <a:t>Disadvantages</a:t>
            </a:r>
          </a:p>
          <a:p>
            <a:pPr lvl="1">
              <a:lnSpc>
                <a:spcPct val="150000"/>
              </a:lnSpc>
            </a:pPr>
            <a:r>
              <a:rPr lang="en-US" sz="2000" dirty="0"/>
              <a:t>Manual, Time-consuming, Resource-intensive, Code-dependent, Error-prone.</a:t>
            </a:r>
          </a:p>
          <a:p>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739393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90000"/>
              </a:lnSpc>
            </a:pPr>
            <a:r>
              <a:rPr lang="en-US" sz="3200" b="1" dirty="0"/>
              <a:t>Source to Target Techniques</a:t>
            </a:r>
          </a:p>
          <a:p>
            <a:pPr>
              <a:lnSpc>
                <a:spcPct val="150000"/>
              </a:lnSpc>
            </a:pPr>
            <a:r>
              <a:rPr lang="en-US" sz="2400" b="1" u="sng" dirty="0"/>
              <a:t>Automated</a:t>
            </a:r>
            <a:r>
              <a:rPr lang="en-US" sz="2400" dirty="0"/>
              <a:t> – used when the number of sources and the volume of data will increase with each round of data transfer. </a:t>
            </a:r>
          </a:p>
          <a:p>
            <a:pPr>
              <a:lnSpc>
                <a:spcPct val="150000"/>
              </a:lnSpc>
            </a:pPr>
            <a:r>
              <a:rPr lang="en-US" sz="2400" b="1" dirty="0"/>
              <a:t>Advantages</a:t>
            </a:r>
          </a:p>
          <a:p>
            <a:pPr lvl="1">
              <a:lnSpc>
                <a:spcPct val="150000"/>
              </a:lnSpc>
            </a:pPr>
            <a:r>
              <a:rPr lang="en-US" sz="2000" dirty="0"/>
              <a:t>No technical knowledge required, Fast, Easy to scale, Eliminates human error.</a:t>
            </a:r>
          </a:p>
          <a:p>
            <a:pPr>
              <a:lnSpc>
                <a:spcPct val="150000"/>
              </a:lnSpc>
            </a:pPr>
            <a:r>
              <a:rPr lang="en-US" sz="2400" b="1" dirty="0"/>
              <a:t>Disadvantages</a:t>
            </a:r>
          </a:p>
          <a:p>
            <a:pPr lvl="1">
              <a:lnSpc>
                <a:spcPct val="150000"/>
              </a:lnSpc>
            </a:pPr>
            <a:r>
              <a:rPr lang="en-US" sz="2000" dirty="0"/>
              <a:t>Training required for use, In-house solutions are expensive to build.</a:t>
            </a:r>
          </a:p>
          <a:p>
            <a:endParaRPr lang="en-US"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Tree>
    <p:extLst>
      <p:ext uri="{BB962C8B-B14F-4D97-AF65-F5344CB8AC3E}">
        <p14:creationId xmlns:p14="http://schemas.microsoft.com/office/powerpoint/2010/main" val="3478436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Source to Target Mapping</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7170" name="Picture 2" descr="The Importance of Data Mapping for Data Integration Projects - EWSolutions">
            <a:extLst>
              <a:ext uri="{FF2B5EF4-FFF2-40B4-BE49-F238E27FC236}">
                <a16:creationId xmlns:a16="http://schemas.microsoft.com/office/drawing/2014/main" id="{23CA61E1-73E6-8642-8FCD-53CD2331B8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066" y="2014955"/>
            <a:ext cx="9939867" cy="2462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737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Source to Target Mapping</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Source to Target Mapping: 6 Easy Steps">
            <a:extLst>
              <a:ext uri="{FF2B5EF4-FFF2-40B4-BE49-F238E27FC236}">
                <a16:creationId xmlns:a16="http://schemas.microsoft.com/office/drawing/2014/main" id="{6B7B87AE-D112-B244-9C6D-F86C37FF83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9" t="25775" r="-639" b="-2438"/>
          <a:stretch/>
        </p:blipFill>
        <p:spPr bwMode="auto">
          <a:xfrm>
            <a:off x="951470" y="1816443"/>
            <a:ext cx="9662099" cy="373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80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Source to Target Mapping</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18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2050" name="Picture 2" descr="Figure 5 from ETL^2 - Educational tool for learning ETL | Semantic Scholar">
            <a:extLst>
              <a:ext uri="{FF2B5EF4-FFF2-40B4-BE49-F238E27FC236}">
                <a16:creationId xmlns:a16="http://schemas.microsoft.com/office/drawing/2014/main" id="{7A71EE9A-1389-2344-93AD-3F080AA92F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76"/>
          <a:stretch/>
        </p:blipFill>
        <p:spPr bwMode="auto">
          <a:xfrm>
            <a:off x="580767" y="2113052"/>
            <a:ext cx="10614454" cy="2866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82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14909</TotalTime>
  <Words>783</Words>
  <Application>Microsoft Macintosh PowerPoint</Application>
  <PresentationFormat>Widescreen</PresentationFormat>
  <Paragraphs>115</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Business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331</cp:revision>
  <dcterms:created xsi:type="dcterms:W3CDTF">2021-02-09T13:47:38Z</dcterms:created>
  <dcterms:modified xsi:type="dcterms:W3CDTF">2023-02-15T14:56:33Z</dcterms:modified>
</cp:coreProperties>
</file>