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4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6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356" r:id="rId3"/>
    <p:sldId id="311" r:id="rId4"/>
    <p:sldId id="434" r:id="rId5"/>
    <p:sldId id="312" r:id="rId6"/>
    <p:sldId id="314" r:id="rId7"/>
    <p:sldId id="315" r:id="rId8"/>
    <p:sldId id="317" r:id="rId9"/>
    <p:sldId id="318" r:id="rId10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94" autoAdjust="0"/>
    <p:restoredTop sz="94393"/>
  </p:normalViewPr>
  <p:slideViewPr>
    <p:cSldViewPr snapToGrid="0">
      <p:cViewPr varScale="1">
        <p:scale>
          <a:sx n="104" d="100"/>
          <a:sy n="104" d="100"/>
        </p:scale>
        <p:origin x="1136" y="2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B63F32-7DA3-4013-BE26-9191402E55C8}" type="datetimeFigureOut">
              <a:rPr lang="en-IL" smtClean="0"/>
              <a:t>5/15/25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08866D-0BA4-4B03-8FA8-A96EE1FB39D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21153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>
            <a:extLst>
              <a:ext uri="{FF2B5EF4-FFF2-40B4-BE49-F238E27FC236}">
                <a16:creationId xmlns:a16="http://schemas.microsoft.com/office/drawing/2014/main" id="{DCDD53E8-BB23-F441-A090-0D389B19BE9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4579" name="Notes Placeholder 2">
            <a:extLst>
              <a:ext uri="{FF2B5EF4-FFF2-40B4-BE49-F238E27FC236}">
                <a16:creationId xmlns:a16="http://schemas.microsoft.com/office/drawing/2014/main" id="{5D342BBC-1A37-DF46-B394-24D3B10C28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4580" name="Slide Number Placeholder 3">
            <a:extLst>
              <a:ext uri="{FF2B5EF4-FFF2-40B4-BE49-F238E27FC236}">
                <a16:creationId xmlns:a16="http://schemas.microsoft.com/office/drawing/2014/main" id="{52FD38A4-F9FD-BD42-8503-E1D5D25A9A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algn="l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l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l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l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4B3038D5-55E6-9B46-BCCE-CD833604ABDF}" type="slidenum">
              <a:rPr lang="en-US" altLang="en-US" sz="1300"/>
              <a:pPr algn="r" eaLnBrk="1" hangingPunct="1">
                <a:spcBef>
                  <a:spcPct val="0"/>
                </a:spcBef>
              </a:pPr>
              <a:t>3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33306818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19FF8415-03E6-5541-A0E0-2A96651B53E4}" type="slidenum">
              <a:rPr lang="en-US" sz="1200">
                <a:solidFill>
                  <a:schemeClr val="tx1"/>
                </a:solidFill>
                <a:latin typeface="Times New Roman" charset="0"/>
              </a:rPr>
              <a:pPr eaLnBrk="1" hangingPunct="1"/>
              <a:t>4</a:t>
            </a:fld>
            <a:endParaRPr lang="en-US" sz="120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50178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66545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>
            <a:extLst>
              <a:ext uri="{FF2B5EF4-FFF2-40B4-BE49-F238E27FC236}">
                <a16:creationId xmlns:a16="http://schemas.microsoft.com/office/drawing/2014/main" id="{D19E8AA3-0FC6-4743-AC00-AA51B2FCA0E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Notes Placeholder 2">
            <a:extLst>
              <a:ext uri="{FF2B5EF4-FFF2-40B4-BE49-F238E27FC236}">
                <a16:creationId xmlns:a16="http://schemas.microsoft.com/office/drawing/2014/main" id="{CBBF2071-3AB4-F04F-A761-D38BF88083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6628" name="Slide Number Placeholder 3">
            <a:extLst>
              <a:ext uri="{FF2B5EF4-FFF2-40B4-BE49-F238E27FC236}">
                <a16:creationId xmlns:a16="http://schemas.microsoft.com/office/drawing/2014/main" id="{6B2F4017-7F4A-3B4D-A9C7-9588211971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algn="l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l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l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l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AB5EF5A2-C010-0846-854D-BBCAF133F689}" type="slidenum">
              <a:rPr lang="en-US" altLang="en-US" sz="1300"/>
              <a:pPr algn="r" eaLnBrk="1" hangingPunct="1">
                <a:spcBef>
                  <a:spcPct val="0"/>
                </a:spcBef>
              </a:pPr>
              <a:t>5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3695363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>
            <a:extLst>
              <a:ext uri="{FF2B5EF4-FFF2-40B4-BE49-F238E27FC236}">
                <a16:creationId xmlns:a16="http://schemas.microsoft.com/office/drawing/2014/main" id="{5DE203A0-AA4E-5F49-AFB4-0A45F7710D1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675" name="Notes Placeholder 2">
            <a:extLst>
              <a:ext uri="{FF2B5EF4-FFF2-40B4-BE49-F238E27FC236}">
                <a16:creationId xmlns:a16="http://schemas.microsoft.com/office/drawing/2014/main" id="{69F6052E-6B06-6843-9715-F5345334FD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8676" name="Slide Number Placeholder 3">
            <a:extLst>
              <a:ext uri="{FF2B5EF4-FFF2-40B4-BE49-F238E27FC236}">
                <a16:creationId xmlns:a16="http://schemas.microsoft.com/office/drawing/2014/main" id="{EAE1390C-A66A-C34E-B664-E3A388CB93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algn="l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l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l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l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6065B0BB-AFB8-BE49-B30C-DD64B19AE969}" type="slidenum">
              <a:rPr lang="en-US" altLang="en-US" sz="1300"/>
              <a:pPr algn="r" eaLnBrk="1" hangingPunct="1">
                <a:spcBef>
                  <a:spcPct val="0"/>
                </a:spcBef>
              </a:pPr>
              <a:t>6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6439307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471583D6-DC4D-CB48-A60C-046018049E6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5706025F-902D-4746-AFBE-32519DEA31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Answer:</a:t>
            </a:r>
          </a:p>
          <a:p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egrep "\^_*\^" chat.txt</a:t>
            </a:r>
          </a:p>
        </p:txBody>
      </p:sp>
    </p:spTree>
    <p:extLst>
      <p:ext uri="{BB962C8B-B14F-4D97-AF65-F5344CB8AC3E}">
        <p14:creationId xmlns:p14="http://schemas.microsoft.com/office/powerpoint/2010/main" val="31456238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C036908E-33C8-8E4C-9D92-DB4883D3FE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DCBA292F-37AA-FF4E-927C-B47EAEB979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latin typeface="Consolas" panose="020B0609020204030204" pitchFamily="49" charset="0"/>
                <a:ea typeface="ＭＳ Ｐゴシック" panose="020B0600070205080204" pitchFamily="34" charset="-128"/>
              </a:rPr>
              <a:t>Answer:</a:t>
            </a:r>
          </a:p>
          <a:p>
            <a:endParaRPr lang="en-US" altLang="en-US">
              <a:latin typeface="Consolas" panose="020B0609020204030204" pitchFamily="49" charset="0"/>
              <a:ea typeface="ＭＳ Ｐゴシック" panose="020B0600070205080204" pitchFamily="34" charset="-128"/>
            </a:endParaRPr>
          </a:p>
          <a:p>
            <a:endParaRPr lang="en-US" altLang="en-US">
              <a:latin typeface="Consolas" panose="020B0609020204030204" pitchFamily="49" charset="0"/>
              <a:ea typeface="ＭＳ Ｐゴシック" panose="020B0600070205080204" pitchFamily="34" charset="-128"/>
            </a:endParaRPr>
          </a:p>
          <a:p>
            <a:endParaRPr lang="en-US" altLang="en-US">
              <a:latin typeface="Consolas" panose="020B0609020204030204" pitchFamily="49" charset="0"/>
              <a:ea typeface="ＭＳ Ｐゴシック" panose="020B0600070205080204" pitchFamily="34" charset="-128"/>
            </a:endParaRPr>
          </a:p>
          <a:p>
            <a:endParaRPr lang="en-US" altLang="en-US">
              <a:latin typeface="Consolas" panose="020B0609020204030204" pitchFamily="49" charset="0"/>
              <a:ea typeface="ＭＳ Ｐゴシック" panose="020B0600070205080204" pitchFamily="34" charset="-128"/>
            </a:endParaRPr>
          </a:p>
          <a:p>
            <a:endParaRPr lang="en-US" altLang="en-US">
              <a:latin typeface="Consolas" panose="020B0609020204030204" pitchFamily="49" charset="0"/>
              <a:ea typeface="ＭＳ Ｐゴシック" panose="020B0600070205080204" pitchFamily="34" charset="-128"/>
            </a:endParaRPr>
          </a:p>
          <a:p>
            <a:r>
              <a:rPr lang="en-US" altLang="en-US">
                <a:latin typeface="Consolas" panose="020B0609020204030204" pitchFamily="49" charset="0"/>
                <a:ea typeface="ＭＳ Ｐゴシック" panose="020B0600070205080204" pitchFamily="34" charset="-128"/>
              </a:rPr>
              <a:t>egrep "</a:t>
            </a:r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[ABCDF][+\-]?" 143.txt</a:t>
            </a:r>
          </a:p>
        </p:txBody>
      </p:sp>
    </p:spTree>
    <p:extLst>
      <p:ext uri="{BB962C8B-B14F-4D97-AF65-F5344CB8AC3E}">
        <p14:creationId xmlns:p14="http://schemas.microsoft.com/office/powerpoint/2010/main" val="15789284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EBBAF01C-C95A-BA43-AAAE-3D137306CEB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F938D07A-53FF-9E42-81FF-137F5FD398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latin typeface="Consolas" panose="020B0609020204030204" pitchFamily="49" charset="0"/>
                <a:ea typeface="ＭＳ Ｐゴシック" panose="020B0600070205080204" pitchFamily="34" charset="-128"/>
              </a:rPr>
              <a:t>Answer:</a:t>
            </a:r>
          </a:p>
          <a:p>
            <a:endParaRPr lang="en-US" altLang="en-US">
              <a:latin typeface="Consolas" panose="020B0609020204030204" pitchFamily="49" charset="0"/>
              <a:ea typeface="ＭＳ Ｐゴシック" panose="020B0600070205080204" pitchFamily="34" charset="-128"/>
            </a:endParaRPr>
          </a:p>
          <a:p>
            <a:endParaRPr lang="en-US" altLang="en-US">
              <a:latin typeface="Consolas" panose="020B0609020204030204" pitchFamily="49" charset="0"/>
              <a:ea typeface="ＭＳ Ｐゴシック" panose="020B0600070205080204" pitchFamily="34" charset="-128"/>
            </a:endParaRPr>
          </a:p>
          <a:p>
            <a:endParaRPr lang="en-US" altLang="en-US">
              <a:latin typeface="Consolas" panose="020B0609020204030204" pitchFamily="49" charset="0"/>
              <a:ea typeface="ＭＳ Ｐゴシック" panose="020B0600070205080204" pitchFamily="34" charset="-128"/>
            </a:endParaRPr>
          </a:p>
          <a:p>
            <a:endParaRPr lang="en-US" altLang="en-US">
              <a:latin typeface="Consolas" panose="020B0609020204030204" pitchFamily="49" charset="0"/>
              <a:ea typeface="ＭＳ Ｐゴシック" panose="020B0600070205080204" pitchFamily="34" charset="-128"/>
            </a:endParaRPr>
          </a:p>
          <a:p>
            <a:r>
              <a:rPr lang="en-US" altLang="en-US">
                <a:latin typeface="Consolas" panose="020B0609020204030204" pitchFamily="49" charset="0"/>
                <a:ea typeface="ＭＳ Ｐゴシック" panose="020B0600070205080204" pitchFamily="34" charset="-128"/>
              </a:rPr>
              <a:t>egrep "[0-9]{3}-[0-9]{3}-[0-9]{4}" faculty.html</a:t>
            </a:r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95126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553BB-FAA3-46ED-8326-AD7EE26F78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B615E8-3C95-4096-8039-02C1046EA5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E2517-A02E-4027-BA2C-117CE149D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FD53-B117-7140-872B-F4FB2CF797D4}" type="datetime8">
              <a:rPr lang="en-US" smtClean="0"/>
              <a:t>5/15/25 4:16 PM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5C8B8-C77F-4E96-831A-FC160B4AF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7E7471-5067-4CA0-9D60-D86D047E9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800"/>
            </a:lvl1pPr>
          </a:lstStyle>
          <a:p>
            <a:fld id="{B62643F8-DFCD-4B5F-9519-933435FA18FB}" type="slidenum">
              <a:rPr lang="en-IL" smtClean="0"/>
              <a:pPr/>
              <a:t>‹#›</a:t>
            </a:fld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7201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257D3F8-87F0-4DF5-8F98-66DFD99EE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3474"/>
            <a:ext cx="10515600" cy="5593489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L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BCDE1D59-793A-43B8-B383-259A90AD527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45AE441F-2815-D442-85FD-BB2B2A3E54CF}" type="datetime8">
              <a:rPr lang="en-US" smtClean="0"/>
              <a:t>5/15/25 4:16 PM</a:t>
            </a:fld>
            <a:endParaRPr lang="en-IL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AA69F713-2159-4167-B614-5042E8DE4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F40A595-FC21-4942-AC1C-EC8D0EE8F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1800"/>
            </a:lvl1pPr>
          </a:lstStyle>
          <a:p>
            <a:fld id="{C9D69B18-316A-457F-86C2-CFE4F951EE27}" type="slidenum">
              <a:rPr lang="en-IL" smtClean="0"/>
              <a:pPr/>
              <a:t>‹#›</a:t>
            </a:fld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395765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p">
        <p:tmplLst>
          <p:tmpl lvl="1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6DB71-F16A-411E-A1F0-229842FF4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FEC0A3-903B-4C81-96AA-FA5FE7879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21F274-0FDC-4FF1-AD1D-E33CBC0B8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3EF91-4AF3-CC45-A245-5528872A1701}" type="datetime8">
              <a:rPr lang="en-US" smtClean="0"/>
              <a:t>5/15/25 4:16 PM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317186-B90F-456C-A210-0CD662FC9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DCF8B6-F957-4C26-89F8-62EE0895A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99782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BCB62-2976-4F72-B0D1-D7D5CC8DF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570335-BA28-442F-B929-834D11AFBB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3D0261-93E1-42EC-B45C-7A9C69E6DB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D1B8B7-4BAF-485E-8E14-0A3937A2E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9023D-BDDC-BC44-8C8A-04FEC1BACF2B}" type="datetime8">
              <a:rPr lang="en-US" smtClean="0"/>
              <a:t>5/15/25 4:16 PM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D101D7-C282-4291-A047-A469118DB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E3ACF7-1919-4005-8D18-C065FE37B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58286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25D40-5A05-454B-BF8D-2ADD22626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CDEE7E-1856-4D6C-95E1-B25F3B5CF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B7349D-B192-40B0-A682-C3914DCE58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86D532-BD26-45AE-91E7-2BCEE71DE7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39C4E2-6DDF-4BCE-9E96-2FEA03A919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71B11A-C4F8-4F85-A0D5-34A703DD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4F2CF-9DCB-864C-B864-761F02A67D20}" type="datetime8">
              <a:rPr lang="en-US" smtClean="0"/>
              <a:t>5/15/25 4:16 PM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F8E969-DC51-428E-A40E-10E237847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F4C0B3-7D21-431B-8C06-6364026C9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30004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CF8A9-2FB1-463C-A055-7D8DEF623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834B02-6F21-4BD3-9253-024380CFA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B96B1-79D8-EB4B-8193-770518D76F5E}" type="datetime8">
              <a:rPr lang="en-US" smtClean="0"/>
              <a:t>5/15/25 4:16 PM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6109D8-60DE-4EAE-9FA4-4743AF1B5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2833B9-F0EF-4F2D-B1F5-59A0518AC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47048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F94F9A-B863-4CA1-A3D9-2612454CB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586F7-761E-AC49-A78A-3E60282A375D}" type="datetime8">
              <a:rPr lang="en-US" smtClean="0"/>
              <a:t>5/15/25 4:16 PM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856BA7-0F82-4B54-82BF-04EC0B081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6A46C4-110C-4F16-A55B-2CA103D5B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90415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DF8D4-37EB-4208-8EBF-A36DA15D5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9644F-4231-4135-985A-E35BB7DF79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AC084D-8409-4F23-A4F3-946B11E92E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7D6E5-0ADE-47F1-BF75-064C0FC0B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4BBA8-6472-ED4A-98A5-567CC454F752}" type="datetime8">
              <a:rPr lang="en-US" smtClean="0"/>
              <a:t>5/15/25 4:16 PM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95BE5-8107-4C77-A0C7-320528011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B29687-8674-4B44-BCA8-CA55A7F66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35512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DDB8B-F360-41C1-9E59-41BC175C2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29284B-956D-4A04-AA87-11920CE3AB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DA7EC3-09A8-4251-B03C-6044FAB1E4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F06FFE-DADD-4559-BD8F-E4090E851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05C9F-F652-B24D-8F4F-49D46299503F}" type="datetime8">
              <a:rPr lang="en-US" smtClean="0"/>
              <a:t>5/15/25 4:16 PM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7A7321-97EB-4815-A837-E4FF27362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A3595F-1D61-441A-9A46-FC01E1605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29192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6D421-C27E-4305-9BA4-ABDBC270E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69482A-BFEA-4A85-973C-0414EA5085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CE6C9-3B2C-4E59-B407-9DEAA5194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DDC4C-D92B-0A45-9310-46B2F62B571A}" type="datetime8">
              <a:rPr lang="en-US" smtClean="0"/>
              <a:t>5/15/25 4:16 PM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7B3FA1-84D5-4374-B090-8EED7F0EE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B37D06-0BF6-4041-954F-C1D4B14F0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06217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A0116A-EF9A-40BC-BE26-84DF8D33F6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EB09AB-DE01-41A1-8BED-34FC1B482A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A0832B-4F28-4DE3-AF6D-37975A09F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C6107-2555-F642-9788-A402904F5075}" type="datetime8">
              <a:rPr lang="en-US" smtClean="0"/>
              <a:t>5/15/25 4:16 PM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F064A4-73D9-4140-BB4B-47A62F8CB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41DA01-1032-4191-848B-F8A71F653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741138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30000"/>
              </a:lnSpc>
              <a:spcBef>
                <a:spcPts val="1800"/>
              </a:spcBef>
              <a:spcAft>
                <a:spcPts val="600"/>
              </a:spcAft>
              <a:defRPr/>
            </a:lvl1pPr>
            <a:lvl2pPr>
              <a:lnSpc>
                <a:spcPct val="120000"/>
              </a:lnSpc>
              <a:spcBef>
                <a:spcPts val="900"/>
              </a:spcBef>
              <a:spcAft>
                <a:spcPts val="400"/>
              </a:spcAft>
              <a:defRPr/>
            </a:lvl2pPr>
            <a:lvl3pPr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defRPr/>
            </a:lvl3pPr>
            <a:lvl4pPr>
              <a:lnSpc>
                <a:spcPct val="110000"/>
              </a:lnSpc>
              <a:spcBef>
                <a:spcPts val="400"/>
              </a:spcBef>
              <a:spcAft>
                <a:spcPts val="100"/>
              </a:spcAft>
              <a:defRPr/>
            </a:lvl4pPr>
            <a:lvl5pPr>
              <a:lnSpc>
                <a:spcPct val="13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8EAED-2730-8F47-9A81-EA9D7C152F6D}" type="datetime8">
              <a:rPr lang="en-US" smtClean="0"/>
              <a:t>5/15/25 4:16 PM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70496-1CF9-408E-B326-6CCA99B85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853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D5FF43-15EB-48BF-9377-EC78CBDCC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8A9A9A-96AC-434D-8596-80E7719973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7151C-500A-4CAF-8B1B-C429EEE2CD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747EB7-5745-994C-BBB2-ABD271B75AC1}" type="datetime8">
              <a:rPr lang="en-US" smtClean="0"/>
              <a:t>5/15/25 4:16 PM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1936C9-3550-4463-A834-A8233EB9F3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Or Peretz</a:t>
            </a:r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370A5C-A380-420D-86FA-95B4F828D7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2643F8-DFCD-4B5F-9519-933435FA18F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04471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4" Type="http://schemas.openxmlformats.org/officeDocument/2006/relationships/notesSlide" Target="../notesSlides/notesSlid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4" Type="http://schemas.openxmlformats.org/officeDocument/2006/relationships/notesSlide" Target="../notesSlides/notesSl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4" Type="http://schemas.openxmlformats.org/officeDocument/2006/relationships/notesSlide" Target="../notesSlides/notesSlid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BF07A-A6B2-4AA3-9FB3-FF93725B9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1666" y="1202003"/>
            <a:ext cx="11768667" cy="2602970"/>
          </a:xfrm>
        </p:spPr>
        <p:txBody>
          <a:bodyPr>
            <a:normAutofit/>
          </a:bodyPr>
          <a:lstStyle/>
          <a:p>
            <a: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IL" sz="7200" u="sng" dirty="0">
                <a:cs typeface="+mn-cs"/>
              </a:rPr>
              <a:t>Cloud Data Engineering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54BFDD-2D28-4F88-A89F-35EB6574CA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3804973"/>
            <a:ext cx="9144000" cy="1655762"/>
          </a:xfrm>
        </p:spPr>
        <p:txBody>
          <a:bodyPr>
            <a:normAutofit/>
          </a:bodyPr>
          <a:lstStyle/>
          <a:p>
            <a: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3600" dirty="0"/>
              <a:t>Regex</a:t>
            </a:r>
            <a:endParaRPr lang="en-IL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D7C810-8880-4D05-860C-4E520C91B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1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08135C-5A11-DB47-A5FC-BE38DE9D9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Or </a:t>
            </a:r>
            <a:r>
              <a:rPr lang="en-US" dirty="0" err="1"/>
              <a:t>Peretz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7308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Or Peretz</a:t>
            </a: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1AA32D-27BB-4BDB-AF3A-80C53B84EA8B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>
          <a:xfrm>
            <a:off x="838199" y="136525"/>
            <a:ext cx="10515600" cy="1325563"/>
          </a:xfrm>
        </p:spPr>
        <p:txBody>
          <a:bodyPr/>
          <a:lstStyle/>
          <a:p>
            <a:pPr algn="ctr">
              <a:lnSpc>
                <a:spcPct val="150000"/>
              </a:lnSpc>
              <a:spcBef>
                <a:spcPts val="1000"/>
              </a:spcBef>
            </a:pPr>
            <a:r>
              <a:rPr lang="en-US" altLang="en-US" sz="3000" dirty="0">
                <a:latin typeface="+mn-lt"/>
                <a:ea typeface="+mn-ea"/>
                <a:cs typeface="+mn-cs"/>
              </a:rPr>
              <a:t>Document Search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199" y="1481667"/>
            <a:ext cx="10329333" cy="4690534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en-US" sz="2400" dirty="0"/>
              <a:t>‘Information Retrieval (IR)’ implies a query (e.g. search terms) 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en-US" dirty="0"/>
              <a:t>- For a given query, </a:t>
            </a:r>
            <a:r>
              <a:rPr lang="en-US" altLang="en-US" i="1" dirty="0"/>
              <a:t>relevant or similar</a:t>
            </a:r>
            <a:r>
              <a:rPr lang="en-US" altLang="en-US" dirty="0"/>
              <a:t> documents are returned.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en-US" sz="2400" dirty="0"/>
              <a:t>Most basic document retrieval technique is </a:t>
            </a:r>
            <a:r>
              <a:rPr lang="en-US" altLang="en-US" sz="2400" b="1" dirty="0"/>
              <a:t>keyword/search term matching</a:t>
            </a:r>
            <a:r>
              <a:rPr lang="en-US" altLang="en-US" sz="2400" dirty="0"/>
              <a:t>.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en-US" dirty="0"/>
              <a:t>- Retrieve all (or selected) documents which contain the search terms - by string matching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en-US" dirty="0"/>
              <a:t>- Python example:</a:t>
            </a:r>
            <a:br>
              <a:rPr lang="en-US" sz="2400" dirty="0"/>
            </a:br>
            <a:r>
              <a:rPr lang="en-US" sz="2400" dirty="0"/>
              <a:t>&gt;&gt;&gt; s1 = 'public' </a:t>
            </a:r>
            <a:br>
              <a:rPr lang="en-US" sz="2400" dirty="0"/>
            </a:br>
            <a:r>
              <a:rPr lang="en-US" sz="2400" dirty="0"/>
              <a:t>&gt;&gt;&gt; s2 = 'public' </a:t>
            </a:r>
            <a:br>
              <a:rPr lang="en-US" sz="2400" dirty="0"/>
            </a:br>
            <a:r>
              <a:rPr lang="en-US" sz="2400" dirty="0"/>
              <a:t>&gt;&gt;&gt; s2 == s1 </a:t>
            </a:r>
            <a:br>
              <a:rPr lang="en-US" sz="2400" dirty="0"/>
            </a:br>
            <a:r>
              <a:rPr lang="en-US" sz="2400" dirty="0"/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3412193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3986607E-2A00-2843-84D0-BC2848789AB5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838200" y="153458"/>
            <a:ext cx="10515600" cy="1325563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  <a:spcBef>
                <a:spcPts val="1000"/>
              </a:spcBef>
            </a:pPr>
            <a:r>
              <a:rPr lang="en-US" altLang="en-US" sz="3000" dirty="0">
                <a:latin typeface="+mn-lt"/>
                <a:ea typeface="+mn-ea"/>
                <a:cs typeface="+mn-cs"/>
              </a:rPr>
              <a:t>What is a Regular Expression?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C9AE5ABA-0052-0A48-9A90-7E56491C71E6}"/>
              </a:ext>
            </a:extLst>
          </p:cNvPr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922867" y="1346199"/>
            <a:ext cx="9829800" cy="5147733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  <a:buFontTx/>
              <a:buNone/>
            </a:pPr>
            <a:r>
              <a:rPr lang="en-US" altLang="en-US" sz="2400" dirty="0">
                <a:ea typeface="ＭＳ Ｐゴシック" panose="020B0600070205080204" pitchFamily="34" charset="-128"/>
              </a:rPr>
              <a:t>"[a-</a:t>
            </a:r>
            <a:r>
              <a:rPr lang="en-US" altLang="en-US" sz="2400" dirty="0" err="1">
                <a:ea typeface="ＭＳ Ｐゴシック" panose="020B0600070205080204" pitchFamily="34" charset="-128"/>
              </a:rPr>
              <a:t>zA</a:t>
            </a:r>
            <a:r>
              <a:rPr lang="en-US" altLang="en-US" sz="2400" dirty="0">
                <a:ea typeface="ＭＳ Ｐゴシック" panose="020B0600070205080204" pitchFamily="34" charset="-128"/>
              </a:rPr>
              <a:t>-Z_\-]+@(([a-</a:t>
            </a:r>
            <a:r>
              <a:rPr lang="en-US" altLang="en-US" sz="2400" dirty="0" err="1">
                <a:ea typeface="ＭＳ Ｐゴシック" panose="020B0600070205080204" pitchFamily="34" charset="-128"/>
              </a:rPr>
              <a:t>zA</a:t>
            </a:r>
            <a:r>
              <a:rPr lang="en-US" altLang="en-US" sz="2400" dirty="0">
                <a:ea typeface="ＭＳ Ｐゴシック" panose="020B0600070205080204" pitchFamily="34" charset="-128"/>
              </a:rPr>
              <a:t>-Z_\-])+\.)+[a-</a:t>
            </a:r>
            <a:r>
              <a:rPr lang="en-US" altLang="en-US" sz="2400" dirty="0" err="1">
                <a:ea typeface="ＭＳ Ｐゴシック" panose="020B0600070205080204" pitchFamily="34" charset="-128"/>
              </a:rPr>
              <a:t>zA</a:t>
            </a:r>
            <a:r>
              <a:rPr lang="en-US" altLang="en-US" sz="2400" dirty="0">
                <a:ea typeface="ＭＳ Ｐゴシック" panose="020B0600070205080204" pitchFamily="34" charset="-128"/>
              </a:rPr>
              <a:t>-Z]{2,4}"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en-US" sz="2400" b="1" dirty="0">
                <a:ea typeface="ＭＳ Ｐゴシック" panose="020B0600070205080204" pitchFamily="34" charset="-128"/>
              </a:rPr>
              <a:t>regular expression </a:t>
            </a:r>
            <a:r>
              <a:rPr lang="en-US" altLang="en-US" sz="2400" dirty="0">
                <a:ea typeface="ＭＳ Ｐゴシック" panose="020B0600070205080204" pitchFamily="34" charset="-128"/>
              </a:rPr>
              <a:t>("regex"): a description of a pattern of text</a:t>
            </a:r>
          </a:p>
          <a:p>
            <a:pPr lvl="1">
              <a:lnSpc>
                <a:spcPct val="150000"/>
              </a:lnSpc>
              <a:buFontTx/>
              <a:buChar char="-"/>
            </a:pPr>
            <a:r>
              <a:rPr lang="en-US" altLang="en-US" dirty="0">
                <a:ea typeface="ＭＳ Ｐゴシック" panose="020B0600070205080204" pitchFamily="34" charset="-128"/>
              </a:rPr>
              <a:t>can test whether a string matches the expression's pattern</a:t>
            </a:r>
          </a:p>
          <a:p>
            <a:pPr lvl="1">
              <a:lnSpc>
                <a:spcPct val="150000"/>
              </a:lnSpc>
              <a:buFontTx/>
              <a:buChar char="-"/>
            </a:pPr>
            <a:r>
              <a:rPr lang="en-US" altLang="en-US" dirty="0">
                <a:ea typeface="ＭＳ Ｐゴシック" panose="020B0600070205080204" pitchFamily="34" charset="-128"/>
              </a:rPr>
              <a:t>can use a regex to search/replace characters in a string</a:t>
            </a:r>
          </a:p>
          <a:p>
            <a:pPr lvl="1">
              <a:lnSpc>
                <a:spcPct val="150000"/>
              </a:lnSpc>
              <a:buFontTx/>
              <a:buChar char="-"/>
            </a:pPr>
            <a:r>
              <a:rPr lang="en-US" altLang="en-US" dirty="0">
                <a:ea typeface="ＭＳ Ｐゴシック" panose="020B0600070205080204" pitchFamily="34" charset="-128"/>
              </a:rPr>
              <a:t>regular expressions are extremely powerful but tough to read</a:t>
            </a:r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en-US" dirty="0">
                <a:ea typeface="ＭＳ Ｐゴシック" panose="020B0600070205080204" pitchFamily="34" charset="-128"/>
              </a:rPr>
              <a:t>(the above regular expression matches email address)</a:t>
            </a:r>
          </a:p>
          <a:p>
            <a:pPr marL="914400" lvl="2" indent="0">
              <a:lnSpc>
                <a:spcPct val="150000"/>
              </a:lnSpc>
              <a:buNone/>
            </a:pP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0179FA-B50C-1B45-94CA-969B7E47E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FB8629-BBFB-D94B-A2B2-9746669DC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70496-1CF9-408E-B326-6CCA99B8516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1556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6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121785"/>
            <a:ext cx="10515600" cy="1325563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  <a:spcBef>
                <a:spcPts val="1000"/>
              </a:spcBef>
            </a:pPr>
            <a:r>
              <a:rPr lang="en-US" sz="3000" dirty="0">
                <a:latin typeface="+mn-lt"/>
                <a:ea typeface="+mn-ea"/>
                <a:cs typeface="+mn-cs"/>
              </a:rPr>
              <a:t>Regular Expressions</a:t>
            </a:r>
          </a:p>
        </p:txBody>
      </p:sp>
      <p:sp>
        <p:nvSpPr>
          <p:cNvPr id="10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1524000" y="6324600"/>
            <a:ext cx="9144000" cy="533400"/>
          </a:xfrm>
        </p:spPr>
        <p:txBody>
          <a:bodyPr/>
          <a:lstStyle/>
          <a:p>
            <a:r>
              <a:rPr lang="en-US" altLang="en-US"/>
              <a:t>Or Peretz</a:t>
            </a:r>
            <a:endParaRPr lang="en-US" altLang="en-US" dirty="0"/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8305800" y="6381750"/>
            <a:ext cx="2133600" cy="476250"/>
          </a:xfrm>
        </p:spPr>
        <p:txBody>
          <a:bodyPr/>
          <a:lstStyle/>
          <a:p>
            <a:fld id="{EE1AA32D-27BB-4BDB-AF3A-80C53B84EA8B}" type="slidenum">
              <a:rPr lang="en-US" altLang="en-US"/>
              <a:pPr/>
              <a:t>4</a:t>
            </a:fld>
            <a:endParaRPr lang="en-US" altLang="en-US"/>
          </a:p>
        </p:txBody>
      </p:sp>
      <p:pic>
        <p:nvPicPr>
          <p:cNvPr id="1026" name="Picture 2" descr="Recitation 26: Regular expressions and finite automata">
            <a:extLst>
              <a:ext uri="{FF2B5EF4-FFF2-40B4-BE49-F238E27FC236}">
                <a16:creationId xmlns:a16="http://schemas.microsoft.com/office/drawing/2014/main" id="{217833C4-8B8B-914A-9CA2-9EA7518465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6774" y="2072793"/>
            <a:ext cx="6658451" cy="2401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8067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C08B235E-8E5A-D947-A82E-CDDAC6E4584B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838199" y="77259"/>
            <a:ext cx="10515600" cy="1325563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  <a:spcBef>
                <a:spcPts val="1000"/>
              </a:spcBef>
            </a:pPr>
            <a:r>
              <a:rPr lang="en-US" altLang="en-US" sz="3000" dirty="0">
                <a:latin typeface="+mn-lt"/>
                <a:ea typeface="+mn-ea"/>
                <a:cs typeface="+mn-cs"/>
              </a:rPr>
              <a:t>Basic REs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CE4643AA-2B2E-314F-BCF5-685F2BD39F52}"/>
              </a:ext>
            </a:extLst>
          </p:cNvPr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838199" y="1295400"/>
            <a:ext cx="10515599" cy="5562600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  <a:buFontTx/>
              <a:buNone/>
            </a:pPr>
            <a:r>
              <a:rPr lang="en-US" altLang="en-US" sz="2200" dirty="0">
                <a:solidFill>
                  <a:srgbClr val="262626"/>
                </a:solidFill>
                <a:ea typeface="ＭＳ Ｐゴシック" panose="020B0600070205080204" pitchFamily="34" charset="-128"/>
              </a:rPr>
              <a:t>"</a:t>
            </a:r>
            <a:r>
              <a:rPr lang="en-US" altLang="en-US" sz="2200" dirty="0" err="1">
                <a:solidFill>
                  <a:srgbClr val="262626"/>
                </a:solidFill>
                <a:ea typeface="ＭＳ Ｐゴシック" panose="020B0600070205080204" pitchFamily="34" charset="-128"/>
              </a:rPr>
              <a:t>abc</a:t>
            </a:r>
            <a:r>
              <a:rPr lang="en-US" altLang="en-US" sz="2200" dirty="0">
                <a:solidFill>
                  <a:srgbClr val="262626"/>
                </a:solidFill>
                <a:ea typeface="ＭＳ Ｐゴシック" panose="020B0600070205080204" pitchFamily="34" charset="-128"/>
              </a:rPr>
              <a:t>"</a:t>
            </a:r>
            <a:endParaRPr lang="en-US" altLang="en-US" sz="2200" dirty="0">
              <a:solidFill>
                <a:srgbClr val="404040"/>
              </a:solidFill>
              <a:ea typeface="ＭＳ Ｐゴシック" panose="020B0600070205080204" pitchFamily="34" charset="-128"/>
            </a:endParaRPr>
          </a:p>
          <a:p>
            <a:pPr>
              <a:lnSpc>
                <a:spcPct val="150000"/>
              </a:lnSpc>
            </a:pPr>
            <a:r>
              <a:rPr lang="en-US" altLang="en-US" sz="2200" dirty="0">
                <a:ea typeface="ＭＳ Ｐゴシック" panose="020B0600070205080204" pitchFamily="34" charset="-128"/>
              </a:rPr>
              <a:t>the simplest regexes simply match a particular substring</a:t>
            </a:r>
          </a:p>
          <a:p>
            <a:pPr>
              <a:lnSpc>
                <a:spcPct val="150000"/>
              </a:lnSpc>
            </a:pPr>
            <a:r>
              <a:rPr lang="en-US" altLang="en-US" sz="2200" dirty="0">
                <a:ea typeface="ＭＳ Ｐゴシック" panose="020B0600070205080204" pitchFamily="34" charset="-128"/>
              </a:rPr>
              <a:t>this is really a pattern, not a string!</a:t>
            </a:r>
          </a:p>
          <a:p>
            <a:pPr>
              <a:lnSpc>
                <a:spcPct val="150000"/>
              </a:lnSpc>
            </a:pPr>
            <a:r>
              <a:rPr lang="en-US" altLang="en-US" sz="2200" dirty="0">
                <a:ea typeface="ＭＳ Ｐゴシック" panose="020B0600070205080204" pitchFamily="34" charset="-128"/>
              </a:rPr>
              <a:t>the above regular expression matches any line containing "</a:t>
            </a:r>
            <a:r>
              <a:rPr lang="en-US" altLang="en-US" sz="2200" dirty="0" err="1">
                <a:ea typeface="ＭＳ Ｐゴシック" panose="020B0600070205080204" pitchFamily="34" charset="-128"/>
              </a:rPr>
              <a:t>abc</a:t>
            </a:r>
            <a:r>
              <a:rPr lang="en-US" altLang="en-US" sz="2200" dirty="0">
                <a:ea typeface="ＭＳ Ｐゴシック" panose="020B0600070205080204" pitchFamily="34" charset="-128"/>
              </a:rPr>
              <a:t>"</a:t>
            </a:r>
          </a:p>
          <a:p>
            <a:pPr lvl="1">
              <a:lnSpc>
                <a:spcPct val="150000"/>
              </a:lnSpc>
            </a:pPr>
            <a:r>
              <a:rPr lang="en-US" altLang="en-US" sz="2200" i="1" dirty="0">
                <a:ea typeface="ＭＳ Ｐゴシック" panose="020B0600070205080204" pitchFamily="34" charset="-128"/>
              </a:rPr>
              <a:t>YES </a:t>
            </a:r>
            <a:r>
              <a:rPr lang="en-US" altLang="en-US" sz="2200" dirty="0">
                <a:ea typeface="ＭＳ Ｐゴシック" panose="020B0600070205080204" pitchFamily="34" charset="-128"/>
              </a:rPr>
              <a:t>: "</a:t>
            </a:r>
            <a:r>
              <a:rPr lang="en-US" altLang="en-US" sz="2200" dirty="0" err="1">
                <a:ea typeface="ＭＳ Ｐゴシック" panose="020B0600070205080204" pitchFamily="34" charset="-128"/>
              </a:rPr>
              <a:t>abc</a:t>
            </a:r>
            <a:r>
              <a:rPr lang="en-US" altLang="en-US" sz="2200" dirty="0">
                <a:ea typeface="ＭＳ Ｐゴシック" panose="020B0600070205080204" pitchFamily="34" charset="-128"/>
              </a:rPr>
              <a:t>",   "</a:t>
            </a:r>
            <a:r>
              <a:rPr lang="en-US" altLang="en-US" sz="2200" dirty="0" err="1">
                <a:ea typeface="ＭＳ Ｐゴシック" panose="020B0600070205080204" pitchFamily="34" charset="-128"/>
              </a:rPr>
              <a:t>abcdef</a:t>
            </a:r>
            <a:r>
              <a:rPr lang="en-US" altLang="en-US" sz="2200" dirty="0">
                <a:ea typeface="ＭＳ Ｐゴシック" panose="020B0600070205080204" pitchFamily="34" charset="-128"/>
              </a:rPr>
              <a:t>",   "</a:t>
            </a:r>
            <a:r>
              <a:rPr lang="en-US" altLang="en-US" sz="2200" dirty="0" err="1">
                <a:ea typeface="ＭＳ Ｐゴシック" panose="020B0600070205080204" pitchFamily="34" charset="-128"/>
              </a:rPr>
              <a:t>defabc</a:t>
            </a:r>
            <a:r>
              <a:rPr lang="en-US" altLang="en-US" sz="2200" dirty="0">
                <a:ea typeface="ＭＳ Ｐゴシック" panose="020B0600070205080204" pitchFamily="34" charset="-128"/>
              </a:rPr>
              <a:t>",   ".=.</a:t>
            </a:r>
            <a:r>
              <a:rPr lang="en-US" altLang="en-US" sz="2200" dirty="0" err="1">
                <a:ea typeface="ＭＳ Ｐゴシック" panose="020B0600070205080204" pitchFamily="34" charset="-128"/>
              </a:rPr>
              <a:t>abc</a:t>
            </a:r>
            <a:r>
              <a:rPr lang="en-US" altLang="en-US" sz="2200" dirty="0">
                <a:ea typeface="ＭＳ Ｐゴシック" panose="020B0600070205080204" pitchFamily="34" charset="-128"/>
              </a:rPr>
              <a:t>.=.",  ...</a:t>
            </a:r>
          </a:p>
          <a:p>
            <a:pPr lvl="1">
              <a:lnSpc>
                <a:spcPct val="150000"/>
              </a:lnSpc>
            </a:pPr>
            <a:r>
              <a:rPr lang="en-US" altLang="en-US" sz="2200" i="1" dirty="0">
                <a:ea typeface="ＭＳ Ｐゴシック" panose="020B0600070205080204" pitchFamily="34" charset="-128"/>
              </a:rPr>
              <a:t>NO </a:t>
            </a:r>
            <a:r>
              <a:rPr lang="en-US" altLang="en-US" sz="2200" dirty="0">
                <a:ea typeface="ＭＳ Ｐゴシック" panose="020B0600070205080204" pitchFamily="34" charset="-128"/>
              </a:rPr>
              <a:t>: "</a:t>
            </a:r>
            <a:r>
              <a:rPr lang="en-US" altLang="en-US" sz="2200" dirty="0" err="1">
                <a:ea typeface="ＭＳ Ｐゴシック" panose="020B0600070205080204" pitchFamily="34" charset="-128"/>
              </a:rPr>
              <a:t>fedcba</a:t>
            </a:r>
            <a:r>
              <a:rPr lang="en-US" altLang="en-US" sz="2200" dirty="0">
                <a:ea typeface="ＭＳ Ｐゴシック" panose="020B0600070205080204" pitchFamily="34" charset="-128"/>
              </a:rPr>
              <a:t>",   "ab c",   "</a:t>
            </a:r>
            <a:r>
              <a:rPr lang="en-US" altLang="en-US" sz="2200" dirty="0" err="1">
                <a:ea typeface="ＭＳ Ｐゴシック" panose="020B0600070205080204" pitchFamily="34" charset="-128"/>
              </a:rPr>
              <a:t>AbC</a:t>
            </a:r>
            <a:r>
              <a:rPr lang="en-US" altLang="en-US" sz="2200" dirty="0">
                <a:ea typeface="ＭＳ Ｐゴシック" panose="020B0600070205080204" pitchFamily="34" charset="-128"/>
              </a:rPr>
              <a:t>",   "Bash", ...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9AAD03C-8935-404D-9A32-9AA4F3322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9A0510-BBE2-BD4F-B422-16C00BAF5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70496-1CF9-408E-B326-6CCA99B8516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5738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3A20F135-1B8F-6649-8FBD-717389A627D4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838200" y="136525"/>
            <a:ext cx="10515600" cy="1325563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  <a:spcBef>
                <a:spcPts val="1000"/>
              </a:spcBef>
            </a:pPr>
            <a:r>
              <a:rPr lang="en-US" altLang="en-US" sz="3000" dirty="0">
                <a:latin typeface="+mn-lt"/>
                <a:ea typeface="+mn-ea"/>
                <a:cs typeface="+mn-cs"/>
              </a:rPr>
              <a:t>Special Characters</a:t>
            </a:r>
          </a:p>
        </p:txBody>
      </p:sp>
      <p:sp>
        <p:nvSpPr>
          <p:cNvPr id="107523" name="Rectangle 3">
            <a:extLst>
              <a:ext uri="{FF2B5EF4-FFF2-40B4-BE49-F238E27FC236}">
                <a16:creationId xmlns:a16="http://schemas.microsoft.com/office/drawing/2014/main" id="{AF720155-E912-CF46-B57B-4D609505B7ED}"/>
              </a:ext>
            </a:extLst>
          </p:cNvPr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1524000" y="1295400"/>
            <a:ext cx="9144000" cy="55626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Tx/>
              <a:buNone/>
            </a:pPr>
            <a:r>
              <a:rPr lang="en-US" altLang="en-US" sz="2200" dirty="0">
                <a:ea typeface="ＭＳ Ｐゴシック" panose="020B0600070205080204" pitchFamily="34" charset="-128"/>
              </a:rPr>
              <a:t>	| means OR</a:t>
            </a:r>
          </a:p>
          <a:p>
            <a:pPr lvl="1">
              <a:lnSpc>
                <a:spcPct val="150000"/>
              </a:lnSpc>
            </a:pPr>
            <a:r>
              <a:rPr lang="en-US" altLang="en-US" sz="2200" dirty="0">
                <a:ea typeface="ＭＳ Ｐゴシック" panose="020B0600070205080204" pitchFamily="34" charset="-128"/>
              </a:rPr>
              <a:t>"</a:t>
            </a:r>
            <a:r>
              <a:rPr lang="en-US" altLang="en-US" sz="2200" dirty="0" err="1">
                <a:ea typeface="ＭＳ Ｐゴシック" panose="020B0600070205080204" pitchFamily="34" charset="-128"/>
              </a:rPr>
              <a:t>abc|def|g</a:t>
            </a:r>
            <a:r>
              <a:rPr lang="en-US" altLang="en-US" sz="2200" dirty="0">
                <a:ea typeface="ＭＳ Ｐゴシック" panose="020B0600070205080204" pitchFamily="34" charset="-128"/>
              </a:rPr>
              <a:t>" matches lines with  "</a:t>
            </a:r>
            <a:r>
              <a:rPr lang="en-US" altLang="en-US" sz="2200" dirty="0" err="1">
                <a:ea typeface="ＭＳ Ｐゴシック" panose="020B0600070205080204" pitchFamily="34" charset="-128"/>
              </a:rPr>
              <a:t>abc</a:t>
            </a:r>
            <a:r>
              <a:rPr lang="en-US" altLang="en-US" sz="2200" dirty="0">
                <a:ea typeface="ＭＳ Ｐゴシック" panose="020B0600070205080204" pitchFamily="34" charset="-128"/>
              </a:rPr>
              <a:t>", "def", or "g"</a:t>
            </a:r>
          </a:p>
          <a:p>
            <a:pPr lvl="1">
              <a:lnSpc>
                <a:spcPct val="150000"/>
              </a:lnSpc>
            </a:pPr>
            <a:r>
              <a:rPr lang="en-US" altLang="en-US" sz="2200" dirty="0">
                <a:ea typeface="ＭＳ Ｐゴシック" panose="020B0600070205080204" pitchFamily="34" charset="-128"/>
              </a:rPr>
              <a:t>precedence of ^</a:t>
            </a:r>
            <a:r>
              <a:rPr lang="en-US" altLang="en-US" sz="2200" u="sng" dirty="0">
                <a:ea typeface="ＭＳ Ｐゴシック" panose="020B0600070205080204" pitchFamily="34" charset="-128"/>
              </a:rPr>
              <a:t>(</a:t>
            </a:r>
            <a:r>
              <a:rPr lang="en-US" altLang="en-US" sz="2200" u="sng" dirty="0" err="1">
                <a:ea typeface="ＭＳ Ｐゴシック" panose="020B0600070205080204" pitchFamily="34" charset="-128"/>
              </a:rPr>
              <a:t>Subject|Date</a:t>
            </a:r>
            <a:r>
              <a:rPr lang="en-US" altLang="en-US" sz="2200" u="sng" dirty="0">
                <a:ea typeface="ＭＳ Ｐゴシック" panose="020B0600070205080204" pitchFamily="34" charset="-128"/>
              </a:rPr>
              <a:t>)</a:t>
            </a:r>
            <a:r>
              <a:rPr lang="en-US" altLang="en-US" sz="2200" dirty="0">
                <a:ea typeface="ＭＳ Ｐゴシック" panose="020B0600070205080204" pitchFamily="34" charset="-128"/>
              </a:rPr>
              <a:t>  vs.   </a:t>
            </a:r>
            <a:r>
              <a:rPr lang="en-US" altLang="en-US" sz="2200" u="sng" dirty="0">
                <a:ea typeface="ＭＳ Ｐゴシック" panose="020B0600070205080204" pitchFamily="34" charset="-128"/>
              </a:rPr>
              <a:t>^</a:t>
            </a:r>
            <a:r>
              <a:rPr lang="en-US" altLang="en-US" sz="2200" u="sng" dirty="0" err="1">
                <a:ea typeface="ＭＳ Ｐゴシック" panose="020B0600070205080204" pitchFamily="34" charset="-128"/>
              </a:rPr>
              <a:t>Subject</a:t>
            </a:r>
            <a:r>
              <a:rPr lang="en-US" altLang="en-US" sz="2200" dirty="0" err="1">
                <a:ea typeface="ＭＳ Ｐゴシック" panose="020B0600070205080204" pitchFamily="34" charset="-128"/>
              </a:rPr>
              <a:t>|Date</a:t>
            </a:r>
            <a:r>
              <a:rPr lang="en-US" altLang="en-US" sz="2200" dirty="0">
                <a:ea typeface="ＭＳ Ｐゴシック" panose="020B0600070205080204" pitchFamily="34" charset="-128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altLang="en-US" sz="2200" dirty="0">
                <a:ea typeface="ＭＳ Ｐゴシック" panose="020B0600070205080204" pitchFamily="34" charset="-128"/>
              </a:rPr>
              <a:t>There's no AND symbol. 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en-US" altLang="en-US" sz="2200" dirty="0">
                <a:ea typeface="ＭＳ Ｐゴシック" panose="020B0600070205080204" pitchFamily="34" charset="-128"/>
              </a:rPr>
              <a:t>	() are for grouping</a:t>
            </a:r>
          </a:p>
          <a:p>
            <a:pPr lvl="1">
              <a:lnSpc>
                <a:spcPct val="150000"/>
              </a:lnSpc>
            </a:pPr>
            <a:r>
              <a:rPr lang="en-US" altLang="en-US" sz="2200" dirty="0">
                <a:ea typeface="ＭＳ Ｐゴシック" panose="020B0600070205080204" pitchFamily="34" charset="-128"/>
              </a:rPr>
              <a:t>"(</a:t>
            </a:r>
            <a:r>
              <a:rPr lang="en-US" altLang="en-US" sz="2200" dirty="0" err="1">
                <a:ea typeface="ＭＳ Ｐゴシック" panose="020B0600070205080204" pitchFamily="34" charset="-128"/>
              </a:rPr>
              <a:t>Homer|Marge</a:t>
            </a:r>
            <a:r>
              <a:rPr lang="en-US" altLang="en-US" sz="2200" dirty="0">
                <a:ea typeface="ＭＳ Ｐゴシック" panose="020B0600070205080204" pitchFamily="34" charset="-128"/>
              </a:rPr>
              <a:t>) Simpson" matches lines containing </a:t>
            </a:r>
            <a:br>
              <a:rPr lang="en-US" altLang="en-US" sz="2200" dirty="0">
                <a:ea typeface="ＭＳ Ｐゴシック" panose="020B0600070205080204" pitchFamily="34" charset="-128"/>
              </a:rPr>
            </a:br>
            <a:r>
              <a:rPr lang="en-US" altLang="en-US" sz="2200" dirty="0">
                <a:ea typeface="ＭＳ Ｐゴシック" panose="020B0600070205080204" pitchFamily="34" charset="-128"/>
              </a:rPr>
              <a:t>"Homer Simpson" or "Marge Simpson"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149CB7A-88AB-B246-AD42-B939F0A41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6E9F7E-6BDC-4548-B48E-AFF34702F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70496-1CF9-408E-B326-6CCA99B8516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088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7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75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8163FBAF-CEB1-3D47-ACE5-2AE078E7BCEA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  <a:spcBef>
                <a:spcPts val="1000"/>
              </a:spcBef>
            </a:pPr>
            <a:r>
              <a:rPr lang="en-US" altLang="en-US" sz="3000" dirty="0">
                <a:latin typeface="+mn-lt"/>
                <a:ea typeface="+mn-ea"/>
                <a:cs typeface="+mn-cs"/>
              </a:rPr>
              <a:t>Quantifiers</a:t>
            </a:r>
          </a:p>
        </p:txBody>
      </p:sp>
      <p:sp>
        <p:nvSpPr>
          <p:cNvPr id="108547" name="Rectangle 3">
            <a:extLst>
              <a:ext uri="{FF2B5EF4-FFF2-40B4-BE49-F238E27FC236}">
                <a16:creationId xmlns:a16="http://schemas.microsoft.com/office/drawing/2014/main" id="{30B74A47-BFC7-2A41-BEC7-C7B520F90659}"/>
              </a:ext>
            </a:extLst>
          </p:cNvPr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736600" y="1422400"/>
            <a:ext cx="9144000" cy="55626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Tx/>
              <a:buNone/>
            </a:pPr>
            <a:r>
              <a:rPr lang="en-US" altLang="en-US" sz="22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*</a:t>
            </a:r>
            <a:r>
              <a:rPr lang="en-US" altLang="en-US" sz="2200" dirty="0">
                <a:ea typeface="ＭＳ Ｐゴシック" panose="020B0600070205080204" pitchFamily="34" charset="-128"/>
              </a:rPr>
              <a:t>  means 0 or more occurrences </a:t>
            </a:r>
          </a:p>
          <a:p>
            <a:pPr lvl="1">
              <a:lnSpc>
                <a:spcPct val="150000"/>
              </a:lnSpc>
            </a:pPr>
            <a:r>
              <a:rPr lang="en-US" alt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"</a:t>
            </a:r>
            <a:r>
              <a:rPr lang="en-US" altLang="en-US" sz="20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ab</a:t>
            </a:r>
            <a:r>
              <a:rPr lang="en-US" altLang="en-US" sz="2000" u="sng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c</a:t>
            </a:r>
            <a:r>
              <a:rPr lang="en-US" altLang="en-US" sz="2000" u="sng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*</a:t>
            </a:r>
            <a:r>
              <a:rPr lang="en-US" alt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"</a:t>
            </a:r>
            <a:r>
              <a:rPr lang="en-US" altLang="en-US" sz="2000" dirty="0">
                <a:ea typeface="ＭＳ Ｐゴシック" panose="020B0600070205080204" pitchFamily="34" charset="-128"/>
              </a:rPr>
              <a:t> matches "ab", "</a:t>
            </a:r>
            <a:r>
              <a:rPr lang="en-US" altLang="en-US" sz="2000" dirty="0" err="1">
                <a:ea typeface="ＭＳ Ｐゴシック" panose="020B0600070205080204" pitchFamily="34" charset="-128"/>
              </a:rPr>
              <a:t>abc</a:t>
            </a:r>
            <a:r>
              <a:rPr lang="en-US" altLang="en-US" sz="2000" dirty="0">
                <a:ea typeface="ＭＳ Ｐゴシック" panose="020B0600070205080204" pitchFamily="34" charset="-128"/>
              </a:rPr>
              <a:t>", "</a:t>
            </a:r>
            <a:r>
              <a:rPr lang="en-US" altLang="en-US" sz="2000" dirty="0" err="1">
                <a:ea typeface="ＭＳ Ｐゴシック" panose="020B0600070205080204" pitchFamily="34" charset="-128"/>
              </a:rPr>
              <a:t>abcc</a:t>
            </a:r>
            <a:r>
              <a:rPr lang="en-US" altLang="en-US" sz="2000" dirty="0">
                <a:ea typeface="ＭＳ Ｐゴシック" panose="020B0600070205080204" pitchFamily="34" charset="-128"/>
              </a:rPr>
              <a:t>", "</a:t>
            </a:r>
            <a:r>
              <a:rPr lang="en-US" altLang="en-US" sz="2000" dirty="0" err="1">
                <a:ea typeface="ＭＳ Ｐゴシック" panose="020B0600070205080204" pitchFamily="34" charset="-128"/>
              </a:rPr>
              <a:t>abccc</a:t>
            </a:r>
            <a:r>
              <a:rPr lang="en-US" altLang="en-US" sz="2000" dirty="0">
                <a:ea typeface="ＭＳ Ｐゴシック" panose="020B0600070205080204" pitchFamily="34" charset="-128"/>
              </a:rPr>
              <a:t>", ... </a:t>
            </a:r>
          </a:p>
          <a:p>
            <a:pPr lvl="1">
              <a:lnSpc>
                <a:spcPct val="150000"/>
              </a:lnSpc>
            </a:pPr>
            <a:r>
              <a:rPr lang="en-US" alt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"a</a:t>
            </a:r>
            <a:r>
              <a:rPr lang="en-US" altLang="en-US" sz="2000" u="sng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(</a:t>
            </a:r>
            <a:r>
              <a:rPr lang="en-US" altLang="en-US" sz="2000" u="sng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bc</a:t>
            </a:r>
            <a:r>
              <a:rPr lang="en-US" altLang="en-US" sz="2000" u="sng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)*</a:t>
            </a:r>
            <a:r>
              <a:rPr lang="en-US" alt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"</a:t>
            </a:r>
            <a:r>
              <a:rPr lang="en-US" altLang="en-US" sz="2000" dirty="0">
                <a:ea typeface="ＭＳ Ｐゴシック" panose="020B0600070205080204" pitchFamily="34" charset="-128"/>
              </a:rPr>
              <a:t> matches "a", "</a:t>
            </a:r>
            <a:r>
              <a:rPr lang="en-US" altLang="en-US" sz="2000" dirty="0" err="1">
                <a:ea typeface="ＭＳ Ｐゴシック" panose="020B0600070205080204" pitchFamily="34" charset="-128"/>
              </a:rPr>
              <a:t>abc</a:t>
            </a:r>
            <a:r>
              <a:rPr lang="en-US" altLang="en-US" sz="2000" dirty="0">
                <a:ea typeface="ＭＳ Ｐゴシック" panose="020B0600070205080204" pitchFamily="34" charset="-128"/>
              </a:rPr>
              <a:t>", "</a:t>
            </a:r>
            <a:r>
              <a:rPr lang="en-US" altLang="en-US" sz="2000" dirty="0" err="1">
                <a:ea typeface="ＭＳ Ｐゴシック" panose="020B0600070205080204" pitchFamily="34" charset="-128"/>
              </a:rPr>
              <a:t>abcbc</a:t>
            </a:r>
            <a:r>
              <a:rPr lang="en-US" altLang="en-US" sz="2000" dirty="0">
                <a:ea typeface="ＭＳ Ｐゴシック" panose="020B0600070205080204" pitchFamily="34" charset="-128"/>
              </a:rPr>
              <a:t>", "</a:t>
            </a:r>
            <a:r>
              <a:rPr lang="en-US" altLang="en-US" sz="2000" dirty="0" err="1">
                <a:ea typeface="ＭＳ Ｐゴシック" panose="020B0600070205080204" pitchFamily="34" charset="-128"/>
              </a:rPr>
              <a:t>abcbcbc</a:t>
            </a:r>
            <a:r>
              <a:rPr lang="en-US" altLang="en-US" sz="2000" dirty="0">
                <a:ea typeface="ＭＳ Ｐゴシック" panose="020B0600070205080204" pitchFamily="34" charset="-128"/>
              </a:rPr>
              <a:t>", ... 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en-US" altLang="en-US" sz="22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+</a:t>
            </a:r>
            <a:r>
              <a:rPr lang="en-US" altLang="en-US" sz="2200" dirty="0">
                <a:ea typeface="ＭＳ Ｐゴシック" panose="020B0600070205080204" pitchFamily="34" charset="-128"/>
              </a:rPr>
              <a:t>  means 1 or more occurrences </a:t>
            </a:r>
          </a:p>
          <a:p>
            <a:pPr lvl="1">
              <a:lnSpc>
                <a:spcPct val="150000"/>
              </a:lnSpc>
            </a:pPr>
            <a:r>
              <a:rPr lang="en-US" alt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"a</a:t>
            </a:r>
            <a:r>
              <a:rPr lang="en-US" altLang="en-US" sz="2000" u="sng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(</a:t>
            </a:r>
            <a:r>
              <a:rPr lang="en-US" altLang="en-US" sz="2000" u="sng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bc</a:t>
            </a:r>
            <a:r>
              <a:rPr lang="en-US" altLang="en-US" sz="2000" u="sng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)+</a:t>
            </a:r>
            <a:r>
              <a:rPr lang="en-US" alt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"</a:t>
            </a:r>
            <a:r>
              <a:rPr lang="en-US" altLang="en-US" sz="2000" dirty="0">
                <a:ea typeface="ＭＳ Ｐゴシック" panose="020B0600070205080204" pitchFamily="34" charset="-128"/>
              </a:rPr>
              <a:t> matches "</a:t>
            </a:r>
            <a:r>
              <a:rPr lang="en-US" altLang="en-US" sz="2000" dirty="0" err="1">
                <a:ea typeface="ＭＳ Ｐゴシック" panose="020B0600070205080204" pitchFamily="34" charset="-128"/>
              </a:rPr>
              <a:t>abc</a:t>
            </a:r>
            <a:r>
              <a:rPr lang="en-US" altLang="en-US" sz="2000" dirty="0">
                <a:ea typeface="ＭＳ Ｐゴシック" panose="020B0600070205080204" pitchFamily="34" charset="-128"/>
              </a:rPr>
              <a:t>", "</a:t>
            </a:r>
            <a:r>
              <a:rPr lang="en-US" altLang="en-US" sz="2000" dirty="0" err="1">
                <a:ea typeface="ＭＳ Ｐゴシック" panose="020B0600070205080204" pitchFamily="34" charset="-128"/>
              </a:rPr>
              <a:t>abcbc</a:t>
            </a:r>
            <a:r>
              <a:rPr lang="en-US" altLang="en-US" sz="2000" dirty="0">
                <a:ea typeface="ＭＳ Ｐゴシック" panose="020B0600070205080204" pitchFamily="34" charset="-128"/>
              </a:rPr>
              <a:t>", "</a:t>
            </a:r>
            <a:r>
              <a:rPr lang="en-US" altLang="en-US" sz="2000" dirty="0" err="1">
                <a:ea typeface="ＭＳ Ｐゴシック" panose="020B0600070205080204" pitchFamily="34" charset="-128"/>
              </a:rPr>
              <a:t>abcbcbc</a:t>
            </a:r>
            <a:r>
              <a:rPr lang="en-US" altLang="en-US" sz="2000" dirty="0">
                <a:ea typeface="ＭＳ Ｐゴシック" panose="020B0600070205080204" pitchFamily="34" charset="-128"/>
              </a:rPr>
              <a:t>", ... </a:t>
            </a:r>
          </a:p>
          <a:p>
            <a:pPr lvl="1">
              <a:lnSpc>
                <a:spcPct val="150000"/>
              </a:lnSpc>
            </a:pPr>
            <a:r>
              <a:rPr lang="en-US" alt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"</a:t>
            </a:r>
            <a:r>
              <a:rPr lang="en-US" altLang="en-US" sz="20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Go</a:t>
            </a:r>
            <a:r>
              <a:rPr lang="en-US" altLang="en-US" sz="2000" u="sng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o+</a:t>
            </a:r>
            <a:r>
              <a:rPr lang="en-US" altLang="en-US" sz="2000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gle</a:t>
            </a:r>
            <a:r>
              <a:rPr lang="en-US" alt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"</a:t>
            </a:r>
            <a:r>
              <a:rPr lang="en-US" altLang="en-US" sz="2000" dirty="0">
                <a:ea typeface="ＭＳ Ｐゴシック" panose="020B0600070205080204" pitchFamily="34" charset="-128"/>
              </a:rPr>
              <a:t> matches "Google", "</a:t>
            </a:r>
            <a:r>
              <a:rPr lang="en-US" altLang="en-US" sz="2000" dirty="0" err="1">
                <a:ea typeface="ＭＳ Ｐゴシック" panose="020B0600070205080204" pitchFamily="34" charset="-128"/>
              </a:rPr>
              <a:t>Gooogle</a:t>
            </a:r>
            <a:r>
              <a:rPr lang="en-US" altLang="en-US" sz="2000" dirty="0">
                <a:ea typeface="ＭＳ Ｐゴシック" panose="020B0600070205080204" pitchFamily="34" charset="-128"/>
              </a:rPr>
              <a:t>", "</a:t>
            </a:r>
            <a:r>
              <a:rPr lang="en-US" altLang="en-US" sz="2000" dirty="0" err="1">
                <a:ea typeface="ＭＳ Ｐゴシック" panose="020B0600070205080204" pitchFamily="34" charset="-128"/>
              </a:rPr>
              <a:t>Goooogle</a:t>
            </a:r>
            <a:r>
              <a:rPr lang="en-US" altLang="en-US" sz="2000" dirty="0">
                <a:ea typeface="ＭＳ Ｐゴシック" panose="020B0600070205080204" pitchFamily="34" charset="-128"/>
              </a:rPr>
              <a:t>", ... 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en-US" altLang="en-US" sz="22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	?</a:t>
            </a:r>
            <a:r>
              <a:rPr lang="en-US" altLang="en-US" sz="2200" dirty="0">
                <a:ea typeface="ＭＳ Ｐゴシック" panose="020B0600070205080204" pitchFamily="34" charset="-128"/>
              </a:rPr>
              <a:t>  means 0 or 1 occurrences </a:t>
            </a:r>
          </a:p>
          <a:p>
            <a:pPr lvl="1">
              <a:lnSpc>
                <a:spcPct val="150000"/>
              </a:lnSpc>
            </a:pPr>
            <a:r>
              <a:rPr lang="en-US" alt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"Martin</a:t>
            </a:r>
            <a:r>
              <a:rPr lang="en-US" altLang="en-US" sz="2000" u="sng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a?</a:t>
            </a:r>
            <a:r>
              <a:rPr lang="en-US" alt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"</a:t>
            </a:r>
            <a:r>
              <a:rPr lang="en-US" altLang="en-US" sz="2000" dirty="0">
                <a:ea typeface="ＭＳ Ｐゴシック" panose="020B0600070205080204" pitchFamily="34" charset="-128"/>
              </a:rPr>
              <a:t> matches lines with "Martin" or "Martina"</a:t>
            </a:r>
          </a:p>
          <a:p>
            <a:pPr lvl="1">
              <a:lnSpc>
                <a:spcPct val="150000"/>
              </a:lnSpc>
            </a:pPr>
            <a:r>
              <a:rPr lang="en-US" alt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"Dan</a:t>
            </a:r>
            <a:r>
              <a:rPr lang="en-US" altLang="en-US" sz="2000" u="sng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(</a:t>
            </a:r>
            <a:r>
              <a:rPr lang="en-US" altLang="en-US" sz="2000" u="sng" dirty="0" err="1">
                <a:latin typeface="Consolas" panose="020B0609020204030204" pitchFamily="49" charset="0"/>
                <a:ea typeface="ＭＳ Ｐゴシック" panose="020B0600070205080204" pitchFamily="34" charset="-128"/>
              </a:rPr>
              <a:t>iel</a:t>
            </a:r>
            <a:r>
              <a:rPr lang="en-US" altLang="en-US" sz="2000" u="sng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)?</a:t>
            </a:r>
            <a:r>
              <a:rPr lang="en-US" altLang="en-US" sz="2000" dirty="0">
                <a:latin typeface="Consolas" panose="020B0609020204030204" pitchFamily="49" charset="0"/>
                <a:ea typeface="ＭＳ Ｐゴシック" panose="020B0600070205080204" pitchFamily="34" charset="-128"/>
              </a:rPr>
              <a:t>"</a:t>
            </a:r>
            <a:r>
              <a:rPr lang="en-US" altLang="en-US" sz="2000" dirty="0">
                <a:ea typeface="ＭＳ Ｐゴシック" panose="020B0600070205080204" pitchFamily="34" charset="-128"/>
              </a:rPr>
              <a:t> matches lines with "Dan" or "Daniel"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F44F9BB-2981-354B-B5AA-E67A10242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E3EEC56-BB7C-9F4E-9363-340996076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70496-1CF9-408E-B326-6CCA99B8516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568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A8292F18-0184-5D41-985A-D32661962FBC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  <a:spcBef>
                <a:spcPts val="1000"/>
              </a:spcBef>
            </a:pPr>
            <a:r>
              <a:rPr lang="en-US" altLang="en-US" sz="3000" dirty="0">
                <a:latin typeface="+mn-lt"/>
                <a:ea typeface="+mn-ea"/>
                <a:cs typeface="+mn-cs"/>
              </a:rPr>
              <a:t>Character Sets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3A507C23-0F73-2948-A5F7-52D64A86E560}"/>
              </a:ext>
            </a:extLst>
          </p:cNvPr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1524000" y="1295400"/>
            <a:ext cx="9144000" cy="55626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Tx/>
              <a:buNone/>
            </a:pPr>
            <a:r>
              <a:rPr lang="en-US" altLang="en-US" sz="2200" dirty="0">
                <a:ea typeface="ＭＳ Ｐゴシック" panose="020B0600070205080204" pitchFamily="34" charset="-128"/>
              </a:rPr>
              <a:t>	[ ] group characters into a character set; </a:t>
            </a:r>
            <a:br>
              <a:rPr lang="en-US" altLang="en-US" sz="2200" dirty="0">
                <a:ea typeface="ＭＳ Ｐゴシック" panose="020B0600070205080204" pitchFamily="34" charset="-128"/>
              </a:rPr>
            </a:br>
            <a:r>
              <a:rPr lang="en-US" altLang="en-US" sz="2200" dirty="0">
                <a:ea typeface="ＭＳ Ｐゴシック" panose="020B0600070205080204" pitchFamily="34" charset="-128"/>
              </a:rPr>
              <a:t>will match any single character from the set </a:t>
            </a:r>
          </a:p>
          <a:p>
            <a:pPr lvl="1">
              <a:lnSpc>
                <a:spcPct val="150000"/>
              </a:lnSpc>
            </a:pPr>
            <a:r>
              <a:rPr lang="en-US" altLang="en-US" sz="2200" dirty="0">
                <a:ea typeface="ＭＳ Ｐゴシック" panose="020B0600070205080204" pitchFamily="34" charset="-128"/>
              </a:rPr>
              <a:t>"[</a:t>
            </a:r>
            <a:r>
              <a:rPr lang="en-US" altLang="en-US" sz="2200" dirty="0" err="1">
                <a:ea typeface="ＭＳ Ｐゴシック" panose="020B0600070205080204" pitchFamily="34" charset="-128"/>
              </a:rPr>
              <a:t>bcd</a:t>
            </a:r>
            <a:r>
              <a:rPr lang="en-US" altLang="en-US" sz="2200" dirty="0">
                <a:ea typeface="ＭＳ Ｐゴシック" panose="020B0600070205080204" pitchFamily="34" charset="-128"/>
              </a:rPr>
              <a:t>]art" matches strings containing "</a:t>
            </a:r>
            <a:r>
              <a:rPr lang="en-US" altLang="en-US" sz="2200" dirty="0" err="1">
                <a:ea typeface="ＭＳ Ｐゴシック" panose="020B0600070205080204" pitchFamily="34" charset="-128"/>
              </a:rPr>
              <a:t>bart</a:t>
            </a:r>
            <a:r>
              <a:rPr lang="en-US" altLang="en-US" sz="2200" dirty="0">
                <a:ea typeface="ＭＳ Ｐゴシック" panose="020B0600070205080204" pitchFamily="34" charset="-128"/>
              </a:rPr>
              <a:t>", "cart", and "dart" </a:t>
            </a:r>
          </a:p>
          <a:p>
            <a:pPr lvl="1">
              <a:lnSpc>
                <a:spcPct val="150000"/>
              </a:lnSpc>
            </a:pPr>
            <a:r>
              <a:rPr lang="en-US" altLang="en-US" sz="2200" dirty="0">
                <a:ea typeface="ＭＳ Ｐゴシック" panose="020B0600070205080204" pitchFamily="34" charset="-128"/>
              </a:rPr>
              <a:t>equivalent to "(</a:t>
            </a:r>
            <a:r>
              <a:rPr lang="en-US" altLang="en-US" sz="2200" dirty="0" err="1">
                <a:ea typeface="ＭＳ Ｐゴシック" panose="020B0600070205080204" pitchFamily="34" charset="-128"/>
              </a:rPr>
              <a:t>b|c|d</a:t>
            </a:r>
            <a:r>
              <a:rPr lang="en-US" altLang="en-US" sz="2200" dirty="0">
                <a:ea typeface="ＭＳ Ｐゴシック" panose="020B0600070205080204" pitchFamily="34" charset="-128"/>
              </a:rPr>
              <a:t>)art" but shorter </a:t>
            </a:r>
          </a:p>
          <a:p>
            <a:pPr>
              <a:lnSpc>
                <a:spcPct val="150000"/>
              </a:lnSpc>
            </a:pPr>
            <a:r>
              <a:rPr lang="en-US" altLang="en-US" sz="2200" dirty="0">
                <a:ea typeface="ＭＳ Ｐゴシック" panose="020B0600070205080204" pitchFamily="34" charset="-128"/>
              </a:rPr>
              <a:t>inside [ ], most modifier keys act as normal characters </a:t>
            </a:r>
          </a:p>
          <a:p>
            <a:pPr lvl="1">
              <a:lnSpc>
                <a:spcPct val="150000"/>
              </a:lnSpc>
            </a:pPr>
            <a:r>
              <a:rPr lang="en-US" altLang="en-US" sz="2200" dirty="0">
                <a:ea typeface="ＭＳ Ｐゴシック" panose="020B0600070205080204" pitchFamily="34" charset="-128"/>
              </a:rPr>
              <a:t>"what[.!*?]*"  matches "what", "what.", "what!", "what?**!", ... </a:t>
            </a:r>
          </a:p>
          <a:p>
            <a:pPr marL="457200" lvl="1" indent="0">
              <a:lnSpc>
                <a:spcPct val="150000"/>
              </a:lnSpc>
              <a:buNone/>
            </a:pPr>
            <a:endParaRPr lang="en-US" altLang="en-US" sz="2200" dirty="0">
              <a:ea typeface="ＭＳ Ｐゴシック" panose="020B0600070205080204" pitchFamily="34" charset="-128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F7C1BD5-F982-DF46-B852-92D82D50B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0D0748A-473F-294B-9390-FE9949336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70496-1CF9-408E-B326-6CCA99B8516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858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0805F623-8762-6E47-8317-39361EA48F19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838200" y="-30163"/>
            <a:ext cx="10515600" cy="1325563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  <a:spcBef>
                <a:spcPts val="1000"/>
              </a:spcBef>
            </a:pPr>
            <a:r>
              <a:rPr lang="en-US" altLang="en-US" sz="3000" dirty="0">
                <a:latin typeface="+mn-lt"/>
                <a:ea typeface="+mn-ea"/>
                <a:cs typeface="+mn-cs"/>
              </a:rPr>
              <a:t>Character Ranges</a:t>
            </a:r>
          </a:p>
        </p:txBody>
      </p:sp>
      <p:sp>
        <p:nvSpPr>
          <p:cNvPr id="111619" name="Rectangle 3">
            <a:extLst>
              <a:ext uri="{FF2B5EF4-FFF2-40B4-BE49-F238E27FC236}">
                <a16:creationId xmlns:a16="http://schemas.microsoft.com/office/drawing/2014/main" id="{A7007D67-36B6-154D-ACC1-731DD50DBF2E}"/>
              </a:ext>
            </a:extLst>
          </p:cNvPr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1524000" y="1295400"/>
            <a:ext cx="9144000" cy="55626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en-US" sz="2200" dirty="0">
                <a:ea typeface="ＭＳ Ｐゴシック" panose="020B0600070205080204" pitchFamily="34" charset="-128"/>
              </a:rPr>
              <a:t>inside a character set, specify a range of characters with - </a:t>
            </a:r>
          </a:p>
          <a:p>
            <a:pPr lvl="1">
              <a:lnSpc>
                <a:spcPct val="150000"/>
              </a:lnSpc>
            </a:pPr>
            <a:r>
              <a:rPr lang="en-US" altLang="en-US" sz="2200" dirty="0">
                <a:ea typeface="ＭＳ Ｐゴシック" panose="020B0600070205080204" pitchFamily="34" charset="-128"/>
              </a:rPr>
              <a:t>"[a-z]" matches any lowercase letter </a:t>
            </a:r>
          </a:p>
          <a:p>
            <a:pPr lvl="1">
              <a:lnSpc>
                <a:spcPct val="150000"/>
              </a:lnSpc>
            </a:pPr>
            <a:r>
              <a:rPr lang="en-US" altLang="en-US" sz="2200" dirty="0">
                <a:ea typeface="ＭＳ Ｐゴシック" panose="020B0600070205080204" pitchFamily="34" charset="-128"/>
              </a:rPr>
              <a:t>"[a-zA-Z0-9]" matches any lower- or uppercase letter or digit </a:t>
            </a:r>
          </a:p>
          <a:p>
            <a:pPr>
              <a:lnSpc>
                <a:spcPct val="150000"/>
              </a:lnSpc>
            </a:pPr>
            <a:r>
              <a:rPr lang="en-US" altLang="en-US" sz="2200" dirty="0">
                <a:ea typeface="ＭＳ Ｐゴシック" panose="020B0600070205080204" pitchFamily="34" charset="-128"/>
              </a:rPr>
              <a:t>an initial ^ inside a character set negates it </a:t>
            </a:r>
          </a:p>
          <a:p>
            <a:pPr lvl="1">
              <a:lnSpc>
                <a:spcPct val="150000"/>
              </a:lnSpc>
            </a:pPr>
            <a:r>
              <a:rPr lang="en-US" altLang="en-US" sz="2200" dirty="0">
                <a:ea typeface="ＭＳ Ｐゴシック" panose="020B0600070205080204" pitchFamily="34" charset="-128"/>
              </a:rPr>
              <a:t>"[^</a:t>
            </a:r>
            <a:r>
              <a:rPr lang="en-US" altLang="en-US" sz="2200" dirty="0" err="1">
                <a:ea typeface="ＭＳ Ｐゴシック" panose="020B0600070205080204" pitchFamily="34" charset="-128"/>
              </a:rPr>
              <a:t>abcd</a:t>
            </a:r>
            <a:r>
              <a:rPr lang="en-US" altLang="en-US" sz="2200" dirty="0">
                <a:ea typeface="ＭＳ Ｐゴシック" panose="020B0600070205080204" pitchFamily="34" charset="-128"/>
              </a:rPr>
              <a:t>]" matches any character other than a, b, c, or d </a:t>
            </a:r>
          </a:p>
          <a:p>
            <a:pPr>
              <a:lnSpc>
                <a:spcPct val="150000"/>
              </a:lnSpc>
            </a:pPr>
            <a:r>
              <a:rPr lang="en-US" altLang="en-US" sz="2200" dirty="0">
                <a:ea typeface="ＭＳ Ｐゴシック" panose="020B0600070205080204" pitchFamily="34" charset="-128"/>
              </a:rPr>
              <a:t>inside a character set, - must be escaped to be matched </a:t>
            </a:r>
          </a:p>
          <a:p>
            <a:pPr lvl="1">
              <a:lnSpc>
                <a:spcPct val="150000"/>
              </a:lnSpc>
            </a:pPr>
            <a:r>
              <a:rPr lang="en-US" altLang="en-US" sz="2200" dirty="0">
                <a:ea typeface="ＭＳ Ｐゴシック" panose="020B0600070205080204" pitchFamily="34" charset="-128"/>
              </a:rPr>
              <a:t>"[+\-]?[0-9]+" matches optional + or -, followed by </a:t>
            </a:r>
            <a:r>
              <a:rPr lang="en-US" altLang="en-US" sz="2200" dirty="0">
                <a:ea typeface="ＭＳ Ｐゴシック" panose="020B0600070205080204" pitchFamily="34" charset="-128"/>
                <a:sym typeface="Symbol" pitchFamily="2" charset="2"/>
              </a:rPr>
              <a:t> </a:t>
            </a:r>
            <a:r>
              <a:rPr lang="en-US" altLang="en-US" sz="2200" dirty="0">
                <a:ea typeface="ＭＳ Ｐゴシック" panose="020B0600070205080204" pitchFamily="34" charset="-128"/>
              </a:rPr>
              <a:t>one digit </a:t>
            </a:r>
          </a:p>
          <a:p>
            <a:pPr lvl="1">
              <a:lnSpc>
                <a:spcPct val="150000"/>
              </a:lnSpc>
            </a:pPr>
            <a:endParaRPr lang="en-US" altLang="en-US" sz="2200" dirty="0">
              <a:ea typeface="ＭＳ Ｐゴシック" panose="020B0600070205080204" pitchFamily="34" charset="-128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98B295A-2FC0-0D41-B883-6F8F885CB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3D44F2-83D2-A049-BAF9-BEA35988D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70496-1CF9-408E-B326-6CCA99B8516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78860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14965</TotalTime>
  <Words>636</Words>
  <Application>Microsoft Macintosh PowerPoint</Application>
  <PresentationFormat>מסך רחב</PresentationFormat>
  <Paragraphs>96</Paragraphs>
  <Slides>9</Slides>
  <Notes>7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6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9</vt:i4>
      </vt:variant>
    </vt:vector>
  </HeadingPairs>
  <TitlesOfParts>
    <vt:vector size="16" baseType="lpstr">
      <vt:lpstr>ＭＳ Ｐゴシック</vt:lpstr>
      <vt:lpstr>Arial</vt:lpstr>
      <vt:lpstr>Calibri</vt:lpstr>
      <vt:lpstr>Calibri Light</vt:lpstr>
      <vt:lpstr>Consolas</vt:lpstr>
      <vt:lpstr>Times New Roman</vt:lpstr>
      <vt:lpstr>Office Theme</vt:lpstr>
      <vt:lpstr>Cloud Data Engineering</vt:lpstr>
      <vt:lpstr>Document Search</vt:lpstr>
      <vt:lpstr>What is a Regular Expression?</vt:lpstr>
      <vt:lpstr>Regular Expressions</vt:lpstr>
      <vt:lpstr>Basic REs</vt:lpstr>
      <vt:lpstr>Special Characters</vt:lpstr>
      <vt:lpstr>Quantifiers</vt:lpstr>
      <vt:lpstr>Character Sets</vt:lpstr>
      <vt:lpstr>Character Ranges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Groups</dc:title>
  <dc:creator>Lev</dc:creator>
  <cp:lastModifiedBy>or perets</cp:lastModifiedBy>
  <cp:revision>300</cp:revision>
  <dcterms:created xsi:type="dcterms:W3CDTF">2021-02-09T13:47:38Z</dcterms:created>
  <dcterms:modified xsi:type="dcterms:W3CDTF">2025-05-15T13:16:45Z</dcterms:modified>
</cp:coreProperties>
</file>