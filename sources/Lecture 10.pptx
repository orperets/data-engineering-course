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628" r:id="rId3"/>
    <p:sldId id="599" r:id="rId4"/>
    <p:sldId id="620" r:id="rId5"/>
    <p:sldId id="600" r:id="rId6"/>
    <p:sldId id="630" r:id="rId7"/>
    <p:sldId id="631" r:id="rId8"/>
    <p:sldId id="601" r:id="rId9"/>
    <p:sldId id="602" r:id="rId10"/>
    <p:sldId id="603" r:id="rId11"/>
    <p:sldId id="604" r:id="rId12"/>
    <p:sldId id="605" r:id="rId13"/>
    <p:sldId id="606" r:id="rId14"/>
    <p:sldId id="607" r:id="rId15"/>
    <p:sldId id="422" r:id="rId16"/>
    <p:sldId id="425" r:id="rId17"/>
    <p:sldId id="432" r:id="rId18"/>
    <p:sldId id="609" r:id="rId19"/>
    <p:sldId id="610" r:id="rId20"/>
    <p:sldId id="611" r:id="rId21"/>
    <p:sldId id="612" r:id="rId22"/>
    <p:sldId id="613" r:id="rId23"/>
    <p:sldId id="615" r:id="rId24"/>
    <p:sldId id="614" r:id="rId25"/>
    <p:sldId id="616" r:id="rId26"/>
    <p:sldId id="627" r:id="rId27"/>
    <p:sldId id="621" r:id="rId28"/>
    <p:sldId id="622" r:id="rId29"/>
    <p:sldId id="623" r:id="rId30"/>
    <p:sldId id="624" r:id="rId31"/>
    <p:sldId id="617" r:id="rId32"/>
    <p:sldId id="293" r:id="rId33"/>
    <p:sldId id="626" r:id="rId34"/>
    <p:sldId id="632" r:id="rId35"/>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9BCDC19-78B0-5E4F-8B36-F02D0852867E}">
          <p14:sldIdLst>
            <p14:sldId id="257"/>
            <p14:sldId id="628"/>
            <p14:sldId id="599"/>
            <p14:sldId id="620"/>
            <p14:sldId id="600"/>
            <p14:sldId id="630"/>
            <p14:sldId id="631"/>
            <p14:sldId id="601"/>
            <p14:sldId id="602"/>
            <p14:sldId id="603"/>
            <p14:sldId id="604"/>
            <p14:sldId id="605"/>
            <p14:sldId id="606"/>
            <p14:sldId id="607"/>
            <p14:sldId id="422"/>
            <p14:sldId id="425"/>
            <p14:sldId id="432"/>
            <p14:sldId id="609"/>
            <p14:sldId id="610"/>
            <p14:sldId id="611"/>
            <p14:sldId id="612"/>
            <p14:sldId id="613"/>
            <p14:sldId id="615"/>
            <p14:sldId id="614"/>
            <p14:sldId id="616"/>
            <p14:sldId id="627"/>
            <p14:sldId id="621"/>
            <p14:sldId id="622"/>
            <p14:sldId id="623"/>
            <p14:sldId id="624"/>
            <p14:sldId id="617"/>
            <p14:sldId id="293"/>
            <p14:sldId id="626"/>
            <p14:sldId id="6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300"/>
    <a:srgbClr val="0090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8" autoAdjust="0"/>
    <p:restoredTop sz="94650"/>
  </p:normalViewPr>
  <p:slideViewPr>
    <p:cSldViewPr snapToGrid="0">
      <p:cViewPr varScale="1">
        <p:scale>
          <a:sx n="120" d="100"/>
          <a:sy n="120" d="100"/>
        </p:scale>
        <p:origin x="816" y="1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63F32-7DA3-4013-BE26-9191402E55C8}" type="datetimeFigureOut">
              <a:rPr lang="en-IL" smtClean="0"/>
              <a:t>03/05/2022</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8866D-0BA4-4B03-8FA8-A96EE1FB39D0}" type="slidenum">
              <a:rPr lang="en-IL" smtClean="0"/>
              <a:t>‹#›</a:t>
            </a:fld>
            <a:endParaRPr lang="en-IL"/>
          </a:p>
        </p:txBody>
      </p:sp>
    </p:spTree>
    <p:extLst>
      <p:ext uri="{BB962C8B-B14F-4D97-AF65-F5344CB8AC3E}">
        <p14:creationId xmlns:p14="http://schemas.microsoft.com/office/powerpoint/2010/main" val="242115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a:t>
            </a:fld>
            <a:endParaRPr lang="en-IL"/>
          </a:p>
        </p:txBody>
      </p:sp>
    </p:spTree>
    <p:extLst>
      <p:ext uri="{BB962C8B-B14F-4D97-AF65-F5344CB8AC3E}">
        <p14:creationId xmlns:p14="http://schemas.microsoft.com/office/powerpoint/2010/main" val="2916863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a:t>
            </a:fld>
            <a:endParaRPr lang="en-IL"/>
          </a:p>
        </p:txBody>
      </p:sp>
    </p:spTree>
    <p:extLst>
      <p:ext uri="{BB962C8B-B14F-4D97-AF65-F5344CB8AC3E}">
        <p14:creationId xmlns:p14="http://schemas.microsoft.com/office/powerpoint/2010/main" val="107111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a:t>
            </a:fld>
            <a:endParaRPr lang="en-IL"/>
          </a:p>
        </p:txBody>
      </p:sp>
    </p:spTree>
    <p:extLst>
      <p:ext uri="{BB962C8B-B14F-4D97-AF65-F5344CB8AC3E}">
        <p14:creationId xmlns:p14="http://schemas.microsoft.com/office/powerpoint/2010/main" val="4253538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a:t>
            </a:fld>
            <a:endParaRPr lang="en-IL"/>
          </a:p>
        </p:txBody>
      </p:sp>
    </p:spTree>
    <p:extLst>
      <p:ext uri="{BB962C8B-B14F-4D97-AF65-F5344CB8AC3E}">
        <p14:creationId xmlns:p14="http://schemas.microsoft.com/office/powerpoint/2010/main" val="671706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a:t>
            </a:fld>
            <a:endParaRPr lang="en-IL"/>
          </a:p>
        </p:txBody>
      </p:sp>
    </p:spTree>
    <p:extLst>
      <p:ext uri="{BB962C8B-B14F-4D97-AF65-F5344CB8AC3E}">
        <p14:creationId xmlns:p14="http://schemas.microsoft.com/office/powerpoint/2010/main" val="4201752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a:t>
            </a:fld>
            <a:endParaRPr lang="en-IL"/>
          </a:p>
        </p:txBody>
      </p:sp>
    </p:spTree>
    <p:extLst>
      <p:ext uri="{BB962C8B-B14F-4D97-AF65-F5344CB8AC3E}">
        <p14:creationId xmlns:p14="http://schemas.microsoft.com/office/powerpoint/2010/main" val="3115360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8</a:t>
            </a:fld>
            <a:endParaRPr lang="en-IL"/>
          </a:p>
        </p:txBody>
      </p:sp>
    </p:spTree>
    <p:extLst>
      <p:ext uri="{BB962C8B-B14F-4D97-AF65-F5344CB8AC3E}">
        <p14:creationId xmlns:p14="http://schemas.microsoft.com/office/powerpoint/2010/main" val="482783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9</a:t>
            </a:fld>
            <a:endParaRPr lang="en-IL"/>
          </a:p>
        </p:txBody>
      </p:sp>
    </p:spTree>
    <p:extLst>
      <p:ext uri="{BB962C8B-B14F-4D97-AF65-F5344CB8AC3E}">
        <p14:creationId xmlns:p14="http://schemas.microsoft.com/office/powerpoint/2010/main" val="940725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10</a:t>
            </a:fld>
            <a:endParaRPr lang="en-IL"/>
          </a:p>
        </p:txBody>
      </p:sp>
    </p:spTree>
    <p:extLst>
      <p:ext uri="{BB962C8B-B14F-4D97-AF65-F5344CB8AC3E}">
        <p14:creationId xmlns:p14="http://schemas.microsoft.com/office/powerpoint/2010/main" val="2892778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11</a:t>
            </a:fld>
            <a:endParaRPr lang="en-IL"/>
          </a:p>
        </p:txBody>
      </p:sp>
    </p:spTree>
    <p:extLst>
      <p:ext uri="{BB962C8B-B14F-4D97-AF65-F5344CB8AC3E}">
        <p14:creationId xmlns:p14="http://schemas.microsoft.com/office/powerpoint/2010/main" val="973014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12</a:t>
            </a:fld>
            <a:endParaRPr lang="en-IL"/>
          </a:p>
        </p:txBody>
      </p:sp>
    </p:spTree>
    <p:extLst>
      <p:ext uri="{BB962C8B-B14F-4D97-AF65-F5344CB8AC3E}">
        <p14:creationId xmlns:p14="http://schemas.microsoft.com/office/powerpoint/2010/main" val="664081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13</a:t>
            </a:fld>
            <a:endParaRPr lang="en-IL"/>
          </a:p>
        </p:txBody>
      </p:sp>
    </p:spTree>
    <p:extLst>
      <p:ext uri="{BB962C8B-B14F-4D97-AF65-F5344CB8AC3E}">
        <p14:creationId xmlns:p14="http://schemas.microsoft.com/office/powerpoint/2010/main" val="1822671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14</a:t>
            </a:fld>
            <a:endParaRPr lang="en-IL"/>
          </a:p>
        </p:txBody>
      </p:sp>
    </p:spTree>
    <p:extLst>
      <p:ext uri="{BB962C8B-B14F-4D97-AF65-F5344CB8AC3E}">
        <p14:creationId xmlns:p14="http://schemas.microsoft.com/office/powerpoint/2010/main" val="556799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15</a:t>
            </a:fld>
            <a:endParaRPr lang="en-IL"/>
          </a:p>
        </p:txBody>
      </p:sp>
    </p:spTree>
    <p:extLst>
      <p:ext uri="{BB962C8B-B14F-4D97-AF65-F5344CB8AC3E}">
        <p14:creationId xmlns:p14="http://schemas.microsoft.com/office/powerpoint/2010/main" val="1419986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16</a:t>
            </a:fld>
            <a:endParaRPr lang="en-IL"/>
          </a:p>
        </p:txBody>
      </p:sp>
    </p:spTree>
    <p:extLst>
      <p:ext uri="{BB962C8B-B14F-4D97-AF65-F5344CB8AC3E}">
        <p14:creationId xmlns:p14="http://schemas.microsoft.com/office/powerpoint/2010/main" val="40567127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17</a:t>
            </a:fld>
            <a:endParaRPr lang="en-IL"/>
          </a:p>
        </p:txBody>
      </p:sp>
    </p:spTree>
    <p:extLst>
      <p:ext uri="{BB962C8B-B14F-4D97-AF65-F5344CB8AC3E}">
        <p14:creationId xmlns:p14="http://schemas.microsoft.com/office/powerpoint/2010/main" val="28095423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18</a:t>
            </a:fld>
            <a:endParaRPr lang="en-IL"/>
          </a:p>
        </p:txBody>
      </p:sp>
    </p:spTree>
    <p:extLst>
      <p:ext uri="{BB962C8B-B14F-4D97-AF65-F5344CB8AC3E}">
        <p14:creationId xmlns:p14="http://schemas.microsoft.com/office/powerpoint/2010/main" val="5469502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19</a:t>
            </a:fld>
            <a:endParaRPr lang="en-IL"/>
          </a:p>
        </p:txBody>
      </p:sp>
    </p:spTree>
    <p:extLst>
      <p:ext uri="{BB962C8B-B14F-4D97-AF65-F5344CB8AC3E}">
        <p14:creationId xmlns:p14="http://schemas.microsoft.com/office/powerpoint/2010/main" val="10069256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20</a:t>
            </a:fld>
            <a:endParaRPr lang="en-IL"/>
          </a:p>
        </p:txBody>
      </p:sp>
    </p:spTree>
    <p:extLst>
      <p:ext uri="{BB962C8B-B14F-4D97-AF65-F5344CB8AC3E}">
        <p14:creationId xmlns:p14="http://schemas.microsoft.com/office/powerpoint/2010/main" val="2232212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21</a:t>
            </a:fld>
            <a:endParaRPr lang="en-IL"/>
          </a:p>
        </p:txBody>
      </p:sp>
    </p:spTree>
    <p:extLst>
      <p:ext uri="{BB962C8B-B14F-4D97-AF65-F5344CB8AC3E}">
        <p14:creationId xmlns:p14="http://schemas.microsoft.com/office/powerpoint/2010/main" val="1481626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22</a:t>
            </a:fld>
            <a:endParaRPr lang="en-IL"/>
          </a:p>
        </p:txBody>
      </p:sp>
    </p:spTree>
    <p:extLst>
      <p:ext uri="{BB962C8B-B14F-4D97-AF65-F5344CB8AC3E}">
        <p14:creationId xmlns:p14="http://schemas.microsoft.com/office/powerpoint/2010/main" val="8327928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23</a:t>
            </a:fld>
            <a:endParaRPr lang="en-IL"/>
          </a:p>
        </p:txBody>
      </p:sp>
    </p:spTree>
    <p:extLst>
      <p:ext uri="{BB962C8B-B14F-4D97-AF65-F5344CB8AC3E}">
        <p14:creationId xmlns:p14="http://schemas.microsoft.com/office/powerpoint/2010/main" val="7641631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24</a:t>
            </a:fld>
            <a:endParaRPr lang="en-IL"/>
          </a:p>
        </p:txBody>
      </p:sp>
    </p:spTree>
    <p:extLst>
      <p:ext uri="{BB962C8B-B14F-4D97-AF65-F5344CB8AC3E}">
        <p14:creationId xmlns:p14="http://schemas.microsoft.com/office/powerpoint/2010/main" val="2979761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25</a:t>
            </a:fld>
            <a:endParaRPr lang="en-IL"/>
          </a:p>
        </p:txBody>
      </p:sp>
    </p:spTree>
    <p:extLst>
      <p:ext uri="{BB962C8B-B14F-4D97-AF65-F5344CB8AC3E}">
        <p14:creationId xmlns:p14="http://schemas.microsoft.com/office/powerpoint/2010/main" val="10235331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26</a:t>
            </a:fld>
            <a:endParaRPr lang="en-IL"/>
          </a:p>
        </p:txBody>
      </p:sp>
    </p:spTree>
    <p:extLst>
      <p:ext uri="{BB962C8B-B14F-4D97-AF65-F5344CB8AC3E}">
        <p14:creationId xmlns:p14="http://schemas.microsoft.com/office/powerpoint/2010/main" val="1785801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27</a:t>
            </a:fld>
            <a:endParaRPr lang="en-IL"/>
          </a:p>
        </p:txBody>
      </p:sp>
    </p:spTree>
    <p:extLst>
      <p:ext uri="{BB962C8B-B14F-4D97-AF65-F5344CB8AC3E}">
        <p14:creationId xmlns:p14="http://schemas.microsoft.com/office/powerpoint/2010/main" val="35381937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28</a:t>
            </a:fld>
            <a:endParaRPr lang="en-IL"/>
          </a:p>
        </p:txBody>
      </p:sp>
    </p:spTree>
    <p:extLst>
      <p:ext uri="{BB962C8B-B14F-4D97-AF65-F5344CB8AC3E}">
        <p14:creationId xmlns:p14="http://schemas.microsoft.com/office/powerpoint/2010/main" val="40649002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29</a:t>
            </a:fld>
            <a:endParaRPr lang="en-IL"/>
          </a:p>
        </p:txBody>
      </p:sp>
    </p:spTree>
    <p:extLst>
      <p:ext uri="{BB962C8B-B14F-4D97-AF65-F5344CB8AC3E}">
        <p14:creationId xmlns:p14="http://schemas.microsoft.com/office/powerpoint/2010/main" val="16936842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30</a:t>
            </a:fld>
            <a:endParaRPr lang="en-IL"/>
          </a:p>
        </p:txBody>
      </p:sp>
    </p:spTree>
    <p:extLst>
      <p:ext uri="{BB962C8B-B14F-4D97-AF65-F5344CB8AC3E}">
        <p14:creationId xmlns:p14="http://schemas.microsoft.com/office/powerpoint/2010/main" val="17350979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31</a:t>
            </a:fld>
            <a:endParaRPr lang="en-IL"/>
          </a:p>
        </p:txBody>
      </p:sp>
    </p:spTree>
    <p:extLst>
      <p:ext uri="{BB962C8B-B14F-4D97-AF65-F5344CB8AC3E}">
        <p14:creationId xmlns:p14="http://schemas.microsoft.com/office/powerpoint/2010/main" val="418076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33</a:t>
            </a:fld>
            <a:endParaRPr lang="en-IL"/>
          </a:p>
        </p:txBody>
      </p:sp>
    </p:spTree>
    <p:extLst>
      <p:ext uri="{BB962C8B-B14F-4D97-AF65-F5344CB8AC3E}">
        <p14:creationId xmlns:p14="http://schemas.microsoft.com/office/powerpoint/2010/main" val="6048732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34</a:t>
            </a:fld>
            <a:endParaRPr lang="en-IL"/>
          </a:p>
        </p:txBody>
      </p:sp>
    </p:spTree>
    <p:extLst>
      <p:ext uri="{BB962C8B-B14F-4D97-AF65-F5344CB8AC3E}">
        <p14:creationId xmlns:p14="http://schemas.microsoft.com/office/powerpoint/2010/main" val="458963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53BB-FAA3-46ED-8326-AD7EE26F7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6B615E8-3C95-4096-8039-02C1046EA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5CE2517-A02E-4027-BA2C-117CE149DB30}"/>
              </a:ext>
            </a:extLst>
          </p:cNvPr>
          <p:cNvSpPr>
            <a:spLocks noGrp="1"/>
          </p:cNvSpPr>
          <p:nvPr>
            <p:ph type="dt" sz="half" idx="10"/>
          </p:nvPr>
        </p:nvSpPr>
        <p:spPr/>
        <p:txBody>
          <a:bodyPr/>
          <a:lstStyle/>
          <a:p>
            <a:fld id="{5DF7157C-9C36-0447-8046-5352E14D0F80}" type="datetime8">
              <a:rPr lang="en-US" smtClean="0"/>
              <a:t>5/3/22 12:23 PM</a:t>
            </a:fld>
            <a:endParaRPr lang="en-IL"/>
          </a:p>
        </p:txBody>
      </p:sp>
      <p:sp>
        <p:nvSpPr>
          <p:cNvPr id="5" name="Footer Placeholder 4">
            <a:extLst>
              <a:ext uri="{FF2B5EF4-FFF2-40B4-BE49-F238E27FC236}">
                <a16:creationId xmlns:a16="http://schemas.microsoft.com/office/drawing/2014/main" id="{C6E5C8B8-C77F-4E96-831A-FC160B4AF490}"/>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6A7E7471-5067-4CA0-9D60-D86D047E9514}"/>
              </a:ext>
            </a:extLst>
          </p:cNvPr>
          <p:cNvSpPr>
            <a:spLocks noGrp="1"/>
          </p:cNvSpPr>
          <p:nvPr>
            <p:ph type="sldNum" sz="quarter" idx="12"/>
          </p:nvPr>
        </p:nvSpPr>
        <p:spPr/>
        <p:txBody>
          <a:bodyPr/>
          <a:lstStyle>
            <a:lvl1pPr>
              <a:defRPr sz="1800"/>
            </a:lvl1pPr>
          </a:lstStyle>
          <a:p>
            <a:fld id="{B62643F8-DFCD-4B5F-9519-933435FA18FB}" type="slidenum">
              <a:rPr lang="en-IL" smtClean="0"/>
              <a:pPr/>
              <a:t>‹#›</a:t>
            </a:fld>
            <a:endParaRPr lang="en-IL" dirty="0"/>
          </a:p>
        </p:txBody>
      </p:sp>
    </p:spTree>
    <p:extLst>
      <p:ext uri="{BB962C8B-B14F-4D97-AF65-F5344CB8AC3E}">
        <p14:creationId xmlns:p14="http://schemas.microsoft.com/office/powerpoint/2010/main" val="2720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257D3F8-87F0-4DF5-8F98-66DFD99EE7B2}"/>
              </a:ext>
            </a:extLst>
          </p:cNvPr>
          <p:cNvSpPr>
            <a:spLocks noGrp="1"/>
          </p:cNvSpPr>
          <p:nvPr>
            <p:ph idx="1"/>
          </p:nvPr>
        </p:nvSpPr>
        <p:spPr>
          <a:xfrm>
            <a:off x="838200" y="583474"/>
            <a:ext cx="10515600" cy="559348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3" name="Date Placeholder 3">
            <a:extLst>
              <a:ext uri="{FF2B5EF4-FFF2-40B4-BE49-F238E27FC236}">
                <a16:creationId xmlns:a16="http://schemas.microsoft.com/office/drawing/2014/main" id="{BCDE1D59-793A-43B8-B383-259A90AD5274}"/>
              </a:ext>
            </a:extLst>
          </p:cNvPr>
          <p:cNvSpPr>
            <a:spLocks noGrp="1"/>
          </p:cNvSpPr>
          <p:nvPr>
            <p:ph type="dt" sz="half" idx="10"/>
          </p:nvPr>
        </p:nvSpPr>
        <p:spPr>
          <a:xfrm>
            <a:off x="838200" y="6356350"/>
            <a:ext cx="2743200" cy="365125"/>
          </a:xfrm>
        </p:spPr>
        <p:txBody>
          <a:bodyPr/>
          <a:lstStyle/>
          <a:p>
            <a:fld id="{896E8B87-F9FD-464E-B534-DBC261D83ADB}" type="datetime8">
              <a:rPr lang="en-US" smtClean="0"/>
              <a:t>5/3/22 12:23 PM</a:t>
            </a:fld>
            <a:endParaRPr lang="en-IL"/>
          </a:p>
        </p:txBody>
      </p:sp>
      <p:sp>
        <p:nvSpPr>
          <p:cNvPr id="14" name="Footer Placeholder 4">
            <a:extLst>
              <a:ext uri="{FF2B5EF4-FFF2-40B4-BE49-F238E27FC236}">
                <a16:creationId xmlns:a16="http://schemas.microsoft.com/office/drawing/2014/main" id="{AA69F713-2159-4167-B614-5042E8DE4D6E}"/>
              </a:ext>
            </a:extLst>
          </p:cNvPr>
          <p:cNvSpPr>
            <a:spLocks noGrp="1"/>
          </p:cNvSpPr>
          <p:nvPr>
            <p:ph type="ftr" sz="quarter" idx="11"/>
          </p:nvPr>
        </p:nvSpPr>
        <p:spPr>
          <a:xfrm>
            <a:off x="4038600" y="6356350"/>
            <a:ext cx="4114800" cy="365125"/>
          </a:xfrm>
        </p:spPr>
        <p:txBody>
          <a:bodyPr/>
          <a:lstStyle/>
          <a:p>
            <a:r>
              <a:rPr lang="en-US"/>
              <a:t>Or Peretz</a:t>
            </a:r>
            <a:endParaRPr lang="en-IL"/>
          </a:p>
        </p:txBody>
      </p:sp>
      <p:sp>
        <p:nvSpPr>
          <p:cNvPr id="15" name="Slide Number Placeholder 5">
            <a:extLst>
              <a:ext uri="{FF2B5EF4-FFF2-40B4-BE49-F238E27FC236}">
                <a16:creationId xmlns:a16="http://schemas.microsoft.com/office/drawing/2014/main" id="{5F40A595-FC21-4942-AC1C-EC8D0EE8F289}"/>
              </a:ext>
            </a:extLst>
          </p:cNvPr>
          <p:cNvSpPr>
            <a:spLocks noGrp="1"/>
          </p:cNvSpPr>
          <p:nvPr>
            <p:ph type="sldNum" sz="quarter" idx="12"/>
          </p:nvPr>
        </p:nvSpPr>
        <p:spPr>
          <a:xfrm>
            <a:off x="8610600" y="6356350"/>
            <a:ext cx="2743200" cy="365125"/>
          </a:xfrm>
        </p:spPr>
        <p:txBody>
          <a:bodyPr/>
          <a:lstStyle>
            <a:lvl1pPr>
              <a:defRPr sz="1800"/>
            </a:lvl1pPr>
          </a:lstStyle>
          <a:p>
            <a:fld id="{C9D69B18-316A-457F-86C2-CFE4F951EE27}" type="slidenum">
              <a:rPr lang="en-IL" smtClean="0"/>
              <a:pPr/>
              <a:t>‹#›</a:t>
            </a:fld>
            <a:endParaRPr lang="en-IL" dirty="0"/>
          </a:p>
        </p:txBody>
      </p:sp>
    </p:spTree>
    <p:extLst>
      <p:ext uri="{BB962C8B-B14F-4D97-AF65-F5344CB8AC3E}">
        <p14:creationId xmlns:p14="http://schemas.microsoft.com/office/powerpoint/2010/main" val="339576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tmplLst>
          <p:tmpl lvl="1">
            <p:tnLst>
              <p:par>
                <p:cTn presetID="1"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DB71-F16A-411E-A1F0-229842FF42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5FEC0A3-903B-4C81-96AA-FA5FE78795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21F274-0FDC-4FF1-AD1D-E33CBC0B8BE3}"/>
              </a:ext>
            </a:extLst>
          </p:cNvPr>
          <p:cNvSpPr>
            <a:spLocks noGrp="1"/>
          </p:cNvSpPr>
          <p:nvPr>
            <p:ph type="dt" sz="half" idx="10"/>
          </p:nvPr>
        </p:nvSpPr>
        <p:spPr/>
        <p:txBody>
          <a:bodyPr/>
          <a:lstStyle/>
          <a:p>
            <a:fld id="{7E52E3E6-91E3-074B-992C-DFAD5D8203F1}" type="datetime8">
              <a:rPr lang="en-US" smtClean="0"/>
              <a:t>5/3/22 12:23 PM</a:t>
            </a:fld>
            <a:endParaRPr lang="en-IL"/>
          </a:p>
        </p:txBody>
      </p:sp>
      <p:sp>
        <p:nvSpPr>
          <p:cNvPr id="5" name="Footer Placeholder 4">
            <a:extLst>
              <a:ext uri="{FF2B5EF4-FFF2-40B4-BE49-F238E27FC236}">
                <a16:creationId xmlns:a16="http://schemas.microsoft.com/office/drawing/2014/main" id="{C5317186-B90F-456C-A210-0CD662FC94AE}"/>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44DCF8B6-F957-4C26-89F8-62EE0895ACB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99978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CB62-2976-4F72-B0D1-D7D5CC8DFE1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E570335-BA28-442F-B929-834D11AFBB7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43D0261-93E1-42EC-B45C-7A9C69E6DB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8ED1B8B7-4BAF-485E-8E14-0A3937A2E61B}"/>
              </a:ext>
            </a:extLst>
          </p:cNvPr>
          <p:cNvSpPr>
            <a:spLocks noGrp="1"/>
          </p:cNvSpPr>
          <p:nvPr>
            <p:ph type="dt" sz="half" idx="10"/>
          </p:nvPr>
        </p:nvSpPr>
        <p:spPr/>
        <p:txBody>
          <a:bodyPr/>
          <a:lstStyle/>
          <a:p>
            <a:fld id="{800260D7-63E2-8F4C-B61F-30E5198AD46D}" type="datetime8">
              <a:rPr lang="en-US" smtClean="0"/>
              <a:t>5/3/22 12:23 PM</a:t>
            </a:fld>
            <a:endParaRPr lang="en-IL"/>
          </a:p>
        </p:txBody>
      </p:sp>
      <p:sp>
        <p:nvSpPr>
          <p:cNvPr id="6" name="Footer Placeholder 5">
            <a:extLst>
              <a:ext uri="{FF2B5EF4-FFF2-40B4-BE49-F238E27FC236}">
                <a16:creationId xmlns:a16="http://schemas.microsoft.com/office/drawing/2014/main" id="{5FD101D7-C282-4291-A047-A469118DB9A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54E3ACF7-1919-4005-8D18-C065FE37BAF5}"/>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5828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5D40-5A05-454B-BF8D-2ADD226269A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1CDEE7E-1856-4D6C-95E1-B25F3B5CF8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6B7349D-B192-40B0-A682-C3914DCE58B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C86D532-BD26-45AE-91E7-2BCEE71DE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39C4E2-6DDF-4BCE-9E96-2FEA03A9195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F371B11A-C4F8-4F85-A0D5-34A703DD1683}"/>
              </a:ext>
            </a:extLst>
          </p:cNvPr>
          <p:cNvSpPr>
            <a:spLocks noGrp="1"/>
          </p:cNvSpPr>
          <p:nvPr>
            <p:ph type="dt" sz="half" idx="10"/>
          </p:nvPr>
        </p:nvSpPr>
        <p:spPr/>
        <p:txBody>
          <a:bodyPr/>
          <a:lstStyle/>
          <a:p>
            <a:fld id="{B2854800-C55A-184D-A866-767457B6C650}" type="datetime8">
              <a:rPr lang="en-US" smtClean="0"/>
              <a:t>5/3/22 12:23 PM</a:t>
            </a:fld>
            <a:endParaRPr lang="en-IL"/>
          </a:p>
        </p:txBody>
      </p:sp>
      <p:sp>
        <p:nvSpPr>
          <p:cNvPr id="8" name="Footer Placeholder 7">
            <a:extLst>
              <a:ext uri="{FF2B5EF4-FFF2-40B4-BE49-F238E27FC236}">
                <a16:creationId xmlns:a16="http://schemas.microsoft.com/office/drawing/2014/main" id="{3CF8E969-DC51-428E-A40E-10E237847C2B}"/>
              </a:ext>
            </a:extLst>
          </p:cNvPr>
          <p:cNvSpPr>
            <a:spLocks noGrp="1"/>
          </p:cNvSpPr>
          <p:nvPr>
            <p:ph type="ftr" sz="quarter" idx="11"/>
          </p:nvPr>
        </p:nvSpPr>
        <p:spPr/>
        <p:txBody>
          <a:bodyPr/>
          <a:lstStyle/>
          <a:p>
            <a:r>
              <a:rPr lang="en-US"/>
              <a:t>Or Peretz</a:t>
            </a:r>
            <a:endParaRPr lang="en-IL"/>
          </a:p>
        </p:txBody>
      </p:sp>
      <p:sp>
        <p:nvSpPr>
          <p:cNvPr id="9" name="Slide Number Placeholder 8">
            <a:extLst>
              <a:ext uri="{FF2B5EF4-FFF2-40B4-BE49-F238E27FC236}">
                <a16:creationId xmlns:a16="http://schemas.microsoft.com/office/drawing/2014/main" id="{3AF4C0B3-7D21-431B-8C06-6364026C9DAB}"/>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73000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fld id="{C13F7541-BDF2-4645-8A4E-8E2D7EE21A60}" type="datetime8">
              <a:rPr lang="en-US" smtClean="0"/>
              <a:t>5/3/22 12:23 PM</a:t>
            </a:fld>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404704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94F9A-B863-4CA1-A3D9-2612454CB5E8}"/>
              </a:ext>
            </a:extLst>
          </p:cNvPr>
          <p:cNvSpPr>
            <a:spLocks noGrp="1"/>
          </p:cNvSpPr>
          <p:nvPr>
            <p:ph type="dt" sz="half" idx="10"/>
          </p:nvPr>
        </p:nvSpPr>
        <p:spPr/>
        <p:txBody>
          <a:bodyPr/>
          <a:lstStyle/>
          <a:p>
            <a:fld id="{3F821F0E-3E80-FE45-B8FD-1C1C83A92A89}" type="datetime8">
              <a:rPr lang="en-US" smtClean="0"/>
              <a:t>5/3/22 12:23 PM</a:t>
            </a:fld>
            <a:endParaRPr lang="en-IL"/>
          </a:p>
        </p:txBody>
      </p:sp>
      <p:sp>
        <p:nvSpPr>
          <p:cNvPr id="3" name="Footer Placeholder 2">
            <a:extLst>
              <a:ext uri="{FF2B5EF4-FFF2-40B4-BE49-F238E27FC236}">
                <a16:creationId xmlns:a16="http://schemas.microsoft.com/office/drawing/2014/main" id="{05856BA7-0F82-4B54-82BF-04EC0B081685}"/>
              </a:ext>
            </a:extLst>
          </p:cNvPr>
          <p:cNvSpPr>
            <a:spLocks noGrp="1"/>
          </p:cNvSpPr>
          <p:nvPr>
            <p:ph type="ftr" sz="quarter" idx="11"/>
          </p:nvPr>
        </p:nvSpPr>
        <p:spPr/>
        <p:txBody>
          <a:bodyPr/>
          <a:lstStyle/>
          <a:p>
            <a:r>
              <a:rPr lang="en-US"/>
              <a:t>Or Peretz</a:t>
            </a:r>
            <a:endParaRPr lang="en-IL"/>
          </a:p>
        </p:txBody>
      </p:sp>
      <p:sp>
        <p:nvSpPr>
          <p:cNvPr id="4" name="Slide Number Placeholder 3">
            <a:extLst>
              <a:ext uri="{FF2B5EF4-FFF2-40B4-BE49-F238E27FC236}">
                <a16:creationId xmlns:a16="http://schemas.microsoft.com/office/drawing/2014/main" id="{026A46C4-110C-4F16-A55B-2CA103D5BC6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29041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F8D4-37EB-4208-8EBF-A36DA15D5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119644F-4231-4135-985A-E35BB7DF7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DDAC084D-8409-4F23-A4F3-946B11E92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57D6E5-0ADE-47F1-BF75-064C0FC0B6AA}"/>
              </a:ext>
            </a:extLst>
          </p:cNvPr>
          <p:cNvSpPr>
            <a:spLocks noGrp="1"/>
          </p:cNvSpPr>
          <p:nvPr>
            <p:ph type="dt" sz="half" idx="10"/>
          </p:nvPr>
        </p:nvSpPr>
        <p:spPr/>
        <p:txBody>
          <a:bodyPr/>
          <a:lstStyle/>
          <a:p>
            <a:fld id="{96B84BC4-6D1E-DE4B-8507-B318EEC4AD62}" type="datetime8">
              <a:rPr lang="en-US" smtClean="0"/>
              <a:t>5/3/22 12:23 PM</a:t>
            </a:fld>
            <a:endParaRPr lang="en-IL"/>
          </a:p>
        </p:txBody>
      </p:sp>
      <p:sp>
        <p:nvSpPr>
          <p:cNvPr id="6" name="Footer Placeholder 5">
            <a:extLst>
              <a:ext uri="{FF2B5EF4-FFF2-40B4-BE49-F238E27FC236}">
                <a16:creationId xmlns:a16="http://schemas.microsoft.com/office/drawing/2014/main" id="{E3A95BE5-8107-4C77-A0C7-320528011EF6}"/>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D2B29687-8674-4B44-BCA8-CA55A7F66AEE}"/>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3551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DB8B-F360-41C1-9E59-41BC175C2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329284B-956D-4A04-AA87-11920CE3A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CDA7EC3-09A8-4251-B03C-6044FAB1E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F06FFE-DADD-4559-BD8F-E4090E8513DA}"/>
              </a:ext>
            </a:extLst>
          </p:cNvPr>
          <p:cNvSpPr>
            <a:spLocks noGrp="1"/>
          </p:cNvSpPr>
          <p:nvPr>
            <p:ph type="dt" sz="half" idx="10"/>
          </p:nvPr>
        </p:nvSpPr>
        <p:spPr/>
        <p:txBody>
          <a:bodyPr/>
          <a:lstStyle/>
          <a:p>
            <a:fld id="{50CF4522-6391-7F4B-8B88-660A337C3B79}" type="datetime8">
              <a:rPr lang="en-US" smtClean="0"/>
              <a:t>5/3/22 12:23 PM</a:t>
            </a:fld>
            <a:endParaRPr lang="en-IL"/>
          </a:p>
        </p:txBody>
      </p:sp>
      <p:sp>
        <p:nvSpPr>
          <p:cNvPr id="6" name="Footer Placeholder 5">
            <a:extLst>
              <a:ext uri="{FF2B5EF4-FFF2-40B4-BE49-F238E27FC236}">
                <a16:creationId xmlns:a16="http://schemas.microsoft.com/office/drawing/2014/main" id="{487A7321-97EB-4815-A837-E4FF27362FF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BAA3595F-1D61-441A-9A46-FC01E1605B5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82919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D421-C27E-4305-9BA4-ABDBC270E32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369482A-BFEA-4A85-973C-0414EA50857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2DCE6C9-3B2C-4E59-B407-9DEAA5194AB0}"/>
              </a:ext>
            </a:extLst>
          </p:cNvPr>
          <p:cNvSpPr>
            <a:spLocks noGrp="1"/>
          </p:cNvSpPr>
          <p:nvPr>
            <p:ph type="dt" sz="half" idx="10"/>
          </p:nvPr>
        </p:nvSpPr>
        <p:spPr/>
        <p:txBody>
          <a:bodyPr/>
          <a:lstStyle/>
          <a:p>
            <a:fld id="{AABB7FFB-2FB8-ED4D-871F-3A525991ED9E}" type="datetime8">
              <a:rPr lang="en-US" smtClean="0"/>
              <a:t>5/3/22 12:23 PM</a:t>
            </a:fld>
            <a:endParaRPr lang="en-IL"/>
          </a:p>
        </p:txBody>
      </p:sp>
      <p:sp>
        <p:nvSpPr>
          <p:cNvPr id="5" name="Footer Placeholder 4">
            <a:extLst>
              <a:ext uri="{FF2B5EF4-FFF2-40B4-BE49-F238E27FC236}">
                <a16:creationId xmlns:a16="http://schemas.microsoft.com/office/drawing/2014/main" id="{157B3FA1-84D5-4374-B090-8EED7F0EE76B}"/>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0BB37D06-0BF6-4041-954F-C1D4B14F038F}"/>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0621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0116A-EF9A-40BC-BE26-84DF8D33F6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3EB09AB-DE01-41A1-8BED-34FC1B482AD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6A0832B-4F28-4DE3-AF6D-37975A09FE91}"/>
              </a:ext>
            </a:extLst>
          </p:cNvPr>
          <p:cNvSpPr>
            <a:spLocks noGrp="1"/>
          </p:cNvSpPr>
          <p:nvPr>
            <p:ph type="dt" sz="half" idx="10"/>
          </p:nvPr>
        </p:nvSpPr>
        <p:spPr/>
        <p:txBody>
          <a:bodyPr/>
          <a:lstStyle/>
          <a:p>
            <a:fld id="{B97DA56F-98C1-D743-A051-0A3D6E708A11}" type="datetime8">
              <a:rPr lang="en-US" smtClean="0"/>
              <a:t>5/3/22 12:23 PM</a:t>
            </a:fld>
            <a:endParaRPr lang="en-IL"/>
          </a:p>
        </p:txBody>
      </p:sp>
      <p:sp>
        <p:nvSpPr>
          <p:cNvPr id="5" name="Footer Placeholder 4">
            <a:extLst>
              <a:ext uri="{FF2B5EF4-FFF2-40B4-BE49-F238E27FC236}">
                <a16:creationId xmlns:a16="http://schemas.microsoft.com/office/drawing/2014/main" id="{18F064A4-73D9-4140-BB4B-47A62F8CBA11}"/>
              </a:ext>
            </a:extLst>
          </p:cNvPr>
          <p:cNvSpPr>
            <a:spLocks noGrp="1"/>
          </p:cNvSpPr>
          <p:nvPr>
            <p:ph type="ftr" sz="quarter" idx="11"/>
          </p:nvPr>
        </p:nvSpPr>
        <p:spPr/>
        <p:txBody>
          <a:bodyPr/>
          <a:lstStyle/>
          <a:p>
            <a:r>
              <a:rPr lang="en-US" dirty="0"/>
              <a:t>Or </a:t>
            </a:r>
            <a:r>
              <a:rPr lang="en-US" dirty="0" err="1"/>
              <a:t>Peretz</a:t>
            </a:r>
            <a:endParaRPr lang="en-IL" dirty="0"/>
          </a:p>
        </p:txBody>
      </p:sp>
      <p:sp>
        <p:nvSpPr>
          <p:cNvPr id="6" name="Slide Number Placeholder 5">
            <a:extLst>
              <a:ext uri="{FF2B5EF4-FFF2-40B4-BE49-F238E27FC236}">
                <a16:creationId xmlns:a16="http://schemas.microsoft.com/office/drawing/2014/main" id="{2241DA01-1032-4191-848B-F8A71F653C2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2474113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a:t>Cliquez et modifiez le titre</a:t>
            </a:r>
            <a:endParaRPr lang="fr-FR"/>
          </a:p>
        </p:txBody>
      </p:sp>
      <p:sp>
        <p:nvSpPr>
          <p:cNvPr id="3" name="Espace réservé du contenu 2"/>
          <p:cNvSpPr>
            <a:spLocks noGrp="1"/>
          </p:cNvSpPr>
          <p:nvPr>
            <p:ph idx="1"/>
          </p:nvPr>
        </p:nvSpPr>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Rectangle 11">
            <a:extLst>
              <a:ext uri="{FF2B5EF4-FFF2-40B4-BE49-F238E27FC236}">
                <a16:creationId xmlns:a16="http://schemas.microsoft.com/office/drawing/2014/main" id="{7214657C-E4D2-5B11-7A99-5B0914EBA142}"/>
              </a:ext>
            </a:extLst>
          </p:cNvPr>
          <p:cNvSpPr>
            <a:spLocks noGrp="1" noChangeArrowheads="1"/>
          </p:cNvSpPr>
          <p:nvPr>
            <p:ph type="dt" sz="half" idx="10"/>
          </p:nvPr>
        </p:nvSpPr>
        <p:spPr>
          <a:ln/>
        </p:spPr>
        <p:txBody>
          <a:bodyPr/>
          <a:lstStyle>
            <a:lvl1pPr>
              <a:defRPr/>
            </a:lvl1pPr>
          </a:lstStyle>
          <a:p>
            <a:pPr>
              <a:defRPr/>
            </a:pPr>
            <a:endParaRPr lang="fr-CA"/>
          </a:p>
        </p:txBody>
      </p:sp>
      <p:sp>
        <p:nvSpPr>
          <p:cNvPr id="5" name="Rectangle 12">
            <a:extLst>
              <a:ext uri="{FF2B5EF4-FFF2-40B4-BE49-F238E27FC236}">
                <a16:creationId xmlns:a16="http://schemas.microsoft.com/office/drawing/2014/main" id="{2259F627-5B9E-2384-9A25-089D5F138130}"/>
              </a:ext>
            </a:extLst>
          </p:cNvPr>
          <p:cNvSpPr>
            <a:spLocks noGrp="1" noChangeArrowheads="1"/>
          </p:cNvSpPr>
          <p:nvPr>
            <p:ph type="ftr" sz="quarter" idx="11"/>
          </p:nvPr>
        </p:nvSpPr>
        <p:spPr>
          <a:ln/>
        </p:spPr>
        <p:txBody>
          <a:bodyPr/>
          <a:lstStyle>
            <a:lvl1pPr>
              <a:defRPr/>
            </a:lvl1pPr>
          </a:lstStyle>
          <a:p>
            <a:pPr>
              <a:defRPr/>
            </a:pPr>
            <a:endParaRPr lang="fr-CA"/>
          </a:p>
        </p:txBody>
      </p:sp>
      <p:sp>
        <p:nvSpPr>
          <p:cNvPr id="6" name="Rectangle 13">
            <a:extLst>
              <a:ext uri="{FF2B5EF4-FFF2-40B4-BE49-F238E27FC236}">
                <a16:creationId xmlns:a16="http://schemas.microsoft.com/office/drawing/2014/main" id="{C77BE908-9355-47E0-83A7-FC5DB160898D}"/>
              </a:ext>
            </a:extLst>
          </p:cNvPr>
          <p:cNvSpPr>
            <a:spLocks noGrp="1" noChangeArrowheads="1"/>
          </p:cNvSpPr>
          <p:nvPr>
            <p:ph type="sldNum" sz="quarter" idx="12"/>
          </p:nvPr>
        </p:nvSpPr>
        <p:spPr>
          <a:ln/>
        </p:spPr>
        <p:txBody>
          <a:bodyPr/>
          <a:lstStyle>
            <a:lvl1pPr>
              <a:defRPr/>
            </a:lvl1pPr>
          </a:lstStyle>
          <a:p>
            <a:fld id="{88E06C17-6275-014B-A6E8-B4FD182B3D0D}" type="slidenum">
              <a:rPr lang="fr-CA" altLang="en-IL"/>
              <a:pPr/>
              <a:t>‹#›</a:t>
            </a:fld>
            <a:endParaRPr lang="fr-CA" altLang="en-IL"/>
          </a:p>
        </p:txBody>
      </p:sp>
    </p:spTree>
    <p:extLst>
      <p:ext uri="{BB962C8B-B14F-4D97-AF65-F5344CB8AC3E}">
        <p14:creationId xmlns:p14="http://schemas.microsoft.com/office/powerpoint/2010/main" val="2215291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5FF43-15EB-48BF-9377-EC78CBDCCB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548A9A9A-96AC-434D-8596-80E7719973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477151C-500A-4CAF-8B1B-C429EEE2C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EDC74C-E7D5-9845-AF76-D52732F67C64}" type="datetime8">
              <a:rPr lang="en-US" smtClean="0"/>
              <a:t>5/3/22 12:23 PM</a:t>
            </a:fld>
            <a:endParaRPr lang="en-IL"/>
          </a:p>
        </p:txBody>
      </p:sp>
      <p:sp>
        <p:nvSpPr>
          <p:cNvPr id="5" name="Footer Placeholder 4">
            <a:extLst>
              <a:ext uri="{FF2B5EF4-FFF2-40B4-BE49-F238E27FC236}">
                <a16:creationId xmlns:a16="http://schemas.microsoft.com/office/drawing/2014/main" id="{481936C9-3550-4463-A834-A8233EB9F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endParaRPr lang="en-IL"/>
          </a:p>
        </p:txBody>
      </p:sp>
      <p:sp>
        <p:nvSpPr>
          <p:cNvPr id="6" name="Slide Number Placeholder 5">
            <a:extLst>
              <a:ext uri="{FF2B5EF4-FFF2-40B4-BE49-F238E27FC236}">
                <a16:creationId xmlns:a16="http://schemas.microsoft.com/office/drawing/2014/main" id="{77370A5C-A380-420D-86FA-95B4F828D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643F8-DFCD-4B5F-9519-933435FA18FB}" type="slidenum">
              <a:rPr lang="en-IL" smtClean="0"/>
              <a:t>‹#›</a:t>
            </a:fld>
            <a:endParaRPr lang="en-IL"/>
          </a:p>
        </p:txBody>
      </p:sp>
    </p:spTree>
    <p:extLst>
      <p:ext uri="{BB962C8B-B14F-4D97-AF65-F5344CB8AC3E}">
        <p14:creationId xmlns:p14="http://schemas.microsoft.com/office/powerpoint/2010/main" val="2004471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F07A-A6B2-4AA3-9FB3-FF93725B9B74}"/>
              </a:ext>
            </a:extLst>
          </p:cNvPr>
          <p:cNvSpPr>
            <a:spLocks noGrp="1"/>
          </p:cNvSpPr>
          <p:nvPr>
            <p:ph type="ctrTitle"/>
          </p:nvPr>
        </p:nvSpPr>
        <p:spPr>
          <a:xfrm>
            <a:off x="211666" y="1202003"/>
            <a:ext cx="11768667" cy="2602970"/>
          </a:xfrm>
        </p:spPr>
        <p:txBody>
          <a:bodyPr>
            <a:normAutofit/>
          </a:bodyPr>
          <a:lstStyle/>
          <a:p>
            <a:pPr algn="ctr" defTabSz="914400" rtl="0" eaLnBrk="1" latinLnBrk="0" hangingPunct="1">
              <a:lnSpc>
                <a:spcPct val="90000"/>
              </a:lnSpc>
              <a:spcBef>
                <a:spcPct val="0"/>
              </a:spcBef>
              <a:buNone/>
            </a:pPr>
            <a:r>
              <a:rPr lang="en-IL" sz="7200" u="sng" dirty="0">
                <a:cs typeface="+mn-cs"/>
              </a:rPr>
              <a:t>Cloud Based Data Engineering</a:t>
            </a:r>
          </a:p>
        </p:txBody>
      </p:sp>
      <p:sp>
        <p:nvSpPr>
          <p:cNvPr id="3" name="Subtitle 2">
            <a:extLst>
              <a:ext uri="{FF2B5EF4-FFF2-40B4-BE49-F238E27FC236}">
                <a16:creationId xmlns:a16="http://schemas.microsoft.com/office/drawing/2014/main" id="{E954BFDD-2D28-4F88-A89F-35EB6574CAC6}"/>
              </a:ext>
            </a:extLst>
          </p:cNvPr>
          <p:cNvSpPr>
            <a:spLocks noGrp="1"/>
          </p:cNvSpPr>
          <p:nvPr>
            <p:ph type="subTitle" idx="1"/>
          </p:nvPr>
        </p:nvSpPr>
        <p:spPr>
          <a:xfrm>
            <a:off x="804333" y="3804973"/>
            <a:ext cx="10236199" cy="1655762"/>
          </a:xfrm>
        </p:spPr>
        <p:txBody>
          <a:bodyPr>
            <a:normAutofit/>
          </a:bodyPr>
          <a:lstStyle/>
          <a:p>
            <a:pPr marL="0" indent="0" algn="ctr" defTabSz="914400" rtl="1" eaLnBrk="1" latinLnBrk="0" hangingPunct="1">
              <a:lnSpc>
                <a:spcPct val="90000"/>
              </a:lnSpc>
              <a:spcBef>
                <a:spcPts val="1000"/>
              </a:spcBef>
              <a:buFont typeface="Arial" panose="020B0604020202020204" pitchFamily="34" charset="0"/>
              <a:buNone/>
            </a:pPr>
            <a:r>
              <a:rPr lang="en-US" sz="3600" dirty="0"/>
              <a:t>Lecture 10: Document Clustering and Topic Modeling</a:t>
            </a:r>
            <a:endParaRPr lang="en-IL" sz="3600" dirty="0"/>
          </a:p>
        </p:txBody>
      </p:sp>
      <p:sp>
        <p:nvSpPr>
          <p:cNvPr id="4" name="Slide Number Placeholder 3">
            <a:extLst>
              <a:ext uri="{FF2B5EF4-FFF2-40B4-BE49-F238E27FC236}">
                <a16:creationId xmlns:a16="http://schemas.microsoft.com/office/drawing/2014/main" id="{CAD7C810-8880-4D05-860C-4E520C91B935}"/>
              </a:ext>
            </a:extLst>
          </p:cNvPr>
          <p:cNvSpPr>
            <a:spLocks noGrp="1"/>
          </p:cNvSpPr>
          <p:nvPr>
            <p:ph type="sldNum" sz="quarter" idx="12"/>
          </p:nvPr>
        </p:nvSpPr>
        <p:spPr/>
        <p:txBody>
          <a:bodyPr/>
          <a:lstStyle/>
          <a:p>
            <a:fld id="{B62643F8-DFCD-4B5F-9519-933435FA18FB}" type="slidenum">
              <a:rPr lang="en-IL" smtClean="0"/>
              <a:t>1</a:t>
            </a:fld>
            <a:endParaRPr lang="en-IL"/>
          </a:p>
        </p:txBody>
      </p:sp>
      <p:sp>
        <p:nvSpPr>
          <p:cNvPr id="5" name="Footer Placeholder 4">
            <a:extLst>
              <a:ext uri="{FF2B5EF4-FFF2-40B4-BE49-F238E27FC236}">
                <a16:creationId xmlns:a16="http://schemas.microsoft.com/office/drawing/2014/main" id="{B708135C-5A11-DB47-A5FC-BE38DE9D9770}"/>
              </a:ext>
            </a:extLst>
          </p:cNvPr>
          <p:cNvSpPr>
            <a:spLocks noGrp="1"/>
          </p:cNvSpPr>
          <p:nvPr>
            <p:ph type="ftr" sz="quarter" idx="11"/>
          </p:nvPr>
        </p:nvSpPr>
        <p:spPr/>
        <p:txBody>
          <a:bodyPr/>
          <a:lstStyle/>
          <a:p>
            <a:r>
              <a:rPr lang="en-US" dirty="0"/>
              <a:t>Or </a:t>
            </a:r>
            <a:r>
              <a:rPr lang="en-US" dirty="0" err="1"/>
              <a:t>Peretz</a:t>
            </a:r>
            <a:endParaRPr lang="en-US" dirty="0"/>
          </a:p>
        </p:txBody>
      </p:sp>
    </p:spTree>
    <p:extLst>
      <p:ext uri="{BB962C8B-B14F-4D97-AF65-F5344CB8AC3E}">
        <p14:creationId xmlns:p14="http://schemas.microsoft.com/office/powerpoint/2010/main" val="3017308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Introduction</a:t>
            </a:r>
          </a:p>
          <a:p>
            <a:pPr marL="457200" indent="-457200">
              <a:lnSpc>
                <a:spcPct val="150000"/>
              </a:lnSpc>
              <a:buFontTx/>
              <a:buChar char="-"/>
            </a:pPr>
            <a:r>
              <a:rPr lang="en-US" sz="2400" dirty="0"/>
              <a:t>A corpus is the group of all the text documents whereas a document is a collection of paragraphs.</a:t>
            </a:r>
          </a:p>
          <a:p>
            <a:pPr marL="457200" indent="-457200">
              <a:lnSpc>
                <a:spcPct val="150000"/>
              </a:lnSpc>
              <a:buFontTx/>
              <a:buChar char="-"/>
            </a:pPr>
            <a:r>
              <a:rPr lang="en-US" sz="2400" dirty="0"/>
              <a:t>A paragraph is a collection of sentences, and a sentence is a sequence of words (or tokens) in a grammatical construct.</a:t>
            </a:r>
          </a:p>
          <a:p>
            <a:pPr marL="457200" indent="-457200">
              <a:lnSpc>
                <a:spcPct val="150000"/>
              </a:lnSpc>
              <a:buFontTx/>
              <a:buChar char="-"/>
            </a:pPr>
            <a:r>
              <a:rPr lang="en-US" sz="2400" b="1" dirty="0"/>
              <a:t>Topics or themes</a:t>
            </a:r>
            <a:r>
              <a:rPr lang="en-US" sz="2400" dirty="0"/>
              <a:t> are a group of </a:t>
            </a:r>
            <a:r>
              <a:rPr lang="en-US" sz="2400" b="1" dirty="0"/>
              <a:t>statistically significant</a:t>
            </a:r>
            <a:r>
              <a:rPr lang="en-US" sz="2400" dirty="0"/>
              <a:t> “tokens” or words in a “corpus”.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3" name="Picture 2">
            <a:extLst>
              <a:ext uri="{FF2B5EF4-FFF2-40B4-BE49-F238E27FC236}">
                <a16:creationId xmlns:a16="http://schemas.microsoft.com/office/drawing/2014/main" id="{DC037CE3-733B-DA22-0465-4D417DF8C993}"/>
              </a:ext>
            </a:extLst>
          </p:cNvPr>
          <p:cNvPicPr>
            <a:picLocks noChangeAspect="1"/>
          </p:cNvPicPr>
          <p:nvPr/>
        </p:nvPicPr>
        <p:blipFill>
          <a:blip r:embed="rId3"/>
          <a:stretch>
            <a:fillRect/>
          </a:stretch>
        </p:blipFill>
        <p:spPr>
          <a:xfrm>
            <a:off x="3881966" y="4312100"/>
            <a:ext cx="4428067" cy="1885499"/>
          </a:xfrm>
          <a:prstGeom prst="rect">
            <a:avLst/>
          </a:prstGeom>
        </p:spPr>
      </p:pic>
    </p:spTree>
    <p:extLst>
      <p:ext uri="{BB962C8B-B14F-4D97-AF65-F5344CB8AC3E}">
        <p14:creationId xmlns:p14="http://schemas.microsoft.com/office/powerpoint/2010/main" val="3804293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Document Clustering</a:t>
            </a:r>
          </a:p>
          <a:p>
            <a:pPr>
              <a:lnSpc>
                <a:spcPct val="150000"/>
              </a:lnSpc>
            </a:pPr>
            <a:r>
              <a:rPr lang="en-US" sz="2400" i="1" dirty="0"/>
              <a:t>The task of organizing a collection of </a:t>
            </a:r>
            <a:r>
              <a:rPr lang="en-US" sz="2400" b="1" i="1" dirty="0"/>
              <a:t>documents</a:t>
            </a:r>
            <a:r>
              <a:rPr lang="en-US" sz="2400" i="1" dirty="0"/>
              <a:t>, whose classification is unknown, into meaningful groups (clusters) that are homogeneous according to some notion of proximity (distance or similarity) among </a:t>
            </a:r>
            <a:r>
              <a:rPr lang="en-US" sz="2400" b="1" i="1" dirty="0"/>
              <a:t>documents</a:t>
            </a:r>
            <a:r>
              <a:rPr lang="en-US" sz="2400" i="1" dirty="0"/>
              <a:t>. </a:t>
            </a:r>
            <a:endParaRPr lang="he-IL" sz="2400" i="1"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1026" name="Picture 2" descr="Applying Machine Learning to classify an unsupervised text document | by  vishabh goel | Towards Data Science">
            <a:extLst>
              <a:ext uri="{FF2B5EF4-FFF2-40B4-BE49-F238E27FC236}">
                <a16:creationId xmlns:a16="http://schemas.microsoft.com/office/drawing/2014/main" id="{9FE60575-BE69-C1F6-5A07-AC8E8E30C5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1333" y="3131214"/>
            <a:ext cx="5139267" cy="2643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705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Topic Modeling</a:t>
            </a:r>
          </a:p>
          <a:p>
            <a:pPr>
              <a:lnSpc>
                <a:spcPct val="150000"/>
              </a:lnSpc>
            </a:pPr>
            <a:r>
              <a:rPr lang="en-US" sz="2400" i="1" dirty="0"/>
              <a:t>A machine learning technique that automatically analyzes text data to determine cluster words for a set of documents. This is known as ‘unsupervised’ machine learning because it doesn’t require a predefined list of tags or training data that’s been previously classified.</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2050" name="Picture 2" descr="Beginners Guide to Topic Modeling in Python and Feature Selection">
            <a:extLst>
              <a:ext uri="{FF2B5EF4-FFF2-40B4-BE49-F238E27FC236}">
                <a16:creationId xmlns:a16="http://schemas.microsoft.com/office/drawing/2014/main" id="{414D2F3A-1383-DB55-5884-EF38A15967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0833" y="3429000"/>
            <a:ext cx="4745819" cy="2551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3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PBL – Project Based Learning</a:t>
            </a:r>
          </a:p>
          <a:p>
            <a:pPr>
              <a:lnSpc>
                <a:spcPct val="150000"/>
              </a:lnSpc>
            </a:pPr>
            <a:r>
              <a:rPr lang="en-US" sz="2400" dirty="0"/>
              <a:t>Project-based learning (PBL) or project-based instruction is an instructional approach designed to give students the opportunity to develop knowledge and skills through engaging projects set around challenges and problems they may face in the real world.</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1026" name="Picture 2" descr="Project-Based Learning In eLearning: What eLearning Professionals Should  Know - eLearning Industry">
            <a:extLst>
              <a:ext uri="{FF2B5EF4-FFF2-40B4-BE49-F238E27FC236}">
                <a16:creationId xmlns:a16="http://schemas.microsoft.com/office/drawing/2014/main" id="{B58F0FCE-4EA5-A9D0-DBF9-BE8B438B97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348" r="21152"/>
          <a:stretch/>
        </p:blipFill>
        <p:spPr bwMode="auto">
          <a:xfrm>
            <a:off x="4643966" y="3056466"/>
            <a:ext cx="31242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79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169333" y="136525"/>
            <a:ext cx="11844866" cy="6485754"/>
          </a:xfrm>
        </p:spPr>
        <p:txBody>
          <a:bodyPr>
            <a:normAutofit/>
          </a:bodyPr>
          <a:lstStyle/>
          <a:p>
            <a:pPr algn="ctr">
              <a:lnSpc>
                <a:spcPct val="150000"/>
              </a:lnSpc>
            </a:pPr>
            <a:r>
              <a:rPr lang="en-US" sz="3200" b="1" dirty="0"/>
              <a:t>Discriminative vs. Generative Models</a:t>
            </a:r>
          </a:p>
          <a:p>
            <a:pPr>
              <a:lnSpc>
                <a:spcPct val="150000"/>
              </a:lnSpc>
            </a:pPr>
            <a:r>
              <a:rPr lang="en-US" sz="2400" b="1" dirty="0"/>
              <a:t>Discriminative Models </a:t>
            </a:r>
            <a:r>
              <a:rPr lang="en-US" sz="2400" dirty="0"/>
              <a:t>- type of logistical model and are mostly used for supervised learning.</a:t>
            </a:r>
          </a:p>
          <a:p>
            <a:pPr>
              <a:lnSpc>
                <a:spcPct val="150000"/>
              </a:lnSpc>
            </a:pPr>
            <a:r>
              <a:rPr lang="en-US" sz="2400" dirty="0"/>
              <a:t>Its use conditional probabilities to predict.</a:t>
            </a:r>
          </a:p>
          <a:p>
            <a:pPr>
              <a:lnSpc>
                <a:spcPct val="150000"/>
              </a:lnSpc>
            </a:pPr>
            <a:r>
              <a:rPr lang="en-US" sz="2400" dirty="0"/>
              <a:t>For example,</a:t>
            </a:r>
          </a:p>
          <a:p>
            <a:r>
              <a:rPr lang="en-US" sz="2400" dirty="0"/>
              <a:t>Logistic Regression</a:t>
            </a:r>
          </a:p>
          <a:p>
            <a:r>
              <a:rPr lang="en-US" sz="2400" dirty="0"/>
              <a:t>Decision Tree</a:t>
            </a:r>
          </a:p>
          <a:p>
            <a:r>
              <a:rPr lang="en-US" sz="2400" dirty="0"/>
              <a:t>Random Forest</a:t>
            </a:r>
          </a:p>
          <a:p>
            <a:r>
              <a:rPr lang="en-US" sz="2400" dirty="0"/>
              <a:t>Support Vector Machine (SVM)</a:t>
            </a:r>
          </a:p>
          <a:p>
            <a:r>
              <a:rPr lang="en-US" sz="2400" dirty="0"/>
              <a:t>Traditional Neural Network</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285460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169333" y="136525"/>
            <a:ext cx="11844866" cy="6485754"/>
          </a:xfrm>
        </p:spPr>
        <p:txBody>
          <a:bodyPr>
            <a:normAutofit/>
          </a:bodyPr>
          <a:lstStyle/>
          <a:p>
            <a:pPr algn="ctr">
              <a:lnSpc>
                <a:spcPct val="150000"/>
              </a:lnSpc>
            </a:pPr>
            <a:r>
              <a:rPr lang="en-US" sz="3200" b="1" dirty="0"/>
              <a:t>Discriminative vs. Generative Models</a:t>
            </a:r>
          </a:p>
          <a:p>
            <a:pPr>
              <a:lnSpc>
                <a:spcPct val="150000"/>
              </a:lnSpc>
            </a:pPr>
            <a:r>
              <a:rPr lang="en-US" sz="2400" b="1" dirty="0"/>
              <a:t>Generative Models </a:t>
            </a:r>
            <a:r>
              <a:rPr lang="en-US" sz="2400" dirty="0"/>
              <a:t>- use statistics to generate or create new data. </a:t>
            </a:r>
          </a:p>
          <a:p>
            <a:pPr marL="457200" indent="-457200">
              <a:lnSpc>
                <a:spcPct val="150000"/>
              </a:lnSpc>
              <a:buFontTx/>
              <a:buChar char="-"/>
            </a:pPr>
            <a:r>
              <a:rPr lang="en-US" sz="2400" dirty="0"/>
              <a:t>Estimate the probabilities using the joint probability distribution P(X, Y). </a:t>
            </a:r>
          </a:p>
          <a:p>
            <a:pPr marL="457200" indent="-457200">
              <a:lnSpc>
                <a:spcPct val="150000"/>
              </a:lnSpc>
              <a:buFontTx/>
              <a:buChar char="-"/>
            </a:pPr>
            <a:r>
              <a:rPr lang="en-US" sz="2400" dirty="0"/>
              <a:t>Estimate the data points and differentiates the classes based on these computed probabilities of the class labels. </a:t>
            </a:r>
          </a:p>
          <a:p>
            <a:pPr>
              <a:lnSpc>
                <a:spcPct val="150000"/>
              </a:lnSpc>
            </a:pPr>
            <a:r>
              <a:rPr lang="en-US" sz="2400" dirty="0"/>
              <a:t>For example,</a:t>
            </a:r>
          </a:p>
          <a:p>
            <a:r>
              <a:rPr lang="en-US" sz="2400" dirty="0"/>
              <a:t>Hidden Markov Model (HMM)</a:t>
            </a:r>
          </a:p>
          <a:p>
            <a:r>
              <a:rPr lang="en-US" sz="2400" dirty="0"/>
              <a:t>Latent Dirichlet Allocation (LDA)</a:t>
            </a:r>
          </a:p>
          <a:p>
            <a:r>
              <a:rPr lang="en-US" sz="2400" dirty="0"/>
              <a:t>Generative Adversarial Networks (GANs)</a:t>
            </a:r>
          </a:p>
          <a:p>
            <a:r>
              <a:rPr lang="en-US" sz="2400" dirty="0"/>
              <a:t>Autoencoders</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377878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Document Clustering and Topic Modeling</a:t>
            </a:r>
          </a:p>
          <a:p>
            <a:pPr>
              <a:lnSpc>
                <a:spcPct val="150000"/>
              </a:lnSpc>
            </a:pPr>
            <a:r>
              <a:rPr lang="en-US" sz="2400" dirty="0"/>
              <a:t>Unsupervised learning models to cluster unlabeled documents into different groups</a:t>
            </a:r>
          </a:p>
          <a:p>
            <a:pPr marL="457200" indent="-457200">
              <a:lnSpc>
                <a:spcPct val="150000"/>
              </a:lnSpc>
              <a:buAutoNum type="arabicPeriod"/>
            </a:pPr>
            <a:r>
              <a:rPr lang="en-US" sz="2400" dirty="0"/>
              <a:t>Load Data</a:t>
            </a:r>
          </a:p>
          <a:p>
            <a:pPr marL="457200" indent="-457200">
              <a:lnSpc>
                <a:spcPct val="150000"/>
              </a:lnSpc>
              <a:buAutoNum type="arabicPeriod"/>
            </a:pPr>
            <a:r>
              <a:rPr lang="en-US" sz="2400" dirty="0"/>
              <a:t>Tokenizing and Stemming</a:t>
            </a:r>
          </a:p>
          <a:p>
            <a:pPr marL="457200" indent="-457200">
              <a:lnSpc>
                <a:spcPct val="150000"/>
              </a:lnSpc>
              <a:buAutoNum type="arabicPeriod"/>
            </a:pPr>
            <a:r>
              <a:rPr lang="en-US" sz="2400" dirty="0"/>
              <a:t>TF-IDF</a:t>
            </a:r>
          </a:p>
          <a:p>
            <a:pPr marL="457200" indent="-457200">
              <a:lnSpc>
                <a:spcPct val="150000"/>
              </a:lnSpc>
              <a:buAutoNum type="arabicPeriod"/>
            </a:pPr>
            <a:r>
              <a:rPr lang="en-US" sz="2400" dirty="0"/>
              <a:t>Document Similarity</a:t>
            </a:r>
          </a:p>
          <a:p>
            <a:pPr marL="457200" indent="-457200">
              <a:lnSpc>
                <a:spcPct val="150000"/>
              </a:lnSpc>
              <a:buAutoNum type="arabicPeriod"/>
            </a:pPr>
            <a:r>
              <a:rPr lang="en-US" sz="2400" dirty="0"/>
              <a:t>K-Means Clustering for Documents: naïve vs. hierarchical </a:t>
            </a:r>
          </a:p>
          <a:p>
            <a:pPr marL="457200" indent="-457200">
              <a:lnSpc>
                <a:spcPct val="150000"/>
              </a:lnSpc>
              <a:buAutoNum type="arabicPeriod"/>
            </a:pPr>
            <a:r>
              <a:rPr lang="en-US" sz="2400" dirty="0"/>
              <a:t>Latent Dirichlet Allocation (LDA) for Topic Modeling</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2414276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The Dataset</a:t>
            </a:r>
          </a:p>
          <a:p>
            <a:pPr marL="342900" indent="-342900">
              <a:lnSpc>
                <a:spcPct val="150000"/>
              </a:lnSpc>
              <a:buFontTx/>
              <a:buChar char="-"/>
            </a:pPr>
            <a:r>
              <a:rPr lang="en-US" sz="2400" dirty="0" err="1"/>
              <a:t>title_list.txt</a:t>
            </a:r>
            <a:r>
              <a:rPr lang="en-US" sz="2400" dirty="0"/>
              <a:t>: List of all movie's titles</a:t>
            </a:r>
          </a:p>
          <a:p>
            <a:pPr marL="342900" indent="-342900">
              <a:lnSpc>
                <a:spcPct val="150000"/>
              </a:lnSpc>
              <a:buFontTx/>
              <a:buChar char="-"/>
            </a:pPr>
            <a:r>
              <a:rPr lang="en-US" sz="2400" dirty="0" err="1"/>
              <a:t>Synopses_list_wiki.txt</a:t>
            </a:r>
            <a:r>
              <a:rPr lang="en-US" sz="2400" dirty="0"/>
              <a:t>:  synopsis of each movie (in the same order) from Wikipedia</a:t>
            </a:r>
          </a:p>
          <a:p>
            <a:pPr marL="342900" indent="-342900">
              <a:lnSpc>
                <a:spcPct val="150000"/>
              </a:lnSpc>
              <a:buFontTx/>
              <a:buChar char="-"/>
            </a:pPr>
            <a:r>
              <a:rPr lang="en-US" sz="2400" dirty="0" err="1"/>
              <a:t>Synopses_list_imdb.txt</a:t>
            </a:r>
            <a:r>
              <a:rPr lang="en-US" sz="2400" dirty="0"/>
              <a:t>:  synopsis of each movie (in the same order) from IMDB</a:t>
            </a:r>
          </a:p>
          <a:p>
            <a:pPr marL="342900" indent="-342900">
              <a:lnSpc>
                <a:spcPct val="150000"/>
              </a:lnSpc>
              <a:buFontTx/>
              <a:buChar char="-"/>
            </a:pPr>
            <a:endParaRPr lang="en-US" sz="2400" dirty="0"/>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3076" name="Picture 4" descr="California's Actor-Age Censorship Law Barred - Variety">
            <a:extLst>
              <a:ext uri="{FF2B5EF4-FFF2-40B4-BE49-F238E27FC236}">
                <a16:creationId xmlns:a16="http://schemas.microsoft.com/office/drawing/2014/main" id="{01295613-C96E-3758-8093-0BCA20F44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9066" y="3752322"/>
            <a:ext cx="3293533" cy="185261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78" name="Picture 6" descr="Wikipedia - Wikipedia">
            <a:extLst>
              <a:ext uri="{FF2B5EF4-FFF2-40B4-BE49-F238E27FC236}">
                <a16:creationId xmlns:a16="http://schemas.microsoft.com/office/drawing/2014/main" id="{C336FC05-5DD8-A2FC-3F31-43A91B47C2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4921" y="3654161"/>
            <a:ext cx="2245289" cy="2048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28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1: Load and Merge</a:t>
            </a:r>
          </a:p>
          <a:p>
            <a:pPr marL="457200" indent="-457200">
              <a:lnSpc>
                <a:spcPct val="150000"/>
              </a:lnSpc>
              <a:buAutoNum type="arabicPeriod"/>
            </a:pPr>
            <a:r>
              <a:rPr lang="en-US" sz="2400" dirty="0"/>
              <a:t>Load each data source to a variable.</a:t>
            </a:r>
          </a:p>
          <a:p>
            <a:pPr marL="457200" indent="-457200">
              <a:lnSpc>
                <a:spcPct val="150000"/>
              </a:lnSpc>
              <a:buAutoNum type="arabicPeriod"/>
            </a:pPr>
            <a:r>
              <a:rPr lang="en-US" sz="2400" dirty="0"/>
              <a:t>Merge the synopses from Wiki and IMDB of the same movie. </a:t>
            </a:r>
          </a:p>
          <a:p>
            <a:pPr>
              <a:lnSpc>
                <a:spcPct val="150000"/>
              </a:lnSpc>
            </a:pPr>
            <a:endParaRPr lang="en-US" sz="2400" dirty="0"/>
          </a:p>
          <a:p>
            <a:pPr>
              <a:lnSpc>
                <a:spcPct val="150000"/>
              </a:lnSpc>
            </a:pPr>
            <a:r>
              <a:rPr lang="en-US" sz="2400" dirty="0"/>
              <a:t>Note: keep the sources in text format for step 2. In case we want to use a library (Pandas, Spark, etc.), we will do it </a:t>
            </a:r>
            <a:r>
              <a:rPr lang="en-US" sz="2400" u="sng" dirty="0"/>
              <a:t>after</a:t>
            </a:r>
            <a:r>
              <a:rPr lang="en-US" sz="2400" dirty="0"/>
              <a:t> processing.</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2059883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2: Tokenizing and Stemming</a:t>
            </a:r>
          </a:p>
          <a:p>
            <a:pPr>
              <a:lnSpc>
                <a:spcPct val="150000"/>
              </a:lnSpc>
            </a:pPr>
            <a:r>
              <a:rPr lang="en-US" sz="2400" u="sng" dirty="0"/>
              <a:t>Tokenization</a:t>
            </a:r>
          </a:p>
          <a:p>
            <a:pPr>
              <a:lnSpc>
                <a:spcPct val="150000"/>
              </a:lnSpc>
              <a:defRPr/>
            </a:pPr>
            <a:r>
              <a:rPr lang="en-US" sz="2400" b="1" dirty="0">
                <a:ea typeface="ＭＳ Ｐゴシック" charset="-128"/>
                <a:cs typeface="ＭＳ Ｐゴシック" charset="-128"/>
              </a:rPr>
              <a:t>Input</a:t>
            </a:r>
            <a:r>
              <a:rPr lang="en-US" sz="2400" dirty="0">
                <a:ea typeface="ＭＳ Ｐゴシック" charset="-128"/>
                <a:cs typeface="ＭＳ Ｐゴシック" charset="-128"/>
              </a:rPr>
              <a:t>: “</a:t>
            </a:r>
            <a:r>
              <a:rPr lang="en-US" sz="2400" i="1" dirty="0">
                <a:ea typeface="ＭＳ Ｐゴシック" charset="-128"/>
                <a:cs typeface="ＭＳ Ｐゴシック" charset="-128"/>
              </a:rPr>
              <a:t>Friends, Romans and Countrymen</a:t>
            </a:r>
            <a:r>
              <a:rPr lang="en-US" sz="2400" dirty="0">
                <a:ea typeface="ＭＳ Ｐゴシック" charset="-128"/>
                <a:cs typeface="ＭＳ Ｐゴシック" charset="-128"/>
              </a:rPr>
              <a:t>”</a:t>
            </a:r>
          </a:p>
          <a:p>
            <a:pPr>
              <a:lnSpc>
                <a:spcPct val="150000"/>
              </a:lnSpc>
              <a:defRPr/>
            </a:pPr>
            <a:r>
              <a:rPr lang="en-US" sz="2400" b="1" dirty="0">
                <a:ea typeface="ＭＳ Ｐゴシック" charset="-128"/>
                <a:cs typeface="ＭＳ Ｐゴシック" charset="-128"/>
              </a:rPr>
              <a:t>Output</a:t>
            </a:r>
            <a:r>
              <a:rPr lang="en-US" sz="2400" dirty="0">
                <a:ea typeface="ＭＳ Ｐゴシック" charset="-128"/>
                <a:cs typeface="ＭＳ Ｐゴシック" charset="-128"/>
              </a:rPr>
              <a:t>: (Tokens) </a:t>
            </a:r>
            <a:r>
              <a:rPr lang="en-US" sz="2400" i="1" dirty="0"/>
              <a:t>Friends, Romans, Countrymen</a:t>
            </a:r>
          </a:p>
          <a:p>
            <a:pPr>
              <a:lnSpc>
                <a:spcPct val="150000"/>
              </a:lnSpc>
            </a:pPr>
            <a:r>
              <a:rPr lang="en-US" altLang="en-IL" sz="2400" u="sng" dirty="0">
                <a:ea typeface="ＭＳ Ｐゴシック" panose="020B0600070205080204" pitchFamily="34" charset="-128"/>
              </a:rPr>
              <a:t>Issues in tokenization:</a:t>
            </a:r>
          </a:p>
          <a:p>
            <a:pPr lvl="1">
              <a:lnSpc>
                <a:spcPct val="150000"/>
              </a:lnSpc>
            </a:pPr>
            <a:r>
              <a:rPr lang="en-US" altLang="en-IL" b="1" i="1" dirty="0">
                <a:ea typeface="ＭＳ Ｐゴシック" panose="020B0600070205080204" pitchFamily="34" charset="-128"/>
              </a:rPr>
              <a:t>Finland’s capital </a:t>
            </a:r>
            <a:r>
              <a:rPr lang="en-US" altLang="en-IL" b="1" i="1" dirty="0">
                <a:ea typeface="ＭＳ Ｐゴシック" panose="020B0600070205080204" pitchFamily="34" charset="-128"/>
                <a:sym typeface="Symbol" pitchFamily="2" charset="2"/>
              </a:rPr>
              <a:t>  Finland </a:t>
            </a:r>
            <a:r>
              <a:rPr lang="en-US" altLang="en-IL" dirty="0">
                <a:ea typeface="ＭＳ Ｐゴシック" panose="020B0600070205080204" pitchFamily="34" charset="-128"/>
                <a:sym typeface="Symbol" pitchFamily="2" charset="2"/>
              </a:rPr>
              <a:t>AND</a:t>
            </a:r>
            <a:r>
              <a:rPr lang="en-US" altLang="en-IL" b="1" i="1" dirty="0">
                <a:ea typeface="ＭＳ Ｐゴシック" panose="020B0600070205080204" pitchFamily="34" charset="-128"/>
                <a:sym typeface="Symbol" pitchFamily="2" charset="2"/>
              </a:rPr>
              <a:t> s</a:t>
            </a:r>
            <a:r>
              <a:rPr lang="en-US" altLang="en-IL" dirty="0">
                <a:ea typeface="ＭＳ Ｐゴシック" panose="020B0600070205080204" pitchFamily="34" charset="-128"/>
                <a:sym typeface="Symbol" pitchFamily="2" charset="2"/>
              </a:rPr>
              <a:t>? </a:t>
            </a:r>
            <a:r>
              <a:rPr lang="en-US" altLang="en-IL" b="1" i="1" dirty="0">
                <a:ea typeface="ＭＳ Ｐゴシック" panose="020B0600070205080204" pitchFamily="34" charset="-128"/>
                <a:sym typeface="Symbol" pitchFamily="2" charset="2"/>
              </a:rPr>
              <a:t> </a:t>
            </a:r>
            <a:r>
              <a:rPr lang="en-US" altLang="en-IL" b="1" i="1" dirty="0" err="1">
                <a:ea typeface="ＭＳ Ｐゴシック" panose="020B0600070205080204" pitchFamily="34" charset="-128"/>
                <a:sym typeface="Symbol" pitchFamily="2" charset="2"/>
              </a:rPr>
              <a:t>Finlands</a:t>
            </a:r>
            <a:r>
              <a:rPr lang="en-US" altLang="en-IL" dirty="0">
                <a:ea typeface="ＭＳ Ｐゴシック" panose="020B0600070205080204" pitchFamily="34" charset="-128"/>
                <a:sym typeface="Symbol" pitchFamily="2" charset="2"/>
              </a:rPr>
              <a:t>?</a:t>
            </a:r>
            <a:r>
              <a:rPr lang="en-US" altLang="en-IL" b="1" i="1" dirty="0">
                <a:ea typeface="ＭＳ Ｐゴシック" panose="020B0600070205080204" pitchFamily="34" charset="-128"/>
                <a:sym typeface="Symbol" pitchFamily="2" charset="2"/>
              </a:rPr>
              <a:t>  Finland’s</a:t>
            </a:r>
            <a:r>
              <a:rPr lang="en-US" altLang="en-IL" dirty="0">
                <a:ea typeface="ＭＳ Ｐゴシック" panose="020B0600070205080204" pitchFamily="34" charset="-128"/>
                <a:sym typeface="Symbol" pitchFamily="2" charset="2"/>
              </a:rPr>
              <a:t>?</a:t>
            </a:r>
          </a:p>
          <a:p>
            <a:pPr lvl="1">
              <a:lnSpc>
                <a:spcPct val="150000"/>
              </a:lnSpc>
            </a:pPr>
            <a:r>
              <a:rPr lang="en-US" altLang="en-IL" b="1" i="1" dirty="0">
                <a:ea typeface="ＭＳ Ｐゴシック" panose="020B0600070205080204" pitchFamily="34" charset="-128"/>
                <a:sym typeface="Symbol" pitchFamily="2" charset="2"/>
              </a:rPr>
              <a:t>San Francisco</a:t>
            </a:r>
            <a:r>
              <a:rPr lang="en-US" altLang="en-IL" dirty="0">
                <a:ea typeface="ＭＳ Ｐゴシック" panose="020B0600070205080204" pitchFamily="34" charset="-128"/>
                <a:sym typeface="Symbol" pitchFamily="2" charset="2"/>
              </a:rPr>
              <a:t>: one token or two? H</a:t>
            </a:r>
            <a:r>
              <a:rPr lang="en-US" altLang="en-IL" sz="2400" dirty="0">
                <a:ea typeface="ＭＳ Ｐゴシック" panose="020B0600070205080204" pitchFamily="34" charset="-128"/>
                <a:sym typeface="Symbol" pitchFamily="2" charset="2"/>
              </a:rPr>
              <a:t>ow do you decide it is one token?</a:t>
            </a:r>
          </a:p>
          <a:p>
            <a:pPr>
              <a:lnSpc>
                <a:spcPct val="150000"/>
              </a:lnSpc>
            </a:pPr>
            <a:endParaRPr lang="en-US" sz="2400" u="sng"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2538273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2: Tokenizing and Stemming – Stop Words</a:t>
            </a:r>
          </a:p>
          <a:p>
            <a:pPr>
              <a:lnSpc>
                <a:spcPct val="150000"/>
              </a:lnSpc>
            </a:pPr>
            <a:r>
              <a:rPr lang="en-US" altLang="en-IL" sz="2400" dirty="0">
                <a:ea typeface="ＭＳ Ｐゴシック" panose="020B0600070205080204" pitchFamily="34" charset="-128"/>
              </a:rPr>
              <a:t>With a stop list, you exclude from the dictionary entirely the commonest words. </a:t>
            </a:r>
          </a:p>
          <a:p>
            <a:pPr lvl="1">
              <a:lnSpc>
                <a:spcPct val="150000"/>
              </a:lnSpc>
            </a:pPr>
            <a:r>
              <a:rPr lang="en-US" altLang="en-IL" dirty="0">
                <a:ea typeface="ＭＳ Ｐゴシック" panose="020B0600070205080204" pitchFamily="34" charset="-128"/>
              </a:rPr>
              <a:t>- They have little semantic content: </a:t>
            </a:r>
            <a:r>
              <a:rPr lang="en-US" altLang="en-IL" i="1" dirty="0">
                <a:ea typeface="ＭＳ Ｐゴシック" panose="020B0600070205080204" pitchFamily="34" charset="-128"/>
              </a:rPr>
              <a:t>the, a, and, to, be</a:t>
            </a:r>
          </a:p>
          <a:p>
            <a:pPr lvl="1">
              <a:lnSpc>
                <a:spcPct val="150000"/>
              </a:lnSpc>
            </a:pPr>
            <a:r>
              <a:rPr lang="en-US" altLang="en-IL" dirty="0">
                <a:ea typeface="ＭＳ Ｐゴシック" panose="020B0600070205080204" pitchFamily="34" charset="-128"/>
              </a:rPr>
              <a:t>- There are a lot of them: ~30% of postings for top 30 words</a:t>
            </a:r>
          </a:p>
          <a:p>
            <a:pPr>
              <a:lnSpc>
                <a:spcPct val="150000"/>
              </a:lnSpc>
            </a:pPr>
            <a:r>
              <a:rPr lang="en-US" sz="2400" u="sng" dirty="0"/>
              <a:t>Lemmatization</a:t>
            </a:r>
            <a:r>
              <a:rPr lang="en-US" sz="2400" dirty="0"/>
              <a:t> - </a:t>
            </a:r>
            <a:r>
              <a:rPr lang="en-US" altLang="en-IL" sz="2400" dirty="0">
                <a:ea typeface="ＭＳ Ｐゴシック" panose="020B0600070205080204" pitchFamily="34" charset="-128"/>
              </a:rPr>
              <a:t>Reduce variant forms to base form</a:t>
            </a:r>
          </a:p>
          <a:p>
            <a:pPr lvl="1">
              <a:lnSpc>
                <a:spcPct val="150000"/>
              </a:lnSpc>
              <a:spcAft>
                <a:spcPts val="500"/>
              </a:spcAft>
            </a:pPr>
            <a:r>
              <a:rPr lang="en-US" altLang="en-IL" i="1" dirty="0">
                <a:ea typeface="ＭＳ Ｐゴシック" panose="020B0600070205080204" pitchFamily="34" charset="-128"/>
              </a:rPr>
              <a:t>am, are,</a:t>
            </a:r>
            <a:r>
              <a:rPr lang="en-US" altLang="en-IL" dirty="0">
                <a:ea typeface="ＭＳ Ｐゴシック" panose="020B0600070205080204" pitchFamily="34" charset="-128"/>
              </a:rPr>
              <a:t> </a:t>
            </a:r>
            <a:r>
              <a:rPr lang="en-US" altLang="en-IL" i="1" dirty="0">
                <a:ea typeface="ＭＳ Ｐゴシック" panose="020B0600070205080204" pitchFamily="34" charset="-128"/>
              </a:rPr>
              <a:t>is </a:t>
            </a:r>
            <a:r>
              <a:rPr lang="en-US" altLang="en-IL" dirty="0">
                <a:ea typeface="ＭＳ Ｐゴシック" panose="020B0600070205080204" pitchFamily="34" charset="-128"/>
                <a:sym typeface="Symbol" pitchFamily="2" charset="2"/>
              </a:rPr>
              <a:t></a:t>
            </a:r>
            <a:r>
              <a:rPr lang="en-US" altLang="en-IL" dirty="0">
                <a:ea typeface="ＭＳ Ｐゴシック" panose="020B0600070205080204" pitchFamily="34" charset="-128"/>
              </a:rPr>
              <a:t> </a:t>
            </a:r>
            <a:r>
              <a:rPr lang="en-US" altLang="en-IL" i="1" dirty="0">
                <a:ea typeface="ＭＳ Ｐゴシック" panose="020B0600070205080204" pitchFamily="34" charset="-128"/>
              </a:rPr>
              <a:t>be</a:t>
            </a:r>
            <a:endParaRPr lang="en-US" altLang="en-IL" dirty="0">
              <a:ea typeface="ＭＳ Ｐゴシック" panose="020B0600070205080204" pitchFamily="34" charset="-128"/>
            </a:endParaRPr>
          </a:p>
          <a:p>
            <a:pPr lvl="1">
              <a:lnSpc>
                <a:spcPct val="150000"/>
              </a:lnSpc>
              <a:spcAft>
                <a:spcPts val="500"/>
              </a:spcAft>
            </a:pPr>
            <a:r>
              <a:rPr lang="en-US" altLang="en-IL" i="1" dirty="0">
                <a:ea typeface="ＭＳ Ｐゴシック" panose="020B0600070205080204" pitchFamily="34" charset="-128"/>
              </a:rPr>
              <a:t>car, cars, car's</a:t>
            </a:r>
            <a:r>
              <a:rPr lang="en-US" altLang="en-IL" dirty="0">
                <a:ea typeface="ＭＳ Ｐゴシック" panose="020B0600070205080204" pitchFamily="34" charset="-128"/>
              </a:rPr>
              <a:t>, </a:t>
            </a:r>
            <a:r>
              <a:rPr lang="en-US" altLang="en-IL" i="1" dirty="0">
                <a:ea typeface="ＭＳ Ｐゴシック" panose="020B0600070205080204" pitchFamily="34" charset="-128"/>
              </a:rPr>
              <a:t>cars'</a:t>
            </a:r>
            <a:r>
              <a:rPr lang="en-US" altLang="en-IL" dirty="0">
                <a:ea typeface="ＭＳ Ｐゴシック" panose="020B0600070205080204" pitchFamily="34" charset="-128"/>
              </a:rPr>
              <a:t> </a:t>
            </a:r>
            <a:r>
              <a:rPr lang="en-US" altLang="en-IL" dirty="0">
                <a:ea typeface="ＭＳ Ｐゴシック" panose="020B0600070205080204" pitchFamily="34" charset="-128"/>
                <a:sym typeface="Symbol" pitchFamily="2" charset="2"/>
              </a:rPr>
              <a:t></a:t>
            </a:r>
            <a:r>
              <a:rPr lang="en-US" altLang="en-IL" dirty="0">
                <a:ea typeface="ＭＳ Ｐゴシック" panose="020B0600070205080204" pitchFamily="34" charset="-128"/>
              </a:rPr>
              <a:t> </a:t>
            </a:r>
            <a:r>
              <a:rPr lang="en-US" altLang="en-IL" i="1" dirty="0">
                <a:ea typeface="ＭＳ Ｐゴシック" panose="020B0600070205080204" pitchFamily="34" charset="-128"/>
              </a:rPr>
              <a:t>car</a:t>
            </a:r>
          </a:p>
          <a:p>
            <a:pPr>
              <a:lnSpc>
                <a:spcPct val="150000"/>
              </a:lnSpc>
              <a:spcBef>
                <a:spcPts val="500"/>
              </a:spcBef>
              <a:spcAft>
                <a:spcPts val="500"/>
              </a:spcAft>
            </a:pPr>
            <a:r>
              <a:rPr lang="en-US" altLang="en-IL" sz="2400" i="1" dirty="0">
                <a:ea typeface="ＭＳ Ｐゴシック" panose="020B0600070205080204" pitchFamily="34" charset="-128"/>
              </a:rPr>
              <a:t>the boy's cars are different colors</a:t>
            </a:r>
            <a:r>
              <a:rPr lang="en-US" altLang="en-IL" sz="2400" dirty="0">
                <a:ea typeface="ＭＳ Ｐゴシック" panose="020B0600070205080204" pitchFamily="34" charset="-128"/>
              </a:rPr>
              <a:t> </a:t>
            </a:r>
            <a:r>
              <a:rPr lang="en-US" altLang="en-IL" sz="2400" dirty="0">
                <a:ea typeface="ＭＳ Ｐゴシック" panose="020B0600070205080204" pitchFamily="34" charset="-128"/>
                <a:sym typeface="Symbol" pitchFamily="2" charset="2"/>
              </a:rPr>
              <a:t></a:t>
            </a:r>
            <a:r>
              <a:rPr lang="en-US" altLang="en-IL" sz="2400" dirty="0">
                <a:ea typeface="ＭＳ Ｐゴシック" panose="020B0600070205080204" pitchFamily="34" charset="-128"/>
              </a:rPr>
              <a:t> </a:t>
            </a:r>
            <a:r>
              <a:rPr lang="en-US" altLang="en-IL" sz="2400" i="1" dirty="0">
                <a:ea typeface="ＭＳ Ｐゴシック" panose="020B0600070205080204" pitchFamily="34" charset="-128"/>
              </a:rPr>
              <a:t>the boy car be different color</a:t>
            </a:r>
          </a:p>
          <a:p>
            <a:pPr>
              <a:lnSpc>
                <a:spcPct val="150000"/>
              </a:lnSpc>
            </a:pPr>
            <a:endParaRPr lang="en-US" sz="2400" u="sng"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47791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2: Tokenizing and Stemming </a:t>
            </a:r>
          </a:p>
          <a:p>
            <a:pPr>
              <a:lnSpc>
                <a:spcPct val="150000"/>
              </a:lnSpc>
            </a:pPr>
            <a:r>
              <a:rPr lang="en-US" altLang="en-IL" sz="2400" u="sng" dirty="0">
                <a:ea typeface="ＭＳ Ｐゴシック" panose="020B0600070205080204" pitchFamily="34" charset="-128"/>
              </a:rPr>
              <a:t>Stemming</a:t>
            </a:r>
            <a:r>
              <a:rPr lang="en-US" altLang="en-IL" sz="2400" dirty="0">
                <a:ea typeface="ＭＳ Ｐゴシック" panose="020B0600070205080204" pitchFamily="34" charset="-128"/>
              </a:rPr>
              <a:t> - Reduce terms to their “roots” before indexing</a:t>
            </a:r>
          </a:p>
          <a:p>
            <a:pPr lvl="1">
              <a:lnSpc>
                <a:spcPct val="150000"/>
              </a:lnSpc>
            </a:pPr>
            <a:r>
              <a:rPr lang="en-US" altLang="en-IL" b="1" i="1" dirty="0">
                <a:ea typeface="ＭＳ Ｐゴシック" panose="020B0600070205080204" pitchFamily="34" charset="-128"/>
              </a:rPr>
              <a:t>automate(s), automatic, automation</a:t>
            </a:r>
            <a:r>
              <a:rPr lang="en-US" altLang="en-IL" dirty="0">
                <a:ea typeface="ＭＳ Ｐゴシック" panose="020B0600070205080204" pitchFamily="34" charset="-128"/>
              </a:rPr>
              <a:t> all reduced to </a:t>
            </a:r>
            <a:r>
              <a:rPr lang="en-US" altLang="en-IL" b="1" i="1" dirty="0">
                <a:ea typeface="ＭＳ Ｐゴシック" panose="020B0600070205080204" pitchFamily="34" charset="-128"/>
              </a:rPr>
              <a:t>automat</a:t>
            </a:r>
            <a:r>
              <a:rPr lang="en-US" altLang="en-IL" dirty="0">
                <a:ea typeface="ＭＳ Ｐゴシック" panose="020B0600070205080204" pitchFamily="34" charset="-128"/>
              </a:rPr>
              <a:t>.</a:t>
            </a:r>
          </a:p>
          <a:p>
            <a:pPr>
              <a:lnSpc>
                <a:spcPct val="150000"/>
              </a:lnSpc>
            </a:pPr>
            <a:endParaRPr lang="en-US" altLang="en-IL" sz="2400" i="1" dirty="0">
              <a:ea typeface="ＭＳ Ｐゴシック" panose="020B0600070205080204" pitchFamily="34" charset="-128"/>
            </a:endParaRPr>
          </a:p>
          <a:p>
            <a:pPr>
              <a:lnSpc>
                <a:spcPct val="150000"/>
              </a:lnSpc>
            </a:pPr>
            <a:endParaRPr lang="en-US" sz="2400" u="sng"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grpSp>
        <p:nvGrpSpPr>
          <p:cNvPr id="6" name="Group 5">
            <a:extLst>
              <a:ext uri="{FF2B5EF4-FFF2-40B4-BE49-F238E27FC236}">
                <a16:creationId xmlns:a16="http://schemas.microsoft.com/office/drawing/2014/main" id="{2AA9152A-516A-A4A8-6B53-F741A0B0FE66}"/>
              </a:ext>
            </a:extLst>
          </p:cNvPr>
          <p:cNvGrpSpPr>
            <a:grpSpLocks/>
          </p:cNvGrpSpPr>
          <p:nvPr/>
        </p:nvGrpSpPr>
        <p:grpSpPr bwMode="auto">
          <a:xfrm>
            <a:off x="1820333" y="3379402"/>
            <a:ext cx="8229600" cy="1676400"/>
            <a:chOff x="381000" y="4572000"/>
            <a:chExt cx="8229600" cy="1676400"/>
          </a:xfrm>
        </p:grpSpPr>
        <p:sp>
          <p:nvSpPr>
            <p:cNvPr id="7" name="Rectangle 5">
              <a:extLst>
                <a:ext uri="{FF2B5EF4-FFF2-40B4-BE49-F238E27FC236}">
                  <a16:creationId xmlns:a16="http://schemas.microsoft.com/office/drawing/2014/main" id="{8FD84893-CFE8-50A1-1A99-2D6E68BB3007}"/>
                </a:ext>
              </a:extLst>
            </p:cNvPr>
            <p:cNvSpPr>
              <a:spLocks noChangeArrowheads="1"/>
            </p:cNvSpPr>
            <p:nvPr/>
          </p:nvSpPr>
          <p:spPr bwMode="auto">
            <a:xfrm>
              <a:off x="381000" y="4648200"/>
              <a:ext cx="4086225" cy="1562100"/>
            </a:xfrm>
            <a:prstGeom prst="rect">
              <a:avLst/>
            </a:prstGeom>
            <a:solidFill>
              <a:schemeClr val="accent1">
                <a:alpha val="50195"/>
              </a:schemeClr>
            </a:solidFill>
            <a:ln w="9525">
              <a:solidFill>
                <a:schemeClr val="tx1"/>
              </a:solidFill>
              <a:miter lim="800000"/>
              <a:headEnd/>
              <a:tailEnd/>
            </a:ln>
          </p:spPr>
          <p:txBody>
            <a:bodyPr wrap="none" anchor="ctr">
              <a:spAutoFit/>
            </a:bodyPr>
            <a:lstStyle>
              <a:lvl1pPr eaLnBrk="0" hangingPunct="0">
                <a:defRPr sz="2400">
                  <a:solidFill>
                    <a:schemeClr val="tx1"/>
                  </a:solidFill>
                  <a:latin typeface="Lucida Sans" panose="020B0602030504020204" pitchFamily="34" charset="77"/>
                  <a:ea typeface="ＭＳ Ｐゴシック" panose="020B0600070205080204" pitchFamily="34" charset="-128"/>
                </a:defRPr>
              </a:lvl1pPr>
              <a:lvl2pPr marL="742950" indent="-285750" eaLnBrk="0" hangingPunct="0">
                <a:defRPr sz="2400">
                  <a:solidFill>
                    <a:schemeClr val="tx1"/>
                  </a:solidFill>
                  <a:latin typeface="Lucida Sans" panose="020B0602030504020204" pitchFamily="34" charset="77"/>
                  <a:ea typeface="ＭＳ Ｐゴシック" panose="020B0600070205080204" pitchFamily="34" charset="-128"/>
                </a:defRPr>
              </a:lvl2pPr>
              <a:lvl3pPr marL="1143000" indent="-228600" eaLnBrk="0" hangingPunct="0">
                <a:defRPr sz="2400">
                  <a:solidFill>
                    <a:schemeClr val="tx1"/>
                  </a:solidFill>
                  <a:latin typeface="Lucida Sans" panose="020B0602030504020204" pitchFamily="34" charset="77"/>
                  <a:ea typeface="ＭＳ Ｐゴシック" panose="020B0600070205080204" pitchFamily="34" charset="-128"/>
                </a:defRPr>
              </a:lvl3pPr>
              <a:lvl4pPr marL="1600200" indent="-228600" eaLnBrk="0" hangingPunct="0">
                <a:defRPr sz="2400">
                  <a:solidFill>
                    <a:schemeClr val="tx1"/>
                  </a:solidFill>
                  <a:latin typeface="Lucida Sans" panose="020B0602030504020204" pitchFamily="34" charset="77"/>
                  <a:ea typeface="ＭＳ Ｐゴシック" panose="020B0600070205080204" pitchFamily="34" charset="-128"/>
                </a:defRPr>
              </a:lvl4pPr>
              <a:lvl5pPr marL="2057400" indent="-228600" eaLnBrk="0" hangingPunct="0">
                <a:defRPr sz="2400">
                  <a:solidFill>
                    <a:schemeClr val="tx1"/>
                  </a:solidFill>
                  <a:latin typeface="Lucida Sans" panose="020B0602030504020204"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9pPr>
            </a:lstStyle>
            <a:p>
              <a:pPr eaLnBrk="1" hangingPunct="1"/>
              <a:r>
                <a:rPr lang="en-US" altLang="en-IL" b="1" i="1" dirty="0">
                  <a:latin typeface="Arial" panose="020B0604020202020204" pitchFamily="34" charset="0"/>
                </a:rPr>
                <a:t>for example compressed </a:t>
              </a:r>
            </a:p>
            <a:p>
              <a:pPr eaLnBrk="1" hangingPunct="1"/>
              <a:r>
                <a:rPr lang="en-US" altLang="en-IL" b="1" i="1" dirty="0">
                  <a:latin typeface="Arial" panose="020B0604020202020204" pitchFamily="34" charset="0"/>
                </a:rPr>
                <a:t>and compression are both </a:t>
              </a:r>
            </a:p>
            <a:p>
              <a:pPr eaLnBrk="1" hangingPunct="1"/>
              <a:r>
                <a:rPr lang="en-US" altLang="en-IL" b="1" i="1" dirty="0">
                  <a:latin typeface="Arial" panose="020B0604020202020204" pitchFamily="34" charset="0"/>
                </a:rPr>
                <a:t>accepted as equivalent to </a:t>
              </a:r>
            </a:p>
            <a:p>
              <a:pPr eaLnBrk="1" hangingPunct="1"/>
              <a:r>
                <a:rPr lang="en-US" altLang="en-IL" b="1" i="1" dirty="0">
                  <a:latin typeface="Arial" panose="020B0604020202020204" pitchFamily="34" charset="0"/>
                </a:rPr>
                <a:t>compress</a:t>
              </a:r>
              <a:r>
                <a:rPr lang="en-US" altLang="en-IL" dirty="0">
                  <a:latin typeface="Arial" panose="020B0604020202020204" pitchFamily="34" charset="0"/>
                </a:rPr>
                <a:t>.</a:t>
              </a:r>
            </a:p>
          </p:txBody>
        </p:sp>
        <p:sp>
          <p:nvSpPr>
            <p:cNvPr id="8" name="Rectangle 6">
              <a:extLst>
                <a:ext uri="{FF2B5EF4-FFF2-40B4-BE49-F238E27FC236}">
                  <a16:creationId xmlns:a16="http://schemas.microsoft.com/office/drawing/2014/main" id="{270AF078-2BAF-DF92-7B3D-2F9991A6A69D}"/>
                </a:ext>
              </a:extLst>
            </p:cNvPr>
            <p:cNvSpPr>
              <a:spLocks noChangeArrowheads="1"/>
            </p:cNvSpPr>
            <p:nvPr/>
          </p:nvSpPr>
          <p:spPr bwMode="auto">
            <a:xfrm>
              <a:off x="5000625" y="4572000"/>
              <a:ext cx="3609975" cy="1676400"/>
            </a:xfrm>
            <a:prstGeom prst="rect">
              <a:avLst/>
            </a:prstGeom>
            <a:solidFill>
              <a:schemeClr val="accent1">
                <a:alpha val="50195"/>
              </a:schemeClr>
            </a:solidFill>
            <a:ln w="9525">
              <a:solidFill>
                <a:schemeClr val="tx1"/>
              </a:solidFill>
              <a:miter lim="800000"/>
              <a:headEnd/>
              <a:tailEnd/>
            </a:ln>
          </p:spPr>
          <p:txBody>
            <a:bodyPr wrap="none"/>
            <a:lstStyle>
              <a:lvl1pPr eaLnBrk="0" hangingPunct="0">
                <a:defRPr sz="2400">
                  <a:solidFill>
                    <a:schemeClr val="tx1"/>
                  </a:solidFill>
                  <a:latin typeface="Lucida Sans" panose="020B0602030504020204" pitchFamily="34" charset="77"/>
                  <a:ea typeface="ＭＳ Ｐゴシック" panose="020B0600070205080204" pitchFamily="34" charset="-128"/>
                </a:defRPr>
              </a:lvl1pPr>
              <a:lvl2pPr marL="742950" indent="-285750" eaLnBrk="0" hangingPunct="0">
                <a:defRPr sz="2400">
                  <a:solidFill>
                    <a:schemeClr val="tx1"/>
                  </a:solidFill>
                  <a:latin typeface="Lucida Sans" panose="020B0602030504020204" pitchFamily="34" charset="77"/>
                  <a:ea typeface="ＭＳ Ｐゴシック" panose="020B0600070205080204" pitchFamily="34" charset="-128"/>
                </a:defRPr>
              </a:lvl2pPr>
              <a:lvl3pPr marL="1143000" indent="-228600" eaLnBrk="0" hangingPunct="0">
                <a:defRPr sz="2400">
                  <a:solidFill>
                    <a:schemeClr val="tx1"/>
                  </a:solidFill>
                  <a:latin typeface="Lucida Sans" panose="020B0602030504020204" pitchFamily="34" charset="77"/>
                  <a:ea typeface="ＭＳ Ｐゴシック" panose="020B0600070205080204" pitchFamily="34" charset="-128"/>
                </a:defRPr>
              </a:lvl3pPr>
              <a:lvl4pPr marL="1600200" indent="-228600" eaLnBrk="0" hangingPunct="0">
                <a:defRPr sz="2400">
                  <a:solidFill>
                    <a:schemeClr val="tx1"/>
                  </a:solidFill>
                  <a:latin typeface="Lucida Sans" panose="020B0602030504020204" pitchFamily="34" charset="77"/>
                  <a:ea typeface="ＭＳ Ｐゴシック" panose="020B0600070205080204" pitchFamily="34" charset="-128"/>
                </a:defRPr>
              </a:lvl4pPr>
              <a:lvl5pPr marL="2057400" indent="-228600" eaLnBrk="0" hangingPunct="0">
                <a:defRPr sz="2400">
                  <a:solidFill>
                    <a:schemeClr val="tx1"/>
                  </a:solidFill>
                  <a:latin typeface="Lucida Sans" panose="020B0602030504020204"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9pPr>
            </a:lstStyle>
            <a:p>
              <a:pPr eaLnBrk="1" hangingPunct="1"/>
              <a:r>
                <a:rPr lang="en-US" altLang="en-IL">
                  <a:latin typeface="Arial" panose="020B0604020202020204" pitchFamily="34" charset="0"/>
                </a:rPr>
                <a:t>for exampl compress and</a:t>
              </a:r>
            </a:p>
            <a:p>
              <a:pPr eaLnBrk="1" hangingPunct="1"/>
              <a:r>
                <a:rPr lang="en-US" altLang="en-IL">
                  <a:latin typeface="Arial" panose="020B0604020202020204" pitchFamily="34" charset="0"/>
                </a:rPr>
                <a:t>compress ar both accept</a:t>
              </a:r>
            </a:p>
            <a:p>
              <a:pPr eaLnBrk="1" hangingPunct="1"/>
              <a:r>
                <a:rPr lang="en-US" altLang="en-IL">
                  <a:latin typeface="Arial" panose="020B0604020202020204" pitchFamily="34" charset="0"/>
                </a:rPr>
                <a:t>as equival to compress</a:t>
              </a:r>
            </a:p>
          </p:txBody>
        </p:sp>
        <p:sp>
          <p:nvSpPr>
            <p:cNvPr id="9" name="AutoShape 7">
              <a:extLst>
                <a:ext uri="{FF2B5EF4-FFF2-40B4-BE49-F238E27FC236}">
                  <a16:creationId xmlns:a16="http://schemas.microsoft.com/office/drawing/2014/main" id="{F85CB840-E4FD-EFA3-C323-058E5B3C418C}"/>
                </a:ext>
              </a:extLst>
            </p:cNvPr>
            <p:cNvSpPr>
              <a:spLocks noChangeArrowheads="1"/>
            </p:cNvSpPr>
            <p:nvPr/>
          </p:nvSpPr>
          <p:spPr bwMode="auto">
            <a:xfrm>
              <a:off x="4572000" y="5181600"/>
              <a:ext cx="304800" cy="485775"/>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77"/>
                  <a:ea typeface="ＭＳ Ｐゴシック" panose="020B0600070205080204" pitchFamily="34" charset="-128"/>
                </a:defRPr>
              </a:lvl1pPr>
              <a:lvl2pPr marL="742950" indent="-285750" eaLnBrk="0" hangingPunct="0">
                <a:defRPr sz="2400">
                  <a:solidFill>
                    <a:schemeClr val="tx1"/>
                  </a:solidFill>
                  <a:latin typeface="Lucida Sans" panose="020B0602030504020204" pitchFamily="34" charset="77"/>
                  <a:ea typeface="ＭＳ Ｐゴシック" panose="020B0600070205080204" pitchFamily="34" charset="-128"/>
                </a:defRPr>
              </a:lvl2pPr>
              <a:lvl3pPr marL="1143000" indent="-228600" eaLnBrk="0" hangingPunct="0">
                <a:defRPr sz="2400">
                  <a:solidFill>
                    <a:schemeClr val="tx1"/>
                  </a:solidFill>
                  <a:latin typeface="Lucida Sans" panose="020B0602030504020204" pitchFamily="34" charset="77"/>
                  <a:ea typeface="ＭＳ Ｐゴシック" panose="020B0600070205080204" pitchFamily="34" charset="-128"/>
                </a:defRPr>
              </a:lvl3pPr>
              <a:lvl4pPr marL="1600200" indent="-228600" eaLnBrk="0" hangingPunct="0">
                <a:defRPr sz="2400">
                  <a:solidFill>
                    <a:schemeClr val="tx1"/>
                  </a:solidFill>
                  <a:latin typeface="Lucida Sans" panose="020B0602030504020204" pitchFamily="34" charset="77"/>
                  <a:ea typeface="ＭＳ Ｐゴシック" panose="020B0600070205080204" pitchFamily="34" charset="-128"/>
                </a:defRPr>
              </a:lvl4pPr>
              <a:lvl5pPr marL="2057400" indent="-228600" eaLnBrk="0" hangingPunct="0">
                <a:defRPr sz="2400">
                  <a:solidFill>
                    <a:schemeClr val="tx1"/>
                  </a:solidFill>
                  <a:latin typeface="Lucida Sans" panose="020B0602030504020204" pitchFamily="34" charset="77"/>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77"/>
                  <a:ea typeface="ＭＳ Ｐゴシック" panose="020B0600070205080204" pitchFamily="34" charset="-128"/>
                </a:defRPr>
              </a:lvl9pPr>
            </a:lstStyle>
            <a:p>
              <a:pPr eaLnBrk="1" hangingPunct="1"/>
              <a:endParaRPr lang="en-IL" altLang="en-IL"/>
            </a:p>
          </p:txBody>
        </p:sp>
      </p:grpSp>
    </p:spTree>
    <p:extLst>
      <p:ext uri="{BB962C8B-B14F-4D97-AF65-F5344CB8AC3E}">
        <p14:creationId xmlns:p14="http://schemas.microsoft.com/office/powerpoint/2010/main" val="50392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2: Tokenizing and Stemming </a:t>
            </a:r>
          </a:p>
          <a:p>
            <a:pPr marL="342900" indent="-342900">
              <a:lnSpc>
                <a:spcPct val="150000"/>
              </a:lnSpc>
              <a:buFontTx/>
              <a:buChar char="-"/>
            </a:pPr>
            <a:r>
              <a:rPr lang="en-US" altLang="en-IL" sz="2400" dirty="0">
                <a:ea typeface="ＭＳ Ｐゴシック" panose="020B0600070205080204" pitchFamily="34" charset="-128"/>
              </a:rPr>
              <a:t>Do we need to implement it from scratch? </a:t>
            </a:r>
          </a:p>
          <a:p>
            <a:pPr marL="342900" indent="-342900">
              <a:lnSpc>
                <a:spcPct val="150000"/>
              </a:lnSpc>
              <a:buFontTx/>
              <a:buChar char="-"/>
            </a:pPr>
            <a:r>
              <a:rPr lang="en-US" altLang="en-IL" sz="2400" dirty="0">
                <a:ea typeface="ＭＳ Ｐゴシック" panose="020B0600070205080204" pitchFamily="34" charset="-128"/>
              </a:rPr>
              <a:t>How many stop words are exists? </a:t>
            </a:r>
          </a:p>
          <a:p>
            <a:pPr marL="342900" indent="-342900">
              <a:lnSpc>
                <a:spcPct val="150000"/>
              </a:lnSpc>
              <a:buFontTx/>
              <a:buChar char="-"/>
            </a:pPr>
            <a:r>
              <a:rPr lang="en-US" altLang="en-IL" sz="2400" dirty="0">
                <a:ea typeface="ＭＳ Ｐゴシック" panose="020B0600070205080204" pitchFamily="34" charset="-128"/>
              </a:rPr>
              <a:t>Tokenizing is easy (split), but stemming become more challenging</a:t>
            </a:r>
          </a:p>
          <a:p>
            <a:pPr>
              <a:lnSpc>
                <a:spcPct val="150000"/>
              </a:lnSpc>
            </a:pPr>
            <a:endParaRPr lang="en-US" altLang="en-IL" sz="2400" dirty="0">
              <a:ea typeface="ＭＳ Ｐゴシック" panose="020B0600070205080204" pitchFamily="34" charset="-128"/>
            </a:endParaRPr>
          </a:p>
          <a:p>
            <a:pPr>
              <a:lnSpc>
                <a:spcPct val="150000"/>
              </a:lnSpc>
            </a:pPr>
            <a:r>
              <a:rPr lang="en-US" altLang="en-IL" sz="2400" b="1" dirty="0">
                <a:ea typeface="ＭＳ Ｐゴシック" panose="020B0600070205080204" pitchFamily="34" charset="-128"/>
              </a:rPr>
              <a:t>The solution</a:t>
            </a:r>
            <a:r>
              <a:rPr lang="en-US" altLang="en-IL" sz="2400" dirty="0">
                <a:ea typeface="ＭＳ Ｐゴシック" panose="020B0600070205080204" pitchFamily="34" charset="-128"/>
              </a:rPr>
              <a:t>: NLTK – Natural Language </a:t>
            </a:r>
            <a:r>
              <a:rPr lang="en-US" altLang="en-IL" sz="2400" dirty="0" err="1">
                <a:ea typeface="ＭＳ Ｐゴシック" panose="020B0600070205080204" pitchFamily="34" charset="-128"/>
              </a:rPr>
              <a:t>ToolKit</a:t>
            </a:r>
            <a:r>
              <a:rPr lang="en-US" altLang="en-IL" sz="2400" dirty="0">
                <a:ea typeface="ＭＳ Ｐゴシック" panose="020B0600070205080204" pitchFamily="34" charset="-128"/>
              </a:rPr>
              <a:t> for Python</a:t>
            </a:r>
          </a:p>
          <a:p>
            <a:pPr>
              <a:lnSpc>
                <a:spcPct val="150000"/>
              </a:lnSpc>
            </a:pPr>
            <a:endParaRPr lang="en-US" altLang="en-IL" sz="2400" i="1" dirty="0">
              <a:ea typeface="ＭＳ Ｐゴシック" panose="020B0600070205080204" pitchFamily="34" charset="-128"/>
            </a:endParaRP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205504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76203"/>
            <a:ext cx="11616266" cy="6485754"/>
          </a:xfrm>
        </p:spPr>
        <p:txBody>
          <a:bodyPr>
            <a:normAutofit/>
          </a:bodyPr>
          <a:lstStyle/>
          <a:p>
            <a:pPr algn="ctr">
              <a:lnSpc>
                <a:spcPct val="150000"/>
              </a:lnSpc>
            </a:pPr>
            <a:r>
              <a:rPr lang="en-US" sz="3200" b="1" dirty="0"/>
              <a:t>Step 3: TF-IDF</a:t>
            </a:r>
          </a:p>
          <a:p>
            <a:pPr>
              <a:lnSpc>
                <a:spcPct val="150000"/>
              </a:lnSpc>
            </a:pPr>
            <a:r>
              <a:rPr lang="en-US" sz="2400" b="1" dirty="0"/>
              <a:t>TF-IDF (term frequency-inverse document frequency)</a:t>
            </a:r>
            <a:r>
              <a:rPr lang="en-US" sz="2400" dirty="0"/>
              <a:t> is a statistical measure that evaluates how relevant a word is to a document in a collection of documents.</a:t>
            </a:r>
          </a:p>
          <a:p>
            <a:pPr>
              <a:lnSpc>
                <a:spcPct val="150000"/>
              </a:lnSpc>
            </a:pPr>
            <a:r>
              <a:rPr lang="en-US" sz="2400" dirty="0"/>
              <a:t>Dome by multiplying two metrics: </a:t>
            </a:r>
          </a:p>
          <a:p>
            <a:pPr marL="457200" indent="-457200">
              <a:lnSpc>
                <a:spcPct val="150000"/>
              </a:lnSpc>
              <a:buAutoNum type="arabicPeriod"/>
            </a:pPr>
            <a:r>
              <a:rPr lang="en-US" sz="2400" dirty="0"/>
              <a:t>how many times a word appears in a document</a:t>
            </a:r>
          </a:p>
          <a:p>
            <a:pPr marL="457200" indent="-457200">
              <a:lnSpc>
                <a:spcPct val="150000"/>
              </a:lnSpc>
              <a:buAutoNum type="arabicPeriod"/>
            </a:pPr>
            <a:r>
              <a:rPr lang="en-US" sz="2400" dirty="0"/>
              <a:t>The inverse document frequency of the word across a set of documents.</a:t>
            </a:r>
          </a:p>
          <a:p>
            <a:pPr>
              <a:lnSpc>
                <a:spcPct val="150000"/>
              </a:lnSpc>
            </a:pPr>
            <a:endParaRPr lang="en-US" sz="2400" b="1"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597504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76203"/>
                <a:ext cx="11616266" cy="6485754"/>
              </a:xfrm>
            </p:spPr>
            <p:txBody>
              <a:bodyPr>
                <a:normAutofit/>
              </a:bodyPr>
              <a:lstStyle/>
              <a:p>
                <a:pPr algn="ctr">
                  <a:lnSpc>
                    <a:spcPct val="150000"/>
                  </a:lnSpc>
                </a:pPr>
                <a:r>
                  <a:rPr lang="en-US" sz="3200" b="1" dirty="0"/>
                  <a:t>Terminology</a:t>
                </a:r>
              </a:p>
              <a:p>
                <a:pPr>
                  <a:lnSpc>
                    <a:spcPct val="150000"/>
                  </a:lnSpc>
                </a:pPr>
                <a:endParaRPr lang="he-IL" sz="2400" dirty="0"/>
              </a:p>
              <a:p>
                <a:pPr>
                  <a:lnSpc>
                    <a:spcPct val="150000"/>
                  </a:lnSpc>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𝑇𝐹</m:t>
                      </m:r>
                      <m:d>
                        <m:dPr>
                          <m:ctrlPr>
                            <a:rPr lang="en-US" sz="2400" b="0" i="1" smtClean="0">
                              <a:latin typeface="Cambria Math" panose="02040503050406030204" pitchFamily="18" charset="0"/>
                            </a:rPr>
                          </m:ctrlPr>
                        </m:dPr>
                        <m:e>
                          <m:r>
                            <a:rPr lang="en-US" sz="2400" b="0" i="1" smtClean="0">
                              <a:solidFill>
                                <a:srgbClr val="C00000"/>
                              </a:solidFill>
                              <a:latin typeface="Cambria Math" panose="02040503050406030204" pitchFamily="18" charset="0"/>
                            </a:rPr>
                            <m:t>𝑡</m:t>
                          </m:r>
                          <m:r>
                            <a:rPr lang="en-US" sz="2400" b="0" i="1" smtClean="0">
                              <a:latin typeface="Cambria Math" panose="02040503050406030204" pitchFamily="18" charset="0"/>
                            </a:rPr>
                            <m:t>,</m:t>
                          </m:r>
                          <m:r>
                            <a:rPr lang="en-US" sz="2400" b="0" i="1" smtClean="0">
                              <a:solidFill>
                                <a:schemeClr val="accent1"/>
                              </a:solidFill>
                              <a:latin typeface="Cambria Math" panose="02040503050406030204" pitchFamily="18" charset="0"/>
                            </a:rPr>
                            <m:t>𝑑</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𝑐𝑜𝑢𝑛𝑡</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i="1">
                              <a:solidFill>
                                <a:srgbClr val="C00000"/>
                              </a:solidFill>
                              <a:latin typeface="Cambria Math" panose="02040503050406030204" pitchFamily="18" charset="0"/>
                            </a:rPr>
                            <m:t>𝑡</m:t>
                          </m:r>
                          <m:r>
                            <a:rPr lang="en-US" sz="2400" b="0" i="1" smtClean="0">
                              <a:solidFill>
                                <a:srgbClr val="C00000"/>
                              </a:solidFill>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i="1">
                              <a:solidFill>
                                <a:schemeClr val="accent1"/>
                              </a:solidFill>
                              <a:latin typeface="Cambria Math" panose="02040503050406030204" pitchFamily="18" charset="0"/>
                            </a:rPr>
                            <m:t>𝑑</m:t>
                          </m:r>
                        </m:num>
                        <m:den>
                          <m:r>
                            <a:rPr lang="en-US" sz="2400" b="0" i="1" smtClean="0">
                              <a:latin typeface="Cambria Math" panose="02040503050406030204" pitchFamily="18" charset="0"/>
                            </a:rPr>
                            <m:t>𝑛𝑢𝑚𝑏𝑒𝑟</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𝑤𝑜𝑟𝑑𝑠</m:t>
                          </m:r>
                          <m:r>
                            <a:rPr lang="en-US" sz="2400" b="0" i="1" smtClean="0">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i="1">
                              <a:solidFill>
                                <a:schemeClr val="accent1"/>
                              </a:solidFill>
                              <a:latin typeface="Cambria Math" panose="02040503050406030204" pitchFamily="18" charset="0"/>
                            </a:rPr>
                            <m:t>𝑑</m:t>
                          </m:r>
                        </m:den>
                      </m:f>
                    </m:oMath>
                  </m:oMathPara>
                </a14:m>
                <a:endParaRPr lang="en-US" sz="2400" dirty="0"/>
              </a:p>
              <a:p>
                <a:pPr>
                  <a:lnSpc>
                    <a:spcPct val="150000"/>
                  </a:lnSpc>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𝐷𝐹</m:t>
                      </m:r>
                      <m:d>
                        <m:dPr>
                          <m:ctrlPr>
                            <a:rPr lang="en-US" sz="2400" i="1">
                              <a:latin typeface="Cambria Math" panose="02040503050406030204" pitchFamily="18" charset="0"/>
                            </a:rPr>
                          </m:ctrlPr>
                        </m:dPr>
                        <m:e>
                          <m:r>
                            <a:rPr lang="en-US" sz="2400" i="1">
                              <a:solidFill>
                                <a:srgbClr val="C00000"/>
                              </a:solidFill>
                              <a:latin typeface="Cambria Math" panose="02040503050406030204" pitchFamily="18" charset="0"/>
                            </a:rPr>
                            <m:t>𝑡</m:t>
                          </m:r>
                        </m:e>
                      </m:d>
                      <m:r>
                        <a:rPr lang="en-US" sz="2400" i="1">
                          <a:latin typeface="Cambria Math" panose="02040503050406030204" pitchFamily="18" charset="0"/>
                        </a:rPr>
                        <m:t>=</m:t>
                      </m:r>
                      <m:r>
                        <a:rPr lang="en-US" sz="2400" b="0" i="1" smtClean="0">
                          <a:latin typeface="Cambria Math" panose="02040503050406030204" pitchFamily="18" charset="0"/>
                        </a:rPr>
                        <m:t>𝑜𝑐𝑐𝑢𝑟𝑟𝑒𝑛𝑐𝑒</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solidFill>
                            <a:srgbClr val="C00000"/>
                          </a:solidFill>
                          <a:latin typeface="Cambria Math" panose="02040503050406030204" pitchFamily="18" charset="0"/>
                        </a:rPr>
                        <m:t>𝑡</m:t>
                      </m:r>
                      <m:r>
                        <a:rPr lang="en-US" sz="2400" b="0" i="1" smtClean="0">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b="0" i="1" smtClean="0">
                          <a:latin typeface="Cambria Math" panose="02040503050406030204" pitchFamily="18" charset="0"/>
                        </a:rPr>
                        <m:t>𝑁</m:t>
                      </m:r>
                      <m:r>
                        <a:rPr lang="en-US" sz="2400" b="0" i="1" smtClean="0">
                          <a:latin typeface="Cambria Math" panose="02040503050406030204" pitchFamily="18" charset="0"/>
                        </a:rPr>
                        <m:t> </m:t>
                      </m:r>
                      <m:r>
                        <a:rPr lang="en-US" sz="2400" b="0" i="1" smtClean="0">
                          <a:latin typeface="Cambria Math" panose="02040503050406030204" pitchFamily="18" charset="0"/>
                        </a:rPr>
                        <m:t>𝑑𝑜𝑐𝑢𝑚𝑒𝑛𝑡𝑠</m:t>
                      </m:r>
                    </m:oMath>
                  </m:oMathPara>
                </a14:m>
                <a:endParaRPr lang="en-US" sz="2400" dirty="0"/>
              </a:p>
              <a:p>
                <a:pPr>
                  <a:lnSpc>
                    <a:spcPct val="150000"/>
                  </a:lnSpc>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𝐼</m:t>
                      </m:r>
                      <m:r>
                        <a:rPr lang="en-US" sz="2400" i="1">
                          <a:latin typeface="Cambria Math" panose="02040503050406030204" pitchFamily="18" charset="0"/>
                        </a:rPr>
                        <m:t>𝐷𝐹</m:t>
                      </m:r>
                      <m:d>
                        <m:dPr>
                          <m:ctrlPr>
                            <a:rPr lang="en-US" sz="2400" i="1">
                              <a:latin typeface="Cambria Math" panose="02040503050406030204" pitchFamily="18" charset="0"/>
                            </a:rPr>
                          </m:ctrlPr>
                        </m:dPr>
                        <m:e>
                          <m:r>
                            <a:rPr lang="en-US" sz="2400" i="1">
                              <a:solidFill>
                                <a:srgbClr val="C00000"/>
                              </a:solidFill>
                              <a:latin typeface="Cambria Math" panose="02040503050406030204" pitchFamily="18" charset="0"/>
                            </a:rPr>
                            <m:t>𝑡</m:t>
                          </m:r>
                        </m:e>
                      </m:d>
                      <m:r>
                        <a:rPr lang="en-US" sz="2400" i="1">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𝑁</m:t>
                                  </m:r>
                                </m:num>
                                <m:den>
                                  <m:r>
                                    <a:rPr lang="en-US" sz="2400" i="1">
                                      <a:latin typeface="Cambria Math" panose="02040503050406030204" pitchFamily="18" charset="0"/>
                                    </a:rPr>
                                    <m:t>𝐷𝐹</m:t>
                                  </m:r>
                                  <m:d>
                                    <m:dPr>
                                      <m:ctrlPr>
                                        <a:rPr lang="en-US" sz="2400" i="1">
                                          <a:latin typeface="Cambria Math" panose="02040503050406030204" pitchFamily="18" charset="0"/>
                                        </a:rPr>
                                      </m:ctrlPr>
                                    </m:dPr>
                                    <m:e>
                                      <m:r>
                                        <a:rPr lang="en-US" sz="2400" i="1">
                                          <a:solidFill>
                                            <a:srgbClr val="C00000"/>
                                          </a:solidFill>
                                          <a:latin typeface="Cambria Math" panose="02040503050406030204" pitchFamily="18" charset="0"/>
                                        </a:rPr>
                                        <m:t>𝑡</m:t>
                                      </m:r>
                                    </m:e>
                                  </m:d>
                                </m:den>
                              </m:f>
                            </m:e>
                          </m:d>
                        </m:e>
                      </m:func>
                    </m:oMath>
                  </m:oMathPara>
                </a14:m>
                <a:endParaRPr lang="en-US" sz="240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𝑇𝐹</m:t>
                      </m:r>
                      <m:r>
                        <a:rPr lang="en-US" b="0" i="1" smtClean="0">
                          <a:latin typeface="Cambria Math" panose="02040503050406030204" pitchFamily="18" charset="0"/>
                        </a:rPr>
                        <m:t>−</m:t>
                      </m:r>
                      <m:r>
                        <a:rPr lang="en-US" b="0" i="1" smtClean="0">
                          <a:latin typeface="Cambria Math" panose="02040503050406030204" pitchFamily="18" charset="0"/>
                        </a:rPr>
                        <m:t>𝐼𝐷𝐹</m:t>
                      </m:r>
                      <m:d>
                        <m:dPr>
                          <m:ctrlPr>
                            <a:rPr lang="en-US" i="1" smtClean="0">
                              <a:latin typeface="Cambria Math" panose="02040503050406030204" pitchFamily="18" charset="0"/>
                            </a:rPr>
                          </m:ctrlPr>
                        </m:dPr>
                        <m:e>
                          <m:r>
                            <a:rPr lang="en-US" i="1">
                              <a:solidFill>
                                <a:srgbClr val="C00000"/>
                              </a:solidFill>
                              <a:latin typeface="Cambria Math" panose="02040503050406030204" pitchFamily="18" charset="0"/>
                            </a:rPr>
                            <m:t>𝑡</m:t>
                          </m:r>
                          <m:r>
                            <a:rPr lang="en-US" i="1">
                              <a:latin typeface="Cambria Math" panose="02040503050406030204" pitchFamily="18" charset="0"/>
                            </a:rPr>
                            <m:t>,</m:t>
                          </m:r>
                          <m:r>
                            <a:rPr lang="en-US" i="1">
                              <a:solidFill>
                                <a:schemeClr val="accent1"/>
                              </a:solidFill>
                              <a:latin typeface="Cambria Math" panose="02040503050406030204" pitchFamily="18" charset="0"/>
                            </a:rPr>
                            <m:t>𝑑</m:t>
                          </m:r>
                        </m:e>
                      </m:d>
                      <m:r>
                        <a:rPr lang="en-US" b="0" i="1" smtClean="0">
                          <a:solidFill>
                            <a:schemeClr val="tx1"/>
                          </a:solidFill>
                          <a:latin typeface="Cambria Math" panose="02040503050406030204" pitchFamily="18" charset="0"/>
                        </a:rPr>
                        <m:t>=</m:t>
                      </m:r>
                      <m:r>
                        <a:rPr lang="en-US" i="1">
                          <a:latin typeface="Cambria Math" panose="02040503050406030204" pitchFamily="18" charset="0"/>
                        </a:rPr>
                        <m:t>𝑇𝐹</m:t>
                      </m:r>
                      <m:d>
                        <m:dPr>
                          <m:ctrlPr>
                            <a:rPr lang="en-US" i="1">
                              <a:latin typeface="Cambria Math" panose="02040503050406030204" pitchFamily="18" charset="0"/>
                            </a:rPr>
                          </m:ctrlPr>
                        </m:dPr>
                        <m:e>
                          <m:r>
                            <a:rPr lang="en-US" i="1">
                              <a:solidFill>
                                <a:srgbClr val="C00000"/>
                              </a:solidFill>
                              <a:latin typeface="Cambria Math" panose="02040503050406030204" pitchFamily="18" charset="0"/>
                            </a:rPr>
                            <m:t>𝑡</m:t>
                          </m:r>
                          <m:r>
                            <a:rPr lang="en-US" i="1">
                              <a:latin typeface="Cambria Math" panose="02040503050406030204" pitchFamily="18" charset="0"/>
                            </a:rPr>
                            <m:t>,</m:t>
                          </m:r>
                          <m:r>
                            <a:rPr lang="en-US" i="1">
                              <a:solidFill>
                                <a:schemeClr val="accent1"/>
                              </a:solidFill>
                              <a:latin typeface="Cambria Math" panose="02040503050406030204" pitchFamily="18" charset="0"/>
                            </a:rPr>
                            <m:t>𝑑</m:t>
                          </m:r>
                        </m:e>
                      </m:d>
                      <m:r>
                        <a:rPr lang="en-US" b="0" i="1" smtClean="0">
                          <a:solidFill>
                            <a:schemeClr val="tx1"/>
                          </a:solidFill>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𝐷𝐹</m:t>
                                  </m:r>
                                  <m:d>
                                    <m:dPr>
                                      <m:ctrlPr>
                                        <a:rPr lang="en-US" i="1">
                                          <a:latin typeface="Cambria Math" panose="02040503050406030204" pitchFamily="18" charset="0"/>
                                        </a:rPr>
                                      </m:ctrlPr>
                                    </m:dPr>
                                    <m:e>
                                      <m:r>
                                        <a:rPr lang="en-US" i="1">
                                          <a:solidFill>
                                            <a:srgbClr val="C00000"/>
                                          </a:solidFill>
                                          <a:latin typeface="Cambria Math" panose="02040503050406030204" pitchFamily="18" charset="0"/>
                                        </a:rPr>
                                        <m:t>𝑡</m:t>
                                      </m:r>
                                    </m:e>
                                  </m:d>
                                </m:den>
                              </m:f>
                            </m:e>
                          </m:d>
                        </m:e>
                      </m:func>
                    </m:oMath>
                  </m:oMathPara>
                </a14:m>
                <a:endParaRPr lang="en-US" dirty="0"/>
              </a:p>
            </p:txBody>
          </p:sp>
        </mc:Choice>
        <mc:Fallback xmlns="">
          <p:sp>
            <p:nvSpPr>
              <p:cNvPr id="2" name="Content Placeholder 1">
                <a:extLst>
                  <a:ext uri="{FF2B5EF4-FFF2-40B4-BE49-F238E27FC236}">
                    <a16:creationId xmlns:a16="http://schemas.microsoft.com/office/drawing/2014/main" id="{C1924E95-B662-476B-8747-32147EFC68ED}"/>
                  </a:ext>
                </a:extLst>
              </p:cNvPr>
              <p:cNvSpPr>
                <a:spLocks noGrp="1" noRot="1" noChangeAspect="1" noMove="1" noResize="1" noEditPoints="1" noAdjustHandles="1" noChangeArrowheads="1" noChangeShapeType="1" noTextEdit="1"/>
              </p:cNvSpPr>
              <p:nvPr>
                <p:ph idx="1"/>
              </p:nvPr>
            </p:nvSpPr>
            <p:spPr>
              <a:xfrm>
                <a:off x="220134" y="76203"/>
                <a:ext cx="11616266" cy="6485754"/>
              </a:xfrm>
              <a:blipFill>
                <a:blip r:embed="rId3"/>
                <a:stretch>
                  <a:fillRect l="-873"/>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Rectangle 5">
            <a:extLst>
              <a:ext uri="{FF2B5EF4-FFF2-40B4-BE49-F238E27FC236}">
                <a16:creationId xmlns:a16="http://schemas.microsoft.com/office/drawing/2014/main" id="{D01AF71A-D60A-534C-954F-D0FBFC2BD5B4}"/>
              </a:ext>
            </a:extLst>
          </p:cNvPr>
          <p:cNvSpPr/>
          <p:nvPr/>
        </p:nvSpPr>
        <p:spPr>
          <a:xfrm>
            <a:off x="1794934" y="921436"/>
            <a:ext cx="11159066" cy="461665"/>
          </a:xfrm>
          <a:prstGeom prst="rect">
            <a:avLst/>
          </a:prstGeom>
        </p:spPr>
        <p:txBody>
          <a:bodyPr wrap="square">
            <a:spAutoFit/>
          </a:bodyPr>
          <a:lstStyle/>
          <a:p>
            <a:r>
              <a:rPr lang="en-US" sz="2400" b="1" dirty="0"/>
              <a:t>TF-IDF = Term Frequency (TF) * Inverse Document Frequency (IDF)</a:t>
            </a:r>
            <a:endParaRPr lang="en-IL" sz="2400" b="1" dirty="0"/>
          </a:p>
        </p:txBody>
      </p:sp>
    </p:spTree>
    <p:extLst>
      <p:ext uri="{BB962C8B-B14F-4D97-AF65-F5344CB8AC3E}">
        <p14:creationId xmlns:p14="http://schemas.microsoft.com/office/powerpoint/2010/main" val="2599800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235721"/>
            <a:ext cx="11616266" cy="6485754"/>
          </a:xfrm>
        </p:spPr>
        <p:txBody>
          <a:bodyPr>
            <a:normAutofit/>
          </a:bodyPr>
          <a:lstStyle/>
          <a:p>
            <a:pPr algn="ctr">
              <a:lnSpc>
                <a:spcPct val="150000"/>
              </a:lnSpc>
            </a:pPr>
            <a:r>
              <a:rPr lang="en-US" sz="3200" b="1" dirty="0"/>
              <a:t>Example</a:t>
            </a:r>
          </a:p>
          <a:p>
            <a:pPr>
              <a:lnSpc>
                <a:spcPct val="150000"/>
              </a:lnSpc>
            </a:pPr>
            <a:endParaRPr lang="en-US" sz="2400" b="1" u="sng" dirty="0"/>
          </a:p>
          <a:p>
            <a:pPr>
              <a:lnSpc>
                <a:spcPct val="150000"/>
              </a:lnSpc>
            </a:pPr>
            <a:endParaRPr lang="en-US" sz="2400" b="1" u="sng" dirty="0"/>
          </a:p>
          <a:p>
            <a:pPr>
              <a:lnSpc>
                <a:spcPct val="150000"/>
              </a:lnSpc>
            </a:pPr>
            <a:endParaRPr lang="en-US" sz="2400" b="1" u="sng" dirty="0"/>
          </a:p>
          <a:p>
            <a:pPr>
              <a:lnSpc>
                <a:spcPct val="150000"/>
              </a:lnSpc>
            </a:pPr>
            <a:endParaRPr lang="en-US" sz="2400" b="1" u="sng" dirty="0"/>
          </a:p>
          <a:p>
            <a:pPr>
              <a:lnSpc>
                <a:spcPct val="150000"/>
              </a:lnSpc>
            </a:pPr>
            <a:endParaRPr lang="en-US" sz="2400" b="1" u="sng" dirty="0"/>
          </a:p>
          <a:p>
            <a:pPr marL="342900" indent="-342900">
              <a:lnSpc>
                <a:spcPct val="150000"/>
              </a:lnSpc>
              <a:buFontTx/>
              <a:buChar char="-"/>
            </a:pPr>
            <a:r>
              <a:rPr lang="en-US" sz="2400" dirty="0"/>
              <a:t>“it”, “is”, “rain” important for doc1 but not for docs 2 and 3.</a:t>
            </a:r>
          </a:p>
          <a:p>
            <a:pPr marL="342900" indent="-342900">
              <a:lnSpc>
                <a:spcPct val="150000"/>
              </a:lnSpc>
              <a:buFontTx/>
              <a:buChar char="-"/>
            </a:pPr>
            <a:r>
              <a:rPr lang="en-US" sz="2400" dirty="0"/>
              <a:t>Docs 1 and 2 talks about </a:t>
            </a:r>
            <a:r>
              <a:rPr lang="en-US" sz="2400" u="sng" dirty="0"/>
              <a:t>today</a:t>
            </a:r>
          </a:p>
          <a:p>
            <a:pPr>
              <a:lnSpc>
                <a:spcPct val="150000"/>
              </a:lnSpc>
            </a:pPr>
            <a:endParaRPr lang="en-US" sz="2400" b="1"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75F8F2BA-E99F-F84B-9D9C-1835626CAFC0}"/>
                  </a:ext>
                </a:extLst>
              </p:cNvPr>
              <p:cNvGraphicFramePr>
                <a:graphicFrameLocks noGrp="1"/>
              </p:cNvGraphicFramePr>
              <p:nvPr/>
            </p:nvGraphicFramePr>
            <p:xfrm>
              <a:off x="499533" y="1981345"/>
              <a:ext cx="10600266" cy="2076592"/>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3237974615"/>
                        </a:ext>
                      </a:extLst>
                    </a:gridCol>
                    <a:gridCol w="1134534">
                      <a:extLst>
                        <a:ext uri="{9D8B030D-6E8A-4147-A177-3AD203B41FA5}">
                          <a16:colId xmlns:a16="http://schemas.microsoft.com/office/drawing/2014/main" val="177290292"/>
                        </a:ext>
                      </a:extLst>
                    </a:gridCol>
                    <a:gridCol w="1219200">
                      <a:extLst>
                        <a:ext uri="{9D8B030D-6E8A-4147-A177-3AD203B41FA5}">
                          <a16:colId xmlns:a16="http://schemas.microsoft.com/office/drawing/2014/main" val="1851888588"/>
                        </a:ext>
                      </a:extLst>
                    </a:gridCol>
                    <a:gridCol w="1371600">
                      <a:extLst>
                        <a:ext uri="{9D8B030D-6E8A-4147-A177-3AD203B41FA5}">
                          <a16:colId xmlns:a16="http://schemas.microsoft.com/office/drawing/2014/main" val="3218848225"/>
                        </a:ext>
                      </a:extLst>
                    </a:gridCol>
                    <a:gridCol w="999066">
                      <a:extLst>
                        <a:ext uri="{9D8B030D-6E8A-4147-A177-3AD203B41FA5}">
                          <a16:colId xmlns:a16="http://schemas.microsoft.com/office/drawing/2014/main" val="2348693567"/>
                        </a:ext>
                      </a:extLst>
                    </a:gridCol>
                    <a:gridCol w="1143000">
                      <a:extLst>
                        <a:ext uri="{9D8B030D-6E8A-4147-A177-3AD203B41FA5}">
                          <a16:colId xmlns:a16="http://schemas.microsoft.com/office/drawing/2014/main" val="1029001585"/>
                        </a:ext>
                      </a:extLst>
                    </a:gridCol>
                    <a:gridCol w="1286934">
                      <a:extLst>
                        <a:ext uri="{9D8B030D-6E8A-4147-A177-3AD203B41FA5}">
                          <a16:colId xmlns:a16="http://schemas.microsoft.com/office/drawing/2014/main" val="1355769175"/>
                        </a:ext>
                      </a:extLst>
                    </a:gridCol>
                    <a:gridCol w="1007533">
                      <a:extLst>
                        <a:ext uri="{9D8B030D-6E8A-4147-A177-3AD203B41FA5}">
                          <a16:colId xmlns:a16="http://schemas.microsoft.com/office/drawing/2014/main" val="3089657302"/>
                        </a:ext>
                      </a:extLst>
                    </a:gridCol>
                    <a:gridCol w="1295399">
                      <a:extLst>
                        <a:ext uri="{9D8B030D-6E8A-4147-A177-3AD203B41FA5}">
                          <a16:colId xmlns:a16="http://schemas.microsoft.com/office/drawing/2014/main" val="2535950315"/>
                        </a:ext>
                      </a:extLst>
                    </a:gridCol>
                  </a:tblGrid>
                  <a:tr h="404502">
                    <a:tc>
                      <a:txBody>
                        <a:bodyPr/>
                        <a:lstStyle/>
                        <a:p>
                          <a:pPr algn="ctr"/>
                          <a:endParaRPr lang="en-IL" dirty="0"/>
                        </a:p>
                      </a:txBody>
                      <a:tcPr/>
                    </a:tc>
                    <a:tc>
                      <a:txBody>
                        <a:bodyPr/>
                        <a:lstStyle/>
                        <a:p>
                          <a:pPr algn="ctr"/>
                          <a:r>
                            <a:rPr lang="en-IL" dirty="0"/>
                            <a:t>going</a:t>
                          </a:r>
                        </a:p>
                      </a:txBody>
                      <a:tcPr/>
                    </a:tc>
                    <a:tc>
                      <a:txBody>
                        <a:bodyPr/>
                        <a:lstStyle/>
                        <a:p>
                          <a:pPr algn="ctr"/>
                          <a:r>
                            <a:rPr lang="en-IL" dirty="0"/>
                            <a:t>to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today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i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am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it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is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rain </a:t>
                          </a:r>
                        </a:p>
                      </a:txBody>
                      <a:tcPr/>
                    </a:tc>
                    <a:extLst>
                      <a:ext uri="{0D108BD9-81ED-4DB2-BD59-A6C34878D82A}">
                        <a16:rowId xmlns:a16="http://schemas.microsoft.com/office/drawing/2014/main" val="2233297250"/>
                      </a:ext>
                    </a:extLst>
                  </a:tr>
                  <a:tr h="404502">
                    <a:tc>
                      <a:txBody>
                        <a:bodyPr/>
                        <a:lstStyle/>
                        <a:p>
                          <a:pPr algn="ctr"/>
                          <a:r>
                            <a:rPr lang="en-IL" b="1" dirty="0"/>
                            <a:t>Doc 1</a:t>
                          </a:r>
                        </a:p>
                      </a:txBody>
                      <a:tcPr/>
                    </a:tc>
                    <a:tc>
                      <a:txBody>
                        <a:bodyPr/>
                        <a:lstStyle/>
                        <a:p>
                          <a:pPr algn="ctr"/>
                          <a:r>
                            <a:rPr lang="en-IL"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0.58⋅0.16=0.09</m:t>
                                </m:r>
                              </m:oMath>
                            </m:oMathPara>
                          </a14:m>
                          <a:endParaRPr lang="en-IL" dirty="0"/>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0.09</m:t>
                                </m:r>
                              </m:oMath>
                            </m:oMathPara>
                          </a14:m>
                          <a:endParaRPr lang="en-IL" dirty="0"/>
                        </a:p>
                      </a:txBody>
                      <a:tcPr/>
                    </a:tc>
                    <a:tc>
                      <a:txBody>
                        <a:bodyPr/>
                        <a:lstStyle/>
                        <a:p>
                          <a:pPr algn="ctr"/>
                          <a:r>
                            <a:rPr lang="en-IL" dirty="0"/>
                            <a:t>0</a:t>
                          </a:r>
                        </a:p>
                      </a:txBody>
                      <a:tcPr/>
                    </a:tc>
                    <a:tc>
                      <a:txBody>
                        <a:bodyPr/>
                        <a:lstStyle/>
                        <a:p>
                          <a:pPr algn="ctr"/>
                          <a:r>
                            <a:rPr lang="en-IL"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0.25</m:t>
                                </m:r>
                              </m:oMath>
                            </m:oMathPara>
                          </a14:m>
                          <a:endParaRPr lang="en-I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0.25</m:t>
                                </m:r>
                              </m:oMath>
                            </m:oMathPara>
                          </a14:m>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0.25</m:t>
                                </m:r>
                              </m:oMath>
                            </m:oMathPara>
                          </a14:m>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125179306"/>
                      </a:ext>
                    </a:extLst>
                  </a:tr>
                  <a:tr h="4045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b="1" dirty="0"/>
                            <a:t>Doc 2</a:t>
                          </a:r>
                        </a:p>
                      </a:txBody>
                      <a:tcPr/>
                    </a:tc>
                    <a:tc>
                      <a:txBody>
                        <a:bodyPr/>
                        <a:lstStyle/>
                        <a:p>
                          <a:pPr algn="ctr"/>
                          <a:r>
                            <a:rPr lang="en-IL" dirty="0"/>
                            <a:t>0</a:t>
                          </a:r>
                        </a:p>
                      </a:txBody>
                      <a:tcPr/>
                    </a:tc>
                    <a:tc>
                      <a:txBody>
                        <a:bodyPr/>
                        <a:lstStyle/>
                        <a:p>
                          <a:pPr algn="ctr"/>
                          <a:r>
                            <a:rPr lang="en-IL" dirty="0"/>
                            <a:t>0</a:t>
                          </a:r>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0.09</m:t>
                                </m:r>
                              </m:oMath>
                            </m:oMathPara>
                          </a14:m>
                          <a:endParaRPr lang="en-I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0.09</m:t>
                                </m:r>
                              </m:oMath>
                            </m:oMathPara>
                          </a14:m>
                          <a:endParaRPr lang="en-I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0.09</m:t>
                                </m:r>
                              </m:oMath>
                            </m:oMathPara>
                          </a14:m>
                          <a:endParaRPr lang="en-I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355062494"/>
                      </a:ext>
                    </a:extLst>
                  </a:tr>
                  <a:tr h="4045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b="1" dirty="0"/>
                            <a:t>Doc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rPr>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0.58⋅0.12=0.06</m:t>
                                </m:r>
                              </m:oMath>
                            </m:oMathPara>
                          </a14:m>
                          <a:endParaRPr lang="en-IL" dirty="0"/>
                        </a:p>
                      </a:txBody>
                      <a:tcPr/>
                    </a:tc>
                    <a:tc>
                      <a:txBody>
                        <a:bodyPr/>
                        <a:lstStyle/>
                        <a:p>
                          <a:pPr algn="ctr"/>
                          <a:r>
                            <a:rPr lang="en-IL"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0.06</m:t>
                                </m:r>
                              </m:oMath>
                            </m:oMathPara>
                          </a14:m>
                          <a:endParaRPr lang="en-IL"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0.06</m:t>
                                </m:r>
                              </m:oMath>
                            </m:oMathPara>
                          </a14:m>
                          <a:endParaRPr lang="en-I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rPr>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rPr>
                            <a:t>0</a:t>
                          </a:r>
                        </a:p>
                      </a:txBody>
                      <a:tcPr/>
                    </a:tc>
                    <a:extLst>
                      <a:ext uri="{0D108BD9-81ED-4DB2-BD59-A6C34878D82A}">
                        <a16:rowId xmlns:a16="http://schemas.microsoft.com/office/drawing/2014/main" val="2100750821"/>
                      </a:ext>
                    </a:extLst>
                  </a:tr>
                </a:tbl>
              </a:graphicData>
            </a:graphic>
          </p:graphicFrame>
        </mc:Choice>
        <mc:Fallback xmlns="">
          <p:graphicFrame>
            <p:nvGraphicFramePr>
              <p:cNvPr id="7" name="Table 6">
                <a:extLst>
                  <a:ext uri="{FF2B5EF4-FFF2-40B4-BE49-F238E27FC236}">
                    <a16:creationId xmlns:a16="http://schemas.microsoft.com/office/drawing/2014/main" id="{75F8F2BA-E99F-F84B-9D9C-1835626CAFC0}"/>
                  </a:ext>
                </a:extLst>
              </p:cNvPr>
              <p:cNvGraphicFramePr>
                <a:graphicFrameLocks noGrp="1"/>
              </p:cNvGraphicFramePr>
              <p:nvPr>
                <p:extLst>
                  <p:ext uri="{D42A27DB-BD31-4B8C-83A1-F6EECF244321}">
                    <p14:modId xmlns:p14="http://schemas.microsoft.com/office/powerpoint/2010/main" val="4047672423"/>
                  </p:ext>
                </p:extLst>
              </p:nvPr>
            </p:nvGraphicFramePr>
            <p:xfrm>
              <a:off x="499533" y="1981345"/>
              <a:ext cx="10600266" cy="2076592"/>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3237974615"/>
                        </a:ext>
                      </a:extLst>
                    </a:gridCol>
                    <a:gridCol w="1134534">
                      <a:extLst>
                        <a:ext uri="{9D8B030D-6E8A-4147-A177-3AD203B41FA5}">
                          <a16:colId xmlns:a16="http://schemas.microsoft.com/office/drawing/2014/main" val="177290292"/>
                        </a:ext>
                      </a:extLst>
                    </a:gridCol>
                    <a:gridCol w="1219200">
                      <a:extLst>
                        <a:ext uri="{9D8B030D-6E8A-4147-A177-3AD203B41FA5}">
                          <a16:colId xmlns:a16="http://schemas.microsoft.com/office/drawing/2014/main" val="1851888588"/>
                        </a:ext>
                      </a:extLst>
                    </a:gridCol>
                    <a:gridCol w="1371600">
                      <a:extLst>
                        <a:ext uri="{9D8B030D-6E8A-4147-A177-3AD203B41FA5}">
                          <a16:colId xmlns:a16="http://schemas.microsoft.com/office/drawing/2014/main" val="3218848225"/>
                        </a:ext>
                      </a:extLst>
                    </a:gridCol>
                    <a:gridCol w="999066">
                      <a:extLst>
                        <a:ext uri="{9D8B030D-6E8A-4147-A177-3AD203B41FA5}">
                          <a16:colId xmlns:a16="http://schemas.microsoft.com/office/drawing/2014/main" val="2348693567"/>
                        </a:ext>
                      </a:extLst>
                    </a:gridCol>
                    <a:gridCol w="1143000">
                      <a:extLst>
                        <a:ext uri="{9D8B030D-6E8A-4147-A177-3AD203B41FA5}">
                          <a16:colId xmlns:a16="http://schemas.microsoft.com/office/drawing/2014/main" val="1029001585"/>
                        </a:ext>
                      </a:extLst>
                    </a:gridCol>
                    <a:gridCol w="1286934">
                      <a:extLst>
                        <a:ext uri="{9D8B030D-6E8A-4147-A177-3AD203B41FA5}">
                          <a16:colId xmlns:a16="http://schemas.microsoft.com/office/drawing/2014/main" val="1355769175"/>
                        </a:ext>
                      </a:extLst>
                    </a:gridCol>
                    <a:gridCol w="1007533">
                      <a:extLst>
                        <a:ext uri="{9D8B030D-6E8A-4147-A177-3AD203B41FA5}">
                          <a16:colId xmlns:a16="http://schemas.microsoft.com/office/drawing/2014/main" val="3089657302"/>
                        </a:ext>
                      </a:extLst>
                    </a:gridCol>
                    <a:gridCol w="1295399">
                      <a:extLst>
                        <a:ext uri="{9D8B030D-6E8A-4147-A177-3AD203B41FA5}">
                          <a16:colId xmlns:a16="http://schemas.microsoft.com/office/drawing/2014/main" val="2535950315"/>
                        </a:ext>
                      </a:extLst>
                    </a:gridCol>
                  </a:tblGrid>
                  <a:tr h="404502">
                    <a:tc>
                      <a:txBody>
                        <a:bodyPr/>
                        <a:lstStyle/>
                        <a:p>
                          <a:pPr algn="ctr"/>
                          <a:endParaRPr lang="en-IL" dirty="0"/>
                        </a:p>
                      </a:txBody>
                      <a:tcPr/>
                    </a:tc>
                    <a:tc>
                      <a:txBody>
                        <a:bodyPr/>
                        <a:lstStyle/>
                        <a:p>
                          <a:pPr algn="ctr"/>
                          <a:r>
                            <a:rPr lang="en-IL" dirty="0"/>
                            <a:t>going</a:t>
                          </a:r>
                        </a:p>
                      </a:txBody>
                      <a:tcPr/>
                    </a:tc>
                    <a:tc>
                      <a:txBody>
                        <a:bodyPr/>
                        <a:lstStyle/>
                        <a:p>
                          <a:pPr algn="ctr"/>
                          <a:r>
                            <a:rPr lang="en-IL" dirty="0"/>
                            <a:t>to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today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i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am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it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is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dirty="0"/>
                            <a:t>rain </a:t>
                          </a:r>
                        </a:p>
                      </a:txBody>
                      <a:tcPr/>
                    </a:tc>
                    <a:extLst>
                      <a:ext uri="{0D108BD9-81ED-4DB2-BD59-A6C34878D82A}">
                        <a16:rowId xmlns:a16="http://schemas.microsoft.com/office/drawing/2014/main" val="2233297250"/>
                      </a:ext>
                    </a:extLst>
                  </a:tr>
                  <a:tr h="633794">
                    <a:tc>
                      <a:txBody>
                        <a:bodyPr/>
                        <a:lstStyle/>
                        <a:p>
                          <a:pPr algn="ctr"/>
                          <a:r>
                            <a:rPr lang="en-IL" b="1" dirty="0"/>
                            <a:t>Doc 1</a:t>
                          </a:r>
                        </a:p>
                      </a:txBody>
                      <a:tcPr/>
                    </a:tc>
                    <a:tc>
                      <a:txBody>
                        <a:bodyPr/>
                        <a:lstStyle/>
                        <a:p>
                          <a:pPr algn="ctr"/>
                          <a:r>
                            <a:rPr lang="en-IL" dirty="0"/>
                            <a:t>0</a:t>
                          </a:r>
                        </a:p>
                      </a:txBody>
                      <a:tcPr/>
                    </a:tc>
                    <a:tc>
                      <a:txBody>
                        <a:bodyPr/>
                        <a:lstStyle/>
                        <a:p>
                          <a:endParaRPr lang="en-IL"/>
                        </a:p>
                      </a:txBody>
                      <a:tcPr>
                        <a:blipFill>
                          <a:blip r:embed="rId3"/>
                          <a:stretch>
                            <a:fillRect l="-187500" t="-68000" r="-586458" b="-166000"/>
                          </a:stretch>
                        </a:blipFill>
                      </a:tcPr>
                    </a:tc>
                    <a:tc>
                      <a:txBody>
                        <a:bodyPr/>
                        <a:lstStyle/>
                        <a:p>
                          <a:endParaRPr lang="en-IL"/>
                        </a:p>
                      </a:txBody>
                      <a:tcPr>
                        <a:blipFill>
                          <a:blip r:embed="rId3"/>
                          <a:stretch>
                            <a:fillRect l="-255556" t="-68000" r="-421296" b="-166000"/>
                          </a:stretch>
                        </a:blipFill>
                      </a:tcPr>
                    </a:tc>
                    <a:tc>
                      <a:txBody>
                        <a:bodyPr/>
                        <a:lstStyle/>
                        <a:p>
                          <a:pPr algn="ctr"/>
                          <a:r>
                            <a:rPr lang="en-IL" dirty="0"/>
                            <a:t>0</a:t>
                          </a:r>
                        </a:p>
                      </a:txBody>
                      <a:tcPr/>
                    </a:tc>
                    <a:tc>
                      <a:txBody>
                        <a:bodyPr/>
                        <a:lstStyle/>
                        <a:p>
                          <a:pPr algn="ctr"/>
                          <a:r>
                            <a:rPr lang="en-IL" dirty="0"/>
                            <a:t>0</a:t>
                          </a:r>
                        </a:p>
                      </a:txBody>
                      <a:tcPr/>
                    </a:tc>
                    <a:tc>
                      <a:txBody>
                        <a:bodyPr/>
                        <a:lstStyle/>
                        <a:p>
                          <a:endParaRPr lang="en-IL"/>
                        </a:p>
                      </a:txBody>
                      <a:tcPr>
                        <a:blipFill>
                          <a:blip r:embed="rId3"/>
                          <a:stretch>
                            <a:fillRect l="-542157" t="-68000" r="-180392" b="-166000"/>
                          </a:stretch>
                        </a:blipFill>
                      </a:tcPr>
                    </a:tc>
                    <a:tc>
                      <a:txBody>
                        <a:bodyPr/>
                        <a:lstStyle/>
                        <a:p>
                          <a:endParaRPr lang="en-IL"/>
                        </a:p>
                      </a:txBody>
                      <a:tcPr>
                        <a:blipFill>
                          <a:blip r:embed="rId3"/>
                          <a:stretch>
                            <a:fillRect l="-829114" t="-68000" r="-132911" b="-166000"/>
                          </a:stretch>
                        </a:blipFill>
                      </a:tcPr>
                    </a:tc>
                    <a:tc>
                      <a:txBody>
                        <a:bodyPr/>
                        <a:lstStyle/>
                        <a:p>
                          <a:endParaRPr lang="en-IL"/>
                        </a:p>
                      </a:txBody>
                      <a:tcPr>
                        <a:blipFill>
                          <a:blip r:embed="rId3"/>
                          <a:stretch>
                            <a:fillRect l="-719608" t="-68000" r="-2941" b="-166000"/>
                          </a:stretch>
                        </a:blipFill>
                      </a:tcPr>
                    </a:tc>
                    <a:extLst>
                      <a:ext uri="{0D108BD9-81ED-4DB2-BD59-A6C34878D82A}">
                        <a16:rowId xmlns:a16="http://schemas.microsoft.com/office/drawing/2014/main" val="1125179306"/>
                      </a:ext>
                    </a:extLst>
                  </a:tr>
                  <a:tr h="4045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b="1" dirty="0"/>
                            <a:t>Doc 2</a:t>
                          </a:r>
                        </a:p>
                      </a:txBody>
                      <a:tcPr/>
                    </a:tc>
                    <a:tc>
                      <a:txBody>
                        <a:bodyPr/>
                        <a:lstStyle/>
                        <a:p>
                          <a:pPr algn="ctr"/>
                          <a:r>
                            <a:rPr lang="en-IL" dirty="0"/>
                            <a:t>0</a:t>
                          </a:r>
                        </a:p>
                      </a:txBody>
                      <a:tcPr/>
                    </a:tc>
                    <a:tc>
                      <a:txBody>
                        <a:bodyPr/>
                        <a:lstStyle/>
                        <a:p>
                          <a:pPr algn="ctr"/>
                          <a:r>
                            <a:rPr lang="en-IL" dirty="0"/>
                            <a:t>0</a:t>
                          </a:r>
                        </a:p>
                      </a:txBody>
                      <a:tcPr/>
                    </a:tc>
                    <a:tc>
                      <a:txBody>
                        <a:bodyPr/>
                        <a:lstStyle/>
                        <a:p>
                          <a:endParaRPr lang="en-IL"/>
                        </a:p>
                      </a:txBody>
                      <a:tcPr>
                        <a:blipFill>
                          <a:blip r:embed="rId3"/>
                          <a:stretch>
                            <a:fillRect l="-255556" t="-262500" r="-421296" b="-159375"/>
                          </a:stretch>
                        </a:blipFill>
                      </a:tcPr>
                    </a:tc>
                    <a:tc>
                      <a:txBody>
                        <a:bodyPr/>
                        <a:lstStyle/>
                        <a:p>
                          <a:endParaRPr lang="en-IL"/>
                        </a:p>
                      </a:txBody>
                      <a:tcPr>
                        <a:blipFill>
                          <a:blip r:embed="rId3"/>
                          <a:stretch>
                            <a:fillRect l="-486076" t="-262500" r="-475949" b="-159375"/>
                          </a:stretch>
                        </a:blipFill>
                      </a:tcPr>
                    </a:tc>
                    <a:tc>
                      <a:txBody>
                        <a:bodyPr/>
                        <a:lstStyle/>
                        <a:p>
                          <a:endParaRPr lang="en-IL"/>
                        </a:p>
                      </a:txBody>
                      <a:tcPr>
                        <a:blipFill>
                          <a:blip r:embed="rId3"/>
                          <a:stretch>
                            <a:fillRect l="-514444" t="-262500" r="-317778" b="-15937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355062494"/>
                      </a:ext>
                    </a:extLst>
                  </a:tr>
                  <a:tr h="6337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L" b="1" dirty="0"/>
                            <a:t>Doc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rPr>
                            <a:t>0</a:t>
                          </a:r>
                        </a:p>
                      </a:txBody>
                      <a:tcPr/>
                    </a:tc>
                    <a:tc>
                      <a:txBody>
                        <a:bodyPr/>
                        <a:lstStyle/>
                        <a:p>
                          <a:endParaRPr lang="en-IL"/>
                        </a:p>
                      </a:txBody>
                      <a:tcPr>
                        <a:blipFill>
                          <a:blip r:embed="rId3"/>
                          <a:stretch>
                            <a:fillRect l="-187500" t="-232000" r="-586458" b="-2000"/>
                          </a:stretch>
                        </a:blipFill>
                      </a:tcPr>
                    </a:tc>
                    <a:tc>
                      <a:txBody>
                        <a:bodyPr/>
                        <a:lstStyle/>
                        <a:p>
                          <a:pPr algn="ctr"/>
                          <a:r>
                            <a:rPr lang="en-IL" dirty="0"/>
                            <a:t>0</a:t>
                          </a:r>
                        </a:p>
                      </a:txBody>
                      <a:tcPr/>
                    </a:tc>
                    <a:tc>
                      <a:txBody>
                        <a:bodyPr/>
                        <a:lstStyle/>
                        <a:p>
                          <a:endParaRPr lang="en-IL"/>
                        </a:p>
                      </a:txBody>
                      <a:tcPr>
                        <a:blipFill>
                          <a:blip r:embed="rId3"/>
                          <a:stretch>
                            <a:fillRect l="-486076" t="-232000" r="-475949" b="-2000"/>
                          </a:stretch>
                        </a:blipFill>
                      </a:tcPr>
                    </a:tc>
                    <a:tc>
                      <a:txBody>
                        <a:bodyPr/>
                        <a:lstStyle/>
                        <a:p>
                          <a:endParaRPr lang="en-IL"/>
                        </a:p>
                      </a:txBody>
                      <a:tcPr>
                        <a:blipFill>
                          <a:blip r:embed="rId3"/>
                          <a:stretch>
                            <a:fillRect l="-514444" t="-232000" r="-317778" b="-2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rPr>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rPr>
                            <a:t>0</a:t>
                          </a:r>
                        </a:p>
                      </a:txBody>
                      <a:tcPr/>
                    </a:tc>
                    <a:extLst>
                      <a:ext uri="{0D108BD9-81ED-4DB2-BD59-A6C34878D82A}">
                        <a16:rowId xmlns:a16="http://schemas.microsoft.com/office/drawing/2014/main" val="2100750821"/>
                      </a:ext>
                    </a:extLst>
                  </a:tr>
                </a:tbl>
              </a:graphicData>
            </a:graphic>
          </p:graphicFrame>
        </mc:Fallback>
      </mc:AlternateContent>
    </p:spTree>
    <p:extLst>
      <p:ext uri="{BB962C8B-B14F-4D97-AF65-F5344CB8AC3E}">
        <p14:creationId xmlns:p14="http://schemas.microsoft.com/office/powerpoint/2010/main" val="3267743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76203"/>
            <a:ext cx="11616266" cy="6485754"/>
          </a:xfrm>
        </p:spPr>
        <p:txBody>
          <a:bodyPr>
            <a:normAutofit/>
          </a:bodyPr>
          <a:lstStyle/>
          <a:p>
            <a:pPr algn="ctr">
              <a:lnSpc>
                <a:spcPct val="150000"/>
              </a:lnSpc>
            </a:pPr>
            <a:r>
              <a:rPr lang="en-US" sz="3200" b="1" dirty="0"/>
              <a:t>Step 3: TF-IDF</a:t>
            </a:r>
          </a:p>
          <a:p>
            <a:pPr>
              <a:lnSpc>
                <a:spcPct val="150000"/>
              </a:lnSpc>
            </a:pPr>
            <a:endParaRPr lang="en-US" sz="2400" dirty="0"/>
          </a:p>
          <a:p>
            <a:pPr>
              <a:lnSpc>
                <a:spcPct val="150000"/>
              </a:lnSpc>
            </a:pPr>
            <a:endParaRPr lang="en-US" sz="2400" b="1"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68DB896C-4F6A-3C99-7487-32EC31DD545A}"/>
              </a:ext>
            </a:extLst>
          </p:cNvPr>
          <p:cNvSpPr/>
          <p:nvPr/>
        </p:nvSpPr>
        <p:spPr>
          <a:xfrm>
            <a:off x="1388533" y="2159000"/>
            <a:ext cx="9414933" cy="2966197"/>
          </a:xfrm>
          <a:prstGeom prst="rect">
            <a:avLst/>
          </a:prstGeom>
        </p:spPr>
        <p:txBody>
          <a:bodyPr wrap="square">
            <a:spAutoFit/>
          </a:bodyPr>
          <a:lstStyle/>
          <a:p>
            <a:pPr>
              <a:lnSpc>
                <a:spcPct val="150000"/>
              </a:lnSpc>
            </a:pPr>
            <a:r>
              <a:rPr lang="en-US" dirty="0">
                <a:solidFill>
                  <a:srgbClr val="AF00DB"/>
                </a:solidFill>
                <a:latin typeface="Courier New" panose="02070309020205020404" pitchFamily="49" charset="0"/>
                <a:cs typeface="Courier New" panose="02070309020205020404" pitchFamily="49" charset="0"/>
              </a:rPr>
              <a:t>from</a:t>
            </a:r>
            <a:r>
              <a:rPr lang="en-US" dirty="0">
                <a:solidFill>
                  <a:srgbClr val="000000"/>
                </a:solidFill>
                <a:latin typeface="Courier New" panose="02070309020205020404" pitchFamily="49" charset="0"/>
                <a:cs typeface="Courier New" panose="02070309020205020404" pitchFamily="49" charset="0"/>
              </a:rPr>
              <a:t> </a:t>
            </a:r>
            <a:r>
              <a:rPr lang="en-US" dirty="0" err="1">
                <a:solidFill>
                  <a:srgbClr val="000000"/>
                </a:solidFill>
                <a:latin typeface="Courier New" panose="02070309020205020404" pitchFamily="49" charset="0"/>
                <a:cs typeface="Courier New" panose="02070309020205020404" pitchFamily="49" charset="0"/>
              </a:rPr>
              <a:t>sklearn.feature_extraction.text</a:t>
            </a:r>
            <a:r>
              <a:rPr lang="en-US" dirty="0">
                <a:solidFill>
                  <a:srgbClr val="000000"/>
                </a:solidFill>
                <a:latin typeface="Courier New" panose="02070309020205020404" pitchFamily="49" charset="0"/>
                <a:cs typeface="Courier New" panose="02070309020205020404" pitchFamily="49" charset="0"/>
              </a:rPr>
              <a:t> </a:t>
            </a:r>
            <a:r>
              <a:rPr lang="en-US" dirty="0">
                <a:solidFill>
                  <a:srgbClr val="AF00DB"/>
                </a:solidFill>
                <a:latin typeface="Courier New" panose="02070309020205020404" pitchFamily="49" charset="0"/>
                <a:cs typeface="Courier New" panose="02070309020205020404" pitchFamily="49" charset="0"/>
              </a:rPr>
              <a:t>import</a:t>
            </a:r>
            <a:r>
              <a:rPr lang="en-US" dirty="0">
                <a:solidFill>
                  <a:srgbClr val="000000"/>
                </a:solidFill>
                <a:latin typeface="Courier New" panose="02070309020205020404" pitchFamily="49" charset="0"/>
                <a:cs typeface="Courier New" panose="02070309020205020404" pitchFamily="49" charset="0"/>
              </a:rPr>
              <a:t> </a:t>
            </a:r>
            <a:r>
              <a:rPr lang="en-US" dirty="0" err="1">
                <a:solidFill>
                  <a:srgbClr val="000000"/>
                </a:solidFill>
                <a:latin typeface="Courier New" panose="02070309020205020404" pitchFamily="49" charset="0"/>
                <a:cs typeface="Courier New" panose="02070309020205020404" pitchFamily="49" charset="0"/>
              </a:rPr>
              <a:t>TfidfVectorizer</a:t>
            </a:r>
            <a:endParaRPr lang="en-US" dirty="0">
              <a:solidFill>
                <a:srgbClr val="000000"/>
              </a:solidFill>
              <a:latin typeface="Courier New" panose="02070309020205020404" pitchFamily="49" charset="0"/>
              <a:cs typeface="Courier New" panose="02070309020205020404" pitchFamily="49" charset="0"/>
            </a:endParaRPr>
          </a:p>
          <a:p>
            <a:pPr>
              <a:lnSpc>
                <a:spcPct val="150000"/>
              </a:lnSpc>
            </a:pPr>
            <a:r>
              <a:rPr lang="en-US" dirty="0" err="1">
                <a:latin typeface="Courier New" panose="02070309020205020404" pitchFamily="49" charset="0"/>
                <a:cs typeface="Courier New" panose="02070309020205020404" pitchFamily="49" charset="0"/>
              </a:rPr>
              <a:t>tfidf_model</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TfidfVectorizer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max_df</a:t>
            </a:r>
            <a:r>
              <a:rPr lang="en-US" dirty="0">
                <a:latin typeface="Courier New" panose="02070309020205020404" pitchFamily="49" charset="0"/>
                <a:cs typeface="Courier New" panose="02070309020205020404" pitchFamily="49" charset="0"/>
              </a:rPr>
              <a:t>=0.8, </a:t>
            </a:r>
            <a:r>
              <a:rPr lang="en-US" dirty="0" err="1">
                <a:latin typeface="Courier New" panose="02070309020205020404" pitchFamily="49" charset="0"/>
                <a:cs typeface="Courier New" panose="02070309020205020404" pitchFamily="49" charset="0"/>
              </a:rPr>
              <a:t>max_features</a:t>
            </a:r>
            <a:r>
              <a:rPr lang="en-US" dirty="0">
                <a:latin typeface="Courier New" panose="02070309020205020404" pitchFamily="49" charset="0"/>
                <a:cs typeface="Courier New" panose="02070309020205020404" pitchFamily="49" charset="0"/>
              </a:rPr>
              <a:t>=200000,</a:t>
            </a:r>
          </a:p>
          <a:p>
            <a:pPr>
              <a:lnSpc>
                <a:spcPct val="150000"/>
              </a:lnSpc>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min_df</a:t>
            </a:r>
            <a:r>
              <a:rPr lang="en-US" dirty="0">
                <a:latin typeface="Courier New" panose="02070309020205020404" pitchFamily="49" charset="0"/>
                <a:cs typeface="Courier New" panose="02070309020205020404" pitchFamily="49" charset="0"/>
              </a:rPr>
              <a:t>=0.2, </a:t>
            </a:r>
            <a:r>
              <a:rPr lang="en-US" dirty="0" err="1">
                <a:latin typeface="Courier New" panose="02070309020205020404" pitchFamily="49" charset="0"/>
                <a:cs typeface="Courier New" panose="02070309020205020404" pitchFamily="49" charset="0"/>
              </a:rPr>
              <a:t>stop_words</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english</a:t>
            </a:r>
            <a:r>
              <a:rPr lang="en-US" dirty="0">
                <a:latin typeface="Courier New" panose="02070309020205020404" pitchFamily="49" charset="0"/>
                <a:cs typeface="Courier New" panose="02070309020205020404" pitchFamily="49" charset="0"/>
              </a:rPr>
              <a:t>',</a:t>
            </a:r>
          </a:p>
          <a:p>
            <a:pPr>
              <a:lnSpc>
                <a:spcPct val="150000"/>
              </a:lnSpc>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use_idf</a:t>
            </a:r>
            <a:r>
              <a:rPr lang="en-US" dirty="0">
                <a:latin typeface="Courier New" panose="02070309020205020404" pitchFamily="49" charset="0"/>
                <a:cs typeface="Courier New" panose="02070309020205020404" pitchFamily="49" charset="0"/>
              </a:rPr>
              <a:t>=True, tokenizer=</a:t>
            </a:r>
            <a:r>
              <a:rPr lang="en-US" dirty="0" err="1">
                <a:latin typeface="Courier New" panose="02070309020205020404" pitchFamily="49" charset="0"/>
                <a:cs typeface="Courier New" panose="02070309020205020404" pitchFamily="49" charset="0"/>
              </a:rPr>
              <a:t>tokenization_and_stemming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ngram_range</a:t>
            </a:r>
            <a:r>
              <a:rPr lang="en-US" dirty="0">
                <a:latin typeface="Courier New" panose="02070309020205020404" pitchFamily="49" charset="0"/>
                <a:cs typeface="Courier New" panose="02070309020205020404" pitchFamily="49" charset="0"/>
              </a:rPr>
              <a:t>=(1,1))</a:t>
            </a:r>
          </a:p>
          <a:p>
            <a:pPr>
              <a:lnSpc>
                <a:spcPct val="150000"/>
              </a:lnSpc>
            </a:pPr>
            <a:endParaRPr lang="en-US" b="0" dirty="0">
              <a:solidFill>
                <a:srgbClr val="000000"/>
              </a:solidFill>
              <a:effectLst/>
              <a:latin typeface="Courier New" panose="02070309020205020404" pitchFamily="49" charset="0"/>
              <a:cs typeface="Courier New" panose="02070309020205020404" pitchFamily="49" charset="0"/>
            </a:endParaRPr>
          </a:p>
          <a:p>
            <a:pPr>
              <a:lnSpc>
                <a:spcPct val="150000"/>
              </a:lnSpc>
            </a:pPr>
            <a:endParaRPr lang="en-US" b="0" dirty="0">
              <a:solidFill>
                <a:srgbClr val="000000"/>
              </a:solidFill>
              <a:effectLst/>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C3630AA7-2061-75B5-EAB0-6862006D759B}"/>
              </a:ext>
            </a:extLst>
          </p:cNvPr>
          <p:cNvSpPr txBox="1"/>
          <p:nvPr/>
        </p:nvSpPr>
        <p:spPr>
          <a:xfrm>
            <a:off x="6300184" y="1200201"/>
            <a:ext cx="3378201" cy="923330"/>
          </a:xfrm>
          <a:prstGeom prst="rect">
            <a:avLst/>
          </a:prstGeom>
          <a:noFill/>
        </p:spPr>
        <p:txBody>
          <a:bodyPr wrap="square" rtlCol="0">
            <a:spAutoFit/>
          </a:bodyPr>
          <a:lstStyle/>
          <a:p>
            <a:r>
              <a:rPr lang="en-US" dirty="0"/>
              <a:t> ignore terms that have a document frequency strictly higher than the given threshold</a:t>
            </a:r>
            <a:endParaRPr lang="en-IL" dirty="0"/>
          </a:p>
        </p:txBody>
      </p:sp>
      <p:sp>
        <p:nvSpPr>
          <p:cNvPr id="7" name="TextBox 6">
            <a:extLst>
              <a:ext uri="{FF2B5EF4-FFF2-40B4-BE49-F238E27FC236}">
                <a16:creationId xmlns:a16="http://schemas.microsoft.com/office/drawing/2014/main" id="{140B9930-35C2-775B-1C4C-ED29E24D9215}"/>
              </a:ext>
            </a:extLst>
          </p:cNvPr>
          <p:cNvSpPr txBox="1"/>
          <p:nvPr/>
        </p:nvSpPr>
        <p:spPr>
          <a:xfrm>
            <a:off x="7789333" y="4084936"/>
            <a:ext cx="3378201" cy="369332"/>
          </a:xfrm>
          <a:prstGeom prst="rect">
            <a:avLst/>
          </a:prstGeom>
          <a:noFill/>
        </p:spPr>
        <p:txBody>
          <a:bodyPr wrap="square" rtlCol="0">
            <a:spAutoFit/>
          </a:bodyPr>
          <a:lstStyle/>
          <a:p>
            <a:r>
              <a:rPr lang="en-US" dirty="0"/>
              <a:t>A function</a:t>
            </a:r>
            <a:endParaRPr lang="en-IL" dirty="0"/>
          </a:p>
        </p:txBody>
      </p:sp>
      <p:sp>
        <p:nvSpPr>
          <p:cNvPr id="8" name="TextBox 7">
            <a:extLst>
              <a:ext uri="{FF2B5EF4-FFF2-40B4-BE49-F238E27FC236}">
                <a16:creationId xmlns:a16="http://schemas.microsoft.com/office/drawing/2014/main" id="{8597AE87-554A-BDF3-E8D3-26F422304214}"/>
              </a:ext>
            </a:extLst>
          </p:cNvPr>
          <p:cNvSpPr txBox="1"/>
          <p:nvPr/>
        </p:nvSpPr>
        <p:spPr>
          <a:xfrm>
            <a:off x="2349499" y="4514335"/>
            <a:ext cx="3378201" cy="646331"/>
          </a:xfrm>
          <a:prstGeom prst="rect">
            <a:avLst/>
          </a:prstGeom>
          <a:noFill/>
        </p:spPr>
        <p:txBody>
          <a:bodyPr wrap="square" rtlCol="0">
            <a:spAutoFit/>
          </a:bodyPr>
          <a:lstStyle/>
          <a:p>
            <a:r>
              <a:rPr lang="en-US" dirty="0"/>
              <a:t>N-gram (dependency in the previous word)</a:t>
            </a:r>
            <a:endParaRPr lang="en-IL" dirty="0"/>
          </a:p>
        </p:txBody>
      </p:sp>
      <p:cxnSp>
        <p:nvCxnSpPr>
          <p:cNvPr id="11" name="Straight Arrow Connector 10">
            <a:extLst>
              <a:ext uri="{FF2B5EF4-FFF2-40B4-BE49-F238E27FC236}">
                <a16:creationId xmlns:a16="http://schemas.microsoft.com/office/drawing/2014/main" id="{91D52F0E-F46E-0CA6-E29C-2EE129F23AB3}"/>
              </a:ext>
            </a:extLst>
          </p:cNvPr>
          <p:cNvCxnSpPr>
            <a:cxnSpLocks/>
          </p:cNvCxnSpPr>
          <p:nvPr/>
        </p:nvCxnSpPr>
        <p:spPr>
          <a:xfrm flipH="1">
            <a:off x="6096000" y="2159000"/>
            <a:ext cx="626534" cy="5416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EC3BFE4F-D03A-0A21-EC1B-00199340C77A}"/>
              </a:ext>
            </a:extLst>
          </p:cNvPr>
          <p:cNvCxnSpPr/>
          <p:nvPr/>
        </p:nvCxnSpPr>
        <p:spPr>
          <a:xfrm flipH="1" flipV="1">
            <a:off x="7634177" y="3817088"/>
            <a:ext cx="519223" cy="2678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9753AAB5-56A9-EE02-9504-590F74E7E2E7}"/>
              </a:ext>
            </a:extLst>
          </p:cNvPr>
          <p:cNvCxnSpPr/>
          <p:nvPr/>
        </p:nvCxnSpPr>
        <p:spPr>
          <a:xfrm flipV="1">
            <a:off x="4038600" y="4269602"/>
            <a:ext cx="139995" cy="184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94954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76203"/>
            <a:ext cx="11616266" cy="6485754"/>
          </a:xfrm>
        </p:spPr>
        <p:txBody>
          <a:bodyPr>
            <a:normAutofit/>
          </a:bodyPr>
          <a:lstStyle/>
          <a:p>
            <a:pPr algn="ctr">
              <a:lnSpc>
                <a:spcPct val="150000"/>
              </a:lnSpc>
            </a:pPr>
            <a:r>
              <a:rPr lang="en-US" sz="3200" b="1" dirty="0"/>
              <a:t>Step 4: Document Similarity</a:t>
            </a:r>
          </a:p>
          <a:p>
            <a:pPr>
              <a:lnSpc>
                <a:spcPct val="150000"/>
              </a:lnSpc>
            </a:pPr>
            <a:r>
              <a:rPr lang="en-US" sz="2400" b="1" dirty="0"/>
              <a:t>Cosine similarity - </a:t>
            </a:r>
            <a:r>
              <a:rPr lang="en-US" sz="2400" dirty="0"/>
              <a:t>a</a:t>
            </a:r>
            <a:r>
              <a:rPr lang="en-US" sz="2400" b="1" dirty="0"/>
              <a:t> </a:t>
            </a:r>
            <a:r>
              <a:rPr lang="en-US" sz="2400" dirty="0"/>
              <a:t>measure of similarity between two sequences of numbers</a:t>
            </a:r>
            <a:endParaRPr lang="en-US" sz="2400" b="1" dirty="0"/>
          </a:p>
          <a:p>
            <a:pPr>
              <a:lnSpc>
                <a:spcPct val="150000"/>
              </a:lnSpc>
            </a:pPr>
            <a:r>
              <a:rPr lang="en-US" sz="2400" dirty="0"/>
              <a:t>In our case, we represent each document as </a:t>
            </a:r>
            <a:r>
              <a:rPr lang="en-US" sz="2400" dirty="0" err="1"/>
              <a:t>tf-idf</a:t>
            </a:r>
            <a:r>
              <a:rPr lang="en-US" sz="2400" dirty="0"/>
              <a:t> values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6" name="Picture 2" descr="Cosine similarity - Mastering Machine Learning with Spark 2.x [Book]">
            <a:extLst>
              <a:ext uri="{FF2B5EF4-FFF2-40B4-BE49-F238E27FC236}">
                <a16:creationId xmlns:a16="http://schemas.microsoft.com/office/drawing/2014/main" id="{BE78BE14-A4AD-BADA-FBAF-276464F114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1" y="2437235"/>
            <a:ext cx="5613400" cy="176368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C8F2EBE0-716C-B1B9-DCA0-0DE55DD60B1B}"/>
                  </a:ext>
                </a:extLst>
              </p:cNvPr>
              <p:cNvSpPr/>
              <p:nvPr/>
            </p:nvSpPr>
            <p:spPr>
              <a:xfrm>
                <a:off x="3407811" y="4442895"/>
                <a:ext cx="4910319" cy="8357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𝐶𝑜𝑠𝑖𝑛𝑒</m:t>
                      </m:r>
                      <m:d>
                        <m:dPr>
                          <m:ctrlPr>
                            <a:rPr lang="en-US" sz="2400" i="1">
                              <a:latin typeface="Cambria Math" panose="02040503050406030204" pitchFamily="18" charset="0"/>
                            </a:rPr>
                          </m:ctrlPr>
                        </m:dPr>
                        <m:e>
                          <m:r>
                            <a:rPr lang="en-US" sz="2400" i="1">
                              <a:latin typeface="Cambria Math" panose="02040503050406030204" pitchFamily="18" charset="0"/>
                            </a:rPr>
                            <m:t>𝐴</m:t>
                          </m:r>
                          <m:r>
                            <a:rPr lang="en-US" sz="2400" i="1">
                              <a:latin typeface="Cambria Math" panose="02040503050406030204" pitchFamily="18" charset="0"/>
                            </a:rPr>
                            <m:t>,</m:t>
                          </m:r>
                          <m:r>
                            <a:rPr lang="en-US" sz="2400" i="1">
                              <a:latin typeface="Cambria Math" panose="02040503050406030204" pitchFamily="18" charset="0"/>
                            </a:rPr>
                            <m:t>𝐵</m:t>
                          </m:r>
                        </m:e>
                      </m:d>
                      <m:r>
                        <a:rPr lang="en-US" sz="2400" i="1">
                          <a:latin typeface="Cambria Math" panose="02040503050406030204" pitchFamily="18" charset="0"/>
                        </a:rPr>
                        <m:t>=</m:t>
                      </m:r>
                      <m:r>
                        <m:rPr>
                          <m:sty m:val="p"/>
                        </m:rPr>
                        <a:rPr lang="en-US" sz="2400">
                          <a:latin typeface="Cambria Math" panose="02040503050406030204" pitchFamily="18" charset="0"/>
                        </a:rPr>
                        <m:t>cos</m:t>
                      </m:r>
                      <m:r>
                        <a:rPr lang="en-US" sz="2400" i="1">
                          <a:latin typeface="Cambria Math" panose="02040503050406030204" pitchFamily="18" charset="0"/>
                        </a:rPr>
                        <m:t>⁡(</m:t>
                      </m:r>
                      <m:r>
                        <a:rPr lang="en-US" sz="2400" i="1">
                          <a:latin typeface="Cambria Math" panose="02040503050406030204" pitchFamily="18" charset="0"/>
                        </a:rPr>
                        <m:t>𝜃</m:t>
                      </m:r>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𝐴</m:t>
                          </m:r>
                          <m:r>
                            <a:rPr lang="en-US" sz="2400" i="1">
                              <a:latin typeface="Cambria Math" panose="02040503050406030204" pitchFamily="18" charset="0"/>
                            </a:rPr>
                            <m:t>⋅</m:t>
                          </m:r>
                          <m:r>
                            <a:rPr lang="en-US" sz="2400" i="1">
                              <a:latin typeface="Cambria Math" panose="02040503050406030204" pitchFamily="18" charset="0"/>
                            </a:rPr>
                            <m:t>𝐵</m:t>
                          </m:r>
                        </m:num>
                        <m:den>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𝐴</m:t>
                              </m:r>
                            </m:e>
                          </m:d>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𝐵</m:t>
                              </m:r>
                            </m:e>
                          </m:d>
                        </m:den>
                      </m:f>
                    </m:oMath>
                  </m:oMathPara>
                </a14:m>
                <a:endParaRPr lang="en-IL" sz="2400" dirty="0"/>
              </a:p>
            </p:txBody>
          </p:sp>
        </mc:Choice>
        <mc:Fallback xmlns="">
          <p:sp>
            <p:nvSpPr>
              <p:cNvPr id="3" name="Rectangle 2">
                <a:extLst>
                  <a:ext uri="{FF2B5EF4-FFF2-40B4-BE49-F238E27FC236}">
                    <a16:creationId xmlns:a16="http://schemas.microsoft.com/office/drawing/2014/main" id="{C8F2EBE0-716C-B1B9-DCA0-0DE55DD60B1B}"/>
                  </a:ext>
                </a:extLst>
              </p:cNvPr>
              <p:cNvSpPr>
                <a:spLocks noRot="1" noChangeAspect="1" noMove="1" noResize="1" noEditPoints="1" noAdjustHandles="1" noChangeArrowheads="1" noChangeShapeType="1" noTextEdit="1"/>
              </p:cNvSpPr>
              <p:nvPr/>
            </p:nvSpPr>
            <p:spPr>
              <a:xfrm>
                <a:off x="3407811" y="4442895"/>
                <a:ext cx="4910319" cy="835742"/>
              </a:xfrm>
              <a:prstGeom prst="rect">
                <a:avLst/>
              </a:prstGeom>
              <a:blipFill>
                <a:blip r:embed="rId4"/>
                <a:stretch>
                  <a:fillRect/>
                </a:stretch>
              </a:blipFill>
            </p:spPr>
            <p:txBody>
              <a:bodyPr/>
              <a:lstStyle/>
              <a:p>
                <a:r>
                  <a:rPr lang="en-IL">
                    <a:noFill/>
                  </a:rPr>
                  <a:t> </a:t>
                </a:r>
              </a:p>
            </p:txBody>
          </p:sp>
        </mc:Fallback>
      </mc:AlternateContent>
    </p:spTree>
    <p:extLst>
      <p:ext uri="{BB962C8B-B14F-4D97-AF65-F5344CB8AC3E}">
        <p14:creationId xmlns:p14="http://schemas.microsoft.com/office/powerpoint/2010/main" val="2001609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76203"/>
            <a:ext cx="11616266" cy="6485754"/>
          </a:xfrm>
        </p:spPr>
        <p:txBody>
          <a:bodyPr>
            <a:normAutofit/>
          </a:bodyPr>
          <a:lstStyle/>
          <a:p>
            <a:pPr algn="ctr">
              <a:lnSpc>
                <a:spcPct val="150000"/>
              </a:lnSpc>
            </a:pPr>
            <a:r>
              <a:rPr lang="en-US" sz="3200" b="1" dirty="0"/>
              <a:t>Step 5: K-Means Clustering</a:t>
            </a:r>
          </a:p>
          <a:p>
            <a:pPr>
              <a:lnSpc>
                <a:spcPct val="150000"/>
              </a:lnSpc>
            </a:pPr>
            <a:r>
              <a:rPr lang="en-US" sz="2400" dirty="0"/>
              <a:t>Clustering is the task of grouping together a set of objects in a way that objects in the same cluster are more like each other than to objects in other clusters.</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9458" name="Picture 2">
            <a:extLst>
              <a:ext uri="{FF2B5EF4-FFF2-40B4-BE49-F238E27FC236}">
                <a16:creationId xmlns:a16="http://schemas.microsoft.com/office/drawing/2014/main" id="{637F0884-4CAA-74C5-0719-5C5EF2848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5600" y="2130041"/>
            <a:ext cx="4120040" cy="4431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5847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76203"/>
                <a:ext cx="11616266" cy="6485754"/>
              </a:xfrm>
            </p:spPr>
            <p:txBody>
              <a:bodyPr>
                <a:normAutofit/>
              </a:bodyPr>
              <a:lstStyle/>
              <a:p>
                <a:pPr algn="ctr">
                  <a:lnSpc>
                    <a:spcPct val="150000"/>
                  </a:lnSpc>
                </a:pPr>
                <a:r>
                  <a:rPr lang="en-US" sz="3200" b="1" dirty="0"/>
                  <a:t>Step 5: K-Means Clustering</a:t>
                </a:r>
              </a:p>
              <a:p>
                <a:pPr>
                  <a:lnSpc>
                    <a:spcPct val="150000"/>
                  </a:lnSpc>
                </a:pPr>
                <a:r>
                  <a:rPr lang="en-US" sz="2400" dirty="0"/>
                  <a:t>Clustering is the task of grouping together a set of objects in a way that objects in the same cluster are more like each other than to objects in other clusters.</a:t>
                </a:r>
              </a:p>
              <a:p>
                <a:pPr>
                  <a:lnSpc>
                    <a:spcPct val="150000"/>
                  </a:lnSpc>
                </a:pPr>
                <a:r>
                  <a:rPr lang="en-US" sz="2400" b="1" dirty="0"/>
                  <a:t>Euclidean Distance </a:t>
                </a:r>
              </a:p>
              <a:p>
                <a:pPr>
                  <a:lnSpc>
                    <a:spcPct val="150000"/>
                  </a:lnSpc>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𝐷</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𝑦</m:t>
                          </m:r>
                        </m:e>
                      </m:d>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1</m:t>
                                      </m:r>
                                    </m:sub>
                                  </m:sSub>
                                </m:e>
                              </m:d>
                            </m:e>
                            <m:sup>
                              <m:r>
                                <a:rPr lang="en-US" sz="2400" i="1">
                                  <a:latin typeface="Cambria Math" panose="02040503050406030204" pitchFamily="18" charset="0"/>
                                </a:rPr>
                                <m:t>2</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2</m:t>
                                      </m:r>
                                    </m:sub>
                                  </m:sSub>
                                </m:e>
                              </m:d>
                            </m:e>
                            <m:sup>
                              <m:r>
                                <a:rPr lang="en-US" sz="2400" i="1">
                                  <a:latin typeface="Cambria Math" panose="02040503050406030204" pitchFamily="18" charset="0"/>
                                </a:rPr>
                                <m:t>2</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𝑘</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𝑘</m:t>
                                      </m:r>
                                    </m:sub>
                                  </m:sSub>
                                </m:e>
                              </m:d>
                            </m:e>
                            <m:sup>
                              <m:r>
                                <a:rPr lang="en-US" sz="2400" i="1">
                                  <a:latin typeface="Cambria Math" panose="02040503050406030204" pitchFamily="18" charset="0"/>
                                </a:rPr>
                                <m:t>2</m:t>
                              </m:r>
                            </m:sup>
                          </m:sSup>
                        </m:e>
                      </m:rad>
                    </m:oMath>
                  </m:oMathPara>
                </a14:m>
                <a:endParaRPr lang="en-US" sz="2400" dirty="0"/>
              </a:p>
              <a:p>
                <a:pPr>
                  <a:lnSpc>
                    <a:spcPct val="150000"/>
                  </a:lnSpc>
                </a:pPr>
                <a:endParaRPr lang="en-US" sz="2400" dirty="0"/>
              </a:p>
              <a:p>
                <a:pPr>
                  <a:lnSpc>
                    <a:spcPct val="150000"/>
                  </a:lnSpc>
                </a:pPr>
                <a:r>
                  <a:rPr lang="en-US" sz="2400" b="1" dirty="0"/>
                  <a:t>Manhattan Distance </a:t>
                </a:r>
              </a:p>
              <a:p>
                <a:pPr>
                  <a:lnSpc>
                    <a:spcPct val="150000"/>
                  </a:lnSpc>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𝐷</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𝑦</m:t>
                          </m:r>
                        </m:e>
                      </m:d>
                      <m:r>
                        <a:rPr lang="en-US" sz="2400" i="1">
                          <a:latin typeface="Cambria Math" panose="02040503050406030204" pitchFamily="18" charset="0"/>
                        </a:rPr>
                        <m:t>=</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1</m:t>
                              </m:r>
                            </m:sub>
                          </m:sSub>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2</m:t>
                              </m:r>
                            </m:sub>
                          </m:sSub>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oMath>
                  </m:oMathPara>
                </a14:m>
                <a:endParaRPr lang="en-US" sz="2400" dirty="0"/>
              </a:p>
              <a:p>
                <a:pPr>
                  <a:lnSpc>
                    <a:spcPct val="150000"/>
                  </a:lnSpc>
                </a:pPr>
                <a:endParaRPr lang="en-US" sz="2400" dirty="0"/>
              </a:p>
            </p:txBody>
          </p:sp>
        </mc:Choice>
        <mc:Fallback xmlns="">
          <p:sp>
            <p:nvSpPr>
              <p:cNvPr id="2" name="Content Placeholder 1">
                <a:extLst>
                  <a:ext uri="{FF2B5EF4-FFF2-40B4-BE49-F238E27FC236}">
                    <a16:creationId xmlns:a16="http://schemas.microsoft.com/office/drawing/2014/main" id="{C1924E95-B662-476B-8747-32147EFC68ED}"/>
                  </a:ext>
                </a:extLst>
              </p:cNvPr>
              <p:cNvSpPr>
                <a:spLocks noGrp="1" noRot="1" noChangeAspect="1" noMove="1" noResize="1" noEditPoints="1" noAdjustHandles="1" noChangeArrowheads="1" noChangeShapeType="1" noTextEdit="1"/>
              </p:cNvSpPr>
              <p:nvPr>
                <p:ph idx="1"/>
              </p:nvPr>
            </p:nvSpPr>
            <p:spPr>
              <a:xfrm>
                <a:off x="220134" y="76203"/>
                <a:ext cx="11616266" cy="6485754"/>
              </a:xfrm>
              <a:blipFill>
                <a:blip r:embed="rId3"/>
                <a:stretch>
                  <a:fillRect l="-873"/>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60032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76203"/>
                <a:ext cx="11616266" cy="6485754"/>
              </a:xfrm>
            </p:spPr>
            <p:txBody>
              <a:bodyPr>
                <a:normAutofit/>
              </a:bodyPr>
              <a:lstStyle/>
              <a:p>
                <a:pPr algn="ctr">
                  <a:lnSpc>
                    <a:spcPct val="150000"/>
                  </a:lnSpc>
                </a:pPr>
                <a:r>
                  <a:rPr lang="en-US" sz="3200" b="1" dirty="0"/>
                  <a:t>Step 5: K-Means Clustering </a:t>
                </a:r>
              </a:p>
              <a:p>
                <a:pPr>
                  <a:lnSpc>
                    <a:spcPct val="150000"/>
                  </a:lnSpc>
                </a:pPr>
                <a:r>
                  <a:rPr lang="en-US" sz="2400" dirty="0"/>
                  <a:t>How it works?</a:t>
                </a:r>
              </a:p>
              <a:p>
                <a:pPr marL="457200" indent="-457200">
                  <a:lnSpc>
                    <a:spcPct val="150000"/>
                  </a:lnSpc>
                  <a:buAutoNum type="arabicPeriod"/>
                </a:pPr>
                <a:r>
                  <a:rPr lang="en-US" sz="2400" dirty="0"/>
                  <a:t>Choose </a:t>
                </a:r>
                <a14:m>
                  <m:oMath xmlns:m="http://schemas.openxmlformats.org/officeDocument/2006/math">
                    <m:r>
                      <a:rPr lang="en-US" sz="2400" b="0" i="1" smtClean="0">
                        <a:latin typeface="Cambria Math" panose="02040503050406030204" pitchFamily="18" charset="0"/>
                      </a:rPr>
                      <m:t>𝑘</m:t>
                    </m:r>
                  </m:oMath>
                </a14:m>
                <a:r>
                  <a:rPr lang="en-US" sz="2400" dirty="0"/>
                  <a:t> random points (from the dataset) as initial centers: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𝑘</m:t>
                        </m:r>
                      </m:sub>
                    </m:sSub>
                  </m:oMath>
                </a14:m>
                <a:endParaRPr lang="en-US" sz="2400" dirty="0"/>
              </a:p>
              <a:p>
                <a:pPr marL="457200" indent="-457200">
                  <a:lnSpc>
                    <a:spcPct val="150000"/>
                  </a:lnSpc>
                  <a:buAutoNum type="arabicPeriod"/>
                </a:pPr>
                <a:r>
                  <a:rPr lang="en-US" sz="2400" dirty="0"/>
                  <a:t>Repeat until convergence:</a:t>
                </a:r>
              </a:p>
              <a:p>
                <a:pPr marL="914400" lvl="1" indent="-457200">
                  <a:lnSpc>
                    <a:spcPct val="150000"/>
                  </a:lnSpc>
                  <a:buAutoNum type="arabicPeriod"/>
                </a:pPr>
                <a:r>
                  <a:rPr lang="en-US" sz="2200" dirty="0"/>
                  <a:t>For each data point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𝑖</m:t>
                        </m:r>
                      </m:sub>
                    </m:sSub>
                  </m:oMath>
                </a14:m>
                <a:r>
                  <a:rPr lang="en-US" sz="2200" dirty="0"/>
                  <a:t>), calculate the distance from each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1</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𝑘</m:t>
                        </m:r>
                      </m:sub>
                    </m:sSub>
                  </m:oMath>
                </a14:m>
                <a:endParaRPr lang="en-US" sz="2200" dirty="0"/>
              </a:p>
              <a:p>
                <a:pPr marL="914400" lvl="1" indent="-457200">
                  <a:lnSpc>
                    <a:spcPct val="150000"/>
                  </a:lnSpc>
                  <a:buAutoNum type="arabicPeriod"/>
                </a:pP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𝐶</m:t>
                        </m:r>
                      </m:e>
                      <m:sub>
                        <m:r>
                          <a:rPr lang="en-US" sz="2200" b="0" i="1" smtClean="0">
                            <a:latin typeface="Cambria Math" panose="02040503050406030204" pitchFamily="18" charset="0"/>
                          </a:rPr>
                          <m:t>𝑗</m:t>
                        </m:r>
                      </m:sub>
                    </m:sSub>
                  </m:oMath>
                </a14:m>
                <a:r>
                  <a:rPr lang="en-US" sz="2200" dirty="0"/>
                  <a:t> if and only </a:t>
                </a:r>
                <a14:m>
                  <m:oMath xmlns:m="http://schemas.openxmlformats.org/officeDocument/2006/math">
                    <m:r>
                      <a:rPr lang="en-US" sz="2200" b="0" i="1" smtClean="0">
                        <a:latin typeface="Cambria Math" panose="02040503050406030204" pitchFamily="18" charset="0"/>
                      </a:rPr>
                      <m:t>𝐷</m:t>
                    </m:r>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 </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𝐶</m:t>
                        </m:r>
                      </m:e>
                      <m:sub>
                        <m:r>
                          <a:rPr lang="en-US" sz="2200" b="0" i="1" smtClean="0">
                            <a:latin typeface="Cambria Math" panose="02040503050406030204" pitchFamily="18" charset="0"/>
                          </a:rPr>
                          <m:t>𝑗</m:t>
                        </m:r>
                      </m:sub>
                    </m:sSub>
                    <m:r>
                      <a:rPr lang="en-US" sz="2200" b="0" i="1" smtClean="0">
                        <a:latin typeface="Cambria Math" panose="02040503050406030204" pitchFamily="18" charset="0"/>
                      </a:rPr>
                      <m:t>)</m:t>
                    </m:r>
                  </m:oMath>
                </a14:m>
                <a:r>
                  <a:rPr lang="en-US" sz="2200" dirty="0"/>
                  <a:t> is minimal</a:t>
                </a:r>
              </a:p>
              <a:p>
                <a:pPr marL="914400" lvl="1" indent="-457200">
                  <a:lnSpc>
                    <a:spcPct val="150000"/>
                  </a:lnSpc>
                  <a:buAutoNum type="arabicPeriod"/>
                </a:pPr>
                <a:r>
                  <a:rPr lang="en-US" sz="2200" dirty="0"/>
                  <a:t>Update centroids:</a:t>
                </a:r>
              </a:p>
              <a:p>
                <a:pPr lvl="1">
                  <a:lnSpc>
                    <a:spcPct val="150000"/>
                  </a:lnSpc>
                </a:pPr>
                <a:r>
                  <a:rPr lang="en-US" sz="2200" dirty="0"/>
                  <a:t>	For each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𝑗</m:t>
                        </m:r>
                      </m:sub>
                    </m:sSub>
                  </m:oMath>
                </a14:m>
                <a:r>
                  <a:rPr lang="en-US" sz="2200" dirty="0"/>
                  <a:t> , the new center is </a:t>
                </a:r>
                <a14:m>
                  <m:oMath xmlns:m="http://schemas.openxmlformats.org/officeDocument/2006/math">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1</m:t>
                        </m:r>
                      </m:num>
                      <m:den>
                        <m:r>
                          <a:rPr lang="en-US" sz="2200" b="0" i="1" smtClean="0">
                            <a:latin typeface="Cambria Math" panose="02040503050406030204" pitchFamily="18" charset="0"/>
                          </a:rPr>
                          <m:t>𝑛</m:t>
                        </m:r>
                      </m:den>
                    </m:f>
                    <m:nary>
                      <m:naryPr>
                        <m:chr m:val="∑"/>
                        <m:subHide m:val="on"/>
                        <m:supHide m:val="on"/>
                        <m:ctrlPr>
                          <a:rPr lang="en-US" sz="2200" b="0" i="1" smtClean="0">
                            <a:latin typeface="Cambria Math" panose="02040503050406030204" pitchFamily="18" charset="0"/>
                          </a:rPr>
                        </m:ctrlPr>
                      </m:naryPr>
                      <m:sub/>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1</m:t>
                            </m:r>
                          </m:sub>
                        </m:sSub>
                      </m:e>
                    </m:nary>
                    <m:r>
                      <a:rPr lang="en-US" sz="2200" b="0" i="1" smtClean="0">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𝑛</m:t>
                        </m:r>
                      </m:den>
                    </m:f>
                    <m:nary>
                      <m:naryPr>
                        <m:chr m:val="∑"/>
                        <m:subHide m:val="on"/>
                        <m:supHide m:val="on"/>
                        <m:ctrlPr>
                          <a:rPr lang="en-US" sz="2200" i="1">
                            <a:latin typeface="Cambria Math" panose="02040503050406030204" pitchFamily="18" charset="0"/>
                          </a:rPr>
                        </m:ctrlPr>
                      </m:naryPr>
                      <m:sub/>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2</m:t>
                            </m:r>
                          </m:sub>
                        </m:sSub>
                      </m:e>
                    </m:nary>
                    <m:r>
                      <a:rPr lang="en-US" sz="2200" b="0" i="1" smtClean="0">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𝑛</m:t>
                        </m:r>
                      </m:den>
                    </m:f>
                    <m:nary>
                      <m:naryPr>
                        <m:chr m:val="∑"/>
                        <m:subHide m:val="on"/>
                        <m:supHide m:val="on"/>
                        <m:ctrlPr>
                          <a:rPr lang="en-US" sz="2200" i="1">
                            <a:latin typeface="Cambria Math" panose="02040503050406030204" pitchFamily="18" charset="0"/>
                          </a:rPr>
                        </m:ctrlPr>
                      </m:naryPr>
                      <m:sub/>
                      <m:sup/>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𝑛</m:t>
                            </m:r>
                          </m:sub>
                        </m:sSub>
                      </m:e>
                    </m:nary>
                    <m:r>
                      <a:rPr lang="en-US" sz="2200" b="0" i="1" smtClean="0">
                        <a:latin typeface="Cambria Math" panose="02040503050406030204" pitchFamily="18" charset="0"/>
                      </a:rPr>
                      <m:t>)</m:t>
                    </m:r>
                  </m:oMath>
                </a14:m>
                <a:endParaRPr lang="en-US" sz="2200" dirty="0"/>
              </a:p>
              <a:p>
                <a:pPr>
                  <a:lnSpc>
                    <a:spcPct val="150000"/>
                  </a:lnSpc>
                </a:pPr>
                <a:endParaRPr lang="en-US" sz="2400" dirty="0"/>
              </a:p>
            </p:txBody>
          </p:sp>
        </mc:Choice>
        <mc:Fallback xmlns="">
          <p:sp>
            <p:nvSpPr>
              <p:cNvPr id="2" name="Content Placeholder 1">
                <a:extLst>
                  <a:ext uri="{FF2B5EF4-FFF2-40B4-BE49-F238E27FC236}">
                    <a16:creationId xmlns:a16="http://schemas.microsoft.com/office/drawing/2014/main" id="{C1924E95-B662-476B-8747-32147EFC68ED}"/>
                  </a:ext>
                </a:extLst>
              </p:cNvPr>
              <p:cNvSpPr>
                <a:spLocks noGrp="1" noRot="1" noChangeAspect="1" noMove="1" noResize="1" noEditPoints="1" noAdjustHandles="1" noChangeArrowheads="1" noChangeShapeType="1" noTextEdit="1"/>
              </p:cNvSpPr>
              <p:nvPr>
                <p:ph idx="1"/>
              </p:nvPr>
            </p:nvSpPr>
            <p:spPr>
              <a:xfrm>
                <a:off x="220134" y="76203"/>
                <a:ext cx="11616266" cy="6485754"/>
              </a:xfrm>
              <a:blipFill>
                <a:blip r:embed="rId3"/>
                <a:stretch>
                  <a:fillRect l="-873"/>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120554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76203"/>
                <a:ext cx="11616266" cy="6485754"/>
              </a:xfrm>
            </p:spPr>
            <p:txBody>
              <a:bodyPr>
                <a:normAutofit/>
              </a:bodyPr>
              <a:lstStyle/>
              <a:p>
                <a:pPr algn="ctr">
                  <a:lnSpc>
                    <a:spcPct val="150000"/>
                  </a:lnSpc>
                </a:pPr>
                <a:r>
                  <a:rPr lang="en-US" sz="3200" b="1" dirty="0"/>
                  <a:t>Step 5: K-Means Clustering </a:t>
                </a:r>
              </a:p>
              <a:p>
                <a:pPr>
                  <a:lnSpc>
                    <a:spcPct val="150000"/>
                  </a:lnSpc>
                </a:pPr>
                <a:r>
                  <a:rPr lang="en-US" sz="2400" dirty="0"/>
                  <a:t>Since clustering is an unsupervised problem, we will evaluate it by:</a:t>
                </a:r>
              </a:p>
              <a:p>
                <a:pPr marL="457200" indent="-457200">
                  <a:lnSpc>
                    <a:spcPct val="150000"/>
                  </a:lnSpc>
                  <a:buAutoNum type="arabicPeriod"/>
                </a:pPr>
                <a:r>
                  <a:rPr lang="en-US" sz="2400" b="1" dirty="0"/>
                  <a:t>Silhouette</a:t>
                </a:r>
                <a:r>
                  <a:rPr lang="en-US" sz="2400" dirty="0"/>
                  <a:t> – does the partition was good?</a:t>
                </a:r>
              </a:p>
              <a:p>
                <a:pPr marL="914400" lvl="1" indent="-457200">
                  <a:lnSpc>
                    <a:spcPct val="150000"/>
                  </a:lnSpc>
                  <a:buAutoNum type="arabicPeriod"/>
                </a:pPr>
                <a:r>
                  <a:rPr lang="en-US" sz="2200" dirty="0"/>
                  <a:t>Silhouette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oMath>
                </a14:m>
                <a:r>
                  <a:rPr lang="en-US" sz="2200" dirty="0"/>
                  <a:t> 1 – great partition</a:t>
                </a:r>
              </a:p>
              <a:p>
                <a:pPr marL="914400" lvl="1" indent="-457200">
                  <a:lnSpc>
                    <a:spcPct val="150000"/>
                  </a:lnSpc>
                  <a:buAutoNum type="arabicPeriod"/>
                </a:pPr>
                <a:r>
                  <a:rPr lang="en-US" sz="2200" dirty="0"/>
                  <a:t>Silhouette </a:t>
                </a:r>
                <a14:m>
                  <m:oMath xmlns:m="http://schemas.openxmlformats.org/officeDocument/2006/math">
                    <m:r>
                      <a:rPr lang="en-US" sz="2200" i="1">
                        <a:latin typeface="Cambria Math" panose="02040503050406030204" pitchFamily="18" charset="0"/>
                        <a:ea typeface="Cambria Math" panose="02040503050406030204" pitchFamily="18" charset="0"/>
                      </a:rPr>
                      <m:t>≈</m:t>
                    </m:r>
                  </m:oMath>
                </a14:m>
                <a:r>
                  <a:rPr lang="en-US" sz="2200" dirty="0"/>
                  <a:t> -1 – no patterns were found, and the partition is not accurate</a:t>
                </a:r>
              </a:p>
              <a:p>
                <a:pPr marL="914400" lvl="1" indent="-457200">
                  <a:lnSpc>
                    <a:spcPct val="150000"/>
                  </a:lnSpc>
                  <a:buAutoNum type="arabicPeriod"/>
                </a:pPr>
                <a:r>
                  <a:rPr lang="en-US" sz="2200" dirty="0"/>
                  <a:t>Silhouette </a:t>
                </a:r>
                <a14:m>
                  <m:oMath xmlns:m="http://schemas.openxmlformats.org/officeDocument/2006/math">
                    <m:r>
                      <a:rPr lang="en-US" sz="2200" i="1">
                        <a:latin typeface="Cambria Math" panose="02040503050406030204" pitchFamily="18" charset="0"/>
                        <a:ea typeface="Cambria Math" panose="02040503050406030204" pitchFamily="18" charset="0"/>
                      </a:rPr>
                      <m:t>≈</m:t>
                    </m:r>
                  </m:oMath>
                </a14:m>
                <a:r>
                  <a:rPr lang="en-US" sz="2200" dirty="0"/>
                  <a:t> 0 – the separation is controversial</a:t>
                </a:r>
              </a:p>
              <a:p>
                <a:pPr marL="457200" indent="-457200">
                  <a:lnSpc>
                    <a:spcPct val="150000"/>
                  </a:lnSpc>
                  <a:buAutoNum type="arabicPeriod"/>
                </a:pPr>
                <a:r>
                  <a:rPr lang="en-US" sz="2400" b="1" dirty="0"/>
                  <a:t>SSE</a:t>
                </a:r>
                <a:r>
                  <a:rPr lang="en-US" sz="2400" dirty="0"/>
                  <a:t> – Sum of Squared Error</a:t>
                </a:r>
              </a:p>
              <a:p>
                <a:pPr lvl="1">
                  <a:lnSpc>
                    <a:spcPct val="150000"/>
                  </a:lnSpc>
                </a:pPr>
                <a:r>
                  <a:rPr lang="en-US" sz="2200" dirty="0"/>
                  <a:t>Sum of squared distances of samples to their closest cluster center</a:t>
                </a:r>
              </a:p>
            </p:txBody>
          </p:sp>
        </mc:Choice>
        <mc:Fallback xmlns="">
          <p:sp>
            <p:nvSpPr>
              <p:cNvPr id="2" name="Content Placeholder 1">
                <a:extLst>
                  <a:ext uri="{FF2B5EF4-FFF2-40B4-BE49-F238E27FC236}">
                    <a16:creationId xmlns:a16="http://schemas.microsoft.com/office/drawing/2014/main" id="{C1924E95-B662-476B-8747-32147EFC68ED}"/>
                  </a:ext>
                </a:extLst>
              </p:cNvPr>
              <p:cNvSpPr>
                <a:spLocks noGrp="1" noRot="1" noChangeAspect="1" noMove="1" noResize="1" noEditPoints="1" noAdjustHandles="1" noChangeArrowheads="1" noChangeShapeType="1" noTextEdit="1"/>
              </p:cNvSpPr>
              <p:nvPr>
                <p:ph idx="1"/>
              </p:nvPr>
            </p:nvSpPr>
            <p:spPr>
              <a:xfrm>
                <a:off x="220134" y="76203"/>
                <a:ext cx="11616266" cy="6485754"/>
              </a:xfrm>
              <a:blipFill>
                <a:blip r:embed="rId3"/>
                <a:stretch>
                  <a:fillRect l="-873"/>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165269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76203"/>
                <a:ext cx="11616266" cy="6485754"/>
              </a:xfrm>
            </p:spPr>
            <p:txBody>
              <a:bodyPr>
                <a:normAutofit/>
              </a:bodyPr>
              <a:lstStyle/>
              <a:p>
                <a:pPr algn="ctr">
                  <a:lnSpc>
                    <a:spcPct val="150000"/>
                  </a:lnSpc>
                </a:pPr>
                <a:r>
                  <a:rPr lang="en-US" sz="3200" b="1" dirty="0"/>
                  <a:t>Step 5: K-Means Clustering </a:t>
                </a:r>
              </a:p>
              <a:p>
                <a:pPr>
                  <a:lnSpc>
                    <a:spcPct val="150000"/>
                  </a:lnSpc>
                </a:pPr>
                <a:r>
                  <a:rPr lang="en-US" sz="2400" dirty="0"/>
                  <a:t>Finding the optimal </a:t>
                </a:r>
                <a14:m>
                  <m:oMath xmlns:m="http://schemas.openxmlformats.org/officeDocument/2006/math">
                    <m:r>
                      <a:rPr lang="en-US" sz="2400" b="0" i="1" smtClean="0">
                        <a:latin typeface="Cambria Math" panose="02040503050406030204" pitchFamily="18" charset="0"/>
                      </a:rPr>
                      <m:t>𝑘</m:t>
                    </m:r>
                  </m:oMath>
                </a14:m>
                <a:r>
                  <a:rPr lang="en-US" sz="2400" dirty="0"/>
                  <a:t> is an </a:t>
                </a:r>
                <a:r>
                  <a:rPr lang="en-US" sz="2400" b="1" dirty="0"/>
                  <a:t>NP-hard</a:t>
                </a:r>
                <a:r>
                  <a:rPr lang="en-US" sz="2400" dirty="0"/>
                  <a:t> problem, we need to use approximation.</a:t>
                </a:r>
              </a:p>
              <a:p>
                <a:pPr>
                  <a:lnSpc>
                    <a:spcPct val="150000"/>
                  </a:lnSpc>
                </a:pPr>
                <a:r>
                  <a:rPr lang="en-US" sz="2400" dirty="0"/>
                  <a:t>We will use the </a:t>
                </a:r>
                <a:r>
                  <a:rPr lang="en-US" sz="2400" b="1" u="sng" dirty="0"/>
                  <a:t>amplification</a:t>
                </a:r>
                <a:r>
                  <a:rPr lang="en-US" sz="2400" dirty="0"/>
                  <a:t> mechanism:</a:t>
                </a:r>
              </a:p>
              <a:p>
                <a:pPr>
                  <a:lnSpc>
                    <a:spcPct val="150000"/>
                  </a:lnSpc>
                </a:pPr>
                <a:r>
                  <a:rPr lang="en-US" sz="2400" dirty="0"/>
                  <a:t>For </a:t>
                </a:r>
                <a14:m>
                  <m:oMath xmlns:m="http://schemas.openxmlformats.org/officeDocument/2006/math">
                    <m:r>
                      <a:rPr lang="en-US" sz="2400" b="0" i="1" smtClean="0">
                        <a:latin typeface="Cambria Math" panose="02040503050406030204" pitchFamily="18" charset="0"/>
                      </a:rPr>
                      <m:t>𝑘</m:t>
                    </m:r>
                    <m:r>
                      <a:rPr lang="en-US" sz="2400" b="0" i="1" smtClean="0">
                        <a:latin typeface="Cambria Math" panose="02040503050406030204" pitchFamily="18" charset="0"/>
                      </a:rPr>
                      <m:t>=1</m:t>
                    </m:r>
                  </m:oMath>
                </a14:m>
                <a:r>
                  <a:rPr lang="en-US" sz="2400" dirty="0"/>
                  <a:t> to </a:t>
                </a:r>
                <a14:m>
                  <m:oMath xmlns:m="http://schemas.openxmlformats.org/officeDocument/2006/math">
                    <m:r>
                      <a:rPr lang="en-US" sz="2400" b="0" i="1" smtClean="0">
                        <a:latin typeface="Cambria Math" panose="02040503050406030204" pitchFamily="18" charset="0"/>
                      </a:rPr>
                      <m:t>𝑚</m:t>
                    </m:r>
                  </m:oMath>
                </a14:m>
                <a:endParaRPr lang="en-US" sz="2400" dirty="0"/>
              </a:p>
              <a:p>
                <a:pPr>
                  <a:lnSpc>
                    <a:spcPct val="150000"/>
                  </a:lnSpc>
                </a:pPr>
                <a:r>
                  <a:rPr lang="en-US" sz="2400" dirty="0"/>
                  <a:t>	Train K-means with </a:t>
                </a:r>
                <a14:m>
                  <m:oMath xmlns:m="http://schemas.openxmlformats.org/officeDocument/2006/math">
                    <m:r>
                      <a:rPr lang="en-US" sz="2400" b="0" i="1" smtClean="0">
                        <a:latin typeface="Cambria Math" panose="02040503050406030204" pitchFamily="18" charset="0"/>
                      </a:rPr>
                      <m:t>𝑘</m:t>
                    </m:r>
                  </m:oMath>
                </a14:m>
                <a:r>
                  <a:rPr lang="en-US" sz="2400" dirty="0"/>
                  <a:t> clusters</a:t>
                </a:r>
              </a:p>
              <a:p>
                <a:pPr>
                  <a:lnSpc>
                    <a:spcPct val="150000"/>
                  </a:lnSpc>
                </a:pPr>
                <a:r>
                  <a:rPr lang="en-US" sz="2400" dirty="0"/>
                  <a:t>	Store the silhouette and SSE</a:t>
                </a:r>
              </a:p>
              <a:p>
                <a:pPr>
                  <a:lnSpc>
                    <a:spcPct val="150000"/>
                  </a:lnSpc>
                </a:pPr>
                <a:r>
                  <a:rPr lang="en-US" sz="2400" dirty="0"/>
                  <a:t>Compare and choose the </a:t>
                </a:r>
                <a14:m>
                  <m:oMath xmlns:m="http://schemas.openxmlformats.org/officeDocument/2006/math">
                    <m:r>
                      <a:rPr lang="en-US" sz="2400" i="1" dirty="0" smtClean="0">
                        <a:latin typeface="Cambria Math" panose="02040503050406030204" pitchFamily="18" charset="0"/>
                      </a:rPr>
                      <m:t>𝑘</m:t>
                    </m:r>
                  </m:oMath>
                </a14:m>
                <a:r>
                  <a:rPr lang="en-US" sz="2400" dirty="0"/>
                  <a:t> where silhouette is maximal, and SSE is minimal.</a:t>
                </a:r>
              </a:p>
              <a:p>
                <a:pPr>
                  <a:lnSpc>
                    <a:spcPct val="150000"/>
                  </a:lnSpc>
                </a:pPr>
                <a:endParaRPr lang="en-US" sz="2200" dirty="0"/>
              </a:p>
              <a:p>
                <a:pPr>
                  <a:lnSpc>
                    <a:spcPct val="150000"/>
                  </a:lnSpc>
                </a:pPr>
                <a:endParaRPr lang="en-US" sz="2400" dirty="0"/>
              </a:p>
            </p:txBody>
          </p:sp>
        </mc:Choice>
        <mc:Fallback xmlns="">
          <p:sp>
            <p:nvSpPr>
              <p:cNvPr id="2" name="Content Placeholder 1">
                <a:extLst>
                  <a:ext uri="{FF2B5EF4-FFF2-40B4-BE49-F238E27FC236}">
                    <a16:creationId xmlns:a16="http://schemas.microsoft.com/office/drawing/2014/main" id="{C1924E95-B662-476B-8747-32147EFC68ED}"/>
                  </a:ext>
                </a:extLst>
              </p:cNvPr>
              <p:cNvSpPr>
                <a:spLocks noGrp="1" noRot="1" noChangeAspect="1" noMove="1" noResize="1" noEditPoints="1" noAdjustHandles="1" noChangeArrowheads="1" noChangeShapeType="1" noTextEdit="1"/>
              </p:cNvSpPr>
              <p:nvPr>
                <p:ph idx="1"/>
              </p:nvPr>
            </p:nvSpPr>
            <p:spPr>
              <a:xfrm>
                <a:off x="220134" y="76203"/>
                <a:ext cx="11616266" cy="6485754"/>
              </a:xfrm>
              <a:blipFill>
                <a:blip r:embed="rId3"/>
                <a:stretch>
                  <a:fillRect l="-873"/>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4062635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6: LDA for Topic Modeling</a:t>
            </a:r>
          </a:p>
          <a:p>
            <a:pPr>
              <a:lnSpc>
                <a:spcPct val="150000"/>
              </a:lnSpc>
            </a:pPr>
            <a:r>
              <a:rPr lang="en-US" sz="2400" dirty="0"/>
              <a:t> </a:t>
            </a:r>
            <a:r>
              <a:rPr lang="en-US" sz="2400" b="1" dirty="0"/>
              <a:t>Latent Dirichlet Allocation</a:t>
            </a:r>
            <a:r>
              <a:rPr lang="en-US" sz="2400" dirty="0"/>
              <a:t> (LDA) is a </a:t>
            </a:r>
            <a:r>
              <a:rPr lang="en-US" sz="2400" b="1" dirty="0">
                <a:solidFill>
                  <a:srgbClr val="FF0000"/>
                </a:solidFill>
              </a:rPr>
              <a:t>stochastic process </a:t>
            </a:r>
            <a:r>
              <a:rPr lang="en-US" sz="2400" dirty="0"/>
              <a:t>of topic model and is used to classify text in a document to a particular topic (using a reverse engineering). It builds a topic per document model and words per topic model.</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5122" name="Picture 2" descr="LDA model">
            <a:extLst>
              <a:ext uri="{FF2B5EF4-FFF2-40B4-BE49-F238E27FC236}">
                <a16:creationId xmlns:a16="http://schemas.microsoft.com/office/drawing/2014/main" id="{6BDEC335-23B4-682C-3CEA-E85A7676A5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7967" y="3144629"/>
            <a:ext cx="6354233" cy="2788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6307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6: LDA for Topic Modeling</a:t>
                </a:r>
              </a:p>
              <a:p>
                <a:pPr>
                  <a:lnSpc>
                    <a:spcPct val="150000"/>
                  </a:lnSpc>
                </a:pPr>
                <a:r>
                  <a:rPr lang="en-US" sz="2400" dirty="0"/>
                  <a:t> Simple example: consider we have an urn with </a:t>
                </a:r>
                <a14:m>
                  <m:oMath xmlns:m="http://schemas.openxmlformats.org/officeDocument/2006/math">
                    <m:r>
                      <a:rPr lang="en-US" sz="2400" b="0" i="1" smtClean="0">
                        <a:latin typeface="Cambria Math" panose="02040503050406030204" pitchFamily="18" charset="0"/>
                      </a:rPr>
                      <m:t>𝛼</m:t>
                    </m:r>
                  </m:oMath>
                </a14:m>
                <a:r>
                  <a:rPr lang="en-US" sz="2400" dirty="0"/>
                  <a:t> </a:t>
                </a:r>
                <a:r>
                  <a:rPr lang="en-US" sz="2400" b="1" dirty="0"/>
                  <a:t>black</a:t>
                </a:r>
                <a:r>
                  <a:rPr lang="en-US" sz="2400" dirty="0"/>
                  <a:t> balls.</a:t>
                </a:r>
              </a:p>
              <a:p>
                <a:pPr marL="514350" indent="-514350">
                  <a:lnSpc>
                    <a:spcPct val="150000"/>
                  </a:lnSpc>
                  <a:buAutoNum type="arabicPeriod"/>
                </a:pPr>
                <a:r>
                  <a:rPr lang="en-US" sz="2400" dirty="0"/>
                  <a:t>Each time we need an observation, we draw a ball from the urn.</a:t>
                </a:r>
              </a:p>
              <a:p>
                <a:pPr marL="514350" indent="-514350">
                  <a:lnSpc>
                    <a:spcPct val="150000"/>
                  </a:lnSpc>
                  <a:buFont typeface="Arial" panose="020B0604020202020204" pitchFamily="34" charset="0"/>
                  <a:buAutoNum type="arabicPeriod"/>
                </a:pPr>
                <a:r>
                  <a:rPr lang="en-US" sz="2400" dirty="0"/>
                  <a:t>If the ball is </a:t>
                </a:r>
                <a:r>
                  <a:rPr lang="en-US" sz="2400" b="1" dirty="0"/>
                  <a:t>black</a:t>
                </a:r>
                <a:r>
                  <a:rPr lang="en-US" sz="2400" dirty="0"/>
                  <a:t>, we generate a new (non-black) color uniformly, label a new ball this color, drop the new ball into the urn along with the ball we drew, and return the color we generated.</a:t>
                </a:r>
              </a:p>
              <a:p>
                <a:pPr marL="514350" indent="-514350">
                  <a:lnSpc>
                    <a:spcPct val="150000"/>
                  </a:lnSpc>
                  <a:buFont typeface="Arial" panose="020B0604020202020204" pitchFamily="34" charset="0"/>
                  <a:buAutoNum type="arabicPeriod"/>
                </a:pPr>
                <a:r>
                  <a:rPr lang="en-US" sz="2400" dirty="0"/>
                  <a:t>Otherwise, label a new ball with the color of the ball we drew, drop the new ball into the urn along with the ball we drew, and return the color we observed.</a:t>
                </a:r>
              </a:p>
              <a:p>
                <a:pPr marL="514350" indent="-514350">
                  <a:lnSpc>
                    <a:spcPct val="150000"/>
                  </a:lnSpc>
                  <a:buAutoNum type="arabicPeriod"/>
                </a:pPr>
                <a:endParaRPr lang="en-US" dirty="0"/>
              </a:p>
            </p:txBody>
          </p:sp>
        </mc:Choice>
        <mc:Fallback xmlns="">
          <p:sp>
            <p:nvSpPr>
              <p:cNvPr id="2" name="Content Placeholder 1">
                <a:extLst>
                  <a:ext uri="{FF2B5EF4-FFF2-40B4-BE49-F238E27FC236}">
                    <a16:creationId xmlns:a16="http://schemas.microsoft.com/office/drawing/2014/main" id="{C1924E95-B662-476B-8747-32147EFC68ED}"/>
                  </a:ext>
                </a:extLst>
              </p:cNvPr>
              <p:cNvSpPr>
                <a:spLocks noGrp="1" noRot="1" noChangeAspect="1" noMove="1" noResize="1" noEditPoints="1" noAdjustHandles="1" noChangeArrowheads="1" noChangeShapeType="1" noTextEdit="1"/>
              </p:cNvSpPr>
              <p:nvPr>
                <p:ph idx="1"/>
              </p:nvPr>
            </p:nvSpPr>
            <p:spPr>
              <a:xfrm>
                <a:off x="397933" y="136525"/>
                <a:ext cx="11616266" cy="6485754"/>
              </a:xfrm>
              <a:blipFill>
                <a:blip r:embed="rId3"/>
                <a:stretch>
                  <a:fillRect l="-764"/>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3824374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6: LDA for Topic Modeling</a:t>
            </a:r>
          </a:p>
          <a:p>
            <a:pPr>
              <a:lnSpc>
                <a:spcPct val="150000"/>
              </a:lnSpc>
            </a:pPr>
            <a:r>
              <a:rPr lang="en-US" sz="2400" dirty="0"/>
              <a:t>The LDA makes two key assumptions:</a:t>
            </a:r>
          </a:p>
          <a:p>
            <a:pPr marL="514350" indent="-514350">
              <a:lnSpc>
                <a:spcPct val="150000"/>
              </a:lnSpc>
              <a:buAutoNum type="arabicPeriod"/>
            </a:pPr>
            <a:r>
              <a:rPr lang="en-US" sz="2400" dirty="0"/>
              <a:t>Documents are a mixture of topics</a:t>
            </a:r>
          </a:p>
          <a:p>
            <a:pPr marL="514350" indent="-514350">
              <a:lnSpc>
                <a:spcPct val="150000"/>
              </a:lnSpc>
              <a:buAutoNum type="arabicPeriod"/>
            </a:pPr>
            <a:r>
              <a:rPr lang="en-US" sz="2400" dirty="0"/>
              <a:t>Topics are a mixture of tokens (or words)</a:t>
            </a:r>
          </a:p>
          <a:p>
            <a:pPr>
              <a:lnSpc>
                <a:spcPct val="150000"/>
              </a:lnSpc>
            </a:pPr>
            <a:r>
              <a:rPr lang="en-US" sz="2400" dirty="0"/>
              <a:t>These topics (using the probability distribution) generate the words. </a:t>
            </a:r>
          </a:p>
          <a:p>
            <a:pPr>
              <a:lnSpc>
                <a:spcPct val="150000"/>
              </a:lnSpc>
            </a:pPr>
            <a:r>
              <a:rPr lang="en-US" sz="2400" dirty="0"/>
              <a:t>In statistical language, the </a:t>
            </a:r>
            <a:r>
              <a:rPr lang="en-US" sz="2400" b="1" dirty="0"/>
              <a:t>documents</a:t>
            </a:r>
            <a:r>
              <a:rPr lang="en-US" sz="2400" dirty="0"/>
              <a:t> are known as the </a:t>
            </a:r>
            <a:r>
              <a:rPr lang="en-US" sz="2400" b="1" dirty="0"/>
              <a:t>probability density </a:t>
            </a:r>
            <a:r>
              <a:rPr lang="en-US" sz="2400" dirty="0"/>
              <a:t>(or distribution) of </a:t>
            </a:r>
            <a:r>
              <a:rPr lang="en-US" sz="2400" b="1" dirty="0"/>
              <a:t>topics</a:t>
            </a:r>
            <a:r>
              <a:rPr lang="en-US" sz="2400" dirty="0"/>
              <a:t> and the </a:t>
            </a:r>
            <a:r>
              <a:rPr lang="en-US" sz="2400" b="1" dirty="0"/>
              <a:t>topics</a:t>
            </a:r>
            <a:r>
              <a:rPr lang="en-US" sz="2400" dirty="0"/>
              <a:t> are the </a:t>
            </a:r>
            <a:r>
              <a:rPr lang="en-US" sz="2400" b="1" dirty="0"/>
              <a:t>probability density </a:t>
            </a:r>
            <a:r>
              <a:rPr lang="en-US" sz="2400" dirty="0"/>
              <a:t>(or distribution) of </a:t>
            </a:r>
            <a:r>
              <a:rPr lang="en-US" sz="2400" b="1" dirty="0"/>
              <a:t>words</a:t>
            </a:r>
            <a:r>
              <a:rPr lang="en-US" sz="2400" dirty="0"/>
              <a: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1053051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6: LDA for Topic Modeling</a:t>
            </a:r>
          </a:p>
          <a:p>
            <a:pPr>
              <a:lnSpc>
                <a:spcPct val="150000"/>
              </a:lnSpc>
            </a:pPr>
            <a:r>
              <a:rPr lang="en-US" sz="2400" dirty="0"/>
              <a:t>Consider the following example:</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
        <p:nvSpPr>
          <p:cNvPr id="3" name="TextBox 2">
            <a:extLst>
              <a:ext uri="{FF2B5EF4-FFF2-40B4-BE49-F238E27FC236}">
                <a16:creationId xmlns:a16="http://schemas.microsoft.com/office/drawing/2014/main" id="{B62AA47D-F88E-AB40-815D-2E3E9598DAC8}"/>
              </a:ext>
            </a:extLst>
          </p:cNvPr>
          <p:cNvSpPr txBox="1"/>
          <p:nvPr/>
        </p:nvSpPr>
        <p:spPr>
          <a:xfrm>
            <a:off x="2531534" y="2062092"/>
            <a:ext cx="6824134" cy="3139321"/>
          </a:xfrm>
          <a:prstGeom prst="rect">
            <a:avLst/>
          </a:prstGeom>
          <a:noFill/>
        </p:spPr>
        <p:txBody>
          <a:bodyPr wrap="square" rtlCol="0">
            <a:spAutoFit/>
          </a:bodyPr>
          <a:lstStyle/>
          <a:p>
            <a:r>
              <a:rPr lang="en-US" u="sng" dirty="0"/>
              <a:t>Document 1</a:t>
            </a:r>
            <a:r>
              <a:rPr lang="en-US" dirty="0"/>
              <a:t>: I want to watch a movie this weekend.</a:t>
            </a:r>
          </a:p>
          <a:p>
            <a:r>
              <a:rPr lang="en-US" u="sng" dirty="0"/>
              <a:t>Document 2</a:t>
            </a:r>
            <a:r>
              <a:rPr lang="en-US" dirty="0"/>
              <a:t>: I went shopping yesterday. New Zealand won the World Test Championship by beating India by eight wickets at Southampton.</a:t>
            </a:r>
          </a:p>
          <a:p>
            <a:r>
              <a:rPr lang="en-US" u="sng" dirty="0"/>
              <a:t>Document 3</a:t>
            </a:r>
            <a:r>
              <a:rPr lang="en-US" dirty="0"/>
              <a:t>: I don’t watch cricket. Netflix and Amazon Prime have very good movies to watch.</a:t>
            </a:r>
          </a:p>
          <a:p>
            <a:r>
              <a:rPr lang="en-US" u="sng" dirty="0"/>
              <a:t>Document 4</a:t>
            </a:r>
            <a:r>
              <a:rPr lang="en-US" dirty="0"/>
              <a:t>: Movies are a nice way to chill however, this time I would like to paint and read some good books. It’s been so long!</a:t>
            </a:r>
          </a:p>
          <a:p>
            <a:r>
              <a:rPr lang="en-US" u="sng" dirty="0"/>
              <a:t>Document 5</a:t>
            </a:r>
            <a:r>
              <a:rPr lang="en-US" dirty="0"/>
              <a:t>: This blueberry milkshake is so good! Try reading Dr. Joe </a:t>
            </a:r>
            <a:r>
              <a:rPr lang="en-US" dirty="0" err="1"/>
              <a:t>Dispenza’s</a:t>
            </a:r>
            <a:r>
              <a:rPr lang="en-US" dirty="0"/>
              <a:t> books. His work is such a game-changer! His books helped to learn so much about how our thoughts impact our biology and how we can all rewire our brains.</a:t>
            </a:r>
          </a:p>
        </p:txBody>
      </p:sp>
    </p:spTree>
    <p:extLst>
      <p:ext uri="{BB962C8B-B14F-4D97-AF65-F5344CB8AC3E}">
        <p14:creationId xmlns:p14="http://schemas.microsoft.com/office/powerpoint/2010/main" val="1598279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6: LDA for Topic Modeling</a:t>
                </a:r>
              </a:p>
              <a:p>
                <a:pPr>
                  <a:lnSpc>
                    <a:spcPct val="150000"/>
                  </a:lnSpc>
                </a:pPr>
                <a:r>
                  <a:rPr lang="en-US" sz="2400" dirty="0"/>
                  <a:t>After preprocessing the documents (clean, preprocess and tokenize the text to words):</a:t>
                </a:r>
              </a:p>
              <a:p>
                <a:pPr>
                  <a:lnSpc>
                    <a:spcPct val="150000"/>
                  </a:lnSpc>
                </a:pPr>
                <a:r>
                  <a:rPr lang="en-US" sz="2400" dirty="0"/>
                  <a:t>1. For </a:t>
                </a:r>
                <a14:m>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rPr>
                      <m:t>𝑖</m:t>
                    </m:r>
                    <m:r>
                      <a:rPr lang="en-US" sz="2400" b="0" i="1" smtClean="0">
                        <a:latin typeface="Cambria Math" panose="02040503050406030204" pitchFamily="18" charset="0"/>
                      </a:rPr>
                      <m:t>≤5</m:t>
                    </m:r>
                  </m:oMath>
                </a14:m>
                <a:r>
                  <a:rPr lang="en-US" sz="2400" dirty="0"/>
                  <a:t> the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𝑖</m:t>
                        </m:r>
                      </m:sub>
                    </m:sSub>
                  </m:oMath>
                </a14:m>
                <a:r>
                  <a:rPr lang="en-US" sz="2400" dirty="0"/>
                  <a:t> is the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𝑖</m:t>
                        </m:r>
                      </m:e>
                      <m:sup>
                        <m:r>
                          <a:rPr lang="en-US" sz="2400" b="0" i="1" smtClean="0">
                            <a:latin typeface="Cambria Math" panose="02040503050406030204" pitchFamily="18" charset="0"/>
                          </a:rPr>
                          <m:t>𝑡h</m:t>
                        </m:r>
                      </m:sup>
                    </m:sSup>
                  </m:oMath>
                </a14:m>
                <a:r>
                  <a:rPr lang="en-US" sz="2400" dirty="0"/>
                  <a:t> document</a:t>
                </a:r>
              </a:p>
              <a:p>
                <a:pPr>
                  <a:lnSpc>
                    <a:spcPct val="150000"/>
                  </a:lnSpc>
                </a:pPr>
                <a:r>
                  <a:rPr lang="en-US" sz="2400" dirty="0"/>
                  <a:t>2. </a:t>
                </a:r>
                <a14:m>
                  <m:oMath xmlns:m="http://schemas.openxmlformats.org/officeDocument/2006/math">
                    <m:r>
                      <a:rPr lang="en-US" sz="2400" i="1" dirty="0" smtClean="0">
                        <a:latin typeface="Cambria Math" panose="02040503050406030204" pitchFamily="18" charset="0"/>
                      </a:rPr>
                      <m:t>𝑊</m:t>
                    </m:r>
                  </m:oMath>
                </a14:m>
                <a:r>
                  <a:rPr lang="en-US" sz="2400" dirty="0"/>
                  <a:t> – the total amount of words.</a:t>
                </a:r>
              </a:p>
              <a:p>
                <a:pPr>
                  <a:lnSpc>
                    <a:spcPct val="150000"/>
                  </a:lnSpc>
                </a:pPr>
                <a:r>
                  <a:rPr lang="en-US" sz="2400" dirty="0"/>
                  <a:t>3. For our example, we assume </a:t>
                </a:r>
                <a14:m>
                  <m:oMath xmlns:m="http://schemas.openxmlformats.org/officeDocument/2006/math">
                    <m:r>
                      <a:rPr lang="en-US" sz="2400" i="1" smtClean="0">
                        <a:latin typeface="Cambria Math" panose="02040503050406030204" pitchFamily="18" charset="0"/>
                      </a:rPr>
                      <m:t>𝑊</m:t>
                    </m:r>
                    <m:r>
                      <a:rPr lang="en-US" sz="2400" b="0" i="1" smtClean="0">
                        <a:latin typeface="Cambria Math" panose="02040503050406030204" pitchFamily="18" charset="0"/>
                      </a:rPr>
                      <m:t>=8</m:t>
                    </m:r>
                  </m:oMath>
                </a14:m>
                <a:endParaRPr lang="en-US" sz="2400" dirty="0"/>
              </a:p>
              <a:p>
                <a:pPr>
                  <a:lnSpc>
                    <a:spcPct val="150000"/>
                  </a:lnSpc>
                </a:pPr>
                <a:endParaRPr lang="en-US" sz="2400" dirty="0"/>
              </a:p>
              <a:p>
                <a:pPr>
                  <a:lnSpc>
                    <a:spcPct val="150000"/>
                  </a:lnSpc>
                </a:pPr>
                <a:endParaRPr lang="en-US" sz="2400" dirty="0"/>
              </a:p>
              <a:p>
                <a:pPr>
                  <a:lnSpc>
                    <a:spcPct val="150000"/>
                  </a:lnSpc>
                </a:pPr>
                <a:r>
                  <a:rPr lang="en-US" sz="2400" dirty="0"/>
                  <a:t>The matrix called </a:t>
                </a:r>
                <a:r>
                  <a:rPr lang="en-US" sz="2400" b="1" dirty="0"/>
                  <a:t>Document Word Matrix </a:t>
                </a:r>
                <a:r>
                  <a:rPr lang="en-US" sz="2400" dirty="0"/>
                  <a:t>(DWM).</a:t>
                </a:r>
              </a:p>
              <a:p>
                <a:pPr>
                  <a:lnSpc>
                    <a:spcPct val="150000"/>
                  </a:lnSpc>
                </a:pPr>
                <a:endParaRPr lang="en-US" sz="2400" dirty="0"/>
              </a:p>
            </p:txBody>
          </p:sp>
        </mc:Choice>
        <mc:Fallback xmlns="">
          <p:sp>
            <p:nvSpPr>
              <p:cNvPr id="2" name="Content Placeholder 1">
                <a:extLst>
                  <a:ext uri="{FF2B5EF4-FFF2-40B4-BE49-F238E27FC236}">
                    <a16:creationId xmlns:a16="http://schemas.microsoft.com/office/drawing/2014/main" id="{C1924E95-B662-476B-8747-32147EFC68ED}"/>
                  </a:ext>
                </a:extLst>
              </p:cNvPr>
              <p:cNvSpPr>
                <a:spLocks noGrp="1" noRot="1" noChangeAspect="1" noMove="1" noResize="1" noEditPoints="1" noAdjustHandles="1" noChangeArrowheads="1" noChangeShapeType="1" noTextEdit="1"/>
              </p:cNvSpPr>
              <p:nvPr>
                <p:ph idx="1"/>
              </p:nvPr>
            </p:nvSpPr>
            <p:spPr>
              <a:xfrm>
                <a:off x="397933" y="136525"/>
                <a:ext cx="11616266" cy="6485754"/>
              </a:xfrm>
              <a:blipFill>
                <a:blip r:embed="rId3"/>
                <a:stretch>
                  <a:fillRect l="-764"/>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1026" name="Picture 2" descr="document word matrix">
            <a:extLst>
              <a:ext uri="{FF2B5EF4-FFF2-40B4-BE49-F238E27FC236}">
                <a16:creationId xmlns:a16="http://schemas.microsoft.com/office/drawing/2014/main" id="{6B0A16CF-5DC6-4BCB-099C-E03E335C7A8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4354"/>
          <a:stretch/>
        </p:blipFill>
        <p:spPr bwMode="auto">
          <a:xfrm>
            <a:off x="6206066" y="2638696"/>
            <a:ext cx="5005917" cy="1779669"/>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7EE8E5D8-2357-5035-4C09-1FB5050374AC}"/>
              </a:ext>
            </a:extLst>
          </p:cNvPr>
          <p:cNvSpPr/>
          <p:nvPr/>
        </p:nvSpPr>
        <p:spPr>
          <a:xfrm>
            <a:off x="7763935" y="2971798"/>
            <a:ext cx="338666" cy="2963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8" name="Straight Arrow Connector 7">
            <a:extLst>
              <a:ext uri="{FF2B5EF4-FFF2-40B4-BE49-F238E27FC236}">
                <a16:creationId xmlns:a16="http://schemas.microsoft.com/office/drawing/2014/main" id="{FE0155E0-C51B-72A9-8DCE-F5AD1C792801}"/>
              </a:ext>
            </a:extLst>
          </p:cNvPr>
          <p:cNvCxnSpPr>
            <a:cxnSpLocks/>
            <a:endCxn id="6" idx="2"/>
          </p:cNvCxnSpPr>
          <p:nvPr/>
        </p:nvCxnSpPr>
        <p:spPr>
          <a:xfrm flipV="1">
            <a:off x="3344333" y="3119965"/>
            <a:ext cx="4419602" cy="995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1D53606-071A-0100-3192-23B6A054F061}"/>
              </a:ext>
            </a:extLst>
          </p:cNvPr>
          <p:cNvSpPr txBox="1"/>
          <p:nvPr/>
        </p:nvSpPr>
        <p:spPr>
          <a:xfrm>
            <a:off x="1498600" y="4115146"/>
            <a:ext cx="3175000" cy="369332"/>
          </a:xfrm>
          <a:prstGeom prst="rect">
            <a:avLst/>
          </a:prstGeom>
          <a:noFill/>
        </p:spPr>
        <p:txBody>
          <a:bodyPr wrap="square" rtlCol="0">
            <a:spAutoFit/>
          </a:bodyPr>
          <a:lstStyle/>
          <a:p>
            <a:r>
              <a:rPr lang="en-IL" dirty="0"/>
              <a:t>Document 1 include word 2</a:t>
            </a:r>
          </a:p>
        </p:txBody>
      </p:sp>
    </p:spTree>
    <p:extLst>
      <p:ext uri="{BB962C8B-B14F-4D97-AF65-F5344CB8AC3E}">
        <p14:creationId xmlns:p14="http://schemas.microsoft.com/office/powerpoint/2010/main" val="3887914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6: LDA for Topic Modeling</a:t>
            </a:r>
          </a:p>
          <a:p>
            <a:pPr>
              <a:lnSpc>
                <a:spcPct val="150000"/>
              </a:lnSpc>
            </a:pPr>
            <a:r>
              <a:rPr lang="en-US" sz="2400" dirty="0"/>
              <a:t>LDA converts DWM into two other matrices: </a:t>
            </a:r>
          </a:p>
          <a:p>
            <a:pPr>
              <a:lnSpc>
                <a:spcPct val="150000"/>
              </a:lnSpc>
            </a:pPr>
            <a:r>
              <a:rPr lang="en-US" sz="2400" dirty="0"/>
              <a:t>Document Topic Matrix and Topic Word Matrix</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3" name="Picture 2">
            <a:extLst>
              <a:ext uri="{FF2B5EF4-FFF2-40B4-BE49-F238E27FC236}">
                <a16:creationId xmlns:a16="http://schemas.microsoft.com/office/drawing/2014/main" id="{1A96462C-7869-C849-FCE4-F754B79FF1BA}"/>
              </a:ext>
            </a:extLst>
          </p:cNvPr>
          <p:cNvPicPr>
            <a:picLocks noChangeAspect="1"/>
          </p:cNvPicPr>
          <p:nvPr/>
        </p:nvPicPr>
        <p:blipFill>
          <a:blip r:embed="rId3"/>
          <a:stretch>
            <a:fillRect/>
          </a:stretch>
        </p:blipFill>
        <p:spPr>
          <a:xfrm>
            <a:off x="1515533" y="2387394"/>
            <a:ext cx="8771467" cy="3486355"/>
          </a:xfrm>
          <a:prstGeom prst="rect">
            <a:avLst/>
          </a:prstGeom>
        </p:spPr>
      </p:pic>
      <p:sp>
        <p:nvSpPr>
          <p:cNvPr id="7" name="Rectangle 6">
            <a:extLst>
              <a:ext uri="{FF2B5EF4-FFF2-40B4-BE49-F238E27FC236}">
                <a16:creationId xmlns:a16="http://schemas.microsoft.com/office/drawing/2014/main" id="{F8889C98-2C91-9B5C-6F11-4A7ABBF75DE9}"/>
              </a:ext>
            </a:extLst>
          </p:cNvPr>
          <p:cNvSpPr/>
          <p:nvPr/>
        </p:nvSpPr>
        <p:spPr>
          <a:xfrm>
            <a:off x="2472267" y="3276600"/>
            <a:ext cx="1566333"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175397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 6: LDA for Topic Modeling</a:t>
                </a:r>
              </a:p>
              <a:p>
                <a:r>
                  <a:rPr lang="en-US" sz="2400" dirty="0"/>
                  <a:t>Notations:</a:t>
                </a:r>
              </a:p>
              <a:p>
                <a:pPr>
                  <a:lnSpc>
                    <a:spcPct val="150000"/>
                  </a:lnSpc>
                </a:pPr>
                <a14:m>
                  <m:oMath xmlns:m="http://schemas.openxmlformats.org/officeDocument/2006/math">
                    <m:r>
                      <a:rPr lang="en-US" sz="2400" b="0" i="1" smtClean="0">
                        <a:latin typeface="Cambria Math" panose="02040503050406030204" pitchFamily="18" charset="0"/>
                      </a:rPr>
                      <m:t>𝛼</m:t>
                    </m:r>
                  </m:oMath>
                </a14:m>
                <a:r>
                  <a:rPr lang="en-US" sz="2400" dirty="0"/>
                  <a:t> – per-document topic distributions</a:t>
                </a:r>
              </a:p>
              <a:p>
                <a:pPr>
                  <a:lnSpc>
                    <a:spcPct val="150000"/>
                  </a:lnSpc>
                </a:pPr>
                <a14:m>
                  <m:oMath xmlns:m="http://schemas.openxmlformats.org/officeDocument/2006/math">
                    <m:r>
                      <a:rPr lang="en-US" sz="2400" b="0" i="1" smtClean="0">
                        <a:latin typeface="Cambria Math" panose="02040503050406030204" pitchFamily="18" charset="0"/>
                      </a:rPr>
                      <m:t>𝛽</m:t>
                    </m:r>
                  </m:oMath>
                </a14:m>
                <a:r>
                  <a:rPr lang="en-US" sz="2400" dirty="0"/>
                  <a:t> – per-topic word distribution</a:t>
                </a:r>
              </a:p>
              <a:p>
                <a:pPr>
                  <a:lnSpc>
                    <a:spcPct val="150000"/>
                  </a:lnSpc>
                </a:pPr>
                <a14:m>
                  <m:oMath xmlns:m="http://schemas.openxmlformats.org/officeDocument/2006/math">
                    <m:r>
                      <a:rPr lang="en-US" sz="2400" b="0" i="1" smtClean="0">
                        <a:latin typeface="Cambria Math" panose="02040503050406030204" pitchFamily="18" charset="0"/>
                      </a:rPr>
                      <m:t>𝜃</m:t>
                    </m:r>
                  </m:oMath>
                </a14:m>
                <a:r>
                  <a:rPr lang="en-US" sz="2400" dirty="0"/>
                  <a:t> – topic distribution for document m</a:t>
                </a:r>
              </a:p>
              <a:p>
                <a:pPr>
                  <a:lnSpc>
                    <a:spcPct val="150000"/>
                  </a:lnSpc>
                </a:pPr>
                <a14:m>
                  <m:oMath xmlns:m="http://schemas.openxmlformats.org/officeDocument/2006/math">
                    <m:r>
                      <a:rPr lang="en-US" sz="2400" i="1" smtClean="0">
                        <a:latin typeface="Cambria Math" panose="02040503050406030204" pitchFamily="18" charset="0"/>
                        <a:ea typeface="Cambria Math" panose="02040503050406030204" pitchFamily="18" charset="0"/>
                      </a:rPr>
                      <m:t>𝜑</m:t>
                    </m:r>
                  </m:oMath>
                </a14:m>
                <a:r>
                  <a:rPr lang="en-US" sz="2400" dirty="0"/>
                  <a:t> – word distribution for topic k</a:t>
                </a:r>
              </a:p>
              <a:p>
                <a:pPr>
                  <a:lnSpc>
                    <a:spcPct val="150000"/>
                  </a:lnSpc>
                </a:pPr>
                <a14:m>
                  <m:oMath xmlns:m="http://schemas.openxmlformats.org/officeDocument/2006/math">
                    <m:r>
                      <a:rPr lang="en-US" sz="2400" b="0" i="1" smtClean="0">
                        <a:latin typeface="Cambria Math" panose="02040503050406030204" pitchFamily="18" charset="0"/>
                        <a:ea typeface="Cambria Math" panose="02040503050406030204" pitchFamily="18" charset="0"/>
                      </a:rPr>
                      <m:t>𝑧</m:t>
                    </m:r>
                  </m:oMath>
                </a14:m>
                <a:r>
                  <a:rPr lang="en-US" sz="2400" dirty="0"/>
                  <a:t> – topic for the n-</a:t>
                </a:r>
                <a:r>
                  <a:rPr lang="en-US" sz="2400" dirty="0" err="1"/>
                  <a:t>th</a:t>
                </a:r>
                <a:r>
                  <a:rPr lang="en-US" sz="2400" dirty="0"/>
                  <a:t> word in document m</a:t>
                </a:r>
              </a:p>
              <a:p>
                <a:pPr>
                  <a:lnSpc>
                    <a:spcPct val="150000"/>
                  </a:lnSpc>
                </a:pPr>
                <a14:m>
                  <m:oMath xmlns:m="http://schemas.openxmlformats.org/officeDocument/2006/math">
                    <m:r>
                      <a:rPr lang="en-US" sz="2400" b="0" i="1" smtClean="0">
                        <a:latin typeface="Cambria Math" panose="02040503050406030204" pitchFamily="18" charset="0"/>
                        <a:ea typeface="Cambria Math" panose="02040503050406030204" pitchFamily="18" charset="0"/>
                      </a:rPr>
                      <m:t>𝑤</m:t>
                    </m:r>
                  </m:oMath>
                </a14:m>
                <a:r>
                  <a:rPr lang="en-US" sz="2400" dirty="0"/>
                  <a:t> – specific word</a:t>
                </a:r>
              </a:p>
              <a:p>
                <a:endParaRPr lang="en-US" dirty="0"/>
              </a:p>
              <a:p>
                <a:endParaRPr lang="en-US" dirty="0"/>
              </a:p>
              <a:p>
                <a:endParaRPr lang="en-US" dirty="0"/>
              </a:p>
            </p:txBody>
          </p:sp>
        </mc:Choice>
        <mc:Fallback xmlns="">
          <p:sp>
            <p:nvSpPr>
              <p:cNvPr id="2" name="Content Placeholder 1">
                <a:extLst>
                  <a:ext uri="{FF2B5EF4-FFF2-40B4-BE49-F238E27FC236}">
                    <a16:creationId xmlns:a16="http://schemas.microsoft.com/office/drawing/2014/main" id="{C1924E95-B662-476B-8747-32147EFC68ED}"/>
                  </a:ext>
                </a:extLst>
              </p:cNvPr>
              <p:cNvSpPr>
                <a:spLocks noGrp="1" noRot="1" noChangeAspect="1" noMove="1" noResize="1" noEditPoints="1" noAdjustHandles="1" noChangeArrowheads="1" noChangeShapeType="1" noTextEdit="1"/>
              </p:cNvSpPr>
              <p:nvPr>
                <p:ph idx="1"/>
              </p:nvPr>
            </p:nvSpPr>
            <p:spPr>
              <a:xfrm>
                <a:off x="397933" y="136525"/>
                <a:ext cx="11616266" cy="6485754"/>
              </a:xfrm>
              <a:blipFill>
                <a:blip r:embed="rId3"/>
                <a:stretch>
                  <a:fillRect l="-764"/>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r>
              <a:rPr lang="en-US" dirty="0"/>
              <a:t> </a:t>
            </a:r>
            <a:endParaRPr lang="en-IL" dirty="0"/>
          </a:p>
        </p:txBody>
      </p:sp>
      <p:pic>
        <p:nvPicPr>
          <p:cNvPr id="21506" name="Picture 2">
            <a:extLst>
              <a:ext uri="{FF2B5EF4-FFF2-40B4-BE49-F238E27FC236}">
                <a16:creationId xmlns:a16="http://schemas.microsoft.com/office/drawing/2014/main" id="{65360590-6C0B-6EF1-3F11-3A1B06B931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0650" y="2610440"/>
            <a:ext cx="4279900" cy="2113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188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2E508F-FCB2-8D27-F264-65C40D01F5F8}"/>
              </a:ext>
            </a:extLst>
          </p:cNvPr>
          <p:cNvSpPr>
            <a:spLocks noGrp="1" noChangeArrowheads="1"/>
          </p:cNvSpPr>
          <p:nvPr>
            <p:ph type="title"/>
          </p:nvPr>
        </p:nvSpPr>
        <p:spPr>
          <a:xfrm>
            <a:off x="838200" y="-107950"/>
            <a:ext cx="10515600" cy="1325563"/>
          </a:xfrm>
        </p:spPr>
        <p:txBody>
          <a:bodyPr>
            <a:normAutofit/>
          </a:bodyPr>
          <a:lstStyle/>
          <a:p>
            <a:pPr algn="ctr">
              <a:lnSpc>
                <a:spcPct val="150000"/>
              </a:lnSpc>
            </a:pPr>
            <a:r>
              <a:rPr lang="en-US" sz="3200" b="1" dirty="0">
                <a:latin typeface="+mn-lt"/>
              </a:rPr>
              <a:t>Step 6: LDA for Topic Modeling</a:t>
            </a:r>
          </a:p>
        </p:txBody>
      </p:sp>
      <p:sp>
        <p:nvSpPr>
          <p:cNvPr id="41986" name="Oval 3">
            <a:extLst>
              <a:ext uri="{FF2B5EF4-FFF2-40B4-BE49-F238E27FC236}">
                <a16:creationId xmlns:a16="http://schemas.microsoft.com/office/drawing/2014/main" id="{ACD81717-07CD-3801-A91A-FFEECA8195EC}"/>
              </a:ext>
            </a:extLst>
          </p:cNvPr>
          <p:cNvSpPr>
            <a:spLocks noChangeArrowheads="1"/>
          </p:cNvSpPr>
          <p:nvPr/>
        </p:nvSpPr>
        <p:spPr bwMode="auto">
          <a:xfrm>
            <a:off x="3429000" y="22860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600" b="1">
                <a:latin typeface="Symbol" pitchFamily="2" charset="2"/>
                <a:sym typeface="Symbol" pitchFamily="2" charset="2"/>
              </a:rPr>
              <a:t></a:t>
            </a:r>
          </a:p>
        </p:txBody>
      </p:sp>
      <p:sp>
        <p:nvSpPr>
          <p:cNvPr id="41987" name="Oval 4">
            <a:extLst>
              <a:ext uri="{FF2B5EF4-FFF2-40B4-BE49-F238E27FC236}">
                <a16:creationId xmlns:a16="http://schemas.microsoft.com/office/drawing/2014/main" id="{4B6B8027-4F4A-0777-7D70-285180907753}"/>
              </a:ext>
            </a:extLst>
          </p:cNvPr>
          <p:cNvSpPr>
            <a:spLocks noChangeArrowheads="1"/>
          </p:cNvSpPr>
          <p:nvPr/>
        </p:nvSpPr>
        <p:spPr bwMode="auto">
          <a:xfrm>
            <a:off x="43434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4</a:t>
            </a:r>
          </a:p>
        </p:txBody>
      </p:sp>
      <p:sp>
        <p:nvSpPr>
          <p:cNvPr id="41988" name="Oval 5">
            <a:extLst>
              <a:ext uri="{FF2B5EF4-FFF2-40B4-BE49-F238E27FC236}">
                <a16:creationId xmlns:a16="http://schemas.microsoft.com/office/drawing/2014/main" id="{3DCC8AE0-CFFE-8B7C-5B2A-5010FB3F7180}"/>
              </a:ext>
            </a:extLst>
          </p:cNvPr>
          <p:cNvSpPr>
            <a:spLocks noChangeArrowheads="1"/>
          </p:cNvSpPr>
          <p:nvPr/>
        </p:nvSpPr>
        <p:spPr bwMode="auto">
          <a:xfrm>
            <a:off x="37338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3</a:t>
            </a:r>
          </a:p>
        </p:txBody>
      </p:sp>
      <p:sp>
        <p:nvSpPr>
          <p:cNvPr id="41989" name="Oval 6">
            <a:extLst>
              <a:ext uri="{FF2B5EF4-FFF2-40B4-BE49-F238E27FC236}">
                <a16:creationId xmlns:a16="http://schemas.microsoft.com/office/drawing/2014/main" id="{EA071A8A-5C60-ACA4-E767-23C9C4511456}"/>
              </a:ext>
            </a:extLst>
          </p:cNvPr>
          <p:cNvSpPr>
            <a:spLocks noChangeArrowheads="1"/>
          </p:cNvSpPr>
          <p:nvPr/>
        </p:nvSpPr>
        <p:spPr bwMode="auto">
          <a:xfrm>
            <a:off x="31242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2</a:t>
            </a:r>
          </a:p>
        </p:txBody>
      </p:sp>
      <p:cxnSp>
        <p:nvCxnSpPr>
          <p:cNvPr id="41990" name="AutoShape 7">
            <a:extLst>
              <a:ext uri="{FF2B5EF4-FFF2-40B4-BE49-F238E27FC236}">
                <a16:creationId xmlns:a16="http://schemas.microsoft.com/office/drawing/2014/main" id="{B9FD2E93-0745-8091-E829-8A5AAB5A3E3E}"/>
              </a:ext>
            </a:extLst>
          </p:cNvPr>
          <p:cNvCxnSpPr>
            <a:cxnSpLocks noChangeShapeType="1"/>
            <a:stCxn id="41986" idx="4"/>
            <a:endCxn id="41994" idx="0"/>
          </p:cNvCxnSpPr>
          <p:nvPr/>
        </p:nvCxnSpPr>
        <p:spPr bwMode="auto">
          <a:xfrm flipH="1">
            <a:off x="2705100" y="2667000"/>
            <a:ext cx="9144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991" name="AutoShape 8">
            <a:extLst>
              <a:ext uri="{FF2B5EF4-FFF2-40B4-BE49-F238E27FC236}">
                <a16:creationId xmlns:a16="http://schemas.microsoft.com/office/drawing/2014/main" id="{309D9959-CF32-A91B-89F0-1B6178BF1886}"/>
              </a:ext>
            </a:extLst>
          </p:cNvPr>
          <p:cNvCxnSpPr>
            <a:cxnSpLocks noChangeShapeType="1"/>
            <a:stCxn id="41986" idx="4"/>
            <a:endCxn id="41989" idx="0"/>
          </p:cNvCxnSpPr>
          <p:nvPr/>
        </p:nvCxnSpPr>
        <p:spPr bwMode="auto">
          <a:xfrm flipH="1">
            <a:off x="3314700" y="2667000"/>
            <a:ext cx="3048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992" name="AutoShape 9">
            <a:extLst>
              <a:ext uri="{FF2B5EF4-FFF2-40B4-BE49-F238E27FC236}">
                <a16:creationId xmlns:a16="http://schemas.microsoft.com/office/drawing/2014/main" id="{DD115706-56C5-9259-5E4C-20D7A680C5C6}"/>
              </a:ext>
            </a:extLst>
          </p:cNvPr>
          <p:cNvCxnSpPr>
            <a:cxnSpLocks noChangeShapeType="1"/>
            <a:stCxn id="41986" idx="4"/>
            <a:endCxn id="41988" idx="0"/>
          </p:cNvCxnSpPr>
          <p:nvPr/>
        </p:nvCxnSpPr>
        <p:spPr bwMode="auto">
          <a:xfrm>
            <a:off x="3619500" y="2667000"/>
            <a:ext cx="3048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993" name="AutoShape 10">
            <a:extLst>
              <a:ext uri="{FF2B5EF4-FFF2-40B4-BE49-F238E27FC236}">
                <a16:creationId xmlns:a16="http://schemas.microsoft.com/office/drawing/2014/main" id="{E764C71E-D992-364C-2B0E-874F07597C04}"/>
              </a:ext>
            </a:extLst>
          </p:cNvPr>
          <p:cNvCxnSpPr>
            <a:cxnSpLocks noChangeShapeType="1"/>
            <a:stCxn id="41986" idx="4"/>
            <a:endCxn id="41987" idx="0"/>
          </p:cNvCxnSpPr>
          <p:nvPr/>
        </p:nvCxnSpPr>
        <p:spPr bwMode="auto">
          <a:xfrm>
            <a:off x="3619500" y="2667000"/>
            <a:ext cx="9144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994" name="Oval 11">
            <a:extLst>
              <a:ext uri="{FF2B5EF4-FFF2-40B4-BE49-F238E27FC236}">
                <a16:creationId xmlns:a16="http://schemas.microsoft.com/office/drawing/2014/main" id="{6E6219E8-2A17-4676-14B1-2B64781FE1DB}"/>
              </a:ext>
            </a:extLst>
          </p:cNvPr>
          <p:cNvSpPr>
            <a:spLocks noChangeArrowheads="1"/>
          </p:cNvSpPr>
          <p:nvPr/>
        </p:nvSpPr>
        <p:spPr bwMode="auto">
          <a:xfrm>
            <a:off x="25146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dirty="0"/>
              <a:t>z</a:t>
            </a:r>
            <a:r>
              <a:rPr lang="en-US" altLang="en-IL" sz="1800" baseline="-25000" dirty="0"/>
              <a:t>1</a:t>
            </a:r>
          </a:p>
        </p:txBody>
      </p:sp>
      <p:sp>
        <p:nvSpPr>
          <p:cNvPr id="41995" name="Oval 12">
            <a:extLst>
              <a:ext uri="{FF2B5EF4-FFF2-40B4-BE49-F238E27FC236}">
                <a16:creationId xmlns:a16="http://schemas.microsoft.com/office/drawing/2014/main" id="{31A15768-F927-95D6-D217-4CC0DFFA10E8}"/>
              </a:ext>
            </a:extLst>
          </p:cNvPr>
          <p:cNvSpPr>
            <a:spLocks noChangeArrowheads="1"/>
          </p:cNvSpPr>
          <p:nvPr/>
        </p:nvSpPr>
        <p:spPr bwMode="auto">
          <a:xfrm>
            <a:off x="43434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4</a:t>
            </a:r>
          </a:p>
        </p:txBody>
      </p:sp>
      <p:sp>
        <p:nvSpPr>
          <p:cNvPr id="41996" name="Oval 13">
            <a:extLst>
              <a:ext uri="{FF2B5EF4-FFF2-40B4-BE49-F238E27FC236}">
                <a16:creationId xmlns:a16="http://schemas.microsoft.com/office/drawing/2014/main" id="{D8EC8C39-D059-54F8-1736-DB5BFE150F0E}"/>
              </a:ext>
            </a:extLst>
          </p:cNvPr>
          <p:cNvSpPr>
            <a:spLocks noChangeArrowheads="1"/>
          </p:cNvSpPr>
          <p:nvPr/>
        </p:nvSpPr>
        <p:spPr bwMode="auto">
          <a:xfrm>
            <a:off x="37338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3</a:t>
            </a:r>
          </a:p>
        </p:txBody>
      </p:sp>
      <p:sp>
        <p:nvSpPr>
          <p:cNvPr id="41997" name="Oval 14">
            <a:extLst>
              <a:ext uri="{FF2B5EF4-FFF2-40B4-BE49-F238E27FC236}">
                <a16:creationId xmlns:a16="http://schemas.microsoft.com/office/drawing/2014/main" id="{3E607990-1426-3F9E-E6DE-34E127F3F596}"/>
              </a:ext>
            </a:extLst>
          </p:cNvPr>
          <p:cNvSpPr>
            <a:spLocks noChangeArrowheads="1"/>
          </p:cNvSpPr>
          <p:nvPr/>
        </p:nvSpPr>
        <p:spPr bwMode="auto">
          <a:xfrm>
            <a:off x="31242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2</a:t>
            </a:r>
          </a:p>
        </p:txBody>
      </p:sp>
      <p:sp>
        <p:nvSpPr>
          <p:cNvPr id="41998" name="Oval 15">
            <a:extLst>
              <a:ext uri="{FF2B5EF4-FFF2-40B4-BE49-F238E27FC236}">
                <a16:creationId xmlns:a16="http://schemas.microsoft.com/office/drawing/2014/main" id="{ECB56D01-4228-F844-DB96-473FE3BEAEA6}"/>
              </a:ext>
            </a:extLst>
          </p:cNvPr>
          <p:cNvSpPr>
            <a:spLocks noChangeArrowheads="1"/>
          </p:cNvSpPr>
          <p:nvPr/>
        </p:nvSpPr>
        <p:spPr bwMode="auto">
          <a:xfrm>
            <a:off x="25146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1</a:t>
            </a:r>
          </a:p>
        </p:txBody>
      </p:sp>
      <p:cxnSp>
        <p:nvCxnSpPr>
          <p:cNvPr id="41999" name="AutoShape 16">
            <a:extLst>
              <a:ext uri="{FF2B5EF4-FFF2-40B4-BE49-F238E27FC236}">
                <a16:creationId xmlns:a16="http://schemas.microsoft.com/office/drawing/2014/main" id="{725D9155-375E-126D-3241-FB51B7ADE37B}"/>
              </a:ext>
            </a:extLst>
          </p:cNvPr>
          <p:cNvCxnSpPr>
            <a:cxnSpLocks noChangeShapeType="1"/>
            <a:stCxn id="41994" idx="4"/>
            <a:endCxn id="41998" idx="0"/>
          </p:cNvCxnSpPr>
          <p:nvPr/>
        </p:nvCxnSpPr>
        <p:spPr bwMode="auto">
          <a:xfrm>
            <a:off x="27051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00" name="AutoShape 17">
            <a:extLst>
              <a:ext uri="{FF2B5EF4-FFF2-40B4-BE49-F238E27FC236}">
                <a16:creationId xmlns:a16="http://schemas.microsoft.com/office/drawing/2014/main" id="{CAE6A2E1-77F7-4934-961A-45951E824448}"/>
              </a:ext>
            </a:extLst>
          </p:cNvPr>
          <p:cNvCxnSpPr>
            <a:cxnSpLocks noChangeShapeType="1"/>
            <a:stCxn id="41987" idx="4"/>
            <a:endCxn id="41995" idx="0"/>
          </p:cNvCxnSpPr>
          <p:nvPr/>
        </p:nvCxnSpPr>
        <p:spPr bwMode="auto">
          <a:xfrm>
            <a:off x="45339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01" name="AutoShape 18">
            <a:extLst>
              <a:ext uri="{FF2B5EF4-FFF2-40B4-BE49-F238E27FC236}">
                <a16:creationId xmlns:a16="http://schemas.microsoft.com/office/drawing/2014/main" id="{54090E2E-D3F1-8316-F4B1-AC9E1CE7EDEC}"/>
              </a:ext>
            </a:extLst>
          </p:cNvPr>
          <p:cNvCxnSpPr>
            <a:cxnSpLocks noChangeShapeType="1"/>
            <a:stCxn id="41988" idx="4"/>
            <a:endCxn id="41996" idx="0"/>
          </p:cNvCxnSpPr>
          <p:nvPr/>
        </p:nvCxnSpPr>
        <p:spPr bwMode="auto">
          <a:xfrm>
            <a:off x="39243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02" name="AutoShape 19">
            <a:extLst>
              <a:ext uri="{FF2B5EF4-FFF2-40B4-BE49-F238E27FC236}">
                <a16:creationId xmlns:a16="http://schemas.microsoft.com/office/drawing/2014/main" id="{1169D09A-4507-B960-D660-B4E80167D1D2}"/>
              </a:ext>
            </a:extLst>
          </p:cNvPr>
          <p:cNvCxnSpPr>
            <a:cxnSpLocks noChangeShapeType="1"/>
            <a:stCxn id="41989" idx="4"/>
            <a:endCxn id="41997" idx="0"/>
          </p:cNvCxnSpPr>
          <p:nvPr/>
        </p:nvCxnSpPr>
        <p:spPr bwMode="auto">
          <a:xfrm>
            <a:off x="33147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2003" name="Oval 20">
            <a:extLst>
              <a:ext uri="{FF2B5EF4-FFF2-40B4-BE49-F238E27FC236}">
                <a16:creationId xmlns:a16="http://schemas.microsoft.com/office/drawing/2014/main" id="{2B622D07-EF66-2581-E2C5-C51D2CD7B20D}"/>
              </a:ext>
            </a:extLst>
          </p:cNvPr>
          <p:cNvSpPr>
            <a:spLocks noChangeArrowheads="1"/>
          </p:cNvSpPr>
          <p:nvPr/>
        </p:nvSpPr>
        <p:spPr bwMode="auto">
          <a:xfrm>
            <a:off x="6172200" y="15240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600" b="1">
                <a:latin typeface="Symbol" pitchFamily="2" charset="2"/>
                <a:sym typeface="Symbol" pitchFamily="2" charset="2"/>
              </a:rPr>
              <a:t></a:t>
            </a:r>
          </a:p>
        </p:txBody>
      </p:sp>
      <p:cxnSp>
        <p:nvCxnSpPr>
          <p:cNvPr id="42004" name="AutoShape 21">
            <a:extLst>
              <a:ext uri="{FF2B5EF4-FFF2-40B4-BE49-F238E27FC236}">
                <a16:creationId xmlns:a16="http://schemas.microsoft.com/office/drawing/2014/main" id="{7251F240-5B25-C74C-D2C2-4107B51D97A6}"/>
              </a:ext>
            </a:extLst>
          </p:cNvPr>
          <p:cNvCxnSpPr>
            <a:cxnSpLocks noChangeShapeType="1"/>
            <a:stCxn id="42003" idx="4"/>
            <a:endCxn id="41986" idx="0"/>
          </p:cNvCxnSpPr>
          <p:nvPr/>
        </p:nvCxnSpPr>
        <p:spPr bwMode="auto">
          <a:xfrm flipH="1">
            <a:off x="3619500" y="1905000"/>
            <a:ext cx="2743200"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2005" name="Oval 22">
            <a:extLst>
              <a:ext uri="{FF2B5EF4-FFF2-40B4-BE49-F238E27FC236}">
                <a16:creationId xmlns:a16="http://schemas.microsoft.com/office/drawing/2014/main" id="{EE6E42BA-40A3-344A-B705-436F4A0C47FC}"/>
              </a:ext>
            </a:extLst>
          </p:cNvPr>
          <p:cNvSpPr>
            <a:spLocks noChangeArrowheads="1"/>
          </p:cNvSpPr>
          <p:nvPr/>
        </p:nvSpPr>
        <p:spPr bwMode="auto">
          <a:xfrm>
            <a:off x="6172200" y="43434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600" b="1">
                <a:latin typeface="Symbol" pitchFamily="2" charset="2"/>
                <a:sym typeface="Symbol" pitchFamily="2" charset="2"/>
              </a:rPr>
              <a:t> b</a:t>
            </a:r>
          </a:p>
        </p:txBody>
      </p:sp>
      <p:cxnSp>
        <p:nvCxnSpPr>
          <p:cNvPr id="42006" name="AutoShape 23">
            <a:extLst>
              <a:ext uri="{FF2B5EF4-FFF2-40B4-BE49-F238E27FC236}">
                <a16:creationId xmlns:a16="http://schemas.microsoft.com/office/drawing/2014/main" id="{8FE4B1C5-57FA-5D35-0533-765E4F4A99C2}"/>
              </a:ext>
            </a:extLst>
          </p:cNvPr>
          <p:cNvCxnSpPr>
            <a:cxnSpLocks noChangeShapeType="1"/>
            <a:stCxn id="42005" idx="0"/>
            <a:endCxn id="41998" idx="4"/>
          </p:cNvCxnSpPr>
          <p:nvPr/>
        </p:nvCxnSpPr>
        <p:spPr bwMode="auto">
          <a:xfrm flipH="1" flipV="1">
            <a:off x="2705100" y="3886200"/>
            <a:ext cx="36576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07" name="AutoShape 24">
            <a:extLst>
              <a:ext uri="{FF2B5EF4-FFF2-40B4-BE49-F238E27FC236}">
                <a16:creationId xmlns:a16="http://schemas.microsoft.com/office/drawing/2014/main" id="{BD7319FC-EA97-4B0F-F379-C05660EF0DE4}"/>
              </a:ext>
            </a:extLst>
          </p:cNvPr>
          <p:cNvCxnSpPr>
            <a:cxnSpLocks noChangeShapeType="1"/>
            <a:stCxn id="42005" idx="0"/>
            <a:endCxn id="41995" idx="4"/>
          </p:cNvCxnSpPr>
          <p:nvPr/>
        </p:nvCxnSpPr>
        <p:spPr bwMode="auto">
          <a:xfrm flipH="1" flipV="1">
            <a:off x="4533900" y="3886200"/>
            <a:ext cx="18288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08" name="AutoShape 25">
            <a:extLst>
              <a:ext uri="{FF2B5EF4-FFF2-40B4-BE49-F238E27FC236}">
                <a16:creationId xmlns:a16="http://schemas.microsoft.com/office/drawing/2014/main" id="{3ACA6FBA-141D-AC93-D4DB-EE33E71E1B5C}"/>
              </a:ext>
            </a:extLst>
          </p:cNvPr>
          <p:cNvCxnSpPr>
            <a:cxnSpLocks noChangeShapeType="1"/>
            <a:stCxn id="42005" idx="0"/>
            <a:endCxn id="41997" idx="4"/>
          </p:cNvCxnSpPr>
          <p:nvPr/>
        </p:nvCxnSpPr>
        <p:spPr bwMode="auto">
          <a:xfrm flipH="1" flipV="1">
            <a:off x="3314700" y="3886200"/>
            <a:ext cx="30480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09" name="AutoShape 26">
            <a:extLst>
              <a:ext uri="{FF2B5EF4-FFF2-40B4-BE49-F238E27FC236}">
                <a16:creationId xmlns:a16="http://schemas.microsoft.com/office/drawing/2014/main" id="{A89379AC-A9CA-ACB9-7C37-B571F218E831}"/>
              </a:ext>
            </a:extLst>
          </p:cNvPr>
          <p:cNvCxnSpPr>
            <a:cxnSpLocks noChangeShapeType="1"/>
            <a:stCxn id="42005" idx="0"/>
            <a:endCxn id="41996" idx="4"/>
          </p:cNvCxnSpPr>
          <p:nvPr/>
        </p:nvCxnSpPr>
        <p:spPr bwMode="auto">
          <a:xfrm flipH="1" flipV="1">
            <a:off x="3924300" y="3886200"/>
            <a:ext cx="24384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2010" name="Oval 27">
            <a:extLst>
              <a:ext uri="{FF2B5EF4-FFF2-40B4-BE49-F238E27FC236}">
                <a16:creationId xmlns:a16="http://schemas.microsoft.com/office/drawing/2014/main" id="{80C8DDF8-A181-41D4-266C-08B1D26D0C5F}"/>
              </a:ext>
            </a:extLst>
          </p:cNvPr>
          <p:cNvSpPr>
            <a:spLocks noChangeArrowheads="1"/>
          </p:cNvSpPr>
          <p:nvPr/>
        </p:nvSpPr>
        <p:spPr bwMode="auto">
          <a:xfrm>
            <a:off x="6172200" y="22860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600" b="1">
                <a:latin typeface="Symbol" pitchFamily="2" charset="2"/>
                <a:sym typeface="Symbol" pitchFamily="2" charset="2"/>
              </a:rPr>
              <a:t></a:t>
            </a:r>
          </a:p>
        </p:txBody>
      </p:sp>
      <p:sp>
        <p:nvSpPr>
          <p:cNvPr id="42011" name="Oval 28">
            <a:extLst>
              <a:ext uri="{FF2B5EF4-FFF2-40B4-BE49-F238E27FC236}">
                <a16:creationId xmlns:a16="http://schemas.microsoft.com/office/drawing/2014/main" id="{998EC0ED-3857-957A-7235-B000FE37DF2B}"/>
              </a:ext>
            </a:extLst>
          </p:cNvPr>
          <p:cNvSpPr>
            <a:spLocks noChangeArrowheads="1"/>
          </p:cNvSpPr>
          <p:nvPr/>
        </p:nvSpPr>
        <p:spPr bwMode="auto">
          <a:xfrm>
            <a:off x="70866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4</a:t>
            </a:r>
          </a:p>
        </p:txBody>
      </p:sp>
      <p:sp>
        <p:nvSpPr>
          <p:cNvPr id="42012" name="Oval 29">
            <a:extLst>
              <a:ext uri="{FF2B5EF4-FFF2-40B4-BE49-F238E27FC236}">
                <a16:creationId xmlns:a16="http://schemas.microsoft.com/office/drawing/2014/main" id="{B3FDE3FF-6E2D-5578-9013-A90706F9AD57}"/>
              </a:ext>
            </a:extLst>
          </p:cNvPr>
          <p:cNvSpPr>
            <a:spLocks noChangeArrowheads="1"/>
          </p:cNvSpPr>
          <p:nvPr/>
        </p:nvSpPr>
        <p:spPr bwMode="auto">
          <a:xfrm>
            <a:off x="64770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3</a:t>
            </a:r>
          </a:p>
        </p:txBody>
      </p:sp>
      <p:sp>
        <p:nvSpPr>
          <p:cNvPr id="42013" name="Oval 30">
            <a:extLst>
              <a:ext uri="{FF2B5EF4-FFF2-40B4-BE49-F238E27FC236}">
                <a16:creationId xmlns:a16="http://schemas.microsoft.com/office/drawing/2014/main" id="{BFA6155B-4378-1457-7F1F-BEFB28BAC3D4}"/>
              </a:ext>
            </a:extLst>
          </p:cNvPr>
          <p:cNvSpPr>
            <a:spLocks noChangeArrowheads="1"/>
          </p:cNvSpPr>
          <p:nvPr/>
        </p:nvSpPr>
        <p:spPr bwMode="auto">
          <a:xfrm>
            <a:off x="58674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2</a:t>
            </a:r>
          </a:p>
        </p:txBody>
      </p:sp>
      <p:cxnSp>
        <p:nvCxnSpPr>
          <p:cNvPr id="42014" name="AutoShape 31">
            <a:extLst>
              <a:ext uri="{FF2B5EF4-FFF2-40B4-BE49-F238E27FC236}">
                <a16:creationId xmlns:a16="http://schemas.microsoft.com/office/drawing/2014/main" id="{DFEDFE29-B05C-F3D0-AAFC-39E3581B0E86}"/>
              </a:ext>
            </a:extLst>
          </p:cNvPr>
          <p:cNvCxnSpPr>
            <a:cxnSpLocks noChangeShapeType="1"/>
            <a:stCxn id="42010" idx="4"/>
            <a:endCxn id="42018" idx="0"/>
          </p:cNvCxnSpPr>
          <p:nvPr/>
        </p:nvCxnSpPr>
        <p:spPr bwMode="auto">
          <a:xfrm flipH="1">
            <a:off x="5448300" y="2667000"/>
            <a:ext cx="9144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15" name="AutoShape 32">
            <a:extLst>
              <a:ext uri="{FF2B5EF4-FFF2-40B4-BE49-F238E27FC236}">
                <a16:creationId xmlns:a16="http://schemas.microsoft.com/office/drawing/2014/main" id="{966C7AA2-61ED-F9C6-F0BD-A53BDD97FCC9}"/>
              </a:ext>
            </a:extLst>
          </p:cNvPr>
          <p:cNvCxnSpPr>
            <a:cxnSpLocks noChangeShapeType="1"/>
            <a:stCxn id="42010" idx="4"/>
            <a:endCxn id="42013" idx="0"/>
          </p:cNvCxnSpPr>
          <p:nvPr/>
        </p:nvCxnSpPr>
        <p:spPr bwMode="auto">
          <a:xfrm flipH="1">
            <a:off x="6057900" y="2667000"/>
            <a:ext cx="3048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16" name="AutoShape 33">
            <a:extLst>
              <a:ext uri="{FF2B5EF4-FFF2-40B4-BE49-F238E27FC236}">
                <a16:creationId xmlns:a16="http://schemas.microsoft.com/office/drawing/2014/main" id="{9BD90F7B-CB71-D237-A6A4-AAA5EF12818D}"/>
              </a:ext>
            </a:extLst>
          </p:cNvPr>
          <p:cNvCxnSpPr>
            <a:cxnSpLocks noChangeShapeType="1"/>
            <a:stCxn id="42010" idx="4"/>
            <a:endCxn id="42012" idx="0"/>
          </p:cNvCxnSpPr>
          <p:nvPr/>
        </p:nvCxnSpPr>
        <p:spPr bwMode="auto">
          <a:xfrm>
            <a:off x="6362700" y="2667000"/>
            <a:ext cx="3048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17" name="AutoShape 34">
            <a:extLst>
              <a:ext uri="{FF2B5EF4-FFF2-40B4-BE49-F238E27FC236}">
                <a16:creationId xmlns:a16="http://schemas.microsoft.com/office/drawing/2014/main" id="{21F93BCA-8980-6803-B3D7-EA04F69BF0F6}"/>
              </a:ext>
            </a:extLst>
          </p:cNvPr>
          <p:cNvCxnSpPr>
            <a:cxnSpLocks noChangeShapeType="1"/>
            <a:stCxn id="42010" idx="4"/>
            <a:endCxn id="42011" idx="0"/>
          </p:cNvCxnSpPr>
          <p:nvPr/>
        </p:nvCxnSpPr>
        <p:spPr bwMode="auto">
          <a:xfrm>
            <a:off x="6362700" y="2667000"/>
            <a:ext cx="9144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2018" name="Oval 35">
            <a:extLst>
              <a:ext uri="{FF2B5EF4-FFF2-40B4-BE49-F238E27FC236}">
                <a16:creationId xmlns:a16="http://schemas.microsoft.com/office/drawing/2014/main" id="{DA371188-1AC4-CCCA-AAC5-1AF21CF6DC45}"/>
              </a:ext>
            </a:extLst>
          </p:cNvPr>
          <p:cNvSpPr>
            <a:spLocks noChangeArrowheads="1"/>
          </p:cNvSpPr>
          <p:nvPr/>
        </p:nvSpPr>
        <p:spPr bwMode="auto">
          <a:xfrm>
            <a:off x="52578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1</a:t>
            </a:r>
          </a:p>
        </p:txBody>
      </p:sp>
      <p:sp>
        <p:nvSpPr>
          <p:cNvPr id="42019" name="Oval 36">
            <a:extLst>
              <a:ext uri="{FF2B5EF4-FFF2-40B4-BE49-F238E27FC236}">
                <a16:creationId xmlns:a16="http://schemas.microsoft.com/office/drawing/2014/main" id="{98519F99-A27F-37AD-C23E-10C3E0D1DE9A}"/>
              </a:ext>
            </a:extLst>
          </p:cNvPr>
          <p:cNvSpPr>
            <a:spLocks noChangeArrowheads="1"/>
          </p:cNvSpPr>
          <p:nvPr/>
        </p:nvSpPr>
        <p:spPr bwMode="auto">
          <a:xfrm>
            <a:off x="70866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4</a:t>
            </a:r>
          </a:p>
        </p:txBody>
      </p:sp>
      <p:sp>
        <p:nvSpPr>
          <p:cNvPr id="42020" name="Oval 37">
            <a:extLst>
              <a:ext uri="{FF2B5EF4-FFF2-40B4-BE49-F238E27FC236}">
                <a16:creationId xmlns:a16="http://schemas.microsoft.com/office/drawing/2014/main" id="{97730230-AC31-F641-28AF-C17A54D94DBD}"/>
              </a:ext>
            </a:extLst>
          </p:cNvPr>
          <p:cNvSpPr>
            <a:spLocks noChangeArrowheads="1"/>
          </p:cNvSpPr>
          <p:nvPr/>
        </p:nvSpPr>
        <p:spPr bwMode="auto">
          <a:xfrm>
            <a:off x="64770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3</a:t>
            </a:r>
          </a:p>
        </p:txBody>
      </p:sp>
      <p:sp>
        <p:nvSpPr>
          <p:cNvPr id="42021" name="Oval 38">
            <a:extLst>
              <a:ext uri="{FF2B5EF4-FFF2-40B4-BE49-F238E27FC236}">
                <a16:creationId xmlns:a16="http://schemas.microsoft.com/office/drawing/2014/main" id="{BBB7D575-FABC-961F-4FC3-0879D7D43277}"/>
              </a:ext>
            </a:extLst>
          </p:cNvPr>
          <p:cNvSpPr>
            <a:spLocks noChangeArrowheads="1"/>
          </p:cNvSpPr>
          <p:nvPr/>
        </p:nvSpPr>
        <p:spPr bwMode="auto">
          <a:xfrm>
            <a:off x="58674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2</a:t>
            </a:r>
          </a:p>
        </p:txBody>
      </p:sp>
      <p:sp>
        <p:nvSpPr>
          <p:cNvPr id="42022" name="Oval 39">
            <a:extLst>
              <a:ext uri="{FF2B5EF4-FFF2-40B4-BE49-F238E27FC236}">
                <a16:creationId xmlns:a16="http://schemas.microsoft.com/office/drawing/2014/main" id="{AA4DEB9B-74A5-B176-19DD-080C10BD8510}"/>
              </a:ext>
            </a:extLst>
          </p:cNvPr>
          <p:cNvSpPr>
            <a:spLocks noChangeArrowheads="1"/>
          </p:cNvSpPr>
          <p:nvPr/>
        </p:nvSpPr>
        <p:spPr bwMode="auto">
          <a:xfrm>
            <a:off x="52578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1</a:t>
            </a:r>
          </a:p>
        </p:txBody>
      </p:sp>
      <p:cxnSp>
        <p:nvCxnSpPr>
          <p:cNvPr id="42023" name="AutoShape 40">
            <a:extLst>
              <a:ext uri="{FF2B5EF4-FFF2-40B4-BE49-F238E27FC236}">
                <a16:creationId xmlns:a16="http://schemas.microsoft.com/office/drawing/2014/main" id="{D5DECDEC-DAD3-91E4-A6CD-D36FD79C9CA9}"/>
              </a:ext>
            </a:extLst>
          </p:cNvPr>
          <p:cNvCxnSpPr>
            <a:cxnSpLocks noChangeShapeType="1"/>
            <a:stCxn id="42018" idx="4"/>
            <a:endCxn id="42022" idx="0"/>
          </p:cNvCxnSpPr>
          <p:nvPr/>
        </p:nvCxnSpPr>
        <p:spPr bwMode="auto">
          <a:xfrm>
            <a:off x="54483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24" name="AutoShape 41">
            <a:extLst>
              <a:ext uri="{FF2B5EF4-FFF2-40B4-BE49-F238E27FC236}">
                <a16:creationId xmlns:a16="http://schemas.microsoft.com/office/drawing/2014/main" id="{494C2FEB-0329-8394-F241-FCBB28A79CE8}"/>
              </a:ext>
            </a:extLst>
          </p:cNvPr>
          <p:cNvCxnSpPr>
            <a:cxnSpLocks noChangeShapeType="1"/>
            <a:stCxn id="42011" idx="4"/>
            <a:endCxn id="42019" idx="0"/>
          </p:cNvCxnSpPr>
          <p:nvPr/>
        </p:nvCxnSpPr>
        <p:spPr bwMode="auto">
          <a:xfrm>
            <a:off x="72771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25" name="AutoShape 42">
            <a:extLst>
              <a:ext uri="{FF2B5EF4-FFF2-40B4-BE49-F238E27FC236}">
                <a16:creationId xmlns:a16="http://schemas.microsoft.com/office/drawing/2014/main" id="{19407ED5-98E8-D34D-C9B2-15AE1346AF28}"/>
              </a:ext>
            </a:extLst>
          </p:cNvPr>
          <p:cNvCxnSpPr>
            <a:cxnSpLocks noChangeShapeType="1"/>
            <a:stCxn id="42012" idx="4"/>
            <a:endCxn id="42020" idx="0"/>
          </p:cNvCxnSpPr>
          <p:nvPr/>
        </p:nvCxnSpPr>
        <p:spPr bwMode="auto">
          <a:xfrm>
            <a:off x="66675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26" name="AutoShape 43">
            <a:extLst>
              <a:ext uri="{FF2B5EF4-FFF2-40B4-BE49-F238E27FC236}">
                <a16:creationId xmlns:a16="http://schemas.microsoft.com/office/drawing/2014/main" id="{0A974FEF-BD2C-6277-D4CC-5E7A70A4F60D}"/>
              </a:ext>
            </a:extLst>
          </p:cNvPr>
          <p:cNvCxnSpPr>
            <a:cxnSpLocks noChangeShapeType="1"/>
            <a:stCxn id="42013" idx="4"/>
            <a:endCxn id="42021" idx="0"/>
          </p:cNvCxnSpPr>
          <p:nvPr/>
        </p:nvCxnSpPr>
        <p:spPr bwMode="auto">
          <a:xfrm>
            <a:off x="60579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27" name="AutoShape 44">
            <a:extLst>
              <a:ext uri="{FF2B5EF4-FFF2-40B4-BE49-F238E27FC236}">
                <a16:creationId xmlns:a16="http://schemas.microsoft.com/office/drawing/2014/main" id="{F8E30822-27AF-0A83-7ED1-88487BDA36AE}"/>
              </a:ext>
            </a:extLst>
          </p:cNvPr>
          <p:cNvCxnSpPr>
            <a:cxnSpLocks noChangeShapeType="1"/>
            <a:stCxn id="42003" idx="4"/>
            <a:endCxn id="42010" idx="0"/>
          </p:cNvCxnSpPr>
          <p:nvPr/>
        </p:nvCxnSpPr>
        <p:spPr bwMode="auto">
          <a:xfrm>
            <a:off x="6362700" y="1905000"/>
            <a:ext cx="0"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2028" name="Oval 45">
            <a:extLst>
              <a:ext uri="{FF2B5EF4-FFF2-40B4-BE49-F238E27FC236}">
                <a16:creationId xmlns:a16="http://schemas.microsoft.com/office/drawing/2014/main" id="{A387E567-8FEF-76B3-F714-70BB9F855FF8}"/>
              </a:ext>
            </a:extLst>
          </p:cNvPr>
          <p:cNvSpPr>
            <a:spLocks noChangeArrowheads="1"/>
          </p:cNvSpPr>
          <p:nvPr/>
        </p:nvSpPr>
        <p:spPr bwMode="auto">
          <a:xfrm>
            <a:off x="8991600" y="22860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600" b="1">
                <a:latin typeface="Symbol" pitchFamily="2" charset="2"/>
                <a:sym typeface="Symbol" pitchFamily="2" charset="2"/>
              </a:rPr>
              <a:t></a:t>
            </a:r>
          </a:p>
        </p:txBody>
      </p:sp>
      <p:sp>
        <p:nvSpPr>
          <p:cNvPr id="42029" name="Oval 46">
            <a:extLst>
              <a:ext uri="{FF2B5EF4-FFF2-40B4-BE49-F238E27FC236}">
                <a16:creationId xmlns:a16="http://schemas.microsoft.com/office/drawing/2014/main" id="{1EBB0104-A01F-9878-B06C-D92C941C2F2E}"/>
              </a:ext>
            </a:extLst>
          </p:cNvPr>
          <p:cNvSpPr>
            <a:spLocks noChangeArrowheads="1"/>
          </p:cNvSpPr>
          <p:nvPr/>
        </p:nvSpPr>
        <p:spPr bwMode="auto">
          <a:xfrm>
            <a:off x="99060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4</a:t>
            </a:r>
          </a:p>
        </p:txBody>
      </p:sp>
      <p:sp>
        <p:nvSpPr>
          <p:cNvPr id="42030" name="Oval 47">
            <a:extLst>
              <a:ext uri="{FF2B5EF4-FFF2-40B4-BE49-F238E27FC236}">
                <a16:creationId xmlns:a16="http://schemas.microsoft.com/office/drawing/2014/main" id="{0FD3C24D-FEA8-195D-80A3-22AA247D125C}"/>
              </a:ext>
            </a:extLst>
          </p:cNvPr>
          <p:cNvSpPr>
            <a:spLocks noChangeArrowheads="1"/>
          </p:cNvSpPr>
          <p:nvPr/>
        </p:nvSpPr>
        <p:spPr bwMode="auto">
          <a:xfrm>
            <a:off x="92964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3</a:t>
            </a:r>
          </a:p>
        </p:txBody>
      </p:sp>
      <p:sp>
        <p:nvSpPr>
          <p:cNvPr id="42031" name="Oval 48">
            <a:extLst>
              <a:ext uri="{FF2B5EF4-FFF2-40B4-BE49-F238E27FC236}">
                <a16:creationId xmlns:a16="http://schemas.microsoft.com/office/drawing/2014/main" id="{CC15EE24-7863-7EA8-5C4F-86D486750062}"/>
              </a:ext>
            </a:extLst>
          </p:cNvPr>
          <p:cNvSpPr>
            <a:spLocks noChangeArrowheads="1"/>
          </p:cNvSpPr>
          <p:nvPr/>
        </p:nvSpPr>
        <p:spPr bwMode="auto">
          <a:xfrm>
            <a:off x="86868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2</a:t>
            </a:r>
          </a:p>
        </p:txBody>
      </p:sp>
      <p:cxnSp>
        <p:nvCxnSpPr>
          <p:cNvPr id="42032" name="AutoShape 49">
            <a:extLst>
              <a:ext uri="{FF2B5EF4-FFF2-40B4-BE49-F238E27FC236}">
                <a16:creationId xmlns:a16="http://schemas.microsoft.com/office/drawing/2014/main" id="{3FB4CF7D-B9CE-9777-6DA5-62099D1EBFB4}"/>
              </a:ext>
            </a:extLst>
          </p:cNvPr>
          <p:cNvCxnSpPr>
            <a:cxnSpLocks noChangeShapeType="1"/>
            <a:stCxn id="42028" idx="4"/>
            <a:endCxn id="42036" idx="0"/>
          </p:cNvCxnSpPr>
          <p:nvPr/>
        </p:nvCxnSpPr>
        <p:spPr bwMode="auto">
          <a:xfrm flipH="1">
            <a:off x="8267700" y="2667000"/>
            <a:ext cx="9144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33" name="AutoShape 50">
            <a:extLst>
              <a:ext uri="{FF2B5EF4-FFF2-40B4-BE49-F238E27FC236}">
                <a16:creationId xmlns:a16="http://schemas.microsoft.com/office/drawing/2014/main" id="{4B7EA50F-A60E-606F-BAC3-80ACD87BD174}"/>
              </a:ext>
            </a:extLst>
          </p:cNvPr>
          <p:cNvCxnSpPr>
            <a:cxnSpLocks noChangeShapeType="1"/>
            <a:stCxn id="42028" idx="4"/>
            <a:endCxn id="42031" idx="0"/>
          </p:cNvCxnSpPr>
          <p:nvPr/>
        </p:nvCxnSpPr>
        <p:spPr bwMode="auto">
          <a:xfrm flipH="1">
            <a:off x="8877300" y="2667000"/>
            <a:ext cx="3048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34" name="AutoShape 51">
            <a:extLst>
              <a:ext uri="{FF2B5EF4-FFF2-40B4-BE49-F238E27FC236}">
                <a16:creationId xmlns:a16="http://schemas.microsoft.com/office/drawing/2014/main" id="{EE4ADF0A-56BD-CF0B-C473-497376819349}"/>
              </a:ext>
            </a:extLst>
          </p:cNvPr>
          <p:cNvCxnSpPr>
            <a:cxnSpLocks noChangeShapeType="1"/>
            <a:stCxn id="42028" idx="4"/>
            <a:endCxn id="42030" idx="0"/>
          </p:cNvCxnSpPr>
          <p:nvPr/>
        </p:nvCxnSpPr>
        <p:spPr bwMode="auto">
          <a:xfrm>
            <a:off x="9182100" y="2667000"/>
            <a:ext cx="3048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35" name="AutoShape 52">
            <a:extLst>
              <a:ext uri="{FF2B5EF4-FFF2-40B4-BE49-F238E27FC236}">
                <a16:creationId xmlns:a16="http://schemas.microsoft.com/office/drawing/2014/main" id="{F8248835-D4F7-50A1-6309-DA05752EFDE9}"/>
              </a:ext>
            </a:extLst>
          </p:cNvPr>
          <p:cNvCxnSpPr>
            <a:cxnSpLocks noChangeShapeType="1"/>
            <a:stCxn id="42028" idx="4"/>
            <a:endCxn id="42029" idx="0"/>
          </p:cNvCxnSpPr>
          <p:nvPr/>
        </p:nvCxnSpPr>
        <p:spPr bwMode="auto">
          <a:xfrm>
            <a:off x="9182100" y="2667000"/>
            <a:ext cx="91440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2036" name="Oval 53">
            <a:extLst>
              <a:ext uri="{FF2B5EF4-FFF2-40B4-BE49-F238E27FC236}">
                <a16:creationId xmlns:a16="http://schemas.microsoft.com/office/drawing/2014/main" id="{2F3995C3-A587-9547-8B01-DBCA82B45C73}"/>
              </a:ext>
            </a:extLst>
          </p:cNvPr>
          <p:cNvSpPr>
            <a:spLocks noChangeArrowheads="1"/>
          </p:cNvSpPr>
          <p:nvPr/>
        </p:nvSpPr>
        <p:spPr bwMode="auto">
          <a:xfrm>
            <a:off x="8077200" y="2895600"/>
            <a:ext cx="381000" cy="381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z</a:t>
            </a:r>
            <a:r>
              <a:rPr lang="en-US" altLang="en-IL" sz="1800" baseline="-25000"/>
              <a:t>1</a:t>
            </a:r>
          </a:p>
        </p:txBody>
      </p:sp>
      <p:sp>
        <p:nvSpPr>
          <p:cNvPr id="42037" name="Oval 54">
            <a:extLst>
              <a:ext uri="{FF2B5EF4-FFF2-40B4-BE49-F238E27FC236}">
                <a16:creationId xmlns:a16="http://schemas.microsoft.com/office/drawing/2014/main" id="{D6E39763-6FAB-F83B-0809-C19A26A94672}"/>
              </a:ext>
            </a:extLst>
          </p:cNvPr>
          <p:cNvSpPr>
            <a:spLocks noChangeArrowheads="1"/>
          </p:cNvSpPr>
          <p:nvPr/>
        </p:nvSpPr>
        <p:spPr bwMode="auto">
          <a:xfrm>
            <a:off x="99060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4</a:t>
            </a:r>
          </a:p>
        </p:txBody>
      </p:sp>
      <p:sp>
        <p:nvSpPr>
          <p:cNvPr id="42038" name="Oval 55">
            <a:extLst>
              <a:ext uri="{FF2B5EF4-FFF2-40B4-BE49-F238E27FC236}">
                <a16:creationId xmlns:a16="http://schemas.microsoft.com/office/drawing/2014/main" id="{5828F620-B6F6-C77C-672F-E288E7517336}"/>
              </a:ext>
            </a:extLst>
          </p:cNvPr>
          <p:cNvSpPr>
            <a:spLocks noChangeArrowheads="1"/>
          </p:cNvSpPr>
          <p:nvPr/>
        </p:nvSpPr>
        <p:spPr bwMode="auto">
          <a:xfrm>
            <a:off x="92964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3</a:t>
            </a:r>
          </a:p>
        </p:txBody>
      </p:sp>
      <p:sp>
        <p:nvSpPr>
          <p:cNvPr id="42039" name="Oval 56">
            <a:extLst>
              <a:ext uri="{FF2B5EF4-FFF2-40B4-BE49-F238E27FC236}">
                <a16:creationId xmlns:a16="http://schemas.microsoft.com/office/drawing/2014/main" id="{39AFA86E-16D5-BFC4-C693-4AFD03F5C60C}"/>
              </a:ext>
            </a:extLst>
          </p:cNvPr>
          <p:cNvSpPr>
            <a:spLocks noChangeArrowheads="1"/>
          </p:cNvSpPr>
          <p:nvPr/>
        </p:nvSpPr>
        <p:spPr bwMode="auto">
          <a:xfrm>
            <a:off x="86868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2</a:t>
            </a:r>
          </a:p>
        </p:txBody>
      </p:sp>
      <p:sp>
        <p:nvSpPr>
          <p:cNvPr id="42040" name="Oval 57">
            <a:extLst>
              <a:ext uri="{FF2B5EF4-FFF2-40B4-BE49-F238E27FC236}">
                <a16:creationId xmlns:a16="http://schemas.microsoft.com/office/drawing/2014/main" id="{2CBD77A3-D33B-15FA-6781-D3BA59EB56B6}"/>
              </a:ext>
            </a:extLst>
          </p:cNvPr>
          <p:cNvSpPr>
            <a:spLocks noChangeArrowheads="1"/>
          </p:cNvSpPr>
          <p:nvPr/>
        </p:nvSpPr>
        <p:spPr bwMode="auto">
          <a:xfrm>
            <a:off x="8077200" y="3505200"/>
            <a:ext cx="381000" cy="381000"/>
          </a:xfrm>
          <a:prstGeom prst="ellipse">
            <a:avLst/>
          </a:prstGeom>
          <a:solidFill>
            <a:schemeClr val="accent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eaLnBrk="1" hangingPunct="1"/>
            <a:r>
              <a:rPr lang="en-US" altLang="en-IL" sz="1800"/>
              <a:t>w</a:t>
            </a:r>
            <a:r>
              <a:rPr lang="en-US" altLang="en-IL" sz="1800" baseline="-25000"/>
              <a:t>1</a:t>
            </a:r>
          </a:p>
        </p:txBody>
      </p:sp>
      <p:cxnSp>
        <p:nvCxnSpPr>
          <p:cNvPr id="42041" name="AutoShape 58">
            <a:extLst>
              <a:ext uri="{FF2B5EF4-FFF2-40B4-BE49-F238E27FC236}">
                <a16:creationId xmlns:a16="http://schemas.microsoft.com/office/drawing/2014/main" id="{34448D2D-E008-4BA1-78DD-F546DC0AED9F}"/>
              </a:ext>
            </a:extLst>
          </p:cNvPr>
          <p:cNvCxnSpPr>
            <a:cxnSpLocks noChangeShapeType="1"/>
            <a:stCxn id="42036" idx="4"/>
            <a:endCxn id="42040" idx="0"/>
          </p:cNvCxnSpPr>
          <p:nvPr/>
        </p:nvCxnSpPr>
        <p:spPr bwMode="auto">
          <a:xfrm>
            <a:off x="82677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42" name="AutoShape 59">
            <a:extLst>
              <a:ext uri="{FF2B5EF4-FFF2-40B4-BE49-F238E27FC236}">
                <a16:creationId xmlns:a16="http://schemas.microsoft.com/office/drawing/2014/main" id="{57B26542-F419-9600-4FE2-6C35EA95CE2D}"/>
              </a:ext>
            </a:extLst>
          </p:cNvPr>
          <p:cNvCxnSpPr>
            <a:cxnSpLocks noChangeShapeType="1"/>
            <a:stCxn id="42029" idx="4"/>
            <a:endCxn id="42037" idx="0"/>
          </p:cNvCxnSpPr>
          <p:nvPr/>
        </p:nvCxnSpPr>
        <p:spPr bwMode="auto">
          <a:xfrm>
            <a:off x="100965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43" name="AutoShape 60">
            <a:extLst>
              <a:ext uri="{FF2B5EF4-FFF2-40B4-BE49-F238E27FC236}">
                <a16:creationId xmlns:a16="http://schemas.microsoft.com/office/drawing/2014/main" id="{D90F2F6F-5AE6-AAD3-4EDC-9BC05098285C}"/>
              </a:ext>
            </a:extLst>
          </p:cNvPr>
          <p:cNvCxnSpPr>
            <a:cxnSpLocks noChangeShapeType="1"/>
            <a:stCxn id="42030" idx="4"/>
            <a:endCxn id="42038" idx="0"/>
          </p:cNvCxnSpPr>
          <p:nvPr/>
        </p:nvCxnSpPr>
        <p:spPr bwMode="auto">
          <a:xfrm>
            <a:off x="94869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44" name="AutoShape 61">
            <a:extLst>
              <a:ext uri="{FF2B5EF4-FFF2-40B4-BE49-F238E27FC236}">
                <a16:creationId xmlns:a16="http://schemas.microsoft.com/office/drawing/2014/main" id="{8F1FCC88-806F-BE9B-83C8-A148863FAB45}"/>
              </a:ext>
            </a:extLst>
          </p:cNvPr>
          <p:cNvCxnSpPr>
            <a:cxnSpLocks noChangeShapeType="1"/>
            <a:stCxn id="42031" idx="4"/>
            <a:endCxn id="42039" idx="0"/>
          </p:cNvCxnSpPr>
          <p:nvPr/>
        </p:nvCxnSpPr>
        <p:spPr bwMode="auto">
          <a:xfrm>
            <a:off x="8877300" y="32766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45" name="AutoShape 62">
            <a:extLst>
              <a:ext uri="{FF2B5EF4-FFF2-40B4-BE49-F238E27FC236}">
                <a16:creationId xmlns:a16="http://schemas.microsoft.com/office/drawing/2014/main" id="{B29BBC8E-D63D-3F41-F0D0-44BFC78FF007}"/>
              </a:ext>
            </a:extLst>
          </p:cNvPr>
          <p:cNvCxnSpPr>
            <a:cxnSpLocks noChangeShapeType="1"/>
            <a:stCxn id="42003" idx="4"/>
            <a:endCxn id="42028" idx="0"/>
          </p:cNvCxnSpPr>
          <p:nvPr/>
        </p:nvCxnSpPr>
        <p:spPr bwMode="auto">
          <a:xfrm>
            <a:off x="6362700" y="1905000"/>
            <a:ext cx="2819400"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46" name="AutoShape 63">
            <a:extLst>
              <a:ext uri="{FF2B5EF4-FFF2-40B4-BE49-F238E27FC236}">
                <a16:creationId xmlns:a16="http://schemas.microsoft.com/office/drawing/2014/main" id="{3F5ECD46-2798-68CB-115E-3766C3366FAB}"/>
              </a:ext>
            </a:extLst>
          </p:cNvPr>
          <p:cNvCxnSpPr>
            <a:cxnSpLocks noChangeShapeType="1"/>
            <a:stCxn id="42005" idx="0"/>
            <a:endCxn id="42022" idx="4"/>
          </p:cNvCxnSpPr>
          <p:nvPr/>
        </p:nvCxnSpPr>
        <p:spPr bwMode="auto">
          <a:xfrm flipH="1" flipV="1">
            <a:off x="5448300" y="3886200"/>
            <a:ext cx="9144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47" name="AutoShape 64">
            <a:extLst>
              <a:ext uri="{FF2B5EF4-FFF2-40B4-BE49-F238E27FC236}">
                <a16:creationId xmlns:a16="http://schemas.microsoft.com/office/drawing/2014/main" id="{72F6147D-34F6-7912-7C88-9CEC4E5CD269}"/>
              </a:ext>
            </a:extLst>
          </p:cNvPr>
          <p:cNvCxnSpPr>
            <a:cxnSpLocks noChangeShapeType="1"/>
            <a:stCxn id="42005" idx="0"/>
            <a:endCxn id="42021" idx="4"/>
          </p:cNvCxnSpPr>
          <p:nvPr/>
        </p:nvCxnSpPr>
        <p:spPr bwMode="auto">
          <a:xfrm flipH="1" flipV="1">
            <a:off x="6057900" y="3886200"/>
            <a:ext cx="3048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48" name="AutoShape 65">
            <a:extLst>
              <a:ext uri="{FF2B5EF4-FFF2-40B4-BE49-F238E27FC236}">
                <a16:creationId xmlns:a16="http://schemas.microsoft.com/office/drawing/2014/main" id="{01D85018-9E6D-227B-5DE4-28D7254CE0AE}"/>
              </a:ext>
            </a:extLst>
          </p:cNvPr>
          <p:cNvCxnSpPr>
            <a:cxnSpLocks noChangeShapeType="1"/>
            <a:stCxn id="42005" idx="0"/>
            <a:endCxn id="42020" idx="4"/>
          </p:cNvCxnSpPr>
          <p:nvPr/>
        </p:nvCxnSpPr>
        <p:spPr bwMode="auto">
          <a:xfrm flipV="1">
            <a:off x="6362700" y="3886200"/>
            <a:ext cx="3048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49" name="AutoShape 66">
            <a:extLst>
              <a:ext uri="{FF2B5EF4-FFF2-40B4-BE49-F238E27FC236}">
                <a16:creationId xmlns:a16="http://schemas.microsoft.com/office/drawing/2014/main" id="{FB05B626-CCF3-7471-359B-AD79BAD3FF37}"/>
              </a:ext>
            </a:extLst>
          </p:cNvPr>
          <p:cNvCxnSpPr>
            <a:cxnSpLocks noChangeShapeType="1"/>
            <a:stCxn id="42005" idx="0"/>
            <a:endCxn id="42019" idx="4"/>
          </p:cNvCxnSpPr>
          <p:nvPr/>
        </p:nvCxnSpPr>
        <p:spPr bwMode="auto">
          <a:xfrm flipV="1">
            <a:off x="6362700" y="3886200"/>
            <a:ext cx="9144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50" name="AutoShape 67">
            <a:extLst>
              <a:ext uri="{FF2B5EF4-FFF2-40B4-BE49-F238E27FC236}">
                <a16:creationId xmlns:a16="http://schemas.microsoft.com/office/drawing/2014/main" id="{06089B3A-2119-1449-F199-66E3ED500A49}"/>
              </a:ext>
            </a:extLst>
          </p:cNvPr>
          <p:cNvCxnSpPr>
            <a:cxnSpLocks noChangeShapeType="1"/>
            <a:stCxn id="42005" idx="0"/>
            <a:endCxn id="42040" idx="4"/>
          </p:cNvCxnSpPr>
          <p:nvPr/>
        </p:nvCxnSpPr>
        <p:spPr bwMode="auto">
          <a:xfrm flipV="1">
            <a:off x="6362700" y="3886200"/>
            <a:ext cx="19050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51" name="AutoShape 68">
            <a:extLst>
              <a:ext uri="{FF2B5EF4-FFF2-40B4-BE49-F238E27FC236}">
                <a16:creationId xmlns:a16="http://schemas.microsoft.com/office/drawing/2014/main" id="{7CE75FB4-8ED4-29BD-29EA-B0DB143C416D}"/>
              </a:ext>
            </a:extLst>
          </p:cNvPr>
          <p:cNvCxnSpPr>
            <a:cxnSpLocks noChangeShapeType="1"/>
            <a:stCxn id="42005" idx="0"/>
            <a:endCxn id="42039" idx="4"/>
          </p:cNvCxnSpPr>
          <p:nvPr/>
        </p:nvCxnSpPr>
        <p:spPr bwMode="auto">
          <a:xfrm flipV="1">
            <a:off x="6362700" y="3886200"/>
            <a:ext cx="25146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52" name="AutoShape 69">
            <a:extLst>
              <a:ext uri="{FF2B5EF4-FFF2-40B4-BE49-F238E27FC236}">
                <a16:creationId xmlns:a16="http://schemas.microsoft.com/office/drawing/2014/main" id="{832ECBEA-478A-BC9A-9FC1-39460B8B63D5}"/>
              </a:ext>
            </a:extLst>
          </p:cNvPr>
          <p:cNvCxnSpPr>
            <a:cxnSpLocks noChangeShapeType="1"/>
            <a:stCxn id="42005" idx="0"/>
            <a:endCxn id="42038" idx="4"/>
          </p:cNvCxnSpPr>
          <p:nvPr/>
        </p:nvCxnSpPr>
        <p:spPr bwMode="auto">
          <a:xfrm flipV="1">
            <a:off x="6362700" y="3886200"/>
            <a:ext cx="31242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053" name="AutoShape 70">
            <a:extLst>
              <a:ext uri="{FF2B5EF4-FFF2-40B4-BE49-F238E27FC236}">
                <a16:creationId xmlns:a16="http://schemas.microsoft.com/office/drawing/2014/main" id="{E2F62BC7-45CF-2CA4-B118-4E9D39A931A7}"/>
              </a:ext>
            </a:extLst>
          </p:cNvPr>
          <p:cNvCxnSpPr>
            <a:cxnSpLocks noChangeShapeType="1"/>
            <a:stCxn id="42005" idx="0"/>
            <a:endCxn id="42037" idx="4"/>
          </p:cNvCxnSpPr>
          <p:nvPr/>
        </p:nvCxnSpPr>
        <p:spPr bwMode="auto">
          <a:xfrm flipV="1">
            <a:off x="6362700" y="3886200"/>
            <a:ext cx="373380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8743" name="Rectangle 71">
            <a:extLst>
              <a:ext uri="{FF2B5EF4-FFF2-40B4-BE49-F238E27FC236}">
                <a16:creationId xmlns:a16="http://schemas.microsoft.com/office/drawing/2014/main" id="{0EC73578-965A-259D-6406-F7ABB2105DAF}"/>
              </a:ext>
            </a:extLst>
          </p:cNvPr>
          <p:cNvSpPr>
            <a:spLocks noGrp="1" noChangeArrowheads="1"/>
          </p:cNvSpPr>
          <p:nvPr>
            <p:ph type="body" idx="1"/>
          </p:nvPr>
        </p:nvSpPr>
        <p:spPr>
          <a:xfrm>
            <a:off x="228599" y="4533900"/>
            <a:ext cx="10989733" cy="2546350"/>
          </a:xfrm>
        </p:spPr>
        <p:txBody>
          <a:bodyPr>
            <a:normAutofit/>
          </a:bodyPr>
          <a:lstStyle/>
          <a:p>
            <a:pPr eaLnBrk="1" hangingPunct="1"/>
            <a:r>
              <a:rPr lang="en-US" altLang="en-IL" sz="2200" dirty="0"/>
              <a:t>For each document, Choose </a:t>
            </a:r>
            <a:r>
              <a:rPr lang="en-US" altLang="en-IL" sz="2200" dirty="0">
                <a:sym typeface="Symbol" pitchFamily="2" charset="2"/>
              </a:rPr>
              <a:t>~</a:t>
            </a:r>
            <a:r>
              <a:rPr lang="en-US" altLang="en-IL" sz="2200" dirty="0"/>
              <a:t>Dirichlet(</a:t>
            </a:r>
            <a:r>
              <a:rPr lang="en-US" altLang="en-IL" sz="2200" dirty="0">
                <a:sym typeface="Symbol" pitchFamily="2" charset="2"/>
              </a:rPr>
              <a:t></a:t>
            </a:r>
            <a:r>
              <a:rPr lang="en-US" altLang="en-IL" sz="2200" dirty="0"/>
              <a:t>)</a:t>
            </a:r>
          </a:p>
          <a:p>
            <a:pPr eaLnBrk="1" hangingPunct="1"/>
            <a:r>
              <a:rPr lang="en-US" altLang="en-IL" sz="2200" dirty="0"/>
              <a:t>For each word:</a:t>
            </a:r>
          </a:p>
          <a:p>
            <a:pPr lvl="1" eaLnBrk="1" hangingPunct="1"/>
            <a:r>
              <a:rPr lang="en-US" altLang="en-IL" sz="2200" dirty="0"/>
              <a:t>Choose a topic </a:t>
            </a:r>
            <a:r>
              <a:rPr lang="en-US" altLang="en-IL" sz="2200" dirty="0" err="1"/>
              <a:t>z</a:t>
            </a:r>
            <a:r>
              <a:rPr lang="en-US" altLang="en-IL" sz="2200" baseline="-25000" dirty="0" err="1"/>
              <a:t>n</a:t>
            </a:r>
            <a:r>
              <a:rPr lang="en-US" altLang="en-IL" sz="2200" dirty="0"/>
              <a:t>» Multinomial(</a:t>
            </a:r>
            <a:r>
              <a:rPr lang="en-US" altLang="en-IL" sz="2200" dirty="0">
                <a:sym typeface="Symbol" pitchFamily="2" charset="2"/>
              </a:rPr>
              <a:t></a:t>
            </a:r>
            <a:r>
              <a:rPr lang="en-US" altLang="en-IL" sz="2200" dirty="0"/>
              <a:t>)</a:t>
            </a:r>
          </a:p>
          <a:p>
            <a:pPr lvl="1" eaLnBrk="1" hangingPunct="1"/>
            <a:r>
              <a:rPr lang="en-US" altLang="en-IL" sz="2200" dirty="0"/>
              <a:t>Choose a word </a:t>
            </a:r>
            <a:r>
              <a:rPr lang="en-US" altLang="en-IL" sz="2200" dirty="0" err="1"/>
              <a:t>w</a:t>
            </a:r>
            <a:r>
              <a:rPr lang="en-US" altLang="en-IL" sz="2200" baseline="-25000" dirty="0" err="1"/>
              <a:t>n</a:t>
            </a:r>
            <a:r>
              <a:rPr lang="en-US" altLang="en-IL" sz="2200" dirty="0"/>
              <a:t> from p(</a:t>
            </a:r>
            <a:r>
              <a:rPr lang="en-US" altLang="en-IL" sz="2200" dirty="0" err="1"/>
              <a:t>w</a:t>
            </a:r>
            <a:r>
              <a:rPr lang="en-US" altLang="en-IL" sz="2200" baseline="-25000" dirty="0" err="1"/>
              <a:t>n</a:t>
            </a:r>
            <a:r>
              <a:rPr lang="en-US" altLang="en-IL" sz="2200" dirty="0" err="1"/>
              <a:t>|z</a:t>
            </a:r>
            <a:r>
              <a:rPr lang="en-US" altLang="en-IL" sz="2200" baseline="-25000" dirty="0" err="1"/>
              <a:t>n</a:t>
            </a:r>
            <a:r>
              <a:rPr lang="en-US" altLang="en-IL" sz="2200" dirty="0"/>
              <a:t>,</a:t>
            </a:r>
            <a:r>
              <a:rPr lang="en-US" altLang="en-IL" sz="2200" dirty="0">
                <a:sym typeface="Symbol" pitchFamily="2" charset="2"/>
              </a:rPr>
              <a:t></a:t>
            </a:r>
            <a:r>
              <a:rPr lang="en-US" altLang="en-IL" sz="2200" dirty="0"/>
              <a:t>), a multinomial probability conditioned on the topic </a:t>
            </a:r>
            <a:r>
              <a:rPr lang="en-US" altLang="en-IL" sz="2200" dirty="0" err="1"/>
              <a:t>z</a:t>
            </a:r>
            <a:r>
              <a:rPr lang="en-US" altLang="en-IL" sz="2200" baseline="-25000" dirty="0" err="1"/>
              <a:t>n</a:t>
            </a:r>
            <a:r>
              <a:rPr lang="en-US" altLang="en-IL" sz="2200" dirty="0"/>
              <a:t>.</a:t>
            </a:r>
          </a:p>
        </p:txBody>
      </p:sp>
      <p:sp>
        <p:nvSpPr>
          <p:cNvPr id="72" name="Slide Number Placeholder 3">
            <a:extLst>
              <a:ext uri="{FF2B5EF4-FFF2-40B4-BE49-F238E27FC236}">
                <a16:creationId xmlns:a16="http://schemas.microsoft.com/office/drawing/2014/main" id="{78C2320F-9D1A-EA09-8B03-3A7FF3309567}"/>
              </a:ext>
            </a:extLst>
          </p:cNvPr>
          <p:cNvSpPr>
            <a:spLocks noGrp="1"/>
          </p:cNvSpPr>
          <p:nvPr>
            <p:ph type="sldNum" sz="quarter" idx="12"/>
          </p:nvPr>
        </p:nvSpPr>
        <p:spPr>
          <a:xfrm>
            <a:off x="8610600" y="6356350"/>
            <a:ext cx="2743200" cy="365125"/>
          </a:xfrm>
        </p:spPr>
        <p:txBody>
          <a:bodyPr/>
          <a:lstStyle/>
          <a:p>
            <a:fld id="{C9D69B18-316A-457F-86C2-CFE4F951EE27}" type="slidenum">
              <a:rPr lang="en-IL" smtClean="0"/>
              <a:pPr/>
              <a:t>32</a:t>
            </a:fld>
            <a:endParaRPr lang="en-IL" dirty="0"/>
          </a:p>
        </p:txBody>
      </p:sp>
      <p:sp>
        <p:nvSpPr>
          <p:cNvPr id="73" name="Footer Placeholder 4">
            <a:extLst>
              <a:ext uri="{FF2B5EF4-FFF2-40B4-BE49-F238E27FC236}">
                <a16:creationId xmlns:a16="http://schemas.microsoft.com/office/drawing/2014/main" id="{8CEF058A-7A68-8C40-CEBC-1C43BB3D8715}"/>
              </a:ext>
            </a:extLst>
          </p:cNvPr>
          <p:cNvSpPr>
            <a:spLocks noGrp="1"/>
          </p:cNvSpPr>
          <p:nvPr>
            <p:ph type="ftr" sz="quarter" idx="11"/>
          </p:nvPr>
        </p:nvSpPr>
        <p:spPr>
          <a:xfrm>
            <a:off x="4038600" y="6356350"/>
            <a:ext cx="4114800" cy="365125"/>
          </a:xfrm>
        </p:spPr>
        <p:txBody>
          <a:bodyPr/>
          <a:lstStyle/>
          <a:p>
            <a:r>
              <a:rPr lang="en-US" dirty="0"/>
              <a:t>Or </a:t>
            </a:r>
            <a:r>
              <a:rPr lang="en-US" dirty="0" err="1"/>
              <a:t>Peretz</a:t>
            </a:r>
            <a:r>
              <a:rPr lang="en-US" dirty="0"/>
              <a:t> </a:t>
            </a:r>
            <a:endParaRPr lang="en-IL"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The Similarity Between PCA and LDA</a:t>
            </a:r>
          </a:p>
          <a:p>
            <a:pPr>
              <a:lnSpc>
                <a:spcPct val="150000"/>
              </a:lnSpc>
            </a:pPr>
            <a:r>
              <a:rPr lang="en-US" sz="2400" dirty="0"/>
              <a:t>PCA is a dimensionality reduction technique, it is used for data having </a:t>
            </a:r>
            <a:r>
              <a:rPr lang="en-US" sz="2400" b="1" dirty="0">
                <a:solidFill>
                  <a:srgbClr val="FF0000"/>
                </a:solidFill>
              </a:rPr>
              <a:t>numerical values</a:t>
            </a:r>
            <a:r>
              <a:rPr lang="en-US" sz="2400" dirty="0"/>
              <a:t>. </a:t>
            </a:r>
            <a:endParaRPr lang="he-IL" sz="2400" dirty="0"/>
          </a:p>
          <a:p>
            <a:pPr>
              <a:lnSpc>
                <a:spcPct val="150000"/>
              </a:lnSpc>
            </a:pPr>
            <a:r>
              <a:rPr lang="en-US" sz="2400" dirty="0"/>
              <a:t>It is the linear combination of variables from which components are derived that are used to build the model. PCA works by breaking or decomposing a larger value (i.e. a singular value) into smaller values to reduce the dimensions.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1026" name="Picture 2" descr="Principal Component Analysis (PCA) Explained Visually with Zero Math | by  Casey Cheng | Towards Data Science">
            <a:extLst>
              <a:ext uri="{FF2B5EF4-FFF2-40B4-BE49-F238E27FC236}">
                <a16:creationId xmlns:a16="http://schemas.microsoft.com/office/drawing/2014/main" id="{C99A9D9C-30CF-9331-BA03-A2E1AA5E63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0066" y="3234266"/>
            <a:ext cx="3784600" cy="2825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00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The Similarity Between PCA and LDA</a:t>
            </a:r>
          </a:p>
          <a:p>
            <a:pPr>
              <a:lnSpc>
                <a:spcPct val="150000"/>
              </a:lnSpc>
            </a:pPr>
            <a:r>
              <a:rPr lang="en-US" sz="2400" dirty="0"/>
              <a:t>LDA operates in the same way as PCA does. LDA is applied to the </a:t>
            </a:r>
            <a:r>
              <a:rPr lang="en-US" sz="2400" b="1" dirty="0">
                <a:solidFill>
                  <a:srgbClr val="FF0000"/>
                </a:solidFill>
              </a:rPr>
              <a:t>text data</a:t>
            </a:r>
            <a:r>
              <a:rPr lang="en-US" sz="2400" dirty="0"/>
              <a:t>. It works by decomposing the corpus document word matrix (the larger matrix) into two parts (smaller matrices): the Document Topic Matrix and the Topic Word. Therefore, LDA like PCA is a matrix factorization technique.</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2050" name="Picture 2" descr="Latent Dirichlet Allocation for Beginners: A high level overview - ThinkInfi">
            <a:extLst>
              <a:ext uri="{FF2B5EF4-FFF2-40B4-BE49-F238E27FC236}">
                <a16:creationId xmlns:a16="http://schemas.microsoft.com/office/drawing/2014/main" id="{D995D9EC-57E2-05DB-2B77-9F7F2F6D1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2026" y="3429000"/>
            <a:ext cx="4786842" cy="2690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86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15089</TotalTime>
  <Words>2208</Words>
  <Application>Microsoft Macintosh PowerPoint</Application>
  <PresentationFormat>Widescreen</PresentationFormat>
  <Paragraphs>357</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Calibri</vt:lpstr>
      <vt:lpstr>Calibri Light</vt:lpstr>
      <vt:lpstr>Cambria Math</vt:lpstr>
      <vt:lpstr>Courier New</vt:lpstr>
      <vt:lpstr>Lucida Sans</vt:lpstr>
      <vt:lpstr>Symbol</vt:lpstr>
      <vt:lpstr>Tahoma</vt:lpstr>
      <vt:lpstr>Office Theme</vt:lpstr>
      <vt:lpstr>Cloud Based Data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 6: LDA for Topic Modeling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dc:title>
  <dc:creator>Lev</dc:creator>
  <cp:lastModifiedBy>or perets</cp:lastModifiedBy>
  <cp:revision>303</cp:revision>
  <dcterms:created xsi:type="dcterms:W3CDTF">2021-02-09T13:47:38Z</dcterms:created>
  <dcterms:modified xsi:type="dcterms:W3CDTF">2022-05-03T09:28:46Z</dcterms:modified>
</cp:coreProperties>
</file>