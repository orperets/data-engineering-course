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543" r:id="rId3"/>
    <p:sldId id="422" r:id="rId4"/>
    <p:sldId id="423" r:id="rId5"/>
    <p:sldId id="424" r:id="rId6"/>
    <p:sldId id="425" r:id="rId7"/>
    <p:sldId id="426" r:id="rId8"/>
    <p:sldId id="427" r:id="rId9"/>
    <p:sldId id="428" r:id="rId10"/>
    <p:sldId id="429" r:id="rId11"/>
    <p:sldId id="430" r:id="rId12"/>
    <p:sldId id="431" r:id="rId13"/>
    <p:sldId id="432" r:id="rId14"/>
    <p:sldId id="434" r:id="rId15"/>
    <p:sldId id="436" r:id="rId16"/>
    <p:sldId id="437" r:id="rId17"/>
    <p:sldId id="438" r:id="rId18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051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8" autoAdjust="0"/>
    <p:restoredTop sz="94479"/>
  </p:normalViewPr>
  <p:slideViewPr>
    <p:cSldViewPr snapToGrid="0">
      <p:cViewPr varScale="1">
        <p:scale>
          <a:sx n="103" d="100"/>
          <a:sy n="103" d="100"/>
        </p:scale>
        <p:origin x="256" y="1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63F32-7DA3-4013-BE26-9191402E55C8}" type="datetimeFigureOut">
              <a:rPr lang="en-IL" smtClean="0"/>
              <a:t>5/29/25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8866D-0BA4-4B03-8FA8-A96EE1FB39D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21153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19986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222830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46020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567127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646518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999453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717836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521917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388589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12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564492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13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095423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14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892180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15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216136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16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730486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17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28984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553BB-FAA3-46ED-8326-AD7EE26F78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B615E8-3C95-4096-8039-02C1046EA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E2517-A02E-4027-BA2C-117CE149D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7157C-9C36-0447-8046-5352E14D0F80}" type="datetime8">
              <a:rPr lang="en-US" smtClean="0"/>
              <a:t>5/29/25 9:27 AM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5C8B8-C77F-4E96-831A-FC160B4AF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E7471-5067-4CA0-9D60-D86D047E9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B62643F8-DFCD-4B5F-9519-933435FA18FB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201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257D3F8-87F0-4DF5-8F98-66DFD99EE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3474"/>
            <a:ext cx="10515600" cy="5593489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CDE1D59-793A-43B8-B383-259A90AD52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96E8B87-F9FD-464E-B534-DBC261D83ADB}" type="datetime8">
              <a:rPr lang="en-US" smtClean="0"/>
              <a:t>5/29/25 9:27 AM</a:t>
            </a:fld>
            <a:endParaRPr lang="en-IL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A69F713-2159-4167-B614-5042E8DE4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F40A595-FC21-4942-AC1C-EC8D0EE8F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1800"/>
            </a:lvl1pPr>
          </a:lstStyle>
          <a:p>
            <a:fld id="{C9D69B18-316A-457F-86C2-CFE4F951EE27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395765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>
        <p:tmplLst>
          <p:tmpl lvl="1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6DB71-F16A-411E-A1F0-229842FF4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EC0A3-903B-4C81-96AA-FA5FE787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1F274-0FDC-4FF1-AD1D-E33CBC0B8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2E3E6-91E3-074B-992C-DFAD5D8203F1}" type="datetime8">
              <a:rPr lang="en-US" smtClean="0"/>
              <a:t>5/29/25 9:28 AM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17186-B90F-456C-A210-0CD662FC9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CF8B6-F957-4C26-89F8-62EE0895A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99782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BCB62-2976-4F72-B0D1-D7D5CC8DF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70335-BA28-442F-B929-834D11AFBB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3D0261-93E1-42EC-B45C-7A9C69E6D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1B8B7-4BAF-485E-8E14-0A3937A2E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260D7-63E2-8F4C-B61F-30E5198AD46D}" type="datetime8">
              <a:rPr lang="en-US" smtClean="0"/>
              <a:t>5/29/25 9:28 AM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D101D7-C282-4291-A047-A469118DB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E3ACF7-1919-4005-8D18-C065FE37B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58286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25D40-5A05-454B-BF8D-2ADD22626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DEE7E-1856-4D6C-95E1-B25F3B5CF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7349D-B192-40B0-A682-C3914DCE58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86D532-BD26-45AE-91E7-2BCEE71DE7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39C4E2-6DDF-4BCE-9E96-2FEA03A919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71B11A-C4F8-4F85-A0D5-34A703DD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54800-C55A-184D-A866-767457B6C650}" type="datetime8">
              <a:rPr lang="en-US" smtClean="0"/>
              <a:t>5/29/25 9:28 AM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8E969-DC51-428E-A40E-10E237847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F4C0B3-7D21-431B-8C06-6364026C9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30004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CF8A9-2FB1-463C-A055-7D8DEF623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834B02-6F21-4BD3-9253-024380CFA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F7541-BDF2-4645-8A4E-8E2D7EE21A60}" type="datetime8">
              <a:rPr lang="en-US" smtClean="0"/>
              <a:t>5/29/25 9:28 AM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6109D8-60DE-4EAE-9FA4-4743AF1B5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833B9-F0EF-4F2D-B1F5-59A0518AC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47048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F94F9A-B863-4CA1-A3D9-2612454CB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21F0E-3E80-FE45-B8FD-1C1C83A92A89}" type="datetime8">
              <a:rPr lang="en-US" smtClean="0"/>
              <a:t>5/29/25 9:28 AM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856BA7-0F82-4B54-82BF-04EC0B081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A46C4-110C-4F16-A55B-2CA103D5B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90415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DF8D4-37EB-4208-8EBF-A36DA15D5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9644F-4231-4135-985A-E35BB7DF7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C084D-8409-4F23-A4F3-946B11E92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7D6E5-0ADE-47F1-BF75-064C0FC0B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84BC4-6D1E-DE4B-8507-B318EEC4AD62}" type="datetime8">
              <a:rPr lang="en-US" smtClean="0"/>
              <a:t>5/29/25 9:28 AM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95BE5-8107-4C77-A0C7-320528011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29687-8674-4B44-BCA8-CA55A7F66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35512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DDB8B-F360-41C1-9E59-41BC175C2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29284B-956D-4A04-AA87-11920CE3AB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DA7EC3-09A8-4251-B03C-6044FAB1E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06FFE-DADD-4559-BD8F-E4090E851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F4522-6391-7F4B-8B88-660A337C3B79}" type="datetime8">
              <a:rPr lang="en-US" smtClean="0"/>
              <a:t>5/29/25 9:28 AM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A7321-97EB-4815-A837-E4FF27362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3595F-1D61-441A-9A46-FC01E160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29192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6D421-C27E-4305-9BA4-ABDBC270E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69482A-BFEA-4A85-973C-0414EA508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CE6C9-3B2C-4E59-B407-9DEAA5194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B7FFB-2FB8-ED4D-871F-3A525991ED9E}" type="datetime8">
              <a:rPr lang="en-US" smtClean="0"/>
              <a:t>5/29/25 9:28 AM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B3FA1-84D5-4374-B090-8EED7F0EE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37D06-0BF6-4041-954F-C1D4B14F0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06217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A0116A-EF9A-40BC-BE26-84DF8D33F6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EB09AB-DE01-41A1-8BED-34FC1B482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0832B-4F28-4DE3-AF6D-37975A09F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DA56F-98C1-D743-A051-0A3D6E708A11}" type="datetime8">
              <a:rPr lang="en-US" smtClean="0"/>
              <a:t>5/29/25 9:28 AM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064A4-73D9-4140-BB4B-47A62F8C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1DA01-1032-4191-848B-F8A71F653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74113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5FF43-15EB-48BF-9377-EC78CBDCC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A9A9A-96AC-434D-8596-80E771997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151C-500A-4CAF-8B1B-C429EEE2C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DC74C-E7D5-9845-AF76-D52732F67C64}" type="datetime8">
              <a:rPr lang="en-US" smtClean="0"/>
              <a:t>5/29/25 9:27 AM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936C9-3550-4463-A834-A8233EB9F3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70A5C-A380-420D-86FA-95B4F828D7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0447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BF07A-A6B2-4AA3-9FB3-FF93725B9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666" y="1202003"/>
            <a:ext cx="11768667" cy="2602970"/>
          </a:xfrm>
        </p:spPr>
        <p:txBody>
          <a:bodyPr>
            <a:normAutofit/>
          </a:bodyPr>
          <a:lstStyle/>
          <a:p>
            <a: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IL" sz="7200" u="sng" dirty="0">
                <a:cs typeface="+mn-cs"/>
              </a:rPr>
              <a:t>Cloud Based Data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4BFDD-2D28-4F88-A89F-35EB6574CA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804973"/>
            <a:ext cx="9144000" cy="1655762"/>
          </a:xfrm>
        </p:spPr>
        <p:txBody>
          <a:bodyPr>
            <a:normAutofit/>
          </a:bodyPr>
          <a:lstStyle/>
          <a:p>
            <a: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3600"/>
              <a:t>TF-IDF</a:t>
            </a:r>
            <a:endParaRPr lang="en-IL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7C810-8880-4D05-860C-4E520C91B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73284"/>
            <a:ext cx="2743200" cy="365125"/>
          </a:xfrm>
        </p:spPr>
        <p:txBody>
          <a:bodyPr/>
          <a:lstStyle/>
          <a:p>
            <a:fld id="{B62643F8-DFCD-4B5F-9519-933435FA18FB}" type="slidenum">
              <a:rPr lang="en-IL" smtClean="0"/>
              <a:t>1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8135C-5A11-DB47-A5FC-BE38DE9D9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73284"/>
            <a:ext cx="4114800" cy="365125"/>
          </a:xfrm>
        </p:spPr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US" dirty="0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F31E8846-5381-CF5B-4572-6C39CD565650}"/>
              </a:ext>
            </a:extLst>
          </p:cNvPr>
          <p:cNvSpPr txBox="1"/>
          <p:nvPr/>
        </p:nvSpPr>
        <p:spPr>
          <a:xfrm>
            <a:off x="3880643" y="4040659"/>
            <a:ext cx="18473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0" algn="r" defTabSz="914400" rtl="1" eaLnBrk="1" latinLnBrk="0" hangingPunct="1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17308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425458-3AC0-4977-A476-AD5A91A7871F}"/>
              </a:ext>
            </a:extLst>
          </p:cNvPr>
          <p:cNvSpPr txBox="1"/>
          <p:nvPr/>
        </p:nvSpPr>
        <p:spPr>
          <a:xfrm>
            <a:off x="635000" y="2091267"/>
            <a:ext cx="10524067" cy="13377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endParaRPr lang="en-US" sz="2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2465" y="914400"/>
            <a:ext cx="8610601" cy="330676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endParaRPr lang="en-US" sz="4800" dirty="0"/>
          </a:p>
          <a:p>
            <a:pPr algn="ctr">
              <a:lnSpc>
                <a:spcPct val="150000"/>
              </a:lnSpc>
            </a:pPr>
            <a:r>
              <a:rPr lang="en-US" sz="4800" dirty="0"/>
              <a:t>Solve Problems With </a:t>
            </a:r>
            <a:r>
              <a:rPr lang="en-US" sz="4800" dirty="0" err="1"/>
              <a:t>PySpark</a:t>
            </a:r>
            <a:endParaRPr lang="en-US" sz="4800" dirty="0"/>
          </a:p>
          <a:p>
            <a:pPr algn="ctr">
              <a:lnSpc>
                <a:spcPct val="150000"/>
              </a:lnSpc>
            </a:pPr>
            <a:r>
              <a:rPr lang="en-US" b="1" dirty="0"/>
              <a:t>TF-IDF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dirty="0"/>
          </a:p>
          <a:p>
            <a:pPr marL="0" indent="0" algn="l" defTabSz="91440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2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03E65-83D3-354B-8CF1-A1C85FDB3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43843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4" y="76203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Term Frequency – Inverse Document Frequency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TF-IDF (term frequency-inverse document frequency)</a:t>
            </a:r>
            <a:r>
              <a:rPr lang="en-US" sz="2400" dirty="0"/>
              <a:t> is a statistical measure that evaluates how relevant a word is to a document in a collection of documents.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Dome by multiplying two metrics: 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400" dirty="0"/>
              <a:t>how many times a word appears in a document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400" dirty="0"/>
              <a:t>The inverse document frequency of the word across a set of documents.</a:t>
            </a:r>
          </a:p>
          <a:p>
            <a:pPr>
              <a:lnSpc>
                <a:spcPct val="150000"/>
              </a:lnSpc>
            </a:pPr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3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97504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4" y="76203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Applications of TF-IDF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Information retrieval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	TF-IDF was invented for document search and can be used to deliver results that are most relevant to what you’re searching for. 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Keyword Extraction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/>
              <a:t>Useful for extracting keywords from text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/>
              <a:t>The highest scoring words of a document are the most relevant to that document</a:t>
            </a:r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4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42501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4" y="76203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Terminology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400" dirty="0"/>
              <a:t>t – term / word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400" dirty="0"/>
              <a:t>d – document (set of words)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400" dirty="0"/>
              <a:t>N – count of corpus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400" dirty="0"/>
              <a:t>Corpus – the total document set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5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1AF71A-D60A-534C-954F-D0FBFC2BD5B4}"/>
              </a:ext>
            </a:extLst>
          </p:cNvPr>
          <p:cNvSpPr/>
          <p:nvPr/>
        </p:nvSpPr>
        <p:spPr>
          <a:xfrm>
            <a:off x="1557867" y="4443569"/>
            <a:ext cx="111590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TF-IDF = Term Frequency (TF) * Inverse Document Frequency (IDF)</a:t>
            </a:r>
            <a:endParaRPr lang="en-IL" sz="2400" b="1" dirty="0"/>
          </a:p>
        </p:txBody>
      </p:sp>
    </p:spTree>
    <p:extLst>
      <p:ext uri="{BB962C8B-B14F-4D97-AF65-F5344CB8AC3E}">
        <p14:creationId xmlns:p14="http://schemas.microsoft.com/office/powerpoint/2010/main" val="154002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0134" y="76203"/>
                <a:ext cx="11616266" cy="6485754"/>
              </a:xfrm>
            </p:spPr>
            <p:txBody>
              <a:bodyPr>
                <a:norm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3200" b="1" dirty="0"/>
                  <a:t>Terminology</a:t>
                </a:r>
              </a:p>
              <a:p>
                <a:pPr>
                  <a:lnSpc>
                    <a:spcPct val="150000"/>
                  </a:lnSpc>
                </a:pPr>
                <a:endParaRPr lang="he-IL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𝑇𝐹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𝑐𝑜𝑢𝑛𝑡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𝑤𝑜𝑟𝑑𝑠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𝐷𝐹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𝑜𝑐𝑐𝑢𝑟𝑟𝑒𝑛𝑐𝑒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𝑑𝑜𝑐𝑢𝑚𝑒𝑛𝑡𝑠</m:t>
                      </m:r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𝐷𝐹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𝐷𝐹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𝐼𝐷𝐹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𝐷𝐹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0134" y="76203"/>
                <a:ext cx="11616266" cy="6485754"/>
              </a:xfrm>
              <a:blipFill>
                <a:blip r:embed="rId3"/>
                <a:stretch>
                  <a:fillRect l="-87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6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1AF71A-D60A-534C-954F-D0FBFC2BD5B4}"/>
              </a:ext>
            </a:extLst>
          </p:cNvPr>
          <p:cNvSpPr/>
          <p:nvPr/>
        </p:nvSpPr>
        <p:spPr>
          <a:xfrm>
            <a:off x="1794934" y="921436"/>
            <a:ext cx="111590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TF-IDF = Term Frequency (TF) * Inverse Document Frequency (IDF)</a:t>
            </a:r>
            <a:endParaRPr lang="en-IL" sz="2400" b="1" dirty="0"/>
          </a:p>
        </p:txBody>
      </p:sp>
    </p:spTree>
    <p:extLst>
      <p:ext uri="{BB962C8B-B14F-4D97-AF65-F5344CB8AC3E}">
        <p14:creationId xmlns:p14="http://schemas.microsoft.com/office/powerpoint/2010/main" val="2599800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4" y="76203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Example</a:t>
            </a:r>
          </a:p>
          <a:p>
            <a:pPr>
              <a:lnSpc>
                <a:spcPct val="150000"/>
              </a:lnSpc>
            </a:pPr>
            <a:r>
              <a:rPr lang="en-US" b="1" dirty="0"/>
              <a:t>			</a:t>
            </a:r>
            <a:r>
              <a:rPr lang="en-US" sz="2200" b="1" dirty="0"/>
              <a:t>Document 1 </a:t>
            </a:r>
            <a:r>
              <a:rPr lang="en-US" sz="2200" dirty="0"/>
              <a:t>It is going to rain today.</a:t>
            </a:r>
          </a:p>
          <a:p>
            <a:pPr>
              <a:lnSpc>
                <a:spcPct val="150000"/>
              </a:lnSpc>
            </a:pPr>
            <a:r>
              <a:rPr lang="en-US" sz="2200" b="1" dirty="0"/>
              <a:t>			Document 2 </a:t>
            </a:r>
            <a:r>
              <a:rPr lang="en-US" sz="2200" dirty="0"/>
              <a:t>Today I am not going outside.</a:t>
            </a:r>
          </a:p>
          <a:p>
            <a:pPr>
              <a:lnSpc>
                <a:spcPct val="150000"/>
              </a:lnSpc>
            </a:pPr>
            <a:r>
              <a:rPr lang="en-US" sz="2200" b="1" dirty="0"/>
              <a:t>			Document 3 </a:t>
            </a:r>
            <a:r>
              <a:rPr lang="en-US" sz="2200" dirty="0"/>
              <a:t>I am going to watch the season premiere.</a:t>
            </a:r>
          </a:p>
          <a:p>
            <a:pPr>
              <a:lnSpc>
                <a:spcPct val="150000"/>
              </a:lnSpc>
            </a:pPr>
            <a:r>
              <a:rPr lang="en-US" sz="2400" b="1" u="sng" dirty="0"/>
              <a:t>Step 1: Counts </a:t>
            </a:r>
          </a:p>
          <a:p>
            <a:pPr>
              <a:lnSpc>
                <a:spcPct val="150000"/>
              </a:lnSpc>
            </a:pPr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7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B3039140-AF4B-C144-84DE-E2879A32DD5E}"/>
              </a:ext>
            </a:extLst>
          </p:cNvPr>
          <p:cNvGraphicFramePr>
            <a:graphicFrameLocks noGrp="1"/>
          </p:cNvGraphicFramePr>
          <p:nvPr/>
        </p:nvGraphicFramePr>
        <p:xfrm>
          <a:off x="4622799" y="3319080"/>
          <a:ext cx="2506134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067">
                  <a:extLst>
                    <a:ext uri="{9D8B030D-6E8A-4147-A177-3AD203B41FA5}">
                      <a16:colId xmlns:a16="http://schemas.microsoft.com/office/drawing/2014/main" val="3237974615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108371299"/>
                    </a:ext>
                  </a:extLst>
                </a:gridCol>
              </a:tblGrid>
              <a:tr h="318441"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297250"/>
                  </a:ext>
                </a:extLst>
              </a:tr>
              <a:tr h="318441"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going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179306"/>
                  </a:ext>
                </a:extLst>
              </a:tr>
              <a:tr h="318441"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062494"/>
                  </a:ext>
                </a:extLst>
              </a:tr>
              <a:tr h="318441"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today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0750821"/>
                  </a:ext>
                </a:extLst>
              </a:tr>
              <a:tr h="318441"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i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6127848"/>
                  </a:ext>
                </a:extLst>
              </a:tr>
              <a:tr h="318441"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am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886916"/>
                  </a:ext>
                </a:extLst>
              </a:tr>
              <a:tr h="318441"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it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3388757"/>
                  </a:ext>
                </a:extLst>
              </a:tr>
              <a:tr h="318441"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is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615962"/>
                  </a:ext>
                </a:extLst>
              </a:tr>
              <a:tr h="318441"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rain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510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1999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4" y="76203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Example</a:t>
            </a:r>
          </a:p>
          <a:p>
            <a:pPr>
              <a:lnSpc>
                <a:spcPct val="150000"/>
              </a:lnSpc>
            </a:pPr>
            <a:r>
              <a:rPr lang="en-US" sz="2400" b="1" u="sng" dirty="0"/>
              <a:t>Step 2: Find TF </a:t>
            </a:r>
          </a:p>
          <a:p>
            <a:pPr>
              <a:lnSpc>
                <a:spcPct val="150000"/>
              </a:lnSpc>
            </a:pPr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8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6">
                <a:extLst>
                  <a:ext uri="{FF2B5EF4-FFF2-40B4-BE49-F238E27FC236}">
                    <a16:creationId xmlns:a16="http://schemas.microsoft.com/office/drawing/2014/main" id="{B3039140-AF4B-C144-84DE-E2879A32DD5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49399" y="2033445"/>
              <a:ext cx="3039534" cy="35563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19767">
                      <a:extLst>
                        <a:ext uri="{9D8B030D-6E8A-4147-A177-3AD203B41FA5}">
                          <a16:colId xmlns:a16="http://schemas.microsoft.com/office/drawing/2014/main" val="3237974615"/>
                        </a:ext>
                      </a:extLst>
                    </a:gridCol>
                    <a:gridCol w="1519767">
                      <a:extLst>
                        <a:ext uri="{9D8B030D-6E8A-4147-A177-3AD203B41FA5}">
                          <a16:colId xmlns:a16="http://schemas.microsoft.com/office/drawing/2014/main" val="2108371299"/>
                        </a:ext>
                      </a:extLst>
                    </a:gridCol>
                  </a:tblGrid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Word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Document 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3297250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going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5179306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5062494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today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00750821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i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6127848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am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6886916"/>
                      </a:ext>
                    </a:extLst>
                  </a:tr>
                  <a:tr h="389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it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3388757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is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7615962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rain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85105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6">
                <a:extLst>
                  <a:ext uri="{FF2B5EF4-FFF2-40B4-BE49-F238E27FC236}">
                    <a16:creationId xmlns:a16="http://schemas.microsoft.com/office/drawing/2014/main" id="{B3039140-AF4B-C144-84DE-E2879A32DD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4913311"/>
                  </p:ext>
                </p:extLst>
              </p:nvPr>
            </p:nvGraphicFramePr>
            <p:xfrm>
              <a:off x="1549399" y="2033445"/>
              <a:ext cx="3039534" cy="35563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19767">
                      <a:extLst>
                        <a:ext uri="{9D8B030D-6E8A-4147-A177-3AD203B41FA5}">
                          <a16:colId xmlns:a16="http://schemas.microsoft.com/office/drawing/2014/main" val="3237974615"/>
                        </a:ext>
                      </a:extLst>
                    </a:gridCol>
                    <a:gridCol w="1519767">
                      <a:extLst>
                        <a:ext uri="{9D8B030D-6E8A-4147-A177-3AD203B41FA5}">
                          <a16:colId xmlns:a16="http://schemas.microsoft.com/office/drawing/2014/main" val="2108371299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Word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Document 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3297250"/>
                      </a:ext>
                    </a:extLst>
                  </a:tr>
                  <a:tr h="6068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going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00833" t="-66667" r="-1667" b="-44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517930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00833" t="-275862" r="-1667" b="-6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506249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today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00833" t="-375862" r="-1667" b="-5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75082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i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612784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am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6886916"/>
                      </a:ext>
                    </a:extLst>
                  </a:tr>
                  <a:tr h="389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it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00833" t="-629032" r="-1667" b="-2129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338875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is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00833" t="-779310" r="-1667" b="-1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761596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rain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00833" t="-879310" r="-1667" b="-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85105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C650928-1C84-1B4D-A38F-E0202817BFB5}"/>
                  </a:ext>
                </a:extLst>
              </p:cNvPr>
              <p:cNvSpPr/>
              <p:nvPr/>
            </p:nvSpPr>
            <p:spPr>
              <a:xfrm>
                <a:off x="4038600" y="1005670"/>
                <a:ext cx="3616054" cy="6674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𝑇𝐹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𝑐𝑜𝑢𝑛𝑡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𝑤𝑜𝑟𝑑𝑠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C650928-1C84-1B4D-A38F-E0202817BF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1005670"/>
                <a:ext cx="3616054" cy="667490"/>
              </a:xfrm>
              <a:prstGeom prst="rect">
                <a:avLst/>
              </a:prstGeom>
              <a:blipFill>
                <a:blip r:embed="rId4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1964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4" y="76203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Example</a:t>
            </a:r>
          </a:p>
          <a:p>
            <a:pPr>
              <a:lnSpc>
                <a:spcPct val="150000"/>
              </a:lnSpc>
            </a:pPr>
            <a:r>
              <a:rPr lang="en-US" sz="2400" b="1" u="sng" dirty="0"/>
              <a:t>Step 2: Find TF </a:t>
            </a:r>
          </a:p>
          <a:p>
            <a:pPr>
              <a:lnSpc>
                <a:spcPct val="150000"/>
              </a:lnSpc>
            </a:pPr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9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6">
                <a:extLst>
                  <a:ext uri="{FF2B5EF4-FFF2-40B4-BE49-F238E27FC236}">
                    <a16:creationId xmlns:a16="http://schemas.microsoft.com/office/drawing/2014/main" id="{B3039140-AF4B-C144-84DE-E2879A32DD5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49398" y="2033445"/>
              <a:ext cx="5994402" cy="35328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98134">
                      <a:extLst>
                        <a:ext uri="{9D8B030D-6E8A-4147-A177-3AD203B41FA5}">
                          <a16:colId xmlns:a16="http://schemas.microsoft.com/office/drawing/2014/main" val="3237974615"/>
                        </a:ext>
                      </a:extLst>
                    </a:gridCol>
                    <a:gridCol w="1998134">
                      <a:extLst>
                        <a:ext uri="{9D8B030D-6E8A-4147-A177-3AD203B41FA5}">
                          <a16:colId xmlns:a16="http://schemas.microsoft.com/office/drawing/2014/main" val="2108371299"/>
                        </a:ext>
                      </a:extLst>
                    </a:gridCol>
                    <a:gridCol w="1998134">
                      <a:extLst>
                        <a:ext uri="{9D8B030D-6E8A-4147-A177-3AD203B41FA5}">
                          <a16:colId xmlns:a16="http://schemas.microsoft.com/office/drawing/2014/main" val="1283690682"/>
                        </a:ext>
                      </a:extLst>
                    </a:gridCol>
                  </a:tblGrid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Word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Document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dirty="0"/>
                            <a:t>Document 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3297250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going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5179306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5062494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today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00750821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i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6127848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am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6886916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it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3388757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is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7615962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rain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85105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6">
                <a:extLst>
                  <a:ext uri="{FF2B5EF4-FFF2-40B4-BE49-F238E27FC236}">
                    <a16:creationId xmlns:a16="http://schemas.microsoft.com/office/drawing/2014/main" id="{B3039140-AF4B-C144-84DE-E2879A32DD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3327241"/>
                  </p:ext>
                </p:extLst>
              </p:nvPr>
            </p:nvGraphicFramePr>
            <p:xfrm>
              <a:off x="1549398" y="2033445"/>
              <a:ext cx="5994402" cy="35328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98134">
                      <a:extLst>
                        <a:ext uri="{9D8B030D-6E8A-4147-A177-3AD203B41FA5}">
                          <a16:colId xmlns:a16="http://schemas.microsoft.com/office/drawing/2014/main" val="3237974615"/>
                        </a:ext>
                      </a:extLst>
                    </a:gridCol>
                    <a:gridCol w="1998134">
                      <a:extLst>
                        <a:ext uri="{9D8B030D-6E8A-4147-A177-3AD203B41FA5}">
                          <a16:colId xmlns:a16="http://schemas.microsoft.com/office/drawing/2014/main" val="2108371299"/>
                        </a:ext>
                      </a:extLst>
                    </a:gridCol>
                    <a:gridCol w="1998134">
                      <a:extLst>
                        <a:ext uri="{9D8B030D-6E8A-4147-A177-3AD203B41FA5}">
                          <a16:colId xmlns:a16="http://schemas.microsoft.com/office/drawing/2014/main" val="128369068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Word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Document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dirty="0"/>
                            <a:t>Document 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3297250"/>
                      </a:ext>
                    </a:extLst>
                  </a:tr>
                  <a:tr h="6068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going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00637" t="-66667" r="-102548" b="-43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99367" t="-66667" r="-1899" b="-43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517930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00637" t="-275862" r="-102548" b="-624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506249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today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00637" t="-375862" r="-102548" b="-524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99367" t="-375862" r="-1899" b="-5241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75082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i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99367" t="-492857" r="-1899" b="-44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612784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am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99367" t="-572414" r="-1899" b="-3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688691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it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00637" t="-672414" r="-102548" b="-2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338875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is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00637" t="-772414" r="-102548" b="-1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761596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rain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00637" t="-872414" r="-102548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85105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C650928-1C84-1B4D-A38F-E0202817BFB5}"/>
                  </a:ext>
                </a:extLst>
              </p:cNvPr>
              <p:cNvSpPr/>
              <p:nvPr/>
            </p:nvSpPr>
            <p:spPr>
              <a:xfrm>
                <a:off x="4038600" y="1005670"/>
                <a:ext cx="3616054" cy="6674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𝑇𝐹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𝑐𝑜𝑢𝑛𝑡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𝑤𝑜𝑟𝑑𝑠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C650928-1C84-1B4D-A38F-E0202817BF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1005670"/>
                <a:ext cx="3616054" cy="667490"/>
              </a:xfrm>
              <a:prstGeom prst="rect">
                <a:avLst/>
              </a:prstGeom>
              <a:blipFill>
                <a:blip r:embed="rId4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6438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4" y="235721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Example</a:t>
            </a:r>
          </a:p>
          <a:p>
            <a:pPr>
              <a:lnSpc>
                <a:spcPct val="150000"/>
              </a:lnSpc>
            </a:pPr>
            <a:r>
              <a:rPr lang="en-US" sz="2400" b="1" u="sng" dirty="0"/>
              <a:t>Step 2: Find TF </a:t>
            </a:r>
          </a:p>
          <a:p>
            <a:pPr>
              <a:lnSpc>
                <a:spcPct val="150000"/>
              </a:lnSpc>
            </a:pPr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10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6">
                <a:extLst>
                  <a:ext uri="{FF2B5EF4-FFF2-40B4-BE49-F238E27FC236}">
                    <a16:creationId xmlns:a16="http://schemas.microsoft.com/office/drawing/2014/main" id="{B3039140-AF4B-C144-84DE-E2879A32DD5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49398" y="2033445"/>
              <a:ext cx="8534404" cy="35328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33601">
                      <a:extLst>
                        <a:ext uri="{9D8B030D-6E8A-4147-A177-3AD203B41FA5}">
                          <a16:colId xmlns:a16="http://schemas.microsoft.com/office/drawing/2014/main" val="3237974615"/>
                        </a:ext>
                      </a:extLst>
                    </a:gridCol>
                    <a:gridCol w="2133601">
                      <a:extLst>
                        <a:ext uri="{9D8B030D-6E8A-4147-A177-3AD203B41FA5}">
                          <a16:colId xmlns:a16="http://schemas.microsoft.com/office/drawing/2014/main" val="2108371299"/>
                        </a:ext>
                      </a:extLst>
                    </a:gridCol>
                    <a:gridCol w="2133601">
                      <a:extLst>
                        <a:ext uri="{9D8B030D-6E8A-4147-A177-3AD203B41FA5}">
                          <a16:colId xmlns:a16="http://schemas.microsoft.com/office/drawing/2014/main" val="1283690682"/>
                        </a:ext>
                      </a:extLst>
                    </a:gridCol>
                    <a:gridCol w="2133601">
                      <a:extLst>
                        <a:ext uri="{9D8B030D-6E8A-4147-A177-3AD203B41FA5}">
                          <a16:colId xmlns:a16="http://schemas.microsoft.com/office/drawing/2014/main" val="2129487664"/>
                        </a:ext>
                      </a:extLst>
                    </a:gridCol>
                  </a:tblGrid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Word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Document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dirty="0"/>
                            <a:t>Document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dirty="0"/>
                            <a:t>Document 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3297250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going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0.12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5179306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0.12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5062494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today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00750821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i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0.12</m:t>
                                </m:r>
                              </m:oMath>
                            </m:oMathPara>
                          </a14:m>
                          <a:endParaRPr kumimoji="0" lang="en-IL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6127848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am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0.12</m:t>
                                </m:r>
                              </m:oMath>
                            </m:oMathPara>
                          </a14:m>
                          <a:endParaRPr kumimoji="0" lang="en-IL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6886916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it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3388757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is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7615962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rain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85105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6">
                <a:extLst>
                  <a:ext uri="{FF2B5EF4-FFF2-40B4-BE49-F238E27FC236}">
                    <a16:creationId xmlns:a16="http://schemas.microsoft.com/office/drawing/2014/main" id="{B3039140-AF4B-C144-84DE-E2879A32DD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511360"/>
                  </p:ext>
                </p:extLst>
              </p:nvPr>
            </p:nvGraphicFramePr>
            <p:xfrm>
              <a:off x="1549398" y="2033445"/>
              <a:ext cx="8534404" cy="35328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33601">
                      <a:extLst>
                        <a:ext uri="{9D8B030D-6E8A-4147-A177-3AD203B41FA5}">
                          <a16:colId xmlns:a16="http://schemas.microsoft.com/office/drawing/2014/main" val="3237974615"/>
                        </a:ext>
                      </a:extLst>
                    </a:gridCol>
                    <a:gridCol w="2133601">
                      <a:extLst>
                        <a:ext uri="{9D8B030D-6E8A-4147-A177-3AD203B41FA5}">
                          <a16:colId xmlns:a16="http://schemas.microsoft.com/office/drawing/2014/main" val="2108371299"/>
                        </a:ext>
                      </a:extLst>
                    </a:gridCol>
                    <a:gridCol w="2133601">
                      <a:extLst>
                        <a:ext uri="{9D8B030D-6E8A-4147-A177-3AD203B41FA5}">
                          <a16:colId xmlns:a16="http://schemas.microsoft.com/office/drawing/2014/main" val="1283690682"/>
                        </a:ext>
                      </a:extLst>
                    </a:gridCol>
                    <a:gridCol w="2133601">
                      <a:extLst>
                        <a:ext uri="{9D8B030D-6E8A-4147-A177-3AD203B41FA5}">
                          <a16:colId xmlns:a16="http://schemas.microsoft.com/office/drawing/2014/main" val="2129487664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Word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Document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dirty="0"/>
                            <a:t>Document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dirty="0"/>
                            <a:t>Document 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3297250"/>
                      </a:ext>
                    </a:extLst>
                  </a:tr>
                  <a:tr h="6068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going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00595" t="-66667" r="-201786" b="-43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99408" t="-66667" r="-100592" b="-43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301190" t="-66667" r="-1190" b="-43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517930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00595" t="-275862" r="-201786" b="-624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301190" t="-275862" r="-1190" b="-6241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506249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today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00595" t="-375862" r="-201786" b="-524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99408" t="-375862" r="-100592" b="-524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0075082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i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99408" t="-492857" r="-100592" b="-4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301190" t="-492857" r="-1190" b="-44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612784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am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99408" t="-572414" r="-100592" b="-3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301190" t="-572414" r="-1190" b="-3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688691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it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00595" t="-672414" r="-201786" b="-2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338875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is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00595" t="-772414" r="-201786" b="-1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761596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rain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00595" t="-872414" r="-201786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85105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C650928-1C84-1B4D-A38F-E0202817BFB5}"/>
                  </a:ext>
                </a:extLst>
              </p:cNvPr>
              <p:cNvSpPr/>
              <p:nvPr/>
            </p:nvSpPr>
            <p:spPr>
              <a:xfrm>
                <a:off x="4038600" y="1005670"/>
                <a:ext cx="3616054" cy="6674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𝑇𝐹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𝑐𝑜𝑢𝑛𝑡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𝑤𝑜𝑟𝑑𝑠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C650928-1C84-1B4D-A38F-E0202817BF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1005670"/>
                <a:ext cx="3616054" cy="667490"/>
              </a:xfrm>
              <a:prstGeom prst="rect">
                <a:avLst/>
              </a:prstGeom>
              <a:blipFill>
                <a:blip r:embed="rId4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397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4" y="235721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Example</a:t>
            </a:r>
          </a:p>
          <a:p>
            <a:pPr>
              <a:lnSpc>
                <a:spcPct val="150000"/>
              </a:lnSpc>
            </a:pPr>
            <a:r>
              <a:rPr lang="en-US" sz="2400" b="1" u="sng" dirty="0"/>
              <a:t>Step 3: Find IDF </a:t>
            </a:r>
          </a:p>
          <a:p>
            <a:pPr>
              <a:lnSpc>
                <a:spcPct val="150000"/>
              </a:lnSpc>
            </a:pPr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11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C650928-1C84-1B4D-A38F-E0202817BFB5}"/>
                  </a:ext>
                </a:extLst>
              </p:cNvPr>
              <p:cNvSpPr/>
              <p:nvPr/>
            </p:nvSpPr>
            <p:spPr>
              <a:xfrm>
                <a:off x="3598334" y="971803"/>
                <a:ext cx="4430251" cy="13445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𝐷𝐹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𝑜𝑐𝑐𝑢𝑟𝑟𝑒𝑛𝑐𝑒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𝑑𝑜𝑐𝑢𝑚𝑒𝑛𝑡𝑠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𝐼𝐷𝐹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𝐷𝐹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C650928-1C84-1B4D-A38F-E0202817BF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8334" y="971803"/>
                <a:ext cx="4430251" cy="13445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5F8F2BA-E99F-F84B-9D9C-1835626CAFC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999384" y="2506280"/>
              <a:ext cx="5611215" cy="35387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8326">
                      <a:extLst>
                        <a:ext uri="{9D8B030D-6E8A-4147-A177-3AD203B41FA5}">
                          <a16:colId xmlns:a16="http://schemas.microsoft.com/office/drawing/2014/main" val="3237974615"/>
                        </a:ext>
                      </a:extLst>
                    </a:gridCol>
                    <a:gridCol w="1131035">
                      <a:extLst>
                        <a:ext uri="{9D8B030D-6E8A-4147-A177-3AD203B41FA5}">
                          <a16:colId xmlns:a16="http://schemas.microsoft.com/office/drawing/2014/main" val="2108371299"/>
                        </a:ext>
                      </a:extLst>
                    </a:gridCol>
                    <a:gridCol w="3041854">
                      <a:extLst>
                        <a:ext uri="{9D8B030D-6E8A-4147-A177-3AD203B41FA5}">
                          <a16:colId xmlns:a16="http://schemas.microsoft.com/office/drawing/2014/main" val="177290292"/>
                        </a:ext>
                      </a:extLst>
                    </a:gridCol>
                  </a:tblGrid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Word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Count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IDF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3297250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going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num>
                                          <m:den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</m:func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5179306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1.5</m:t>
                                        </m:r>
                                      </m:e>
                                    </m:d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=0.58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5062494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today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kumimoji="0" lang="en-US" sz="18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1.5</m:t>
                                        </m:r>
                                      </m:e>
                                    </m:d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=0.58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00750821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i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kumimoji="0" lang="en-US" sz="18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1.5</m:t>
                                        </m:r>
                                      </m:e>
                                    </m:d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=0.58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6127848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am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kumimoji="0" lang="en-US" sz="18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1.5</m:t>
                                        </m:r>
                                      </m:e>
                                    </m:d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=0.58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6886916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it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kumimoji="0" lang="en-US" sz="18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3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=1.58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3388757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is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kumimoji="0" lang="en-US" sz="18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3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=1.58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7615962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rain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kumimoji="0" lang="en-US" sz="18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3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=1.58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85105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5F8F2BA-E99F-F84B-9D9C-1835626CAF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4967953"/>
                  </p:ext>
                </p:extLst>
              </p:nvPr>
            </p:nvGraphicFramePr>
            <p:xfrm>
              <a:off x="2999384" y="2506280"/>
              <a:ext cx="5611215" cy="35387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8326">
                      <a:extLst>
                        <a:ext uri="{9D8B030D-6E8A-4147-A177-3AD203B41FA5}">
                          <a16:colId xmlns:a16="http://schemas.microsoft.com/office/drawing/2014/main" val="3237974615"/>
                        </a:ext>
                      </a:extLst>
                    </a:gridCol>
                    <a:gridCol w="1131035">
                      <a:extLst>
                        <a:ext uri="{9D8B030D-6E8A-4147-A177-3AD203B41FA5}">
                          <a16:colId xmlns:a16="http://schemas.microsoft.com/office/drawing/2014/main" val="2108371299"/>
                        </a:ext>
                      </a:extLst>
                    </a:gridCol>
                    <a:gridCol w="3041854">
                      <a:extLst>
                        <a:ext uri="{9D8B030D-6E8A-4147-A177-3AD203B41FA5}">
                          <a16:colId xmlns:a16="http://schemas.microsoft.com/office/drawing/2014/main" val="17729029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Word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Count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IDF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3297250"/>
                      </a:ext>
                    </a:extLst>
                  </a:tr>
                  <a:tr h="6126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going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4"/>
                          <a:stretch>
                            <a:fillRect l="-84583" t="-64583" r="-1250" b="-43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517930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4"/>
                          <a:stretch>
                            <a:fillRect l="-84583" t="-272414" r="-1250" b="-6241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506249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today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4"/>
                          <a:stretch>
                            <a:fillRect l="-84583" t="-372414" r="-1250" b="-5241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75082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i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4"/>
                          <a:stretch>
                            <a:fillRect l="-84583" t="-472414" r="-1250" b="-4241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612784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am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4"/>
                          <a:stretch>
                            <a:fillRect l="-84583" t="-592857" r="-1250" b="-339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688691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it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4"/>
                          <a:stretch>
                            <a:fillRect l="-84583" t="-668966" r="-1250" b="-2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338875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is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4"/>
                          <a:stretch>
                            <a:fillRect l="-84583" t="-768966" r="-1250" b="-1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761596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rain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4"/>
                          <a:stretch>
                            <a:fillRect l="-84583" t="-868966" r="-1250" b="-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85105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69132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4" y="235721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Example</a:t>
            </a:r>
          </a:p>
          <a:p>
            <a:pPr>
              <a:lnSpc>
                <a:spcPct val="150000"/>
              </a:lnSpc>
            </a:pPr>
            <a:r>
              <a:rPr lang="en-US" sz="2400" b="1" u="sng" dirty="0"/>
              <a:t>Step 4: Find TF-IDF </a:t>
            </a:r>
          </a:p>
          <a:p>
            <a:pPr>
              <a:lnSpc>
                <a:spcPct val="150000"/>
              </a:lnSpc>
            </a:pPr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12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5F8F2BA-E99F-F84B-9D9C-1835626CAFC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04592" y="1981346"/>
              <a:ext cx="6847349" cy="3291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3493">
                      <a:extLst>
                        <a:ext uri="{9D8B030D-6E8A-4147-A177-3AD203B41FA5}">
                          <a16:colId xmlns:a16="http://schemas.microsoft.com/office/drawing/2014/main" val="3237974615"/>
                        </a:ext>
                      </a:extLst>
                    </a:gridCol>
                    <a:gridCol w="1200189">
                      <a:extLst>
                        <a:ext uri="{9D8B030D-6E8A-4147-A177-3AD203B41FA5}">
                          <a16:colId xmlns:a16="http://schemas.microsoft.com/office/drawing/2014/main" val="177290292"/>
                        </a:ext>
                      </a:extLst>
                    </a:gridCol>
                    <a:gridCol w="1464733">
                      <a:extLst>
                        <a:ext uri="{9D8B030D-6E8A-4147-A177-3AD203B41FA5}">
                          <a16:colId xmlns:a16="http://schemas.microsoft.com/office/drawing/2014/main" val="1851888588"/>
                        </a:ext>
                      </a:extLst>
                    </a:gridCol>
                    <a:gridCol w="1447800">
                      <a:extLst>
                        <a:ext uri="{9D8B030D-6E8A-4147-A177-3AD203B41FA5}">
                          <a16:colId xmlns:a16="http://schemas.microsoft.com/office/drawing/2014/main" val="3218848225"/>
                        </a:ext>
                      </a:extLst>
                    </a:gridCol>
                    <a:gridCol w="1871134">
                      <a:extLst>
                        <a:ext uri="{9D8B030D-6E8A-4147-A177-3AD203B41FA5}">
                          <a16:colId xmlns:a16="http://schemas.microsoft.com/office/drawing/2014/main" val="2348693567"/>
                        </a:ext>
                      </a:extLst>
                    </a:gridCol>
                  </a:tblGrid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Word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IDF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Document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dirty="0"/>
                            <a:t>Document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dirty="0"/>
                            <a:t>Document 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3297250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going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0.12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5179306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0.58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0.12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5062494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today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0.58</m:t>
                                </m:r>
                              </m:oMath>
                            </m:oMathPara>
                          </a14:m>
                          <a:endParaRPr kumimoji="0" lang="en-IL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00750821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i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0.58</m:t>
                                </m:r>
                              </m:oMath>
                            </m:oMathPara>
                          </a14:m>
                          <a:endParaRPr kumimoji="0" lang="en-IL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0.12</m:t>
                                </m:r>
                              </m:oMath>
                            </m:oMathPara>
                          </a14:m>
                          <a:endParaRPr kumimoji="0" lang="en-IL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6127848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am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0.58</m:t>
                                </m:r>
                              </m:oMath>
                            </m:oMathPara>
                          </a14:m>
                          <a:endParaRPr kumimoji="0" lang="en-IL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0.12</m:t>
                                </m:r>
                              </m:oMath>
                            </m:oMathPara>
                          </a14:m>
                          <a:endParaRPr kumimoji="0" lang="en-IL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6886916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it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1.58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3388757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is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1.58</m:t>
                                </m:r>
                              </m:oMath>
                            </m:oMathPara>
                          </a14:m>
                          <a:endParaRPr kumimoji="0" lang="en-IL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7615962"/>
                      </a:ext>
                    </a:extLst>
                  </a:tr>
                  <a:tr h="318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rain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1.58</m:t>
                                </m:r>
                              </m:oMath>
                            </m:oMathPara>
                          </a14:m>
                          <a:endParaRPr kumimoji="0" lang="en-IL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85105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5F8F2BA-E99F-F84B-9D9C-1835626CAF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0910273"/>
                  </p:ext>
                </p:extLst>
              </p:nvPr>
            </p:nvGraphicFramePr>
            <p:xfrm>
              <a:off x="2604592" y="1981346"/>
              <a:ext cx="6847349" cy="3291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3493">
                      <a:extLst>
                        <a:ext uri="{9D8B030D-6E8A-4147-A177-3AD203B41FA5}">
                          <a16:colId xmlns:a16="http://schemas.microsoft.com/office/drawing/2014/main" val="3237974615"/>
                        </a:ext>
                      </a:extLst>
                    </a:gridCol>
                    <a:gridCol w="1200189">
                      <a:extLst>
                        <a:ext uri="{9D8B030D-6E8A-4147-A177-3AD203B41FA5}">
                          <a16:colId xmlns:a16="http://schemas.microsoft.com/office/drawing/2014/main" val="177290292"/>
                        </a:ext>
                      </a:extLst>
                    </a:gridCol>
                    <a:gridCol w="1464733">
                      <a:extLst>
                        <a:ext uri="{9D8B030D-6E8A-4147-A177-3AD203B41FA5}">
                          <a16:colId xmlns:a16="http://schemas.microsoft.com/office/drawing/2014/main" val="1851888588"/>
                        </a:ext>
                      </a:extLst>
                    </a:gridCol>
                    <a:gridCol w="1447800">
                      <a:extLst>
                        <a:ext uri="{9D8B030D-6E8A-4147-A177-3AD203B41FA5}">
                          <a16:colId xmlns:a16="http://schemas.microsoft.com/office/drawing/2014/main" val="3218848225"/>
                        </a:ext>
                      </a:extLst>
                    </a:gridCol>
                    <a:gridCol w="1871134">
                      <a:extLst>
                        <a:ext uri="{9D8B030D-6E8A-4147-A177-3AD203B41FA5}">
                          <a16:colId xmlns:a16="http://schemas.microsoft.com/office/drawing/2014/main" val="234869356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Word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IDF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Document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dirty="0"/>
                            <a:t>Document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dirty="0"/>
                            <a:t>Document 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329725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going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72632" t="-106897" r="-398947" b="-724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42609" t="-106897" r="-229565" b="-724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244737" t="-106897" r="-131579" b="-724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265541" t="-106897" r="-1351" b="-7241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517930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72632" t="-206897" r="-398947" b="-624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42609" t="-206897" r="-229565" b="-624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265541" t="-206897" r="-1351" b="-6241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506249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today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72632" t="-306897" r="-398947" b="-524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42609" t="-306897" r="-229565" b="-524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244737" t="-306897" r="-131579" b="-524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0075082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i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72632" t="-421429" r="-398947" b="-4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244737" t="-421429" r="-131579" b="-4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265541" t="-421429" r="-1351" b="-44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612784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am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72632" t="-503448" r="-398947" b="-3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244737" t="-503448" r="-131579" b="-3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265541" t="-503448" r="-1351" b="-3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688691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it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72632" t="-603448" r="-398947" b="-2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42609" t="-603448" r="-229565" b="-2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338875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is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72632" t="-703448" r="-398947" b="-1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42609" t="-703448" r="-229565" b="-1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761596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rain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72632" t="-803448" r="-398947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42609" t="-803448" r="-229565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85105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47223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4" y="235721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Example</a:t>
            </a:r>
          </a:p>
          <a:p>
            <a:pPr>
              <a:lnSpc>
                <a:spcPct val="150000"/>
              </a:lnSpc>
            </a:pPr>
            <a:r>
              <a:rPr lang="en-US" sz="2400" b="1" u="sng" dirty="0"/>
              <a:t>Step 4: Find TF-IDF </a:t>
            </a:r>
          </a:p>
          <a:p>
            <a:pPr>
              <a:lnSpc>
                <a:spcPct val="150000"/>
              </a:lnSpc>
            </a:pPr>
            <a:endParaRPr lang="en-US" sz="2400" b="1" u="sng" dirty="0"/>
          </a:p>
          <a:p>
            <a:pPr>
              <a:lnSpc>
                <a:spcPct val="150000"/>
              </a:lnSpc>
            </a:pPr>
            <a:endParaRPr lang="en-US" sz="2400" b="1" u="sng" dirty="0"/>
          </a:p>
          <a:p>
            <a:pPr>
              <a:lnSpc>
                <a:spcPct val="150000"/>
              </a:lnSpc>
            </a:pPr>
            <a:endParaRPr lang="en-US" sz="2400" b="1" u="sng" dirty="0"/>
          </a:p>
          <a:p>
            <a:pPr>
              <a:lnSpc>
                <a:spcPct val="150000"/>
              </a:lnSpc>
            </a:pPr>
            <a:endParaRPr lang="en-US" sz="2400" b="1" u="sng" dirty="0"/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/>
              <a:t>“it”, “is”, “rain” important for doc1 but not for docs 2 and 3.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/>
              <a:t>Docs 1 and 2 talks about </a:t>
            </a:r>
            <a:r>
              <a:rPr lang="en-US" sz="2400" u="sng" dirty="0"/>
              <a:t>today</a:t>
            </a:r>
          </a:p>
          <a:p>
            <a:pPr>
              <a:lnSpc>
                <a:spcPct val="150000"/>
              </a:lnSpc>
            </a:pPr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13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5F8F2BA-E99F-F84B-9D9C-1835626CAFC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99533" y="1981345"/>
              <a:ext cx="10600266" cy="20765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43000">
                      <a:extLst>
                        <a:ext uri="{9D8B030D-6E8A-4147-A177-3AD203B41FA5}">
                          <a16:colId xmlns:a16="http://schemas.microsoft.com/office/drawing/2014/main" val="3237974615"/>
                        </a:ext>
                      </a:extLst>
                    </a:gridCol>
                    <a:gridCol w="1134534">
                      <a:extLst>
                        <a:ext uri="{9D8B030D-6E8A-4147-A177-3AD203B41FA5}">
                          <a16:colId xmlns:a16="http://schemas.microsoft.com/office/drawing/2014/main" val="17729029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851888588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3218848225"/>
                        </a:ext>
                      </a:extLst>
                    </a:gridCol>
                    <a:gridCol w="999066">
                      <a:extLst>
                        <a:ext uri="{9D8B030D-6E8A-4147-A177-3AD203B41FA5}">
                          <a16:colId xmlns:a16="http://schemas.microsoft.com/office/drawing/2014/main" val="2348693567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1029001585"/>
                        </a:ext>
                      </a:extLst>
                    </a:gridCol>
                    <a:gridCol w="1286934">
                      <a:extLst>
                        <a:ext uri="{9D8B030D-6E8A-4147-A177-3AD203B41FA5}">
                          <a16:colId xmlns:a16="http://schemas.microsoft.com/office/drawing/2014/main" val="1355769175"/>
                        </a:ext>
                      </a:extLst>
                    </a:gridCol>
                    <a:gridCol w="1007533">
                      <a:extLst>
                        <a:ext uri="{9D8B030D-6E8A-4147-A177-3AD203B41FA5}">
                          <a16:colId xmlns:a16="http://schemas.microsoft.com/office/drawing/2014/main" val="3089657302"/>
                        </a:ext>
                      </a:extLst>
                    </a:gridCol>
                    <a:gridCol w="1295399">
                      <a:extLst>
                        <a:ext uri="{9D8B030D-6E8A-4147-A177-3AD203B41FA5}">
                          <a16:colId xmlns:a16="http://schemas.microsoft.com/office/drawing/2014/main" val="2535950315"/>
                        </a:ext>
                      </a:extLst>
                    </a:gridCol>
                  </a:tblGrid>
                  <a:tr h="404502">
                    <a:tc>
                      <a:txBody>
                        <a:bodyPr/>
                        <a:lstStyle/>
                        <a:p>
                          <a:pPr algn="ctr"/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going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to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dirty="0"/>
                            <a:t>today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dirty="0"/>
                            <a:t>i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dirty="0"/>
                            <a:t>am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dirty="0"/>
                            <a:t>it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dirty="0"/>
                            <a:t>is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dirty="0"/>
                            <a:t>rain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3297250"/>
                      </a:ext>
                    </a:extLst>
                  </a:tr>
                  <a:tr h="4045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b="1" dirty="0"/>
                            <a:t>Doc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0.58⋅0.16=0.09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0.09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0.25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0.25</m:t>
                                </m:r>
                              </m:oMath>
                            </m:oMathPara>
                          </a14:m>
                          <a:endParaRPr kumimoji="0" lang="en-IL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0.25</m:t>
                                </m:r>
                              </m:oMath>
                            </m:oMathPara>
                          </a14:m>
                          <a:endParaRPr kumimoji="0" lang="en-IL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5179306"/>
                      </a:ext>
                    </a:extLst>
                  </a:tr>
                  <a:tr h="40450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b="1" dirty="0"/>
                            <a:t>Doc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0.09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0.09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0.09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L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IL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L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IL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L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IL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5062494"/>
                      </a:ext>
                    </a:extLst>
                  </a:tr>
                  <a:tr h="40450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b="1" dirty="0"/>
                            <a:t>Doc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L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0.58⋅0.12=0.06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L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L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IL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L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007508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5F8F2BA-E99F-F84B-9D9C-1835626CAF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7672423"/>
                  </p:ext>
                </p:extLst>
              </p:nvPr>
            </p:nvGraphicFramePr>
            <p:xfrm>
              <a:off x="499533" y="1981345"/>
              <a:ext cx="10600266" cy="20765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43000">
                      <a:extLst>
                        <a:ext uri="{9D8B030D-6E8A-4147-A177-3AD203B41FA5}">
                          <a16:colId xmlns:a16="http://schemas.microsoft.com/office/drawing/2014/main" val="3237974615"/>
                        </a:ext>
                      </a:extLst>
                    </a:gridCol>
                    <a:gridCol w="1134534">
                      <a:extLst>
                        <a:ext uri="{9D8B030D-6E8A-4147-A177-3AD203B41FA5}">
                          <a16:colId xmlns:a16="http://schemas.microsoft.com/office/drawing/2014/main" val="17729029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851888588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3218848225"/>
                        </a:ext>
                      </a:extLst>
                    </a:gridCol>
                    <a:gridCol w="999066">
                      <a:extLst>
                        <a:ext uri="{9D8B030D-6E8A-4147-A177-3AD203B41FA5}">
                          <a16:colId xmlns:a16="http://schemas.microsoft.com/office/drawing/2014/main" val="2348693567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1029001585"/>
                        </a:ext>
                      </a:extLst>
                    </a:gridCol>
                    <a:gridCol w="1286934">
                      <a:extLst>
                        <a:ext uri="{9D8B030D-6E8A-4147-A177-3AD203B41FA5}">
                          <a16:colId xmlns:a16="http://schemas.microsoft.com/office/drawing/2014/main" val="1355769175"/>
                        </a:ext>
                      </a:extLst>
                    </a:gridCol>
                    <a:gridCol w="1007533">
                      <a:extLst>
                        <a:ext uri="{9D8B030D-6E8A-4147-A177-3AD203B41FA5}">
                          <a16:colId xmlns:a16="http://schemas.microsoft.com/office/drawing/2014/main" val="3089657302"/>
                        </a:ext>
                      </a:extLst>
                    </a:gridCol>
                    <a:gridCol w="1295399">
                      <a:extLst>
                        <a:ext uri="{9D8B030D-6E8A-4147-A177-3AD203B41FA5}">
                          <a16:colId xmlns:a16="http://schemas.microsoft.com/office/drawing/2014/main" val="2535950315"/>
                        </a:ext>
                      </a:extLst>
                    </a:gridCol>
                  </a:tblGrid>
                  <a:tr h="404502">
                    <a:tc>
                      <a:txBody>
                        <a:bodyPr/>
                        <a:lstStyle/>
                        <a:p>
                          <a:pPr algn="ctr"/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going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to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dirty="0"/>
                            <a:t>today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dirty="0"/>
                            <a:t>i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dirty="0"/>
                            <a:t>am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dirty="0"/>
                            <a:t>it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dirty="0"/>
                            <a:t>is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dirty="0"/>
                            <a:t>rain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3297250"/>
                      </a:ext>
                    </a:extLst>
                  </a:tr>
                  <a:tr h="6337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b="1" dirty="0"/>
                            <a:t>Doc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87500" t="-68000" r="-586458" b="-16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255556" t="-68000" r="-421296" b="-16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542157" t="-68000" r="-180392" b="-16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829114" t="-68000" r="-132911" b="-16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719608" t="-68000" r="-2941" b="-16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5179306"/>
                      </a:ext>
                    </a:extLst>
                  </a:tr>
                  <a:tr h="40450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b="1" dirty="0"/>
                            <a:t>Doc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255556" t="-262500" r="-421296" b="-15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486076" t="-262500" r="-475949" b="-15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514444" t="-262500" r="-317778" b="-15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L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IL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L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IL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L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IL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5062494"/>
                      </a:ext>
                    </a:extLst>
                  </a:tr>
                  <a:tr h="63379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b="1" dirty="0"/>
                            <a:t>Doc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L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87500" t="-232000" r="-586458" b="-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486076" t="-232000" r="-475949" b="-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514444" t="-232000" r="-317778" b="-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L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L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IL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L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0075082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67743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4" y="76203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TF-IDF Distributed Approach</a:t>
            </a:r>
          </a:p>
          <a:p>
            <a:pPr>
              <a:lnSpc>
                <a:spcPct val="150000"/>
              </a:lnSpc>
            </a:pPr>
            <a:r>
              <a:rPr lang="en-US" altLang="en-IL" sz="2400" u="sng" dirty="0"/>
              <a:t>Task 1: Word Frequency in Doc</a:t>
            </a:r>
          </a:p>
          <a:p>
            <a:pPr>
              <a:lnSpc>
                <a:spcPct val="150000"/>
              </a:lnSpc>
            </a:pPr>
            <a:r>
              <a:rPr lang="en-US" altLang="en-IL" sz="2400" dirty="0"/>
              <a:t>Mapper</a:t>
            </a:r>
          </a:p>
          <a:p>
            <a:pPr lvl="1">
              <a:lnSpc>
                <a:spcPct val="150000"/>
              </a:lnSpc>
            </a:pPr>
            <a:r>
              <a:rPr lang="en-US" altLang="en-IL" dirty="0"/>
              <a:t>Input: (</a:t>
            </a:r>
            <a:r>
              <a:rPr lang="en-US" altLang="en-IL" dirty="0" err="1"/>
              <a:t>docname</a:t>
            </a:r>
            <a:r>
              <a:rPr lang="en-US" altLang="en-IL" dirty="0"/>
              <a:t>, contents)</a:t>
            </a:r>
          </a:p>
          <a:p>
            <a:pPr lvl="1">
              <a:lnSpc>
                <a:spcPct val="150000"/>
              </a:lnSpc>
            </a:pPr>
            <a:r>
              <a:rPr lang="en-US" altLang="en-IL" dirty="0"/>
              <a:t>Output: ((word, </a:t>
            </a:r>
            <a:r>
              <a:rPr lang="en-US" altLang="en-IL" dirty="0" err="1"/>
              <a:t>docname</a:t>
            </a:r>
            <a:r>
              <a:rPr lang="en-US" altLang="en-IL" dirty="0"/>
              <a:t>), 1)</a:t>
            </a:r>
          </a:p>
          <a:p>
            <a:pPr>
              <a:lnSpc>
                <a:spcPct val="150000"/>
              </a:lnSpc>
            </a:pPr>
            <a:r>
              <a:rPr lang="en-US" altLang="en-IL" sz="2400" dirty="0"/>
              <a:t>Reducer</a:t>
            </a:r>
          </a:p>
          <a:p>
            <a:pPr lvl="1">
              <a:lnSpc>
                <a:spcPct val="150000"/>
              </a:lnSpc>
            </a:pPr>
            <a:r>
              <a:rPr lang="en-US" altLang="en-IL" dirty="0"/>
              <a:t>Sums counts for word in document</a:t>
            </a:r>
          </a:p>
          <a:p>
            <a:pPr lvl="1">
              <a:lnSpc>
                <a:spcPct val="150000"/>
              </a:lnSpc>
            </a:pPr>
            <a:r>
              <a:rPr lang="en-US" altLang="en-IL" dirty="0"/>
              <a:t>Outputs ((word, </a:t>
            </a:r>
            <a:r>
              <a:rPr lang="en-US" altLang="en-IL" dirty="0" err="1"/>
              <a:t>docname</a:t>
            </a:r>
            <a:r>
              <a:rPr lang="en-US" altLang="en-IL" dirty="0"/>
              <a:t>), </a:t>
            </a:r>
            <a:r>
              <a:rPr lang="en-US" altLang="en-IL" i="1" dirty="0"/>
              <a:t>n</a:t>
            </a:r>
            <a:r>
              <a:rPr lang="en-US" altLang="en-IL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14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0709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4" y="76203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TF-IDF Distributed Approach</a:t>
            </a:r>
          </a:p>
          <a:p>
            <a:pPr>
              <a:lnSpc>
                <a:spcPct val="150000"/>
              </a:lnSpc>
            </a:pPr>
            <a:r>
              <a:rPr lang="en-US" altLang="en-IL" sz="2400" u="sng" dirty="0"/>
              <a:t>Task 2: Word Counts For Docs</a:t>
            </a:r>
          </a:p>
          <a:p>
            <a:pPr>
              <a:lnSpc>
                <a:spcPct val="150000"/>
              </a:lnSpc>
            </a:pPr>
            <a:r>
              <a:rPr lang="en-US" altLang="en-IL" sz="2400" dirty="0"/>
              <a:t>Mapper</a:t>
            </a:r>
          </a:p>
          <a:p>
            <a:pPr lvl="1">
              <a:lnSpc>
                <a:spcPct val="150000"/>
              </a:lnSpc>
            </a:pPr>
            <a:r>
              <a:rPr lang="en-US" altLang="en-IL" dirty="0"/>
              <a:t>Input: ((word, </a:t>
            </a:r>
            <a:r>
              <a:rPr lang="en-US" altLang="en-IL" dirty="0" err="1"/>
              <a:t>docname</a:t>
            </a:r>
            <a:r>
              <a:rPr lang="en-US" altLang="en-IL" dirty="0"/>
              <a:t>), </a:t>
            </a:r>
            <a:r>
              <a:rPr lang="en-US" altLang="en-IL" i="1" dirty="0"/>
              <a:t>n</a:t>
            </a:r>
            <a:r>
              <a:rPr lang="en-US" altLang="en-IL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en-IL" dirty="0"/>
              <a:t>Output: (</a:t>
            </a:r>
            <a:r>
              <a:rPr lang="en-US" altLang="en-IL" dirty="0" err="1"/>
              <a:t>docname</a:t>
            </a:r>
            <a:r>
              <a:rPr lang="en-US" altLang="en-IL" dirty="0"/>
              <a:t>, (word, </a:t>
            </a:r>
            <a:r>
              <a:rPr lang="en-US" altLang="en-IL" i="1" dirty="0"/>
              <a:t>n)</a:t>
            </a:r>
            <a:r>
              <a:rPr lang="en-US" altLang="en-IL" dirty="0"/>
              <a:t>) </a:t>
            </a:r>
          </a:p>
          <a:p>
            <a:pPr>
              <a:lnSpc>
                <a:spcPct val="150000"/>
              </a:lnSpc>
            </a:pPr>
            <a:r>
              <a:rPr lang="en-US" altLang="en-IL" sz="2400" dirty="0"/>
              <a:t>Reducer</a:t>
            </a:r>
          </a:p>
          <a:p>
            <a:pPr lvl="1">
              <a:lnSpc>
                <a:spcPct val="150000"/>
              </a:lnSpc>
            </a:pPr>
            <a:r>
              <a:rPr lang="en-US" altLang="en-IL" dirty="0"/>
              <a:t>Sums frequency of individual </a:t>
            </a:r>
            <a:r>
              <a:rPr lang="en-US" altLang="en-IL" i="1" dirty="0"/>
              <a:t>n</a:t>
            </a:r>
            <a:r>
              <a:rPr lang="en-US" altLang="en-IL" dirty="0"/>
              <a:t>’s in same doc</a:t>
            </a:r>
          </a:p>
          <a:p>
            <a:pPr lvl="1">
              <a:lnSpc>
                <a:spcPct val="150000"/>
              </a:lnSpc>
            </a:pPr>
            <a:r>
              <a:rPr lang="en-US" altLang="en-IL" dirty="0"/>
              <a:t>Feeds original data through</a:t>
            </a:r>
          </a:p>
          <a:p>
            <a:pPr lvl="1">
              <a:lnSpc>
                <a:spcPct val="150000"/>
              </a:lnSpc>
            </a:pPr>
            <a:r>
              <a:rPr lang="en-US" altLang="en-IL" dirty="0"/>
              <a:t>Outputs ((word, </a:t>
            </a:r>
            <a:r>
              <a:rPr lang="en-US" altLang="en-IL" dirty="0" err="1"/>
              <a:t>docname</a:t>
            </a:r>
            <a:r>
              <a:rPr lang="en-US" altLang="en-IL" dirty="0"/>
              <a:t>), (</a:t>
            </a:r>
            <a:r>
              <a:rPr lang="en-US" altLang="en-IL" i="1" dirty="0"/>
              <a:t>n</a:t>
            </a:r>
            <a:r>
              <a:rPr lang="en-US" altLang="en-IL" dirty="0"/>
              <a:t>, </a:t>
            </a:r>
            <a:r>
              <a:rPr lang="en-US" altLang="en-IL" i="1" dirty="0"/>
              <a:t>N)</a:t>
            </a:r>
            <a:r>
              <a:rPr lang="en-US" altLang="en-IL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15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87132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4" y="76203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TF-IDF Distributed Approach</a:t>
            </a:r>
          </a:p>
          <a:p>
            <a:pPr>
              <a:lnSpc>
                <a:spcPct val="150000"/>
              </a:lnSpc>
            </a:pPr>
            <a:r>
              <a:rPr lang="en-US" altLang="en-IL" sz="2400" u="sng" dirty="0"/>
              <a:t>Task 3: Word Frequency In Corpus</a:t>
            </a:r>
          </a:p>
          <a:p>
            <a:pPr>
              <a:lnSpc>
                <a:spcPct val="150000"/>
              </a:lnSpc>
            </a:pPr>
            <a:r>
              <a:rPr lang="en-US" altLang="en-IL" sz="2400" dirty="0"/>
              <a:t>Mapper</a:t>
            </a:r>
          </a:p>
          <a:p>
            <a:pPr lvl="1">
              <a:lnSpc>
                <a:spcPct val="150000"/>
              </a:lnSpc>
            </a:pPr>
            <a:r>
              <a:rPr lang="en-US" altLang="en-IL" dirty="0"/>
              <a:t>Input: ((word, </a:t>
            </a:r>
            <a:r>
              <a:rPr lang="en-US" altLang="en-IL" dirty="0" err="1"/>
              <a:t>docname</a:t>
            </a:r>
            <a:r>
              <a:rPr lang="en-US" altLang="en-IL" dirty="0"/>
              <a:t>), (</a:t>
            </a:r>
            <a:r>
              <a:rPr lang="en-US" altLang="en-IL" i="1" dirty="0"/>
              <a:t>n, N)</a:t>
            </a:r>
            <a:r>
              <a:rPr lang="en-US" altLang="en-IL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en-IL" dirty="0"/>
              <a:t>Output: (word, (</a:t>
            </a:r>
            <a:r>
              <a:rPr lang="en-US" altLang="en-IL" dirty="0" err="1"/>
              <a:t>docname</a:t>
            </a:r>
            <a:r>
              <a:rPr lang="en-US" altLang="en-IL" dirty="0"/>
              <a:t>, </a:t>
            </a:r>
            <a:r>
              <a:rPr lang="en-US" altLang="en-IL" i="1" dirty="0"/>
              <a:t>n</a:t>
            </a:r>
            <a:r>
              <a:rPr lang="en-US" altLang="en-IL" dirty="0"/>
              <a:t>, </a:t>
            </a:r>
            <a:r>
              <a:rPr lang="en-US" altLang="en-IL" i="1" dirty="0"/>
              <a:t>N</a:t>
            </a:r>
            <a:r>
              <a:rPr lang="en-US" altLang="en-IL" dirty="0"/>
              <a:t>, 1))</a:t>
            </a:r>
          </a:p>
          <a:p>
            <a:pPr>
              <a:lnSpc>
                <a:spcPct val="150000"/>
              </a:lnSpc>
            </a:pPr>
            <a:r>
              <a:rPr lang="en-US" altLang="en-IL" sz="2400" dirty="0"/>
              <a:t>Reducer</a:t>
            </a:r>
          </a:p>
          <a:p>
            <a:pPr lvl="1">
              <a:lnSpc>
                <a:spcPct val="150000"/>
              </a:lnSpc>
            </a:pPr>
            <a:r>
              <a:rPr lang="en-US" altLang="en-IL" dirty="0"/>
              <a:t>Sums counts for word in corpus</a:t>
            </a:r>
          </a:p>
          <a:p>
            <a:pPr lvl="1">
              <a:lnSpc>
                <a:spcPct val="150000"/>
              </a:lnSpc>
            </a:pPr>
            <a:r>
              <a:rPr lang="en-US" altLang="en-IL" dirty="0"/>
              <a:t>Outputs ((word, </a:t>
            </a:r>
            <a:r>
              <a:rPr lang="en-US" altLang="en-IL" dirty="0" err="1"/>
              <a:t>docname</a:t>
            </a:r>
            <a:r>
              <a:rPr lang="en-US" altLang="en-IL" dirty="0"/>
              <a:t>), (</a:t>
            </a:r>
            <a:r>
              <a:rPr lang="en-US" altLang="en-IL" i="1" dirty="0"/>
              <a:t>n</a:t>
            </a:r>
            <a:r>
              <a:rPr lang="en-US" altLang="en-IL" dirty="0"/>
              <a:t>, </a:t>
            </a:r>
            <a:r>
              <a:rPr lang="en-US" altLang="en-IL" i="1" dirty="0"/>
              <a:t>N</a:t>
            </a:r>
            <a:r>
              <a:rPr lang="en-US" altLang="en-IL" dirty="0"/>
              <a:t>, </a:t>
            </a:r>
            <a:r>
              <a:rPr lang="en-US" altLang="en-IL" i="1" dirty="0"/>
              <a:t>m</a:t>
            </a:r>
            <a:r>
              <a:rPr lang="en-US" altLang="en-IL" dirty="0"/>
              <a:t>))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16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295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4" y="76203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TF-IDF Distributed Approach</a:t>
            </a:r>
          </a:p>
          <a:p>
            <a:pPr>
              <a:lnSpc>
                <a:spcPct val="150000"/>
              </a:lnSpc>
            </a:pPr>
            <a:r>
              <a:rPr lang="en-US" altLang="en-IL" sz="2400" u="sng" dirty="0"/>
              <a:t>Task 4: Calculate TF-IDF</a:t>
            </a:r>
            <a:endParaRPr lang="en-US" sz="2400" u="sng" dirty="0"/>
          </a:p>
          <a:p>
            <a:pPr>
              <a:lnSpc>
                <a:spcPct val="150000"/>
              </a:lnSpc>
            </a:pPr>
            <a:r>
              <a:rPr lang="en-US" altLang="en-IL" sz="2400" dirty="0"/>
              <a:t>Mapper</a:t>
            </a:r>
          </a:p>
          <a:p>
            <a:pPr lvl="1">
              <a:lnSpc>
                <a:spcPct val="150000"/>
              </a:lnSpc>
            </a:pPr>
            <a:r>
              <a:rPr lang="en-US" altLang="en-IL" dirty="0"/>
              <a:t>Input: ((word, </a:t>
            </a:r>
            <a:r>
              <a:rPr lang="en-US" altLang="en-IL" dirty="0" err="1"/>
              <a:t>docname</a:t>
            </a:r>
            <a:r>
              <a:rPr lang="en-US" altLang="en-IL" dirty="0"/>
              <a:t>), (n, N, m))</a:t>
            </a:r>
          </a:p>
          <a:p>
            <a:pPr lvl="1">
              <a:lnSpc>
                <a:spcPct val="150000"/>
              </a:lnSpc>
            </a:pPr>
            <a:r>
              <a:rPr lang="en-US" altLang="en-IL" dirty="0"/>
              <a:t>Output ((word, </a:t>
            </a:r>
            <a:r>
              <a:rPr lang="en-US" altLang="en-IL" dirty="0" err="1"/>
              <a:t>docname</a:t>
            </a:r>
            <a:r>
              <a:rPr lang="en-US" altLang="en-IL" dirty="0"/>
              <a:t>), TF*IDF)</a:t>
            </a:r>
          </a:p>
          <a:p>
            <a:pPr>
              <a:lnSpc>
                <a:spcPct val="150000"/>
              </a:lnSpc>
            </a:pPr>
            <a:r>
              <a:rPr lang="en-US" altLang="en-IL" sz="2400" dirty="0"/>
              <a:t>Reducer</a:t>
            </a:r>
          </a:p>
          <a:p>
            <a:pPr lvl="1">
              <a:lnSpc>
                <a:spcPct val="150000"/>
              </a:lnSpc>
            </a:pPr>
            <a:r>
              <a:rPr lang="en-US" altLang="en-IL" dirty="0"/>
              <a:t>Just the identity function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17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97200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14832</TotalTime>
  <Words>826</Words>
  <Application>Microsoft Macintosh PowerPoint</Application>
  <PresentationFormat>מסך רחב</PresentationFormat>
  <Paragraphs>344</Paragraphs>
  <Slides>17</Slides>
  <Notes>15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Office Theme</vt:lpstr>
      <vt:lpstr>Cloud Based Data Engineering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Groups</dc:title>
  <dc:creator>Lev</dc:creator>
  <cp:lastModifiedBy>or perets</cp:lastModifiedBy>
  <cp:revision>296</cp:revision>
  <dcterms:created xsi:type="dcterms:W3CDTF">2021-02-09T13:47:38Z</dcterms:created>
  <dcterms:modified xsi:type="dcterms:W3CDTF">2025-05-29T06:28:22Z</dcterms:modified>
</cp:coreProperties>
</file>