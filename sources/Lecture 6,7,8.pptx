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418" r:id="rId3"/>
    <p:sldId id="419" r:id="rId4"/>
    <p:sldId id="382" r:id="rId5"/>
    <p:sldId id="384" r:id="rId6"/>
    <p:sldId id="399" r:id="rId7"/>
    <p:sldId id="383" r:id="rId8"/>
    <p:sldId id="385" r:id="rId9"/>
    <p:sldId id="386" r:id="rId10"/>
    <p:sldId id="420" r:id="rId11"/>
    <p:sldId id="366" r:id="rId12"/>
    <p:sldId id="367" r:id="rId13"/>
    <p:sldId id="368" r:id="rId14"/>
    <p:sldId id="371" r:id="rId15"/>
    <p:sldId id="393" r:id="rId16"/>
    <p:sldId id="394" r:id="rId17"/>
    <p:sldId id="396" r:id="rId18"/>
    <p:sldId id="606" r:id="rId19"/>
    <p:sldId id="623" r:id="rId20"/>
    <p:sldId id="607" r:id="rId21"/>
    <p:sldId id="624" r:id="rId22"/>
    <p:sldId id="608" r:id="rId23"/>
    <p:sldId id="617" r:id="rId24"/>
    <p:sldId id="395" r:id="rId25"/>
    <p:sldId id="397" r:id="rId26"/>
    <p:sldId id="398" r:id="rId27"/>
    <p:sldId id="631" r:id="rId28"/>
    <p:sldId id="611" r:id="rId29"/>
    <p:sldId id="610" r:id="rId30"/>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051"/>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479"/>
  </p:normalViewPr>
  <p:slideViewPr>
    <p:cSldViewPr snapToGrid="0">
      <p:cViewPr varScale="1">
        <p:scale>
          <a:sx n="103" d="100"/>
          <a:sy n="103" d="100"/>
        </p:scale>
        <p:origin x="1456" y="17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63F32-7DA3-4013-BE26-9191402E55C8}" type="datetimeFigureOut">
              <a:rPr lang="en-IL" smtClean="0"/>
              <a:t>6/11/25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8866D-0BA4-4B03-8FA8-A96EE1FB39D0}" type="slidenum">
              <a:rPr lang="en-IL" smtClean="0"/>
              <a:t>‹#›</a:t>
            </a:fld>
            <a:endParaRPr lang="en-IL"/>
          </a:p>
        </p:txBody>
      </p:sp>
    </p:spTree>
    <p:extLst>
      <p:ext uri="{BB962C8B-B14F-4D97-AF65-F5344CB8AC3E}">
        <p14:creationId xmlns:p14="http://schemas.microsoft.com/office/powerpoint/2010/main" val="242115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a:t>
            </a:fld>
            <a:endParaRPr lang="en-IL"/>
          </a:p>
        </p:txBody>
      </p:sp>
    </p:spTree>
    <p:extLst>
      <p:ext uri="{BB962C8B-B14F-4D97-AF65-F5344CB8AC3E}">
        <p14:creationId xmlns:p14="http://schemas.microsoft.com/office/powerpoint/2010/main" val="323372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a:t>
            </a:fld>
            <a:endParaRPr lang="en-IL"/>
          </a:p>
        </p:txBody>
      </p:sp>
    </p:spTree>
    <p:extLst>
      <p:ext uri="{BB962C8B-B14F-4D97-AF65-F5344CB8AC3E}">
        <p14:creationId xmlns:p14="http://schemas.microsoft.com/office/powerpoint/2010/main" val="2409329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a:t>
            </a:fld>
            <a:endParaRPr lang="en-IL"/>
          </a:p>
        </p:txBody>
      </p:sp>
    </p:spTree>
    <p:extLst>
      <p:ext uri="{BB962C8B-B14F-4D97-AF65-F5344CB8AC3E}">
        <p14:creationId xmlns:p14="http://schemas.microsoft.com/office/powerpoint/2010/main" val="2680956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a:t>
            </a:fld>
            <a:endParaRPr lang="en-IL"/>
          </a:p>
        </p:txBody>
      </p:sp>
    </p:spTree>
    <p:extLst>
      <p:ext uri="{BB962C8B-B14F-4D97-AF65-F5344CB8AC3E}">
        <p14:creationId xmlns:p14="http://schemas.microsoft.com/office/powerpoint/2010/main" val="1398869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a:t>
            </a:fld>
            <a:endParaRPr lang="en-IL"/>
          </a:p>
        </p:txBody>
      </p:sp>
    </p:spTree>
    <p:extLst>
      <p:ext uri="{BB962C8B-B14F-4D97-AF65-F5344CB8AC3E}">
        <p14:creationId xmlns:p14="http://schemas.microsoft.com/office/powerpoint/2010/main" val="4056844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8</a:t>
            </a:fld>
            <a:endParaRPr lang="en-IL"/>
          </a:p>
        </p:txBody>
      </p:sp>
    </p:spTree>
    <p:extLst>
      <p:ext uri="{BB962C8B-B14F-4D97-AF65-F5344CB8AC3E}">
        <p14:creationId xmlns:p14="http://schemas.microsoft.com/office/powerpoint/2010/main" val="79484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9</a:t>
            </a:fld>
            <a:endParaRPr lang="en-IL"/>
          </a:p>
        </p:txBody>
      </p:sp>
    </p:spTree>
    <p:extLst>
      <p:ext uri="{BB962C8B-B14F-4D97-AF65-F5344CB8AC3E}">
        <p14:creationId xmlns:p14="http://schemas.microsoft.com/office/powerpoint/2010/main" val="1782440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11</a:t>
            </a:fld>
            <a:endParaRPr lang="en-IL"/>
          </a:p>
        </p:txBody>
      </p:sp>
    </p:spTree>
    <p:extLst>
      <p:ext uri="{BB962C8B-B14F-4D97-AF65-F5344CB8AC3E}">
        <p14:creationId xmlns:p14="http://schemas.microsoft.com/office/powerpoint/2010/main" val="4070684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12</a:t>
            </a:fld>
            <a:endParaRPr lang="en-IL"/>
          </a:p>
        </p:txBody>
      </p:sp>
    </p:spTree>
    <p:extLst>
      <p:ext uri="{BB962C8B-B14F-4D97-AF65-F5344CB8AC3E}">
        <p14:creationId xmlns:p14="http://schemas.microsoft.com/office/powerpoint/2010/main" val="4279126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13</a:t>
            </a:fld>
            <a:endParaRPr lang="en-IL"/>
          </a:p>
        </p:txBody>
      </p:sp>
    </p:spTree>
    <p:extLst>
      <p:ext uri="{BB962C8B-B14F-4D97-AF65-F5344CB8AC3E}">
        <p14:creationId xmlns:p14="http://schemas.microsoft.com/office/powerpoint/2010/main" val="4210663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14</a:t>
            </a:fld>
            <a:endParaRPr lang="en-IL"/>
          </a:p>
        </p:txBody>
      </p:sp>
    </p:spTree>
    <p:extLst>
      <p:ext uri="{BB962C8B-B14F-4D97-AF65-F5344CB8AC3E}">
        <p14:creationId xmlns:p14="http://schemas.microsoft.com/office/powerpoint/2010/main" val="2544169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15</a:t>
            </a:fld>
            <a:endParaRPr lang="en-IL"/>
          </a:p>
        </p:txBody>
      </p:sp>
    </p:spTree>
    <p:extLst>
      <p:ext uri="{BB962C8B-B14F-4D97-AF65-F5344CB8AC3E}">
        <p14:creationId xmlns:p14="http://schemas.microsoft.com/office/powerpoint/2010/main" val="1492529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16</a:t>
            </a:fld>
            <a:endParaRPr lang="en-IL"/>
          </a:p>
        </p:txBody>
      </p:sp>
    </p:spTree>
    <p:extLst>
      <p:ext uri="{BB962C8B-B14F-4D97-AF65-F5344CB8AC3E}">
        <p14:creationId xmlns:p14="http://schemas.microsoft.com/office/powerpoint/2010/main" val="3257935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17</a:t>
            </a:fld>
            <a:endParaRPr lang="en-IL"/>
          </a:p>
        </p:txBody>
      </p:sp>
    </p:spTree>
    <p:extLst>
      <p:ext uri="{BB962C8B-B14F-4D97-AF65-F5344CB8AC3E}">
        <p14:creationId xmlns:p14="http://schemas.microsoft.com/office/powerpoint/2010/main" val="576496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19</a:t>
            </a:fld>
            <a:endParaRPr lang="en-IL"/>
          </a:p>
        </p:txBody>
      </p:sp>
    </p:spTree>
    <p:extLst>
      <p:ext uri="{BB962C8B-B14F-4D97-AF65-F5344CB8AC3E}">
        <p14:creationId xmlns:p14="http://schemas.microsoft.com/office/powerpoint/2010/main" val="3632157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21</a:t>
            </a:fld>
            <a:endParaRPr lang="en-IL"/>
          </a:p>
        </p:txBody>
      </p:sp>
    </p:spTree>
    <p:extLst>
      <p:ext uri="{BB962C8B-B14F-4D97-AF65-F5344CB8AC3E}">
        <p14:creationId xmlns:p14="http://schemas.microsoft.com/office/powerpoint/2010/main" val="4046810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24</a:t>
            </a:fld>
            <a:endParaRPr lang="en-IL"/>
          </a:p>
        </p:txBody>
      </p:sp>
    </p:spTree>
    <p:extLst>
      <p:ext uri="{BB962C8B-B14F-4D97-AF65-F5344CB8AC3E}">
        <p14:creationId xmlns:p14="http://schemas.microsoft.com/office/powerpoint/2010/main" val="1788318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25</a:t>
            </a:fld>
            <a:endParaRPr lang="en-IL"/>
          </a:p>
        </p:txBody>
      </p:sp>
    </p:spTree>
    <p:extLst>
      <p:ext uri="{BB962C8B-B14F-4D97-AF65-F5344CB8AC3E}">
        <p14:creationId xmlns:p14="http://schemas.microsoft.com/office/powerpoint/2010/main" val="2158153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26</a:t>
            </a:fld>
            <a:endParaRPr lang="en-IL"/>
          </a:p>
        </p:txBody>
      </p:sp>
    </p:spTree>
    <p:extLst>
      <p:ext uri="{BB962C8B-B14F-4D97-AF65-F5344CB8AC3E}">
        <p14:creationId xmlns:p14="http://schemas.microsoft.com/office/powerpoint/2010/main" val="12106032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27</a:t>
            </a:fld>
            <a:endParaRPr lang="en-IL"/>
          </a:p>
        </p:txBody>
      </p:sp>
    </p:spTree>
    <p:extLst>
      <p:ext uri="{BB962C8B-B14F-4D97-AF65-F5344CB8AC3E}">
        <p14:creationId xmlns:p14="http://schemas.microsoft.com/office/powerpoint/2010/main" val="3045303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53BB-FAA3-46ED-8326-AD7EE26F7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6B615E8-3C95-4096-8039-02C1046EA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5CE2517-A02E-4027-BA2C-117CE149DB30}"/>
              </a:ext>
            </a:extLst>
          </p:cNvPr>
          <p:cNvSpPr>
            <a:spLocks noGrp="1"/>
          </p:cNvSpPr>
          <p:nvPr>
            <p:ph type="dt" sz="half" idx="10"/>
          </p:nvPr>
        </p:nvSpPr>
        <p:spPr/>
        <p:txBody>
          <a:bodyPr/>
          <a:lstStyle/>
          <a:p>
            <a:fld id="{5DF7157C-9C36-0447-8046-5352E14D0F80}" type="datetime8">
              <a:rPr lang="en-US" smtClean="0"/>
              <a:t>6/11/25 11:29 AM</a:t>
            </a:fld>
            <a:endParaRPr lang="en-IL"/>
          </a:p>
        </p:txBody>
      </p:sp>
      <p:sp>
        <p:nvSpPr>
          <p:cNvPr id="5" name="Footer Placeholder 4">
            <a:extLst>
              <a:ext uri="{FF2B5EF4-FFF2-40B4-BE49-F238E27FC236}">
                <a16:creationId xmlns:a16="http://schemas.microsoft.com/office/drawing/2014/main" id="{C6E5C8B8-C77F-4E96-831A-FC160B4AF490}"/>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6A7E7471-5067-4CA0-9D60-D86D047E9514}"/>
              </a:ext>
            </a:extLst>
          </p:cNvPr>
          <p:cNvSpPr>
            <a:spLocks noGrp="1"/>
          </p:cNvSpPr>
          <p:nvPr>
            <p:ph type="sldNum" sz="quarter" idx="12"/>
          </p:nvPr>
        </p:nvSpPr>
        <p:spPr/>
        <p:txBody>
          <a:bodyPr/>
          <a:lstStyle>
            <a:lvl1pPr>
              <a:defRPr sz="1800"/>
            </a:lvl1pPr>
          </a:lstStyle>
          <a:p>
            <a:fld id="{B62643F8-DFCD-4B5F-9519-933435FA18FB}" type="slidenum">
              <a:rPr lang="en-IL" smtClean="0"/>
              <a:pPr/>
              <a:t>‹#›</a:t>
            </a:fld>
            <a:endParaRPr lang="en-IL" dirty="0"/>
          </a:p>
        </p:txBody>
      </p:sp>
    </p:spTree>
    <p:extLst>
      <p:ext uri="{BB962C8B-B14F-4D97-AF65-F5344CB8AC3E}">
        <p14:creationId xmlns:p14="http://schemas.microsoft.com/office/powerpoint/2010/main" val="2720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257D3F8-87F0-4DF5-8F98-66DFD99EE7B2}"/>
              </a:ext>
            </a:extLst>
          </p:cNvPr>
          <p:cNvSpPr>
            <a:spLocks noGrp="1"/>
          </p:cNvSpPr>
          <p:nvPr>
            <p:ph idx="1"/>
          </p:nvPr>
        </p:nvSpPr>
        <p:spPr>
          <a:xfrm>
            <a:off x="838200" y="583474"/>
            <a:ext cx="10515600" cy="559348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3" name="Date Placeholder 3">
            <a:extLst>
              <a:ext uri="{FF2B5EF4-FFF2-40B4-BE49-F238E27FC236}">
                <a16:creationId xmlns:a16="http://schemas.microsoft.com/office/drawing/2014/main" id="{BCDE1D59-793A-43B8-B383-259A90AD5274}"/>
              </a:ext>
            </a:extLst>
          </p:cNvPr>
          <p:cNvSpPr>
            <a:spLocks noGrp="1"/>
          </p:cNvSpPr>
          <p:nvPr>
            <p:ph type="dt" sz="half" idx="10"/>
          </p:nvPr>
        </p:nvSpPr>
        <p:spPr>
          <a:xfrm>
            <a:off x="838200" y="6356350"/>
            <a:ext cx="2743200" cy="365125"/>
          </a:xfrm>
        </p:spPr>
        <p:txBody>
          <a:bodyPr/>
          <a:lstStyle/>
          <a:p>
            <a:fld id="{896E8B87-F9FD-464E-B534-DBC261D83ADB}" type="datetime8">
              <a:rPr lang="en-US" smtClean="0"/>
              <a:t>6/11/25 11:29 AM</a:t>
            </a:fld>
            <a:endParaRPr lang="en-IL"/>
          </a:p>
        </p:txBody>
      </p:sp>
      <p:sp>
        <p:nvSpPr>
          <p:cNvPr id="14" name="Footer Placeholder 4">
            <a:extLst>
              <a:ext uri="{FF2B5EF4-FFF2-40B4-BE49-F238E27FC236}">
                <a16:creationId xmlns:a16="http://schemas.microsoft.com/office/drawing/2014/main" id="{AA69F713-2159-4167-B614-5042E8DE4D6E}"/>
              </a:ext>
            </a:extLst>
          </p:cNvPr>
          <p:cNvSpPr>
            <a:spLocks noGrp="1"/>
          </p:cNvSpPr>
          <p:nvPr>
            <p:ph type="ftr" sz="quarter" idx="11"/>
          </p:nvPr>
        </p:nvSpPr>
        <p:spPr>
          <a:xfrm>
            <a:off x="4038600" y="6356350"/>
            <a:ext cx="4114800" cy="365125"/>
          </a:xfrm>
        </p:spPr>
        <p:txBody>
          <a:bodyPr/>
          <a:lstStyle/>
          <a:p>
            <a:r>
              <a:rPr lang="en-US"/>
              <a:t>Or Peretz</a:t>
            </a:r>
            <a:endParaRPr lang="en-IL"/>
          </a:p>
        </p:txBody>
      </p:sp>
      <p:sp>
        <p:nvSpPr>
          <p:cNvPr id="15" name="Slide Number Placeholder 5">
            <a:extLst>
              <a:ext uri="{FF2B5EF4-FFF2-40B4-BE49-F238E27FC236}">
                <a16:creationId xmlns:a16="http://schemas.microsoft.com/office/drawing/2014/main" id="{5F40A595-FC21-4942-AC1C-EC8D0EE8F289}"/>
              </a:ext>
            </a:extLst>
          </p:cNvPr>
          <p:cNvSpPr>
            <a:spLocks noGrp="1"/>
          </p:cNvSpPr>
          <p:nvPr>
            <p:ph type="sldNum" sz="quarter" idx="12"/>
          </p:nvPr>
        </p:nvSpPr>
        <p:spPr>
          <a:xfrm>
            <a:off x="8610600" y="6356350"/>
            <a:ext cx="2743200" cy="365125"/>
          </a:xfrm>
        </p:spPr>
        <p:txBody>
          <a:bodyPr/>
          <a:lstStyle>
            <a:lvl1pPr>
              <a:defRPr sz="1800"/>
            </a:lvl1pPr>
          </a:lstStyle>
          <a:p>
            <a:fld id="{C9D69B18-316A-457F-86C2-CFE4F951EE27}" type="slidenum">
              <a:rPr lang="en-IL" smtClean="0"/>
              <a:pPr/>
              <a:t>‹#›</a:t>
            </a:fld>
            <a:endParaRPr lang="en-IL" dirty="0"/>
          </a:p>
        </p:txBody>
      </p:sp>
    </p:spTree>
    <p:extLst>
      <p:ext uri="{BB962C8B-B14F-4D97-AF65-F5344CB8AC3E}">
        <p14:creationId xmlns:p14="http://schemas.microsoft.com/office/powerpoint/2010/main" val="339576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tmplLst>
          <p:tmpl lvl="1">
            <p:tnLst>
              <p:par>
                <p:cTn presetID="1"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DB71-F16A-411E-A1F0-229842FF42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5FEC0A3-903B-4C81-96AA-FA5FE78795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21F274-0FDC-4FF1-AD1D-E33CBC0B8BE3}"/>
              </a:ext>
            </a:extLst>
          </p:cNvPr>
          <p:cNvSpPr>
            <a:spLocks noGrp="1"/>
          </p:cNvSpPr>
          <p:nvPr>
            <p:ph type="dt" sz="half" idx="10"/>
          </p:nvPr>
        </p:nvSpPr>
        <p:spPr/>
        <p:txBody>
          <a:bodyPr/>
          <a:lstStyle/>
          <a:p>
            <a:fld id="{7E52E3E6-91E3-074B-992C-DFAD5D8203F1}" type="datetime8">
              <a:rPr lang="en-US" smtClean="0"/>
              <a:t>6/11/25 11:29 AM</a:t>
            </a:fld>
            <a:endParaRPr lang="en-IL"/>
          </a:p>
        </p:txBody>
      </p:sp>
      <p:sp>
        <p:nvSpPr>
          <p:cNvPr id="5" name="Footer Placeholder 4">
            <a:extLst>
              <a:ext uri="{FF2B5EF4-FFF2-40B4-BE49-F238E27FC236}">
                <a16:creationId xmlns:a16="http://schemas.microsoft.com/office/drawing/2014/main" id="{C5317186-B90F-456C-A210-0CD662FC94AE}"/>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44DCF8B6-F957-4C26-89F8-62EE0895ACB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99978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CB62-2976-4F72-B0D1-D7D5CC8DFE1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E570335-BA28-442F-B929-834D11AFBB7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43D0261-93E1-42EC-B45C-7A9C69E6DB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8ED1B8B7-4BAF-485E-8E14-0A3937A2E61B}"/>
              </a:ext>
            </a:extLst>
          </p:cNvPr>
          <p:cNvSpPr>
            <a:spLocks noGrp="1"/>
          </p:cNvSpPr>
          <p:nvPr>
            <p:ph type="dt" sz="half" idx="10"/>
          </p:nvPr>
        </p:nvSpPr>
        <p:spPr/>
        <p:txBody>
          <a:bodyPr/>
          <a:lstStyle/>
          <a:p>
            <a:fld id="{800260D7-63E2-8F4C-B61F-30E5198AD46D}" type="datetime8">
              <a:rPr lang="en-US" smtClean="0"/>
              <a:t>6/11/25 11:29 AM</a:t>
            </a:fld>
            <a:endParaRPr lang="en-IL"/>
          </a:p>
        </p:txBody>
      </p:sp>
      <p:sp>
        <p:nvSpPr>
          <p:cNvPr id="6" name="Footer Placeholder 5">
            <a:extLst>
              <a:ext uri="{FF2B5EF4-FFF2-40B4-BE49-F238E27FC236}">
                <a16:creationId xmlns:a16="http://schemas.microsoft.com/office/drawing/2014/main" id="{5FD101D7-C282-4291-A047-A469118DB9A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54E3ACF7-1919-4005-8D18-C065FE37BAF5}"/>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5828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5D40-5A05-454B-BF8D-2ADD226269A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1CDEE7E-1856-4D6C-95E1-B25F3B5CF8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6B7349D-B192-40B0-A682-C3914DCE58B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C86D532-BD26-45AE-91E7-2BCEE71DE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39C4E2-6DDF-4BCE-9E96-2FEA03A9195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F371B11A-C4F8-4F85-A0D5-34A703DD1683}"/>
              </a:ext>
            </a:extLst>
          </p:cNvPr>
          <p:cNvSpPr>
            <a:spLocks noGrp="1"/>
          </p:cNvSpPr>
          <p:nvPr>
            <p:ph type="dt" sz="half" idx="10"/>
          </p:nvPr>
        </p:nvSpPr>
        <p:spPr/>
        <p:txBody>
          <a:bodyPr/>
          <a:lstStyle/>
          <a:p>
            <a:fld id="{B2854800-C55A-184D-A866-767457B6C650}" type="datetime8">
              <a:rPr lang="en-US" smtClean="0"/>
              <a:t>6/11/25 11:29 AM</a:t>
            </a:fld>
            <a:endParaRPr lang="en-IL"/>
          </a:p>
        </p:txBody>
      </p:sp>
      <p:sp>
        <p:nvSpPr>
          <p:cNvPr id="8" name="Footer Placeholder 7">
            <a:extLst>
              <a:ext uri="{FF2B5EF4-FFF2-40B4-BE49-F238E27FC236}">
                <a16:creationId xmlns:a16="http://schemas.microsoft.com/office/drawing/2014/main" id="{3CF8E969-DC51-428E-A40E-10E237847C2B}"/>
              </a:ext>
            </a:extLst>
          </p:cNvPr>
          <p:cNvSpPr>
            <a:spLocks noGrp="1"/>
          </p:cNvSpPr>
          <p:nvPr>
            <p:ph type="ftr" sz="quarter" idx="11"/>
          </p:nvPr>
        </p:nvSpPr>
        <p:spPr/>
        <p:txBody>
          <a:bodyPr/>
          <a:lstStyle/>
          <a:p>
            <a:r>
              <a:rPr lang="en-US"/>
              <a:t>Or Peretz</a:t>
            </a:r>
            <a:endParaRPr lang="en-IL"/>
          </a:p>
        </p:txBody>
      </p:sp>
      <p:sp>
        <p:nvSpPr>
          <p:cNvPr id="9" name="Slide Number Placeholder 8">
            <a:extLst>
              <a:ext uri="{FF2B5EF4-FFF2-40B4-BE49-F238E27FC236}">
                <a16:creationId xmlns:a16="http://schemas.microsoft.com/office/drawing/2014/main" id="{3AF4C0B3-7D21-431B-8C06-6364026C9DAB}"/>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73000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fld id="{C13F7541-BDF2-4645-8A4E-8E2D7EE21A60}" type="datetime8">
              <a:rPr lang="en-US" smtClean="0"/>
              <a:t>6/11/25 11:29 AM</a:t>
            </a:fld>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404704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94F9A-B863-4CA1-A3D9-2612454CB5E8}"/>
              </a:ext>
            </a:extLst>
          </p:cNvPr>
          <p:cNvSpPr>
            <a:spLocks noGrp="1"/>
          </p:cNvSpPr>
          <p:nvPr>
            <p:ph type="dt" sz="half" idx="10"/>
          </p:nvPr>
        </p:nvSpPr>
        <p:spPr/>
        <p:txBody>
          <a:bodyPr/>
          <a:lstStyle/>
          <a:p>
            <a:fld id="{3F821F0E-3E80-FE45-B8FD-1C1C83A92A89}" type="datetime8">
              <a:rPr lang="en-US" smtClean="0"/>
              <a:t>6/11/25 11:29 AM</a:t>
            </a:fld>
            <a:endParaRPr lang="en-IL"/>
          </a:p>
        </p:txBody>
      </p:sp>
      <p:sp>
        <p:nvSpPr>
          <p:cNvPr id="3" name="Footer Placeholder 2">
            <a:extLst>
              <a:ext uri="{FF2B5EF4-FFF2-40B4-BE49-F238E27FC236}">
                <a16:creationId xmlns:a16="http://schemas.microsoft.com/office/drawing/2014/main" id="{05856BA7-0F82-4B54-82BF-04EC0B081685}"/>
              </a:ext>
            </a:extLst>
          </p:cNvPr>
          <p:cNvSpPr>
            <a:spLocks noGrp="1"/>
          </p:cNvSpPr>
          <p:nvPr>
            <p:ph type="ftr" sz="quarter" idx="11"/>
          </p:nvPr>
        </p:nvSpPr>
        <p:spPr/>
        <p:txBody>
          <a:bodyPr/>
          <a:lstStyle/>
          <a:p>
            <a:r>
              <a:rPr lang="en-US"/>
              <a:t>Or Peretz</a:t>
            </a:r>
            <a:endParaRPr lang="en-IL"/>
          </a:p>
        </p:txBody>
      </p:sp>
      <p:sp>
        <p:nvSpPr>
          <p:cNvPr id="4" name="Slide Number Placeholder 3">
            <a:extLst>
              <a:ext uri="{FF2B5EF4-FFF2-40B4-BE49-F238E27FC236}">
                <a16:creationId xmlns:a16="http://schemas.microsoft.com/office/drawing/2014/main" id="{026A46C4-110C-4F16-A55B-2CA103D5BC6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29041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F8D4-37EB-4208-8EBF-A36DA15D5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119644F-4231-4135-985A-E35BB7DF7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DDAC084D-8409-4F23-A4F3-946B11E92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57D6E5-0ADE-47F1-BF75-064C0FC0B6AA}"/>
              </a:ext>
            </a:extLst>
          </p:cNvPr>
          <p:cNvSpPr>
            <a:spLocks noGrp="1"/>
          </p:cNvSpPr>
          <p:nvPr>
            <p:ph type="dt" sz="half" idx="10"/>
          </p:nvPr>
        </p:nvSpPr>
        <p:spPr/>
        <p:txBody>
          <a:bodyPr/>
          <a:lstStyle/>
          <a:p>
            <a:fld id="{96B84BC4-6D1E-DE4B-8507-B318EEC4AD62}" type="datetime8">
              <a:rPr lang="en-US" smtClean="0"/>
              <a:t>6/11/25 11:29 AM</a:t>
            </a:fld>
            <a:endParaRPr lang="en-IL"/>
          </a:p>
        </p:txBody>
      </p:sp>
      <p:sp>
        <p:nvSpPr>
          <p:cNvPr id="6" name="Footer Placeholder 5">
            <a:extLst>
              <a:ext uri="{FF2B5EF4-FFF2-40B4-BE49-F238E27FC236}">
                <a16:creationId xmlns:a16="http://schemas.microsoft.com/office/drawing/2014/main" id="{E3A95BE5-8107-4C77-A0C7-320528011EF6}"/>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D2B29687-8674-4B44-BCA8-CA55A7F66AEE}"/>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3551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DB8B-F360-41C1-9E59-41BC175C2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329284B-956D-4A04-AA87-11920CE3A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CDA7EC3-09A8-4251-B03C-6044FAB1E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F06FFE-DADD-4559-BD8F-E4090E8513DA}"/>
              </a:ext>
            </a:extLst>
          </p:cNvPr>
          <p:cNvSpPr>
            <a:spLocks noGrp="1"/>
          </p:cNvSpPr>
          <p:nvPr>
            <p:ph type="dt" sz="half" idx="10"/>
          </p:nvPr>
        </p:nvSpPr>
        <p:spPr/>
        <p:txBody>
          <a:bodyPr/>
          <a:lstStyle/>
          <a:p>
            <a:fld id="{50CF4522-6391-7F4B-8B88-660A337C3B79}" type="datetime8">
              <a:rPr lang="en-US" smtClean="0"/>
              <a:t>6/11/25 11:29 AM</a:t>
            </a:fld>
            <a:endParaRPr lang="en-IL"/>
          </a:p>
        </p:txBody>
      </p:sp>
      <p:sp>
        <p:nvSpPr>
          <p:cNvPr id="6" name="Footer Placeholder 5">
            <a:extLst>
              <a:ext uri="{FF2B5EF4-FFF2-40B4-BE49-F238E27FC236}">
                <a16:creationId xmlns:a16="http://schemas.microsoft.com/office/drawing/2014/main" id="{487A7321-97EB-4815-A837-E4FF27362FF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BAA3595F-1D61-441A-9A46-FC01E1605B5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82919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D421-C27E-4305-9BA4-ABDBC270E32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369482A-BFEA-4A85-973C-0414EA50857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2DCE6C9-3B2C-4E59-B407-9DEAA5194AB0}"/>
              </a:ext>
            </a:extLst>
          </p:cNvPr>
          <p:cNvSpPr>
            <a:spLocks noGrp="1"/>
          </p:cNvSpPr>
          <p:nvPr>
            <p:ph type="dt" sz="half" idx="10"/>
          </p:nvPr>
        </p:nvSpPr>
        <p:spPr/>
        <p:txBody>
          <a:bodyPr/>
          <a:lstStyle/>
          <a:p>
            <a:fld id="{AABB7FFB-2FB8-ED4D-871F-3A525991ED9E}" type="datetime8">
              <a:rPr lang="en-US" smtClean="0"/>
              <a:t>6/11/25 11:29 AM</a:t>
            </a:fld>
            <a:endParaRPr lang="en-IL"/>
          </a:p>
        </p:txBody>
      </p:sp>
      <p:sp>
        <p:nvSpPr>
          <p:cNvPr id="5" name="Footer Placeholder 4">
            <a:extLst>
              <a:ext uri="{FF2B5EF4-FFF2-40B4-BE49-F238E27FC236}">
                <a16:creationId xmlns:a16="http://schemas.microsoft.com/office/drawing/2014/main" id="{157B3FA1-84D5-4374-B090-8EED7F0EE76B}"/>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0BB37D06-0BF6-4041-954F-C1D4B14F038F}"/>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0621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0116A-EF9A-40BC-BE26-84DF8D33F6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3EB09AB-DE01-41A1-8BED-34FC1B482AD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6A0832B-4F28-4DE3-AF6D-37975A09FE91}"/>
              </a:ext>
            </a:extLst>
          </p:cNvPr>
          <p:cNvSpPr>
            <a:spLocks noGrp="1"/>
          </p:cNvSpPr>
          <p:nvPr>
            <p:ph type="dt" sz="half" idx="10"/>
          </p:nvPr>
        </p:nvSpPr>
        <p:spPr/>
        <p:txBody>
          <a:bodyPr/>
          <a:lstStyle/>
          <a:p>
            <a:fld id="{B97DA56F-98C1-D743-A051-0A3D6E708A11}" type="datetime8">
              <a:rPr lang="en-US" smtClean="0"/>
              <a:t>6/11/25 11:29 AM</a:t>
            </a:fld>
            <a:endParaRPr lang="en-IL"/>
          </a:p>
        </p:txBody>
      </p:sp>
      <p:sp>
        <p:nvSpPr>
          <p:cNvPr id="5" name="Footer Placeholder 4">
            <a:extLst>
              <a:ext uri="{FF2B5EF4-FFF2-40B4-BE49-F238E27FC236}">
                <a16:creationId xmlns:a16="http://schemas.microsoft.com/office/drawing/2014/main" id="{18F064A4-73D9-4140-BB4B-47A62F8CBA11}"/>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2241DA01-1032-4191-848B-F8A71F653C2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2474113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3200" b="1"/>
            </a:lvl1pPr>
          </a:lstStyle>
          <a:p>
            <a:r>
              <a:rPr lang="en-US" dirty="0"/>
              <a:t>Click to edit Master title style</a:t>
            </a:r>
          </a:p>
        </p:txBody>
      </p:sp>
      <p:sp>
        <p:nvSpPr>
          <p:cNvPr id="3" name="Content Placeholder 2"/>
          <p:cNvSpPr>
            <a:spLocks noGrp="1"/>
          </p:cNvSpPr>
          <p:nvPr>
            <p:ph idx="1"/>
          </p:nvPr>
        </p:nvSpPr>
        <p:spPr/>
        <p:txBody>
          <a:bodyPr>
            <a:normAutofit/>
          </a:bodyPr>
          <a:lstStyle>
            <a:lvl1pPr>
              <a:lnSpc>
                <a:spcPct val="150000"/>
              </a:lnSpc>
              <a:defRPr sz="2400"/>
            </a:lvl1pPr>
            <a:lvl2pPr>
              <a:lnSpc>
                <a:spcPct val="150000"/>
              </a:lnSpc>
              <a:defRPr sz="2400"/>
            </a:lvl2pPr>
            <a:lvl3pPr>
              <a:lnSpc>
                <a:spcPct val="150000"/>
              </a:lnSpc>
              <a:defRPr sz="2400"/>
            </a:lvl3pPr>
            <a:lvl4pPr>
              <a:lnSpc>
                <a:spcPct val="150000"/>
              </a:lnSpc>
              <a:defRPr sz="2400"/>
            </a:lvl4pPr>
            <a:lvl5pPr>
              <a:lnSpc>
                <a:spcPct val="150000"/>
              </a:lnSpc>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a:extLst>
              <a:ext uri="{FF2B5EF4-FFF2-40B4-BE49-F238E27FC236}">
                <a16:creationId xmlns:a16="http://schemas.microsoft.com/office/drawing/2014/main" id="{5A98C9EB-F9CB-1D46-97CB-EA14EA26AA0B}"/>
              </a:ext>
            </a:extLst>
          </p:cNvPr>
          <p:cNvSpPr>
            <a:spLocks noGrp="1" noChangeArrowheads="1"/>
          </p:cNvSpPr>
          <p:nvPr>
            <p:ph type="ftr" sz="quarter" idx="11"/>
          </p:nvPr>
        </p:nvSpPr>
        <p:spPr/>
        <p:txBody>
          <a:bodyPr/>
          <a:lstStyle>
            <a:lvl1pPr>
              <a:defRPr/>
            </a:lvl1pPr>
          </a:lstStyle>
          <a:p>
            <a:r>
              <a:rPr lang="en-US" dirty="0"/>
              <a:t>Or </a:t>
            </a:r>
            <a:r>
              <a:rPr lang="en-US" dirty="0" err="1"/>
              <a:t>Peretz</a:t>
            </a:r>
            <a:endParaRPr lang="en-IL" dirty="0"/>
          </a:p>
        </p:txBody>
      </p:sp>
      <p:sp>
        <p:nvSpPr>
          <p:cNvPr id="6" name="Rectangle 6">
            <a:extLst>
              <a:ext uri="{FF2B5EF4-FFF2-40B4-BE49-F238E27FC236}">
                <a16:creationId xmlns:a16="http://schemas.microsoft.com/office/drawing/2014/main" id="{D5BCB5AB-EA77-4448-ACC6-9D916075C2AD}"/>
              </a:ext>
            </a:extLst>
          </p:cNvPr>
          <p:cNvSpPr>
            <a:spLocks noGrp="1" noChangeArrowheads="1"/>
          </p:cNvSpPr>
          <p:nvPr>
            <p:ph type="sldNum" sz="quarter" idx="12"/>
          </p:nvPr>
        </p:nvSpPr>
        <p:spPr/>
        <p:txBody>
          <a:bodyPr/>
          <a:lstStyle>
            <a:lvl1pPr>
              <a:defRPr/>
            </a:lvl1pPr>
          </a:lstStyle>
          <a:p>
            <a:pPr>
              <a:defRPr/>
            </a:pPr>
            <a:fld id="{C978EE90-506B-4244-B5D1-51BD90616EAE}" type="slidenum">
              <a:rPr lang="en-US" altLang="en-US" smtClean="0"/>
              <a:pPr>
                <a:defRPr/>
              </a:pPr>
              <a:t>‹#›</a:t>
            </a:fld>
            <a:endParaRPr lang="en-US" altLang="en-US" dirty="0"/>
          </a:p>
        </p:txBody>
      </p:sp>
    </p:spTree>
    <p:extLst>
      <p:ext uri="{BB962C8B-B14F-4D97-AF65-F5344CB8AC3E}">
        <p14:creationId xmlns:p14="http://schemas.microsoft.com/office/powerpoint/2010/main" val="1246014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5FF43-15EB-48BF-9377-EC78CBDCCB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548A9A9A-96AC-434D-8596-80E7719973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477151C-500A-4CAF-8B1B-C429EEE2C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EDC74C-E7D5-9845-AF76-D52732F67C64}" type="datetime8">
              <a:rPr lang="en-US" smtClean="0"/>
              <a:t>6/11/25 11:29 AM</a:t>
            </a:fld>
            <a:endParaRPr lang="en-IL"/>
          </a:p>
        </p:txBody>
      </p:sp>
      <p:sp>
        <p:nvSpPr>
          <p:cNvPr id="5" name="Footer Placeholder 4">
            <a:extLst>
              <a:ext uri="{FF2B5EF4-FFF2-40B4-BE49-F238E27FC236}">
                <a16:creationId xmlns:a16="http://schemas.microsoft.com/office/drawing/2014/main" id="{481936C9-3550-4463-A834-A8233EB9F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endParaRPr lang="en-IL"/>
          </a:p>
        </p:txBody>
      </p:sp>
      <p:sp>
        <p:nvSpPr>
          <p:cNvPr id="6" name="Slide Number Placeholder 5">
            <a:extLst>
              <a:ext uri="{FF2B5EF4-FFF2-40B4-BE49-F238E27FC236}">
                <a16:creationId xmlns:a16="http://schemas.microsoft.com/office/drawing/2014/main" id="{77370A5C-A380-420D-86FA-95B4F828D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643F8-DFCD-4B5F-9519-933435FA18FB}" type="slidenum">
              <a:rPr lang="en-IL" smtClean="0"/>
              <a:t>‹#›</a:t>
            </a:fld>
            <a:endParaRPr lang="en-IL"/>
          </a:p>
        </p:txBody>
      </p:sp>
    </p:spTree>
    <p:extLst>
      <p:ext uri="{BB962C8B-B14F-4D97-AF65-F5344CB8AC3E}">
        <p14:creationId xmlns:p14="http://schemas.microsoft.com/office/powerpoint/2010/main" val="2004471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F07A-A6B2-4AA3-9FB3-FF93725B9B74}"/>
              </a:ext>
            </a:extLst>
          </p:cNvPr>
          <p:cNvSpPr>
            <a:spLocks noGrp="1"/>
          </p:cNvSpPr>
          <p:nvPr>
            <p:ph type="ctrTitle"/>
          </p:nvPr>
        </p:nvSpPr>
        <p:spPr>
          <a:xfrm>
            <a:off x="211666" y="1202003"/>
            <a:ext cx="11768667" cy="2602970"/>
          </a:xfrm>
        </p:spPr>
        <p:txBody>
          <a:bodyPr>
            <a:normAutofit/>
          </a:bodyPr>
          <a:lstStyle/>
          <a:p>
            <a:pPr algn="ctr" defTabSz="914400" rtl="0" eaLnBrk="1" latinLnBrk="0" hangingPunct="1">
              <a:lnSpc>
                <a:spcPct val="90000"/>
              </a:lnSpc>
              <a:spcBef>
                <a:spcPct val="0"/>
              </a:spcBef>
              <a:buNone/>
            </a:pPr>
            <a:r>
              <a:rPr lang="en-IL" sz="7200" u="sng" dirty="0">
                <a:cs typeface="+mn-cs"/>
              </a:rPr>
              <a:t>Cloud Based Data Engineering</a:t>
            </a:r>
          </a:p>
        </p:txBody>
      </p:sp>
      <p:sp>
        <p:nvSpPr>
          <p:cNvPr id="3" name="Subtitle 2">
            <a:extLst>
              <a:ext uri="{FF2B5EF4-FFF2-40B4-BE49-F238E27FC236}">
                <a16:creationId xmlns:a16="http://schemas.microsoft.com/office/drawing/2014/main" id="{E954BFDD-2D28-4F88-A89F-35EB6574CAC6}"/>
              </a:ext>
            </a:extLst>
          </p:cNvPr>
          <p:cNvSpPr>
            <a:spLocks noGrp="1"/>
          </p:cNvSpPr>
          <p:nvPr>
            <p:ph type="subTitle" idx="1"/>
          </p:nvPr>
        </p:nvSpPr>
        <p:spPr>
          <a:xfrm>
            <a:off x="1523999" y="3804973"/>
            <a:ext cx="9144000" cy="1655762"/>
          </a:xfrm>
        </p:spPr>
        <p:txBody>
          <a:bodyPr>
            <a:normAutofit/>
          </a:bodyPr>
          <a:lstStyle/>
          <a:p>
            <a:pPr marL="0" indent="0" algn="ctr" defTabSz="914400" rtl="1" eaLnBrk="1" latinLnBrk="0" hangingPunct="1">
              <a:lnSpc>
                <a:spcPct val="90000"/>
              </a:lnSpc>
              <a:spcBef>
                <a:spcPts val="1000"/>
              </a:spcBef>
              <a:buFont typeface="Arial" panose="020B0604020202020204" pitchFamily="34" charset="0"/>
              <a:buNone/>
            </a:pPr>
            <a:r>
              <a:rPr lang="en-US" sz="3600" dirty="0"/>
              <a:t>Lecture 7: Spark</a:t>
            </a:r>
            <a:endParaRPr lang="en-IL" sz="3600" dirty="0"/>
          </a:p>
        </p:txBody>
      </p:sp>
      <p:sp>
        <p:nvSpPr>
          <p:cNvPr id="4" name="Slide Number Placeholder 3">
            <a:extLst>
              <a:ext uri="{FF2B5EF4-FFF2-40B4-BE49-F238E27FC236}">
                <a16:creationId xmlns:a16="http://schemas.microsoft.com/office/drawing/2014/main" id="{CAD7C810-8880-4D05-860C-4E520C91B935}"/>
              </a:ext>
            </a:extLst>
          </p:cNvPr>
          <p:cNvSpPr>
            <a:spLocks noGrp="1"/>
          </p:cNvSpPr>
          <p:nvPr>
            <p:ph type="sldNum" sz="quarter" idx="12"/>
          </p:nvPr>
        </p:nvSpPr>
        <p:spPr/>
        <p:txBody>
          <a:bodyPr/>
          <a:lstStyle/>
          <a:p>
            <a:fld id="{B62643F8-DFCD-4B5F-9519-933435FA18FB}" type="slidenum">
              <a:rPr lang="en-IL" smtClean="0"/>
              <a:t>1</a:t>
            </a:fld>
            <a:endParaRPr lang="en-IL"/>
          </a:p>
        </p:txBody>
      </p:sp>
      <p:sp>
        <p:nvSpPr>
          <p:cNvPr id="5" name="Footer Placeholder 4">
            <a:extLst>
              <a:ext uri="{FF2B5EF4-FFF2-40B4-BE49-F238E27FC236}">
                <a16:creationId xmlns:a16="http://schemas.microsoft.com/office/drawing/2014/main" id="{B708135C-5A11-DB47-A5FC-BE38DE9D9770}"/>
              </a:ext>
            </a:extLst>
          </p:cNvPr>
          <p:cNvSpPr>
            <a:spLocks noGrp="1"/>
          </p:cNvSpPr>
          <p:nvPr>
            <p:ph type="ftr" sz="quarter" idx="11"/>
          </p:nvPr>
        </p:nvSpPr>
        <p:spPr/>
        <p:txBody>
          <a:bodyPr/>
          <a:lstStyle/>
          <a:p>
            <a:r>
              <a:rPr lang="en-US" dirty="0"/>
              <a:t>Or </a:t>
            </a:r>
            <a:r>
              <a:rPr lang="en-US" dirty="0" err="1"/>
              <a:t>Peretz</a:t>
            </a:r>
            <a:endParaRPr lang="en-US" dirty="0"/>
          </a:p>
        </p:txBody>
      </p:sp>
    </p:spTree>
    <p:extLst>
      <p:ext uri="{BB962C8B-B14F-4D97-AF65-F5344CB8AC3E}">
        <p14:creationId xmlns:p14="http://schemas.microsoft.com/office/powerpoint/2010/main" val="3017308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72533" y="235721"/>
            <a:ext cx="11616266" cy="6485754"/>
          </a:xfrm>
        </p:spPr>
        <p:txBody>
          <a:bodyPr>
            <a:normAutofit/>
          </a:bodyPr>
          <a:lstStyle/>
          <a:p>
            <a:pPr algn="ctr">
              <a:lnSpc>
                <a:spcPct val="150000"/>
              </a:lnSpc>
            </a:pPr>
            <a:r>
              <a:rPr lang="en-US" sz="3000" b="1" dirty="0"/>
              <a:t>Centralized DBMS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5504C5BF-76C2-F243-9265-638F6B34D860}"/>
              </a:ext>
            </a:extLst>
          </p:cNvPr>
          <p:cNvPicPr>
            <a:picLocks noChangeAspect="1"/>
          </p:cNvPicPr>
          <p:nvPr/>
        </p:nvPicPr>
        <p:blipFill>
          <a:blip r:embed="rId3"/>
          <a:stretch>
            <a:fillRect/>
          </a:stretch>
        </p:blipFill>
        <p:spPr>
          <a:xfrm>
            <a:off x="2079625" y="1157705"/>
            <a:ext cx="8299450" cy="4804945"/>
          </a:xfrm>
          <a:prstGeom prst="rect">
            <a:avLst/>
          </a:prstGeom>
        </p:spPr>
      </p:pic>
    </p:spTree>
    <p:extLst>
      <p:ext uri="{BB962C8B-B14F-4D97-AF65-F5344CB8AC3E}">
        <p14:creationId xmlns:p14="http://schemas.microsoft.com/office/powerpoint/2010/main" val="3378463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72533" y="235721"/>
            <a:ext cx="11616266" cy="6485754"/>
          </a:xfrm>
        </p:spPr>
        <p:txBody>
          <a:bodyPr>
            <a:normAutofit/>
          </a:bodyPr>
          <a:lstStyle/>
          <a:p>
            <a:pPr algn="ctr">
              <a:lnSpc>
                <a:spcPct val="150000"/>
              </a:lnSpc>
            </a:pPr>
            <a:r>
              <a:rPr lang="en-US" sz="3000" b="1" dirty="0"/>
              <a:t>Distributed DBMS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080D2ACD-D7DA-C74C-8F0A-094D3B7D27EC}"/>
              </a:ext>
            </a:extLst>
          </p:cNvPr>
          <p:cNvSpPr txBox="1"/>
          <p:nvPr/>
        </p:nvSpPr>
        <p:spPr>
          <a:xfrm>
            <a:off x="1253067" y="973667"/>
            <a:ext cx="184731" cy="369332"/>
          </a:xfrm>
          <a:prstGeom prst="rect">
            <a:avLst/>
          </a:prstGeom>
          <a:noFill/>
        </p:spPr>
        <p:txBody>
          <a:bodyPr wrap="none" rtlCol="0">
            <a:spAutoFit/>
          </a:bodyPr>
          <a:lstStyle/>
          <a:p>
            <a:endParaRPr lang="en-IL" dirty="0"/>
          </a:p>
        </p:txBody>
      </p:sp>
      <p:pic>
        <p:nvPicPr>
          <p:cNvPr id="55" name="Picture 54">
            <a:extLst>
              <a:ext uri="{FF2B5EF4-FFF2-40B4-BE49-F238E27FC236}">
                <a16:creationId xmlns:a16="http://schemas.microsoft.com/office/drawing/2014/main" id="{07FCD6C9-B493-3348-B750-4FDA808324B3}"/>
              </a:ext>
            </a:extLst>
          </p:cNvPr>
          <p:cNvPicPr>
            <a:picLocks noChangeAspect="1"/>
          </p:cNvPicPr>
          <p:nvPr/>
        </p:nvPicPr>
        <p:blipFill>
          <a:blip r:embed="rId3"/>
          <a:stretch>
            <a:fillRect/>
          </a:stretch>
        </p:blipFill>
        <p:spPr>
          <a:xfrm>
            <a:off x="1853618" y="1265005"/>
            <a:ext cx="8206317" cy="4648962"/>
          </a:xfrm>
          <a:prstGeom prst="rect">
            <a:avLst/>
          </a:prstGeom>
        </p:spPr>
      </p:pic>
    </p:spTree>
    <p:extLst>
      <p:ext uri="{BB962C8B-B14F-4D97-AF65-F5344CB8AC3E}">
        <p14:creationId xmlns:p14="http://schemas.microsoft.com/office/powerpoint/2010/main" val="127612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425458-3AC0-4977-A476-AD5A91A7871F}"/>
              </a:ext>
            </a:extLst>
          </p:cNvPr>
          <p:cNvSpPr txBox="1"/>
          <p:nvPr/>
        </p:nvSpPr>
        <p:spPr>
          <a:xfrm>
            <a:off x="719668" y="2675467"/>
            <a:ext cx="10430933" cy="863600"/>
          </a:xfrm>
          <a:prstGeom prst="rect">
            <a:avLst/>
          </a:prstGeom>
          <a:solidFill>
            <a:schemeClr val="accent2">
              <a:lumMod val="20000"/>
              <a:lumOff val="80000"/>
            </a:schemeClr>
          </a:solidFill>
        </p:spPr>
        <p:txBody>
          <a:bodyPr wrap="square" rtlCol="0">
            <a:spAutoFit/>
          </a:bodyPr>
          <a:lstStyle/>
          <a:p>
            <a:pPr marL="0" algn="l" defTabSz="914400" rtl="0" eaLnBrk="1" latinLnBrk="0" hangingPunct="1"/>
            <a:endParaRPr lang="en-US" sz="2400" dirty="0"/>
          </a:p>
        </p:txBody>
      </p:sp>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880533" y="1217854"/>
            <a:ext cx="10430933" cy="5805776"/>
          </a:xfrm>
        </p:spPr>
        <p:txBody>
          <a:bodyPr>
            <a:normAutofit/>
          </a:bodyPr>
          <a:lstStyle/>
          <a:p>
            <a:pPr algn="ctr">
              <a:lnSpc>
                <a:spcPct val="150000"/>
              </a:lnSpc>
            </a:pPr>
            <a:endParaRPr lang="en-US" sz="4800" dirty="0"/>
          </a:p>
          <a:p>
            <a:pPr algn="ctr">
              <a:lnSpc>
                <a:spcPct val="150000"/>
              </a:lnSpc>
            </a:pPr>
            <a:r>
              <a:rPr lang="en-US" sz="4800" dirty="0"/>
              <a:t>GFS</a:t>
            </a:r>
          </a:p>
          <a:p>
            <a:pPr>
              <a:lnSpc>
                <a:spcPct val="150000"/>
              </a:lnSpc>
            </a:pPr>
            <a:endParaRPr lang="en-US" dirty="0"/>
          </a:p>
          <a:p>
            <a:pPr marL="457200" indent="-457200">
              <a:lnSpc>
                <a:spcPct val="150000"/>
              </a:lnSpc>
              <a:buFontTx/>
              <a:buChar char="-"/>
            </a:pPr>
            <a:endParaRPr lang="en-US" dirty="0"/>
          </a:p>
          <a:p>
            <a:pPr marL="0" indent="0" algn="l" defTabSz="914400" eaLnBrk="1" latinLnBrk="0" hangingPunct="1">
              <a:lnSpc>
                <a:spcPct val="150000"/>
              </a:lnSpc>
              <a:spcBef>
                <a:spcPts val="1000"/>
              </a:spcBef>
              <a:buFont typeface="Arial" panose="020B0604020202020204" pitchFamily="34" charset="0"/>
              <a:buNone/>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a:t>
            </a:fld>
            <a:endParaRPr lang="en-IL" dirty="0"/>
          </a:p>
        </p:txBody>
      </p:sp>
      <p:sp>
        <p:nvSpPr>
          <p:cNvPr id="5" name="Footer Placeholder 4">
            <a:extLst>
              <a:ext uri="{FF2B5EF4-FFF2-40B4-BE49-F238E27FC236}">
                <a16:creationId xmlns:a16="http://schemas.microsoft.com/office/drawing/2014/main" id="{40803E65-83D3-354B-8CF1-A1C85FDB349A}"/>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678524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GFS – Google File System</a:t>
            </a:r>
          </a:p>
          <a:p>
            <a:pPr>
              <a:lnSpc>
                <a:spcPct val="150000"/>
              </a:lnSpc>
            </a:pPr>
            <a:r>
              <a:rPr lang="en-US" sz="2400" b="1" dirty="0"/>
              <a:t>Google File System</a:t>
            </a:r>
            <a:r>
              <a:rPr lang="en-US" sz="2400" dirty="0"/>
              <a:t> (</a:t>
            </a:r>
            <a:r>
              <a:rPr lang="en-US" sz="2400" b="1" dirty="0"/>
              <a:t>GFS</a:t>
            </a:r>
            <a:r>
              <a:rPr lang="en-US" sz="2400" dirty="0"/>
              <a:t>) is a distributed file system developed by Google.</a:t>
            </a:r>
          </a:p>
          <a:p>
            <a:pPr marL="342900" indent="-342900">
              <a:lnSpc>
                <a:spcPct val="150000"/>
              </a:lnSpc>
              <a:buFontTx/>
              <a:buChar char="-"/>
            </a:pPr>
            <a:r>
              <a:rPr lang="en-US" sz="2400" dirty="0"/>
              <a:t>A scalable distributed file system for large distributed data intensive applications</a:t>
            </a:r>
          </a:p>
          <a:p>
            <a:pPr marL="342900" indent="-342900">
              <a:lnSpc>
                <a:spcPct val="150000"/>
              </a:lnSpc>
              <a:buFontTx/>
              <a:buChar char="-"/>
            </a:pPr>
            <a:r>
              <a:rPr lang="en-US" sz="2400" dirty="0"/>
              <a:t>Designed for system-to-system interaction, and </a:t>
            </a:r>
            <a:r>
              <a:rPr lang="en-US" sz="2400" b="1" dirty="0"/>
              <a:t>not for </a:t>
            </a:r>
            <a:r>
              <a:rPr lang="en-US" sz="2400" dirty="0"/>
              <a:t>user-to-system interaction.</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descr="12. The Google File System. The paper we will be studying today is… | by  Krisha Mehta | Medium">
            <a:extLst>
              <a:ext uri="{FF2B5EF4-FFF2-40B4-BE49-F238E27FC236}">
                <a16:creationId xmlns:a16="http://schemas.microsoft.com/office/drawing/2014/main" id="{15C31874-A276-FE4D-A324-1FC238A3D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070350"/>
            <a:ext cx="8077200" cy="100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GFS – Key Observations</a:t>
            </a:r>
          </a:p>
          <a:p>
            <a:pPr>
              <a:lnSpc>
                <a:spcPct val="150000"/>
              </a:lnSpc>
            </a:pPr>
            <a:r>
              <a:rPr lang="en-US" sz="2400" b="1" dirty="0"/>
              <a:t>Component failures are the norm </a:t>
            </a:r>
            <a:r>
              <a:rPr lang="en-US" sz="2400" dirty="0"/>
              <a:t>- constant monitoring, error detection, fault tolerance</a:t>
            </a:r>
          </a:p>
          <a:p>
            <a:pPr>
              <a:lnSpc>
                <a:spcPct val="150000"/>
              </a:lnSpc>
            </a:pPr>
            <a:r>
              <a:rPr lang="en-US" sz="2400" b="1" dirty="0"/>
              <a:t>Huge files </a:t>
            </a:r>
            <a:r>
              <a:rPr lang="en-US" sz="2400" dirty="0"/>
              <a:t>- Multi GB files are common I/O operations </a:t>
            </a:r>
          </a:p>
          <a:p>
            <a:pPr>
              <a:lnSpc>
                <a:spcPct val="150000"/>
              </a:lnSpc>
            </a:pPr>
            <a:r>
              <a:rPr lang="en-US" sz="2400" b="1" dirty="0"/>
              <a:t>Files are mutated by appending new data </a:t>
            </a:r>
            <a:r>
              <a:rPr lang="en-US" sz="2400" dirty="0"/>
              <a:t>- focus of performance optimization </a:t>
            </a:r>
          </a:p>
          <a:p>
            <a:pPr>
              <a:lnSpc>
                <a:spcPct val="150000"/>
              </a:lnSpc>
            </a:pPr>
            <a:r>
              <a:rPr lang="en-US" sz="2400" b="1" dirty="0"/>
              <a:t>Co-designing</a:t>
            </a:r>
            <a:r>
              <a:rPr lang="en-US" sz="2400" dirty="0"/>
              <a:t> the applications and APIs benefits overall system by increasing flexibility</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53758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89466" y="235721"/>
            <a:ext cx="11616266" cy="6485754"/>
          </a:xfrm>
        </p:spPr>
        <p:txBody>
          <a:bodyPr>
            <a:normAutofit/>
          </a:bodyPr>
          <a:lstStyle/>
          <a:p>
            <a:pPr algn="ctr">
              <a:lnSpc>
                <a:spcPct val="150000"/>
              </a:lnSpc>
            </a:pPr>
            <a:r>
              <a:rPr lang="en-US" sz="3000" b="1" dirty="0"/>
              <a:t>GFS Architecture</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a:extLst>
              <a:ext uri="{FF2B5EF4-FFF2-40B4-BE49-F238E27FC236}">
                <a16:creationId xmlns:a16="http://schemas.microsoft.com/office/drawing/2014/main" id="{59336E17-EA39-E347-B5D5-80501672B7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3409" y="1228234"/>
            <a:ext cx="8027458" cy="4766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90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7061200" cy="6485754"/>
          </a:xfrm>
        </p:spPr>
        <p:txBody>
          <a:bodyPr>
            <a:normAutofit/>
          </a:bodyPr>
          <a:lstStyle/>
          <a:p>
            <a:pPr algn="ctr">
              <a:lnSpc>
                <a:spcPct val="150000"/>
              </a:lnSpc>
            </a:pPr>
            <a:r>
              <a:rPr lang="en-US" sz="3000" b="1" dirty="0"/>
              <a:t>The Master</a:t>
            </a:r>
          </a:p>
          <a:p>
            <a:pPr marL="342900" indent="-342900">
              <a:lnSpc>
                <a:spcPct val="150000"/>
              </a:lnSpc>
              <a:buFontTx/>
              <a:buChar char="-"/>
            </a:pPr>
            <a:r>
              <a:rPr lang="en-US" sz="2400" dirty="0"/>
              <a:t>Communicates with chunk-servers</a:t>
            </a:r>
          </a:p>
          <a:p>
            <a:pPr marL="342900" indent="-342900">
              <a:lnSpc>
                <a:spcPct val="150000"/>
              </a:lnSpc>
              <a:buFontTx/>
              <a:buChar char="-"/>
            </a:pPr>
            <a:r>
              <a:rPr lang="en-US" sz="2400" dirty="0"/>
              <a:t>Give instructions </a:t>
            </a:r>
          </a:p>
          <a:p>
            <a:pPr marL="342900" indent="-342900">
              <a:lnSpc>
                <a:spcPct val="150000"/>
              </a:lnSpc>
              <a:buFontTx/>
              <a:buChar char="-"/>
            </a:pPr>
            <a:r>
              <a:rPr lang="en-US" sz="2400" dirty="0"/>
              <a:t>Maintains all file system metadata</a:t>
            </a:r>
          </a:p>
          <a:p>
            <a:pPr marL="342900" indent="-342900">
              <a:lnSpc>
                <a:spcPct val="150000"/>
              </a:lnSpc>
              <a:buFontTx/>
              <a:buChar char="-"/>
            </a:pPr>
            <a:r>
              <a:rPr lang="en-US" sz="2400" dirty="0"/>
              <a:t>Helps make sophisticated chunk placement and replication decision</a:t>
            </a:r>
          </a:p>
          <a:p>
            <a:pPr marL="342900" indent="-342900">
              <a:lnSpc>
                <a:spcPct val="150000"/>
              </a:lnSpc>
              <a:buFontTx/>
              <a:buChar char="-"/>
            </a:pPr>
            <a:r>
              <a:rPr lang="en-US" sz="2400" i="1" dirty="0"/>
              <a:t>For reading and writing, client contacts Master to get chunk locations, then deals directly with </a:t>
            </a:r>
            <a:r>
              <a:rPr lang="en-US" sz="2400" i="1" dirty="0" err="1"/>
              <a:t>chunkservers</a:t>
            </a:r>
            <a:endParaRPr lang="en-US" sz="2400" i="1" dirty="0"/>
          </a:p>
          <a:p>
            <a:pPr marL="342900" indent="-342900">
              <a:lnSpc>
                <a:spcPct val="150000"/>
              </a:lnSpc>
              <a:buFontTx/>
              <a:buChar char="-"/>
            </a:pPr>
            <a:endParaRPr lang="en-US" sz="2400" dirty="0"/>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a:extLst>
              <a:ext uri="{FF2B5EF4-FFF2-40B4-BE49-F238E27FC236}">
                <a16:creationId xmlns:a16="http://schemas.microsoft.com/office/drawing/2014/main" id="{59336E17-EA39-E347-B5D5-80501672B7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0778" y="1734320"/>
            <a:ext cx="4993289" cy="2964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123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7061200" cy="6485754"/>
          </a:xfrm>
        </p:spPr>
        <p:txBody>
          <a:bodyPr>
            <a:normAutofit/>
          </a:bodyPr>
          <a:lstStyle/>
          <a:p>
            <a:pPr algn="ctr">
              <a:lnSpc>
                <a:spcPct val="150000"/>
              </a:lnSpc>
            </a:pPr>
            <a:r>
              <a:rPr lang="en-US" sz="3000" b="1" dirty="0" err="1"/>
              <a:t>Chunkservers</a:t>
            </a:r>
            <a:endParaRPr lang="en-US" sz="3000" b="1" dirty="0"/>
          </a:p>
          <a:p>
            <a:pPr marL="342900" indent="-342900">
              <a:lnSpc>
                <a:spcPct val="150000"/>
              </a:lnSpc>
              <a:buFontTx/>
              <a:buChar char="-"/>
            </a:pPr>
            <a:r>
              <a:rPr lang="en-US" sz="2400" dirty="0"/>
              <a:t>Files are broken into chunks. </a:t>
            </a:r>
          </a:p>
          <a:p>
            <a:pPr marL="342900" indent="-342900">
              <a:lnSpc>
                <a:spcPct val="150000"/>
              </a:lnSpc>
              <a:buFontTx/>
              <a:buChar char="-"/>
            </a:pPr>
            <a:r>
              <a:rPr lang="en-US" sz="2400" dirty="0"/>
              <a:t>Chunk size is 64 MB</a:t>
            </a:r>
          </a:p>
          <a:p>
            <a:pPr marL="342900" indent="-342900">
              <a:lnSpc>
                <a:spcPct val="150000"/>
              </a:lnSpc>
              <a:buFontTx/>
              <a:buChar char="-"/>
            </a:pPr>
            <a:r>
              <a:rPr lang="en-US" sz="2400" dirty="0"/>
              <a:t>Each chunk is replicated on 3 (default) servers</a:t>
            </a:r>
          </a:p>
          <a:p>
            <a:pPr>
              <a:lnSpc>
                <a:spcPct val="150000"/>
              </a:lnSpc>
            </a:pPr>
            <a:endParaRPr lang="en-US" sz="2400" dirty="0"/>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a:extLst>
              <a:ext uri="{FF2B5EF4-FFF2-40B4-BE49-F238E27FC236}">
                <a16:creationId xmlns:a16="http://schemas.microsoft.com/office/drawing/2014/main" id="{59336E17-EA39-E347-B5D5-80501672B7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0778" y="1734320"/>
            <a:ext cx="4993289" cy="2964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651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425458-3AC0-4977-A476-AD5A91A7871F}"/>
              </a:ext>
            </a:extLst>
          </p:cNvPr>
          <p:cNvSpPr txBox="1"/>
          <p:nvPr/>
        </p:nvSpPr>
        <p:spPr>
          <a:xfrm>
            <a:off x="719668" y="2675467"/>
            <a:ext cx="10430933" cy="863600"/>
          </a:xfrm>
          <a:prstGeom prst="rect">
            <a:avLst/>
          </a:prstGeom>
          <a:solidFill>
            <a:schemeClr val="accent2">
              <a:lumMod val="20000"/>
              <a:lumOff val="80000"/>
            </a:schemeClr>
          </a:solidFill>
        </p:spPr>
        <p:txBody>
          <a:bodyPr wrap="square" rtlCol="0">
            <a:spAutoFit/>
          </a:bodyPr>
          <a:lstStyle/>
          <a:p>
            <a:pPr marL="0" algn="l" defTabSz="914400" rtl="0" eaLnBrk="1" latinLnBrk="0" hangingPunct="1"/>
            <a:endParaRPr lang="en-US" sz="2400" dirty="0"/>
          </a:p>
        </p:txBody>
      </p:sp>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880533" y="1217854"/>
            <a:ext cx="10430933" cy="5805776"/>
          </a:xfrm>
        </p:spPr>
        <p:txBody>
          <a:bodyPr>
            <a:normAutofit/>
          </a:bodyPr>
          <a:lstStyle/>
          <a:p>
            <a:pPr algn="ctr">
              <a:lnSpc>
                <a:spcPct val="150000"/>
              </a:lnSpc>
            </a:pPr>
            <a:endParaRPr lang="en-US" sz="4800" dirty="0"/>
          </a:p>
          <a:p>
            <a:pPr algn="ctr">
              <a:lnSpc>
                <a:spcPct val="150000"/>
              </a:lnSpc>
            </a:pPr>
            <a:r>
              <a:rPr lang="en-US" sz="4800" dirty="0"/>
              <a:t>Hadoop</a:t>
            </a:r>
          </a:p>
          <a:p>
            <a:pPr>
              <a:lnSpc>
                <a:spcPct val="150000"/>
              </a:lnSpc>
            </a:pPr>
            <a:endParaRPr lang="en-US" dirty="0"/>
          </a:p>
          <a:p>
            <a:pPr marL="457200" indent="-457200">
              <a:lnSpc>
                <a:spcPct val="150000"/>
              </a:lnSpc>
              <a:buFontTx/>
              <a:buChar char="-"/>
            </a:pPr>
            <a:endParaRPr lang="en-US" dirty="0"/>
          </a:p>
          <a:p>
            <a:pPr marL="0" indent="0" algn="l" defTabSz="914400" eaLnBrk="1" latinLnBrk="0" hangingPunct="1">
              <a:lnSpc>
                <a:spcPct val="150000"/>
              </a:lnSpc>
              <a:spcBef>
                <a:spcPts val="1000"/>
              </a:spcBef>
              <a:buFont typeface="Arial" panose="020B0604020202020204" pitchFamily="34" charset="0"/>
              <a:buNone/>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10</a:t>
            </a:fld>
            <a:endParaRPr lang="en-IL" dirty="0"/>
          </a:p>
        </p:txBody>
      </p:sp>
      <p:sp>
        <p:nvSpPr>
          <p:cNvPr id="5" name="Footer Placeholder 4">
            <a:extLst>
              <a:ext uri="{FF2B5EF4-FFF2-40B4-BE49-F238E27FC236}">
                <a16:creationId xmlns:a16="http://schemas.microsoft.com/office/drawing/2014/main" id="{40803E65-83D3-354B-8CF1-A1C85FDB349A}"/>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9689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0"/>
            <a:ext cx="11616266" cy="6485754"/>
          </a:xfrm>
        </p:spPr>
        <p:txBody>
          <a:bodyPr>
            <a:normAutofit/>
          </a:bodyPr>
          <a:lstStyle/>
          <a:p>
            <a:pPr algn="ctr">
              <a:lnSpc>
                <a:spcPct val="150000"/>
              </a:lnSpc>
            </a:pPr>
            <a:r>
              <a:rPr lang="en-US" sz="3200" b="1" dirty="0"/>
              <a:t>HADOOP</a:t>
            </a:r>
          </a:p>
          <a:p>
            <a:pPr marL="342900" indent="-342900">
              <a:lnSpc>
                <a:spcPct val="150000"/>
              </a:lnSpc>
              <a:buFontTx/>
              <a:buChar char="-"/>
            </a:pPr>
            <a:r>
              <a:rPr lang="en-US" sz="2400" b="1" dirty="0"/>
              <a:t>Hadoop</a:t>
            </a:r>
            <a:r>
              <a:rPr lang="en-US" sz="2400" dirty="0"/>
              <a:t> runs applications using the MapReduce algorithm, </a:t>
            </a:r>
            <a:br>
              <a:rPr lang="en-US" sz="2400" dirty="0"/>
            </a:br>
            <a:r>
              <a:rPr lang="en-US" sz="2400" dirty="0"/>
              <a:t>where the data is processed in parallel with others. </a:t>
            </a:r>
          </a:p>
          <a:p>
            <a:pPr marL="342900" indent="-342900">
              <a:lnSpc>
                <a:spcPct val="150000"/>
              </a:lnSpc>
              <a:buFontTx/>
              <a:buChar char="-"/>
            </a:pPr>
            <a:r>
              <a:rPr lang="en-US" sz="2400" b="1" dirty="0"/>
              <a:t>Hadoop</a:t>
            </a:r>
            <a:r>
              <a:rPr lang="en-US" sz="2400" dirty="0"/>
              <a:t> is used to develop applications that could perform complete statistical analysis on huge amounts of data.</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descr="Why the world&amp;#39;s largest Hadoop installation may soon become the norm -  TechRepublic">
            <a:extLst>
              <a:ext uri="{FF2B5EF4-FFF2-40B4-BE49-F238E27FC236}">
                <a16:creationId xmlns:a16="http://schemas.microsoft.com/office/drawing/2014/main" id="{D2F53573-4B3D-E348-B449-94E684E156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4902" y="3649420"/>
            <a:ext cx="3062196" cy="2396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405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59269"/>
            <a:ext cx="11616266" cy="6485754"/>
          </a:xfrm>
        </p:spPr>
        <p:txBody>
          <a:bodyPr>
            <a:normAutofit/>
          </a:bodyPr>
          <a:lstStyle/>
          <a:p>
            <a:pPr algn="ctr">
              <a:lnSpc>
                <a:spcPct val="150000"/>
              </a:lnSpc>
            </a:pPr>
            <a:r>
              <a:rPr lang="en-US" sz="3200" b="1" dirty="0"/>
              <a:t>HADOOP</a:t>
            </a:r>
          </a:p>
          <a:p>
            <a:pPr marL="457200" indent="-457200">
              <a:lnSpc>
                <a:spcPct val="150000"/>
              </a:lnSpc>
              <a:buFontTx/>
              <a:buChar char="-"/>
            </a:pPr>
            <a:r>
              <a:rPr lang="en-US" sz="2400" dirty="0"/>
              <a:t>Allows distributed processing of large datasets across clusters of computers</a:t>
            </a:r>
          </a:p>
          <a:p>
            <a:pPr marL="457200" indent="-457200">
              <a:lnSpc>
                <a:spcPct val="150000"/>
              </a:lnSpc>
              <a:buFontTx/>
              <a:buChar char="-"/>
            </a:pPr>
            <a:r>
              <a:rPr lang="en-US" sz="2400" dirty="0"/>
              <a:t>Hadoop is designed to scale up from </a:t>
            </a:r>
            <a:r>
              <a:rPr lang="en-US" sz="2400" b="1" dirty="0"/>
              <a:t>single server </a:t>
            </a:r>
            <a:r>
              <a:rPr lang="en-US" sz="2400" dirty="0"/>
              <a:t>to </a:t>
            </a:r>
            <a:r>
              <a:rPr lang="en-US" sz="2400" b="1" dirty="0"/>
              <a:t>thousands of machines</a:t>
            </a:r>
          </a:p>
          <a:p>
            <a:pPr marL="457200" indent="-457200">
              <a:lnSpc>
                <a:spcPct val="150000"/>
              </a:lnSpc>
              <a:buFontTx/>
              <a:buChar char="-"/>
            </a:pPr>
            <a:r>
              <a:rPr lang="en-US" sz="2400" dirty="0"/>
              <a:t>It provides a distributed file system (</a:t>
            </a:r>
            <a:r>
              <a:rPr lang="en-US" sz="2400" b="1" dirty="0"/>
              <a:t>HDFS</a:t>
            </a:r>
            <a:r>
              <a:rPr lang="en-US" sz="2400" dirty="0"/>
              <a:t>) that stores data on the compute nodes, providing very high aggregate bandwidth across the cluster.</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97092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59269"/>
            <a:ext cx="11616266" cy="6485754"/>
          </a:xfrm>
        </p:spPr>
        <p:txBody>
          <a:bodyPr>
            <a:normAutofit/>
          </a:bodyPr>
          <a:lstStyle/>
          <a:p>
            <a:pPr algn="ctr">
              <a:lnSpc>
                <a:spcPct val="150000"/>
              </a:lnSpc>
            </a:pPr>
            <a:r>
              <a:rPr lang="en-US" sz="3200" b="1" dirty="0"/>
              <a:t>HADOOP Architecture</a:t>
            </a:r>
          </a:p>
          <a:p>
            <a:pPr>
              <a:lnSpc>
                <a:spcPct val="150000"/>
              </a:lnSpc>
            </a:pPr>
            <a:r>
              <a:rPr lang="en-US" sz="2400" dirty="0"/>
              <a:t>Hadoop has two major layers:</a:t>
            </a:r>
          </a:p>
          <a:p>
            <a:pPr marL="514350" indent="-514350">
              <a:lnSpc>
                <a:spcPct val="150000"/>
              </a:lnSpc>
              <a:buAutoNum type="arabicPeriod"/>
            </a:pPr>
            <a:r>
              <a:rPr lang="en-US" sz="2400" dirty="0"/>
              <a:t>Processing/Computation layer (MapReduce)</a:t>
            </a:r>
          </a:p>
          <a:p>
            <a:pPr marL="457200" indent="-457200">
              <a:lnSpc>
                <a:spcPct val="150000"/>
              </a:lnSpc>
              <a:buAutoNum type="arabicPeriod"/>
            </a:pPr>
            <a:r>
              <a:rPr lang="en-US" sz="2400" dirty="0"/>
              <a:t>Storage layer (Hadoop Distributed File System</a:t>
            </a:r>
            <a:r>
              <a:rPr lang="he-IL" sz="2400" dirty="0"/>
              <a:t> </a:t>
            </a:r>
            <a:r>
              <a:rPr lang="en-US" sz="2400" dirty="0"/>
              <a:t>- HDFS)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8C8F3573-778C-1D44-B613-A9A025D68C16}"/>
              </a:ext>
            </a:extLst>
          </p:cNvPr>
          <p:cNvPicPr>
            <a:picLocks noChangeAspect="1"/>
          </p:cNvPicPr>
          <p:nvPr/>
        </p:nvPicPr>
        <p:blipFill>
          <a:blip r:embed="rId3"/>
          <a:stretch>
            <a:fillRect/>
          </a:stretch>
        </p:blipFill>
        <p:spPr>
          <a:xfrm>
            <a:off x="8034867" y="2260599"/>
            <a:ext cx="3243545" cy="3685117"/>
          </a:xfrm>
          <a:prstGeom prst="rect">
            <a:avLst/>
          </a:prstGeom>
        </p:spPr>
      </p:pic>
    </p:spTree>
    <p:extLst>
      <p:ext uri="{BB962C8B-B14F-4D97-AF65-F5344CB8AC3E}">
        <p14:creationId xmlns:p14="http://schemas.microsoft.com/office/powerpoint/2010/main" val="348912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20134" y="59269"/>
            <a:ext cx="11616266" cy="6485754"/>
          </a:xfrm>
        </p:spPr>
        <p:txBody>
          <a:bodyPr>
            <a:normAutofit/>
          </a:bodyPr>
          <a:lstStyle/>
          <a:p>
            <a:pPr algn="ctr">
              <a:lnSpc>
                <a:spcPct val="150000"/>
              </a:lnSpc>
            </a:pPr>
            <a:r>
              <a:rPr lang="en-US" sz="3200" b="1" dirty="0"/>
              <a:t>HDFS</a:t>
            </a:r>
          </a:p>
          <a:p>
            <a:pPr>
              <a:lnSpc>
                <a:spcPct val="150000"/>
              </a:lnSpc>
            </a:pPr>
            <a:r>
              <a:rPr lang="en-US" sz="2400" dirty="0"/>
              <a:t>The Hadoop Distributed File System (HDFS) is based on the Google File System (GFS) and provides a distributed file system that is designed to run on commodity hardware. It has many similarities with existing distributed file systems. </a:t>
            </a:r>
            <a:endParaRPr lang="he-IL" sz="2400" dirty="0"/>
          </a:p>
          <a:p>
            <a:endParaRPr lang="en-US"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2050" name="Picture 2" descr="The overview of the Hadoop Distributed File System (HDFS). | Download  Scientific Diagram">
            <a:extLst>
              <a:ext uri="{FF2B5EF4-FFF2-40B4-BE49-F238E27FC236}">
                <a16:creationId xmlns:a16="http://schemas.microsoft.com/office/drawing/2014/main" id="{D3B7982F-37F3-4548-82E5-6E979426D9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3233" y="3335867"/>
            <a:ext cx="5028026" cy="2650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8131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Spark</a:t>
            </a:r>
          </a:p>
          <a:p>
            <a:pPr>
              <a:lnSpc>
                <a:spcPct val="150000"/>
              </a:lnSpc>
            </a:pPr>
            <a:r>
              <a:rPr lang="en-US" sz="2400" dirty="0"/>
              <a:t>Apache Spark is a fast and general-purpose cluster computing system. </a:t>
            </a:r>
          </a:p>
          <a:p>
            <a:pPr marL="342900" indent="-342900">
              <a:lnSpc>
                <a:spcPct val="150000"/>
              </a:lnSpc>
              <a:buFontTx/>
              <a:buChar char="-"/>
            </a:pPr>
            <a:r>
              <a:rPr lang="en-US" sz="2400" dirty="0"/>
              <a:t>Provides high-level APIs in Java, Scala, Python and R.</a:t>
            </a:r>
          </a:p>
          <a:p>
            <a:pPr marL="342900" indent="-342900">
              <a:lnSpc>
                <a:spcPct val="150000"/>
              </a:lnSpc>
              <a:buFontTx/>
              <a:buChar char="-"/>
            </a:pPr>
            <a:r>
              <a:rPr lang="en-US" sz="2400" dirty="0"/>
              <a:t>Optimize engine that supports general execution graphs.</a:t>
            </a:r>
          </a:p>
          <a:p>
            <a:pPr marL="342900" indent="-342900">
              <a:lnSpc>
                <a:spcPct val="150000"/>
              </a:lnSpc>
              <a:buFontTx/>
              <a:buChar char="-"/>
            </a:pPr>
            <a:r>
              <a:rPr lang="en-US" sz="2400" dirty="0"/>
              <a:t>Can manage "big data" collections with a small set of high-level primitives like </a:t>
            </a:r>
            <a:br>
              <a:rPr lang="en-US" sz="2400" dirty="0"/>
            </a:br>
            <a:r>
              <a:rPr lang="en-US" sz="2400" dirty="0"/>
              <a:t>map, filter, group-by, and join. </a:t>
            </a:r>
          </a:p>
          <a:p>
            <a:pPr marL="342900" indent="-342900">
              <a:lnSpc>
                <a:spcPct val="150000"/>
              </a:lnSpc>
              <a:buFontTx/>
              <a:buChar char="-"/>
            </a:pPr>
            <a:r>
              <a:rPr lang="en-US" sz="2400" dirty="0"/>
              <a:t>Supports a rich set of higher-level tools including Spark SQL.</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descr="Apache Spark - Wikipedia">
            <a:extLst>
              <a:ext uri="{FF2B5EF4-FFF2-40B4-BE49-F238E27FC236}">
                <a16:creationId xmlns:a16="http://schemas.microsoft.com/office/drawing/2014/main" id="{FC5BD555-B715-2043-85AE-063B28C76B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3267" y="4712474"/>
            <a:ext cx="3166533" cy="1643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313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RDD - Resilient Distributed Datasets</a:t>
            </a:r>
          </a:p>
          <a:p>
            <a:pPr>
              <a:lnSpc>
                <a:spcPct val="150000"/>
              </a:lnSpc>
            </a:pPr>
            <a:r>
              <a:rPr lang="en-US" sz="2400" dirty="0"/>
              <a:t>- RDDs behave like Python collections (e.g. lists).</a:t>
            </a:r>
          </a:p>
          <a:p>
            <a:pPr>
              <a:lnSpc>
                <a:spcPct val="150000"/>
              </a:lnSpc>
            </a:pPr>
            <a:r>
              <a:rPr lang="en-US" sz="2400" dirty="0"/>
              <a:t>- Spark iteratively </a:t>
            </a:r>
            <a:r>
              <a:rPr lang="en-US" sz="2400" b="1" dirty="0"/>
              <a:t>apply functions </a:t>
            </a:r>
            <a:r>
              <a:rPr lang="en-US" sz="2400" dirty="0"/>
              <a:t>to every item of these collections in </a:t>
            </a:r>
            <a:r>
              <a:rPr lang="en-US" sz="2400" u="sng" dirty="0"/>
              <a:t>parallel</a:t>
            </a:r>
            <a:r>
              <a:rPr lang="en-US" sz="2400" dirty="0"/>
              <a:t> to produce </a:t>
            </a:r>
            <a:r>
              <a:rPr lang="en-US" sz="2400" b="1" u="sng" dirty="0"/>
              <a:t>new</a:t>
            </a:r>
            <a:r>
              <a:rPr lang="en-US" sz="2400" dirty="0"/>
              <a:t> RDDs.</a:t>
            </a:r>
          </a:p>
          <a:p>
            <a:pPr>
              <a:lnSpc>
                <a:spcPct val="150000"/>
              </a:lnSpc>
            </a:pPr>
            <a:r>
              <a:rPr lang="en-US" sz="2400" dirty="0"/>
              <a:t>- The data is distributed across nodes in a cluster of computers.</a:t>
            </a:r>
          </a:p>
          <a:p>
            <a:pPr>
              <a:lnSpc>
                <a:spcPct val="150000"/>
              </a:lnSpc>
            </a:pPr>
            <a:r>
              <a:rPr lang="en-US" sz="2400" dirty="0"/>
              <a:t>- Functions implemented in Spark can work in parallel across elements of the collection.</a:t>
            </a:r>
          </a:p>
          <a:p>
            <a:pPr>
              <a:lnSpc>
                <a:spcPct val="150000"/>
              </a:lnSpc>
            </a:pPr>
            <a:r>
              <a:rPr lang="en-US" sz="2400" dirty="0"/>
              <a:t>- RDDs automatically rebuilt on machine failure.</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24167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 calcmode="lin" valueType="num">
                                      <p:cBhvr additive="base">
                                        <p:cTn id="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 calcmode="lin" valueType="num">
                                      <p:cBhvr additive="base">
                                        <p:cTn id="3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 calcmode="lin" valueType="num">
                                      <p:cBhvr additive="base">
                                        <p:cTn id="3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Operations in Distributed DBs</a:t>
            </a:r>
          </a:p>
          <a:p>
            <a:pPr>
              <a:lnSpc>
                <a:spcPct val="150000"/>
              </a:lnSpc>
            </a:pPr>
            <a:r>
              <a:rPr lang="en-US" sz="2400" dirty="0"/>
              <a:t>Two types of operations: </a:t>
            </a:r>
            <a:r>
              <a:rPr lang="en-US" sz="2400" b="1" dirty="0"/>
              <a:t>transformations</a:t>
            </a:r>
            <a:r>
              <a:rPr lang="en-US" sz="2400" dirty="0"/>
              <a:t> and </a:t>
            </a:r>
            <a:r>
              <a:rPr lang="en-US" sz="2400" b="1" dirty="0"/>
              <a:t>actions</a:t>
            </a:r>
          </a:p>
          <a:p>
            <a:pPr>
              <a:lnSpc>
                <a:spcPct val="150000"/>
              </a:lnSpc>
            </a:pPr>
            <a:r>
              <a:rPr lang="en-US" sz="2400" dirty="0"/>
              <a:t>- Transformations are </a:t>
            </a:r>
            <a:r>
              <a:rPr lang="en-US" sz="2400" b="1" dirty="0"/>
              <a:t>lazy</a:t>
            </a:r>
            <a:r>
              <a:rPr lang="en-US" sz="2400" dirty="0"/>
              <a:t> (not computed immediately) </a:t>
            </a:r>
          </a:p>
          <a:p>
            <a:pPr>
              <a:lnSpc>
                <a:spcPct val="150000"/>
              </a:lnSpc>
            </a:pPr>
            <a:r>
              <a:rPr lang="en-US" sz="2400" dirty="0"/>
              <a:t>- Transformations are executed when an action is run</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a:xfrm>
            <a:off x="8610600" y="6364817"/>
            <a:ext cx="2743200" cy="365125"/>
          </a:xfrm>
        </p:spPr>
        <p:txBody>
          <a:bodyPr/>
          <a:lstStyle/>
          <a:p>
            <a:fld id="{C9D69B18-316A-457F-86C2-CFE4F951EE27}" type="slidenum">
              <a:rPr lang="en-IL" smtClean="0"/>
              <a:pPr/>
              <a:t>17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a:xfrm>
            <a:off x="4038600" y="6364817"/>
            <a:ext cx="4114800" cy="365125"/>
          </a:xfrm>
        </p:spPr>
        <p:txBody>
          <a:bodyPr/>
          <a:lstStyle/>
          <a:p>
            <a:r>
              <a:rPr lang="en-US" dirty="0"/>
              <a:t>Or </a:t>
            </a:r>
            <a:r>
              <a:rPr lang="en-US" dirty="0" err="1"/>
              <a:t>Peretz</a:t>
            </a:r>
            <a:endParaRPr lang="en-IL" dirty="0"/>
          </a:p>
        </p:txBody>
      </p:sp>
      <p:sp>
        <p:nvSpPr>
          <p:cNvPr id="3" name="Rectangle 2">
            <a:extLst>
              <a:ext uri="{FF2B5EF4-FFF2-40B4-BE49-F238E27FC236}">
                <a16:creationId xmlns:a16="http://schemas.microsoft.com/office/drawing/2014/main" id="{AB476FFE-058E-5648-B1EC-9F9CE8EE916B}"/>
              </a:ext>
            </a:extLst>
          </p:cNvPr>
          <p:cNvSpPr/>
          <p:nvPr/>
        </p:nvSpPr>
        <p:spPr>
          <a:xfrm>
            <a:off x="3018366" y="3200398"/>
            <a:ext cx="2040467" cy="28363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b="1" u="sng" dirty="0"/>
              <a:t>Transformations</a:t>
            </a:r>
          </a:p>
          <a:p>
            <a:pPr>
              <a:lnSpc>
                <a:spcPct val="150000"/>
              </a:lnSpc>
            </a:pPr>
            <a:r>
              <a:rPr lang="en-US" dirty="0"/>
              <a:t>map() </a:t>
            </a:r>
          </a:p>
          <a:p>
            <a:pPr>
              <a:lnSpc>
                <a:spcPct val="150000"/>
              </a:lnSpc>
            </a:pPr>
            <a:r>
              <a:rPr lang="en-US" dirty="0"/>
              <a:t>filter() </a:t>
            </a:r>
          </a:p>
          <a:p>
            <a:pPr>
              <a:lnSpc>
                <a:spcPct val="150000"/>
              </a:lnSpc>
            </a:pPr>
            <a:r>
              <a:rPr lang="en-US" dirty="0"/>
              <a:t>union() </a:t>
            </a:r>
          </a:p>
          <a:p>
            <a:pPr>
              <a:lnSpc>
                <a:spcPct val="150000"/>
              </a:lnSpc>
            </a:pPr>
            <a:r>
              <a:rPr lang="en-US" dirty="0"/>
              <a:t>distinct()</a:t>
            </a:r>
          </a:p>
          <a:p>
            <a:pPr>
              <a:lnSpc>
                <a:spcPct val="150000"/>
              </a:lnSpc>
            </a:pPr>
            <a:r>
              <a:rPr lang="en-US" dirty="0" err="1"/>
              <a:t>groupBy</a:t>
            </a:r>
            <a:r>
              <a:rPr lang="en-US" dirty="0"/>
              <a:t>()</a:t>
            </a:r>
          </a:p>
          <a:p>
            <a:pPr>
              <a:lnSpc>
                <a:spcPct val="150000"/>
              </a:lnSpc>
            </a:pPr>
            <a:r>
              <a:rPr lang="en-US" dirty="0"/>
              <a:t>…</a:t>
            </a:r>
            <a:endParaRPr lang="en-IL" dirty="0"/>
          </a:p>
        </p:txBody>
      </p:sp>
      <p:sp>
        <p:nvSpPr>
          <p:cNvPr id="6" name="Rectangle 5">
            <a:extLst>
              <a:ext uri="{FF2B5EF4-FFF2-40B4-BE49-F238E27FC236}">
                <a16:creationId xmlns:a16="http://schemas.microsoft.com/office/drawing/2014/main" id="{55191A91-2994-2D4E-936E-376CAAACFF28}"/>
              </a:ext>
            </a:extLst>
          </p:cNvPr>
          <p:cNvSpPr/>
          <p:nvPr/>
        </p:nvSpPr>
        <p:spPr>
          <a:xfrm>
            <a:off x="6206066" y="3200398"/>
            <a:ext cx="2040467" cy="283633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b="1" u="sng" dirty="0"/>
              <a:t>Actions</a:t>
            </a:r>
          </a:p>
          <a:p>
            <a:pPr>
              <a:lnSpc>
                <a:spcPct val="150000"/>
              </a:lnSpc>
            </a:pPr>
            <a:r>
              <a:rPr lang="en-US" dirty="0"/>
              <a:t>reduce()</a:t>
            </a:r>
          </a:p>
          <a:p>
            <a:pPr>
              <a:lnSpc>
                <a:spcPct val="150000"/>
              </a:lnSpc>
            </a:pPr>
            <a:r>
              <a:rPr lang="en-US" dirty="0"/>
              <a:t>collect()</a:t>
            </a:r>
          </a:p>
          <a:p>
            <a:pPr>
              <a:lnSpc>
                <a:spcPct val="150000"/>
              </a:lnSpc>
            </a:pPr>
            <a:r>
              <a:rPr lang="en-US" dirty="0"/>
              <a:t>count()</a:t>
            </a:r>
          </a:p>
          <a:p>
            <a:pPr>
              <a:lnSpc>
                <a:spcPct val="150000"/>
              </a:lnSpc>
            </a:pPr>
            <a:r>
              <a:rPr lang="en-US" dirty="0"/>
              <a:t>first()</a:t>
            </a:r>
          </a:p>
          <a:p>
            <a:pPr>
              <a:lnSpc>
                <a:spcPct val="150000"/>
              </a:lnSpc>
            </a:pPr>
            <a:r>
              <a:rPr lang="en-US" dirty="0" err="1"/>
              <a:t>saveAsTextFile</a:t>
            </a:r>
            <a:r>
              <a:rPr lang="en-US" dirty="0"/>
              <a:t>()</a:t>
            </a:r>
          </a:p>
          <a:p>
            <a:pPr>
              <a:lnSpc>
                <a:spcPct val="150000"/>
              </a:lnSpc>
            </a:pPr>
            <a:r>
              <a:rPr lang="en-US" dirty="0"/>
              <a:t>..</a:t>
            </a:r>
          </a:p>
        </p:txBody>
      </p:sp>
    </p:spTree>
    <p:extLst>
      <p:ext uri="{BB962C8B-B14F-4D97-AF65-F5344CB8AC3E}">
        <p14:creationId xmlns:p14="http://schemas.microsoft.com/office/powerpoint/2010/main" val="321105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66F8CC7E-B792-F94C-9BF7-F1EDCA77ECBA}"/>
              </a:ext>
            </a:extLst>
          </p:cNvPr>
          <p:cNvSpPr>
            <a:spLocks noGrp="1" noChangeArrowheads="1"/>
          </p:cNvSpPr>
          <p:nvPr>
            <p:ph type="title"/>
          </p:nvPr>
        </p:nvSpPr>
        <p:spPr>
          <a:xfrm>
            <a:off x="838200" y="18255"/>
            <a:ext cx="10515600" cy="1325563"/>
          </a:xfrm>
        </p:spPr>
        <p:txBody>
          <a:bodyPr>
            <a:normAutofit/>
          </a:bodyPr>
          <a:lstStyle/>
          <a:p>
            <a:pPr>
              <a:lnSpc>
                <a:spcPct val="150000"/>
              </a:lnSpc>
              <a:spcBef>
                <a:spcPts val="1000"/>
              </a:spcBef>
            </a:pPr>
            <a:r>
              <a:rPr lang="en-US" altLang="en-US" sz="3000" dirty="0">
                <a:latin typeface="+mn-lt"/>
                <a:ea typeface="+mn-ea"/>
                <a:cs typeface="+mn-cs"/>
              </a:rPr>
              <a:t>Sample Spark transformations</a:t>
            </a:r>
          </a:p>
        </p:txBody>
      </p:sp>
      <p:sp>
        <p:nvSpPr>
          <p:cNvPr id="34818" name="Content Placeholder 2">
            <a:extLst>
              <a:ext uri="{FF2B5EF4-FFF2-40B4-BE49-F238E27FC236}">
                <a16:creationId xmlns:a16="http://schemas.microsoft.com/office/drawing/2014/main" id="{310FB80C-E30B-9546-BCA8-623CF21E6A18}"/>
              </a:ext>
            </a:extLst>
          </p:cNvPr>
          <p:cNvSpPr>
            <a:spLocks noGrp="1" noChangeArrowheads="1"/>
          </p:cNvSpPr>
          <p:nvPr>
            <p:ph idx="1"/>
          </p:nvPr>
        </p:nvSpPr>
        <p:spPr>
          <a:xfrm>
            <a:off x="347133" y="1126067"/>
            <a:ext cx="11480800" cy="5050896"/>
          </a:xfrm>
        </p:spPr>
        <p:txBody>
          <a:bodyPr>
            <a:noAutofit/>
          </a:bodyPr>
          <a:lstStyle/>
          <a:p>
            <a:pPr marL="0" indent="0">
              <a:buNone/>
            </a:pPr>
            <a:r>
              <a:rPr lang="en-US" altLang="en-US" sz="2000" b="1" dirty="0">
                <a:ea typeface="ＭＳ Ｐゴシック" panose="020B0600070205080204" pitchFamily="34" charset="-128"/>
              </a:rPr>
              <a:t>map(</a:t>
            </a:r>
            <a:r>
              <a:rPr lang="en-US" altLang="en-US" sz="2000" b="1" dirty="0" err="1">
                <a:ea typeface="ＭＳ Ｐゴシック" panose="020B0600070205080204" pitchFamily="34" charset="-128"/>
              </a:rPr>
              <a:t>func</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rPr>
              <a:t>passing each element of the source through </a:t>
            </a:r>
            <a:r>
              <a:rPr lang="en-US" altLang="en-US" sz="2000" dirty="0" err="1">
                <a:ea typeface="ＭＳ Ｐゴシック" panose="020B0600070205080204" pitchFamily="34" charset="-128"/>
              </a:rPr>
              <a:t>func</a:t>
            </a:r>
            <a:r>
              <a:rPr lang="en-US" altLang="en-US" sz="2000" dirty="0">
                <a:ea typeface="ＭＳ Ｐゴシック" panose="020B0600070205080204" pitchFamily="34" charset="-128"/>
              </a:rPr>
              <a:t> </a:t>
            </a:r>
          </a:p>
          <a:p>
            <a:pPr marL="0" indent="0">
              <a:buNone/>
            </a:pPr>
            <a:r>
              <a:rPr lang="en-US" altLang="en-US" sz="2000" b="1" dirty="0">
                <a:ea typeface="ＭＳ Ｐゴシック" panose="020B0600070205080204" pitchFamily="34" charset="-128"/>
              </a:rPr>
              <a:t>filter(</a:t>
            </a:r>
            <a:r>
              <a:rPr lang="en-US" altLang="en-US" sz="2000" b="1" dirty="0" err="1">
                <a:ea typeface="ＭＳ Ｐゴシック" panose="020B0600070205080204" pitchFamily="34" charset="-128"/>
              </a:rPr>
              <a:t>func</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rPr>
              <a:t>selecting those elements of the source on which returns true</a:t>
            </a:r>
          </a:p>
          <a:p>
            <a:pPr marL="0" indent="0">
              <a:buNone/>
            </a:pPr>
            <a:r>
              <a:rPr lang="en-US" altLang="en-US" sz="2000" b="1" dirty="0">
                <a:ea typeface="ＭＳ Ｐゴシック" panose="020B0600070205080204" pitchFamily="34" charset="-128"/>
              </a:rPr>
              <a:t>union/intersection(</a:t>
            </a:r>
            <a:r>
              <a:rPr lang="en-US" altLang="en-US" sz="2000" b="1" dirty="0" err="1">
                <a:ea typeface="ＭＳ Ｐゴシック" panose="020B0600070205080204" pitchFamily="34" charset="-128"/>
              </a:rPr>
              <a:t>otherDataset</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rPr>
              <a:t>contains the union/intersection of elements</a:t>
            </a:r>
          </a:p>
          <a:p>
            <a:pPr marL="0" indent="0">
              <a:buNone/>
            </a:pPr>
            <a:r>
              <a:rPr lang="en-US" altLang="en-US" sz="2000" b="1" dirty="0">
                <a:ea typeface="ＭＳ Ｐゴシック" panose="020B0600070205080204" pitchFamily="34" charset="-128"/>
              </a:rPr>
              <a:t>join(</a:t>
            </a:r>
            <a:r>
              <a:rPr lang="en-US" altLang="en-US" sz="2000" b="1" dirty="0" err="1">
                <a:ea typeface="ＭＳ Ｐゴシック" panose="020B0600070205080204" pitchFamily="34" charset="-128"/>
              </a:rPr>
              <a:t>otherDataset</a:t>
            </a:r>
            <a:r>
              <a:rPr lang="en-US" altLang="en-US" sz="2000" b="1" dirty="0">
                <a:ea typeface="ＭＳ Ｐゴシック" panose="020B0600070205080204" pitchFamily="34" charset="-128"/>
              </a:rPr>
              <a:t>, [</a:t>
            </a:r>
            <a:r>
              <a:rPr lang="en-US" altLang="en-US" sz="2000" b="1" dirty="0" err="1">
                <a:ea typeface="ＭＳ Ｐゴシック" panose="020B0600070205080204" pitchFamily="34" charset="-128"/>
              </a:rPr>
              <a:t>numTasks</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rPr>
              <a:t>When called on datasets of type (K, V) and (K, W), </a:t>
            </a:r>
          </a:p>
          <a:p>
            <a:pPr marL="0" indent="0">
              <a:buNone/>
            </a:pPr>
            <a:r>
              <a:rPr lang="en-US" altLang="en-US" sz="2000" dirty="0">
                <a:ea typeface="ＭＳ Ｐゴシック" panose="020B0600070205080204" pitchFamily="34" charset="-128"/>
              </a:rPr>
              <a:t>returns a dataset of (K, (V, W)) pairs with all pairs of elements for each key. </a:t>
            </a:r>
          </a:p>
          <a:p>
            <a:pPr marL="0" indent="0">
              <a:buNone/>
            </a:pPr>
            <a:r>
              <a:rPr lang="en-US" altLang="en-US" sz="2000" dirty="0">
                <a:ea typeface="ＭＳ Ｐゴシック" panose="020B0600070205080204" pitchFamily="34" charset="-128"/>
              </a:rPr>
              <a:t>Outer joins are supported through </a:t>
            </a:r>
            <a:r>
              <a:rPr lang="en-US" altLang="en-US" sz="2000" dirty="0" err="1">
                <a:ea typeface="ＭＳ Ｐゴシック" panose="020B0600070205080204" pitchFamily="34" charset="-128"/>
              </a:rPr>
              <a:t>leftOuterJoin</a:t>
            </a:r>
            <a:r>
              <a:rPr lang="en-US" altLang="en-US" sz="2000" dirty="0">
                <a:ea typeface="ＭＳ Ｐゴシック" panose="020B0600070205080204" pitchFamily="34" charset="-128"/>
              </a:rPr>
              <a:t>, </a:t>
            </a:r>
            <a:r>
              <a:rPr lang="en-US" altLang="en-US" sz="2000" dirty="0" err="1">
                <a:ea typeface="ＭＳ Ｐゴシック" panose="020B0600070205080204" pitchFamily="34" charset="-128"/>
              </a:rPr>
              <a:t>rightOuterJoin</a:t>
            </a:r>
            <a:r>
              <a:rPr lang="en-US" altLang="en-US" sz="2000" dirty="0">
                <a:ea typeface="ＭＳ Ｐゴシック" panose="020B0600070205080204" pitchFamily="34" charset="-128"/>
              </a:rPr>
              <a:t>, and </a:t>
            </a:r>
            <a:r>
              <a:rPr lang="en-US" altLang="en-US" sz="2000" dirty="0" err="1">
                <a:ea typeface="ＭＳ Ｐゴシック" panose="020B0600070205080204" pitchFamily="34" charset="-128"/>
              </a:rPr>
              <a:t>fullOuterJoin</a:t>
            </a:r>
            <a:r>
              <a:rPr lang="en-US" altLang="en-US" sz="2000" dirty="0">
                <a:ea typeface="ＭＳ Ｐゴシック" panose="020B0600070205080204" pitchFamily="34" charset="-128"/>
              </a:rPr>
              <a:t>.</a:t>
            </a:r>
          </a:p>
        </p:txBody>
      </p:sp>
      <p:sp>
        <p:nvSpPr>
          <p:cNvPr id="4" name="Slide Number Placeholder 3">
            <a:extLst>
              <a:ext uri="{FF2B5EF4-FFF2-40B4-BE49-F238E27FC236}">
                <a16:creationId xmlns:a16="http://schemas.microsoft.com/office/drawing/2014/main" id="{A87A9D28-ECDE-6441-88A5-D3A518AA19AC}"/>
              </a:ext>
            </a:extLst>
          </p:cNvPr>
          <p:cNvSpPr>
            <a:spLocks noGrp="1"/>
          </p:cNvSpPr>
          <p:nvPr>
            <p:ph type="sldNum" sz="quarter" idx="12"/>
          </p:nvPr>
        </p:nvSpPr>
        <p:spPr>
          <a:xfrm>
            <a:off x="8610600" y="6356350"/>
            <a:ext cx="2743200" cy="365125"/>
          </a:xfrm>
        </p:spPr>
        <p:txBody>
          <a:bodyPr/>
          <a:lstStyle/>
          <a:p>
            <a:fld id="{C9D69B18-316A-457F-86C2-CFE4F951EE27}" type="slidenum">
              <a:rPr lang="en-IL" smtClean="0"/>
              <a:pPr/>
              <a:t>18</a:t>
            </a:fld>
            <a:endParaRPr lang="en-IL" dirty="0"/>
          </a:p>
        </p:txBody>
      </p:sp>
      <p:sp>
        <p:nvSpPr>
          <p:cNvPr id="5" name="Footer Placeholder 4">
            <a:extLst>
              <a:ext uri="{FF2B5EF4-FFF2-40B4-BE49-F238E27FC236}">
                <a16:creationId xmlns:a16="http://schemas.microsoft.com/office/drawing/2014/main" id="{9C852D8B-68AA-CD4C-A8DA-95C04BE2094B}"/>
              </a:ext>
            </a:extLst>
          </p:cNvPr>
          <p:cNvSpPr>
            <a:spLocks noGrp="1"/>
          </p:cNvSpPr>
          <p:nvPr>
            <p:ph type="ftr" sz="quarter" idx="11"/>
          </p:nvPr>
        </p:nvSpPr>
        <p:spPr>
          <a:xfrm>
            <a:off x="4038600" y="6356350"/>
            <a:ext cx="4114800" cy="365125"/>
          </a:xfrm>
        </p:spPr>
        <p:txBody>
          <a:bodyPr/>
          <a:lstStyle/>
          <a:p>
            <a:r>
              <a:rPr lang="en-US" dirty="0"/>
              <a:t>Or </a:t>
            </a:r>
            <a:r>
              <a:rPr lang="en-US" dirty="0" err="1"/>
              <a:t>Peretz</a:t>
            </a:r>
            <a:endParaRPr lang="en-IL"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Operations in Distributed DBs - Transformation</a:t>
            </a:r>
          </a:p>
          <a:p>
            <a:pPr>
              <a:lnSpc>
                <a:spcPct val="150000"/>
              </a:lnSpc>
            </a:pPr>
            <a:r>
              <a:rPr lang="en-US" sz="2200" dirty="0"/>
              <a:t>map() </a:t>
            </a:r>
            <a:r>
              <a:rPr lang="en-US" sz="2200" dirty="0" err="1"/>
              <a:t>flatMap</a:t>
            </a:r>
            <a:r>
              <a:rPr lang="en-US" sz="2200" dirty="0"/>
              <a:t>()</a:t>
            </a:r>
          </a:p>
          <a:p>
            <a:pPr>
              <a:lnSpc>
                <a:spcPct val="150000"/>
              </a:lnSpc>
            </a:pPr>
            <a:r>
              <a:rPr lang="en-US" sz="2200" dirty="0"/>
              <a:t>filter() </a:t>
            </a:r>
          </a:p>
          <a:p>
            <a:pPr>
              <a:lnSpc>
                <a:spcPct val="150000"/>
              </a:lnSpc>
            </a:pPr>
            <a:r>
              <a:rPr lang="en-US" sz="2200" dirty="0" err="1"/>
              <a:t>mapPartitions</a:t>
            </a:r>
            <a:r>
              <a:rPr lang="en-US" sz="2200" dirty="0"/>
              <a:t>() </a:t>
            </a:r>
            <a:r>
              <a:rPr lang="en-US" sz="2200" dirty="0" err="1"/>
              <a:t>mapPartitionsWithIndex</a:t>
            </a:r>
            <a:r>
              <a:rPr lang="en-US" sz="2200" dirty="0"/>
              <a:t>() </a:t>
            </a:r>
          </a:p>
          <a:p>
            <a:pPr>
              <a:lnSpc>
                <a:spcPct val="150000"/>
              </a:lnSpc>
            </a:pPr>
            <a:r>
              <a:rPr lang="en-US" sz="2200" dirty="0"/>
              <a:t>sample()</a:t>
            </a:r>
          </a:p>
          <a:p>
            <a:pPr>
              <a:lnSpc>
                <a:spcPct val="150000"/>
              </a:lnSpc>
            </a:pPr>
            <a:r>
              <a:rPr lang="en-US" sz="2200" dirty="0"/>
              <a:t>union() intersection() distinct()</a:t>
            </a:r>
          </a:p>
          <a:p>
            <a:pPr>
              <a:lnSpc>
                <a:spcPct val="150000"/>
              </a:lnSpc>
            </a:pPr>
            <a:r>
              <a:rPr lang="en-US" sz="2200" dirty="0" err="1"/>
              <a:t>groupBy</a:t>
            </a:r>
            <a:r>
              <a:rPr lang="en-US" sz="2200" dirty="0"/>
              <a:t>() </a:t>
            </a:r>
            <a:r>
              <a:rPr lang="en-US" sz="2200" dirty="0" err="1"/>
              <a:t>groupByKey</a:t>
            </a:r>
            <a:r>
              <a:rPr lang="en-US" sz="2200" dirty="0"/>
              <a:t>()</a:t>
            </a:r>
          </a:p>
          <a:p>
            <a:pPr>
              <a:lnSpc>
                <a:spcPct val="150000"/>
              </a:lnSpc>
            </a:pPr>
            <a:r>
              <a:rPr lang="en-US" sz="2200" dirty="0" err="1"/>
              <a:t>reduceBy</a:t>
            </a:r>
            <a:r>
              <a:rPr lang="en-US" sz="2200" dirty="0"/>
              <a:t>() </a:t>
            </a:r>
            <a:r>
              <a:rPr lang="en-US" sz="2200" dirty="0" err="1"/>
              <a:t>reduceByKey</a:t>
            </a:r>
            <a:r>
              <a:rPr lang="en-US" sz="2200" dirty="0"/>
              <a:t>()</a:t>
            </a:r>
          </a:p>
          <a:p>
            <a:pPr>
              <a:lnSpc>
                <a:spcPct val="150000"/>
              </a:lnSpc>
            </a:pPr>
            <a:r>
              <a:rPr lang="en-US" sz="2200" dirty="0" err="1"/>
              <a:t>sortBy</a:t>
            </a:r>
            <a:r>
              <a:rPr lang="en-US" sz="2200" dirty="0"/>
              <a:t>() </a:t>
            </a:r>
            <a:r>
              <a:rPr lang="en-US" sz="2200" dirty="0" err="1"/>
              <a:t>sortByKey</a:t>
            </a:r>
            <a:r>
              <a:rPr lang="en-US" sz="2200" dirty="0"/>
              <a: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
        <p:nvSpPr>
          <p:cNvPr id="3" name="TextBox 2">
            <a:extLst>
              <a:ext uri="{FF2B5EF4-FFF2-40B4-BE49-F238E27FC236}">
                <a16:creationId xmlns:a16="http://schemas.microsoft.com/office/drawing/2014/main" id="{DC8986D7-D1C4-E647-9E6F-1B8D4C03456E}"/>
              </a:ext>
            </a:extLst>
          </p:cNvPr>
          <p:cNvSpPr txBox="1"/>
          <p:nvPr/>
        </p:nvSpPr>
        <p:spPr>
          <a:xfrm>
            <a:off x="7137400" y="1219200"/>
            <a:ext cx="5816600" cy="4102470"/>
          </a:xfrm>
          <a:prstGeom prst="rect">
            <a:avLst/>
          </a:prstGeom>
          <a:noFill/>
        </p:spPr>
        <p:txBody>
          <a:bodyPr wrap="square" rtlCol="0">
            <a:spAutoFit/>
          </a:bodyPr>
          <a:lstStyle/>
          <a:p>
            <a:pPr>
              <a:lnSpc>
                <a:spcPct val="150000"/>
              </a:lnSpc>
            </a:pPr>
            <a:r>
              <a:rPr lang="en-US" sz="2200" dirty="0"/>
              <a:t>join()</a:t>
            </a:r>
          </a:p>
          <a:p>
            <a:pPr>
              <a:lnSpc>
                <a:spcPct val="150000"/>
              </a:lnSpc>
            </a:pPr>
            <a:r>
              <a:rPr lang="en-US" sz="2200" dirty="0"/>
              <a:t>cogroup()</a:t>
            </a:r>
          </a:p>
          <a:p>
            <a:pPr>
              <a:lnSpc>
                <a:spcPct val="150000"/>
              </a:lnSpc>
            </a:pPr>
            <a:r>
              <a:rPr lang="en-US" sz="2200" dirty="0"/>
              <a:t>cartesian()</a:t>
            </a:r>
          </a:p>
          <a:p>
            <a:pPr>
              <a:lnSpc>
                <a:spcPct val="150000"/>
              </a:lnSpc>
            </a:pPr>
            <a:r>
              <a:rPr lang="en-US" sz="2200" dirty="0"/>
              <a:t>pipe()</a:t>
            </a:r>
          </a:p>
          <a:p>
            <a:pPr>
              <a:lnSpc>
                <a:spcPct val="150000"/>
              </a:lnSpc>
            </a:pPr>
            <a:r>
              <a:rPr lang="en-US" sz="2200" dirty="0"/>
              <a:t>coalesce()</a:t>
            </a:r>
          </a:p>
          <a:p>
            <a:pPr>
              <a:lnSpc>
                <a:spcPct val="150000"/>
              </a:lnSpc>
            </a:pPr>
            <a:r>
              <a:rPr lang="en-US" sz="2200" dirty="0"/>
              <a:t>repartition()</a:t>
            </a:r>
          </a:p>
          <a:p>
            <a:pPr>
              <a:lnSpc>
                <a:spcPct val="150000"/>
              </a:lnSpc>
            </a:pPr>
            <a:r>
              <a:rPr lang="en-US" sz="2200" dirty="0" err="1"/>
              <a:t>partitionBy</a:t>
            </a:r>
            <a:r>
              <a:rPr lang="en-US" sz="2200" dirty="0"/>
              <a:t>()</a:t>
            </a:r>
          </a:p>
          <a:p>
            <a:pPr>
              <a:lnSpc>
                <a:spcPct val="150000"/>
              </a:lnSpc>
            </a:pPr>
            <a:endParaRPr lang="en-IL" sz="2200" dirty="0"/>
          </a:p>
        </p:txBody>
      </p:sp>
    </p:spTree>
    <p:extLst>
      <p:ext uri="{BB962C8B-B14F-4D97-AF65-F5344CB8AC3E}">
        <p14:creationId xmlns:p14="http://schemas.microsoft.com/office/powerpoint/2010/main" val="191013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EF09C834-5F10-1849-ACAA-C7364499ACEB}"/>
              </a:ext>
            </a:extLst>
          </p:cNvPr>
          <p:cNvSpPr>
            <a:spLocks noGrp="1" noChangeArrowheads="1"/>
          </p:cNvSpPr>
          <p:nvPr>
            <p:ph type="title"/>
          </p:nvPr>
        </p:nvSpPr>
        <p:spPr>
          <a:xfrm>
            <a:off x="838200" y="0"/>
            <a:ext cx="10515600" cy="1325563"/>
          </a:xfrm>
        </p:spPr>
        <p:txBody>
          <a:bodyPr>
            <a:normAutofit/>
          </a:bodyPr>
          <a:lstStyle/>
          <a:p>
            <a:pPr>
              <a:lnSpc>
                <a:spcPct val="150000"/>
              </a:lnSpc>
              <a:spcBef>
                <a:spcPts val="1000"/>
              </a:spcBef>
            </a:pPr>
            <a:r>
              <a:rPr lang="en-US" altLang="en-US" sz="3000" dirty="0">
                <a:latin typeface="+mn-lt"/>
                <a:ea typeface="+mn-ea"/>
                <a:cs typeface="+mn-cs"/>
              </a:rPr>
              <a:t>Sample Spark Actions</a:t>
            </a:r>
          </a:p>
        </p:txBody>
      </p:sp>
      <p:sp>
        <p:nvSpPr>
          <p:cNvPr id="35842" name="Content Placeholder 2">
            <a:extLst>
              <a:ext uri="{FF2B5EF4-FFF2-40B4-BE49-F238E27FC236}">
                <a16:creationId xmlns:a16="http://schemas.microsoft.com/office/drawing/2014/main" id="{F53198A3-56DB-B445-92F5-F669E69FBBA0}"/>
              </a:ext>
            </a:extLst>
          </p:cNvPr>
          <p:cNvSpPr>
            <a:spLocks noGrp="1" noChangeArrowheads="1"/>
          </p:cNvSpPr>
          <p:nvPr>
            <p:ph idx="1"/>
          </p:nvPr>
        </p:nvSpPr>
        <p:spPr>
          <a:xfrm>
            <a:off x="465667" y="1176867"/>
            <a:ext cx="10888133" cy="5000096"/>
          </a:xfrm>
        </p:spPr>
        <p:txBody>
          <a:bodyPr/>
          <a:lstStyle/>
          <a:p>
            <a:pPr marL="0" indent="0">
              <a:buNone/>
            </a:pPr>
            <a:r>
              <a:rPr lang="en-US" altLang="en-US" sz="2000" b="1" dirty="0">
                <a:ea typeface="ＭＳ Ｐゴシック" panose="020B0600070205080204" pitchFamily="34" charset="-128"/>
              </a:rPr>
              <a:t>reduce(</a:t>
            </a:r>
            <a:r>
              <a:rPr lang="en-US" altLang="en-US" sz="2000" b="1" dirty="0" err="1">
                <a:ea typeface="ＭＳ Ｐゴシック" panose="020B0600070205080204" pitchFamily="34" charset="-128"/>
              </a:rPr>
              <a:t>func</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rPr>
              <a:t>Aggregate the elements of the dataset using a function </a:t>
            </a:r>
            <a:r>
              <a:rPr lang="en-US" altLang="en-US" sz="2000" dirty="0" err="1">
                <a:ea typeface="ＭＳ Ｐゴシック" panose="020B0600070205080204" pitchFamily="34" charset="-128"/>
              </a:rPr>
              <a:t>func</a:t>
            </a:r>
            <a:r>
              <a:rPr lang="en-US" altLang="en-US" sz="2000" dirty="0">
                <a:ea typeface="ＭＳ Ｐゴシック" panose="020B0600070205080204" pitchFamily="34" charset="-128"/>
              </a:rPr>
              <a:t> (which takes two arguments and returns one). </a:t>
            </a:r>
            <a:r>
              <a:rPr lang="en-US" altLang="en-US" sz="2000" u="sng" dirty="0">
                <a:ea typeface="ＭＳ Ｐゴシック" panose="020B0600070205080204" pitchFamily="34" charset="-128"/>
              </a:rPr>
              <a:t>The function should be commutative and associative so that it can be computed correctly in parallel.</a:t>
            </a:r>
          </a:p>
          <a:p>
            <a:pPr marL="0" indent="0">
              <a:buNone/>
            </a:pPr>
            <a:r>
              <a:rPr lang="en-US" altLang="en-US" sz="2000" b="1" dirty="0">
                <a:ea typeface="ＭＳ Ｐゴシック" panose="020B0600070205080204" pitchFamily="34" charset="-128"/>
              </a:rPr>
              <a:t>collect(): </a:t>
            </a:r>
            <a:r>
              <a:rPr lang="en-US" altLang="en-US" sz="2000" dirty="0">
                <a:ea typeface="ＭＳ Ｐゴシック" panose="020B0600070205080204" pitchFamily="34" charset="-128"/>
              </a:rPr>
              <a:t>Return all the elements of the dataset as an array at the driver program. </a:t>
            </a:r>
          </a:p>
          <a:p>
            <a:pPr marL="0" indent="0">
              <a:buNone/>
            </a:pPr>
            <a:r>
              <a:rPr lang="en-US" altLang="en-US" sz="2000" dirty="0">
                <a:ea typeface="ＭＳ Ｐゴシック" panose="020B0600070205080204" pitchFamily="34" charset="-128"/>
              </a:rPr>
              <a:t>This is usually useful after a filter or other operation that returns a sufficiently small subset of the data.</a:t>
            </a:r>
          </a:p>
          <a:p>
            <a:pPr marL="0" indent="0">
              <a:buNone/>
            </a:pPr>
            <a:r>
              <a:rPr lang="en-US" altLang="en-US" sz="2000" b="1" dirty="0">
                <a:ea typeface="ＭＳ Ｐゴシック" panose="020B0600070205080204" pitchFamily="34" charset="-128"/>
              </a:rPr>
              <a:t>count(): </a:t>
            </a:r>
            <a:r>
              <a:rPr lang="en-US" altLang="en-US" sz="2000" dirty="0">
                <a:ea typeface="ＭＳ Ｐゴシック" panose="020B0600070205080204" pitchFamily="34" charset="-128"/>
              </a:rPr>
              <a:t>Return the number of elements in the dataset. </a:t>
            </a:r>
          </a:p>
        </p:txBody>
      </p:sp>
      <p:sp>
        <p:nvSpPr>
          <p:cNvPr id="35847" name="TextBox 7">
            <a:extLst>
              <a:ext uri="{FF2B5EF4-FFF2-40B4-BE49-F238E27FC236}">
                <a16:creationId xmlns:a16="http://schemas.microsoft.com/office/drawing/2014/main" id="{6297BB6F-E7E8-5245-8024-01947E4F66FE}"/>
              </a:ext>
            </a:extLst>
          </p:cNvPr>
          <p:cNvSpPr txBox="1">
            <a:spLocks noChangeArrowheads="1"/>
          </p:cNvSpPr>
          <p:nvPr/>
        </p:nvSpPr>
        <p:spPr bwMode="auto">
          <a:xfrm>
            <a:off x="2990237" y="4973247"/>
            <a:ext cx="5452711" cy="707886"/>
          </a:xfrm>
          <a:prstGeom prst="rect">
            <a:avLst/>
          </a:prstGeom>
          <a:solidFill>
            <a:schemeClr val="accent1">
              <a:lumMod val="20000"/>
              <a:lumOff val="80000"/>
            </a:schemeClr>
          </a:solidFill>
          <a:ln>
            <a:solidFill>
              <a:schemeClr val="tx1"/>
            </a:solidFill>
          </a:ln>
        </p:spPr>
        <p:txBody>
          <a:bodyPr wrap="none">
            <a:spAutoFit/>
          </a:bodyPr>
          <a:lstStyle>
            <a:lvl1pPr>
              <a:spcBef>
                <a:spcPct val="20000"/>
              </a:spcBef>
              <a:buSzPct val="60000"/>
              <a:buBlip>
                <a:blip r:embed="rId2"/>
              </a:buBlip>
              <a:defRPr sz="3200">
                <a:solidFill>
                  <a:srgbClr val="663300"/>
                </a:solidFill>
                <a:latin typeface="Tahoma" panose="020B0604030504040204" pitchFamily="34" charset="0"/>
                <a:ea typeface="ＭＳ Ｐゴシック" panose="020B0600070205080204" pitchFamily="34" charset="-128"/>
              </a:defRPr>
            </a:lvl1pPr>
            <a:lvl2pPr marL="742950" indent="-285750">
              <a:spcBef>
                <a:spcPct val="20000"/>
              </a:spcBef>
              <a:buSzPct val="60000"/>
              <a:buBlip>
                <a:blip r:embed="rId3"/>
              </a:buBlip>
              <a:defRPr sz="2800">
                <a:solidFill>
                  <a:srgbClr val="663300"/>
                </a:solidFill>
                <a:latin typeface="Tahoma" panose="020B0604030504040204" pitchFamily="34" charset="0"/>
                <a:ea typeface="ＭＳ Ｐゴシック" panose="020B0600070205080204" pitchFamily="34" charset="-128"/>
              </a:defRPr>
            </a:lvl2pPr>
            <a:lvl3pPr marL="1143000" indent="-228600">
              <a:spcBef>
                <a:spcPct val="20000"/>
              </a:spcBef>
              <a:buSzPct val="70000"/>
              <a:buBlip>
                <a:blip r:embed="rId4"/>
              </a:buBlip>
              <a:defRPr sz="2400">
                <a:solidFill>
                  <a:srgbClr val="663300"/>
                </a:solidFill>
                <a:latin typeface="Tahoma" panose="020B0604030504040204" pitchFamily="34" charset="0"/>
                <a:ea typeface="ＭＳ Ｐゴシック" panose="020B0600070205080204" pitchFamily="34" charset="-128"/>
              </a:defRPr>
            </a:lvl3pPr>
            <a:lvl4pPr marL="1600200" indent="-228600">
              <a:spcBef>
                <a:spcPct val="20000"/>
              </a:spcBef>
              <a:buChar char="–"/>
              <a:defRPr sz="2000">
                <a:solidFill>
                  <a:srgbClr val="663300"/>
                </a:solidFill>
                <a:latin typeface="Tahoma" panose="020B0604030504040204" pitchFamily="34" charset="0"/>
                <a:ea typeface="ＭＳ Ｐゴシック" panose="020B0600070205080204" pitchFamily="34" charset="-128"/>
              </a:defRPr>
            </a:lvl4pPr>
            <a:lvl5pPr marL="2057400" indent="-228600">
              <a:spcBef>
                <a:spcPct val="20000"/>
              </a:spcBef>
              <a:buChar char="»"/>
              <a:defRPr sz="2000">
                <a:solidFill>
                  <a:srgbClr val="663300"/>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rgbClr val="663300"/>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rgbClr val="663300"/>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rgbClr val="663300"/>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rgbClr val="663300"/>
                </a:solidFill>
                <a:latin typeface="Tahoma" panose="020B0604030504040204" pitchFamily="34" charset="0"/>
                <a:ea typeface="ＭＳ Ｐゴシック" panose="020B0600070205080204" pitchFamily="34" charset="-128"/>
              </a:defRPr>
            </a:lvl9pPr>
          </a:lstStyle>
          <a:p>
            <a:pPr>
              <a:spcBef>
                <a:spcPct val="0"/>
              </a:spcBef>
              <a:buSzTx/>
              <a:buFontTx/>
              <a:buNone/>
            </a:pPr>
            <a:r>
              <a:rPr lang="en-US" altLang="en-US" sz="2000" i="1" u="sng" dirty="0">
                <a:solidFill>
                  <a:schemeClr val="tx1"/>
                </a:solidFill>
                <a:latin typeface="+mn-lt"/>
              </a:rPr>
              <a:t>Actions</a:t>
            </a:r>
            <a:r>
              <a:rPr lang="en-US" altLang="en-US" sz="2000" dirty="0">
                <a:solidFill>
                  <a:schemeClr val="tx1"/>
                </a:solidFill>
                <a:latin typeface="+mn-lt"/>
              </a:rPr>
              <a:t> cause calculations to be performed</a:t>
            </a:r>
          </a:p>
          <a:p>
            <a:pPr>
              <a:spcBef>
                <a:spcPct val="0"/>
              </a:spcBef>
              <a:buSzTx/>
              <a:buFontTx/>
              <a:buNone/>
            </a:pPr>
            <a:r>
              <a:rPr lang="en-US" altLang="en-US" sz="2000" i="1" u="sng" dirty="0">
                <a:solidFill>
                  <a:schemeClr val="tx1"/>
                </a:solidFill>
                <a:latin typeface="+mn-lt"/>
              </a:rPr>
              <a:t>transformations</a:t>
            </a:r>
            <a:r>
              <a:rPr lang="en-US" altLang="en-US" sz="2000" dirty="0">
                <a:solidFill>
                  <a:schemeClr val="tx1"/>
                </a:solidFill>
                <a:latin typeface="+mn-lt"/>
              </a:rPr>
              <a:t> just set things up (lazy evaluation)</a:t>
            </a:r>
          </a:p>
        </p:txBody>
      </p:sp>
      <p:sp>
        <p:nvSpPr>
          <p:cNvPr id="5" name="Slide Number Placeholder 3">
            <a:extLst>
              <a:ext uri="{FF2B5EF4-FFF2-40B4-BE49-F238E27FC236}">
                <a16:creationId xmlns:a16="http://schemas.microsoft.com/office/drawing/2014/main" id="{ACD53E8E-2899-D84A-A872-AE670C757F8A}"/>
              </a:ext>
            </a:extLst>
          </p:cNvPr>
          <p:cNvSpPr>
            <a:spLocks noGrp="1"/>
          </p:cNvSpPr>
          <p:nvPr>
            <p:ph type="sldNum" sz="quarter" idx="12"/>
          </p:nvPr>
        </p:nvSpPr>
        <p:spPr>
          <a:xfrm>
            <a:off x="8610600" y="6356350"/>
            <a:ext cx="2743200" cy="365125"/>
          </a:xfrm>
        </p:spPr>
        <p:txBody>
          <a:bodyPr/>
          <a:lstStyle/>
          <a:p>
            <a:fld id="{C9D69B18-316A-457F-86C2-CFE4F951EE27}" type="slidenum">
              <a:rPr lang="en-IL" smtClean="0"/>
              <a:pPr/>
              <a:t>20</a:t>
            </a:fld>
            <a:endParaRPr lang="en-IL" dirty="0"/>
          </a:p>
        </p:txBody>
      </p:sp>
      <p:sp>
        <p:nvSpPr>
          <p:cNvPr id="6" name="Footer Placeholder 4">
            <a:extLst>
              <a:ext uri="{FF2B5EF4-FFF2-40B4-BE49-F238E27FC236}">
                <a16:creationId xmlns:a16="http://schemas.microsoft.com/office/drawing/2014/main" id="{F1777E59-5FBE-014F-9400-A55EE2E5AF9D}"/>
              </a:ext>
            </a:extLst>
          </p:cNvPr>
          <p:cNvSpPr>
            <a:spLocks noGrp="1"/>
          </p:cNvSpPr>
          <p:nvPr>
            <p:ph type="ftr" sz="quarter" idx="11"/>
          </p:nvPr>
        </p:nvSpPr>
        <p:spPr>
          <a:xfrm>
            <a:off x="4038600" y="6356350"/>
            <a:ext cx="4114800" cy="365125"/>
          </a:xfrm>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680690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Operations in Distributed DBs - Actions</a:t>
            </a:r>
          </a:p>
          <a:p>
            <a:pPr>
              <a:lnSpc>
                <a:spcPct val="150000"/>
              </a:lnSpc>
            </a:pPr>
            <a:r>
              <a:rPr lang="en-US" sz="2200" dirty="0"/>
              <a:t>reduce()</a:t>
            </a:r>
          </a:p>
          <a:p>
            <a:pPr>
              <a:lnSpc>
                <a:spcPct val="150000"/>
              </a:lnSpc>
            </a:pPr>
            <a:r>
              <a:rPr lang="en-US" sz="2200" dirty="0"/>
              <a:t>collect()</a:t>
            </a:r>
          </a:p>
          <a:p>
            <a:pPr>
              <a:lnSpc>
                <a:spcPct val="150000"/>
              </a:lnSpc>
            </a:pPr>
            <a:r>
              <a:rPr lang="en-US" sz="2200" dirty="0"/>
              <a:t>count()</a:t>
            </a:r>
          </a:p>
          <a:p>
            <a:pPr>
              <a:lnSpc>
                <a:spcPct val="150000"/>
              </a:lnSpc>
            </a:pPr>
            <a:r>
              <a:rPr lang="en-US" sz="2200" dirty="0"/>
              <a:t>first()</a:t>
            </a:r>
          </a:p>
          <a:p>
            <a:pPr>
              <a:lnSpc>
                <a:spcPct val="150000"/>
              </a:lnSpc>
            </a:pPr>
            <a:r>
              <a:rPr lang="en-US" sz="2200" dirty="0"/>
              <a:t>take()</a:t>
            </a:r>
          </a:p>
          <a:p>
            <a:pPr>
              <a:lnSpc>
                <a:spcPct val="150000"/>
              </a:lnSpc>
            </a:pPr>
            <a:r>
              <a:rPr lang="en-US" sz="2200" dirty="0" err="1"/>
              <a:t>takeSample</a:t>
            </a:r>
            <a:r>
              <a:rPr lang="en-US" sz="2200" dirty="0"/>
              <a:t>()</a:t>
            </a:r>
          </a:p>
          <a:p>
            <a:pPr>
              <a:lnSpc>
                <a:spcPct val="150000"/>
              </a:lnSpc>
            </a:pPr>
            <a:r>
              <a:rPr lang="en-US" sz="2200" dirty="0" err="1"/>
              <a:t>saveToCassandra</a:t>
            </a:r>
            <a:r>
              <a:rPr lang="en-US" sz="2200" dirty="0"/>
              <a:t>()</a:t>
            </a:r>
          </a:p>
          <a:p>
            <a:pPr>
              <a:lnSpc>
                <a:spcPct val="150000"/>
              </a:lnSpc>
            </a:pPr>
            <a:r>
              <a:rPr lang="en-US" sz="2200" dirty="0" err="1"/>
              <a:t>takeOrdered</a:t>
            </a:r>
            <a:r>
              <a:rPr lang="en-US" sz="2200" dirty="0"/>
              <a: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a:xfrm>
            <a:off x="8610600" y="6364817"/>
            <a:ext cx="2743200" cy="365125"/>
          </a:xfrm>
        </p:spPr>
        <p:txBody>
          <a:bodyPr/>
          <a:lstStyle/>
          <a:p>
            <a:fld id="{C9D69B18-316A-457F-86C2-CFE4F951EE27}" type="slidenum">
              <a:rPr lang="en-IL" smtClean="0"/>
              <a:pPr/>
              <a:t>21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a:xfrm>
            <a:off x="4038600" y="6298429"/>
            <a:ext cx="4114800" cy="365125"/>
          </a:xfrm>
        </p:spPr>
        <p:txBody>
          <a:bodyPr/>
          <a:lstStyle/>
          <a:p>
            <a:r>
              <a:rPr lang="en-US" dirty="0"/>
              <a:t>Or </a:t>
            </a:r>
            <a:r>
              <a:rPr lang="en-US" dirty="0" err="1"/>
              <a:t>Peretz</a:t>
            </a:r>
            <a:endParaRPr lang="en-IL" dirty="0"/>
          </a:p>
        </p:txBody>
      </p:sp>
      <p:sp>
        <p:nvSpPr>
          <p:cNvPr id="3" name="TextBox 2">
            <a:extLst>
              <a:ext uri="{FF2B5EF4-FFF2-40B4-BE49-F238E27FC236}">
                <a16:creationId xmlns:a16="http://schemas.microsoft.com/office/drawing/2014/main" id="{DC8986D7-D1C4-E647-9E6F-1B8D4C03456E}"/>
              </a:ext>
            </a:extLst>
          </p:cNvPr>
          <p:cNvSpPr txBox="1"/>
          <p:nvPr/>
        </p:nvSpPr>
        <p:spPr>
          <a:xfrm>
            <a:off x="5245100" y="1244600"/>
            <a:ext cx="5816600" cy="2578976"/>
          </a:xfrm>
          <a:prstGeom prst="rect">
            <a:avLst/>
          </a:prstGeom>
          <a:noFill/>
        </p:spPr>
        <p:txBody>
          <a:bodyPr wrap="square" rtlCol="0">
            <a:spAutoFit/>
          </a:bodyPr>
          <a:lstStyle/>
          <a:p>
            <a:pPr>
              <a:lnSpc>
                <a:spcPct val="150000"/>
              </a:lnSpc>
            </a:pPr>
            <a:r>
              <a:rPr lang="en-US" sz="2200" dirty="0" err="1"/>
              <a:t>saveAsTextFile</a:t>
            </a:r>
            <a:r>
              <a:rPr lang="en-US" sz="2200" dirty="0"/>
              <a:t>()</a:t>
            </a:r>
          </a:p>
          <a:p>
            <a:pPr>
              <a:lnSpc>
                <a:spcPct val="150000"/>
              </a:lnSpc>
            </a:pPr>
            <a:r>
              <a:rPr lang="en-US" sz="2200" dirty="0" err="1"/>
              <a:t>saveAsSequenceFile</a:t>
            </a:r>
            <a:r>
              <a:rPr lang="en-US" sz="2200" dirty="0"/>
              <a:t>()</a:t>
            </a:r>
          </a:p>
          <a:p>
            <a:pPr>
              <a:lnSpc>
                <a:spcPct val="150000"/>
              </a:lnSpc>
            </a:pPr>
            <a:r>
              <a:rPr lang="en-US" sz="2200" dirty="0" err="1"/>
              <a:t>saveAsObjectFile</a:t>
            </a:r>
            <a:r>
              <a:rPr lang="en-US" sz="2200" dirty="0"/>
              <a:t>()</a:t>
            </a:r>
          </a:p>
          <a:p>
            <a:pPr>
              <a:lnSpc>
                <a:spcPct val="150000"/>
              </a:lnSpc>
            </a:pPr>
            <a:r>
              <a:rPr lang="en-US" sz="2200" dirty="0" err="1"/>
              <a:t>countByKey</a:t>
            </a:r>
            <a:r>
              <a:rPr lang="en-US" sz="2200" dirty="0"/>
              <a:t>()</a:t>
            </a:r>
          </a:p>
          <a:p>
            <a:pPr>
              <a:lnSpc>
                <a:spcPct val="150000"/>
              </a:lnSpc>
            </a:pPr>
            <a:r>
              <a:rPr lang="en-US" sz="2200" dirty="0"/>
              <a:t>foreach()</a:t>
            </a:r>
          </a:p>
        </p:txBody>
      </p:sp>
    </p:spTree>
    <p:extLst>
      <p:ext uri="{BB962C8B-B14F-4D97-AF65-F5344CB8AC3E}">
        <p14:creationId xmlns:p14="http://schemas.microsoft.com/office/powerpoint/2010/main" val="172788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975B456D-24AB-3243-A3AC-3229C28E46D8}"/>
              </a:ext>
            </a:extLst>
          </p:cNvPr>
          <p:cNvSpPr>
            <a:spLocks noGrp="1" noChangeArrowheads="1"/>
          </p:cNvSpPr>
          <p:nvPr>
            <p:ph type="title"/>
          </p:nvPr>
        </p:nvSpPr>
        <p:spPr>
          <a:xfrm>
            <a:off x="838200" y="-185208"/>
            <a:ext cx="10515600" cy="1325563"/>
          </a:xfrm>
        </p:spPr>
        <p:txBody>
          <a:bodyPr>
            <a:normAutofit/>
          </a:bodyPr>
          <a:lstStyle/>
          <a:p>
            <a:pPr>
              <a:lnSpc>
                <a:spcPct val="150000"/>
              </a:lnSpc>
              <a:spcBef>
                <a:spcPts val="1000"/>
              </a:spcBef>
            </a:pPr>
            <a:r>
              <a:rPr lang="en-US" altLang="en-US" sz="3000" dirty="0">
                <a:latin typeface="+mn-lt"/>
                <a:ea typeface="+mn-ea"/>
                <a:cs typeface="+mn-cs"/>
              </a:rPr>
              <a:t>Spark – RDD Persistence</a:t>
            </a:r>
          </a:p>
        </p:txBody>
      </p:sp>
      <p:sp>
        <p:nvSpPr>
          <p:cNvPr id="36866" name="Content Placeholder 2">
            <a:extLst>
              <a:ext uri="{FF2B5EF4-FFF2-40B4-BE49-F238E27FC236}">
                <a16:creationId xmlns:a16="http://schemas.microsoft.com/office/drawing/2014/main" id="{233DBEF6-D3FC-5E4D-B572-C76C7A7164CE}"/>
              </a:ext>
            </a:extLst>
          </p:cNvPr>
          <p:cNvSpPr>
            <a:spLocks noGrp="1" noChangeArrowheads="1"/>
          </p:cNvSpPr>
          <p:nvPr>
            <p:ph idx="1"/>
          </p:nvPr>
        </p:nvSpPr>
        <p:spPr>
          <a:xfrm>
            <a:off x="635000" y="1016000"/>
            <a:ext cx="10718800" cy="5160963"/>
          </a:xfrm>
        </p:spPr>
        <p:txBody>
          <a:bodyPr>
            <a:normAutofit/>
          </a:bodyPr>
          <a:lstStyle/>
          <a:p>
            <a:r>
              <a:rPr lang="en-US" altLang="en-US" sz="2000" dirty="0">
                <a:ea typeface="ＭＳ Ｐゴシック" panose="020B0600070205080204" pitchFamily="34" charset="-128"/>
              </a:rPr>
              <a:t>You can persist (cache) an RDD</a:t>
            </a:r>
          </a:p>
          <a:p>
            <a:r>
              <a:rPr lang="en-US" altLang="en-US" sz="2000" dirty="0">
                <a:ea typeface="ＭＳ Ｐゴシック" panose="020B0600070205080204" pitchFamily="34" charset="-128"/>
              </a:rPr>
              <a:t>When you persist an RDD, each node stores any partitions of it that it computes in memory and reuses them in other actions on that dataset (or datasets derived from it)</a:t>
            </a:r>
          </a:p>
          <a:p>
            <a:r>
              <a:rPr lang="en-US" altLang="en-US" sz="2000" dirty="0">
                <a:ea typeface="ＭＳ Ｐゴシック" panose="020B0600070205080204" pitchFamily="34" charset="-128"/>
              </a:rPr>
              <a:t>Allows future actions to be much faster (often &gt;10x).</a:t>
            </a:r>
          </a:p>
          <a:p>
            <a:r>
              <a:rPr lang="en-US" altLang="en-US" sz="2000" dirty="0">
                <a:ea typeface="ＭＳ Ｐゴシック" panose="020B0600070205080204" pitchFamily="34" charset="-128"/>
              </a:rPr>
              <a:t>Can choose storage level (MEMORY_ONLY, DISK_ONLY, MEMORY_AND_DISK, etc.)</a:t>
            </a:r>
          </a:p>
          <a:p>
            <a:r>
              <a:rPr lang="en-US" altLang="en-US" sz="2000" dirty="0">
                <a:ea typeface="ＭＳ Ｐゴシック" panose="020B0600070205080204" pitchFamily="34" charset="-128"/>
              </a:rPr>
              <a:t>Can manually call </a:t>
            </a:r>
            <a:r>
              <a:rPr lang="en-US" altLang="en-US" sz="2000" dirty="0" err="1">
                <a:ea typeface="ＭＳ Ｐゴシック" panose="020B0600070205080204" pitchFamily="34" charset="-128"/>
              </a:rPr>
              <a:t>unpersist</a:t>
            </a:r>
            <a:r>
              <a:rPr lang="en-US" altLang="en-US" sz="2000" dirty="0">
                <a:ea typeface="ＭＳ Ｐゴシック" panose="020B0600070205080204" pitchFamily="34" charset="-128"/>
              </a:rPr>
              <a:t>()</a:t>
            </a:r>
          </a:p>
        </p:txBody>
      </p:sp>
      <p:sp>
        <p:nvSpPr>
          <p:cNvPr id="4" name="Slide Number Placeholder 3">
            <a:extLst>
              <a:ext uri="{FF2B5EF4-FFF2-40B4-BE49-F238E27FC236}">
                <a16:creationId xmlns:a16="http://schemas.microsoft.com/office/drawing/2014/main" id="{20A437B1-8EB9-1F45-ACAE-21CFCDC7BB2A}"/>
              </a:ext>
            </a:extLst>
          </p:cNvPr>
          <p:cNvSpPr>
            <a:spLocks noGrp="1"/>
          </p:cNvSpPr>
          <p:nvPr>
            <p:ph type="sldNum" sz="quarter" idx="12"/>
          </p:nvPr>
        </p:nvSpPr>
        <p:spPr>
          <a:xfrm>
            <a:off x="8610600" y="6356350"/>
            <a:ext cx="2743200" cy="365125"/>
          </a:xfrm>
        </p:spPr>
        <p:txBody>
          <a:bodyPr/>
          <a:lstStyle/>
          <a:p>
            <a:fld id="{C9D69B18-316A-457F-86C2-CFE4F951EE27}" type="slidenum">
              <a:rPr lang="en-IL" smtClean="0"/>
              <a:pPr/>
              <a:t>22</a:t>
            </a:fld>
            <a:endParaRPr lang="en-IL" dirty="0"/>
          </a:p>
        </p:txBody>
      </p:sp>
      <p:sp>
        <p:nvSpPr>
          <p:cNvPr id="5" name="Footer Placeholder 4">
            <a:extLst>
              <a:ext uri="{FF2B5EF4-FFF2-40B4-BE49-F238E27FC236}">
                <a16:creationId xmlns:a16="http://schemas.microsoft.com/office/drawing/2014/main" id="{CC126699-DF29-CF4C-ABA4-48D133DBF003}"/>
              </a:ext>
            </a:extLst>
          </p:cNvPr>
          <p:cNvSpPr>
            <a:spLocks noGrp="1"/>
          </p:cNvSpPr>
          <p:nvPr>
            <p:ph type="ftr" sz="quarter" idx="11"/>
          </p:nvPr>
        </p:nvSpPr>
        <p:spPr>
          <a:xfrm>
            <a:off x="4038600" y="6356350"/>
            <a:ext cx="4114800" cy="365125"/>
          </a:xfrm>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2108060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BDB0CD5D-B439-FC4B-9E0A-690E4D17C3CA}"/>
              </a:ext>
            </a:extLst>
          </p:cNvPr>
          <p:cNvSpPr>
            <a:spLocks noGrp="1" noChangeArrowheads="1"/>
          </p:cNvSpPr>
          <p:nvPr>
            <p:ph type="title"/>
          </p:nvPr>
        </p:nvSpPr>
        <p:spPr>
          <a:xfrm>
            <a:off x="838200" y="18255"/>
            <a:ext cx="10515600" cy="1325563"/>
          </a:xfrm>
        </p:spPr>
        <p:txBody>
          <a:bodyPr/>
          <a:lstStyle/>
          <a:p>
            <a:r>
              <a:rPr lang="en-US" altLang="en-US" dirty="0">
                <a:latin typeface="+mn-lt"/>
                <a:ea typeface="ＭＳ Ｐゴシック" panose="020B0600070205080204" pitchFamily="34" charset="-128"/>
              </a:rPr>
              <a:t>RDD – Key Observations</a:t>
            </a:r>
          </a:p>
        </p:txBody>
      </p:sp>
      <p:sp>
        <p:nvSpPr>
          <p:cNvPr id="31746" name="Content Placeholder 2">
            <a:extLst>
              <a:ext uri="{FF2B5EF4-FFF2-40B4-BE49-F238E27FC236}">
                <a16:creationId xmlns:a16="http://schemas.microsoft.com/office/drawing/2014/main" id="{AE8EE0B8-7846-F74E-BBB8-189D10428752}"/>
              </a:ext>
            </a:extLst>
          </p:cNvPr>
          <p:cNvSpPr>
            <a:spLocks noGrp="1" noChangeArrowheads="1"/>
          </p:cNvSpPr>
          <p:nvPr>
            <p:ph idx="1"/>
          </p:nvPr>
        </p:nvSpPr>
        <p:spPr>
          <a:xfrm>
            <a:off x="508000" y="1024467"/>
            <a:ext cx="10845800" cy="5152496"/>
          </a:xfrm>
        </p:spPr>
        <p:txBody>
          <a:bodyPr>
            <a:normAutofit/>
          </a:bodyPr>
          <a:lstStyle/>
          <a:p>
            <a:pPr>
              <a:buFontTx/>
              <a:buChar char="-"/>
            </a:pPr>
            <a:r>
              <a:rPr lang="en-US" altLang="en-US" sz="2200" dirty="0">
                <a:ea typeface="ＭＳ Ｐゴシック" panose="020B0600070205080204" pitchFamily="34" charset="-128"/>
              </a:rPr>
              <a:t>RDDs can be created from Hadoop </a:t>
            </a:r>
            <a:r>
              <a:rPr lang="en-US" altLang="en-US" sz="2200" dirty="0" err="1">
                <a:ea typeface="ＭＳ Ｐゴシック" panose="020B0600070205080204" pitchFamily="34" charset="-128"/>
              </a:rPr>
              <a:t>InputFormats</a:t>
            </a:r>
            <a:r>
              <a:rPr lang="en-US" altLang="en-US" sz="2200" dirty="0">
                <a:ea typeface="ＭＳ Ｐゴシック" panose="020B0600070205080204" pitchFamily="34" charset="-128"/>
              </a:rPr>
              <a:t> (such as HDFS files), “parallelize()” datasets, or by transforming other RDDs (you can stack RDDs)</a:t>
            </a:r>
          </a:p>
          <a:p>
            <a:pPr>
              <a:buFontTx/>
              <a:buChar char="-"/>
            </a:pPr>
            <a:r>
              <a:rPr lang="en-US" altLang="en-US" sz="2200" dirty="0">
                <a:ea typeface="ＭＳ Ｐゴシック" panose="020B0600070205080204" pitchFamily="34" charset="-128"/>
              </a:rPr>
              <a:t>Actions can be applied to RDDs; actions force calculations and return values</a:t>
            </a:r>
          </a:p>
          <a:p>
            <a:pPr>
              <a:buFontTx/>
              <a:buChar char="-"/>
            </a:pPr>
            <a:r>
              <a:rPr lang="en-US" altLang="en-US" sz="2200" dirty="0">
                <a:ea typeface="ＭＳ Ｐゴシック" panose="020B0600070205080204" pitchFamily="34" charset="-128"/>
              </a:rPr>
              <a:t>Lazy evaluation: Nothing computed until an action requires it</a:t>
            </a:r>
          </a:p>
          <a:p>
            <a:pPr>
              <a:buFontTx/>
              <a:buChar char="-"/>
            </a:pPr>
            <a:r>
              <a:rPr lang="en-US" altLang="en-US" sz="2200" dirty="0">
                <a:ea typeface="ＭＳ Ｐゴシック" panose="020B0600070205080204" pitchFamily="34" charset="-128"/>
              </a:rPr>
              <a:t>RDDs are best suited for applications that apply the same operation </a:t>
            </a:r>
            <a:r>
              <a:rPr lang="en-US" altLang="en-US" sz="2200" b="1" dirty="0">
                <a:ea typeface="ＭＳ Ｐゴシック" panose="020B0600070205080204" pitchFamily="34" charset="-128"/>
              </a:rPr>
              <a:t>to all elements</a:t>
            </a:r>
          </a:p>
        </p:txBody>
      </p:sp>
      <p:sp>
        <p:nvSpPr>
          <p:cNvPr id="7" name="Slide Number Placeholder 3">
            <a:extLst>
              <a:ext uri="{FF2B5EF4-FFF2-40B4-BE49-F238E27FC236}">
                <a16:creationId xmlns:a16="http://schemas.microsoft.com/office/drawing/2014/main" id="{C8061B27-2387-5648-AB6A-4471C5726BD3}"/>
              </a:ext>
            </a:extLst>
          </p:cNvPr>
          <p:cNvSpPr>
            <a:spLocks noGrp="1"/>
          </p:cNvSpPr>
          <p:nvPr>
            <p:ph type="sldNum" sz="quarter" idx="12"/>
          </p:nvPr>
        </p:nvSpPr>
        <p:spPr>
          <a:xfrm>
            <a:off x="8610600" y="6356350"/>
            <a:ext cx="2743200" cy="365125"/>
          </a:xfrm>
        </p:spPr>
        <p:txBody>
          <a:bodyPr/>
          <a:lstStyle/>
          <a:p>
            <a:fld id="{C9D69B18-316A-457F-86C2-CFE4F951EE27}" type="slidenum">
              <a:rPr lang="en-IL" smtClean="0"/>
              <a:pPr/>
              <a:t>23</a:t>
            </a:fld>
            <a:endParaRPr lang="en-IL" dirty="0"/>
          </a:p>
        </p:txBody>
      </p:sp>
      <p:sp>
        <p:nvSpPr>
          <p:cNvPr id="8" name="Footer Placeholder 4">
            <a:extLst>
              <a:ext uri="{FF2B5EF4-FFF2-40B4-BE49-F238E27FC236}">
                <a16:creationId xmlns:a16="http://schemas.microsoft.com/office/drawing/2014/main" id="{70F2825D-5F2F-604A-9172-199DD04A8BE5}"/>
              </a:ext>
            </a:extLst>
          </p:cNvPr>
          <p:cNvSpPr>
            <a:spLocks noGrp="1"/>
          </p:cNvSpPr>
          <p:nvPr>
            <p:ph type="ftr" sz="quarter" idx="11"/>
          </p:nvPr>
        </p:nvSpPr>
        <p:spPr>
          <a:xfrm>
            <a:off x="4038600" y="6289962"/>
            <a:ext cx="4114800" cy="365125"/>
          </a:xfrm>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1852517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Life Cycle of Spark Program</a:t>
            </a:r>
          </a:p>
          <a:p>
            <a:pPr>
              <a:lnSpc>
                <a:spcPct val="150000"/>
              </a:lnSpc>
            </a:pPr>
            <a:r>
              <a:rPr lang="en-US" sz="2400" dirty="0"/>
              <a:t>1. Create input RDDs from external data or parallelize a collection in your driver program.</a:t>
            </a:r>
          </a:p>
          <a:p>
            <a:pPr>
              <a:lnSpc>
                <a:spcPct val="150000"/>
              </a:lnSpc>
            </a:pPr>
            <a:r>
              <a:rPr lang="en-US" sz="2400" dirty="0"/>
              <a:t>2. Lazily transform them to define new RDDs using transformations like `filter()` or `map()`</a:t>
            </a:r>
          </a:p>
          <a:p>
            <a:pPr>
              <a:lnSpc>
                <a:spcPct val="150000"/>
              </a:lnSpc>
            </a:pPr>
            <a:r>
              <a:rPr lang="en-US" sz="2400" dirty="0"/>
              <a:t>3. Ask Spark to cache() any intermediate RDDs that will need to be reused.</a:t>
            </a:r>
          </a:p>
          <a:p>
            <a:pPr>
              <a:lnSpc>
                <a:spcPct val="150000"/>
              </a:lnSpc>
            </a:pPr>
            <a:r>
              <a:rPr lang="en-US" sz="2400" dirty="0"/>
              <a:t>4. Launch actions such as count() and collect() to kick off a parallel computation, which is then optimized and executed by Spark.</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621121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Spark </a:t>
            </a:r>
            <a:r>
              <a:rPr lang="en-US" sz="3000" b="1" dirty="0" err="1"/>
              <a:t>DataFrames</a:t>
            </a:r>
            <a:endParaRPr lang="en-US" sz="3000" b="1" dirty="0"/>
          </a:p>
          <a:p>
            <a:pPr>
              <a:lnSpc>
                <a:spcPct val="150000"/>
              </a:lnSpc>
            </a:pPr>
            <a:r>
              <a:rPr lang="en-US" sz="2400" dirty="0"/>
              <a:t>Enable wider audiences beyond “Big Data” engineers to leverage the power of distributed processing.</a:t>
            </a:r>
          </a:p>
          <a:p>
            <a:pPr marL="342900" indent="-342900">
              <a:lnSpc>
                <a:spcPct val="150000"/>
              </a:lnSpc>
              <a:buFontTx/>
              <a:buChar char="-"/>
            </a:pPr>
            <a:r>
              <a:rPr lang="en-US" sz="2400" dirty="0"/>
              <a:t>Inspired by data frames in R and Python (Pandas)</a:t>
            </a:r>
          </a:p>
          <a:p>
            <a:pPr marL="342900" indent="-342900">
              <a:lnSpc>
                <a:spcPct val="150000"/>
              </a:lnSpc>
              <a:buFontTx/>
              <a:buChar char="-"/>
            </a:pPr>
            <a:r>
              <a:rPr lang="en-US" sz="2400" dirty="0"/>
              <a:t>Designed from the ground-up to support modern big data and data science applications</a:t>
            </a:r>
          </a:p>
          <a:p>
            <a:pPr marL="342900" indent="-342900">
              <a:lnSpc>
                <a:spcPct val="150000"/>
              </a:lnSpc>
              <a:buFontTx/>
              <a:buChar char="-"/>
            </a:pPr>
            <a:r>
              <a:rPr lang="en-US" sz="2400" dirty="0"/>
              <a:t>Extension to the existing RDD API</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130788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err="1"/>
              <a:t>DataFrames</a:t>
            </a:r>
            <a:r>
              <a:rPr lang="en-US" sz="3000" b="1" dirty="0"/>
              <a:t> Are..</a:t>
            </a:r>
          </a:p>
          <a:p>
            <a:pPr marL="342900" indent="-342900">
              <a:lnSpc>
                <a:spcPct val="150000"/>
              </a:lnSpc>
              <a:buFontTx/>
              <a:buChar char="-"/>
            </a:pPr>
            <a:r>
              <a:rPr lang="en-US" sz="2400" dirty="0"/>
              <a:t>The preferred abstraction in Spark</a:t>
            </a:r>
          </a:p>
          <a:p>
            <a:pPr marL="342900" indent="-342900">
              <a:lnSpc>
                <a:spcPct val="150000"/>
              </a:lnSpc>
              <a:buFontTx/>
              <a:buChar char="-"/>
            </a:pPr>
            <a:r>
              <a:rPr lang="en-US" sz="2400" dirty="0"/>
              <a:t>Strongly typed collection of distributed elements </a:t>
            </a:r>
          </a:p>
          <a:p>
            <a:pPr marL="342900" indent="-342900">
              <a:lnSpc>
                <a:spcPct val="150000"/>
              </a:lnSpc>
              <a:buFontTx/>
              <a:buChar char="-"/>
            </a:pPr>
            <a:r>
              <a:rPr lang="en-US" sz="2400" dirty="0"/>
              <a:t>Built on Resilient Distributed Datasets (RDD)</a:t>
            </a:r>
          </a:p>
          <a:p>
            <a:pPr marL="342900" indent="-342900">
              <a:lnSpc>
                <a:spcPct val="150000"/>
              </a:lnSpc>
              <a:buFontTx/>
              <a:buChar char="-"/>
            </a:pPr>
            <a:r>
              <a:rPr lang="en-US" sz="2400" dirty="0"/>
              <a:t>Immutable once constructed</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434794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With </a:t>
            </a:r>
            <a:r>
              <a:rPr lang="en-US" sz="3000" b="1" dirty="0" err="1"/>
              <a:t>DataFrames</a:t>
            </a:r>
            <a:r>
              <a:rPr lang="en-US" sz="3000" b="1" dirty="0"/>
              <a:t> You Can..</a:t>
            </a:r>
            <a:endParaRPr lang="en-US" dirty="0"/>
          </a:p>
          <a:p>
            <a:pPr>
              <a:lnSpc>
                <a:spcPct val="150000"/>
              </a:lnSpc>
            </a:pPr>
            <a:r>
              <a:rPr lang="en-US" sz="2400" b="1" dirty="0"/>
              <a:t>With </a:t>
            </a:r>
            <a:r>
              <a:rPr lang="en-US" sz="2400" b="1" dirty="0" err="1"/>
              <a:t>DataFrames</a:t>
            </a:r>
            <a:r>
              <a:rPr lang="en-US" sz="2400" b="1" dirty="0"/>
              <a:t> you can:</a:t>
            </a:r>
          </a:p>
          <a:p>
            <a:pPr marL="342900" indent="-342900">
              <a:lnSpc>
                <a:spcPct val="150000"/>
              </a:lnSpc>
              <a:buFontTx/>
              <a:buChar char="-"/>
            </a:pPr>
            <a:r>
              <a:rPr lang="en-US" sz="2400" dirty="0"/>
              <a:t>Track lineage information to efficiently recompute lost data </a:t>
            </a:r>
          </a:p>
          <a:p>
            <a:pPr marL="342900" indent="-342900">
              <a:lnSpc>
                <a:spcPct val="150000"/>
              </a:lnSpc>
              <a:buFontTx/>
              <a:buChar char="-"/>
            </a:pPr>
            <a:r>
              <a:rPr lang="en-US" sz="2400" dirty="0"/>
              <a:t>Enable operations on collection of elements in parallel</a:t>
            </a:r>
          </a:p>
          <a:p>
            <a:pPr>
              <a:lnSpc>
                <a:spcPct val="150000"/>
              </a:lnSpc>
            </a:pPr>
            <a:r>
              <a:rPr lang="en-US" sz="2400" b="1" dirty="0"/>
              <a:t>construct </a:t>
            </a:r>
            <a:r>
              <a:rPr lang="en-US" sz="2400" b="1" dirty="0" err="1"/>
              <a:t>DataFrames</a:t>
            </a:r>
            <a:r>
              <a:rPr lang="en-US" sz="2400" b="1" dirty="0"/>
              <a:t>:</a:t>
            </a:r>
          </a:p>
          <a:p>
            <a:pPr marL="342900" indent="-342900">
              <a:lnSpc>
                <a:spcPct val="150000"/>
              </a:lnSpc>
              <a:buFontTx/>
              <a:buChar char="-"/>
            </a:pPr>
            <a:r>
              <a:rPr lang="en-US" sz="2400" dirty="0"/>
              <a:t>by parallelizing existing collections (e.g., Pandas </a:t>
            </a:r>
            <a:r>
              <a:rPr lang="en-US" sz="2400" dirty="0" err="1"/>
              <a:t>DataFrames</a:t>
            </a:r>
            <a:r>
              <a:rPr lang="en-US" sz="2400" dirty="0"/>
              <a:t>) </a:t>
            </a:r>
          </a:p>
          <a:p>
            <a:pPr marL="342900" indent="-342900">
              <a:lnSpc>
                <a:spcPct val="150000"/>
              </a:lnSpc>
              <a:buFontTx/>
              <a:buChar char="-"/>
            </a:pPr>
            <a:r>
              <a:rPr lang="en-US" sz="2400" dirty="0"/>
              <a:t>by transforming an existing </a:t>
            </a:r>
            <a:r>
              <a:rPr lang="en-US" sz="2400" dirty="0" err="1"/>
              <a:t>DataFrames</a:t>
            </a:r>
            <a:endParaRPr lang="en-US" sz="2400" dirty="0"/>
          </a:p>
          <a:p>
            <a:pPr marL="342900" indent="-342900">
              <a:lnSpc>
                <a:spcPct val="150000"/>
              </a:lnSpc>
              <a:buFontTx/>
              <a:buChar char="-"/>
            </a:pPr>
            <a:r>
              <a:rPr lang="en-US" sz="2400" dirty="0"/>
              <a:t>from files in HDFS or any other storage system (e.g., Parquet)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70487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6EA13407-AC90-B043-B69B-D17ADF0B9171}"/>
              </a:ext>
            </a:extLst>
          </p:cNvPr>
          <p:cNvSpPr>
            <a:spLocks noGrp="1" noChangeArrowheads="1"/>
          </p:cNvSpPr>
          <p:nvPr>
            <p:ph type="title"/>
          </p:nvPr>
        </p:nvSpPr>
        <p:spPr/>
        <p:txBody>
          <a:bodyPr/>
          <a:lstStyle/>
          <a:p>
            <a:r>
              <a:rPr lang="en-US" altLang="en-US" dirty="0">
                <a:latin typeface="+mn-lt"/>
                <a:ea typeface="ＭＳ Ｐゴシック" panose="020B0600070205080204" pitchFamily="34" charset="-128"/>
              </a:rPr>
              <a:t>Apache Spark: Libraries “on top” of core that come with it</a:t>
            </a:r>
          </a:p>
        </p:txBody>
      </p:sp>
      <p:sp>
        <p:nvSpPr>
          <p:cNvPr id="44034" name="Content Placeholder 2">
            <a:extLst>
              <a:ext uri="{FF2B5EF4-FFF2-40B4-BE49-F238E27FC236}">
                <a16:creationId xmlns:a16="http://schemas.microsoft.com/office/drawing/2014/main" id="{06C3805F-0275-824A-B340-449546A202C1}"/>
              </a:ext>
            </a:extLst>
          </p:cNvPr>
          <p:cNvSpPr>
            <a:spLocks noGrp="1" noChangeArrowheads="1"/>
          </p:cNvSpPr>
          <p:nvPr>
            <p:ph idx="1"/>
          </p:nvPr>
        </p:nvSpPr>
        <p:spPr>
          <a:xfrm>
            <a:off x="838200" y="1453092"/>
            <a:ext cx="10515600" cy="4351338"/>
          </a:xfrm>
        </p:spPr>
        <p:txBody>
          <a:bodyPr/>
          <a:lstStyle/>
          <a:p>
            <a:r>
              <a:rPr lang="en-US" altLang="en-US" dirty="0">
                <a:ea typeface="ＭＳ Ｐゴシック" panose="020B0600070205080204" pitchFamily="34" charset="-128"/>
              </a:rPr>
              <a:t>Spark SQL</a:t>
            </a:r>
          </a:p>
          <a:p>
            <a:r>
              <a:rPr lang="en-US" altLang="en-US" dirty="0">
                <a:ea typeface="ＭＳ Ｐゴシック" panose="020B0600070205080204" pitchFamily="34" charset="-128"/>
              </a:rPr>
              <a:t>Spark Streaming – stream processing of live </a:t>
            </a:r>
            <a:r>
              <a:rPr lang="en-US" altLang="en-US" dirty="0" err="1">
                <a:ea typeface="ＭＳ Ｐゴシック" panose="020B0600070205080204" pitchFamily="34" charset="-128"/>
              </a:rPr>
              <a:t>datastreams</a:t>
            </a:r>
            <a:endParaRPr lang="en-US" altLang="en-US" dirty="0">
              <a:ea typeface="ＭＳ Ｐゴシック" panose="020B0600070205080204" pitchFamily="34" charset="-128"/>
            </a:endParaRPr>
          </a:p>
          <a:p>
            <a:r>
              <a:rPr lang="en-US" altLang="en-US" dirty="0" err="1">
                <a:ea typeface="ＭＳ Ｐゴシック" panose="020B0600070205080204" pitchFamily="34" charset="-128"/>
              </a:rPr>
              <a:t>MLlib</a:t>
            </a:r>
            <a:r>
              <a:rPr lang="en-US" altLang="en-US" dirty="0">
                <a:ea typeface="ＭＳ Ｐゴシック" panose="020B0600070205080204" pitchFamily="34" charset="-128"/>
              </a:rPr>
              <a:t> - machine learning</a:t>
            </a:r>
          </a:p>
          <a:p>
            <a:r>
              <a:rPr lang="en-US" altLang="en-US" dirty="0" err="1">
                <a:ea typeface="ＭＳ Ｐゴシック" panose="020B0600070205080204" pitchFamily="34" charset="-128"/>
              </a:rPr>
              <a:t>GraphX</a:t>
            </a:r>
            <a:r>
              <a:rPr lang="en-US" altLang="en-US" dirty="0">
                <a:ea typeface="ＭＳ Ｐゴシック" panose="020B0600070205080204" pitchFamily="34" charset="-128"/>
              </a:rPr>
              <a:t> – graph manipulation</a:t>
            </a:r>
          </a:p>
          <a:p>
            <a:pPr lvl="1"/>
            <a:r>
              <a:rPr lang="en-US" altLang="en-US" dirty="0">
                <a:ea typeface="ＭＳ Ｐゴシック" panose="020B0600070205080204" pitchFamily="34" charset="-128"/>
              </a:rPr>
              <a:t>extends Spark RDD with Graph abstraction: a directed multigraph with properties attached to each vertex and edge.</a:t>
            </a:r>
          </a:p>
        </p:txBody>
      </p:sp>
      <p:sp>
        <p:nvSpPr>
          <p:cNvPr id="4" name="Slide Number Placeholder 3">
            <a:extLst>
              <a:ext uri="{FF2B5EF4-FFF2-40B4-BE49-F238E27FC236}">
                <a16:creationId xmlns:a16="http://schemas.microsoft.com/office/drawing/2014/main" id="{5531F504-87CF-224E-8505-745CB99FBA97}"/>
              </a:ext>
            </a:extLst>
          </p:cNvPr>
          <p:cNvSpPr>
            <a:spLocks noGrp="1"/>
          </p:cNvSpPr>
          <p:nvPr>
            <p:ph type="sldNum" sz="quarter" idx="12"/>
          </p:nvPr>
        </p:nvSpPr>
        <p:spPr>
          <a:xfrm>
            <a:off x="8610600" y="6356350"/>
            <a:ext cx="2743200" cy="365125"/>
          </a:xfrm>
        </p:spPr>
        <p:txBody>
          <a:bodyPr/>
          <a:lstStyle/>
          <a:p>
            <a:fld id="{C9D69B18-316A-457F-86C2-CFE4F951EE27}" type="slidenum">
              <a:rPr lang="en-IL" smtClean="0"/>
              <a:pPr/>
              <a:t>28</a:t>
            </a:fld>
            <a:endParaRPr lang="en-IL" dirty="0"/>
          </a:p>
        </p:txBody>
      </p:sp>
      <p:sp>
        <p:nvSpPr>
          <p:cNvPr id="5" name="Footer Placeholder 4">
            <a:extLst>
              <a:ext uri="{FF2B5EF4-FFF2-40B4-BE49-F238E27FC236}">
                <a16:creationId xmlns:a16="http://schemas.microsoft.com/office/drawing/2014/main" id="{3B5DF584-C79E-5B47-A638-0ECDD1F31B5A}"/>
              </a:ext>
            </a:extLst>
          </p:cNvPr>
          <p:cNvSpPr>
            <a:spLocks noGrp="1"/>
          </p:cNvSpPr>
          <p:nvPr>
            <p:ph type="ftr" sz="quarter" idx="11"/>
          </p:nvPr>
        </p:nvSpPr>
        <p:spPr>
          <a:xfrm>
            <a:off x="4038600" y="6356350"/>
            <a:ext cx="4114800" cy="365125"/>
          </a:xfrm>
        </p:spPr>
        <p:txBody>
          <a:bodyPr/>
          <a:lstStyle/>
          <a:p>
            <a:r>
              <a:rPr lang="en-US"/>
              <a:t>Or Peretz</a:t>
            </a:r>
            <a:endParaRPr lang="en-IL"/>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0AF4C245-71A3-EC46-9CD1-65A1340225E2}"/>
              </a:ext>
            </a:extLst>
          </p:cNvPr>
          <p:cNvSpPr>
            <a:spLocks noGrp="1" noChangeArrowheads="1"/>
          </p:cNvSpPr>
          <p:nvPr>
            <p:ph type="title"/>
          </p:nvPr>
        </p:nvSpPr>
        <p:spPr/>
        <p:txBody>
          <a:bodyPr/>
          <a:lstStyle/>
          <a:p>
            <a:r>
              <a:rPr lang="en-US" altLang="en-US" dirty="0">
                <a:latin typeface="+mn-lt"/>
                <a:ea typeface="ＭＳ Ｐゴシック" panose="020B0600070205080204" pitchFamily="34" charset="-128"/>
              </a:rPr>
              <a:t>Gray sort competition: Winner</a:t>
            </a:r>
          </a:p>
        </p:txBody>
      </p:sp>
      <p:graphicFrame>
        <p:nvGraphicFramePr>
          <p:cNvPr id="8" name="Content Placeholder 7">
            <a:extLst>
              <a:ext uri="{FF2B5EF4-FFF2-40B4-BE49-F238E27FC236}">
                <a16:creationId xmlns:a16="http://schemas.microsoft.com/office/drawing/2014/main" id="{82DD890D-E38E-F448-BC0F-D7EB605E8695}"/>
              </a:ext>
            </a:extLst>
          </p:cNvPr>
          <p:cNvGraphicFramePr>
            <a:graphicFrameLocks noGrp="1"/>
          </p:cNvGraphicFramePr>
          <p:nvPr>
            <p:ph idx="1"/>
          </p:nvPr>
        </p:nvGraphicFramePr>
        <p:xfrm>
          <a:off x="2514600" y="1747838"/>
          <a:ext cx="6781800" cy="4098930"/>
        </p:xfrm>
        <a:graphic>
          <a:graphicData uri="http://schemas.openxmlformats.org/drawingml/2006/table">
            <a:tbl>
              <a:tblPr firstRow="1" bandRow="1">
                <a:tableStyleId>{5C22544A-7EE6-4342-B048-85BDC9FD1C3A}</a:tableStyleId>
              </a:tblPr>
              <a:tblGrid>
                <a:gridCol w="1895987">
                  <a:extLst>
                    <a:ext uri="{9D8B030D-6E8A-4147-A177-3AD203B41FA5}">
                      <a16:colId xmlns:a16="http://schemas.microsoft.com/office/drawing/2014/main" val="20000"/>
                    </a:ext>
                  </a:extLst>
                </a:gridCol>
                <a:gridCol w="1934473">
                  <a:extLst>
                    <a:ext uri="{9D8B030D-6E8A-4147-A177-3AD203B41FA5}">
                      <a16:colId xmlns:a16="http://schemas.microsoft.com/office/drawing/2014/main" val="20001"/>
                    </a:ext>
                  </a:extLst>
                </a:gridCol>
                <a:gridCol w="2951340">
                  <a:extLst>
                    <a:ext uri="{9D8B030D-6E8A-4147-A177-3AD203B41FA5}">
                      <a16:colId xmlns:a16="http://schemas.microsoft.com/office/drawing/2014/main" val="20002"/>
                    </a:ext>
                  </a:extLst>
                </a:gridCol>
              </a:tblGrid>
              <a:tr h="624821">
                <a:tc>
                  <a:txBody>
                    <a:bodyPr/>
                    <a:lstStyle/>
                    <a:p>
                      <a:pPr algn="ctr"/>
                      <a:endParaRPr lang="en-US" sz="1800" dirty="0">
                        <a:latin typeface="Tahoma" panose="020B0604030504040204" pitchFamily="34" charset="0"/>
                      </a:endParaRPr>
                    </a:p>
                  </a:txBody>
                  <a:tcPr marL="38100" marR="38100" marT="38091" marB="38091" anchor="ctr"/>
                </a:tc>
                <a:tc>
                  <a:txBody>
                    <a:bodyPr/>
                    <a:lstStyle/>
                    <a:p>
                      <a:pPr algn="ctr"/>
                      <a:r>
                        <a:rPr lang="en-US" sz="1800" b="1" dirty="0">
                          <a:latin typeface="Tahoma" panose="020B0604030504040204" pitchFamily="34" charset="0"/>
                        </a:rPr>
                        <a:t>Hadoop MR</a:t>
                      </a:r>
                      <a:br>
                        <a:rPr lang="en-US" sz="1800" b="1" dirty="0">
                          <a:latin typeface="Tahoma" panose="020B0604030504040204" pitchFamily="34" charset="0"/>
                        </a:rPr>
                      </a:br>
                      <a:r>
                        <a:rPr lang="en-US" sz="1800" b="1" dirty="0">
                          <a:latin typeface="Tahoma" panose="020B0604030504040204" pitchFamily="34" charset="0"/>
                        </a:rPr>
                        <a:t>Record</a:t>
                      </a:r>
                      <a:endParaRPr lang="en-US" sz="1800" dirty="0">
                        <a:latin typeface="Tahoma" panose="020B0604030504040204" pitchFamily="34" charset="0"/>
                      </a:endParaRPr>
                    </a:p>
                  </a:txBody>
                  <a:tcPr marL="38100" marR="38100" marT="38091" marB="38091" anchor="ctr"/>
                </a:tc>
                <a:tc>
                  <a:txBody>
                    <a:bodyPr/>
                    <a:lstStyle/>
                    <a:p>
                      <a:pPr algn="ctr"/>
                      <a:r>
                        <a:rPr lang="en-US" sz="1800" b="1" dirty="0">
                          <a:latin typeface="Tahoma" panose="020B0604030504040204" pitchFamily="34" charset="0"/>
                        </a:rPr>
                        <a:t>Spark</a:t>
                      </a:r>
                      <a:br>
                        <a:rPr lang="en-US" sz="1800" b="1" dirty="0">
                          <a:latin typeface="Tahoma" panose="020B0604030504040204" pitchFamily="34" charset="0"/>
                        </a:rPr>
                      </a:br>
                      <a:r>
                        <a:rPr lang="en-US" sz="1800" b="1" dirty="0">
                          <a:latin typeface="Tahoma" panose="020B0604030504040204" pitchFamily="34" charset="0"/>
                        </a:rPr>
                        <a:t>Record (2014)</a:t>
                      </a:r>
                      <a:endParaRPr lang="en-US" sz="1800" dirty="0">
                        <a:latin typeface="Tahoma" panose="020B0604030504040204" pitchFamily="34" charset="0"/>
                      </a:endParaRPr>
                    </a:p>
                  </a:txBody>
                  <a:tcPr marL="38100" marR="38100" marT="38091" marB="38091" anchor="ctr"/>
                </a:tc>
                <a:extLst>
                  <a:ext uri="{0D108BD9-81ED-4DB2-BD59-A6C34878D82A}">
                    <a16:rowId xmlns:a16="http://schemas.microsoft.com/office/drawing/2014/main" val="10000"/>
                  </a:ext>
                </a:extLst>
              </a:tr>
              <a:tr h="370744">
                <a:tc>
                  <a:txBody>
                    <a:bodyPr/>
                    <a:lstStyle/>
                    <a:p>
                      <a:pPr algn="ctr"/>
                      <a:r>
                        <a:rPr lang="en-US" sz="1800" dirty="0">
                          <a:latin typeface="Tahoma" panose="020B0604030504040204" pitchFamily="34" charset="0"/>
                        </a:rPr>
                        <a:t>Data Size</a:t>
                      </a:r>
                    </a:p>
                  </a:txBody>
                  <a:tcPr marL="38100" marR="38100" marT="38091" marB="38091" anchor="ctr"/>
                </a:tc>
                <a:tc>
                  <a:txBody>
                    <a:bodyPr/>
                    <a:lstStyle/>
                    <a:p>
                      <a:pPr algn="ctr"/>
                      <a:r>
                        <a:rPr lang="en-US" sz="1800" dirty="0">
                          <a:latin typeface="Tahoma" panose="020B0604030504040204" pitchFamily="34" charset="0"/>
                        </a:rPr>
                        <a:t>102.5 TB</a:t>
                      </a:r>
                    </a:p>
                  </a:txBody>
                  <a:tcPr marL="38100" marR="38100" marT="38091" marB="38091" anchor="ctr"/>
                </a:tc>
                <a:tc>
                  <a:txBody>
                    <a:bodyPr/>
                    <a:lstStyle/>
                    <a:p>
                      <a:pPr algn="ctr"/>
                      <a:r>
                        <a:rPr lang="en-US" sz="1800" dirty="0">
                          <a:latin typeface="Tahoma" panose="020B0604030504040204" pitchFamily="34" charset="0"/>
                        </a:rPr>
                        <a:t>100 TB</a:t>
                      </a:r>
                    </a:p>
                  </a:txBody>
                  <a:tcPr marL="38100" marR="38100" marT="38091" marB="38091" anchor="ctr"/>
                </a:tc>
                <a:extLst>
                  <a:ext uri="{0D108BD9-81ED-4DB2-BD59-A6C34878D82A}">
                    <a16:rowId xmlns:a16="http://schemas.microsoft.com/office/drawing/2014/main" val="10001"/>
                  </a:ext>
                </a:extLst>
              </a:tr>
              <a:tr h="370744">
                <a:tc>
                  <a:txBody>
                    <a:bodyPr/>
                    <a:lstStyle/>
                    <a:p>
                      <a:pPr algn="ctr"/>
                      <a:r>
                        <a:rPr lang="en-US" sz="1800" dirty="0">
                          <a:latin typeface="Tahoma" panose="020B0604030504040204" pitchFamily="34" charset="0"/>
                        </a:rPr>
                        <a:t>Elapsed Time</a:t>
                      </a:r>
                    </a:p>
                  </a:txBody>
                  <a:tcPr marL="38100" marR="38100" marT="38091" marB="38091" anchor="ctr"/>
                </a:tc>
                <a:tc>
                  <a:txBody>
                    <a:bodyPr/>
                    <a:lstStyle/>
                    <a:p>
                      <a:pPr algn="ctr"/>
                      <a:r>
                        <a:rPr lang="en-US" sz="1800" dirty="0">
                          <a:latin typeface="Tahoma" panose="020B0604030504040204" pitchFamily="34" charset="0"/>
                        </a:rPr>
                        <a:t>72 mins</a:t>
                      </a:r>
                    </a:p>
                  </a:txBody>
                  <a:tcPr marL="38100" marR="38100" marT="38091" marB="38091" anchor="ctr"/>
                </a:tc>
                <a:tc>
                  <a:txBody>
                    <a:bodyPr/>
                    <a:lstStyle/>
                    <a:p>
                      <a:pPr algn="ctr"/>
                      <a:r>
                        <a:rPr lang="en-US" sz="1800" dirty="0">
                          <a:latin typeface="Tahoma" panose="020B0604030504040204" pitchFamily="34" charset="0"/>
                        </a:rPr>
                        <a:t>23 mins</a:t>
                      </a:r>
                    </a:p>
                  </a:txBody>
                  <a:tcPr marL="38100" marR="38100" marT="38091" marB="38091" anchor="ctr"/>
                </a:tc>
                <a:extLst>
                  <a:ext uri="{0D108BD9-81ED-4DB2-BD59-A6C34878D82A}">
                    <a16:rowId xmlns:a16="http://schemas.microsoft.com/office/drawing/2014/main" val="10002"/>
                  </a:ext>
                </a:extLst>
              </a:tr>
              <a:tr h="370744">
                <a:tc>
                  <a:txBody>
                    <a:bodyPr/>
                    <a:lstStyle/>
                    <a:p>
                      <a:pPr algn="ctr"/>
                      <a:r>
                        <a:rPr lang="en-US" sz="1800" dirty="0">
                          <a:latin typeface="Tahoma" panose="020B0604030504040204" pitchFamily="34" charset="0"/>
                        </a:rPr>
                        <a:t># Nodes</a:t>
                      </a:r>
                    </a:p>
                  </a:txBody>
                  <a:tcPr marL="38100" marR="38100" marT="38091" marB="38091" anchor="ctr"/>
                </a:tc>
                <a:tc>
                  <a:txBody>
                    <a:bodyPr/>
                    <a:lstStyle/>
                    <a:p>
                      <a:pPr algn="ctr"/>
                      <a:r>
                        <a:rPr lang="en-US" sz="1800" dirty="0">
                          <a:latin typeface="Tahoma" panose="020B0604030504040204" pitchFamily="34" charset="0"/>
                        </a:rPr>
                        <a:t>2100</a:t>
                      </a:r>
                    </a:p>
                  </a:txBody>
                  <a:tcPr marL="38100" marR="38100" marT="38091" marB="38091" anchor="ctr"/>
                </a:tc>
                <a:tc>
                  <a:txBody>
                    <a:bodyPr/>
                    <a:lstStyle/>
                    <a:p>
                      <a:pPr algn="ctr"/>
                      <a:r>
                        <a:rPr lang="en-US" sz="1800" dirty="0">
                          <a:latin typeface="Tahoma" panose="020B0604030504040204" pitchFamily="34" charset="0"/>
                        </a:rPr>
                        <a:t>206</a:t>
                      </a:r>
                    </a:p>
                  </a:txBody>
                  <a:tcPr marL="38100" marR="38100" marT="38091" marB="38091" anchor="ctr"/>
                </a:tc>
                <a:extLst>
                  <a:ext uri="{0D108BD9-81ED-4DB2-BD59-A6C34878D82A}">
                    <a16:rowId xmlns:a16="http://schemas.microsoft.com/office/drawing/2014/main" val="10003"/>
                  </a:ext>
                </a:extLst>
              </a:tr>
              <a:tr h="370744">
                <a:tc>
                  <a:txBody>
                    <a:bodyPr/>
                    <a:lstStyle/>
                    <a:p>
                      <a:pPr algn="ctr"/>
                      <a:r>
                        <a:rPr lang="en-US" sz="1800" dirty="0">
                          <a:latin typeface="Tahoma" panose="020B0604030504040204" pitchFamily="34" charset="0"/>
                        </a:rPr>
                        <a:t># Cores</a:t>
                      </a:r>
                    </a:p>
                  </a:txBody>
                  <a:tcPr marL="38100" marR="38100" marT="38091" marB="38091" anchor="ctr"/>
                </a:tc>
                <a:tc>
                  <a:txBody>
                    <a:bodyPr/>
                    <a:lstStyle/>
                    <a:p>
                      <a:pPr algn="ctr"/>
                      <a:r>
                        <a:rPr lang="en-US" sz="1800" dirty="0">
                          <a:latin typeface="Tahoma" panose="020B0604030504040204" pitchFamily="34" charset="0"/>
                        </a:rPr>
                        <a:t>50400 physical</a:t>
                      </a:r>
                    </a:p>
                  </a:txBody>
                  <a:tcPr marL="38100" marR="38100" marT="38091" marB="38091" anchor="ctr"/>
                </a:tc>
                <a:tc>
                  <a:txBody>
                    <a:bodyPr/>
                    <a:lstStyle/>
                    <a:p>
                      <a:pPr algn="ctr"/>
                      <a:r>
                        <a:rPr lang="en-US" sz="1800" dirty="0">
                          <a:latin typeface="Tahoma" panose="020B0604030504040204" pitchFamily="34" charset="0"/>
                        </a:rPr>
                        <a:t>6592 virtualized</a:t>
                      </a:r>
                    </a:p>
                  </a:txBody>
                  <a:tcPr marL="38100" marR="38100" marT="38091" marB="38091" anchor="ctr"/>
                </a:tc>
                <a:extLst>
                  <a:ext uri="{0D108BD9-81ED-4DB2-BD59-A6C34878D82A}">
                    <a16:rowId xmlns:a16="http://schemas.microsoft.com/office/drawing/2014/main" val="10004"/>
                  </a:ext>
                </a:extLst>
              </a:tr>
              <a:tr h="624821">
                <a:tc>
                  <a:txBody>
                    <a:bodyPr/>
                    <a:lstStyle/>
                    <a:p>
                      <a:pPr algn="ctr"/>
                      <a:r>
                        <a:rPr lang="en-US" sz="1800" dirty="0">
                          <a:latin typeface="Tahoma" panose="020B0604030504040204" pitchFamily="34" charset="0"/>
                        </a:rPr>
                        <a:t>Cluster disk throughput</a:t>
                      </a:r>
                    </a:p>
                  </a:txBody>
                  <a:tcPr marL="38100" marR="38100" marT="38091" marB="38091" anchor="ctr"/>
                </a:tc>
                <a:tc>
                  <a:txBody>
                    <a:bodyPr/>
                    <a:lstStyle/>
                    <a:p>
                      <a:pPr algn="ctr"/>
                      <a:r>
                        <a:rPr lang="en-US" sz="1800" dirty="0">
                          <a:latin typeface="Tahoma" panose="020B0604030504040204" pitchFamily="34" charset="0"/>
                        </a:rPr>
                        <a:t>3150 GB/s</a:t>
                      </a:r>
                      <a:br>
                        <a:rPr lang="en-US" sz="1800" dirty="0">
                          <a:latin typeface="Tahoma" panose="020B0604030504040204" pitchFamily="34" charset="0"/>
                        </a:rPr>
                      </a:br>
                      <a:r>
                        <a:rPr lang="en-US" sz="1800" dirty="0">
                          <a:latin typeface="Tahoma" panose="020B0604030504040204" pitchFamily="34" charset="0"/>
                        </a:rPr>
                        <a:t>(est.)</a:t>
                      </a:r>
                    </a:p>
                  </a:txBody>
                  <a:tcPr marL="38100" marR="38100" marT="38091" marB="38091" anchor="ctr"/>
                </a:tc>
                <a:tc>
                  <a:txBody>
                    <a:bodyPr/>
                    <a:lstStyle/>
                    <a:p>
                      <a:pPr algn="ctr"/>
                      <a:r>
                        <a:rPr lang="en-US" sz="1800" dirty="0">
                          <a:latin typeface="Tahoma" panose="020B0604030504040204" pitchFamily="34" charset="0"/>
                        </a:rPr>
                        <a:t>618 GB/s</a:t>
                      </a:r>
                    </a:p>
                  </a:txBody>
                  <a:tcPr marL="38100" marR="38100" marT="38091" marB="38091" anchor="ctr"/>
                </a:tc>
                <a:extLst>
                  <a:ext uri="{0D108BD9-81ED-4DB2-BD59-A6C34878D82A}">
                    <a16:rowId xmlns:a16="http://schemas.microsoft.com/office/drawing/2014/main" val="10005"/>
                  </a:ext>
                </a:extLst>
              </a:tr>
              <a:tr h="624821">
                <a:tc>
                  <a:txBody>
                    <a:bodyPr/>
                    <a:lstStyle/>
                    <a:p>
                      <a:pPr algn="ctr"/>
                      <a:r>
                        <a:rPr lang="en-US" sz="1800" dirty="0">
                          <a:latin typeface="Tahoma" panose="020B0604030504040204" pitchFamily="34" charset="0"/>
                        </a:rPr>
                        <a:t>Network</a:t>
                      </a:r>
                    </a:p>
                  </a:txBody>
                  <a:tcPr marL="38100" marR="38100" marT="38091" marB="38091" anchor="ctr"/>
                </a:tc>
                <a:tc>
                  <a:txBody>
                    <a:bodyPr/>
                    <a:lstStyle/>
                    <a:p>
                      <a:pPr algn="ctr"/>
                      <a:r>
                        <a:rPr lang="en-US" sz="1800" dirty="0">
                          <a:latin typeface="Tahoma" panose="020B0604030504040204" pitchFamily="34" charset="0"/>
                        </a:rPr>
                        <a:t>dedicated data center, 10Gbps</a:t>
                      </a:r>
                    </a:p>
                  </a:txBody>
                  <a:tcPr marL="38100" marR="38100" marT="38091" marB="38091" anchor="ctr"/>
                </a:tc>
                <a:tc>
                  <a:txBody>
                    <a:bodyPr/>
                    <a:lstStyle/>
                    <a:p>
                      <a:pPr algn="ctr"/>
                      <a:r>
                        <a:rPr lang="en-US" sz="1800" dirty="0">
                          <a:latin typeface="Tahoma" panose="020B0604030504040204" pitchFamily="34" charset="0"/>
                        </a:rPr>
                        <a:t>virtualized (EC2) 10Gbps network</a:t>
                      </a:r>
                    </a:p>
                  </a:txBody>
                  <a:tcPr marL="38100" marR="38100" marT="38091" marB="38091" anchor="ctr"/>
                </a:tc>
                <a:extLst>
                  <a:ext uri="{0D108BD9-81ED-4DB2-BD59-A6C34878D82A}">
                    <a16:rowId xmlns:a16="http://schemas.microsoft.com/office/drawing/2014/main" val="10006"/>
                  </a:ext>
                </a:extLst>
              </a:tr>
              <a:tr h="370744">
                <a:tc>
                  <a:txBody>
                    <a:bodyPr/>
                    <a:lstStyle/>
                    <a:p>
                      <a:pPr algn="ctr"/>
                      <a:r>
                        <a:rPr lang="en-US" sz="1800" b="1" dirty="0">
                          <a:latin typeface="Tahoma" panose="020B0604030504040204" pitchFamily="34" charset="0"/>
                        </a:rPr>
                        <a:t>Sort rate</a:t>
                      </a:r>
                      <a:endParaRPr lang="en-US" sz="1800" dirty="0">
                        <a:latin typeface="Tahoma" panose="020B0604030504040204" pitchFamily="34" charset="0"/>
                      </a:endParaRPr>
                    </a:p>
                  </a:txBody>
                  <a:tcPr marL="38100" marR="38100" marT="38091" marB="38091" anchor="ctr"/>
                </a:tc>
                <a:tc>
                  <a:txBody>
                    <a:bodyPr/>
                    <a:lstStyle/>
                    <a:p>
                      <a:pPr algn="ctr"/>
                      <a:r>
                        <a:rPr lang="en-US" sz="1800" b="1" dirty="0">
                          <a:latin typeface="Tahoma" panose="020B0604030504040204" pitchFamily="34" charset="0"/>
                        </a:rPr>
                        <a:t>1.42 TB/min</a:t>
                      </a:r>
                      <a:endParaRPr lang="en-US" sz="1800" dirty="0">
                        <a:latin typeface="Tahoma" panose="020B0604030504040204" pitchFamily="34" charset="0"/>
                      </a:endParaRPr>
                    </a:p>
                  </a:txBody>
                  <a:tcPr marL="38100" marR="38100" marT="38091" marB="38091" anchor="ctr"/>
                </a:tc>
                <a:tc>
                  <a:txBody>
                    <a:bodyPr/>
                    <a:lstStyle/>
                    <a:p>
                      <a:pPr algn="ctr"/>
                      <a:r>
                        <a:rPr lang="en-US" sz="1800" b="1" dirty="0">
                          <a:latin typeface="Tahoma" panose="020B0604030504040204" pitchFamily="34" charset="0"/>
                        </a:rPr>
                        <a:t>4.27 TB/min</a:t>
                      </a:r>
                      <a:endParaRPr lang="en-US" sz="1800" dirty="0">
                        <a:latin typeface="Tahoma" panose="020B0604030504040204" pitchFamily="34" charset="0"/>
                      </a:endParaRPr>
                    </a:p>
                  </a:txBody>
                  <a:tcPr marL="38100" marR="38100" marT="38091" marB="38091" anchor="ctr"/>
                </a:tc>
                <a:extLst>
                  <a:ext uri="{0D108BD9-81ED-4DB2-BD59-A6C34878D82A}">
                    <a16:rowId xmlns:a16="http://schemas.microsoft.com/office/drawing/2014/main" val="10007"/>
                  </a:ext>
                </a:extLst>
              </a:tr>
              <a:tr h="370744">
                <a:tc>
                  <a:txBody>
                    <a:bodyPr/>
                    <a:lstStyle/>
                    <a:p>
                      <a:pPr algn="ctr"/>
                      <a:r>
                        <a:rPr lang="en-US" sz="1800" b="1" dirty="0">
                          <a:latin typeface="Tahoma" panose="020B0604030504040204" pitchFamily="34" charset="0"/>
                        </a:rPr>
                        <a:t>Sort rate/node</a:t>
                      </a:r>
                      <a:endParaRPr lang="en-US" sz="1800" dirty="0">
                        <a:latin typeface="Tahoma" panose="020B0604030504040204" pitchFamily="34" charset="0"/>
                      </a:endParaRPr>
                    </a:p>
                  </a:txBody>
                  <a:tcPr marL="38100" marR="38100" marT="38091" marB="38091" anchor="ctr"/>
                </a:tc>
                <a:tc>
                  <a:txBody>
                    <a:bodyPr/>
                    <a:lstStyle/>
                    <a:p>
                      <a:pPr algn="ctr"/>
                      <a:r>
                        <a:rPr lang="en-US" sz="1800" b="1" dirty="0">
                          <a:latin typeface="Tahoma" panose="020B0604030504040204" pitchFamily="34" charset="0"/>
                        </a:rPr>
                        <a:t>0.67 GB/min</a:t>
                      </a:r>
                      <a:endParaRPr lang="en-US" sz="1800" dirty="0">
                        <a:latin typeface="Tahoma" panose="020B0604030504040204" pitchFamily="34" charset="0"/>
                      </a:endParaRPr>
                    </a:p>
                  </a:txBody>
                  <a:tcPr marL="38100" marR="38100" marT="38091" marB="38091" anchor="ctr"/>
                </a:tc>
                <a:tc>
                  <a:txBody>
                    <a:bodyPr/>
                    <a:lstStyle/>
                    <a:p>
                      <a:pPr algn="ctr"/>
                      <a:r>
                        <a:rPr lang="en-US" sz="1800" b="1" dirty="0">
                          <a:latin typeface="Tahoma" panose="020B0604030504040204" pitchFamily="34" charset="0"/>
                        </a:rPr>
                        <a:t>20.7 GB/min</a:t>
                      </a:r>
                      <a:endParaRPr lang="en-US" sz="1800" dirty="0">
                        <a:latin typeface="Tahoma" panose="020B0604030504040204" pitchFamily="34" charset="0"/>
                      </a:endParaRPr>
                    </a:p>
                  </a:txBody>
                  <a:tcPr marL="38100" marR="38100" marT="38091" marB="38091" anchor="ctr"/>
                </a:tc>
                <a:extLst>
                  <a:ext uri="{0D108BD9-81ED-4DB2-BD59-A6C34878D82A}">
                    <a16:rowId xmlns:a16="http://schemas.microsoft.com/office/drawing/2014/main" val="10008"/>
                  </a:ext>
                </a:extLst>
              </a:tr>
            </a:tbl>
          </a:graphicData>
        </a:graphic>
      </p:graphicFrame>
      <p:sp>
        <p:nvSpPr>
          <p:cNvPr id="45104" name="TextBox 8">
            <a:extLst>
              <a:ext uri="{FF2B5EF4-FFF2-40B4-BE49-F238E27FC236}">
                <a16:creationId xmlns:a16="http://schemas.microsoft.com/office/drawing/2014/main" id="{33BE4CC6-D97D-044C-A1D3-B0EB5F7FE8E1}"/>
              </a:ext>
            </a:extLst>
          </p:cNvPr>
          <p:cNvSpPr txBox="1">
            <a:spLocks noChangeArrowheads="1"/>
          </p:cNvSpPr>
          <p:nvPr/>
        </p:nvSpPr>
        <p:spPr bwMode="auto">
          <a:xfrm>
            <a:off x="1981200" y="5824538"/>
            <a:ext cx="75543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60000"/>
              <a:buBlip>
                <a:blip r:embed="rId2"/>
              </a:buBlip>
              <a:defRPr sz="3200">
                <a:solidFill>
                  <a:srgbClr val="663300"/>
                </a:solidFill>
                <a:latin typeface="Tahoma" panose="020B0604030504040204" pitchFamily="34" charset="0"/>
                <a:ea typeface="ＭＳ Ｐゴシック" panose="020B0600070205080204" pitchFamily="34" charset="-128"/>
              </a:defRPr>
            </a:lvl1pPr>
            <a:lvl2pPr marL="742950" indent="-285750">
              <a:spcBef>
                <a:spcPct val="20000"/>
              </a:spcBef>
              <a:buSzPct val="60000"/>
              <a:buBlip>
                <a:blip r:embed="rId3"/>
              </a:buBlip>
              <a:defRPr sz="2800">
                <a:solidFill>
                  <a:srgbClr val="663300"/>
                </a:solidFill>
                <a:latin typeface="Tahoma" panose="020B0604030504040204" pitchFamily="34" charset="0"/>
                <a:ea typeface="ＭＳ Ｐゴシック" panose="020B0600070205080204" pitchFamily="34" charset="-128"/>
              </a:defRPr>
            </a:lvl2pPr>
            <a:lvl3pPr marL="1143000" indent="-228600">
              <a:spcBef>
                <a:spcPct val="20000"/>
              </a:spcBef>
              <a:buSzPct val="70000"/>
              <a:buBlip>
                <a:blip r:embed="rId4"/>
              </a:buBlip>
              <a:defRPr sz="2400">
                <a:solidFill>
                  <a:srgbClr val="663300"/>
                </a:solidFill>
                <a:latin typeface="Tahoma" panose="020B0604030504040204" pitchFamily="34" charset="0"/>
                <a:ea typeface="ＭＳ Ｐゴシック" panose="020B0600070205080204" pitchFamily="34" charset="-128"/>
              </a:defRPr>
            </a:lvl3pPr>
            <a:lvl4pPr marL="1600200" indent="-228600">
              <a:spcBef>
                <a:spcPct val="20000"/>
              </a:spcBef>
              <a:buChar char="–"/>
              <a:defRPr sz="2000">
                <a:solidFill>
                  <a:srgbClr val="663300"/>
                </a:solidFill>
                <a:latin typeface="Tahoma" panose="020B0604030504040204" pitchFamily="34" charset="0"/>
                <a:ea typeface="ＭＳ Ｐゴシック" panose="020B0600070205080204" pitchFamily="34" charset="-128"/>
              </a:defRPr>
            </a:lvl4pPr>
            <a:lvl5pPr marL="2057400" indent="-228600">
              <a:spcBef>
                <a:spcPct val="20000"/>
              </a:spcBef>
              <a:buChar char="»"/>
              <a:defRPr sz="2000">
                <a:solidFill>
                  <a:srgbClr val="663300"/>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rgbClr val="663300"/>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rgbClr val="663300"/>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rgbClr val="663300"/>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rgbClr val="663300"/>
                </a:solidFill>
                <a:latin typeface="Tahoma" panose="020B0604030504040204" pitchFamily="34" charset="0"/>
                <a:ea typeface="ＭＳ Ｐゴシック" panose="020B0600070205080204" pitchFamily="34" charset="-128"/>
              </a:defRPr>
            </a:lvl9pPr>
          </a:lstStyle>
          <a:p>
            <a:pPr>
              <a:spcBef>
                <a:spcPct val="0"/>
              </a:spcBef>
              <a:buSzTx/>
              <a:buFontTx/>
              <a:buNone/>
            </a:pPr>
            <a:r>
              <a:rPr lang="en-US" altLang="en-US" sz="1800">
                <a:solidFill>
                  <a:schemeClr val="tx1"/>
                </a:solidFill>
                <a:latin typeface="Arial" panose="020B0604020202020204" pitchFamily="34" charset="0"/>
              </a:rPr>
              <a:t>Sort benchmark, Daytona Gray: sort of 100 TB of data (1 trillion records)</a:t>
            </a:r>
          </a:p>
        </p:txBody>
      </p:sp>
      <p:sp>
        <p:nvSpPr>
          <p:cNvPr id="5" name="Slide Number Placeholder 3">
            <a:extLst>
              <a:ext uri="{FF2B5EF4-FFF2-40B4-BE49-F238E27FC236}">
                <a16:creationId xmlns:a16="http://schemas.microsoft.com/office/drawing/2014/main" id="{24B9CA92-D728-2F47-B78C-977712408C43}"/>
              </a:ext>
            </a:extLst>
          </p:cNvPr>
          <p:cNvSpPr>
            <a:spLocks noGrp="1"/>
          </p:cNvSpPr>
          <p:nvPr>
            <p:ph type="sldNum" sz="quarter" idx="12"/>
          </p:nvPr>
        </p:nvSpPr>
        <p:spPr>
          <a:xfrm>
            <a:off x="8610600" y="6356350"/>
            <a:ext cx="2743200" cy="365125"/>
          </a:xfrm>
        </p:spPr>
        <p:txBody>
          <a:bodyPr/>
          <a:lstStyle/>
          <a:p>
            <a:fld id="{C9D69B18-316A-457F-86C2-CFE4F951EE27}" type="slidenum">
              <a:rPr lang="en-IL" smtClean="0"/>
              <a:pPr/>
              <a:t>29</a:t>
            </a:fld>
            <a:endParaRPr lang="en-IL" dirty="0"/>
          </a:p>
        </p:txBody>
      </p:sp>
      <p:sp>
        <p:nvSpPr>
          <p:cNvPr id="6" name="Footer Placeholder 4">
            <a:extLst>
              <a:ext uri="{FF2B5EF4-FFF2-40B4-BE49-F238E27FC236}">
                <a16:creationId xmlns:a16="http://schemas.microsoft.com/office/drawing/2014/main" id="{4B9F0688-AE20-4D4E-8DB3-4ACB6CC466D3}"/>
              </a:ext>
            </a:extLst>
          </p:cNvPr>
          <p:cNvSpPr>
            <a:spLocks noGrp="1"/>
          </p:cNvSpPr>
          <p:nvPr>
            <p:ph type="ftr" sz="quarter" idx="11"/>
          </p:nvPr>
        </p:nvSpPr>
        <p:spPr>
          <a:xfrm>
            <a:off x="4038600" y="6356350"/>
            <a:ext cx="4114800" cy="365125"/>
          </a:xfrm>
        </p:spPr>
        <p:txBody>
          <a:bodyPr/>
          <a:lstStyle/>
          <a:p>
            <a:r>
              <a:rPr lang="en-US"/>
              <a:t>Or Peretz</a:t>
            </a:r>
            <a:endParaRPr lang="en-IL"/>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14638</TotalTime>
  <Words>1446</Words>
  <Application>Microsoft Macintosh PowerPoint</Application>
  <PresentationFormat>מסך רחב</PresentationFormat>
  <Paragraphs>263</Paragraphs>
  <Slides>29</Slides>
  <Notes>20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29</vt:i4>
      </vt:variant>
    </vt:vector>
  </HeadingPairs>
  <TitlesOfParts>
    <vt:vector size="35" baseType="lpstr">
      <vt:lpstr>ＭＳ Ｐゴシック</vt:lpstr>
      <vt:lpstr>Arial</vt:lpstr>
      <vt:lpstr>Calibri</vt:lpstr>
      <vt:lpstr>Calibri Light</vt:lpstr>
      <vt:lpstr>Tahoma</vt:lpstr>
      <vt:lpstr>Office Theme</vt:lpstr>
      <vt:lpstr>Cloud Based Data Engineering</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Sample Spark transformations</vt:lpstr>
      <vt:lpstr>מצגת של PowerPoint‏</vt:lpstr>
      <vt:lpstr>Sample Spark Actions</vt:lpstr>
      <vt:lpstr>מצגת של PowerPoint‏</vt:lpstr>
      <vt:lpstr>Spark – RDD Persistence</vt:lpstr>
      <vt:lpstr>RDD – Key Observations</vt:lpstr>
      <vt:lpstr>מצגת של PowerPoint‏</vt:lpstr>
      <vt:lpstr>מצגת של PowerPoint‏</vt:lpstr>
      <vt:lpstr>מצגת של PowerPoint‏</vt:lpstr>
      <vt:lpstr>מצגת של PowerPoint‏</vt:lpstr>
      <vt:lpstr>Apache Spark: Libraries “on top” of core that come with it</vt:lpstr>
      <vt:lpstr>Gray sort competition: Winner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dc:title>
  <dc:creator>Lev</dc:creator>
  <cp:lastModifiedBy>or perets</cp:lastModifiedBy>
  <cp:revision>283</cp:revision>
  <dcterms:created xsi:type="dcterms:W3CDTF">2021-02-09T13:47:38Z</dcterms:created>
  <dcterms:modified xsi:type="dcterms:W3CDTF">2025-06-11T08:30:29Z</dcterms:modified>
</cp:coreProperties>
</file>