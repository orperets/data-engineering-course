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7" r:id="rId2"/>
    <p:sldId id="399" r:id="rId3"/>
    <p:sldId id="400" r:id="rId4"/>
    <p:sldId id="404" r:id="rId5"/>
    <p:sldId id="401" r:id="rId6"/>
    <p:sldId id="402" r:id="rId7"/>
    <p:sldId id="408" r:id="rId8"/>
    <p:sldId id="403" r:id="rId9"/>
    <p:sldId id="406" r:id="rId10"/>
    <p:sldId id="316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405" r:id="rId21"/>
    <p:sldId id="414" r:id="rId22"/>
    <p:sldId id="423" r:id="rId23"/>
    <p:sldId id="262" r:id="rId24"/>
    <p:sldId id="415" r:id="rId25"/>
    <p:sldId id="264" r:id="rId26"/>
    <p:sldId id="416" r:id="rId27"/>
    <p:sldId id="407" r:id="rId28"/>
    <p:sldId id="417" r:id="rId29"/>
    <p:sldId id="418" r:id="rId30"/>
    <p:sldId id="419" r:id="rId31"/>
    <p:sldId id="420" r:id="rId32"/>
    <p:sldId id="421" r:id="rId33"/>
    <p:sldId id="261" r:id="rId34"/>
    <p:sldId id="422" r:id="rId35"/>
    <p:sldId id="409" r:id="rId36"/>
    <p:sldId id="410" r:id="rId37"/>
    <p:sldId id="412" r:id="rId38"/>
    <p:sldId id="413" r:id="rId39"/>
    <p:sldId id="411" r:id="rId40"/>
    <p:sldId id="386" r:id="rId41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r perets" initials="op" lastIdx="1" clrIdx="0">
    <p:extLst>
      <p:ext uri="{19B8F6BF-5375-455C-9EA6-DF929625EA0E}">
        <p15:presenceInfo xmlns:p15="http://schemas.microsoft.com/office/powerpoint/2012/main" userId="S::or.perets@shenkar.ac.il::4c381f39-b6b6-47e0-8059-04255fb61a2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81" autoAdjust="0"/>
    <p:restoredTop sz="94719"/>
  </p:normalViewPr>
  <p:slideViewPr>
    <p:cSldViewPr snapToGrid="0">
      <p:cViewPr varScale="1">
        <p:scale>
          <a:sx n="152" d="100"/>
          <a:sy n="152" d="100"/>
        </p:scale>
        <p:origin x="1480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63F32-7DA3-4013-BE26-9191402E55C8}" type="datetimeFigureOut">
              <a:rPr lang="en-IL" smtClean="0"/>
              <a:t>15/03/2022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8866D-0BA4-4B03-8FA8-A96EE1FB39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21153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35748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72559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77197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97686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92156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07217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91361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AA48994E-714E-B546-A8DC-3A248B3C44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5E7F7816-B2F8-8C47-A155-C835003187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he-IL" altLang="en-IL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86018627-5C09-B242-ABB0-77FC4444F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FBA8EF1-A6AE-E84C-B997-60C78C7E46F5}" type="slidenum">
              <a:rPr lang="he-IL" altLang="en-IL" sz="1200"/>
              <a:pPr/>
              <a:t>11</a:t>
            </a:fld>
            <a:endParaRPr lang="he-IL" altLang="en-IL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20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555509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1F8720FB-F995-8849-AA46-742A1FC1B4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B3A1FD50-4223-6248-81B3-2A4857E083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IL" altLang="en-IL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FF276D3C-3210-5546-B56A-ADAC5D2C73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576A496-4E2A-204A-818B-232FAEA69150}" type="slidenum">
              <a:rPr lang="en-US" altLang="en-IL" sz="1200"/>
              <a:pPr eaLnBrk="1" hangingPunct="1"/>
              <a:t>34</a:t>
            </a:fld>
            <a:endParaRPr lang="en-US" altLang="en-IL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35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62089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53BB-FAA3-46ED-8326-AD7EE26F7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615E8-3C95-4096-8039-02C1046EA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E2517-A02E-4027-BA2C-117CE149D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BBAB-CED2-DA40-BE59-0E79F58A5504}" type="datetime8">
              <a:rPr lang="en-US" smtClean="0"/>
              <a:t>3/15/22 11:31 AM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5C8B8-C77F-4E96-831A-FC160B4A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E7471-5067-4CA0-9D60-D86D047E9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B62643F8-DFCD-4B5F-9519-933435FA18FB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20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7D3F8-87F0-4DF5-8F98-66DFD99EE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3474"/>
            <a:ext cx="10515600" cy="5593489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CDE1D59-793A-43B8-B383-259A90AD52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0B170470-3D23-B644-B482-4D8CBFC8110F}" type="datetime8">
              <a:rPr lang="en-US" smtClean="0"/>
              <a:t>3/15/22 11:31 AM</a:t>
            </a:fld>
            <a:endParaRPr lang="en-IL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A69F713-2159-4167-B614-5042E8DE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F40A595-FC21-4942-AC1C-EC8D0EE8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1800"/>
            </a:lvl1pPr>
          </a:lstStyle>
          <a:p>
            <a:fld id="{C9D69B18-316A-457F-86C2-CFE4F951EE27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9576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>
        <p:tmplLst>
          <p:tmpl lvl="1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6DB71-F16A-411E-A1F0-229842FF4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EC0A3-903B-4C81-96AA-FA5FE787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1F274-0FDC-4FF1-AD1D-E33CBC0B8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989CB-E6BF-D542-968A-2B25D80B66A6}" type="datetime8">
              <a:rPr lang="en-US" smtClean="0"/>
              <a:t>3/15/22 11:31 AM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17186-B90F-456C-A210-0CD662FC9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CF8B6-F957-4C26-89F8-62EE0895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9782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BCB62-2976-4F72-B0D1-D7D5CC8DF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70335-BA28-442F-B929-834D11AFBB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D0261-93E1-42EC-B45C-7A9C69E6D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1B8B7-4BAF-485E-8E14-0A3937A2E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41870-ADDF-324B-B513-82DABBECCCE8}" type="datetime8">
              <a:rPr lang="en-US" smtClean="0"/>
              <a:t>3/15/22 11:31 AM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101D7-C282-4291-A047-A469118DB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3ACF7-1919-4005-8D18-C065FE37B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58286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5D40-5A05-454B-BF8D-2ADD22626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DEE7E-1856-4D6C-95E1-B25F3B5CF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7349D-B192-40B0-A682-C3914DCE5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86D532-BD26-45AE-91E7-2BCEE71DE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39C4E2-6DDF-4BCE-9E96-2FEA03A91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71B11A-C4F8-4F85-A0D5-34A703DD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2158C-6E12-1D44-B4D7-2125C61D2F9D}" type="datetime8">
              <a:rPr lang="en-US" smtClean="0"/>
              <a:t>3/15/22 11:31 AM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8E969-DC51-428E-A40E-10E23784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F4C0B3-7D21-431B-8C06-6364026C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0004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F8A9-2FB1-463C-A055-7D8DEF623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834B02-6F21-4BD3-9253-024380CF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4FA4-1D13-1D4E-BA3A-C1CA63211AD7}" type="datetime8">
              <a:rPr lang="en-US" smtClean="0"/>
              <a:t>3/15/22 11:31 AM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109D8-60DE-4EAE-9FA4-4743AF1B5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833B9-F0EF-4F2D-B1F5-59A0518AC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47048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F94F9A-B863-4CA1-A3D9-2612454CB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7AB41-03C1-CA4A-A249-8DC5D4F104B6}" type="datetime8">
              <a:rPr lang="en-US" smtClean="0"/>
              <a:t>3/15/22 11:31 AM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856BA7-0F82-4B54-82BF-04EC0B08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A46C4-110C-4F16-A55B-2CA103D5B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0415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F8D4-37EB-4208-8EBF-A36DA15D5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9644F-4231-4135-985A-E35BB7DF7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C084D-8409-4F23-A4F3-946B11E92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7D6E5-0ADE-47F1-BF75-064C0FC0B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C5DB1-9E52-FF4D-8214-C4C4E89F04F0}" type="datetime8">
              <a:rPr lang="en-US" smtClean="0"/>
              <a:t>3/15/22 11:31 AM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95BE5-8107-4C77-A0C7-320528011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29687-8674-4B44-BCA8-CA55A7F66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5512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DDB8B-F360-41C1-9E59-41BC175C2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9284B-956D-4A04-AA87-11920CE3A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A7EC3-09A8-4251-B03C-6044FAB1E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06FFE-DADD-4559-BD8F-E4090E851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418E6-A912-8148-A8AF-1A0E01198428}" type="datetime8">
              <a:rPr lang="en-US" smtClean="0"/>
              <a:t>3/15/22 11:31 AM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A7321-97EB-4815-A837-E4FF27362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3595F-1D61-441A-9A46-FC01E160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9192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D421-C27E-4305-9BA4-ABDBC270E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9482A-BFEA-4A85-973C-0414EA508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CE6C9-3B2C-4E59-B407-9DEAA5194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E05F6-34DC-114E-AA5F-DB5D54DED974}" type="datetime8">
              <a:rPr lang="en-US" smtClean="0"/>
              <a:t>3/15/22 11:31 AM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B3FA1-84D5-4374-B090-8EED7F0EE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37D06-0BF6-4041-954F-C1D4B14F0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06217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0116A-EF9A-40BC-BE26-84DF8D33F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EB09AB-DE01-41A1-8BED-34FC1B482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0832B-4F28-4DE3-AF6D-37975A09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19B94-339D-9C46-B02B-477E31F40EF6}" type="datetime8">
              <a:rPr lang="en-US" smtClean="0"/>
              <a:t>3/15/22 11:31 AM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064A4-73D9-4140-BB4B-47A62F8C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1DA01-1032-4191-848B-F8A71F65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74113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3875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5FF43-15EB-48BF-9377-EC78CBDCC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A9A9A-96AC-434D-8596-80E771997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151C-500A-4CAF-8B1B-C429EEE2C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E35A6-F6A8-F041-8DE0-B98CCFED72C5}" type="datetime8">
              <a:rPr lang="en-US" smtClean="0"/>
              <a:t>3/15/22 11:31 AM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936C9-3550-4463-A834-A8233EB9F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70A5C-A380-420D-86FA-95B4F828D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0447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F07A-A6B2-4AA3-9FB3-FF93725B9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666" y="1202003"/>
            <a:ext cx="11768667" cy="2602970"/>
          </a:xfrm>
        </p:spPr>
        <p:txBody>
          <a:bodyPr>
            <a:normAutofit/>
          </a:bodyPr>
          <a:lstStyle/>
          <a:p>
            <a:r>
              <a:rPr lang="en-IL" sz="7200" u="sng" dirty="0"/>
              <a:t>Cloud Data Engineering</a:t>
            </a:r>
            <a:endParaRPr lang="en-IL" sz="7200" u="sng" dirty="0"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4BFDD-2D28-4F88-A89F-35EB6574C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804973"/>
            <a:ext cx="9144000" cy="1655762"/>
          </a:xfrm>
        </p:spPr>
        <p:txBody>
          <a:bodyPr>
            <a:normAutofit/>
          </a:bodyPr>
          <a:lstStyle/>
          <a:p>
            <a: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 dirty="0"/>
              <a:t>Graph Theory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7C810-8880-4D05-860C-4E520C91B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135C-5A11-DB47-A5FC-BE38DE9D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308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Graph Theory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ym typeface="Wingdings" pitchFamily="2" charset="2"/>
                  </a:rPr>
                  <a:t>A graph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𝑮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=(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𝑽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𝑬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sz="2400" b="1" dirty="0">
                    <a:sym typeface="Wingdings" pitchFamily="2" charset="2"/>
                  </a:rPr>
                  <a:t> </a:t>
                </a:r>
                <a:r>
                  <a:rPr lang="en-US" sz="2400" dirty="0">
                    <a:sym typeface="Wingdings" pitchFamily="2" charset="2"/>
                  </a:rPr>
                  <a:t>consists of two finite sets:</a:t>
                </a: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en-US" sz="2400" b="1" dirty="0">
                    <a:sym typeface="Wingdings" pitchFamily="2" charset="2"/>
                  </a:rPr>
                  <a:t>V</a:t>
                </a:r>
                <a:r>
                  <a:rPr lang="en-US" sz="2400" dirty="0">
                    <a:sym typeface="Wingdings" pitchFamily="2" charset="2"/>
                  </a:rPr>
                  <a:t> – the set of vertices</a:t>
                </a: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en-US" sz="2400" b="1" dirty="0">
                    <a:sym typeface="Wingdings" pitchFamily="2" charset="2"/>
                  </a:rPr>
                  <a:t>E</a:t>
                </a:r>
                <a:r>
                  <a:rPr lang="en-US" sz="2400" dirty="0">
                    <a:sym typeface="Wingdings" pitchFamily="2" charset="2"/>
                  </a:rPr>
                  <a:t> – the set of edges</a:t>
                </a:r>
              </a:p>
              <a:p>
                <a:pPr>
                  <a:lnSpc>
                    <a:spcPct val="150000"/>
                  </a:lnSpc>
                </a:pPr>
                <a:br>
                  <a:rPr lang="en-US" sz="2400" dirty="0"/>
                </a:br>
                <a:r>
                  <a:rPr lang="en-US" sz="2400" dirty="0"/>
                  <a:t>For example, in the figure below: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1,2,3,4,5,6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1,5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…}</m:t>
                      </m:r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2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6" name="Picture 2" descr="Graph theory - Wikipedia">
            <a:extLst>
              <a:ext uri="{FF2B5EF4-FFF2-40B4-BE49-F238E27FC236}">
                <a16:creationId xmlns:a16="http://schemas.microsoft.com/office/drawing/2014/main" id="{23DD0A70-2DD9-F04D-BF59-DC1DEB3E1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764" y="1815925"/>
            <a:ext cx="3834870" cy="253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9143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Definitions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400" b="1" dirty="0">
                    <a:sym typeface="Wingdings" pitchFamily="2" charset="2"/>
                  </a:rPr>
                  <a:t>Directed Graph</a:t>
                </a:r>
                <a:r>
                  <a:rPr lang="en-US" sz="2400" dirty="0">
                    <a:sym typeface="Wingdings" pitchFamily="2" charset="2"/>
                  </a:rPr>
                  <a:t>: each edge has a direction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400" b="1" dirty="0">
                    <a:sym typeface="Wingdings" pitchFamily="2" charset="2"/>
                  </a:rPr>
                  <a:t>Undirected Graph</a:t>
                </a:r>
                <a:r>
                  <a:rPr lang="en-US" sz="2400" dirty="0">
                    <a:sym typeface="Wingdings" pitchFamily="2" charset="2"/>
                  </a:rPr>
                  <a:t>: each edge is bidirectional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400" b="1" dirty="0">
                    <a:sym typeface="Wingdings" pitchFamily="2" charset="2"/>
                  </a:rPr>
                  <a:t>Vertex Degree</a:t>
                </a:r>
                <a:r>
                  <a:rPr lang="en-US" sz="2400" dirty="0">
                    <a:sym typeface="Wingdings" pitchFamily="2" charset="2"/>
                  </a:rPr>
                  <a:t>: number of edges connected to the vertex, marked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𝑑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𝑣</m:t>
                        </m:r>
                      </m:e>
                    </m:d>
                  </m:oMath>
                </a14:m>
                <a:endParaRPr lang="en-US" sz="2400" b="0" dirty="0">
                  <a:sym typeface="Wingdings" pitchFamily="2" charset="2"/>
                </a:endParaRPr>
              </a:p>
              <a:p>
                <a:pPr marL="800100" lvl="1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000" dirty="0">
                    <a:sym typeface="Wingdings" pitchFamily="2" charset="2"/>
                  </a:rPr>
                  <a:t>In directed graph, each vertex has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𝑑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𝑖𝑛</m:t>
                        </m:r>
                      </m:sub>
                    </m:sSub>
                  </m:oMath>
                </a14:m>
                <a:endParaRPr lang="en-US" sz="2000" b="0" dirty="0">
                  <a:sym typeface="Wingdings" pitchFamily="2" charset="2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Char char="-"/>
                </a:pPr>
                <a:r>
                  <a:rPr lang="en-US" sz="2400" b="1" dirty="0"/>
                  <a:t>Path</a:t>
                </a:r>
                <a:r>
                  <a:rPr lang="en-US" sz="2400" dirty="0"/>
                  <a:t>: set of vertices </a:t>
                </a:r>
              </a:p>
              <a:p>
                <a:pPr marL="457200" indent="-457200">
                  <a:lnSpc>
                    <a:spcPct val="150000"/>
                  </a:lnSpc>
                  <a:buFontTx/>
                  <a:buChar char="-"/>
                </a:pPr>
                <a:r>
                  <a:rPr lang="en-US" sz="2400" b="1" dirty="0"/>
                  <a:t>Weighted Graph</a:t>
                </a:r>
                <a:r>
                  <a:rPr lang="en-US" sz="2400" dirty="0"/>
                  <a:t>: each edge has a cost. </a:t>
                </a:r>
              </a:p>
              <a:p>
                <a:pPr marL="914400" lvl="1" indent="-457200">
                  <a:lnSpc>
                    <a:spcPct val="150000"/>
                  </a:lnSpc>
                  <a:buFontTx/>
                  <a:buChar char="-"/>
                </a:pPr>
                <a:r>
                  <a:rPr lang="en-US" sz="2000" dirty="0"/>
                  <a:t>For example, Waze for traffic detector</a:t>
                </a:r>
              </a:p>
              <a:p>
                <a:pPr marL="457200" indent="-457200">
                  <a:lnSpc>
                    <a:spcPct val="150000"/>
                  </a:lnSpc>
                  <a:buFontTx/>
                  <a:buChar char="-"/>
                </a:pPr>
                <a:r>
                  <a:rPr lang="en-US" sz="2400" b="1" dirty="0">
                    <a:sym typeface="Wingdings" pitchFamily="2" charset="2"/>
                  </a:rPr>
                  <a:t>Circle: </a:t>
                </a:r>
                <a:r>
                  <a:rPr lang="en-US" sz="2400" dirty="0">
                    <a:sym typeface="Wingdings" pitchFamily="2" charset="2"/>
                  </a:rPr>
                  <a:t>a closed path (start and end in the same vertex)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3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F74DABBD-FDEA-704E-A495-EB37B57AC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280" y="3379402"/>
            <a:ext cx="3402987" cy="2254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0701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18255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3200" b="1" dirty="0">
                <a:latin typeface="+mn-lt"/>
                <a:ea typeface="+mn-ea"/>
                <a:cs typeface="+mn-cs"/>
              </a:rPr>
              <a:t>Graphs: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534" y="1225284"/>
            <a:ext cx="10617200" cy="4833145"/>
          </a:xfrm>
        </p:spPr>
        <p:txBody>
          <a:bodyPr>
            <a:normAutofit/>
          </a:bodyPr>
          <a:lstStyle/>
          <a:p>
            <a:pPr marL="914400" lvl="2" indent="0">
              <a:lnSpc>
                <a:spcPct val="150000"/>
              </a:lnSpc>
              <a:buNone/>
            </a:pPr>
            <a:r>
              <a:rPr lang="en-US" sz="2400" b="1" dirty="0"/>
              <a:t>The internet</a:t>
            </a:r>
            <a:r>
              <a:rPr lang="en-US" sz="2400" dirty="0"/>
              <a:t>: webpages are represented as nodes and the hyperlinks between those sites are represented as edges.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en-US" sz="2400" b="1" dirty="0"/>
              <a:t>Social Networks</a:t>
            </a:r>
            <a:r>
              <a:rPr lang="en-US" sz="2400" dirty="0"/>
              <a:t>: each person is represented as a vertex, and the edges could represent the friendships between the individuals.</a:t>
            </a:r>
          </a:p>
        </p:txBody>
      </p:sp>
    </p:spTree>
    <p:extLst>
      <p:ext uri="{BB962C8B-B14F-4D97-AF65-F5344CB8AC3E}">
        <p14:creationId xmlns:p14="http://schemas.microsoft.com/office/powerpoint/2010/main" val="3604138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Represent A Graph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400" b="1" dirty="0"/>
                  <a:t>Adjacency Matrix: </a:t>
                </a:r>
                <a:r>
                  <a:rPr lang="en-US" sz="2400" dirty="0"/>
                  <a:t>size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5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02C517A7-2867-9544-AA34-D5ABE704E3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07" r="41965"/>
          <a:stretch/>
        </p:blipFill>
        <p:spPr bwMode="auto">
          <a:xfrm>
            <a:off x="2168747" y="2159000"/>
            <a:ext cx="3402320" cy="3336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B2BAD1E-054C-9345-AF79-448D3E879EFD}"/>
              </a:ext>
            </a:extLst>
          </p:cNvPr>
          <p:cNvSpPr/>
          <p:nvPr/>
        </p:nvSpPr>
        <p:spPr>
          <a:xfrm>
            <a:off x="7772400" y="2159000"/>
            <a:ext cx="838200" cy="26246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4946C8-0DBE-2B48-BD73-7719A4CADB7F}"/>
              </a:ext>
            </a:extLst>
          </p:cNvPr>
          <p:cNvSpPr/>
          <p:nvPr/>
        </p:nvSpPr>
        <p:spPr>
          <a:xfrm>
            <a:off x="6965950" y="4635500"/>
            <a:ext cx="1536700" cy="70273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25BE3905-7BB8-FE4C-8D51-1B900F235D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71" t="24962" b="24086"/>
          <a:stretch/>
        </p:blipFill>
        <p:spPr bwMode="auto">
          <a:xfrm>
            <a:off x="7105650" y="2720441"/>
            <a:ext cx="2522586" cy="2214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764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Represent A Graph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400" b="1" dirty="0"/>
                  <a:t>Adjacency Lists (Hash Table + Linked List):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+|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6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2BAD1E-054C-9345-AF79-448D3E879EFD}"/>
              </a:ext>
            </a:extLst>
          </p:cNvPr>
          <p:cNvSpPr/>
          <p:nvPr/>
        </p:nvSpPr>
        <p:spPr>
          <a:xfrm>
            <a:off x="7772400" y="2159000"/>
            <a:ext cx="838200" cy="26246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4946C8-0DBE-2B48-BD73-7719A4CADB7F}"/>
              </a:ext>
            </a:extLst>
          </p:cNvPr>
          <p:cNvSpPr/>
          <p:nvPr/>
        </p:nvSpPr>
        <p:spPr>
          <a:xfrm>
            <a:off x="6965950" y="4635500"/>
            <a:ext cx="1536700" cy="70273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91D27292-D4D6-E14C-9E29-B1E9EC435C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8"/>
          <a:stretch/>
        </p:blipFill>
        <p:spPr bwMode="auto">
          <a:xfrm>
            <a:off x="2889060" y="1797580"/>
            <a:ext cx="6634011" cy="389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A4497C-7062-084E-9450-2BBF566AF490}"/>
              </a:ext>
            </a:extLst>
          </p:cNvPr>
          <p:cNvSpPr/>
          <p:nvPr/>
        </p:nvSpPr>
        <p:spPr>
          <a:xfrm>
            <a:off x="7118349" y="4635500"/>
            <a:ext cx="1737783" cy="85513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2568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235721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Graph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7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6B96B0-7D30-044F-8D9D-9D4EC5CCD61C}"/>
              </a:ext>
            </a:extLst>
          </p:cNvPr>
          <p:cNvSpPr/>
          <p:nvPr/>
        </p:nvSpPr>
        <p:spPr>
          <a:xfrm>
            <a:off x="712382" y="1155382"/>
            <a:ext cx="965436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Graph: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urier New" panose="02070309020205020404" pitchFamily="49" charset="0"/>
              </a:rPr>
              <a:t>__</a:t>
            </a:r>
            <a:r>
              <a:rPr lang="en-US" dirty="0" err="1">
                <a:solidFill>
                  <a:srgbClr val="795E26"/>
                </a:solidFill>
                <a:latin typeface="Courier New" panose="02070309020205020404" pitchFamily="49" charset="0"/>
              </a:rPr>
              <a:t>init</a:t>
            </a:r>
            <a:r>
              <a:rPr lang="en-US" dirty="0">
                <a:solidFill>
                  <a:srgbClr val="795E26"/>
                </a:solidFill>
                <a:latin typeface="Courier New" panose="02070309020205020404" pitchFamily="49" charset="0"/>
              </a:rPr>
              <a:t>__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urier New" panose="020703090202050204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 err="1">
                <a:solidFill>
                  <a:srgbClr val="001080"/>
                </a:solidFill>
                <a:latin typeface="Courier New" panose="02070309020205020404" pitchFamily="49" charset="0"/>
              </a:rPr>
              <a:t>dict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):</a:t>
            </a:r>
          </a:p>
          <a:p>
            <a:pPr lvl="1"/>
            <a:r>
              <a:rPr lang="en-US" dirty="0">
                <a:solidFill>
                  <a:srgbClr val="001080"/>
                </a:solidFill>
                <a:latin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1080"/>
                </a:solidFill>
                <a:latin typeface="Courier New" panose="020703090202050204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267F99"/>
                </a:solidFill>
                <a:latin typeface="Courier New" panose="02070309020205020404" pitchFamily="49" charset="0"/>
              </a:rPr>
              <a:t>dict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267F99"/>
                </a:solidFill>
                <a:latin typeface="Courier New" panose="02070309020205020404" pitchFamily="49" charset="0"/>
              </a:rPr>
              <a:t>dict</a:t>
            </a:r>
            <a:endParaRPr lang="en-US" dirty="0">
              <a:solidFill>
                <a:srgbClr val="267F99"/>
              </a:solidFill>
              <a:latin typeface="Courier New" panose="02070309020205020404" pitchFamily="49" charset="0"/>
            </a:endParaRPr>
          </a:p>
          <a:p>
            <a:pPr lvl="1"/>
            <a:endParaRPr lang="en-US" dirty="0">
              <a:solidFill>
                <a:srgbClr val="267F99"/>
              </a:solidFill>
              <a:latin typeface="Courier New" panose="02070309020205020404" pitchFamily="49" charset="0"/>
            </a:endParaRPr>
          </a:p>
          <a:p>
            <a:pPr lvl="1"/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05631E-E1E5-5340-A4C4-467296DE32FC}"/>
              </a:ext>
            </a:extLst>
          </p:cNvPr>
          <p:cNvSpPr/>
          <p:nvPr/>
        </p:nvSpPr>
        <p:spPr>
          <a:xfrm>
            <a:off x="609601" y="2372706"/>
            <a:ext cx="96543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26C992-C04D-9D4E-8823-BF4BBD781D37}"/>
              </a:ext>
            </a:extLst>
          </p:cNvPr>
          <p:cNvSpPr/>
          <p:nvPr/>
        </p:nvSpPr>
        <p:spPr>
          <a:xfrm>
            <a:off x="712382" y="3576930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g = Graph(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"A"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:[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"B"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"C"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"D"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], </a:t>
            </a:r>
          </a:p>
          <a:p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"B"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: [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"A"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], </a:t>
            </a:r>
          </a:p>
          <a:p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"C"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: [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"A"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A31515"/>
                </a:solidFill>
                <a:latin typeface="Courier New" panose="02070309020205020404" pitchFamily="49" charset="0"/>
              </a:rPr>
              <a:t>"D"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]}</a:t>
            </a:r>
          </a:p>
          <a:p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7C1487-75A6-CE40-BE34-91AFD95E7AAE}"/>
              </a:ext>
            </a:extLst>
          </p:cNvPr>
          <p:cNvSpPr/>
          <p:nvPr/>
        </p:nvSpPr>
        <p:spPr>
          <a:xfrm>
            <a:off x="1171353" y="218998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urier New" panose="02070309020205020404" pitchFamily="49" charset="0"/>
              </a:rPr>
              <a:t>get_vertices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urier New" panose="020703090202050204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):</a:t>
            </a:r>
          </a:p>
          <a:p>
            <a:r>
              <a:rPr lang="en-US" dirty="0">
                <a:solidFill>
                  <a:srgbClr val="AF00DB"/>
                </a:solidFill>
                <a:latin typeface="Courier New" panose="020703090202050204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urier New" panose="02070309020205020404" pitchFamily="49" charset="0"/>
              </a:rPr>
              <a:t>list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1080"/>
                </a:solidFill>
                <a:latin typeface="Courier New" panose="020703090202050204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267F99"/>
                </a:solidFill>
                <a:latin typeface="Courier New" panose="02070309020205020404" pitchFamily="49" charset="0"/>
              </a:rPr>
              <a:t>dict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.keys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())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49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Shortest Path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8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02F54F-BA00-7B45-9B99-169ACD19BD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920" y="1339702"/>
            <a:ext cx="2440416" cy="4178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1839211-C811-FF42-833A-33F549FB1933}"/>
              </a:ext>
            </a:extLst>
          </p:cNvPr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L" dirty="0"/>
              <a:t> </a:t>
            </a:r>
          </a:p>
        </p:txBody>
      </p:sp>
      <p:sp>
        <p:nvSpPr>
          <p:cNvPr id="6" name="Left-Right Arrow 5">
            <a:extLst>
              <a:ext uri="{FF2B5EF4-FFF2-40B4-BE49-F238E27FC236}">
                <a16:creationId xmlns:a16="http://schemas.microsoft.com/office/drawing/2014/main" id="{3729008C-16F7-C84A-ADD6-A6BBC988C55D}"/>
              </a:ext>
            </a:extLst>
          </p:cNvPr>
          <p:cNvSpPr/>
          <p:nvPr/>
        </p:nvSpPr>
        <p:spPr>
          <a:xfrm>
            <a:off x="5071730" y="2934586"/>
            <a:ext cx="1913861" cy="444816"/>
          </a:xfrm>
          <a:prstGeom prst="leftRightArrow">
            <a:avLst>
              <a:gd name="adj1" fmla="val 26097"/>
              <a:gd name="adj2" fmla="val 834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142B9C1-19C9-3D42-A83A-D4CC7A31F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447" y="1803115"/>
            <a:ext cx="3610344" cy="270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68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</p:spPr>
            <p:txBody>
              <a:bodyPr>
                <a:norm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3200" b="1" dirty="0"/>
                  <a:t>Breadth First Search - BFS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400" b="1" dirty="0">
                    <a:sym typeface="Wingdings" pitchFamily="2" charset="2"/>
                  </a:rPr>
                  <a:t>Input</a:t>
                </a:r>
                <a:r>
                  <a:rPr lang="en-US" sz="2400" dirty="0">
                    <a:sym typeface="Wingdings" pitchFamily="2" charset="2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  <a:sym typeface="Wingdings" pitchFamily="2" charset="2"/>
                      </a:rPr>
                      <m:t>𝐺</m:t>
                    </m:r>
                    <m:r>
                      <a:rPr lang="en-US" sz="2400" b="0" i="1">
                        <a:latin typeface="Cambria Math" panose="02040503050406030204" pitchFamily="18" charset="0"/>
                        <a:sym typeface="Wingdings" pitchFamily="2" charset="2"/>
                      </a:rPr>
                      <m:t>=(</m:t>
                    </m:r>
                    <m:r>
                      <a:rPr lang="en-US" sz="2400" b="0" i="1">
                        <a:latin typeface="Cambria Math" panose="02040503050406030204" pitchFamily="18" charset="0"/>
                        <a:sym typeface="Wingdings" pitchFamily="2" charset="2"/>
                      </a:rPr>
                      <m:t>𝑉</m:t>
                    </m:r>
                    <m:r>
                      <a:rPr lang="en-US" sz="2400" b="0" i="1">
                        <a:latin typeface="Cambria Math" panose="02040503050406030204" pitchFamily="18" charset="0"/>
                        <a:sym typeface="Wingdings" pitchFamily="2" charset="2"/>
                      </a:rPr>
                      <m:t>,</m:t>
                    </m:r>
                    <m:r>
                      <a:rPr lang="en-US" sz="2400" b="0" i="1">
                        <a:latin typeface="Cambria Math" panose="02040503050406030204" pitchFamily="18" charset="0"/>
                        <a:sym typeface="Wingdings" pitchFamily="2" charset="2"/>
                      </a:rPr>
                      <m:t>𝐸</m:t>
                    </m:r>
                    <m:r>
                      <a:rPr lang="en-US" sz="2400" b="0" i="1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sz="2400" dirty="0">
                    <a:sym typeface="Wingdings" pitchFamily="2" charset="2"/>
                  </a:rPr>
                  <a:t> and a source vertex (marked as </a:t>
                </a:r>
                <a:r>
                  <a:rPr lang="en-US" sz="2400" b="1" dirty="0">
                    <a:sym typeface="Wingdings" pitchFamily="2" charset="2"/>
                  </a:rPr>
                  <a:t>s</a:t>
                </a:r>
                <a:r>
                  <a:rPr lang="en-US" sz="2400" dirty="0">
                    <a:sym typeface="Wingdings" pitchFamily="2" charset="2"/>
                  </a:rPr>
                  <a:t>)</a:t>
                </a:r>
              </a:p>
              <a:p>
                <a:pPr marL="342900" indent="-342900">
                  <a:lnSpc>
                    <a:spcPct val="150000"/>
                  </a:lnSpc>
                  <a:buFontTx/>
                  <a:buChar char="-"/>
                </a:pPr>
                <a:r>
                  <a:rPr lang="en-US" sz="2400" b="1" dirty="0">
                    <a:sym typeface="Wingdings" pitchFamily="2" charset="2"/>
                  </a:rPr>
                  <a:t>Output</a:t>
                </a:r>
                <a:r>
                  <a:rPr lang="en-US" sz="2400" dirty="0">
                    <a:sym typeface="Wingdings" pitchFamily="2" charset="2"/>
                  </a:rPr>
                  <a:t>: the distance of all vertices from </a:t>
                </a:r>
                <a:r>
                  <a:rPr lang="en-US" sz="2400" b="1" dirty="0">
                    <a:sym typeface="Wingdings" pitchFamily="2" charset="2"/>
                  </a:rPr>
                  <a:t>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ym typeface="Wingdings" pitchFamily="2" charset="2"/>
                  </a:rPr>
                  <a:t>The BFS algorithm use three colors to track over the vertices:</a:t>
                </a: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en-US" sz="2400" b="1" dirty="0">
                    <a:sym typeface="Wingdings" pitchFamily="2" charset="2"/>
                  </a:rPr>
                  <a:t>White</a:t>
                </a:r>
                <a:r>
                  <a:rPr lang="en-US" sz="2400" dirty="0">
                    <a:sym typeface="Wingdings" pitchFamily="2" charset="2"/>
                  </a:rPr>
                  <a:t> – undiscovered vertices</a:t>
                </a: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en-US" sz="2400" b="1" dirty="0">
                    <a:sym typeface="Wingdings" pitchFamily="2" charset="2"/>
                  </a:rPr>
                  <a:t>Gray</a:t>
                </a:r>
                <a:r>
                  <a:rPr lang="en-US" sz="2400" dirty="0">
                    <a:sym typeface="Wingdings" pitchFamily="2" charset="2"/>
                  </a:rPr>
                  <a:t> – discovered, “currently handled”</a:t>
                </a:r>
              </a:p>
              <a:p>
                <a:pPr marL="457200" indent="-457200">
                  <a:lnSpc>
                    <a:spcPct val="150000"/>
                  </a:lnSpc>
                  <a:buAutoNum type="arabicPeriod"/>
                </a:pPr>
                <a:r>
                  <a:rPr lang="en-US" sz="2400" b="1" dirty="0">
                    <a:sym typeface="Wingdings" pitchFamily="2" charset="2"/>
                  </a:rPr>
                  <a:t>Black</a:t>
                </a:r>
                <a:r>
                  <a:rPr lang="en-US" sz="2400" dirty="0">
                    <a:sym typeface="Wingdings" pitchFamily="2" charset="2"/>
                  </a:rPr>
                  <a:t> – done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sym typeface="Wingdings" pitchFamily="2" charset="2"/>
                  </a:rPr>
                  <a:t>Also, the algorithm use a Queue of  discovered vertices.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1924E95-B662-476B-8747-32147EFC68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7933" y="136525"/>
                <a:ext cx="11616266" cy="6485754"/>
              </a:xfrm>
              <a:blipFill>
                <a:blip r:embed="rId3"/>
                <a:stretch>
                  <a:fillRect l="-76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9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6279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091631B-83EB-F546-8956-C7DF200475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he-IL" sz="3200" b="1" dirty="0">
                <a:latin typeface="+mn-lt"/>
                <a:ea typeface="+mn-ea"/>
                <a:cs typeface="+mn-cs"/>
              </a:rPr>
              <a:t>BFS Example </a:t>
            </a:r>
          </a:p>
        </p:txBody>
      </p:sp>
      <p:sp>
        <p:nvSpPr>
          <p:cNvPr id="7172" name="Oval 3">
            <a:extLst>
              <a:ext uri="{FF2B5EF4-FFF2-40B4-BE49-F238E27FC236}">
                <a16:creationId xmlns:a16="http://schemas.microsoft.com/office/drawing/2014/main" id="{205398FD-C4E5-9F41-89F7-3A4020514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425" y="249713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7173" name="Text Box 4">
            <a:extLst>
              <a:ext uri="{FF2B5EF4-FFF2-40B4-BE49-F238E27FC236}">
                <a16:creationId xmlns:a16="http://schemas.microsoft.com/office/drawing/2014/main" id="{FE19691D-0E22-E74C-8A36-537C9B336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5675" y="2525713"/>
            <a:ext cx="401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</a:t>
            </a:r>
            <a:endParaRPr lang="en-US" altLang="he-IL" b="1" u="none"/>
          </a:p>
        </p:txBody>
      </p:sp>
      <p:sp>
        <p:nvSpPr>
          <p:cNvPr id="67589" name="Oval 5">
            <a:extLst>
              <a:ext uri="{FF2B5EF4-FFF2-40B4-BE49-F238E27FC236}">
                <a16:creationId xmlns:a16="http://schemas.microsoft.com/office/drawing/2014/main" id="{A10F199D-9D26-954B-9C62-7AA4E3ADD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2490788"/>
            <a:ext cx="590550" cy="5762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7175" name="Text Box 6">
            <a:extLst>
              <a:ext uri="{FF2B5EF4-FFF2-40B4-BE49-F238E27FC236}">
                <a16:creationId xmlns:a16="http://schemas.microsoft.com/office/drawing/2014/main" id="{FC9640BD-93F3-3B41-B499-5A26309D0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388" y="25542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0</a:t>
            </a:r>
            <a:endParaRPr lang="en-US" altLang="he-IL" b="1" u="none"/>
          </a:p>
        </p:txBody>
      </p:sp>
      <p:sp>
        <p:nvSpPr>
          <p:cNvPr id="7176" name="Line 7">
            <a:extLst>
              <a:ext uri="{FF2B5EF4-FFF2-40B4-BE49-F238E27FC236}">
                <a16:creationId xmlns:a16="http://schemas.microsoft.com/office/drawing/2014/main" id="{09675D8A-FB5D-DA4D-9689-796ECBFD08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6689" y="2786063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7177" name="Oval 8">
            <a:extLst>
              <a:ext uri="{FF2B5EF4-FFF2-40B4-BE49-F238E27FC236}">
                <a16:creationId xmlns:a16="http://schemas.microsoft.com/office/drawing/2014/main" id="{49F0ED18-3640-4642-B56B-761971422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390683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7178" name="Text Box 9">
            <a:extLst>
              <a:ext uri="{FF2B5EF4-FFF2-40B4-BE49-F238E27FC236}">
                <a16:creationId xmlns:a16="http://schemas.microsoft.com/office/drawing/2014/main" id="{85CDC2D7-8806-3A4E-9A94-AA4AF8D27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6814" y="3935413"/>
            <a:ext cx="401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</a:t>
            </a:r>
            <a:endParaRPr lang="en-US" altLang="he-IL" b="1" u="none"/>
          </a:p>
        </p:txBody>
      </p:sp>
      <p:sp>
        <p:nvSpPr>
          <p:cNvPr id="7179" name="Oval 10">
            <a:extLst>
              <a:ext uri="{FF2B5EF4-FFF2-40B4-BE49-F238E27FC236}">
                <a16:creationId xmlns:a16="http://schemas.microsoft.com/office/drawing/2014/main" id="{CC71FDFA-A987-E248-ACBD-7A099EA22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39004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7180" name="Text Box 11">
            <a:extLst>
              <a:ext uri="{FF2B5EF4-FFF2-40B4-BE49-F238E27FC236}">
                <a16:creationId xmlns:a16="http://schemas.microsoft.com/office/drawing/2014/main" id="{084905D9-3EBB-1349-B945-3FD5865B9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950" y="3929063"/>
            <a:ext cx="401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</a:t>
            </a:r>
            <a:endParaRPr lang="en-US" altLang="he-IL" b="1" u="none"/>
          </a:p>
        </p:txBody>
      </p:sp>
      <p:sp>
        <p:nvSpPr>
          <p:cNvPr id="7181" name="Line 12">
            <a:extLst>
              <a:ext uri="{FF2B5EF4-FFF2-40B4-BE49-F238E27FC236}">
                <a16:creationId xmlns:a16="http://schemas.microsoft.com/office/drawing/2014/main" id="{0483DF3E-2C07-9449-BDD2-DC38949F10C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7826" y="4195763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7182" name="Oval 13">
            <a:extLst>
              <a:ext uri="{FF2B5EF4-FFF2-40B4-BE49-F238E27FC236}">
                <a16:creationId xmlns:a16="http://schemas.microsoft.com/office/drawing/2014/main" id="{C85E6CB4-CA18-344C-B9BA-55CB68880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3838" y="3910013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7183" name="Text Box 14">
            <a:extLst>
              <a:ext uri="{FF2B5EF4-FFF2-40B4-BE49-F238E27FC236}">
                <a16:creationId xmlns:a16="http://schemas.microsoft.com/office/drawing/2014/main" id="{F65F5188-E817-2145-B538-60BADA9FF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9089" y="3938588"/>
            <a:ext cx="401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</a:t>
            </a:r>
            <a:endParaRPr lang="en-US" altLang="he-IL" b="1" u="none"/>
          </a:p>
        </p:txBody>
      </p:sp>
      <p:sp>
        <p:nvSpPr>
          <p:cNvPr id="7184" name="Line 15">
            <a:extLst>
              <a:ext uri="{FF2B5EF4-FFF2-40B4-BE49-F238E27FC236}">
                <a16:creationId xmlns:a16="http://schemas.microsoft.com/office/drawing/2014/main" id="{7CE4D602-A1EA-F947-B42A-79F1E00EEB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8964" y="4205288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7185" name="Oval 16">
            <a:extLst>
              <a:ext uri="{FF2B5EF4-FFF2-40B4-BE49-F238E27FC236}">
                <a16:creationId xmlns:a16="http://schemas.microsoft.com/office/drawing/2014/main" id="{12FA9362-2435-1C47-B520-59F591261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2495551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7186" name="Text Box 17">
            <a:extLst>
              <a:ext uri="{FF2B5EF4-FFF2-40B4-BE49-F238E27FC236}">
                <a16:creationId xmlns:a16="http://schemas.microsoft.com/office/drawing/2014/main" id="{717E57B7-F3A4-9A49-BEF7-F678FF00A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189" y="2524125"/>
            <a:ext cx="401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</a:t>
            </a:r>
            <a:endParaRPr lang="en-US" altLang="he-IL" b="1" u="none"/>
          </a:p>
        </p:txBody>
      </p:sp>
      <p:sp>
        <p:nvSpPr>
          <p:cNvPr id="7187" name="Oval 18">
            <a:extLst>
              <a:ext uri="{FF2B5EF4-FFF2-40B4-BE49-F238E27FC236}">
                <a16:creationId xmlns:a16="http://schemas.microsoft.com/office/drawing/2014/main" id="{75B228F5-DE95-2142-A2A5-B07F919AF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9075" y="2505076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7188" name="Text Box 19">
            <a:extLst>
              <a:ext uri="{FF2B5EF4-FFF2-40B4-BE49-F238E27FC236}">
                <a16:creationId xmlns:a16="http://schemas.microsoft.com/office/drawing/2014/main" id="{927617DA-426C-8747-9F99-163F02FFF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4325" y="2533650"/>
            <a:ext cx="401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</a:t>
            </a:r>
            <a:endParaRPr lang="en-US" altLang="he-IL" b="1" u="none"/>
          </a:p>
        </p:txBody>
      </p:sp>
      <p:sp>
        <p:nvSpPr>
          <p:cNvPr id="7189" name="Line 20">
            <a:extLst>
              <a:ext uri="{FF2B5EF4-FFF2-40B4-BE49-F238E27FC236}">
                <a16:creationId xmlns:a16="http://schemas.microsoft.com/office/drawing/2014/main" id="{24762269-6F9C-0A49-A5DF-51438BF19E3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1" y="2800350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7190" name="Oval 21">
            <a:extLst>
              <a:ext uri="{FF2B5EF4-FFF2-40B4-BE49-F238E27FC236}">
                <a16:creationId xmlns:a16="http://schemas.microsoft.com/office/drawing/2014/main" id="{3F26735E-383C-0241-955D-957233D2F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75" y="390683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7191" name="Text Box 22">
            <a:extLst>
              <a:ext uri="{FF2B5EF4-FFF2-40B4-BE49-F238E27FC236}">
                <a16:creationId xmlns:a16="http://schemas.microsoft.com/office/drawing/2014/main" id="{9B097352-2E8A-024F-827F-7B9329BF6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25" y="3935413"/>
            <a:ext cx="401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</a:t>
            </a:r>
            <a:endParaRPr lang="en-US" altLang="he-IL" b="1" u="none"/>
          </a:p>
        </p:txBody>
      </p:sp>
      <p:sp>
        <p:nvSpPr>
          <p:cNvPr id="7192" name="Line 23">
            <a:extLst>
              <a:ext uri="{FF2B5EF4-FFF2-40B4-BE49-F238E27FC236}">
                <a16:creationId xmlns:a16="http://schemas.microsoft.com/office/drawing/2014/main" id="{76B6D545-F121-A744-8D0B-442C3EBF4F2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7763" y="30591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7193" name="Line 24">
            <a:extLst>
              <a:ext uri="{FF2B5EF4-FFF2-40B4-BE49-F238E27FC236}">
                <a16:creationId xmlns:a16="http://schemas.microsoft.com/office/drawing/2014/main" id="{6082E720-E9FD-114A-AE69-3C7C6D13906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8900" y="3068638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7194" name="Line 25">
            <a:extLst>
              <a:ext uri="{FF2B5EF4-FFF2-40B4-BE49-F238E27FC236}">
                <a16:creationId xmlns:a16="http://schemas.microsoft.com/office/drawing/2014/main" id="{0D624CB0-2D10-5C4C-A41A-D09E73338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0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7195" name="Line 26">
            <a:extLst>
              <a:ext uri="{FF2B5EF4-FFF2-40B4-BE49-F238E27FC236}">
                <a16:creationId xmlns:a16="http://schemas.microsoft.com/office/drawing/2014/main" id="{DE3F3CDF-A355-4D49-9877-C021B83FB619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1175" y="3087688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7196" name="Line 27">
            <a:extLst>
              <a:ext uri="{FF2B5EF4-FFF2-40B4-BE49-F238E27FC236}">
                <a16:creationId xmlns:a16="http://schemas.microsoft.com/office/drawing/2014/main" id="{C7FA89D3-2260-0A4A-B7DE-E79F51EBE7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76864" y="29448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7197" name="Text Box 28">
            <a:extLst>
              <a:ext uri="{FF2B5EF4-FFF2-40B4-BE49-F238E27FC236}">
                <a16:creationId xmlns:a16="http://schemas.microsoft.com/office/drawing/2014/main" id="{5D753BCB-ABF0-4748-8912-25CCF70E9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084388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7198" name="Text Box 29">
            <a:extLst>
              <a:ext uri="{FF2B5EF4-FFF2-40B4-BE49-F238E27FC236}">
                <a16:creationId xmlns:a16="http://schemas.microsoft.com/office/drawing/2014/main" id="{692E82CB-4F45-8F43-8AF5-E84F949B0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1" y="2093913"/>
            <a:ext cx="303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7199" name="Text Box 30">
            <a:extLst>
              <a:ext uri="{FF2B5EF4-FFF2-40B4-BE49-F238E27FC236}">
                <a16:creationId xmlns:a16="http://schemas.microsoft.com/office/drawing/2014/main" id="{33345A43-BE42-3B47-BE86-C46C401DA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2103438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7200" name="Text Box 31">
            <a:extLst>
              <a:ext uri="{FF2B5EF4-FFF2-40B4-BE49-F238E27FC236}">
                <a16:creationId xmlns:a16="http://schemas.microsoft.com/office/drawing/2014/main" id="{4DB1156C-7DA1-8548-BD3B-34B053D9C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1950" y="21129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7201" name="Text Box 32">
            <a:extLst>
              <a:ext uri="{FF2B5EF4-FFF2-40B4-BE49-F238E27FC236}">
                <a16:creationId xmlns:a16="http://schemas.microsoft.com/office/drawing/2014/main" id="{1105ACF6-A0BB-564D-A1E0-8EBECAF17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3775" y="43799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7202" name="Text Box 33">
            <a:extLst>
              <a:ext uri="{FF2B5EF4-FFF2-40B4-BE49-F238E27FC236}">
                <a16:creationId xmlns:a16="http://schemas.microsoft.com/office/drawing/2014/main" id="{29D3490B-1B84-8347-82D7-0E70DBDD7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4913" y="4389438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7203" name="Text Box 34">
            <a:extLst>
              <a:ext uri="{FF2B5EF4-FFF2-40B4-BE49-F238E27FC236}">
                <a16:creationId xmlns:a16="http://schemas.microsoft.com/office/drawing/2014/main" id="{2B594879-9A98-944D-9992-88EFCA1A2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43989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7204" name="Text Box 35">
            <a:extLst>
              <a:ext uri="{FF2B5EF4-FFF2-40B4-BE49-F238E27FC236}">
                <a16:creationId xmlns:a16="http://schemas.microsoft.com/office/drawing/2014/main" id="{307C9EEF-851D-BA41-8018-2A66A473B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1475" y="4394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7205" name="Text Box 36">
            <a:extLst>
              <a:ext uri="{FF2B5EF4-FFF2-40B4-BE49-F238E27FC236}">
                <a16:creationId xmlns:a16="http://schemas.microsoft.com/office/drawing/2014/main" id="{6E120CD2-8687-2148-927A-98591D01F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3701" y="5302250"/>
            <a:ext cx="822325" cy="8509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/>
              <a:t>Q:</a:t>
            </a:r>
            <a:r>
              <a:rPr lang="en-US" altLang="he-IL" u="none"/>
              <a:t>  s</a:t>
            </a:r>
          </a:p>
          <a:p>
            <a:r>
              <a:rPr lang="en-US" altLang="he-IL" u="none"/>
              <a:t>      0</a:t>
            </a:r>
          </a:p>
        </p:txBody>
      </p:sp>
      <p:sp>
        <p:nvSpPr>
          <p:cNvPr id="39" name="Footer Placeholder 4">
            <a:extLst>
              <a:ext uri="{FF2B5EF4-FFF2-40B4-BE49-F238E27FC236}">
                <a16:creationId xmlns:a16="http://schemas.microsoft.com/office/drawing/2014/main" id="{FC73D080-DFB8-EB48-9301-7E79009AB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A10886-BE22-7146-BCE6-B68CB7247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10</a:t>
            </a:fld>
            <a:endParaRPr lang="en-I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Oval 3">
            <a:extLst>
              <a:ext uri="{FF2B5EF4-FFF2-40B4-BE49-F238E27FC236}">
                <a16:creationId xmlns:a16="http://schemas.microsoft.com/office/drawing/2014/main" id="{729CC597-C2CF-0042-8F98-98267DBF6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425" y="2497138"/>
            <a:ext cx="590550" cy="5762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8197" name="Text Box 4">
            <a:extLst>
              <a:ext uri="{FF2B5EF4-FFF2-40B4-BE49-F238E27FC236}">
                <a16:creationId xmlns:a16="http://schemas.microsoft.com/office/drawing/2014/main" id="{0B3689F3-967C-3442-8843-4EE4A5663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5606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1</a:t>
            </a:r>
            <a:endParaRPr lang="en-US" altLang="he-IL" b="1" u="none"/>
          </a:p>
        </p:txBody>
      </p:sp>
      <p:sp>
        <p:nvSpPr>
          <p:cNvPr id="8198" name="Oval 5">
            <a:extLst>
              <a:ext uri="{FF2B5EF4-FFF2-40B4-BE49-F238E27FC236}">
                <a16:creationId xmlns:a16="http://schemas.microsoft.com/office/drawing/2014/main" id="{FA4EBEC3-27A6-3E48-AB60-E1B7335BD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249078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8199" name="Text Box 6">
            <a:extLst>
              <a:ext uri="{FF2B5EF4-FFF2-40B4-BE49-F238E27FC236}">
                <a16:creationId xmlns:a16="http://schemas.microsoft.com/office/drawing/2014/main" id="{8AAC9A98-1334-B74D-99C0-F1EB74B5E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388" y="25542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0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8200" name="Line 7">
            <a:extLst>
              <a:ext uri="{FF2B5EF4-FFF2-40B4-BE49-F238E27FC236}">
                <a16:creationId xmlns:a16="http://schemas.microsoft.com/office/drawing/2014/main" id="{A558B6C4-30A2-2D43-BCD7-2E40CE3630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6689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68616" name="Oval 8">
            <a:extLst>
              <a:ext uri="{FF2B5EF4-FFF2-40B4-BE49-F238E27FC236}">
                <a16:creationId xmlns:a16="http://schemas.microsoft.com/office/drawing/2014/main" id="{C9380DF3-7943-744A-B61E-5A7D9B42D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3906838"/>
            <a:ext cx="590550" cy="5762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8202" name="Text Box 9">
            <a:extLst>
              <a:ext uri="{FF2B5EF4-FFF2-40B4-BE49-F238E27FC236}">
                <a16:creationId xmlns:a16="http://schemas.microsoft.com/office/drawing/2014/main" id="{3E64DB9F-476D-B64C-AD2B-8BB38FEEB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388" y="39560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1</a:t>
            </a:r>
            <a:endParaRPr lang="en-US" altLang="he-IL" b="1" u="none"/>
          </a:p>
        </p:txBody>
      </p:sp>
      <p:sp>
        <p:nvSpPr>
          <p:cNvPr id="8203" name="Oval 10">
            <a:extLst>
              <a:ext uri="{FF2B5EF4-FFF2-40B4-BE49-F238E27FC236}">
                <a16:creationId xmlns:a16="http://schemas.microsoft.com/office/drawing/2014/main" id="{2319214F-CD94-6B4A-B691-DE2E6296A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39004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8204" name="Text Box 11">
            <a:extLst>
              <a:ext uri="{FF2B5EF4-FFF2-40B4-BE49-F238E27FC236}">
                <a16:creationId xmlns:a16="http://schemas.microsoft.com/office/drawing/2014/main" id="{B2975DC4-095F-D34F-8590-2D4CC4072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950" y="3929063"/>
            <a:ext cx="401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</a:t>
            </a:r>
            <a:endParaRPr lang="en-US" altLang="he-IL" b="1" u="none"/>
          </a:p>
        </p:txBody>
      </p:sp>
      <p:sp>
        <p:nvSpPr>
          <p:cNvPr id="8205" name="Line 12">
            <a:extLst>
              <a:ext uri="{FF2B5EF4-FFF2-40B4-BE49-F238E27FC236}">
                <a16:creationId xmlns:a16="http://schemas.microsoft.com/office/drawing/2014/main" id="{D4BB42CD-2808-5644-8E23-9C8BAA09CC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7826" y="4195763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8206" name="Oval 13">
            <a:extLst>
              <a:ext uri="{FF2B5EF4-FFF2-40B4-BE49-F238E27FC236}">
                <a16:creationId xmlns:a16="http://schemas.microsoft.com/office/drawing/2014/main" id="{86ADBB8D-CD0D-8B4D-9BEE-D2DD3799D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3838" y="3910013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8207" name="Text Box 14">
            <a:extLst>
              <a:ext uri="{FF2B5EF4-FFF2-40B4-BE49-F238E27FC236}">
                <a16:creationId xmlns:a16="http://schemas.microsoft.com/office/drawing/2014/main" id="{7BBD1975-1EBD-0F41-AE2F-8F8E75D44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9089" y="3938588"/>
            <a:ext cx="401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</a:t>
            </a:r>
            <a:endParaRPr lang="en-US" altLang="he-IL" b="1" u="none"/>
          </a:p>
        </p:txBody>
      </p:sp>
      <p:sp>
        <p:nvSpPr>
          <p:cNvPr id="8208" name="Line 15">
            <a:extLst>
              <a:ext uri="{FF2B5EF4-FFF2-40B4-BE49-F238E27FC236}">
                <a16:creationId xmlns:a16="http://schemas.microsoft.com/office/drawing/2014/main" id="{5508D008-2058-AB49-88DA-AED07239A8E5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8964" y="4205288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8209" name="Oval 16">
            <a:extLst>
              <a:ext uri="{FF2B5EF4-FFF2-40B4-BE49-F238E27FC236}">
                <a16:creationId xmlns:a16="http://schemas.microsoft.com/office/drawing/2014/main" id="{ECC1E5D4-C1EE-9B47-A79B-DF39E50AB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2495551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8210" name="Text Box 17">
            <a:extLst>
              <a:ext uri="{FF2B5EF4-FFF2-40B4-BE49-F238E27FC236}">
                <a16:creationId xmlns:a16="http://schemas.microsoft.com/office/drawing/2014/main" id="{81475345-C6DE-274D-AD40-E0D38CCD3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3189" y="2524125"/>
            <a:ext cx="401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</a:t>
            </a:r>
            <a:endParaRPr lang="en-US" altLang="he-IL" b="1" u="none"/>
          </a:p>
        </p:txBody>
      </p:sp>
      <p:sp>
        <p:nvSpPr>
          <p:cNvPr id="8211" name="Oval 18">
            <a:extLst>
              <a:ext uri="{FF2B5EF4-FFF2-40B4-BE49-F238E27FC236}">
                <a16:creationId xmlns:a16="http://schemas.microsoft.com/office/drawing/2014/main" id="{2A124311-FAA3-784E-A5E1-369F7A254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9075" y="2505076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8212" name="Text Box 19">
            <a:extLst>
              <a:ext uri="{FF2B5EF4-FFF2-40B4-BE49-F238E27FC236}">
                <a16:creationId xmlns:a16="http://schemas.microsoft.com/office/drawing/2014/main" id="{FB5B351E-67B4-0042-875C-9370388B7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4325" y="2533650"/>
            <a:ext cx="401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</a:t>
            </a:r>
            <a:endParaRPr lang="en-US" altLang="he-IL" b="1" u="none"/>
          </a:p>
        </p:txBody>
      </p:sp>
      <p:sp>
        <p:nvSpPr>
          <p:cNvPr id="8213" name="Line 20">
            <a:extLst>
              <a:ext uri="{FF2B5EF4-FFF2-40B4-BE49-F238E27FC236}">
                <a16:creationId xmlns:a16="http://schemas.microsoft.com/office/drawing/2014/main" id="{04F32180-FFF0-724D-ADDC-3668C22EC3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1" y="2800350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8214" name="Oval 21">
            <a:extLst>
              <a:ext uri="{FF2B5EF4-FFF2-40B4-BE49-F238E27FC236}">
                <a16:creationId xmlns:a16="http://schemas.microsoft.com/office/drawing/2014/main" id="{5D6B8425-64E6-294E-9B5D-4051F592B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75" y="390683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8215" name="Text Box 22">
            <a:extLst>
              <a:ext uri="{FF2B5EF4-FFF2-40B4-BE49-F238E27FC236}">
                <a16:creationId xmlns:a16="http://schemas.microsoft.com/office/drawing/2014/main" id="{9C5A653C-FFA1-2642-BF8D-51DEAE6CC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25" y="3935413"/>
            <a:ext cx="401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</a:t>
            </a:r>
            <a:endParaRPr lang="en-US" altLang="he-IL" b="1" u="none"/>
          </a:p>
        </p:txBody>
      </p:sp>
      <p:sp>
        <p:nvSpPr>
          <p:cNvPr id="8216" name="Line 23">
            <a:extLst>
              <a:ext uri="{FF2B5EF4-FFF2-40B4-BE49-F238E27FC236}">
                <a16:creationId xmlns:a16="http://schemas.microsoft.com/office/drawing/2014/main" id="{0386F879-8E43-0C43-8378-CDD0AC58D8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7763" y="30591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8217" name="Line 24">
            <a:extLst>
              <a:ext uri="{FF2B5EF4-FFF2-40B4-BE49-F238E27FC236}">
                <a16:creationId xmlns:a16="http://schemas.microsoft.com/office/drawing/2014/main" id="{48FEC8FD-C8A0-004C-8144-9CEFFAEF87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8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8218" name="Line 25">
            <a:extLst>
              <a:ext uri="{FF2B5EF4-FFF2-40B4-BE49-F238E27FC236}">
                <a16:creationId xmlns:a16="http://schemas.microsoft.com/office/drawing/2014/main" id="{E98980F3-AB46-A64E-B18B-D640DE36260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0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8219" name="Line 26">
            <a:extLst>
              <a:ext uri="{FF2B5EF4-FFF2-40B4-BE49-F238E27FC236}">
                <a16:creationId xmlns:a16="http://schemas.microsoft.com/office/drawing/2014/main" id="{B8BDCCA0-47E9-BC4C-9579-AE94D77DFF49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1175" y="3087688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8220" name="Line 27">
            <a:extLst>
              <a:ext uri="{FF2B5EF4-FFF2-40B4-BE49-F238E27FC236}">
                <a16:creationId xmlns:a16="http://schemas.microsoft.com/office/drawing/2014/main" id="{DD487A5B-B768-1340-AE5C-642391F10F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76864" y="2944813"/>
            <a:ext cx="1023937" cy="10287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8221" name="Text Box 28">
            <a:extLst>
              <a:ext uri="{FF2B5EF4-FFF2-40B4-BE49-F238E27FC236}">
                <a16:creationId xmlns:a16="http://schemas.microsoft.com/office/drawing/2014/main" id="{A7E7FE4A-CA57-024D-815B-0FD967956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084388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8222" name="Text Box 29">
            <a:extLst>
              <a:ext uri="{FF2B5EF4-FFF2-40B4-BE49-F238E27FC236}">
                <a16:creationId xmlns:a16="http://schemas.microsoft.com/office/drawing/2014/main" id="{C93DC40E-3FAF-BF45-A7CC-BF6838725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1" y="2093913"/>
            <a:ext cx="303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8223" name="Text Box 30">
            <a:extLst>
              <a:ext uri="{FF2B5EF4-FFF2-40B4-BE49-F238E27FC236}">
                <a16:creationId xmlns:a16="http://schemas.microsoft.com/office/drawing/2014/main" id="{3345A8A3-7E27-C24F-ADAC-62031519E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2103438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8224" name="Text Box 31">
            <a:extLst>
              <a:ext uri="{FF2B5EF4-FFF2-40B4-BE49-F238E27FC236}">
                <a16:creationId xmlns:a16="http://schemas.microsoft.com/office/drawing/2014/main" id="{196A5B0E-27DE-4646-AABE-3930656E1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1950" y="21129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8225" name="Text Box 32">
            <a:extLst>
              <a:ext uri="{FF2B5EF4-FFF2-40B4-BE49-F238E27FC236}">
                <a16:creationId xmlns:a16="http://schemas.microsoft.com/office/drawing/2014/main" id="{2BF909E3-CD5E-3F49-BEFD-4D795B219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3775" y="43799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8226" name="Text Box 33">
            <a:extLst>
              <a:ext uri="{FF2B5EF4-FFF2-40B4-BE49-F238E27FC236}">
                <a16:creationId xmlns:a16="http://schemas.microsoft.com/office/drawing/2014/main" id="{8CB6A9CF-2600-7C41-82B0-0E751A661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4913" y="4389438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8227" name="Text Box 34">
            <a:extLst>
              <a:ext uri="{FF2B5EF4-FFF2-40B4-BE49-F238E27FC236}">
                <a16:creationId xmlns:a16="http://schemas.microsoft.com/office/drawing/2014/main" id="{86CAF2CF-193E-5749-86AA-B82688540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43989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8228" name="Text Box 35">
            <a:extLst>
              <a:ext uri="{FF2B5EF4-FFF2-40B4-BE49-F238E27FC236}">
                <a16:creationId xmlns:a16="http://schemas.microsoft.com/office/drawing/2014/main" id="{09B802A4-91FB-4A4A-BD99-1C1B3103C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1475" y="4394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8229" name="Text Box 36">
            <a:extLst>
              <a:ext uri="{FF2B5EF4-FFF2-40B4-BE49-F238E27FC236}">
                <a16:creationId xmlns:a16="http://schemas.microsoft.com/office/drawing/2014/main" id="{22B9D428-1DEB-C946-A032-E3191A91D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3701" y="5302250"/>
            <a:ext cx="1203325" cy="8509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/>
              <a:t>Q:</a:t>
            </a:r>
            <a:r>
              <a:rPr lang="en-US" altLang="he-IL" u="none"/>
              <a:t>  w  r</a:t>
            </a:r>
          </a:p>
          <a:p>
            <a:r>
              <a:rPr lang="en-US" altLang="he-IL" u="none"/>
              <a:t>       1  1</a:t>
            </a:r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207A995D-25D2-F243-989A-52EADD0B4BEC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he-IL" sz="3200" b="1">
                <a:latin typeface="+mn-lt"/>
                <a:ea typeface="+mn-ea"/>
                <a:cs typeface="+mn-cs"/>
              </a:rPr>
              <a:t>BFS Example </a:t>
            </a:r>
            <a:endParaRPr lang="en-US" altLang="he-IL" sz="3200" b="1" dirty="0">
              <a:latin typeface="+mn-lt"/>
              <a:ea typeface="+mn-ea"/>
              <a:cs typeface="+mn-cs"/>
            </a:endParaRP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DDCD3834-6201-8241-ACC4-08AEF279E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909C74-0A22-2E4C-AAFF-C2D572906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11</a:t>
            </a:fld>
            <a:endParaRPr lang="en-I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42" name="Oval 10">
            <a:extLst>
              <a:ext uri="{FF2B5EF4-FFF2-40B4-BE49-F238E27FC236}">
                <a16:creationId xmlns:a16="http://schemas.microsoft.com/office/drawing/2014/main" id="{2268CED2-3081-554B-84D7-74DD9A27B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3900488"/>
            <a:ext cx="590550" cy="5762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9221" name="Text Box 11">
            <a:extLst>
              <a:ext uri="{FF2B5EF4-FFF2-40B4-BE49-F238E27FC236}">
                <a16:creationId xmlns:a16="http://schemas.microsoft.com/office/drawing/2014/main" id="{058C6D55-0534-4549-9898-72D686865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6525" y="39354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2</a:t>
            </a:r>
            <a:endParaRPr lang="en-US" altLang="he-IL" b="1" u="none"/>
          </a:p>
        </p:txBody>
      </p:sp>
      <p:sp>
        <p:nvSpPr>
          <p:cNvPr id="9222" name="Line 12">
            <a:extLst>
              <a:ext uri="{FF2B5EF4-FFF2-40B4-BE49-F238E27FC236}">
                <a16:creationId xmlns:a16="http://schemas.microsoft.com/office/drawing/2014/main" id="{70EE92EF-9645-1845-83B4-8682B0B489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7826" y="41957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23" name="Oval 13">
            <a:extLst>
              <a:ext uri="{FF2B5EF4-FFF2-40B4-BE49-F238E27FC236}">
                <a16:creationId xmlns:a16="http://schemas.microsoft.com/office/drawing/2014/main" id="{7F66532B-8584-8E4A-8EA8-32640313D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3838" y="3910013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9224" name="Text Box 14">
            <a:extLst>
              <a:ext uri="{FF2B5EF4-FFF2-40B4-BE49-F238E27FC236}">
                <a16:creationId xmlns:a16="http://schemas.microsoft.com/office/drawing/2014/main" id="{A134D296-FE65-DC4A-96ED-DA3D52A76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9089" y="3938588"/>
            <a:ext cx="401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</a:t>
            </a:r>
            <a:endParaRPr lang="en-US" altLang="he-IL" b="1" u="none"/>
          </a:p>
        </p:txBody>
      </p:sp>
      <p:sp>
        <p:nvSpPr>
          <p:cNvPr id="9225" name="Line 15">
            <a:extLst>
              <a:ext uri="{FF2B5EF4-FFF2-40B4-BE49-F238E27FC236}">
                <a16:creationId xmlns:a16="http://schemas.microsoft.com/office/drawing/2014/main" id="{F40EE176-D37E-8A4B-95B5-05FEEE3FB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8964" y="4205288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69648" name="Oval 16">
            <a:extLst>
              <a:ext uri="{FF2B5EF4-FFF2-40B4-BE49-F238E27FC236}">
                <a16:creationId xmlns:a16="http://schemas.microsoft.com/office/drawing/2014/main" id="{8CD3B5B5-ED18-1048-B7C3-0086B2BA9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2495551"/>
            <a:ext cx="590550" cy="5762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9227" name="Text Box 17">
            <a:extLst>
              <a:ext uri="{FF2B5EF4-FFF2-40B4-BE49-F238E27FC236}">
                <a16:creationId xmlns:a16="http://schemas.microsoft.com/office/drawing/2014/main" id="{1CFE3297-25A2-B349-8DD7-353489E3B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1763" y="25304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2</a:t>
            </a:r>
            <a:endParaRPr lang="en-US" altLang="he-IL" b="1" u="none"/>
          </a:p>
        </p:txBody>
      </p:sp>
      <p:sp>
        <p:nvSpPr>
          <p:cNvPr id="9228" name="Oval 18">
            <a:extLst>
              <a:ext uri="{FF2B5EF4-FFF2-40B4-BE49-F238E27FC236}">
                <a16:creationId xmlns:a16="http://schemas.microsoft.com/office/drawing/2014/main" id="{0547DF00-2B20-9A4B-8F49-8F4E00D0F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9075" y="2505076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9229" name="Text Box 19">
            <a:extLst>
              <a:ext uri="{FF2B5EF4-FFF2-40B4-BE49-F238E27FC236}">
                <a16:creationId xmlns:a16="http://schemas.microsoft.com/office/drawing/2014/main" id="{4679CA47-98EB-4D45-8370-20A5E9F83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4325" y="2533650"/>
            <a:ext cx="401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</a:t>
            </a:r>
            <a:endParaRPr lang="en-US" altLang="he-IL" b="1" u="none"/>
          </a:p>
        </p:txBody>
      </p:sp>
      <p:sp>
        <p:nvSpPr>
          <p:cNvPr id="9230" name="Line 20">
            <a:extLst>
              <a:ext uri="{FF2B5EF4-FFF2-40B4-BE49-F238E27FC236}">
                <a16:creationId xmlns:a16="http://schemas.microsoft.com/office/drawing/2014/main" id="{64A91E30-43E2-464D-B160-E38F0BB61A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1" y="2800350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31" name="Line 25">
            <a:extLst>
              <a:ext uri="{FF2B5EF4-FFF2-40B4-BE49-F238E27FC236}">
                <a16:creationId xmlns:a16="http://schemas.microsoft.com/office/drawing/2014/main" id="{E5D5D0ED-B28F-A24F-A4E4-F816E52441E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0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32" name="Line 26">
            <a:extLst>
              <a:ext uri="{FF2B5EF4-FFF2-40B4-BE49-F238E27FC236}">
                <a16:creationId xmlns:a16="http://schemas.microsoft.com/office/drawing/2014/main" id="{502A4AE9-4656-3E4A-9580-B507F441A988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1175" y="3087688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33" name="Line 27">
            <a:extLst>
              <a:ext uri="{FF2B5EF4-FFF2-40B4-BE49-F238E27FC236}">
                <a16:creationId xmlns:a16="http://schemas.microsoft.com/office/drawing/2014/main" id="{2B462804-C0C7-4745-9EEA-4EA13A9549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76864" y="2944813"/>
            <a:ext cx="1023937" cy="1028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34" name="Text Box 30">
            <a:extLst>
              <a:ext uri="{FF2B5EF4-FFF2-40B4-BE49-F238E27FC236}">
                <a16:creationId xmlns:a16="http://schemas.microsoft.com/office/drawing/2014/main" id="{86E120CA-8B33-DF42-BCEE-7C3D21C34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2103438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9235" name="Text Box 31">
            <a:extLst>
              <a:ext uri="{FF2B5EF4-FFF2-40B4-BE49-F238E27FC236}">
                <a16:creationId xmlns:a16="http://schemas.microsoft.com/office/drawing/2014/main" id="{DA52DB42-064F-6D43-B9F7-F22CB94FF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1950" y="21129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9236" name="Text Box 34">
            <a:extLst>
              <a:ext uri="{FF2B5EF4-FFF2-40B4-BE49-F238E27FC236}">
                <a16:creationId xmlns:a16="http://schemas.microsoft.com/office/drawing/2014/main" id="{21C328CB-EAF1-6B47-8183-32D5A50B9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43989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9237" name="Text Box 35">
            <a:extLst>
              <a:ext uri="{FF2B5EF4-FFF2-40B4-BE49-F238E27FC236}">
                <a16:creationId xmlns:a16="http://schemas.microsoft.com/office/drawing/2014/main" id="{C923A95B-D9F4-C84A-AFD0-D03C50A19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1475" y="4394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9238" name="Text Box 36">
            <a:extLst>
              <a:ext uri="{FF2B5EF4-FFF2-40B4-BE49-F238E27FC236}">
                <a16:creationId xmlns:a16="http://schemas.microsoft.com/office/drawing/2014/main" id="{07723058-EC31-EF40-B77F-779352EF3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3701" y="5302250"/>
            <a:ext cx="1431925" cy="8509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/>
              <a:t>Q:</a:t>
            </a:r>
            <a:r>
              <a:rPr lang="en-US" altLang="he-IL" u="none"/>
              <a:t>  r   t  x</a:t>
            </a:r>
          </a:p>
          <a:p>
            <a:r>
              <a:rPr lang="en-US" altLang="he-IL" u="none"/>
              <a:t>      1  2  2</a:t>
            </a:r>
          </a:p>
        </p:txBody>
      </p:sp>
      <p:sp>
        <p:nvSpPr>
          <p:cNvPr id="38" name="Oval 3">
            <a:extLst>
              <a:ext uri="{FF2B5EF4-FFF2-40B4-BE49-F238E27FC236}">
                <a16:creationId xmlns:a16="http://schemas.microsoft.com/office/drawing/2014/main" id="{40006AB2-17AC-ED43-89D4-F3D1B4AF5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425" y="2497138"/>
            <a:ext cx="590550" cy="5762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9240" name="Text Box 4">
            <a:extLst>
              <a:ext uri="{FF2B5EF4-FFF2-40B4-BE49-F238E27FC236}">
                <a16:creationId xmlns:a16="http://schemas.microsoft.com/office/drawing/2014/main" id="{7D4DEC13-2106-4B48-8347-1526BEDA6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5606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1</a:t>
            </a:r>
            <a:endParaRPr lang="en-US" altLang="he-IL" b="1" u="none"/>
          </a:p>
        </p:txBody>
      </p:sp>
      <p:sp>
        <p:nvSpPr>
          <p:cNvPr id="9241" name="Oval 5">
            <a:extLst>
              <a:ext uri="{FF2B5EF4-FFF2-40B4-BE49-F238E27FC236}">
                <a16:creationId xmlns:a16="http://schemas.microsoft.com/office/drawing/2014/main" id="{207FA4A1-DE80-A14A-A917-AE374C1FB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249078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9242" name="Text Box 6">
            <a:extLst>
              <a:ext uri="{FF2B5EF4-FFF2-40B4-BE49-F238E27FC236}">
                <a16:creationId xmlns:a16="http://schemas.microsoft.com/office/drawing/2014/main" id="{55716247-4710-4645-BE0F-706B4A0CF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388" y="25542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0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9243" name="Line 7">
            <a:extLst>
              <a:ext uri="{FF2B5EF4-FFF2-40B4-BE49-F238E27FC236}">
                <a16:creationId xmlns:a16="http://schemas.microsoft.com/office/drawing/2014/main" id="{F45D082D-8B41-7745-90F8-AB0E4E1DC2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6689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44" name="Oval 8">
            <a:extLst>
              <a:ext uri="{FF2B5EF4-FFF2-40B4-BE49-F238E27FC236}">
                <a16:creationId xmlns:a16="http://schemas.microsoft.com/office/drawing/2014/main" id="{0BDF905C-C7A3-AB4E-8D02-7033CD0EC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390683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9245" name="Text Box 9">
            <a:extLst>
              <a:ext uri="{FF2B5EF4-FFF2-40B4-BE49-F238E27FC236}">
                <a16:creationId xmlns:a16="http://schemas.microsoft.com/office/drawing/2014/main" id="{4EE2B693-FB69-6047-9ABF-53C695B7A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388" y="39560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1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9246" name="Oval 21">
            <a:extLst>
              <a:ext uri="{FF2B5EF4-FFF2-40B4-BE49-F238E27FC236}">
                <a16:creationId xmlns:a16="http://schemas.microsoft.com/office/drawing/2014/main" id="{DBC829AA-4D7C-8440-8C15-7454CD116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75" y="390683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9247" name="Text Box 22">
            <a:extLst>
              <a:ext uri="{FF2B5EF4-FFF2-40B4-BE49-F238E27FC236}">
                <a16:creationId xmlns:a16="http://schemas.microsoft.com/office/drawing/2014/main" id="{CCBE6EE2-9479-3142-88AF-7826929CE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625" y="3935413"/>
            <a:ext cx="401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</a:t>
            </a:r>
            <a:endParaRPr lang="en-US" altLang="he-IL" b="1" u="none"/>
          </a:p>
        </p:txBody>
      </p:sp>
      <p:sp>
        <p:nvSpPr>
          <p:cNvPr id="9248" name="Line 23">
            <a:extLst>
              <a:ext uri="{FF2B5EF4-FFF2-40B4-BE49-F238E27FC236}">
                <a16:creationId xmlns:a16="http://schemas.microsoft.com/office/drawing/2014/main" id="{83F14A0B-46B2-B945-8D48-0C8704EFFE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7763" y="305911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49" name="Line 24">
            <a:extLst>
              <a:ext uri="{FF2B5EF4-FFF2-40B4-BE49-F238E27FC236}">
                <a16:creationId xmlns:a16="http://schemas.microsoft.com/office/drawing/2014/main" id="{D880A3EC-A9BF-B34B-BCED-1A0118479F1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8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9250" name="Text Box 28">
            <a:extLst>
              <a:ext uri="{FF2B5EF4-FFF2-40B4-BE49-F238E27FC236}">
                <a16:creationId xmlns:a16="http://schemas.microsoft.com/office/drawing/2014/main" id="{BDE17D8D-D003-5844-AD46-648518917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084388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9251" name="Text Box 29">
            <a:extLst>
              <a:ext uri="{FF2B5EF4-FFF2-40B4-BE49-F238E27FC236}">
                <a16:creationId xmlns:a16="http://schemas.microsoft.com/office/drawing/2014/main" id="{406C2C4B-97F9-874E-A092-F8ADD70C2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1" y="2093913"/>
            <a:ext cx="303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9252" name="Text Box 32">
            <a:extLst>
              <a:ext uri="{FF2B5EF4-FFF2-40B4-BE49-F238E27FC236}">
                <a16:creationId xmlns:a16="http://schemas.microsoft.com/office/drawing/2014/main" id="{D49A66B9-9646-FC4E-8C6F-1CB3295D4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3775" y="43799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9253" name="Text Box 33">
            <a:extLst>
              <a:ext uri="{FF2B5EF4-FFF2-40B4-BE49-F238E27FC236}">
                <a16:creationId xmlns:a16="http://schemas.microsoft.com/office/drawing/2014/main" id="{54767A7A-3FB1-2344-AB0B-0D405FA2D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4913" y="4389438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39" name="Rectangle 2">
            <a:extLst>
              <a:ext uri="{FF2B5EF4-FFF2-40B4-BE49-F238E27FC236}">
                <a16:creationId xmlns:a16="http://schemas.microsoft.com/office/drawing/2014/main" id="{DCEBB168-1B85-624D-8197-DA25E521D97B}"/>
              </a:ext>
            </a:extLst>
          </p:cNvPr>
          <p:cNvSpPr txBox="1">
            <a:spLocks noChangeArrowheads="1"/>
          </p:cNvSpPr>
          <p:nvPr/>
        </p:nvSpPr>
        <p:spPr>
          <a:xfrm>
            <a:off x="931863" y="2555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he-IL" sz="3200" b="1" dirty="0">
                <a:latin typeface="+mn-lt"/>
                <a:ea typeface="+mn-ea"/>
                <a:cs typeface="+mn-cs"/>
              </a:rPr>
              <a:t>BFS Example </a:t>
            </a:r>
          </a:p>
        </p:txBody>
      </p:sp>
      <p:sp>
        <p:nvSpPr>
          <p:cNvPr id="40" name="Footer Placeholder 4">
            <a:extLst>
              <a:ext uri="{FF2B5EF4-FFF2-40B4-BE49-F238E27FC236}">
                <a16:creationId xmlns:a16="http://schemas.microsoft.com/office/drawing/2014/main" id="{5D061655-DDFF-394F-91F1-F57B4327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E33E8F-3E41-CD49-B55E-6AF7A64B9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12</a:t>
            </a:fld>
            <a:endParaRPr lang="en-IL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Oval 13">
            <a:extLst>
              <a:ext uri="{FF2B5EF4-FFF2-40B4-BE49-F238E27FC236}">
                <a16:creationId xmlns:a16="http://schemas.microsoft.com/office/drawing/2014/main" id="{DFBACA31-7460-264A-9F17-46C607B23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3838" y="3910013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0245" name="Text Box 14">
            <a:extLst>
              <a:ext uri="{FF2B5EF4-FFF2-40B4-BE49-F238E27FC236}">
                <a16:creationId xmlns:a16="http://schemas.microsoft.com/office/drawing/2014/main" id="{A700C20F-1905-F143-89C1-943390428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9089" y="3938588"/>
            <a:ext cx="401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</a:t>
            </a:r>
            <a:endParaRPr lang="en-US" altLang="he-IL" b="1" u="none"/>
          </a:p>
        </p:txBody>
      </p:sp>
      <p:sp>
        <p:nvSpPr>
          <p:cNvPr id="10246" name="Line 15">
            <a:extLst>
              <a:ext uri="{FF2B5EF4-FFF2-40B4-BE49-F238E27FC236}">
                <a16:creationId xmlns:a16="http://schemas.microsoft.com/office/drawing/2014/main" id="{E950CC7D-1AF1-4649-903C-E4B9B71394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8964" y="4205288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247" name="Oval 18">
            <a:extLst>
              <a:ext uri="{FF2B5EF4-FFF2-40B4-BE49-F238E27FC236}">
                <a16:creationId xmlns:a16="http://schemas.microsoft.com/office/drawing/2014/main" id="{2C4142C1-218D-7A4F-BACD-51840A06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9075" y="2505076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0248" name="Text Box 19">
            <a:extLst>
              <a:ext uri="{FF2B5EF4-FFF2-40B4-BE49-F238E27FC236}">
                <a16:creationId xmlns:a16="http://schemas.microsoft.com/office/drawing/2014/main" id="{01067231-7E3A-6645-87F1-2887F8378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4325" y="2533650"/>
            <a:ext cx="401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</a:t>
            </a:r>
            <a:endParaRPr lang="en-US" altLang="he-IL" b="1" u="none"/>
          </a:p>
        </p:txBody>
      </p:sp>
      <p:sp>
        <p:nvSpPr>
          <p:cNvPr id="10249" name="Line 20">
            <a:extLst>
              <a:ext uri="{FF2B5EF4-FFF2-40B4-BE49-F238E27FC236}">
                <a16:creationId xmlns:a16="http://schemas.microsoft.com/office/drawing/2014/main" id="{9B08F1FF-2F25-3A43-91A4-1654CA0AD7D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1" y="2800350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70677" name="Oval 21">
            <a:extLst>
              <a:ext uri="{FF2B5EF4-FFF2-40B4-BE49-F238E27FC236}">
                <a16:creationId xmlns:a16="http://schemas.microsoft.com/office/drawing/2014/main" id="{CE911482-30AE-444F-BC62-FD52B14B3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75" y="3906838"/>
            <a:ext cx="590550" cy="5762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10251" name="Text Box 22">
            <a:extLst>
              <a:ext uri="{FF2B5EF4-FFF2-40B4-BE49-F238E27FC236}">
                <a16:creationId xmlns:a16="http://schemas.microsoft.com/office/drawing/2014/main" id="{B5629EA4-DD4D-E944-B484-1E82358E7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9488" y="39560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2</a:t>
            </a:r>
            <a:endParaRPr lang="en-US" altLang="he-IL" b="1" u="none"/>
          </a:p>
        </p:txBody>
      </p:sp>
      <p:sp>
        <p:nvSpPr>
          <p:cNvPr id="10252" name="Line 23">
            <a:extLst>
              <a:ext uri="{FF2B5EF4-FFF2-40B4-BE49-F238E27FC236}">
                <a16:creationId xmlns:a16="http://schemas.microsoft.com/office/drawing/2014/main" id="{6B6AF917-E54D-F346-87AC-9C4E44AFAD0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7763" y="305911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253" name="Line 26">
            <a:extLst>
              <a:ext uri="{FF2B5EF4-FFF2-40B4-BE49-F238E27FC236}">
                <a16:creationId xmlns:a16="http://schemas.microsoft.com/office/drawing/2014/main" id="{0618D802-5067-6746-8292-0C8D88371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1175" y="3087688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254" name="Text Box 31">
            <a:extLst>
              <a:ext uri="{FF2B5EF4-FFF2-40B4-BE49-F238E27FC236}">
                <a16:creationId xmlns:a16="http://schemas.microsoft.com/office/drawing/2014/main" id="{B1BBCE90-9A36-5448-9717-62D3A1A20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1950" y="21129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10255" name="Text Box 32">
            <a:extLst>
              <a:ext uri="{FF2B5EF4-FFF2-40B4-BE49-F238E27FC236}">
                <a16:creationId xmlns:a16="http://schemas.microsoft.com/office/drawing/2014/main" id="{9D9090BB-A820-9C43-AE89-7C49AA3AC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3775" y="43799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10256" name="Text Box 35">
            <a:extLst>
              <a:ext uri="{FF2B5EF4-FFF2-40B4-BE49-F238E27FC236}">
                <a16:creationId xmlns:a16="http://schemas.microsoft.com/office/drawing/2014/main" id="{CF12AE0F-355E-3340-B0AB-E036F275E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1475" y="4394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10257" name="Text Box 36">
            <a:extLst>
              <a:ext uri="{FF2B5EF4-FFF2-40B4-BE49-F238E27FC236}">
                <a16:creationId xmlns:a16="http://schemas.microsoft.com/office/drawing/2014/main" id="{65842A61-8F82-BE41-B007-2532D7496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3701" y="5302250"/>
            <a:ext cx="1431925" cy="8509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/>
              <a:t>Q:</a:t>
            </a:r>
            <a:r>
              <a:rPr lang="en-US" altLang="he-IL" u="none"/>
              <a:t>  t  x  v</a:t>
            </a:r>
          </a:p>
          <a:p>
            <a:r>
              <a:rPr lang="en-US" altLang="he-IL" u="none"/>
              <a:t>      2  2  2</a:t>
            </a:r>
          </a:p>
        </p:txBody>
      </p:sp>
      <p:sp>
        <p:nvSpPr>
          <p:cNvPr id="38" name="Oval 10">
            <a:extLst>
              <a:ext uri="{FF2B5EF4-FFF2-40B4-BE49-F238E27FC236}">
                <a16:creationId xmlns:a16="http://schemas.microsoft.com/office/drawing/2014/main" id="{550FA49B-595A-1344-8217-6ED376328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3900488"/>
            <a:ext cx="590550" cy="5762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10259" name="Text Box 11">
            <a:extLst>
              <a:ext uri="{FF2B5EF4-FFF2-40B4-BE49-F238E27FC236}">
                <a16:creationId xmlns:a16="http://schemas.microsoft.com/office/drawing/2014/main" id="{74E0724C-6E80-EA47-A9EA-D4D3A1C11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6525" y="39354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2</a:t>
            </a:r>
            <a:endParaRPr lang="en-US" altLang="he-IL" b="1" u="none"/>
          </a:p>
        </p:txBody>
      </p:sp>
      <p:sp>
        <p:nvSpPr>
          <p:cNvPr id="10260" name="Line 12">
            <a:extLst>
              <a:ext uri="{FF2B5EF4-FFF2-40B4-BE49-F238E27FC236}">
                <a16:creationId xmlns:a16="http://schemas.microsoft.com/office/drawing/2014/main" id="{14B02C04-FA90-3949-AADD-35215C41B0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7826" y="41957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1" name="Oval 16">
            <a:extLst>
              <a:ext uri="{FF2B5EF4-FFF2-40B4-BE49-F238E27FC236}">
                <a16:creationId xmlns:a16="http://schemas.microsoft.com/office/drawing/2014/main" id="{543B228B-0EAD-F44D-B695-9753AF5E8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2495551"/>
            <a:ext cx="590550" cy="5762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10262" name="Text Box 17">
            <a:extLst>
              <a:ext uri="{FF2B5EF4-FFF2-40B4-BE49-F238E27FC236}">
                <a16:creationId xmlns:a16="http://schemas.microsoft.com/office/drawing/2014/main" id="{4CA20BD9-C7F4-BB4E-99A2-023A99921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1763" y="25304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2</a:t>
            </a:r>
            <a:endParaRPr lang="en-US" altLang="he-IL" b="1" u="none"/>
          </a:p>
        </p:txBody>
      </p:sp>
      <p:sp>
        <p:nvSpPr>
          <p:cNvPr id="10263" name="Line 25">
            <a:extLst>
              <a:ext uri="{FF2B5EF4-FFF2-40B4-BE49-F238E27FC236}">
                <a16:creationId xmlns:a16="http://schemas.microsoft.com/office/drawing/2014/main" id="{54CE596D-6287-6843-9EDB-6596135418D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0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264" name="Line 27">
            <a:extLst>
              <a:ext uri="{FF2B5EF4-FFF2-40B4-BE49-F238E27FC236}">
                <a16:creationId xmlns:a16="http://schemas.microsoft.com/office/drawing/2014/main" id="{8487447B-7742-9849-A1FB-0FCCE59F9E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76864" y="2944813"/>
            <a:ext cx="1023937" cy="1028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265" name="Text Box 30">
            <a:extLst>
              <a:ext uri="{FF2B5EF4-FFF2-40B4-BE49-F238E27FC236}">
                <a16:creationId xmlns:a16="http://schemas.microsoft.com/office/drawing/2014/main" id="{FE6DE256-C50C-1944-8314-1E2B50F9A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2103438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10266" name="Oval 3">
            <a:extLst>
              <a:ext uri="{FF2B5EF4-FFF2-40B4-BE49-F238E27FC236}">
                <a16:creationId xmlns:a16="http://schemas.microsoft.com/office/drawing/2014/main" id="{3C626615-BFA7-284A-9E69-33D05FD6B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425" y="249713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0267" name="Text Box 4">
            <a:extLst>
              <a:ext uri="{FF2B5EF4-FFF2-40B4-BE49-F238E27FC236}">
                <a16:creationId xmlns:a16="http://schemas.microsoft.com/office/drawing/2014/main" id="{A9F39F21-7F70-5D4B-AEEB-F7CEE0CC8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5606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1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0268" name="Oval 5">
            <a:extLst>
              <a:ext uri="{FF2B5EF4-FFF2-40B4-BE49-F238E27FC236}">
                <a16:creationId xmlns:a16="http://schemas.microsoft.com/office/drawing/2014/main" id="{0FC4AE81-9E5F-F94C-8937-346189FCC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249078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0269" name="Text Box 6">
            <a:extLst>
              <a:ext uri="{FF2B5EF4-FFF2-40B4-BE49-F238E27FC236}">
                <a16:creationId xmlns:a16="http://schemas.microsoft.com/office/drawing/2014/main" id="{F0101811-B74A-7445-9F22-83F3EC673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388" y="25542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0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0270" name="Line 7">
            <a:extLst>
              <a:ext uri="{FF2B5EF4-FFF2-40B4-BE49-F238E27FC236}">
                <a16:creationId xmlns:a16="http://schemas.microsoft.com/office/drawing/2014/main" id="{ABAD2784-9255-0043-9530-D1EE629EA83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6689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271" name="Oval 8">
            <a:extLst>
              <a:ext uri="{FF2B5EF4-FFF2-40B4-BE49-F238E27FC236}">
                <a16:creationId xmlns:a16="http://schemas.microsoft.com/office/drawing/2014/main" id="{690BAB63-FBA8-854B-9752-E065E1E9C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390683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0272" name="Text Box 9">
            <a:extLst>
              <a:ext uri="{FF2B5EF4-FFF2-40B4-BE49-F238E27FC236}">
                <a16:creationId xmlns:a16="http://schemas.microsoft.com/office/drawing/2014/main" id="{C58BA164-D3B1-CE41-A607-7609A63AD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388" y="39560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1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0273" name="Line 24">
            <a:extLst>
              <a:ext uri="{FF2B5EF4-FFF2-40B4-BE49-F238E27FC236}">
                <a16:creationId xmlns:a16="http://schemas.microsoft.com/office/drawing/2014/main" id="{782187BD-32BF-424A-B1C8-DBEA3CCE54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8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0274" name="Text Box 28">
            <a:extLst>
              <a:ext uri="{FF2B5EF4-FFF2-40B4-BE49-F238E27FC236}">
                <a16:creationId xmlns:a16="http://schemas.microsoft.com/office/drawing/2014/main" id="{C5344844-AD30-004E-AFB4-C84821800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084388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10275" name="Text Box 29">
            <a:extLst>
              <a:ext uri="{FF2B5EF4-FFF2-40B4-BE49-F238E27FC236}">
                <a16:creationId xmlns:a16="http://schemas.microsoft.com/office/drawing/2014/main" id="{3937CA69-CE90-824D-818C-FD32AF1B3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1" y="2093913"/>
            <a:ext cx="303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10276" name="Text Box 34">
            <a:extLst>
              <a:ext uri="{FF2B5EF4-FFF2-40B4-BE49-F238E27FC236}">
                <a16:creationId xmlns:a16="http://schemas.microsoft.com/office/drawing/2014/main" id="{ACE92429-2A71-4C46-A32F-44B7AC0EE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43989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10277" name="Text Box 33">
            <a:extLst>
              <a:ext uri="{FF2B5EF4-FFF2-40B4-BE49-F238E27FC236}">
                <a16:creationId xmlns:a16="http://schemas.microsoft.com/office/drawing/2014/main" id="{E3B182AB-794C-0541-8F00-91BC9CAA3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4913" y="4389438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6FAF1376-3BFB-7F44-9E9F-DAD8668115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he-IL" sz="3200" b="1" dirty="0">
                <a:latin typeface="+mn-lt"/>
                <a:ea typeface="+mn-ea"/>
                <a:cs typeface="+mn-cs"/>
              </a:rPr>
              <a:t>BFS Example </a:t>
            </a:r>
          </a:p>
        </p:txBody>
      </p:sp>
      <p:sp>
        <p:nvSpPr>
          <p:cNvPr id="42" name="Footer Placeholder 4">
            <a:extLst>
              <a:ext uri="{FF2B5EF4-FFF2-40B4-BE49-F238E27FC236}">
                <a16:creationId xmlns:a16="http://schemas.microsoft.com/office/drawing/2014/main" id="{394D1FBD-D812-D74C-88A9-7B745911B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68A963-9718-D042-8B47-7F52D03DF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13</a:t>
            </a:fld>
            <a:endParaRPr lang="en-IL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Oval 13">
            <a:extLst>
              <a:ext uri="{FF2B5EF4-FFF2-40B4-BE49-F238E27FC236}">
                <a16:creationId xmlns:a16="http://schemas.microsoft.com/office/drawing/2014/main" id="{2E5D8749-8628-874F-A5F4-0EB146F21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3838" y="3910013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1269" name="Text Box 14">
            <a:extLst>
              <a:ext uri="{FF2B5EF4-FFF2-40B4-BE49-F238E27FC236}">
                <a16:creationId xmlns:a16="http://schemas.microsoft.com/office/drawing/2014/main" id="{C5372D2D-A2EE-9E44-BCB4-8FDC18F2A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9089" y="3938588"/>
            <a:ext cx="401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</a:t>
            </a:r>
            <a:endParaRPr lang="en-US" altLang="he-IL" b="1" u="none"/>
          </a:p>
        </p:txBody>
      </p:sp>
      <p:sp>
        <p:nvSpPr>
          <p:cNvPr id="11270" name="Line 15">
            <a:extLst>
              <a:ext uri="{FF2B5EF4-FFF2-40B4-BE49-F238E27FC236}">
                <a16:creationId xmlns:a16="http://schemas.microsoft.com/office/drawing/2014/main" id="{FE95177A-3186-164C-AED5-4F2CA87C663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8964" y="4205288"/>
            <a:ext cx="923925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71698" name="Oval 18">
            <a:extLst>
              <a:ext uri="{FF2B5EF4-FFF2-40B4-BE49-F238E27FC236}">
                <a16:creationId xmlns:a16="http://schemas.microsoft.com/office/drawing/2014/main" id="{AAF298A9-3D73-864A-A1ED-2A1DF481F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9075" y="2505076"/>
            <a:ext cx="590550" cy="5762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11272" name="Text Box 19">
            <a:extLst>
              <a:ext uri="{FF2B5EF4-FFF2-40B4-BE49-F238E27FC236}">
                <a16:creationId xmlns:a16="http://schemas.microsoft.com/office/drawing/2014/main" id="{214A5497-AA5F-A644-BBA8-D3DB0ACAB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2900" y="25542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3</a:t>
            </a:r>
            <a:endParaRPr lang="en-US" altLang="he-IL" b="1" u="none"/>
          </a:p>
        </p:txBody>
      </p:sp>
      <p:sp>
        <p:nvSpPr>
          <p:cNvPr id="11273" name="Line 20">
            <a:extLst>
              <a:ext uri="{FF2B5EF4-FFF2-40B4-BE49-F238E27FC236}">
                <a16:creationId xmlns:a16="http://schemas.microsoft.com/office/drawing/2014/main" id="{B9CBEF3B-B2A2-C74F-B53E-3157383C674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1" y="2800350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1274" name="Line 26">
            <a:extLst>
              <a:ext uri="{FF2B5EF4-FFF2-40B4-BE49-F238E27FC236}">
                <a16:creationId xmlns:a16="http://schemas.microsoft.com/office/drawing/2014/main" id="{DE0AC7DB-E98D-2D41-98D4-B95921973C81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1175" y="3087688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1275" name="Text Box 31">
            <a:extLst>
              <a:ext uri="{FF2B5EF4-FFF2-40B4-BE49-F238E27FC236}">
                <a16:creationId xmlns:a16="http://schemas.microsoft.com/office/drawing/2014/main" id="{C78DFDCB-3BED-7945-9C73-2D932E41E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1950" y="21129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11276" name="Text Box 35">
            <a:extLst>
              <a:ext uri="{FF2B5EF4-FFF2-40B4-BE49-F238E27FC236}">
                <a16:creationId xmlns:a16="http://schemas.microsoft.com/office/drawing/2014/main" id="{BAD1B08B-6EF6-CB41-8E7E-559BE6B41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1475" y="4394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11277" name="Text Box 36">
            <a:extLst>
              <a:ext uri="{FF2B5EF4-FFF2-40B4-BE49-F238E27FC236}">
                <a16:creationId xmlns:a16="http://schemas.microsoft.com/office/drawing/2014/main" id="{C82FACE2-2949-644F-947A-3247E2ED0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3701" y="5302250"/>
            <a:ext cx="1465263" cy="8509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/>
              <a:t>Q:</a:t>
            </a:r>
            <a:r>
              <a:rPr lang="en-US" altLang="he-IL" u="none"/>
              <a:t>  x  v  u</a:t>
            </a:r>
          </a:p>
          <a:p>
            <a:r>
              <a:rPr lang="en-US" altLang="he-IL" u="none"/>
              <a:t>      2  2  3</a:t>
            </a:r>
          </a:p>
        </p:txBody>
      </p:sp>
      <p:sp>
        <p:nvSpPr>
          <p:cNvPr id="11278" name="Line 23">
            <a:extLst>
              <a:ext uri="{FF2B5EF4-FFF2-40B4-BE49-F238E27FC236}">
                <a16:creationId xmlns:a16="http://schemas.microsoft.com/office/drawing/2014/main" id="{F94A20F1-AA88-EF4A-B653-A91247250F4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7763" y="305911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2" name="Oval 10">
            <a:extLst>
              <a:ext uri="{FF2B5EF4-FFF2-40B4-BE49-F238E27FC236}">
                <a16:creationId xmlns:a16="http://schemas.microsoft.com/office/drawing/2014/main" id="{5380325E-0146-AF4D-8B59-2DF7E96F0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3900488"/>
            <a:ext cx="590550" cy="5762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11280" name="Text Box 11">
            <a:extLst>
              <a:ext uri="{FF2B5EF4-FFF2-40B4-BE49-F238E27FC236}">
                <a16:creationId xmlns:a16="http://schemas.microsoft.com/office/drawing/2014/main" id="{9A82F693-28CF-B140-9C9D-22ADA366D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6525" y="39354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2</a:t>
            </a:r>
            <a:endParaRPr lang="en-US" altLang="he-IL" b="1" u="none"/>
          </a:p>
        </p:txBody>
      </p:sp>
      <p:sp>
        <p:nvSpPr>
          <p:cNvPr id="11281" name="Line 12">
            <a:extLst>
              <a:ext uri="{FF2B5EF4-FFF2-40B4-BE49-F238E27FC236}">
                <a16:creationId xmlns:a16="http://schemas.microsoft.com/office/drawing/2014/main" id="{0CF1D1DA-C5DC-7A43-936F-07B9D76B63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7826" y="41957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1282" name="Oval 16">
            <a:extLst>
              <a:ext uri="{FF2B5EF4-FFF2-40B4-BE49-F238E27FC236}">
                <a16:creationId xmlns:a16="http://schemas.microsoft.com/office/drawing/2014/main" id="{3465A3D9-466C-7449-89DB-FF4264D9D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2495551"/>
            <a:ext cx="590550" cy="57626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1283" name="Text Box 17">
            <a:extLst>
              <a:ext uri="{FF2B5EF4-FFF2-40B4-BE49-F238E27FC236}">
                <a16:creationId xmlns:a16="http://schemas.microsoft.com/office/drawing/2014/main" id="{BE56BDA6-F2C4-3C4A-9B59-4DE63200F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1763" y="25304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2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1284" name="Line 25">
            <a:extLst>
              <a:ext uri="{FF2B5EF4-FFF2-40B4-BE49-F238E27FC236}">
                <a16:creationId xmlns:a16="http://schemas.microsoft.com/office/drawing/2014/main" id="{C84BB8F3-AE52-074C-A238-C6E3E54BFA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0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1285" name="Line 27">
            <a:extLst>
              <a:ext uri="{FF2B5EF4-FFF2-40B4-BE49-F238E27FC236}">
                <a16:creationId xmlns:a16="http://schemas.microsoft.com/office/drawing/2014/main" id="{1363FCFB-BE34-6F4C-80D2-1446DA3E56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76864" y="2944813"/>
            <a:ext cx="1023937" cy="1028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1286" name="Text Box 30">
            <a:extLst>
              <a:ext uri="{FF2B5EF4-FFF2-40B4-BE49-F238E27FC236}">
                <a16:creationId xmlns:a16="http://schemas.microsoft.com/office/drawing/2014/main" id="{0D04EA82-DDE9-EE46-BFC4-B89DED9DD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2103438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11287" name="Oval 3">
            <a:extLst>
              <a:ext uri="{FF2B5EF4-FFF2-40B4-BE49-F238E27FC236}">
                <a16:creationId xmlns:a16="http://schemas.microsoft.com/office/drawing/2014/main" id="{8BD948BA-C0F9-BB45-99FC-2B59640D6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425" y="249713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1288" name="Text Box 4">
            <a:extLst>
              <a:ext uri="{FF2B5EF4-FFF2-40B4-BE49-F238E27FC236}">
                <a16:creationId xmlns:a16="http://schemas.microsoft.com/office/drawing/2014/main" id="{717C5F5A-C886-E943-87DC-10E457ABB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5606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1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1289" name="Oval 5">
            <a:extLst>
              <a:ext uri="{FF2B5EF4-FFF2-40B4-BE49-F238E27FC236}">
                <a16:creationId xmlns:a16="http://schemas.microsoft.com/office/drawing/2014/main" id="{2432E989-67D1-3A42-BF81-6A5D16C91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249078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1290" name="Text Box 6">
            <a:extLst>
              <a:ext uri="{FF2B5EF4-FFF2-40B4-BE49-F238E27FC236}">
                <a16:creationId xmlns:a16="http://schemas.microsoft.com/office/drawing/2014/main" id="{A70AE556-C8BA-8D49-84C1-FBD40FB13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388" y="25542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0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1291" name="Line 7">
            <a:extLst>
              <a:ext uri="{FF2B5EF4-FFF2-40B4-BE49-F238E27FC236}">
                <a16:creationId xmlns:a16="http://schemas.microsoft.com/office/drawing/2014/main" id="{A0DA32C1-6B85-1F41-A1FB-346BD1E15B4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6689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1292" name="Oval 8">
            <a:extLst>
              <a:ext uri="{FF2B5EF4-FFF2-40B4-BE49-F238E27FC236}">
                <a16:creationId xmlns:a16="http://schemas.microsoft.com/office/drawing/2014/main" id="{01FDFD9C-4C8C-0243-8428-69008BEDF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390683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1293" name="Text Box 9">
            <a:extLst>
              <a:ext uri="{FF2B5EF4-FFF2-40B4-BE49-F238E27FC236}">
                <a16:creationId xmlns:a16="http://schemas.microsoft.com/office/drawing/2014/main" id="{D401B7EF-06C4-694C-A0D2-F4F06DB95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388" y="39560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1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1294" name="Line 24">
            <a:extLst>
              <a:ext uri="{FF2B5EF4-FFF2-40B4-BE49-F238E27FC236}">
                <a16:creationId xmlns:a16="http://schemas.microsoft.com/office/drawing/2014/main" id="{B7EBD531-BFC1-894D-8D40-108EECD9D7D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8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1295" name="Text Box 28">
            <a:extLst>
              <a:ext uri="{FF2B5EF4-FFF2-40B4-BE49-F238E27FC236}">
                <a16:creationId xmlns:a16="http://schemas.microsoft.com/office/drawing/2014/main" id="{802A4A05-285B-1D42-9D70-632E2E4EF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084388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11296" name="Text Box 29">
            <a:extLst>
              <a:ext uri="{FF2B5EF4-FFF2-40B4-BE49-F238E27FC236}">
                <a16:creationId xmlns:a16="http://schemas.microsoft.com/office/drawing/2014/main" id="{190065AF-022D-5E41-B08A-038829E4A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1" y="2093913"/>
            <a:ext cx="303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11297" name="Text Box 34">
            <a:extLst>
              <a:ext uri="{FF2B5EF4-FFF2-40B4-BE49-F238E27FC236}">
                <a16:creationId xmlns:a16="http://schemas.microsoft.com/office/drawing/2014/main" id="{FB89333F-39C7-C445-892F-CE19C6ED8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43989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11298" name="Text Box 33">
            <a:extLst>
              <a:ext uri="{FF2B5EF4-FFF2-40B4-BE49-F238E27FC236}">
                <a16:creationId xmlns:a16="http://schemas.microsoft.com/office/drawing/2014/main" id="{6EA6C0FC-A747-594E-B56B-73A613EE3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4913" y="4389438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62" name="Oval 21">
            <a:extLst>
              <a:ext uri="{FF2B5EF4-FFF2-40B4-BE49-F238E27FC236}">
                <a16:creationId xmlns:a16="http://schemas.microsoft.com/office/drawing/2014/main" id="{BD8A42E6-18CD-0149-ABE7-02B6450EF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75" y="3906838"/>
            <a:ext cx="590550" cy="5762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11300" name="Text Box 22">
            <a:extLst>
              <a:ext uri="{FF2B5EF4-FFF2-40B4-BE49-F238E27FC236}">
                <a16:creationId xmlns:a16="http://schemas.microsoft.com/office/drawing/2014/main" id="{05C68713-FFEA-CE4D-86F2-8422CE7F6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9488" y="39560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2</a:t>
            </a:r>
            <a:endParaRPr lang="en-US" altLang="he-IL" b="1" u="none"/>
          </a:p>
        </p:txBody>
      </p:sp>
      <p:sp>
        <p:nvSpPr>
          <p:cNvPr id="11301" name="Text Box 32">
            <a:extLst>
              <a:ext uri="{FF2B5EF4-FFF2-40B4-BE49-F238E27FC236}">
                <a16:creationId xmlns:a16="http://schemas.microsoft.com/office/drawing/2014/main" id="{DD70A51B-7778-A04D-AF62-8DF64BF05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3775" y="43799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28757A3C-DBDB-154E-BB67-C5AEC710DC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he-IL" sz="3200" b="1" dirty="0">
                <a:latin typeface="+mn-lt"/>
                <a:ea typeface="+mn-ea"/>
                <a:cs typeface="+mn-cs"/>
              </a:rPr>
              <a:t>BFS Example </a:t>
            </a: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F5DE5DC3-91BE-124A-AE97-8B132531A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CFBC5A-F5CD-5D40-B288-390245ED4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14</a:t>
            </a:fld>
            <a:endParaRPr lang="en-IL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17" name="Oval 13">
            <a:extLst>
              <a:ext uri="{FF2B5EF4-FFF2-40B4-BE49-F238E27FC236}">
                <a16:creationId xmlns:a16="http://schemas.microsoft.com/office/drawing/2014/main" id="{3F7D1A11-7995-484B-A71F-963F97152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3838" y="3910013"/>
            <a:ext cx="590550" cy="5762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12293" name="Text Box 14">
            <a:extLst>
              <a:ext uri="{FF2B5EF4-FFF2-40B4-BE49-F238E27FC236}">
                <a16:creationId xmlns:a16="http://schemas.microsoft.com/office/drawing/2014/main" id="{32E8DD8C-51B0-3943-91BC-DF8288F46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75" y="39449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3</a:t>
            </a:r>
            <a:endParaRPr lang="en-US" altLang="he-IL" b="1" u="none"/>
          </a:p>
        </p:txBody>
      </p:sp>
      <p:sp>
        <p:nvSpPr>
          <p:cNvPr id="12294" name="Line 15">
            <a:extLst>
              <a:ext uri="{FF2B5EF4-FFF2-40B4-BE49-F238E27FC236}">
                <a16:creationId xmlns:a16="http://schemas.microsoft.com/office/drawing/2014/main" id="{7DC54B09-B1F7-3F42-B795-530C59DCA2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8964" y="42052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2295" name="Line 26">
            <a:extLst>
              <a:ext uri="{FF2B5EF4-FFF2-40B4-BE49-F238E27FC236}">
                <a16:creationId xmlns:a16="http://schemas.microsoft.com/office/drawing/2014/main" id="{741CDE93-7736-2F49-8847-1908F2D0BB77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1175" y="3087688"/>
            <a:ext cx="0" cy="8429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2296" name="Text Box 35">
            <a:extLst>
              <a:ext uri="{FF2B5EF4-FFF2-40B4-BE49-F238E27FC236}">
                <a16:creationId xmlns:a16="http://schemas.microsoft.com/office/drawing/2014/main" id="{A28E4D47-0DD1-7F4C-908F-A348BD25C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1475" y="4394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12297" name="Text Box 36">
            <a:extLst>
              <a:ext uri="{FF2B5EF4-FFF2-40B4-BE49-F238E27FC236}">
                <a16:creationId xmlns:a16="http://schemas.microsoft.com/office/drawing/2014/main" id="{40F522EF-4AC1-724B-95A2-ED9D0A7AD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3701" y="5302250"/>
            <a:ext cx="1465263" cy="8509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/>
              <a:t>Q:</a:t>
            </a:r>
            <a:r>
              <a:rPr lang="en-US" altLang="he-IL" u="none"/>
              <a:t>  v  u  y</a:t>
            </a:r>
          </a:p>
          <a:p>
            <a:r>
              <a:rPr lang="en-US" altLang="he-IL" u="none"/>
              <a:t>      2  3  3</a:t>
            </a:r>
          </a:p>
        </p:txBody>
      </p:sp>
      <p:sp>
        <p:nvSpPr>
          <p:cNvPr id="12298" name="Line 23">
            <a:extLst>
              <a:ext uri="{FF2B5EF4-FFF2-40B4-BE49-F238E27FC236}">
                <a16:creationId xmlns:a16="http://schemas.microsoft.com/office/drawing/2014/main" id="{E4EE1650-7E9E-2741-9995-9B7D1C68977B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7763" y="305911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2299" name="Oval 10">
            <a:extLst>
              <a:ext uri="{FF2B5EF4-FFF2-40B4-BE49-F238E27FC236}">
                <a16:creationId xmlns:a16="http://schemas.microsoft.com/office/drawing/2014/main" id="{485A9F88-2514-E140-8A94-10A92AD66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390048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2300" name="Text Box 11">
            <a:extLst>
              <a:ext uri="{FF2B5EF4-FFF2-40B4-BE49-F238E27FC236}">
                <a16:creationId xmlns:a16="http://schemas.microsoft.com/office/drawing/2014/main" id="{98776801-9B39-2846-BEEA-1AEF7D403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6525" y="39354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2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2301" name="Line 12">
            <a:extLst>
              <a:ext uri="{FF2B5EF4-FFF2-40B4-BE49-F238E27FC236}">
                <a16:creationId xmlns:a16="http://schemas.microsoft.com/office/drawing/2014/main" id="{DD50F95B-8DFD-5C41-A54C-9C6219FDDB3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7826" y="41957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2302" name="Oval 16">
            <a:extLst>
              <a:ext uri="{FF2B5EF4-FFF2-40B4-BE49-F238E27FC236}">
                <a16:creationId xmlns:a16="http://schemas.microsoft.com/office/drawing/2014/main" id="{C51C73CD-313F-E14D-B257-B73E5DE07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2495551"/>
            <a:ext cx="590550" cy="57626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2303" name="Text Box 17">
            <a:extLst>
              <a:ext uri="{FF2B5EF4-FFF2-40B4-BE49-F238E27FC236}">
                <a16:creationId xmlns:a16="http://schemas.microsoft.com/office/drawing/2014/main" id="{70EE05C5-0CF7-F040-A520-6A4954EC7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1763" y="25304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2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2304" name="Line 25">
            <a:extLst>
              <a:ext uri="{FF2B5EF4-FFF2-40B4-BE49-F238E27FC236}">
                <a16:creationId xmlns:a16="http://schemas.microsoft.com/office/drawing/2014/main" id="{7EF853C9-0333-5A47-BB27-485DB051EC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0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2305" name="Line 27">
            <a:extLst>
              <a:ext uri="{FF2B5EF4-FFF2-40B4-BE49-F238E27FC236}">
                <a16:creationId xmlns:a16="http://schemas.microsoft.com/office/drawing/2014/main" id="{042B7C1A-33B3-0B48-83D8-8F15568014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76864" y="2944813"/>
            <a:ext cx="1023937" cy="1028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2306" name="Text Box 30">
            <a:extLst>
              <a:ext uri="{FF2B5EF4-FFF2-40B4-BE49-F238E27FC236}">
                <a16:creationId xmlns:a16="http://schemas.microsoft.com/office/drawing/2014/main" id="{F28452F2-77FE-1449-85CF-4F4E1D064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2103438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12307" name="Oval 3">
            <a:extLst>
              <a:ext uri="{FF2B5EF4-FFF2-40B4-BE49-F238E27FC236}">
                <a16:creationId xmlns:a16="http://schemas.microsoft.com/office/drawing/2014/main" id="{F8DEADE8-26F8-3F4A-B5B7-F0E06119C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425" y="249713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2308" name="Text Box 4">
            <a:extLst>
              <a:ext uri="{FF2B5EF4-FFF2-40B4-BE49-F238E27FC236}">
                <a16:creationId xmlns:a16="http://schemas.microsoft.com/office/drawing/2014/main" id="{20E777BA-D759-004F-8074-11E4316DE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5606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1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2309" name="Oval 5">
            <a:extLst>
              <a:ext uri="{FF2B5EF4-FFF2-40B4-BE49-F238E27FC236}">
                <a16:creationId xmlns:a16="http://schemas.microsoft.com/office/drawing/2014/main" id="{729020FF-BA51-484A-BDD9-C29988B38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249078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2310" name="Text Box 6">
            <a:extLst>
              <a:ext uri="{FF2B5EF4-FFF2-40B4-BE49-F238E27FC236}">
                <a16:creationId xmlns:a16="http://schemas.microsoft.com/office/drawing/2014/main" id="{558C5720-4CD3-E14E-8BD0-B4B7771D9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388" y="25542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0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2311" name="Line 7">
            <a:extLst>
              <a:ext uri="{FF2B5EF4-FFF2-40B4-BE49-F238E27FC236}">
                <a16:creationId xmlns:a16="http://schemas.microsoft.com/office/drawing/2014/main" id="{4749F2EE-3D49-564F-9386-D57C7EF7A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6689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2312" name="Oval 8">
            <a:extLst>
              <a:ext uri="{FF2B5EF4-FFF2-40B4-BE49-F238E27FC236}">
                <a16:creationId xmlns:a16="http://schemas.microsoft.com/office/drawing/2014/main" id="{EAE15BBD-73A8-0348-BDD2-3BE89A4AB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390683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2313" name="Text Box 9">
            <a:extLst>
              <a:ext uri="{FF2B5EF4-FFF2-40B4-BE49-F238E27FC236}">
                <a16:creationId xmlns:a16="http://schemas.microsoft.com/office/drawing/2014/main" id="{2DC94C18-840E-1745-878F-B0F7436E9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388" y="39560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1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2314" name="Line 24">
            <a:extLst>
              <a:ext uri="{FF2B5EF4-FFF2-40B4-BE49-F238E27FC236}">
                <a16:creationId xmlns:a16="http://schemas.microsoft.com/office/drawing/2014/main" id="{BF3DE816-88D3-FA4D-A4E4-B41D20A99FE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8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2315" name="Text Box 28">
            <a:extLst>
              <a:ext uri="{FF2B5EF4-FFF2-40B4-BE49-F238E27FC236}">
                <a16:creationId xmlns:a16="http://schemas.microsoft.com/office/drawing/2014/main" id="{C51814AB-A844-6E4F-A653-4F1911948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084388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12316" name="Text Box 29">
            <a:extLst>
              <a:ext uri="{FF2B5EF4-FFF2-40B4-BE49-F238E27FC236}">
                <a16:creationId xmlns:a16="http://schemas.microsoft.com/office/drawing/2014/main" id="{779EB25A-3586-FF4B-8802-315A1D54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1" y="2093913"/>
            <a:ext cx="303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57" name="Oval 21">
            <a:extLst>
              <a:ext uri="{FF2B5EF4-FFF2-40B4-BE49-F238E27FC236}">
                <a16:creationId xmlns:a16="http://schemas.microsoft.com/office/drawing/2014/main" id="{1C7AED6A-BC44-2F46-81D0-763982361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75" y="3906838"/>
            <a:ext cx="590550" cy="5762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12318" name="Text Box 22">
            <a:extLst>
              <a:ext uri="{FF2B5EF4-FFF2-40B4-BE49-F238E27FC236}">
                <a16:creationId xmlns:a16="http://schemas.microsoft.com/office/drawing/2014/main" id="{0C192DC3-6B65-034D-84BA-43CEBB43D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9488" y="39560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2</a:t>
            </a:r>
            <a:endParaRPr lang="en-US" altLang="he-IL" b="1" u="none"/>
          </a:p>
        </p:txBody>
      </p:sp>
      <p:sp>
        <p:nvSpPr>
          <p:cNvPr id="59" name="Oval 18">
            <a:extLst>
              <a:ext uri="{FF2B5EF4-FFF2-40B4-BE49-F238E27FC236}">
                <a16:creationId xmlns:a16="http://schemas.microsoft.com/office/drawing/2014/main" id="{968247F1-0AF6-A64E-8A3C-22B31CAB7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9075" y="2505076"/>
            <a:ext cx="590550" cy="5762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12320" name="Text Box 19">
            <a:extLst>
              <a:ext uri="{FF2B5EF4-FFF2-40B4-BE49-F238E27FC236}">
                <a16:creationId xmlns:a16="http://schemas.microsoft.com/office/drawing/2014/main" id="{F986432E-FB2A-CB4C-8FC4-D338E074B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2900" y="25542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3</a:t>
            </a:r>
            <a:endParaRPr lang="en-US" altLang="he-IL" b="1" u="none"/>
          </a:p>
        </p:txBody>
      </p:sp>
      <p:sp>
        <p:nvSpPr>
          <p:cNvPr id="12321" name="Line 20">
            <a:extLst>
              <a:ext uri="{FF2B5EF4-FFF2-40B4-BE49-F238E27FC236}">
                <a16:creationId xmlns:a16="http://schemas.microsoft.com/office/drawing/2014/main" id="{9741B01A-60BE-004B-B6A6-3992B7A56D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1" y="2800350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2322" name="Text Box 31">
            <a:extLst>
              <a:ext uri="{FF2B5EF4-FFF2-40B4-BE49-F238E27FC236}">
                <a16:creationId xmlns:a16="http://schemas.microsoft.com/office/drawing/2014/main" id="{B99476BA-C246-2A44-81BD-CF643EE2E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1950" y="21129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12323" name="Text Box 34">
            <a:extLst>
              <a:ext uri="{FF2B5EF4-FFF2-40B4-BE49-F238E27FC236}">
                <a16:creationId xmlns:a16="http://schemas.microsoft.com/office/drawing/2014/main" id="{2E310605-BCBA-B54D-81A0-C6DE1603A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43989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12324" name="Text Box 33">
            <a:extLst>
              <a:ext uri="{FF2B5EF4-FFF2-40B4-BE49-F238E27FC236}">
                <a16:creationId xmlns:a16="http://schemas.microsoft.com/office/drawing/2014/main" id="{1C61C8C0-4161-C147-8A0E-0171A5141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4913" y="4389438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12325" name="Text Box 32">
            <a:extLst>
              <a:ext uri="{FF2B5EF4-FFF2-40B4-BE49-F238E27FC236}">
                <a16:creationId xmlns:a16="http://schemas.microsoft.com/office/drawing/2014/main" id="{EF3EA464-378C-C742-9D9A-702CD51C5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3775" y="43799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3AEC317F-9002-5847-B7DD-2D873FC232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he-IL" sz="3200" b="1" dirty="0">
                <a:latin typeface="+mn-lt"/>
                <a:ea typeface="+mn-ea"/>
                <a:cs typeface="+mn-cs"/>
              </a:rPr>
              <a:t>BFS Example </a:t>
            </a: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C3B9265C-2952-6C45-8D32-2F42A0FB3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3CA0FA-548D-054D-A749-F82C1BB45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15</a:t>
            </a:fld>
            <a:endParaRPr lang="en-IL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Text Box 36">
            <a:extLst>
              <a:ext uri="{FF2B5EF4-FFF2-40B4-BE49-F238E27FC236}">
                <a16:creationId xmlns:a16="http://schemas.microsoft.com/office/drawing/2014/main" id="{96CFCB32-966B-E54E-87E8-7500C33BA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3701" y="5302250"/>
            <a:ext cx="1160463" cy="8509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/>
              <a:t>Q:</a:t>
            </a:r>
            <a:r>
              <a:rPr lang="en-US" altLang="he-IL" u="none"/>
              <a:t>  u  y</a:t>
            </a:r>
          </a:p>
          <a:p>
            <a:r>
              <a:rPr lang="en-US" altLang="he-IL" u="none"/>
              <a:t>      3  3</a:t>
            </a:r>
          </a:p>
        </p:txBody>
      </p:sp>
      <p:sp>
        <p:nvSpPr>
          <p:cNvPr id="38" name="Oval 13">
            <a:extLst>
              <a:ext uri="{FF2B5EF4-FFF2-40B4-BE49-F238E27FC236}">
                <a16:creationId xmlns:a16="http://schemas.microsoft.com/office/drawing/2014/main" id="{99C661DF-B1E2-2C46-A1B9-BD09CD2EF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3838" y="3910013"/>
            <a:ext cx="590550" cy="5762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13318" name="Text Box 14">
            <a:extLst>
              <a:ext uri="{FF2B5EF4-FFF2-40B4-BE49-F238E27FC236}">
                <a16:creationId xmlns:a16="http://schemas.microsoft.com/office/drawing/2014/main" id="{D6B58291-C095-E94D-BCE2-1868CCC17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75" y="39449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3</a:t>
            </a:r>
            <a:endParaRPr lang="en-US" altLang="he-IL" b="1" u="none"/>
          </a:p>
        </p:txBody>
      </p:sp>
      <p:sp>
        <p:nvSpPr>
          <p:cNvPr id="13319" name="Line 15">
            <a:extLst>
              <a:ext uri="{FF2B5EF4-FFF2-40B4-BE49-F238E27FC236}">
                <a16:creationId xmlns:a16="http://schemas.microsoft.com/office/drawing/2014/main" id="{46370FEB-C507-EA46-9CEA-B9787E15220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8964" y="42052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3320" name="Line 26">
            <a:extLst>
              <a:ext uri="{FF2B5EF4-FFF2-40B4-BE49-F238E27FC236}">
                <a16:creationId xmlns:a16="http://schemas.microsoft.com/office/drawing/2014/main" id="{DA322C86-01CD-EF44-93CF-2479A6810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1175" y="3087688"/>
            <a:ext cx="0" cy="8429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3321" name="Text Box 35">
            <a:extLst>
              <a:ext uri="{FF2B5EF4-FFF2-40B4-BE49-F238E27FC236}">
                <a16:creationId xmlns:a16="http://schemas.microsoft.com/office/drawing/2014/main" id="{B9AA1806-3F88-2F4E-BD14-6402B969E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1475" y="4394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13322" name="Line 23">
            <a:extLst>
              <a:ext uri="{FF2B5EF4-FFF2-40B4-BE49-F238E27FC236}">
                <a16:creationId xmlns:a16="http://schemas.microsoft.com/office/drawing/2014/main" id="{3619D1CD-8FDA-6A40-8211-EBC2AA606127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7763" y="305911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3323" name="Oval 10">
            <a:extLst>
              <a:ext uri="{FF2B5EF4-FFF2-40B4-BE49-F238E27FC236}">
                <a16:creationId xmlns:a16="http://schemas.microsoft.com/office/drawing/2014/main" id="{A41B05FE-DFA9-5D49-AF88-62F4184F9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390048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3324" name="Text Box 11">
            <a:extLst>
              <a:ext uri="{FF2B5EF4-FFF2-40B4-BE49-F238E27FC236}">
                <a16:creationId xmlns:a16="http://schemas.microsoft.com/office/drawing/2014/main" id="{585752FE-66CA-BD46-97A5-A20850314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6525" y="39354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2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3325" name="Line 12">
            <a:extLst>
              <a:ext uri="{FF2B5EF4-FFF2-40B4-BE49-F238E27FC236}">
                <a16:creationId xmlns:a16="http://schemas.microsoft.com/office/drawing/2014/main" id="{23FFF5B1-507C-2541-B885-0F8C544D154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7826" y="41957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3326" name="Oval 16">
            <a:extLst>
              <a:ext uri="{FF2B5EF4-FFF2-40B4-BE49-F238E27FC236}">
                <a16:creationId xmlns:a16="http://schemas.microsoft.com/office/drawing/2014/main" id="{5D1AEAD1-3691-134E-AF92-43A382E52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2495551"/>
            <a:ext cx="590550" cy="57626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3327" name="Text Box 17">
            <a:extLst>
              <a:ext uri="{FF2B5EF4-FFF2-40B4-BE49-F238E27FC236}">
                <a16:creationId xmlns:a16="http://schemas.microsoft.com/office/drawing/2014/main" id="{94706FEA-C841-D242-A5E0-C8CFB46E3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1763" y="25304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2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3328" name="Line 25">
            <a:extLst>
              <a:ext uri="{FF2B5EF4-FFF2-40B4-BE49-F238E27FC236}">
                <a16:creationId xmlns:a16="http://schemas.microsoft.com/office/drawing/2014/main" id="{A17B23F0-AE41-C047-904C-BD32F69C2F52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0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3329" name="Line 27">
            <a:extLst>
              <a:ext uri="{FF2B5EF4-FFF2-40B4-BE49-F238E27FC236}">
                <a16:creationId xmlns:a16="http://schemas.microsoft.com/office/drawing/2014/main" id="{B703E3E4-7A4A-7C4B-9894-285BEF6D07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76864" y="2944813"/>
            <a:ext cx="1023937" cy="1028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3330" name="Text Box 30">
            <a:extLst>
              <a:ext uri="{FF2B5EF4-FFF2-40B4-BE49-F238E27FC236}">
                <a16:creationId xmlns:a16="http://schemas.microsoft.com/office/drawing/2014/main" id="{83B6649B-D665-4744-ADAA-8F69770FE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2103438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13331" name="Oval 3">
            <a:extLst>
              <a:ext uri="{FF2B5EF4-FFF2-40B4-BE49-F238E27FC236}">
                <a16:creationId xmlns:a16="http://schemas.microsoft.com/office/drawing/2014/main" id="{1D29EAA1-1D9A-B74E-A065-9669FAAA4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425" y="249713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3332" name="Text Box 4">
            <a:extLst>
              <a:ext uri="{FF2B5EF4-FFF2-40B4-BE49-F238E27FC236}">
                <a16:creationId xmlns:a16="http://schemas.microsoft.com/office/drawing/2014/main" id="{520E06DF-A024-5148-B2AB-C9C9F9E91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5606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1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3333" name="Oval 5">
            <a:extLst>
              <a:ext uri="{FF2B5EF4-FFF2-40B4-BE49-F238E27FC236}">
                <a16:creationId xmlns:a16="http://schemas.microsoft.com/office/drawing/2014/main" id="{18504B77-92D7-E542-8452-3E256DDEB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249078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3334" name="Text Box 6">
            <a:extLst>
              <a:ext uri="{FF2B5EF4-FFF2-40B4-BE49-F238E27FC236}">
                <a16:creationId xmlns:a16="http://schemas.microsoft.com/office/drawing/2014/main" id="{41E73BA8-E970-4248-94E3-3FDCF2C60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388" y="25542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0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3335" name="Line 7">
            <a:extLst>
              <a:ext uri="{FF2B5EF4-FFF2-40B4-BE49-F238E27FC236}">
                <a16:creationId xmlns:a16="http://schemas.microsoft.com/office/drawing/2014/main" id="{1F8DB820-550E-AB47-8916-4F967E34F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6689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3336" name="Oval 8">
            <a:extLst>
              <a:ext uri="{FF2B5EF4-FFF2-40B4-BE49-F238E27FC236}">
                <a16:creationId xmlns:a16="http://schemas.microsoft.com/office/drawing/2014/main" id="{5F5252F0-74EC-2B4B-B70D-09ACB66E7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390683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3337" name="Text Box 9">
            <a:extLst>
              <a:ext uri="{FF2B5EF4-FFF2-40B4-BE49-F238E27FC236}">
                <a16:creationId xmlns:a16="http://schemas.microsoft.com/office/drawing/2014/main" id="{2768E513-F8C7-F849-8BE3-DD41B9E81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388" y="39560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1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3338" name="Line 24">
            <a:extLst>
              <a:ext uri="{FF2B5EF4-FFF2-40B4-BE49-F238E27FC236}">
                <a16:creationId xmlns:a16="http://schemas.microsoft.com/office/drawing/2014/main" id="{42026544-4E5A-634F-B827-629C9E707DFB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8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3339" name="Text Box 28">
            <a:extLst>
              <a:ext uri="{FF2B5EF4-FFF2-40B4-BE49-F238E27FC236}">
                <a16:creationId xmlns:a16="http://schemas.microsoft.com/office/drawing/2014/main" id="{6C7989E5-B12B-7F4A-8D3F-F9C4A0A8A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084388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13340" name="Text Box 29">
            <a:extLst>
              <a:ext uri="{FF2B5EF4-FFF2-40B4-BE49-F238E27FC236}">
                <a16:creationId xmlns:a16="http://schemas.microsoft.com/office/drawing/2014/main" id="{DCB090A8-6D8B-1A4D-8613-3EA1C21FE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1" y="2093913"/>
            <a:ext cx="303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13341" name="Oval 21">
            <a:extLst>
              <a:ext uri="{FF2B5EF4-FFF2-40B4-BE49-F238E27FC236}">
                <a16:creationId xmlns:a16="http://schemas.microsoft.com/office/drawing/2014/main" id="{265E9DD2-A413-604D-A711-C173AD54E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75" y="390683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3342" name="Text Box 22">
            <a:extLst>
              <a:ext uri="{FF2B5EF4-FFF2-40B4-BE49-F238E27FC236}">
                <a16:creationId xmlns:a16="http://schemas.microsoft.com/office/drawing/2014/main" id="{621A0AB7-7961-D940-BA15-479F78FA0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9488" y="39560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2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64" name="Oval 18">
            <a:extLst>
              <a:ext uri="{FF2B5EF4-FFF2-40B4-BE49-F238E27FC236}">
                <a16:creationId xmlns:a16="http://schemas.microsoft.com/office/drawing/2014/main" id="{C7BDF014-576E-9F48-9A27-8DE38AF15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9075" y="2505076"/>
            <a:ext cx="590550" cy="576263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13344" name="Text Box 19">
            <a:extLst>
              <a:ext uri="{FF2B5EF4-FFF2-40B4-BE49-F238E27FC236}">
                <a16:creationId xmlns:a16="http://schemas.microsoft.com/office/drawing/2014/main" id="{DDA72669-E7A7-3041-8357-36E852B5F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2900" y="25542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3</a:t>
            </a:r>
            <a:endParaRPr lang="en-US" altLang="he-IL" b="1" u="none"/>
          </a:p>
        </p:txBody>
      </p:sp>
      <p:sp>
        <p:nvSpPr>
          <p:cNvPr id="13345" name="Line 20">
            <a:extLst>
              <a:ext uri="{FF2B5EF4-FFF2-40B4-BE49-F238E27FC236}">
                <a16:creationId xmlns:a16="http://schemas.microsoft.com/office/drawing/2014/main" id="{47798310-4C7E-7247-84B8-B8D52CBE5A8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1" y="2800350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3346" name="Text Box 31">
            <a:extLst>
              <a:ext uri="{FF2B5EF4-FFF2-40B4-BE49-F238E27FC236}">
                <a16:creationId xmlns:a16="http://schemas.microsoft.com/office/drawing/2014/main" id="{F72094B4-2EA1-C646-911A-413960E2C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1950" y="21129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13347" name="Text Box 34">
            <a:extLst>
              <a:ext uri="{FF2B5EF4-FFF2-40B4-BE49-F238E27FC236}">
                <a16:creationId xmlns:a16="http://schemas.microsoft.com/office/drawing/2014/main" id="{E342B7E9-6991-8045-B22D-4220A414B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43989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13348" name="Text Box 33">
            <a:extLst>
              <a:ext uri="{FF2B5EF4-FFF2-40B4-BE49-F238E27FC236}">
                <a16:creationId xmlns:a16="http://schemas.microsoft.com/office/drawing/2014/main" id="{BCEDC000-18A6-F649-A08B-382F26F8A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4913" y="4389438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13349" name="Text Box 32">
            <a:extLst>
              <a:ext uri="{FF2B5EF4-FFF2-40B4-BE49-F238E27FC236}">
                <a16:creationId xmlns:a16="http://schemas.microsoft.com/office/drawing/2014/main" id="{E1621EF5-27D5-0947-9FB9-34544B656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3775" y="43799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F81D53CC-CACF-D14F-AB5C-DB6BEB4F40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he-IL" sz="3200" b="1" dirty="0">
                <a:latin typeface="+mn-lt"/>
                <a:ea typeface="+mn-ea"/>
                <a:cs typeface="+mn-cs"/>
              </a:rPr>
              <a:t>BFS Example </a:t>
            </a: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FBB321D6-7CB4-2644-B187-1BE4FCFDC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766E5A-471B-7341-9B6B-19AE78498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16</a:t>
            </a:fld>
            <a:endParaRPr lang="en-IL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Text Box 36">
            <a:extLst>
              <a:ext uri="{FF2B5EF4-FFF2-40B4-BE49-F238E27FC236}">
                <a16:creationId xmlns:a16="http://schemas.microsoft.com/office/drawing/2014/main" id="{48500A3B-33AA-3E4F-B6D5-14F34F29C0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3701" y="5302250"/>
            <a:ext cx="855663" cy="850900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/>
              <a:t>Q:</a:t>
            </a:r>
            <a:r>
              <a:rPr lang="en-US" altLang="he-IL" u="none"/>
              <a:t>  y</a:t>
            </a:r>
          </a:p>
          <a:p>
            <a:r>
              <a:rPr lang="en-US" altLang="he-IL" u="none"/>
              <a:t>      3</a:t>
            </a:r>
          </a:p>
        </p:txBody>
      </p:sp>
      <p:sp>
        <p:nvSpPr>
          <p:cNvPr id="71" name="Oval 13">
            <a:extLst>
              <a:ext uri="{FF2B5EF4-FFF2-40B4-BE49-F238E27FC236}">
                <a16:creationId xmlns:a16="http://schemas.microsoft.com/office/drawing/2014/main" id="{58140919-1ECB-454C-B385-3E08FC1174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3838" y="3910013"/>
            <a:ext cx="590550" cy="576262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he-IL"/>
          </a:p>
        </p:txBody>
      </p:sp>
      <p:sp>
        <p:nvSpPr>
          <p:cNvPr id="14342" name="Text Box 14">
            <a:extLst>
              <a:ext uri="{FF2B5EF4-FFF2-40B4-BE49-F238E27FC236}">
                <a16:creationId xmlns:a16="http://schemas.microsoft.com/office/drawing/2014/main" id="{958DC637-5148-3747-BACD-C343181A1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75" y="39449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3</a:t>
            </a:r>
            <a:endParaRPr lang="en-US" altLang="he-IL" b="1" u="none"/>
          </a:p>
        </p:txBody>
      </p:sp>
      <p:sp>
        <p:nvSpPr>
          <p:cNvPr id="14343" name="Line 15">
            <a:extLst>
              <a:ext uri="{FF2B5EF4-FFF2-40B4-BE49-F238E27FC236}">
                <a16:creationId xmlns:a16="http://schemas.microsoft.com/office/drawing/2014/main" id="{BB07AA0B-712C-2F47-AEE2-1254461B73B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8964" y="42052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4344" name="Line 26">
            <a:extLst>
              <a:ext uri="{FF2B5EF4-FFF2-40B4-BE49-F238E27FC236}">
                <a16:creationId xmlns:a16="http://schemas.microsoft.com/office/drawing/2014/main" id="{74DD9744-AD50-5446-9E2C-7DB4A16190F7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1175" y="3087688"/>
            <a:ext cx="0" cy="8429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4345" name="Text Box 35">
            <a:extLst>
              <a:ext uri="{FF2B5EF4-FFF2-40B4-BE49-F238E27FC236}">
                <a16:creationId xmlns:a16="http://schemas.microsoft.com/office/drawing/2014/main" id="{C0053A3C-0CA0-F144-B611-E91B18D4E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1475" y="4394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14346" name="Line 23">
            <a:extLst>
              <a:ext uri="{FF2B5EF4-FFF2-40B4-BE49-F238E27FC236}">
                <a16:creationId xmlns:a16="http://schemas.microsoft.com/office/drawing/2014/main" id="{2DE98ED2-D45E-A64C-9D5C-CBDCAB5AF9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7763" y="305911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4347" name="Oval 10">
            <a:extLst>
              <a:ext uri="{FF2B5EF4-FFF2-40B4-BE49-F238E27FC236}">
                <a16:creationId xmlns:a16="http://schemas.microsoft.com/office/drawing/2014/main" id="{A9500E85-C73E-C841-90D0-F9EEA2F15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390048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4348" name="Text Box 11">
            <a:extLst>
              <a:ext uri="{FF2B5EF4-FFF2-40B4-BE49-F238E27FC236}">
                <a16:creationId xmlns:a16="http://schemas.microsoft.com/office/drawing/2014/main" id="{C74F8574-AF66-DF40-B4D1-0ECA3D1C9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6525" y="39354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2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4349" name="Line 12">
            <a:extLst>
              <a:ext uri="{FF2B5EF4-FFF2-40B4-BE49-F238E27FC236}">
                <a16:creationId xmlns:a16="http://schemas.microsoft.com/office/drawing/2014/main" id="{147583E0-AD0C-884D-888F-5DCFDC4189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7826" y="41957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4350" name="Oval 16">
            <a:extLst>
              <a:ext uri="{FF2B5EF4-FFF2-40B4-BE49-F238E27FC236}">
                <a16:creationId xmlns:a16="http://schemas.microsoft.com/office/drawing/2014/main" id="{7CA66A5A-4AC5-6D4C-8D1A-A7D804274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2495551"/>
            <a:ext cx="590550" cy="57626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4351" name="Text Box 17">
            <a:extLst>
              <a:ext uri="{FF2B5EF4-FFF2-40B4-BE49-F238E27FC236}">
                <a16:creationId xmlns:a16="http://schemas.microsoft.com/office/drawing/2014/main" id="{AD5CAFCD-068C-8D4C-9AB4-25970040F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1763" y="25304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2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4352" name="Line 25">
            <a:extLst>
              <a:ext uri="{FF2B5EF4-FFF2-40B4-BE49-F238E27FC236}">
                <a16:creationId xmlns:a16="http://schemas.microsoft.com/office/drawing/2014/main" id="{C3CAC9C8-4DC3-8B42-94BF-DCB259F3ADA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0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4353" name="Line 27">
            <a:extLst>
              <a:ext uri="{FF2B5EF4-FFF2-40B4-BE49-F238E27FC236}">
                <a16:creationId xmlns:a16="http://schemas.microsoft.com/office/drawing/2014/main" id="{F738277A-55EF-2B41-90A9-AA84EE7225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76864" y="2944813"/>
            <a:ext cx="1023937" cy="1028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4354" name="Text Box 30">
            <a:extLst>
              <a:ext uri="{FF2B5EF4-FFF2-40B4-BE49-F238E27FC236}">
                <a16:creationId xmlns:a16="http://schemas.microsoft.com/office/drawing/2014/main" id="{C2E657A8-362D-AB47-A1F3-128BA4528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2103438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14355" name="Oval 3">
            <a:extLst>
              <a:ext uri="{FF2B5EF4-FFF2-40B4-BE49-F238E27FC236}">
                <a16:creationId xmlns:a16="http://schemas.microsoft.com/office/drawing/2014/main" id="{F046177F-4EC8-A045-88A9-8EC66CF85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425" y="249713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4356" name="Text Box 4">
            <a:extLst>
              <a:ext uri="{FF2B5EF4-FFF2-40B4-BE49-F238E27FC236}">
                <a16:creationId xmlns:a16="http://schemas.microsoft.com/office/drawing/2014/main" id="{1A27A92A-87EE-5E43-96C9-A0C638934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5606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1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4357" name="Oval 5">
            <a:extLst>
              <a:ext uri="{FF2B5EF4-FFF2-40B4-BE49-F238E27FC236}">
                <a16:creationId xmlns:a16="http://schemas.microsoft.com/office/drawing/2014/main" id="{DE796B55-D1FD-2947-AE37-DDE9766B6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249078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4358" name="Text Box 6">
            <a:extLst>
              <a:ext uri="{FF2B5EF4-FFF2-40B4-BE49-F238E27FC236}">
                <a16:creationId xmlns:a16="http://schemas.microsoft.com/office/drawing/2014/main" id="{B5C83001-4EE2-284D-85BB-5DC5A3CC1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388" y="25542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0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4359" name="Line 7">
            <a:extLst>
              <a:ext uri="{FF2B5EF4-FFF2-40B4-BE49-F238E27FC236}">
                <a16:creationId xmlns:a16="http://schemas.microsoft.com/office/drawing/2014/main" id="{7D37C2C9-88CA-914C-85B4-0CC14E1138B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6689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4360" name="Oval 8">
            <a:extLst>
              <a:ext uri="{FF2B5EF4-FFF2-40B4-BE49-F238E27FC236}">
                <a16:creationId xmlns:a16="http://schemas.microsoft.com/office/drawing/2014/main" id="{02657A4A-7A99-384F-928C-7ACCCF85B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390683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4361" name="Text Box 9">
            <a:extLst>
              <a:ext uri="{FF2B5EF4-FFF2-40B4-BE49-F238E27FC236}">
                <a16:creationId xmlns:a16="http://schemas.microsoft.com/office/drawing/2014/main" id="{E8587ED4-47F7-694E-9D8D-0E5A7982D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388" y="39560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1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4362" name="Line 24">
            <a:extLst>
              <a:ext uri="{FF2B5EF4-FFF2-40B4-BE49-F238E27FC236}">
                <a16:creationId xmlns:a16="http://schemas.microsoft.com/office/drawing/2014/main" id="{019C571C-738E-714B-AF04-71AEDEABF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8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4363" name="Text Box 28">
            <a:extLst>
              <a:ext uri="{FF2B5EF4-FFF2-40B4-BE49-F238E27FC236}">
                <a16:creationId xmlns:a16="http://schemas.microsoft.com/office/drawing/2014/main" id="{73AE6399-4C36-A043-9812-945F95290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084388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14364" name="Text Box 29">
            <a:extLst>
              <a:ext uri="{FF2B5EF4-FFF2-40B4-BE49-F238E27FC236}">
                <a16:creationId xmlns:a16="http://schemas.microsoft.com/office/drawing/2014/main" id="{A483E23E-B7CC-5A41-8F81-99B2250C1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1" y="2093913"/>
            <a:ext cx="303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14365" name="Oval 21">
            <a:extLst>
              <a:ext uri="{FF2B5EF4-FFF2-40B4-BE49-F238E27FC236}">
                <a16:creationId xmlns:a16="http://schemas.microsoft.com/office/drawing/2014/main" id="{E401BF67-F3B1-DE46-A96D-AAD99E515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75" y="390683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4366" name="Text Box 22">
            <a:extLst>
              <a:ext uri="{FF2B5EF4-FFF2-40B4-BE49-F238E27FC236}">
                <a16:creationId xmlns:a16="http://schemas.microsoft.com/office/drawing/2014/main" id="{EBB541A7-4C28-2741-A317-9DC073891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9488" y="39560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2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4367" name="Oval 18">
            <a:extLst>
              <a:ext uri="{FF2B5EF4-FFF2-40B4-BE49-F238E27FC236}">
                <a16:creationId xmlns:a16="http://schemas.microsoft.com/office/drawing/2014/main" id="{4B600EDD-C9DD-4948-B4C7-FC7A012D4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9075" y="2505076"/>
            <a:ext cx="590550" cy="57626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4368" name="Text Box 19">
            <a:extLst>
              <a:ext uri="{FF2B5EF4-FFF2-40B4-BE49-F238E27FC236}">
                <a16:creationId xmlns:a16="http://schemas.microsoft.com/office/drawing/2014/main" id="{5B038230-730F-6C4A-B51D-1059FB3F6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2900" y="25542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3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4369" name="Line 20">
            <a:extLst>
              <a:ext uri="{FF2B5EF4-FFF2-40B4-BE49-F238E27FC236}">
                <a16:creationId xmlns:a16="http://schemas.microsoft.com/office/drawing/2014/main" id="{AD5B3353-77AA-D94F-A37C-868BAC6EEC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1" y="2800350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4370" name="Text Box 31">
            <a:extLst>
              <a:ext uri="{FF2B5EF4-FFF2-40B4-BE49-F238E27FC236}">
                <a16:creationId xmlns:a16="http://schemas.microsoft.com/office/drawing/2014/main" id="{C1F4C66D-58D2-9143-917D-728DCDF8A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1950" y="21129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14371" name="Text Box 34">
            <a:extLst>
              <a:ext uri="{FF2B5EF4-FFF2-40B4-BE49-F238E27FC236}">
                <a16:creationId xmlns:a16="http://schemas.microsoft.com/office/drawing/2014/main" id="{BC466ED1-CAA7-CE44-8F1E-0ABE7109F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43989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14372" name="Text Box 33">
            <a:extLst>
              <a:ext uri="{FF2B5EF4-FFF2-40B4-BE49-F238E27FC236}">
                <a16:creationId xmlns:a16="http://schemas.microsoft.com/office/drawing/2014/main" id="{D9CFB775-03D4-184A-8D31-D022E8182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4913" y="4389438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14373" name="Text Box 32">
            <a:extLst>
              <a:ext uri="{FF2B5EF4-FFF2-40B4-BE49-F238E27FC236}">
                <a16:creationId xmlns:a16="http://schemas.microsoft.com/office/drawing/2014/main" id="{A60C3C3A-C21D-274D-AD53-1E2CE0716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3775" y="43799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66E0BAAB-0550-A642-848B-5BAE8D4A1D05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he-IL" sz="3200" b="1">
                <a:latin typeface="+mn-lt"/>
                <a:ea typeface="+mn-ea"/>
                <a:cs typeface="+mn-cs"/>
              </a:rPr>
              <a:t>BFS Example </a:t>
            </a:r>
            <a:endParaRPr lang="en-US" altLang="he-IL" sz="3200" b="1" dirty="0">
              <a:latin typeface="+mn-lt"/>
              <a:ea typeface="+mn-ea"/>
              <a:cs typeface="+mn-cs"/>
            </a:endParaRP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A1024E72-3D9A-A243-A183-E5F9B51D9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A7145A-20BA-D04A-9A34-016EB450B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17</a:t>
            </a:fld>
            <a:endParaRPr lang="en-IL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Text Box 36">
            <a:extLst>
              <a:ext uri="{FF2B5EF4-FFF2-40B4-BE49-F238E27FC236}">
                <a16:creationId xmlns:a16="http://schemas.microsoft.com/office/drawing/2014/main" id="{C330B81E-4093-2348-8C1D-48C216AEB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3701" y="5295901"/>
            <a:ext cx="933269" cy="461665"/>
          </a:xfrm>
          <a:prstGeom prst="rect">
            <a:avLst/>
          </a:prstGeom>
          <a:noFill/>
          <a:ln w="2857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/>
              <a:t>Q:</a:t>
            </a:r>
            <a:r>
              <a:rPr lang="en-US" altLang="he-IL" u="none"/>
              <a:t>  </a:t>
            </a:r>
            <a:r>
              <a:rPr lang="en-US" altLang="he-IL" u="none">
                <a:sym typeface="Symbol" pitchFamily="2" charset="2"/>
              </a:rPr>
              <a:t></a:t>
            </a:r>
            <a:endParaRPr lang="en-US" altLang="he-IL" u="none"/>
          </a:p>
        </p:txBody>
      </p:sp>
      <p:sp>
        <p:nvSpPr>
          <p:cNvPr id="15365" name="Oval 13">
            <a:extLst>
              <a:ext uri="{FF2B5EF4-FFF2-40B4-BE49-F238E27FC236}">
                <a16:creationId xmlns:a16="http://schemas.microsoft.com/office/drawing/2014/main" id="{345FCF13-70B9-F44E-A80A-F6643791D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3838" y="3910013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5366" name="Text Box 14">
            <a:extLst>
              <a:ext uri="{FF2B5EF4-FFF2-40B4-BE49-F238E27FC236}">
                <a16:creationId xmlns:a16="http://schemas.microsoft.com/office/drawing/2014/main" id="{16295228-3397-0A41-8AB8-F29E7135B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75" y="39449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3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5367" name="Line 15">
            <a:extLst>
              <a:ext uri="{FF2B5EF4-FFF2-40B4-BE49-F238E27FC236}">
                <a16:creationId xmlns:a16="http://schemas.microsoft.com/office/drawing/2014/main" id="{66FCB8ED-6000-EF44-A430-CDF56278097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8964" y="42052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5368" name="Line 26">
            <a:extLst>
              <a:ext uri="{FF2B5EF4-FFF2-40B4-BE49-F238E27FC236}">
                <a16:creationId xmlns:a16="http://schemas.microsoft.com/office/drawing/2014/main" id="{D2B33C7C-B571-8646-8849-19A6467BE270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1175" y="3087688"/>
            <a:ext cx="0" cy="842962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5369" name="Text Box 35">
            <a:extLst>
              <a:ext uri="{FF2B5EF4-FFF2-40B4-BE49-F238E27FC236}">
                <a16:creationId xmlns:a16="http://schemas.microsoft.com/office/drawing/2014/main" id="{343567F0-BF45-8E4D-AA20-83D9D4038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1475" y="4394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15370" name="Line 23">
            <a:extLst>
              <a:ext uri="{FF2B5EF4-FFF2-40B4-BE49-F238E27FC236}">
                <a16:creationId xmlns:a16="http://schemas.microsoft.com/office/drawing/2014/main" id="{1B000CC5-2AA0-9649-A82A-268A7F34B37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7763" y="305911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5371" name="Oval 10">
            <a:extLst>
              <a:ext uri="{FF2B5EF4-FFF2-40B4-BE49-F238E27FC236}">
                <a16:creationId xmlns:a16="http://schemas.microsoft.com/office/drawing/2014/main" id="{01D75C11-C48B-7C47-8CA5-CD55CCA4A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390048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5372" name="Text Box 11">
            <a:extLst>
              <a:ext uri="{FF2B5EF4-FFF2-40B4-BE49-F238E27FC236}">
                <a16:creationId xmlns:a16="http://schemas.microsoft.com/office/drawing/2014/main" id="{2B354617-57CB-414B-AA3A-32576B7C1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6525" y="39354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2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5373" name="Line 12">
            <a:extLst>
              <a:ext uri="{FF2B5EF4-FFF2-40B4-BE49-F238E27FC236}">
                <a16:creationId xmlns:a16="http://schemas.microsoft.com/office/drawing/2014/main" id="{69C5BE8B-096F-B74B-B530-439DFA9F13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7826" y="41957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5374" name="Oval 16">
            <a:extLst>
              <a:ext uri="{FF2B5EF4-FFF2-40B4-BE49-F238E27FC236}">
                <a16:creationId xmlns:a16="http://schemas.microsoft.com/office/drawing/2014/main" id="{983F8E26-A12E-174A-850E-86030DAAD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2495551"/>
            <a:ext cx="590550" cy="57626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5375" name="Text Box 17">
            <a:extLst>
              <a:ext uri="{FF2B5EF4-FFF2-40B4-BE49-F238E27FC236}">
                <a16:creationId xmlns:a16="http://schemas.microsoft.com/office/drawing/2014/main" id="{75EBCD63-A9D7-7347-A1D5-27EC7A5B93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1763" y="25304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2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5376" name="Line 25">
            <a:extLst>
              <a:ext uri="{FF2B5EF4-FFF2-40B4-BE49-F238E27FC236}">
                <a16:creationId xmlns:a16="http://schemas.microsoft.com/office/drawing/2014/main" id="{DFC3C769-80EC-9C48-A75D-1D644AAD9C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0038" y="3078163"/>
            <a:ext cx="0" cy="842962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5377" name="Line 27">
            <a:extLst>
              <a:ext uri="{FF2B5EF4-FFF2-40B4-BE49-F238E27FC236}">
                <a16:creationId xmlns:a16="http://schemas.microsoft.com/office/drawing/2014/main" id="{E1EFC4D8-9A71-8D49-B7F0-7E879F0CF0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76864" y="2944813"/>
            <a:ext cx="1023937" cy="1028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5378" name="Text Box 30">
            <a:extLst>
              <a:ext uri="{FF2B5EF4-FFF2-40B4-BE49-F238E27FC236}">
                <a16:creationId xmlns:a16="http://schemas.microsoft.com/office/drawing/2014/main" id="{40E73673-25ED-7643-B098-1912294DA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2103438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15379" name="Oval 3">
            <a:extLst>
              <a:ext uri="{FF2B5EF4-FFF2-40B4-BE49-F238E27FC236}">
                <a16:creationId xmlns:a16="http://schemas.microsoft.com/office/drawing/2014/main" id="{F5C56DCE-45B1-3C49-993F-A148CCFAA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425" y="249713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5380" name="Text Box 4">
            <a:extLst>
              <a:ext uri="{FF2B5EF4-FFF2-40B4-BE49-F238E27FC236}">
                <a16:creationId xmlns:a16="http://schemas.microsoft.com/office/drawing/2014/main" id="{CF97773F-6A49-7645-A71C-D3C07CBFD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5606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1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5381" name="Oval 5">
            <a:extLst>
              <a:ext uri="{FF2B5EF4-FFF2-40B4-BE49-F238E27FC236}">
                <a16:creationId xmlns:a16="http://schemas.microsoft.com/office/drawing/2014/main" id="{6261C3D3-BFF2-CB49-913B-8939F37AF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249078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5382" name="Text Box 6">
            <a:extLst>
              <a:ext uri="{FF2B5EF4-FFF2-40B4-BE49-F238E27FC236}">
                <a16:creationId xmlns:a16="http://schemas.microsoft.com/office/drawing/2014/main" id="{2A346358-12C0-E346-9DAB-C7C32010D9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388" y="25542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0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5383" name="Line 7">
            <a:extLst>
              <a:ext uri="{FF2B5EF4-FFF2-40B4-BE49-F238E27FC236}">
                <a16:creationId xmlns:a16="http://schemas.microsoft.com/office/drawing/2014/main" id="{6753DE2E-AE54-AB4E-A13A-EBFA227DE3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6689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5384" name="Oval 8">
            <a:extLst>
              <a:ext uri="{FF2B5EF4-FFF2-40B4-BE49-F238E27FC236}">
                <a16:creationId xmlns:a16="http://schemas.microsoft.com/office/drawing/2014/main" id="{4710BEA8-16B0-B440-956B-E17404D1B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390683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5385" name="Text Box 9">
            <a:extLst>
              <a:ext uri="{FF2B5EF4-FFF2-40B4-BE49-F238E27FC236}">
                <a16:creationId xmlns:a16="http://schemas.microsoft.com/office/drawing/2014/main" id="{FBA87F47-FC35-064A-8FC6-D872E69AD0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388" y="39560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1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5386" name="Line 24">
            <a:extLst>
              <a:ext uri="{FF2B5EF4-FFF2-40B4-BE49-F238E27FC236}">
                <a16:creationId xmlns:a16="http://schemas.microsoft.com/office/drawing/2014/main" id="{165030C4-F405-EA40-A730-DFC9BBBE54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8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5387" name="Text Box 28">
            <a:extLst>
              <a:ext uri="{FF2B5EF4-FFF2-40B4-BE49-F238E27FC236}">
                <a16:creationId xmlns:a16="http://schemas.microsoft.com/office/drawing/2014/main" id="{8EBD322C-E20D-4340-8B13-17513DF18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084388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15388" name="Text Box 29">
            <a:extLst>
              <a:ext uri="{FF2B5EF4-FFF2-40B4-BE49-F238E27FC236}">
                <a16:creationId xmlns:a16="http://schemas.microsoft.com/office/drawing/2014/main" id="{8A76173E-E9B0-F44F-BFB4-C955D5C5F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1" y="2093913"/>
            <a:ext cx="303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15389" name="Oval 21">
            <a:extLst>
              <a:ext uri="{FF2B5EF4-FFF2-40B4-BE49-F238E27FC236}">
                <a16:creationId xmlns:a16="http://schemas.microsoft.com/office/drawing/2014/main" id="{7F35934B-4C6B-4244-B758-4B35024A0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75" y="3906838"/>
            <a:ext cx="590550" cy="576262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5390" name="Text Box 22">
            <a:extLst>
              <a:ext uri="{FF2B5EF4-FFF2-40B4-BE49-F238E27FC236}">
                <a16:creationId xmlns:a16="http://schemas.microsoft.com/office/drawing/2014/main" id="{3C8E13C2-5C17-8B41-87D0-3ACE4C944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9488" y="39560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2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5391" name="Oval 18">
            <a:extLst>
              <a:ext uri="{FF2B5EF4-FFF2-40B4-BE49-F238E27FC236}">
                <a16:creationId xmlns:a16="http://schemas.microsoft.com/office/drawing/2014/main" id="{7C3F188E-76C5-1E4F-B2C5-B9FE36A5D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9075" y="2505076"/>
            <a:ext cx="590550" cy="57626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5392" name="Text Box 19">
            <a:extLst>
              <a:ext uri="{FF2B5EF4-FFF2-40B4-BE49-F238E27FC236}">
                <a16:creationId xmlns:a16="http://schemas.microsoft.com/office/drawing/2014/main" id="{692DDC78-4B1E-F24C-BA4C-40E63A6C6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2900" y="25542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olidFill>
                  <a:schemeClr val="bg1"/>
                </a:solidFill>
                <a:sym typeface="Symbol" pitchFamily="2" charset="2"/>
              </a:rPr>
              <a:t>3</a:t>
            </a:r>
            <a:endParaRPr lang="en-US" altLang="he-IL" b="1" u="none">
              <a:solidFill>
                <a:schemeClr val="bg1"/>
              </a:solidFill>
            </a:endParaRPr>
          </a:p>
        </p:txBody>
      </p:sp>
      <p:sp>
        <p:nvSpPr>
          <p:cNvPr id="15393" name="Line 20">
            <a:extLst>
              <a:ext uri="{FF2B5EF4-FFF2-40B4-BE49-F238E27FC236}">
                <a16:creationId xmlns:a16="http://schemas.microsoft.com/office/drawing/2014/main" id="{35227E62-D130-B440-882A-F5F2A2FA6D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1" y="2800350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5394" name="Text Box 31">
            <a:extLst>
              <a:ext uri="{FF2B5EF4-FFF2-40B4-BE49-F238E27FC236}">
                <a16:creationId xmlns:a16="http://schemas.microsoft.com/office/drawing/2014/main" id="{65CA68D5-353B-3149-959A-7A0438BF9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1950" y="21129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15395" name="Text Box 34">
            <a:extLst>
              <a:ext uri="{FF2B5EF4-FFF2-40B4-BE49-F238E27FC236}">
                <a16:creationId xmlns:a16="http://schemas.microsoft.com/office/drawing/2014/main" id="{747EA067-C8CD-6845-8DA1-F0201DCF4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43989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15396" name="Text Box 33">
            <a:extLst>
              <a:ext uri="{FF2B5EF4-FFF2-40B4-BE49-F238E27FC236}">
                <a16:creationId xmlns:a16="http://schemas.microsoft.com/office/drawing/2014/main" id="{808228B3-EAE8-D345-AAED-9EB3C3889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4913" y="4389438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15397" name="Text Box 32">
            <a:extLst>
              <a:ext uri="{FF2B5EF4-FFF2-40B4-BE49-F238E27FC236}">
                <a16:creationId xmlns:a16="http://schemas.microsoft.com/office/drawing/2014/main" id="{3EC76DE0-D181-8E44-A59D-FBC1D69AD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3775" y="43799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38F8F217-EC3C-B14C-B64D-1E6480847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he-IL" sz="3200" b="1" dirty="0">
                <a:latin typeface="+mn-lt"/>
                <a:ea typeface="+mn-ea"/>
                <a:cs typeface="+mn-cs"/>
              </a:rPr>
              <a:t>BFS Example </a:t>
            </a: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507C3F35-339A-6F4F-80D2-4B95A056F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9F14AB-6954-2D4B-B5AC-BD6D9E2E5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18</a:t>
            </a:fld>
            <a:endParaRPr lang="en-IL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Oval 3">
            <a:extLst>
              <a:ext uri="{FF2B5EF4-FFF2-40B4-BE49-F238E27FC236}">
                <a16:creationId xmlns:a16="http://schemas.microsoft.com/office/drawing/2014/main" id="{B4E63B8C-E77E-C548-B070-E49A68BA9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425" y="249713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F651EC77-3D42-A243-B725-302954F67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5606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1</a:t>
            </a:r>
            <a:endParaRPr lang="en-US" altLang="he-IL" b="1" u="none"/>
          </a:p>
        </p:txBody>
      </p:sp>
      <p:sp>
        <p:nvSpPr>
          <p:cNvPr id="16390" name="Oval 5">
            <a:extLst>
              <a:ext uri="{FF2B5EF4-FFF2-40B4-BE49-F238E27FC236}">
                <a16:creationId xmlns:a16="http://schemas.microsoft.com/office/drawing/2014/main" id="{902967E5-DFFE-6549-9D66-02E5846CC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24907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6391" name="Text Box 6">
            <a:extLst>
              <a:ext uri="{FF2B5EF4-FFF2-40B4-BE49-F238E27FC236}">
                <a16:creationId xmlns:a16="http://schemas.microsoft.com/office/drawing/2014/main" id="{158A619D-7BBF-A44C-AFB0-98C63A69E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388" y="25542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0</a:t>
            </a:r>
            <a:endParaRPr lang="en-US" altLang="he-IL" b="1" u="none"/>
          </a:p>
        </p:txBody>
      </p:sp>
      <p:sp>
        <p:nvSpPr>
          <p:cNvPr id="16392" name="Line 7">
            <a:extLst>
              <a:ext uri="{FF2B5EF4-FFF2-40B4-BE49-F238E27FC236}">
                <a16:creationId xmlns:a16="http://schemas.microsoft.com/office/drawing/2014/main" id="{87ACA6CC-B526-E045-9745-10C8DD1BAA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76689" y="27860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6393" name="Oval 8">
            <a:extLst>
              <a:ext uri="{FF2B5EF4-FFF2-40B4-BE49-F238E27FC236}">
                <a16:creationId xmlns:a16="http://schemas.microsoft.com/office/drawing/2014/main" id="{002B1D4C-5CC9-4C40-AC64-858DE4808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3" y="390683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6394" name="Text Box 9">
            <a:extLst>
              <a:ext uri="{FF2B5EF4-FFF2-40B4-BE49-F238E27FC236}">
                <a16:creationId xmlns:a16="http://schemas.microsoft.com/office/drawing/2014/main" id="{B13E9ECE-DC69-6F46-8DD9-BDE30A40A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388" y="39560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1</a:t>
            </a:r>
            <a:endParaRPr lang="en-US" altLang="he-IL" b="1" u="none"/>
          </a:p>
        </p:txBody>
      </p:sp>
      <p:sp>
        <p:nvSpPr>
          <p:cNvPr id="16395" name="Oval 10">
            <a:extLst>
              <a:ext uri="{FF2B5EF4-FFF2-40B4-BE49-F238E27FC236}">
                <a16:creationId xmlns:a16="http://schemas.microsoft.com/office/drawing/2014/main" id="{9C24CEF2-4E2A-354D-B716-BBADF7EA7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2700" y="390048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6396" name="Text Box 11">
            <a:extLst>
              <a:ext uri="{FF2B5EF4-FFF2-40B4-BE49-F238E27FC236}">
                <a16:creationId xmlns:a16="http://schemas.microsoft.com/office/drawing/2014/main" id="{5BED8F89-884A-3143-9780-DA1449E01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6525" y="39354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2</a:t>
            </a:r>
            <a:endParaRPr lang="en-US" altLang="he-IL" b="1" u="none"/>
          </a:p>
        </p:txBody>
      </p:sp>
      <p:sp>
        <p:nvSpPr>
          <p:cNvPr id="16397" name="Line 12">
            <a:extLst>
              <a:ext uri="{FF2B5EF4-FFF2-40B4-BE49-F238E27FC236}">
                <a16:creationId xmlns:a16="http://schemas.microsoft.com/office/drawing/2014/main" id="{6C813454-96F4-A443-837A-4CBB2DED2B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7826" y="4195763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6398" name="Oval 13">
            <a:extLst>
              <a:ext uri="{FF2B5EF4-FFF2-40B4-BE49-F238E27FC236}">
                <a16:creationId xmlns:a16="http://schemas.microsoft.com/office/drawing/2014/main" id="{05C0F55B-C1C0-EF43-8D76-70914CF33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3838" y="3910013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6399" name="Text Box 14">
            <a:extLst>
              <a:ext uri="{FF2B5EF4-FFF2-40B4-BE49-F238E27FC236}">
                <a16:creationId xmlns:a16="http://schemas.microsoft.com/office/drawing/2014/main" id="{77B40A39-F48A-9142-A120-A55F34425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75" y="394493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3</a:t>
            </a:r>
            <a:endParaRPr lang="en-US" altLang="he-IL" b="1" u="none"/>
          </a:p>
        </p:txBody>
      </p:sp>
      <p:sp>
        <p:nvSpPr>
          <p:cNvPr id="16400" name="Line 15">
            <a:extLst>
              <a:ext uri="{FF2B5EF4-FFF2-40B4-BE49-F238E27FC236}">
                <a16:creationId xmlns:a16="http://schemas.microsoft.com/office/drawing/2014/main" id="{67CE8E26-EDC0-FE42-B870-EEDEADC6B28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8964" y="4205288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6401" name="Oval 16">
            <a:extLst>
              <a:ext uri="{FF2B5EF4-FFF2-40B4-BE49-F238E27FC236}">
                <a16:creationId xmlns:a16="http://schemas.microsoft.com/office/drawing/2014/main" id="{C73CC99C-6AEC-214E-8658-9894F6647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2495551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6402" name="Text Box 17">
            <a:extLst>
              <a:ext uri="{FF2B5EF4-FFF2-40B4-BE49-F238E27FC236}">
                <a16:creationId xmlns:a16="http://schemas.microsoft.com/office/drawing/2014/main" id="{A60AFFBB-290A-414B-B4DB-A34DD6162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1763" y="25304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2</a:t>
            </a:r>
            <a:endParaRPr lang="en-US" altLang="he-IL" b="1" u="none"/>
          </a:p>
        </p:txBody>
      </p:sp>
      <p:sp>
        <p:nvSpPr>
          <p:cNvPr id="16403" name="Oval 18">
            <a:extLst>
              <a:ext uri="{FF2B5EF4-FFF2-40B4-BE49-F238E27FC236}">
                <a16:creationId xmlns:a16="http://schemas.microsoft.com/office/drawing/2014/main" id="{517474C0-8CE1-B645-B7A0-2329FADD6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9075" y="2505076"/>
            <a:ext cx="590550" cy="576263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6404" name="Text Box 19">
            <a:extLst>
              <a:ext uri="{FF2B5EF4-FFF2-40B4-BE49-F238E27FC236}">
                <a16:creationId xmlns:a16="http://schemas.microsoft.com/office/drawing/2014/main" id="{AC29B98A-EEF3-5F4C-A352-E3382D996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2900" y="25542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E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3</a:t>
            </a:r>
            <a:endParaRPr lang="en-US" altLang="he-IL" b="1" u="none"/>
          </a:p>
        </p:txBody>
      </p:sp>
      <p:sp>
        <p:nvSpPr>
          <p:cNvPr id="16405" name="Line 20">
            <a:extLst>
              <a:ext uri="{FF2B5EF4-FFF2-40B4-BE49-F238E27FC236}">
                <a16:creationId xmlns:a16="http://schemas.microsoft.com/office/drawing/2014/main" id="{BA23007D-E709-4A49-A5D2-09B574E5FF10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1" y="2800350"/>
            <a:ext cx="923925" cy="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6406" name="Oval 21">
            <a:extLst>
              <a:ext uri="{FF2B5EF4-FFF2-40B4-BE49-F238E27FC236}">
                <a16:creationId xmlns:a16="http://schemas.microsoft.com/office/drawing/2014/main" id="{836730DE-EBAD-C946-8B5E-FC164CB7B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75" y="3906838"/>
            <a:ext cx="590550" cy="576262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he-IL" altLang="en-IL"/>
          </a:p>
        </p:txBody>
      </p:sp>
      <p:sp>
        <p:nvSpPr>
          <p:cNvPr id="16407" name="Text Box 22">
            <a:extLst>
              <a:ext uri="{FF2B5EF4-FFF2-40B4-BE49-F238E27FC236}">
                <a16:creationId xmlns:a16="http://schemas.microsoft.com/office/drawing/2014/main" id="{5C5C2770-747E-E345-B4ED-6A64F713F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9488" y="395605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b="1" u="none">
                <a:sym typeface="Symbol" pitchFamily="2" charset="2"/>
              </a:rPr>
              <a:t>2</a:t>
            </a:r>
            <a:endParaRPr lang="en-US" altLang="he-IL" b="1" u="none"/>
          </a:p>
        </p:txBody>
      </p:sp>
      <p:sp>
        <p:nvSpPr>
          <p:cNvPr id="16408" name="Line 23">
            <a:extLst>
              <a:ext uri="{FF2B5EF4-FFF2-40B4-BE49-F238E27FC236}">
                <a16:creationId xmlns:a16="http://schemas.microsoft.com/office/drawing/2014/main" id="{AE291533-5AB4-6646-BBF1-C482B0CFBD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7763" y="3059113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6409" name="Line 24">
            <a:extLst>
              <a:ext uri="{FF2B5EF4-FFF2-40B4-BE49-F238E27FC236}">
                <a16:creationId xmlns:a16="http://schemas.microsoft.com/office/drawing/2014/main" id="{ADF4D3E9-9C60-1541-B073-5D4F9C60BC2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8900" y="3068638"/>
            <a:ext cx="0" cy="8429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6410" name="Line 25">
            <a:extLst>
              <a:ext uri="{FF2B5EF4-FFF2-40B4-BE49-F238E27FC236}">
                <a16:creationId xmlns:a16="http://schemas.microsoft.com/office/drawing/2014/main" id="{26832F72-9402-E843-8568-15F27D79EB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76864" y="2944813"/>
            <a:ext cx="1023937" cy="10287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16411" name="Text Box 26">
            <a:extLst>
              <a:ext uri="{FF2B5EF4-FFF2-40B4-BE49-F238E27FC236}">
                <a16:creationId xmlns:a16="http://schemas.microsoft.com/office/drawing/2014/main" id="{2FD2D54E-6552-D54D-8299-AC8252E55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084388"/>
            <a:ext cx="285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r</a:t>
            </a:r>
          </a:p>
        </p:txBody>
      </p:sp>
      <p:sp>
        <p:nvSpPr>
          <p:cNvPr id="16412" name="Text Box 27">
            <a:extLst>
              <a:ext uri="{FF2B5EF4-FFF2-40B4-BE49-F238E27FC236}">
                <a16:creationId xmlns:a16="http://schemas.microsoft.com/office/drawing/2014/main" id="{C586C301-9358-1143-A82B-10FA51700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1" y="2093913"/>
            <a:ext cx="303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s</a:t>
            </a:r>
          </a:p>
        </p:txBody>
      </p:sp>
      <p:sp>
        <p:nvSpPr>
          <p:cNvPr id="16413" name="Text Box 28">
            <a:extLst>
              <a:ext uri="{FF2B5EF4-FFF2-40B4-BE49-F238E27FC236}">
                <a16:creationId xmlns:a16="http://schemas.microsoft.com/office/drawing/2014/main" id="{2DD6AA71-3FD3-954F-BA2C-B76F876D1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2103438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t</a:t>
            </a:r>
          </a:p>
        </p:txBody>
      </p:sp>
      <p:sp>
        <p:nvSpPr>
          <p:cNvPr id="16414" name="Text Box 29">
            <a:extLst>
              <a:ext uri="{FF2B5EF4-FFF2-40B4-BE49-F238E27FC236}">
                <a16:creationId xmlns:a16="http://schemas.microsoft.com/office/drawing/2014/main" id="{6723A137-FFFC-DD42-A4BB-E66063674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1950" y="21129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u</a:t>
            </a:r>
          </a:p>
        </p:txBody>
      </p:sp>
      <p:sp>
        <p:nvSpPr>
          <p:cNvPr id="16415" name="Text Box 30">
            <a:extLst>
              <a:ext uri="{FF2B5EF4-FFF2-40B4-BE49-F238E27FC236}">
                <a16:creationId xmlns:a16="http://schemas.microsoft.com/office/drawing/2014/main" id="{E7A1C173-F2D2-8F49-B01A-3DE80E49C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3775" y="43799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v</a:t>
            </a:r>
          </a:p>
        </p:txBody>
      </p:sp>
      <p:sp>
        <p:nvSpPr>
          <p:cNvPr id="16416" name="Text Box 31">
            <a:extLst>
              <a:ext uri="{FF2B5EF4-FFF2-40B4-BE49-F238E27FC236}">
                <a16:creationId xmlns:a16="http://schemas.microsoft.com/office/drawing/2014/main" id="{DE4BE3F5-93F4-F44F-8645-762D84C39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4913" y="4389438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w</a:t>
            </a:r>
          </a:p>
        </p:txBody>
      </p:sp>
      <p:sp>
        <p:nvSpPr>
          <p:cNvPr id="16417" name="Text Box 32">
            <a:extLst>
              <a:ext uri="{FF2B5EF4-FFF2-40B4-BE49-F238E27FC236}">
                <a16:creationId xmlns:a16="http://schemas.microsoft.com/office/drawing/2014/main" id="{79560788-983E-2245-B31D-F3447060E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439896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x</a:t>
            </a:r>
          </a:p>
        </p:txBody>
      </p:sp>
      <p:sp>
        <p:nvSpPr>
          <p:cNvPr id="16418" name="Text Box 33">
            <a:extLst>
              <a:ext uri="{FF2B5EF4-FFF2-40B4-BE49-F238E27FC236}">
                <a16:creationId xmlns:a16="http://schemas.microsoft.com/office/drawing/2014/main" id="{511E0908-CEC2-4B4D-8503-D8C258179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1475" y="4394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u="sng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he-IL" u="none">
                <a:solidFill>
                  <a:srgbClr val="CC0000"/>
                </a:solidFill>
              </a:rPr>
              <a:t>y</a:t>
            </a:r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A42C3994-5A09-9343-89E9-2859D8A538AC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he-IL" sz="3200" b="1" dirty="0">
                <a:latin typeface="+mn-lt"/>
                <a:ea typeface="+mn-ea"/>
                <a:cs typeface="+mn-cs"/>
              </a:rPr>
              <a:t>Output – BFS Tree</a:t>
            </a:r>
          </a:p>
        </p:txBody>
      </p:sp>
      <p:sp>
        <p:nvSpPr>
          <p:cNvPr id="40" name="Footer Placeholder 4">
            <a:extLst>
              <a:ext uri="{FF2B5EF4-FFF2-40B4-BE49-F238E27FC236}">
                <a16:creationId xmlns:a16="http://schemas.microsoft.com/office/drawing/2014/main" id="{F4F34A09-B1BD-8342-9A06-BA83B6BAE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436AB2-C5CF-8F42-B99A-8C85E6FC6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19</a:t>
            </a:fld>
            <a:endParaRPr lang="en-IL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235721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BFS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20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6B96B0-7D30-044F-8D9D-9D4EC5CCD61C}"/>
              </a:ext>
            </a:extLst>
          </p:cNvPr>
          <p:cNvSpPr/>
          <p:nvPr/>
        </p:nvSpPr>
        <p:spPr>
          <a:xfrm>
            <a:off x="687571" y="825772"/>
            <a:ext cx="9626009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AF00DB"/>
                </a:solidFill>
                <a:latin typeface="Courier New" panose="020703090202050204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collections </a:t>
            </a:r>
            <a:r>
              <a:rPr lang="en-US" dirty="0">
                <a:solidFill>
                  <a:srgbClr val="AF00DB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deque</a:t>
            </a:r>
          </a:p>
          <a:p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Graph:</a:t>
            </a:r>
          </a:p>
          <a:p>
            <a:pPr lvl="1"/>
            <a:r>
              <a:rPr lang="en-US" dirty="0">
                <a:latin typeface="Courier New" panose="02070309020205020404" pitchFamily="49" charset="0"/>
              </a:rPr>
              <a:t>…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def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urier New" panose="02070309020205020404" pitchFamily="49" charset="0"/>
              </a:rPr>
              <a:t>bfs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urier New" panose="02070309020205020404" pitchFamily="49" charset="0"/>
              </a:rPr>
              <a:t>self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urier New" panose="02070309020205020404" pitchFamily="49" charset="0"/>
              </a:rPr>
              <a:t>start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urier New" panose="02070309020205020404" pitchFamily="49" charset="0"/>
              </a:rPr>
              <a:t>goal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):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x = (start, [start])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queue = deque()</a:t>
            </a:r>
          </a:p>
          <a:p>
            <a:pPr lvl="2"/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queue.append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(x)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results = []</a:t>
            </a:r>
          </a:p>
          <a:p>
            <a:pPr lvl="2"/>
            <a:r>
              <a:rPr lang="en-US" dirty="0">
                <a:solidFill>
                  <a:srgbClr val="AF00DB"/>
                </a:solidFill>
                <a:latin typeface="Courier New" panose="020703090202050204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queue:</a:t>
            </a:r>
          </a:p>
          <a:p>
            <a:pPr lvl="3"/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(vertex, path) =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queue.popleft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()</a:t>
            </a:r>
          </a:p>
          <a:p>
            <a:pPr lvl="3"/>
            <a:r>
              <a:rPr lang="en-US" dirty="0">
                <a:solidFill>
                  <a:srgbClr val="AF00DB"/>
                </a:solidFill>
                <a:latin typeface="Courier New" panose="020703090202050204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next </a:t>
            </a: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</a:rPr>
              <a:t>in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267F99"/>
                </a:solidFill>
                <a:latin typeface="Courier New" panose="020703090202050204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1080"/>
                </a:solidFill>
                <a:latin typeface="Courier New" panose="02070309020205020404" pitchFamily="49" charset="0"/>
              </a:rPr>
              <a:t>self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267F99"/>
                </a:solidFill>
                <a:latin typeface="Courier New" panose="02070309020205020404" pitchFamily="49" charset="0"/>
              </a:rPr>
              <a:t>dict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[vertex]) - </a:t>
            </a:r>
            <a:r>
              <a:rPr lang="en-US" dirty="0">
                <a:solidFill>
                  <a:srgbClr val="267F99"/>
                </a:solidFill>
                <a:latin typeface="Courier New" panose="02070309020205020404" pitchFamily="49" charset="0"/>
              </a:rPr>
              <a:t>set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(path):</a:t>
            </a:r>
          </a:p>
          <a:p>
            <a:pPr lvl="4"/>
            <a:r>
              <a:rPr lang="en-US" dirty="0">
                <a:solidFill>
                  <a:srgbClr val="AF00DB"/>
                </a:solidFill>
                <a:latin typeface="Courier New" panose="020703090202050204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next == goal:</a:t>
            </a:r>
          </a:p>
          <a:p>
            <a:pPr lvl="4"/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results.append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(path + [next])</a:t>
            </a:r>
          </a:p>
          <a:p>
            <a:pPr lvl="4"/>
            <a:r>
              <a:rPr lang="en-US" dirty="0">
                <a:solidFill>
                  <a:srgbClr val="AF00DB"/>
                </a:solidFill>
                <a:latin typeface="Courier New" panose="020703090202050204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:</a:t>
            </a:r>
          </a:p>
          <a:p>
            <a:pPr lvl="4"/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queue.append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((next, path + [next]))</a:t>
            </a:r>
          </a:p>
          <a:p>
            <a:pPr lvl="2"/>
            <a:r>
              <a:rPr lang="en-US" dirty="0">
                <a:solidFill>
                  <a:srgbClr val="AF00DB"/>
                </a:solidFill>
                <a:latin typeface="Courier New" panose="020703090202050204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results</a:t>
            </a:r>
            <a:endParaRPr 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1A5EB38-1DB9-3544-BA20-19A81550B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3593" y="595423"/>
            <a:ext cx="48006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534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>
            <a:extLst>
              <a:ext uri="{FF2B5EF4-FFF2-40B4-BE49-F238E27FC236}">
                <a16:creationId xmlns:a16="http://schemas.microsoft.com/office/drawing/2014/main" id="{7B89F2B3-93AB-824C-9257-01A6284A5E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6885" y="274320"/>
            <a:ext cx="8698230" cy="822960"/>
          </a:xfrm>
        </p:spPr>
        <p:txBody>
          <a:bodyPr vert="horz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sz="3200" b="1" dirty="0">
                <a:latin typeface="+mn-lt"/>
                <a:ea typeface="+mn-ea"/>
                <a:cs typeface="+mn-cs"/>
              </a:rPr>
              <a:t>Dijkstra's algorithm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291" name="Rectangle 2">
                <a:extLst>
                  <a:ext uri="{FF2B5EF4-FFF2-40B4-BE49-F238E27FC236}">
                    <a16:creationId xmlns:a16="http://schemas.microsoft.com/office/drawing/2014/main" id="{EBC44D20-856B-4948-AE60-9C8D1D2C863F}"/>
                  </a:ext>
                </a:extLst>
              </p:cNvPr>
              <p:cNvSpPr>
                <a:spLocks noGrp="1" noChangeArrowheads="1"/>
              </p:cNvSpPr>
              <p:nvPr>
                <p:ph sz="quarter" idx="1"/>
              </p:nvPr>
            </p:nvSpPr>
            <p:spPr>
              <a:xfrm>
                <a:off x="651933" y="1097280"/>
                <a:ext cx="10735734" cy="5083387"/>
              </a:xfrm>
            </p:spPr>
            <p:txBody>
              <a:bodyPr vert="horz" lIns="0" tIns="0" rIns="0" bIns="0" rtlCol="0">
                <a:no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en-IL" sz="2200" b="1" u="sng" dirty="0"/>
                  <a:t>Dijkstra's algorithm</a:t>
                </a:r>
                <a:r>
                  <a:rPr lang="en-US" altLang="en-IL" sz="2200" b="1" dirty="0"/>
                  <a:t> </a:t>
                </a:r>
                <a:r>
                  <a:rPr lang="en-US" altLang="en-IL" sz="2200" dirty="0"/>
                  <a:t>-</a:t>
                </a:r>
                <a:r>
                  <a:rPr lang="en-US" altLang="en-IL" sz="2200" b="1" dirty="0"/>
                  <a:t> </a:t>
                </a:r>
                <a:r>
                  <a:rPr lang="en-US" altLang="en-IL" sz="2200" dirty="0"/>
                  <a:t>is a solution to the single-source shortest path problem in graph theory. </a:t>
                </a: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en-IL" sz="2200" dirty="0"/>
                  <a:t> </a:t>
                </a: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en-IL" sz="2200" b="1" dirty="0"/>
                  <a:t>Constraint</a:t>
                </a:r>
                <a:r>
                  <a:rPr lang="en-US" altLang="en-IL" sz="2200" dirty="0"/>
                  <a:t>: all edges must have </a:t>
                </a:r>
                <a:r>
                  <a:rPr lang="en-US" altLang="en-IL" sz="2200" b="1" dirty="0"/>
                  <a:t>nonnegative</a:t>
                </a:r>
                <a:r>
                  <a:rPr lang="en-US" altLang="en-IL" sz="2200" dirty="0"/>
                  <a:t> weights.</a:t>
                </a: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endParaRPr lang="en-US" altLang="en-IL" sz="2200" dirty="0"/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en-IL" sz="2200" b="1" dirty="0"/>
                  <a:t>Input</a:t>
                </a:r>
                <a:r>
                  <a:rPr lang="en-US" altLang="en-IL" sz="2200" dirty="0"/>
                  <a:t>: Weighted graph </a:t>
                </a:r>
                <a14:m>
                  <m:oMath xmlns:m="http://schemas.openxmlformats.org/officeDocument/2006/math">
                    <m:r>
                      <a:rPr lang="en-US" altLang="en-IL" sz="2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en-IL" sz="22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en-IL" sz="22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en-IL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en-IL" sz="2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en-IL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IL" sz="2200" dirty="0"/>
                  <a:t> and source vertex </a:t>
                </a:r>
                <a14:m>
                  <m:oMath xmlns:m="http://schemas.openxmlformats.org/officeDocument/2006/math">
                    <m:r>
                      <a:rPr lang="en-US" altLang="en-IL" sz="22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en-IL" sz="2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en-IL" sz="22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en-IL" sz="2200" dirty="0"/>
                  <a:t> </a:t>
                </a: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en-IL" sz="2200" b="1" dirty="0"/>
                  <a:t>Output</a:t>
                </a:r>
                <a:r>
                  <a:rPr lang="en-US" altLang="en-IL" sz="2200" dirty="0"/>
                  <a:t>: Lengths of shortest paths (or the shortest paths themselves) from a given source vertex</a:t>
                </a:r>
                <a:r>
                  <a:rPr lang="en-US" altLang="en-IL" sz="2200" i="1" dirty="0"/>
                  <a:t> </a:t>
                </a:r>
                <a14:m>
                  <m:oMath xmlns:m="http://schemas.openxmlformats.org/officeDocument/2006/math">
                    <m:r>
                      <a:rPr lang="en-US" altLang="en-IL" sz="22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en-IL" sz="2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en-IL" sz="22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en-IL" sz="2200" dirty="0"/>
                  <a:t> to all other vertices</a:t>
                </a:r>
              </a:p>
              <a:p>
                <a:pPr marL="0" indent="0">
                  <a:lnSpc>
                    <a:spcPct val="95000"/>
                  </a:lnSpc>
                  <a:spcBef>
                    <a:spcPct val="0"/>
                  </a:spcBef>
                  <a:buNone/>
                </a:pPr>
                <a:endParaRPr lang="en-US" altLang="en-IL" sz="2200" b="1" dirty="0"/>
              </a:p>
              <a:p>
                <a:pPr marL="0" indent="0">
                  <a:lnSpc>
                    <a:spcPct val="95000"/>
                  </a:lnSpc>
                  <a:spcBef>
                    <a:spcPct val="0"/>
                  </a:spcBef>
                  <a:buNone/>
                </a:pPr>
                <a:endParaRPr lang="en-US" altLang="en-IL" sz="2200" b="1" u="sng" dirty="0"/>
              </a:p>
            </p:txBody>
          </p:sp>
        </mc:Choice>
        <mc:Fallback>
          <p:sp>
            <p:nvSpPr>
              <p:cNvPr id="12291" name="Rectangle 2">
                <a:extLst>
                  <a:ext uri="{FF2B5EF4-FFF2-40B4-BE49-F238E27FC236}">
                    <a16:creationId xmlns:a16="http://schemas.microsoft.com/office/drawing/2014/main" id="{EBC44D20-856B-4948-AE60-9C8D1D2C86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51933" y="1097280"/>
                <a:ext cx="10735734" cy="5083387"/>
              </a:xfrm>
              <a:blipFill>
                <a:blip r:embed="rId2"/>
                <a:stretch>
                  <a:fillRect l="-165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>
            <a:extLst>
              <a:ext uri="{FF2B5EF4-FFF2-40B4-BE49-F238E27FC236}">
                <a16:creationId xmlns:a16="http://schemas.microsoft.com/office/drawing/2014/main" id="{942F67C9-65D0-A545-BEB0-19B918395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6885" y="274320"/>
            <a:ext cx="8698230" cy="822960"/>
          </a:xfrm>
        </p:spPr>
        <p:txBody>
          <a:bodyPr vert="horz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sz="3200" dirty="0">
                <a:latin typeface="+mn-lt"/>
                <a:ea typeface="+mn-ea"/>
                <a:cs typeface="+mn-cs"/>
              </a:rPr>
              <a:t>Applications of Dijkstra's Algorithm</a:t>
            </a:r>
          </a:p>
        </p:txBody>
      </p:sp>
      <p:pic>
        <p:nvPicPr>
          <p:cNvPr id="28676" name="Picture 4">
            <a:extLst>
              <a:ext uri="{FF2B5EF4-FFF2-40B4-BE49-F238E27FC236}">
                <a16:creationId xmlns:a16="http://schemas.microsoft.com/office/drawing/2014/main" id="{7CBCFB83-D5DF-C74F-ADDE-5C324584A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536" y="2087193"/>
            <a:ext cx="3413283" cy="332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Picture 5">
            <a:extLst>
              <a:ext uri="{FF2B5EF4-FFF2-40B4-BE49-F238E27FC236}">
                <a16:creationId xmlns:a16="http://schemas.microsoft.com/office/drawing/2014/main" id="{29ECB9D2-2D98-3542-9444-AA1319F62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852" y="1604594"/>
            <a:ext cx="3760470" cy="4093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>
            <a:extLst>
              <a:ext uri="{FF2B5EF4-FFF2-40B4-BE49-F238E27FC236}">
                <a16:creationId xmlns:a16="http://schemas.microsoft.com/office/drawing/2014/main" id="{1D8B3463-0F9A-1045-A211-AF2B908129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6885" y="274320"/>
            <a:ext cx="8698230" cy="822960"/>
          </a:xfrm>
        </p:spPr>
        <p:txBody>
          <a:bodyPr vert="horz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sz="3200" dirty="0">
                <a:latin typeface="+mn-lt"/>
                <a:ea typeface="+mn-ea"/>
                <a:cs typeface="+mn-cs"/>
              </a:rPr>
              <a:t>Dijkstra - Example</a:t>
            </a:r>
          </a:p>
        </p:txBody>
      </p:sp>
      <p:pic>
        <p:nvPicPr>
          <p:cNvPr id="14339" name="Picture 4">
            <a:extLst>
              <a:ext uri="{FF2B5EF4-FFF2-40B4-BE49-F238E27FC236}">
                <a16:creationId xmlns:a16="http://schemas.microsoft.com/office/drawing/2014/main" id="{DBA446A6-980A-284A-99AD-A280588EF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062990"/>
            <a:ext cx="8229600" cy="4697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743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>
            <a:extLst>
              <a:ext uri="{FF2B5EF4-FFF2-40B4-BE49-F238E27FC236}">
                <a16:creationId xmlns:a16="http://schemas.microsoft.com/office/drawing/2014/main" id="{682B35CA-6B93-A340-B1A2-7A5CCBCB15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6885" y="274320"/>
            <a:ext cx="8698230" cy="822960"/>
          </a:xfrm>
        </p:spPr>
        <p:txBody>
          <a:bodyPr vert="horz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sz="3200" b="1" dirty="0">
                <a:latin typeface="+mn-lt"/>
                <a:ea typeface="+mn-ea"/>
                <a:cs typeface="+mn-cs"/>
              </a:rPr>
              <a:t>Dijkstra - Example</a:t>
            </a:r>
          </a:p>
        </p:txBody>
      </p:sp>
      <p:pic>
        <p:nvPicPr>
          <p:cNvPr id="15363" name="Picture 5">
            <a:extLst>
              <a:ext uri="{FF2B5EF4-FFF2-40B4-BE49-F238E27FC236}">
                <a16:creationId xmlns:a16="http://schemas.microsoft.com/office/drawing/2014/main" id="{16E7DCC3-079F-EB4B-A2F6-B9360C9ED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791" y="1482513"/>
            <a:ext cx="7912418" cy="4089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73178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>
            <a:extLst>
              <a:ext uri="{FF2B5EF4-FFF2-40B4-BE49-F238E27FC236}">
                <a16:creationId xmlns:a16="http://schemas.microsoft.com/office/drawing/2014/main" id="{9B2689AF-734C-C94D-B3F7-4CB6A8A54C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6885" y="274320"/>
            <a:ext cx="8698230" cy="822960"/>
          </a:xfrm>
        </p:spPr>
        <p:txBody>
          <a:bodyPr vert="horz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sz="3200" b="1" dirty="0">
                <a:latin typeface="+mn-lt"/>
                <a:ea typeface="+mn-ea"/>
                <a:cs typeface="+mn-cs"/>
              </a:rPr>
              <a:t>Dijkstra - Example</a:t>
            </a:r>
          </a:p>
        </p:txBody>
      </p:sp>
      <p:pic>
        <p:nvPicPr>
          <p:cNvPr id="16387" name="Picture 5">
            <a:extLst>
              <a:ext uri="{FF2B5EF4-FFF2-40B4-BE49-F238E27FC236}">
                <a16:creationId xmlns:a16="http://schemas.microsoft.com/office/drawing/2014/main" id="{2431E809-5BDD-114E-9970-B52BFFAF4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793" y="1247352"/>
            <a:ext cx="824674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32909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>
            <a:extLst>
              <a:ext uri="{FF2B5EF4-FFF2-40B4-BE49-F238E27FC236}">
                <a16:creationId xmlns:a16="http://schemas.microsoft.com/office/drawing/2014/main" id="{6E0A6288-3BBA-6543-9907-56A906AED3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6885" y="274320"/>
            <a:ext cx="8698230" cy="822960"/>
          </a:xfrm>
        </p:spPr>
        <p:txBody>
          <a:bodyPr vert="horz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sz="3200" b="1" dirty="0">
                <a:latin typeface="+mn-lt"/>
                <a:ea typeface="+mn-ea"/>
                <a:cs typeface="+mn-cs"/>
              </a:rPr>
              <a:t>Dijkstra - Example</a:t>
            </a:r>
          </a:p>
        </p:txBody>
      </p:sp>
      <p:pic>
        <p:nvPicPr>
          <p:cNvPr id="17411" name="Picture 5">
            <a:extLst>
              <a:ext uri="{FF2B5EF4-FFF2-40B4-BE49-F238E27FC236}">
                <a16:creationId xmlns:a16="http://schemas.microsoft.com/office/drawing/2014/main" id="{93D88AC4-1F6B-0F41-8F75-91CB60CA7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885" y="1114058"/>
            <a:ext cx="824674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70581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>
            <a:extLst>
              <a:ext uri="{FF2B5EF4-FFF2-40B4-BE49-F238E27FC236}">
                <a16:creationId xmlns:a16="http://schemas.microsoft.com/office/drawing/2014/main" id="{1FE3F8B7-6D7F-1942-8F3F-5541727FC7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6885" y="274320"/>
            <a:ext cx="8698230" cy="822960"/>
          </a:xfrm>
        </p:spPr>
        <p:txBody>
          <a:bodyPr vert="horz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sz="3200" b="1" dirty="0">
                <a:latin typeface="+mn-lt"/>
                <a:ea typeface="+mn-ea"/>
                <a:cs typeface="+mn-cs"/>
              </a:rPr>
              <a:t>Dijkstra - Example</a:t>
            </a:r>
          </a:p>
        </p:txBody>
      </p:sp>
      <p:pic>
        <p:nvPicPr>
          <p:cNvPr id="18435" name="Picture 5">
            <a:extLst>
              <a:ext uri="{FF2B5EF4-FFF2-40B4-BE49-F238E27FC236}">
                <a16:creationId xmlns:a16="http://schemas.microsoft.com/office/drawing/2014/main" id="{8A7CA52A-0C9D-F441-B939-0F1990FDF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542" y="1323551"/>
            <a:ext cx="824674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91023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>
            <a:extLst>
              <a:ext uri="{FF2B5EF4-FFF2-40B4-BE49-F238E27FC236}">
                <a16:creationId xmlns:a16="http://schemas.microsoft.com/office/drawing/2014/main" id="{6BF198AA-9BAE-3240-B799-7F326DC359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6885" y="274320"/>
            <a:ext cx="8698230" cy="822960"/>
          </a:xfrm>
        </p:spPr>
        <p:txBody>
          <a:bodyPr vert="horz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sz="3200" b="1" dirty="0">
                <a:latin typeface="+mn-lt"/>
                <a:ea typeface="+mn-ea"/>
                <a:cs typeface="+mn-cs"/>
              </a:rPr>
              <a:t>Dijkstra - Example</a:t>
            </a:r>
          </a:p>
        </p:txBody>
      </p:sp>
      <p:pic>
        <p:nvPicPr>
          <p:cNvPr id="19459" name="Picture 5">
            <a:extLst>
              <a:ext uri="{FF2B5EF4-FFF2-40B4-BE49-F238E27FC236}">
                <a16:creationId xmlns:a16="http://schemas.microsoft.com/office/drawing/2014/main" id="{C24147AF-0A0A-0C43-900E-0FB8C921E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942" y="1097280"/>
            <a:ext cx="824674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4598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>
            <a:extLst>
              <a:ext uri="{FF2B5EF4-FFF2-40B4-BE49-F238E27FC236}">
                <a16:creationId xmlns:a16="http://schemas.microsoft.com/office/drawing/2014/main" id="{C95D0790-0156-AC4D-A17F-68721E0F8E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6885" y="274320"/>
            <a:ext cx="8698230" cy="822960"/>
          </a:xfrm>
        </p:spPr>
        <p:txBody>
          <a:bodyPr vert="horz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sz="3200" b="1" dirty="0">
                <a:latin typeface="+mn-lt"/>
                <a:ea typeface="+mn-ea"/>
                <a:cs typeface="+mn-cs"/>
              </a:rPr>
              <a:t>Dijkstra - Example</a:t>
            </a:r>
          </a:p>
        </p:txBody>
      </p:sp>
      <p:pic>
        <p:nvPicPr>
          <p:cNvPr id="20483" name="Picture 5">
            <a:extLst>
              <a:ext uri="{FF2B5EF4-FFF2-40B4-BE49-F238E27FC236}">
                <a16:creationId xmlns:a16="http://schemas.microsoft.com/office/drawing/2014/main" id="{24D1A613-0468-B24A-B028-6BCB1CACF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628" y="1071563"/>
            <a:ext cx="824674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02307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>
            <a:extLst>
              <a:ext uri="{FF2B5EF4-FFF2-40B4-BE49-F238E27FC236}">
                <a16:creationId xmlns:a16="http://schemas.microsoft.com/office/drawing/2014/main" id="{24BBA583-7DBF-9240-88CB-C135CD9813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6885" y="274320"/>
            <a:ext cx="8698230" cy="822960"/>
          </a:xfrm>
        </p:spPr>
        <p:txBody>
          <a:bodyPr vert="horz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sz="3200" b="1" dirty="0">
                <a:latin typeface="+mn-lt"/>
                <a:ea typeface="+mn-ea"/>
                <a:cs typeface="+mn-cs"/>
              </a:rPr>
              <a:t>Dijkstra - Example</a:t>
            </a:r>
          </a:p>
        </p:txBody>
      </p:sp>
      <p:pic>
        <p:nvPicPr>
          <p:cNvPr id="21507" name="Picture 5">
            <a:extLst>
              <a:ext uri="{FF2B5EF4-FFF2-40B4-BE49-F238E27FC236}">
                <a16:creationId xmlns:a16="http://schemas.microsoft.com/office/drawing/2014/main" id="{AB0D205E-DFC9-994F-BD6B-21C046158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885" y="1114058"/>
            <a:ext cx="824674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7687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A4582FD4-6492-C342-89E2-A15866DBA5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6885" y="274320"/>
            <a:ext cx="8698230" cy="822960"/>
          </a:xfrm>
        </p:spPr>
        <p:txBody>
          <a:bodyPr vert="horz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sz="3200" b="1" dirty="0">
                <a:latin typeface="+mn-lt"/>
                <a:ea typeface="+mn-ea"/>
                <a:cs typeface="+mn-cs"/>
              </a:rPr>
              <a:t>Dijkstra - Example</a:t>
            </a:r>
          </a:p>
        </p:txBody>
      </p:sp>
      <p:pic>
        <p:nvPicPr>
          <p:cNvPr id="22531" name="Picture 5">
            <a:extLst>
              <a:ext uri="{FF2B5EF4-FFF2-40B4-BE49-F238E27FC236}">
                <a16:creationId xmlns:a16="http://schemas.microsoft.com/office/drawing/2014/main" id="{3B72419B-71E4-B640-BD35-D728AC2F4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628" y="1071563"/>
            <a:ext cx="824674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9949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>
            <a:extLst>
              <a:ext uri="{FF2B5EF4-FFF2-40B4-BE49-F238E27FC236}">
                <a16:creationId xmlns:a16="http://schemas.microsoft.com/office/drawing/2014/main" id="{A899255E-7F44-734A-BD8A-6DF3140B08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6885" y="274320"/>
            <a:ext cx="8698230" cy="822960"/>
          </a:xfrm>
        </p:spPr>
        <p:txBody>
          <a:bodyPr vert="horz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sz="3200" b="1" dirty="0">
                <a:latin typeface="+mn-lt"/>
                <a:ea typeface="+mn-ea"/>
                <a:cs typeface="+mn-cs"/>
              </a:rPr>
              <a:t>Dijkstra - Example</a:t>
            </a:r>
          </a:p>
        </p:txBody>
      </p:sp>
      <p:pic>
        <p:nvPicPr>
          <p:cNvPr id="23555" name="Picture 5">
            <a:extLst>
              <a:ext uri="{FF2B5EF4-FFF2-40B4-BE49-F238E27FC236}">
                <a16:creationId xmlns:a16="http://schemas.microsoft.com/office/drawing/2014/main" id="{0479E879-31B3-5744-B971-CBA034BA0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628" y="1071562"/>
            <a:ext cx="8255009" cy="47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21607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>
            <a:extLst>
              <a:ext uri="{FF2B5EF4-FFF2-40B4-BE49-F238E27FC236}">
                <a16:creationId xmlns:a16="http://schemas.microsoft.com/office/drawing/2014/main" id="{0A0B3F83-3043-1043-B404-896D64872B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6885" y="274320"/>
            <a:ext cx="8698230" cy="822960"/>
          </a:xfrm>
        </p:spPr>
        <p:txBody>
          <a:bodyPr vert="horz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sz="3200" b="1" dirty="0">
                <a:latin typeface="+mn-lt"/>
                <a:ea typeface="+mn-ea"/>
                <a:cs typeface="+mn-cs"/>
              </a:rPr>
              <a:t>Dijkstra's algorithm</a:t>
            </a:r>
          </a:p>
        </p:txBody>
      </p:sp>
      <p:sp>
        <p:nvSpPr>
          <p:cNvPr id="13315" name="Text Box 4">
            <a:extLst>
              <a:ext uri="{FF2B5EF4-FFF2-40B4-BE49-F238E27FC236}">
                <a16:creationId xmlns:a16="http://schemas.microsoft.com/office/drawing/2014/main" id="{9A38D97E-F9EF-1545-9BD9-527DE6347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097280"/>
            <a:ext cx="9499600" cy="5774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IL" sz="1800" dirty="0" err="1">
                <a:solidFill>
                  <a:srgbClr val="674EA7"/>
                </a:solidFill>
                <a:latin typeface="+mn-lt"/>
              </a:rPr>
              <a:t>dist</a:t>
            </a:r>
            <a:r>
              <a:rPr lang="en-US" altLang="en-IL" sz="1800" dirty="0">
                <a:solidFill>
                  <a:srgbClr val="674EA7"/>
                </a:solidFill>
                <a:latin typeface="+mn-lt"/>
              </a:rPr>
              <a:t>[s] ←0        			</a:t>
            </a:r>
            <a:r>
              <a:rPr lang="en-US" altLang="en-IL" sz="1800" dirty="0">
                <a:solidFill>
                  <a:srgbClr val="C00000"/>
                </a:solidFill>
                <a:latin typeface="+mn-lt"/>
              </a:rPr>
              <a:t>(distance to source vertex is zero)</a:t>
            </a:r>
            <a:br>
              <a:rPr lang="en-US" altLang="en-IL" sz="1800" dirty="0">
                <a:solidFill>
                  <a:srgbClr val="444444"/>
                </a:solidFill>
                <a:latin typeface="+mn-lt"/>
              </a:rPr>
            </a:br>
            <a:r>
              <a:rPr lang="en-US" altLang="en-IL" sz="1800" dirty="0">
                <a:solidFill>
                  <a:srgbClr val="444444"/>
                </a:solidFill>
                <a:latin typeface="+mn-lt"/>
              </a:rPr>
              <a:t>for  all </a:t>
            </a:r>
            <a:r>
              <a:rPr lang="en-US" altLang="en-IL" sz="1800" dirty="0">
                <a:solidFill>
                  <a:srgbClr val="674EA7"/>
                </a:solidFill>
                <a:latin typeface="+mn-lt"/>
              </a:rPr>
              <a:t>v ∈ V–{s}</a:t>
            </a:r>
            <a:br>
              <a:rPr lang="en-US" altLang="en-IL" sz="1800" dirty="0">
                <a:solidFill>
                  <a:srgbClr val="444444"/>
                </a:solidFill>
                <a:latin typeface="+mn-lt"/>
              </a:rPr>
            </a:br>
            <a:r>
              <a:rPr lang="en-US" altLang="en-IL" sz="1800" dirty="0">
                <a:solidFill>
                  <a:srgbClr val="444444"/>
                </a:solidFill>
                <a:latin typeface="+mn-lt"/>
              </a:rPr>
              <a:t>        do  </a:t>
            </a:r>
            <a:r>
              <a:rPr lang="en-US" altLang="en-IL" sz="1800" dirty="0" err="1">
                <a:solidFill>
                  <a:srgbClr val="674EA7"/>
                </a:solidFill>
                <a:latin typeface="+mn-lt"/>
              </a:rPr>
              <a:t>dist</a:t>
            </a:r>
            <a:r>
              <a:rPr lang="en-US" altLang="en-IL" sz="1800" dirty="0">
                <a:solidFill>
                  <a:srgbClr val="674EA7"/>
                </a:solidFill>
                <a:latin typeface="+mn-lt"/>
              </a:rPr>
              <a:t>[v] ←∞ 		</a:t>
            </a:r>
            <a:r>
              <a:rPr lang="en-US" altLang="en-IL" sz="1800" dirty="0">
                <a:solidFill>
                  <a:srgbClr val="C00000"/>
                </a:solidFill>
                <a:latin typeface="+mn-lt"/>
              </a:rPr>
              <a:t>(set all other distances to infinity) </a:t>
            </a:r>
            <a:br>
              <a:rPr lang="en-US" altLang="en-IL" sz="1800" dirty="0">
                <a:solidFill>
                  <a:srgbClr val="444444"/>
                </a:solidFill>
                <a:latin typeface="+mn-lt"/>
              </a:rPr>
            </a:br>
            <a:r>
              <a:rPr lang="en-US" altLang="en-IL" sz="1800" dirty="0">
                <a:solidFill>
                  <a:srgbClr val="674EA7"/>
                </a:solidFill>
                <a:latin typeface="+mn-lt"/>
              </a:rPr>
              <a:t>S←∅ 				</a:t>
            </a:r>
            <a:r>
              <a:rPr lang="en-US" altLang="en-IL" sz="1800" dirty="0">
                <a:solidFill>
                  <a:srgbClr val="C00000"/>
                </a:solidFill>
                <a:latin typeface="+mn-lt"/>
              </a:rPr>
              <a:t>(S, the set of visited vertices is initially empty) </a:t>
            </a:r>
            <a:br>
              <a:rPr lang="en-US" altLang="en-IL" sz="1800" dirty="0">
                <a:solidFill>
                  <a:srgbClr val="444444"/>
                </a:solidFill>
                <a:latin typeface="+mn-lt"/>
              </a:rPr>
            </a:br>
            <a:r>
              <a:rPr lang="en-US" altLang="en-IL" sz="1800" dirty="0">
                <a:solidFill>
                  <a:srgbClr val="674EA7"/>
                </a:solidFill>
                <a:latin typeface="+mn-lt"/>
              </a:rPr>
              <a:t>Q←V </a:t>
            </a:r>
            <a:r>
              <a:rPr lang="en-US" altLang="en-IL" sz="1800" dirty="0">
                <a:solidFill>
                  <a:srgbClr val="C00000"/>
                </a:solidFill>
                <a:latin typeface="+mn-lt"/>
              </a:rPr>
              <a:t> 				(Q, the queue initially contains all vertices) </a:t>
            </a:r>
            <a:r>
              <a:rPr lang="en-US" altLang="en-IL" sz="1800" dirty="0">
                <a:solidFill>
                  <a:srgbClr val="674EA7"/>
                </a:solidFill>
                <a:latin typeface="+mn-lt"/>
              </a:rPr>
              <a:t>              </a:t>
            </a:r>
            <a:br>
              <a:rPr lang="en-US" altLang="en-IL" sz="1800" dirty="0">
                <a:solidFill>
                  <a:srgbClr val="444444"/>
                </a:solidFill>
                <a:latin typeface="+mn-lt"/>
              </a:rPr>
            </a:br>
            <a:r>
              <a:rPr lang="en-US" altLang="en-IL" sz="1800" dirty="0">
                <a:solidFill>
                  <a:srgbClr val="444444"/>
                </a:solidFill>
                <a:latin typeface="+mn-lt"/>
              </a:rPr>
              <a:t>while </a:t>
            </a:r>
            <a:r>
              <a:rPr lang="en-US" altLang="en-IL" sz="1800" dirty="0">
                <a:solidFill>
                  <a:srgbClr val="674EA7"/>
                </a:solidFill>
                <a:latin typeface="+mn-lt"/>
              </a:rPr>
              <a:t>Q ≠∅ 			</a:t>
            </a:r>
            <a:r>
              <a:rPr lang="en-US" altLang="en-IL" sz="1800" dirty="0">
                <a:solidFill>
                  <a:srgbClr val="C00000"/>
                </a:solidFill>
                <a:latin typeface="+mn-lt"/>
              </a:rPr>
              <a:t>(while the queue is not empty) </a:t>
            </a:r>
            <a:br>
              <a:rPr lang="en-US" altLang="en-IL" sz="1800" dirty="0">
                <a:solidFill>
                  <a:srgbClr val="444444"/>
                </a:solidFill>
                <a:latin typeface="+mn-lt"/>
              </a:rPr>
            </a:br>
            <a:r>
              <a:rPr lang="en-US" altLang="en-IL" sz="1800" dirty="0">
                <a:solidFill>
                  <a:srgbClr val="444444"/>
                </a:solidFill>
                <a:latin typeface="+mn-lt"/>
              </a:rPr>
              <a:t>do  </a:t>
            </a:r>
            <a:r>
              <a:rPr lang="en-US" altLang="en-IL" sz="1800" dirty="0">
                <a:solidFill>
                  <a:srgbClr val="674EA7"/>
                </a:solidFill>
                <a:latin typeface="+mn-lt"/>
              </a:rPr>
              <a:t> u ← </a:t>
            </a:r>
            <a:r>
              <a:rPr lang="en-US" altLang="en-IL" sz="1800" dirty="0" err="1">
                <a:solidFill>
                  <a:srgbClr val="444444"/>
                </a:solidFill>
                <a:latin typeface="+mn-lt"/>
              </a:rPr>
              <a:t>mindistance</a:t>
            </a:r>
            <a:r>
              <a:rPr lang="en-US" altLang="en-IL" sz="1800" dirty="0">
                <a:solidFill>
                  <a:srgbClr val="674EA7"/>
                </a:solidFill>
                <a:latin typeface="+mn-lt"/>
              </a:rPr>
              <a:t>(</a:t>
            </a:r>
            <a:r>
              <a:rPr lang="en-US" altLang="en-IL" sz="1800" dirty="0" err="1">
                <a:solidFill>
                  <a:srgbClr val="674EA7"/>
                </a:solidFill>
                <a:latin typeface="+mn-lt"/>
              </a:rPr>
              <a:t>Q,dist</a:t>
            </a:r>
            <a:r>
              <a:rPr lang="en-US" altLang="en-IL" sz="1800" dirty="0">
                <a:solidFill>
                  <a:srgbClr val="674EA7"/>
                </a:solidFill>
                <a:latin typeface="+mn-lt"/>
              </a:rPr>
              <a:t>)	                  </a:t>
            </a:r>
            <a:r>
              <a:rPr lang="en-US" altLang="en-IL" sz="1800" dirty="0">
                <a:solidFill>
                  <a:srgbClr val="C00000"/>
                </a:solidFill>
                <a:latin typeface="+mn-lt"/>
              </a:rPr>
              <a:t>(select the element of Q with the min. distance) </a:t>
            </a:r>
            <a:br>
              <a:rPr lang="en-US" altLang="en-IL" sz="1800" dirty="0">
                <a:solidFill>
                  <a:srgbClr val="444444"/>
                </a:solidFill>
                <a:latin typeface="+mn-lt"/>
              </a:rPr>
            </a:br>
            <a:r>
              <a:rPr lang="en-US" altLang="en-IL" sz="1800" dirty="0">
                <a:solidFill>
                  <a:srgbClr val="444444"/>
                </a:solidFill>
                <a:latin typeface="+mn-lt"/>
              </a:rPr>
              <a:t>    </a:t>
            </a:r>
            <a:r>
              <a:rPr lang="en-US" altLang="en-IL" sz="1800" dirty="0">
                <a:solidFill>
                  <a:srgbClr val="674EA7"/>
                </a:solidFill>
                <a:latin typeface="+mn-lt"/>
              </a:rPr>
              <a:t>  S←S∪{u} 			</a:t>
            </a:r>
            <a:r>
              <a:rPr lang="en-US" altLang="en-IL" sz="1800" dirty="0">
                <a:solidFill>
                  <a:srgbClr val="C00000"/>
                </a:solidFill>
                <a:latin typeface="+mn-lt"/>
              </a:rPr>
              <a:t>(add u to list of visited vertices) </a:t>
            </a:r>
            <a:br>
              <a:rPr lang="en-US" altLang="en-IL" sz="1800" dirty="0">
                <a:solidFill>
                  <a:srgbClr val="444444"/>
                </a:solidFill>
                <a:latin typeface="+mn-lt"/>
              </a:rPr>
            </a:br>
            <a:r>
              <a:rPr lang="en-US" altLang="en-IL" sz="1800" dirty="0">
                <a:solidFill>
                  <a:srgbClr val="444444"/>
                </a:solidFill>
                <a:latin typeface="+mn-lt"/>
              </a:rPr>
              <a:t>       for all </a:t>
            </a:r>
            <a:r>
              <a:rPr lang="en-US" altLang="en-IL" sz="1800" dirty="0">
                <a:solidFill>
                  <a:srgbClr val="674EA7"/>
                </a:solidFill>
                <a:latin typeface="+mn-lt"/>
              </a:rPr>
              <a:t>v ∈ neighbors[u]		</a:t>
            </a:r>
            <a:r>
              <a:rPr lang="en-US" altLang="en-IL" sz="1800" dirty="0">
                <a:solidFill>
                  <a:srgbClr val="C00000"/>
                </a:solidFill>
                <a:latin typeface="+mn-lt"/>
              </a:rPr>
              <a:t> </a:t>
            </a:r>
            <a:br>
              <a:rPr lang="en-US" altLang="en-IL" sz="1800" dirty="0">
                <a:solidFill>
                  <a:srgbClr val="444444"/>
                </a:solidFill>
                <a:latin typeface="+mn-lt"/>
              </a:rPr>
            </a:br>
            <a:r>
              <a:rPr lang="en-US" altLang="en-IL" sz="1800" dirty="0">
                <a:solidFill>
                  <a:srgbClr val="444444"/>
                </a:solidFill>
                <a:latin typeface="+mn-lt"/>
              </a:rPr>
              <a:t>              do  if   </a:t>
            </a:r>
            <a:r>
              <a:rPr lang="en-US" altLang="en-IL" sz="1800" dirty="0" err="1">
                <a:solidFill>
                  <a:srgbClr val="674EA7"/>
                </a:solidFill>
                <a:latin typeface="+mn-lt"/>
              </a:rPr>
              <a:t>dist</a:t>
            </a:r>
            <a:r>
              <a:rPr lang="en-US" altLang="en-IL" sz="1800" dirty="0">
                <a:solidFill>
                  <a:srgbClr val="674EA7"/>
                </a:solidFill>
                <a:latin typeface="+mn-lt"/>
              </a:rPr>
              <a:t>[v] &gt; </a:t>
            </a:r>
            <a:r>
              <a:rPr lang="en-US" altLang="en-IL" sz="1800" dirty="0" err="1">
                <a:solidFill>
                  <a:srgbClr val="674EA7"/>
                </a:solidFill>
                <a:latin typeface="+mn-lt"/>
              </a:rPr>
              <a:t>dist</a:t>
            </a:r>
            <a:r>
              <a:rPr lang="en-US" altLang="en-IL" sz="1800" dirty="0">
                <a:solidFill>
                  <a:srgbClr val="674EA7"/>
                </a:solidFill>
                <a:latin typeface="+mn-lt"/>
              </a:rPr>
              <a:t>[u] + w(u, v) 		</a:t>
            </a:r>
            <a:r>
              <a:rPr lang="en-US" altLang="en-IL" sz="1800" dirty="0">
                <a:solidFill>
                  <a:srgbClr val="C00000"/>
                </a:solidFill>
                <a:latin typeface="+mn-lt"/>
              </a:rPr>
              <a:t>(if new shortest path found)</a:t>
            </a:r>
            <a:br>
              <a:rPr lang="en-US" altLang="en-IL" sz="1800" dirty="0">
                <a:solidFill>
                  <a:srgbClr val="444444"/>
                </a:solidFill>
                <a:latin typeface="+mn-lt"/>
              </a:rPr>
            </a:br>
            <a:r>
              <a:rPr lang="en-US" altLang="en-IL" sz="1800" dirty="0">
                <a:solidFill>
                  <a:srgbClr val="444444"/>
                </a:solidFill>
                <a:latin typeface="+mn-lt"/>
              </a:rPr>
              <a:t>                         then      </a:t>
            </a:r>
            <a:r>
              <a:rPr lang="en-US" altLang="en-IL" sz="1800" dirty="0">
                <a:solidFill>
                  <a:srgbClr val="674EA7"/>
                </a:solidFill>
                <a:latin typeface="+mn-lt"/>
              </a:rPr>
              <a:t>d[v] ←d[u] + w(u, v)	</a:t>
            </a:r>
            <a:r>
              <a:rPr lang="en-US" altLang="en-IL" sz="1800" dirty="0">
                <a:solidFill>
                  <a:srgbClr val="C00000"/>
                </a:solidFill>
                <a:latin typeface="+mn-lt"/>
              </a:rPr>
              <a:t>(set new value of shortest path)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IL" sz="1800" dirty="0">
                <a:solidFill>
                  <a:srgbClr val="444444"/>
                </a:solidFill>
                <a:latin typeface="+mn-lt"/>
              </a:rPr>
              <a:t>		</a:t>
            </a:r>
            <a:r>
              <a:rPr lang="en-US" altLang="en-IL" sz="1800" dirty="0">
                <a:solidFill>
                  <a:srgbClr val="C00000"/>
                </a:solidFill>
                <a:latin typeface="+mn-lt"/>
              </a:rPr>
              <a:t>(if desired, add traceback code)</a:t>
            </a:r>
            <a:endParaRPr lang="en-US" altLang="en-IL" sz="1800" dirty="0">
              <a:solidFill>
                <a:srgbClr val="444444"/>
              </a:solidFill>
              <a:latin typeface="+mn-lt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IL" sz="1800" dirty="0">
                <a:solidFill>
                  <a:srgbClr val="444444"/>
                </a:solidFill>
                <a:latin typeface="+mn-lt"/>
              </a:rPr>
              <a:t>return </a:t>
            </a:r>
            <a:r>
              <a:rPr lang="en-US" altLang="en-IL" sz="1800" dirty="0" err="1">
                <a:solidFill>
                  <a:srgbClr val="674EA7"/>
                </a:solidFill>
                <a:latin typeface="+mn-lt"/>
              </a:rPr>
              <a:t>dist</a:t>
            </a:r>
            <a:endParaRPr lang="en-US" altLang="en-IL" sz="1800" dirty="0">
              <a:solidFill>
                <a:srgbClr val="C00000"/>
              </a:solidFill>
              <a:latin typeface="+mn-lt"/>
            </a:endParaRPr>
          </a:p>
          <a:p>
            <a:pPr eaLnBrk="1" hangingPunct="1">
              <a:lnSpc>
                <a:spcPct val="150000"/>
              </a:lnSpc>
            </a:pPr>
            <a:endParaRPr lang="en-US" altLang="en-IL" sz="1800" dirty="0">
              <a:solidFill>
                <a:srgbClr val="674EA7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>
            <a:extLst>
              <a:ext uri="{FF2B5EF4-FFF2-40B4-BE49-F238E27FC236}">
                <a16:creationId xmlns:a16="http://schemas.microsoft.com/office/drawing/2014/main" id="{CD4BED1F-3737-0043-86BC-E3BB150512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46885" y="274320"/>
            <a:ext cx="8698230" cy="822960"/>
          </a:xfrm>
        </p:spPr>
        <p:txBody>
          <a:bodyPr vert="horz" lIns="0" tIns="0" rIns="0" bIns="0" rtlCol="0" anchor="t">
            <a:norm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sz="3200" b="1" dirty="0">
                <a:latin typeface="+mn-lt"/>
                <a:ea typeface="+mn-ea"/>
                <a:cs typeface="+mn-cs"/>
              </a:rPr>
              <a:t>Running Times   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79" name="Rectangle 2">
                <a:extLst>
                  <a:ext uri="{FF2B5EF4-FFF2-40B4-BE49-F238E27FC236}">
                    <a16:creationId xmlns:a16="http://schemas.microsoft.com/office/drawing/2014/main" id="{24841DF7-C8FE-F942-800E-845E62BAB718}"/>
                  </a:ext>
                </a:extLst>
              </p:cNvPr>
              <p:cNvSpPr>
                <a:spLocks noGrp="1" noChangeArrowheads="1"/>
              </p:cNvSpPr>
              <p:nvPr>
                <p:ph sz="quarter" idx="1"/>
              </p:nvPr>
            </p:nvSpPr>
            <p:spPr>
              <a:xfrm>
                <a:off x="956734" y="1249680"/>
                <a:ext cx="9768840" cy="5134928"/>
              </a:xfrm>
            </p:spPr>
            <p:txBody>
              <a:bodyPr vert="horz" lIns="0" tIns="0" rIns="0" bIns="0" rtlCol="0">
                <a:normAutofit/>
              </a:bodyPr>
              <a:lstStyle/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en-IL" sz="2400" dirty="0"/>
                  <a:t>The simplest implementation is to store vertices in an array or linked list. </a:t>
                </a: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en-IL" sz="2400" dirty="0"/>
                  <a:t>Running time: </a:t>
                </a:r>
                <a14:m>
                  <m:oMath xmlns:m="http://schemas.openxmlformats.org/officeDocument/2006/math">
                    <m:r>
                      <a:rPr lang="en-US" altLang="en-IL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IL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en-IL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IL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  <m:sup>
                            <m:r>
                              <a:rPr lang="en-US" altLang="en-IL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en-IL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IL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endParaRPr lang="en-US" altLang="en-IL" sz="2400" b="0" dirty="0"/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endParaRPr lang="en-US" altLang="en-IL" sz="2400" dirty="0"/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en-IL" sz="2400" dirty="0"/>
                  <a:t>For sparse graphs, or graphs with very few edges and many nodes, it can be implemented more efficiently storing the graph in an adjacency list using a binary heap or priority queue. </a:t>
                </a: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en-IL" sz="2400" dirty="0"/>
                  <a:t>Running time: </a:t>
                </a:r>
                <a14:m>
                  <m:oMath xmlns:m="http://schemas.openxmlformats.org/officeDocument/2006/math">
                    <m:r>
                      <a:rPr lang="en-US" altLang="en-IL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en-IL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en-IL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en-IL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IL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  <m:r>
                              <a:rPr lang="en-US" altLang="en-IL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en-IL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IL" sz="2400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d>
                          </m:e>
                        </m:d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altLang="en-IL" sz="24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(|</m:t>
                        </m:r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altLang="en-IL" sz="2400" b="0" i="1" smtClean="0">
                            <a:latin typeface="Cambria Math" panose="02040503050406030204" pitchFamily="18" charset="0"/>
                          </a:rPr>
                          <m:t>|)</m:t>
                        </m:r>
                      </m:e>
                    </m:d>
                  </m:oMath>
                </a14:m>
                <a:endParaRPr lang="en-US" altLang="en-IL" sz="2400" dirty="0"/>
              </a:p>
            </p:txBody>
          </p:sp>
        </mc:Choice>
        <mc:Fallback xmlns="">
          <p:sp>
            <p:nvSpPr>
              <p:cNvPr id="24579" name="Rectangle 2">
                <a:extLst>
                  <a:ext uri="{FF2B5EF4-FFF2-40B4-BE49-F238E27FC236}">
                    <a16:creationId xmlns:a16="http://schemas.microsoft.com/office/drawing/2014/main" id="{24841DF7-C8FE-F942-800E-845E62BAB7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956734" y="1249680"/>
                <a:ext cx="9768840" cy="5134928"/>
              </a:xfrm>
              <a:blipFill>
                <a:blip r:embed="rId3"/>
                <a:stretch>
                  <a:fillRect l="-194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Euler Tour and Cycle</a:t>
            </a:r>
          </a:p>
          <a:p>
            <a:pPr>
              <a:lnSpc>
                <a:spcPct val="150000"/>
              </a:lnSpc>
            </a:pPr>
            <a:r>
              <a:rPr lang="en-IL" sz="2400" b="1" dirty="0"/>
              <a:t>Eulerian </a:t>
            </a:r>
            <a:r>
              <a:rPr lang="en-US" sz="2400" b="1" dirty="0"/>
              <a:t>Cycle</a:t>
            </a:r>
            <a:r>
              <a:rPr lang="en-IL" sz="2400" dirty="0"/>
              <a:t> is a path in graph that: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IL" sz="2400" dirty="0"/>
              <a:t>Visits </a:t>
            </a:r>
            <a:r>
              <a:rPr lang="en-IL" sz="2400" b="1" dirty="0"/>
              <a:t>every</a:t>
            </a:r>
            <a:r>
              <a:rPr lang="en-IL" sz="2400" dirty="0"/>
              <a:t> edge </a:t>
            </a:r>
            <a:r>
              <a:rPr lang="en-IL" sz="2400" b="1" dirty="0"/>
              <a:t>exactly</a:t>
            </a:r>
            <a:r>
              <a:rPr lang="en-IL" sz="2400" dirty="0"/>
              <a:t> once</a:t>
            </a:r>
            <a:endParaRPr lang="en-US" sz="24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dirty="0"/>
              <a:t>Start and end in the same vertex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35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44034" name="Picture 2" descr="Euler Path and Euler Circuit | SlayStudy">
            <a:extLst>
              <a:ext uri="{FF2B5EF4-FFF2-40B4-BE49-F238E27FC236}">
                <a16:creationId xmlns:a16="http://schemas.microsoft.com/office/drawing/2014/main" id="{38268686-440A-4349-96DF-3D9894220C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243"/>
          <a:stretch/>
        </p:blipFill>
        <p:spPr bwMode="auto">
          <a:xfrm>
            <a:off x="2705100" y="3368675"/>
            <a:ext cx="6957518" cy="213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43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441C85E1-732B-C94B-8783-B59F069F895B}"/>
              </a:ext>
            </a:extLst>
          </p:cNvPr>
          <p:cNvSpPr txBox="1">
            <a:spLocks/>
          </p:cNvSpPr>
          <p:nvPr/>
        </p:nvSpPr>
        <p:spPr>
          <a:xfrm>
            <a:off x="110068" y="186123"/>
            <a:ext cx="11616266" cy="648575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3200" b="1" dirty="0"/>
              <a:t>Applications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400" dirty="0"/>
              <a:t>Jobs scheduling 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en-US" sz="2400" dirty="0"/>
              <a:t>Matching: jobs and processors</a:t>
            </a:r>
          </a:p>
          <a:p>
            <a:pPr>
              <a:lnSpc>
                <a:spcPct val="150000"/>
              </a:lnSpc>
              <a:buFontTx/>
              <a:buChar char="-"/>
            </a:pPr>
            <a:endParaRPr lang="en-US" sz="2400" dirty="0"/>
          </a:p>
          <a:p>
            <a:pPr marL="0" indent="0" algn="ctr">
              <a:lnSpc>
                <a:spcPct val="150000"/>
              </a:lnSpc>
              <a:buNone/>
            </a:pPr>
            <a:endParaRPr 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441C85E1-732B-C94B-8783-B59F069F895B}"/>
              </a:ext>
            </a:extLst>
          </p:cNvPr>
          <p:cNvSpPr txBox="1">
            <a:spLocks/>
          </p:cNvSpPr>
          <p:nvPr/>
        </p:nvSpPr>
        <p:spPr>
          <a:xfrm>
            <a:off x="110068" y="186123"/>
            <a:ext cx="11616266" cy="648575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3200" b="1" dirty="0"/>
              <a:t>Euler Cycle – How To?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Suppose that a graph has an Euler cycle.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For every vertex (v), each edge having v as an endpoint shows up </a:t>
            </a:r>
            <a:r>
              <a:rPr lang="en-US" sz="2400" b="1" dirty="0"/>
              <a:t>exactly once </a:t>
            </a:r>
            <a:r>
              <a:rPr lang="en-US" sz="2400" dirty="0"/>
              <a:t>in the cycle.</a:t>
            </a:r>
          </a:p>
        </p:txBody>
      </p:sp>
      <p:pic>
        <p:nvPicPr>
          <p:cNvPr id="3" name="Picture 2" descr="Euler Path and Euler Circuit | SlayStudy">
            <a:extLst>
              <a:ext uri="{FF2B5EF4-FFF2-40B4-BE49-F238E27FC236}">
                <a16:creationId xmlns:a16="http://schemas.microsoft.com/office/drawing/2014/main" id="{0F3E4649-6601-F94B-B55D-0E166EB33E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76" b="14243"/>
          <a:stretch/>
        </p:blipFill>
        <p:spPr bwMode="auto">
          <a:xfrm>
            <a:off x="4292598" y="1988609"/>
            <a:ext cx="3473485" cy="213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7599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441C85E1-732B-C94B-8783-B59F069F895B}"/>
              </a:ext>
            </a:extLst>
          </p:cNvPr>
          <p:cNvSpPr txBox="1">
            <a:spLocks/>
          </p:cNvSpPr>
          <p:nvPr/>
        </p:nvSpPr>
        <p:spPr>
          <a:xfrm>
            <a:off x="110068" y="186123"/>
            <a:ext cx="11616266" cy="648575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sz="3200" b="1" dirty="0"/>
              <a:t>Euler Cycle – How To?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The cycle enters v the same number of times that it leaves v  (x times), so v has degree 2x.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That is, v must be an </a:t>
            </a:r>
            <a:r>
              <a:rPr lang="en-US" sz="2400"/>
              <a:t>even degree.</a:t>
            </a:r>
            <a:endParaRPr lang="en-US" sz="2400" b="1" dirty="0"/>
          </a:p>
        </p:txBody>
      </p:sp>
      <p:pic>
        <p:nvPicPr>
          <p:cNvPr id="3" name="Picture 2" descr="Euler Path and Euler Circuit | SlayStudy">
            <a:extLst>
              <a:ext uri="{FF2B5EF4-FFF2-40B4-BE49-F238E27FC236}">
                <a16:creationId xmlns:a16="http://schemas.microsoft.com/office/drawing/2014/main" id="{0F3E4649-6601-F94B-B55D-0E166EB33E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76" b="14243"/>
          <a:stretch/>
        </p:blipFill>
        <p:spPr bwMode="auto">
          <a:xfrm>
            <a:off x="4181458" y="1421342"/>
            <a:ext cx="3473485" cy="213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3867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19B56F67-6F56-AC40-8E31-D7964AFA21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87325"/>
            <a:ext cx="10515600" cy="1325563"/>
          </a:xfrm>
        </p:spPr>
        <p:txBody>
          <a:bodyPr/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altLang="en-IL" sz="3200" b="1" dirty="0">
                <a:latin typeface="+mn-lt"/>
                <a:ea typeface="+mn-ea"/>
                <a:cs typeface="+mn-cs"/>
              </a:rPr>
              <a:t>Claim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2B6B09-5616-C74F-AAD9-9DB859BC0B31}"/>
              </a:ext>
            </a:extLst>
          </p:cNvPr>
          <p:cNvSpPr/>
          <p:nvPr/>
        </p:nvSpPr>
        <p:spPr>
          <a:xfrm>
            <a:off x="668867" y="1409467"/>
            <a:ext cx="11226800" cy="2066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en-IL" sz="2400" dirty="0"/>
              <a:t>A graph G has Euler cycle if and only if:</a:t>
            </a:r>
          </a:p>
          <a:p>
            <a:pPr marL="457200" indent="-457200">
              <a:lnSpc>
                <a:spcPct val="150000"/>
              </a:lnSpc>
              <a:spcBef>
                <a:spcPct val="50000"/>
              </a:spcBef>
              <a:buAutoNum type="arabicPeriod"/>
            </a:pPr>
            <a:r>
              <a:rPr lang="en-US" altLang="en-IL" sz="2400" dirty="0"/>
              <a:t>G is connected</a:t>
            </a:r>
          </a:p>
          <a:p>
            <a:pPr marL="457200" indent="-457200">
              <a:lnSpc>
                <a:spcPct val="150000"/>
              </a:lnSpc>
              <a:spcBef>
                <a:spcPct val="50000"/>
              </a:spcBef>
              <a:buAutoNum type="arabicPeriod"/>
            </a:pPr>
            <a:r>
              <a:rPr lang="en-US" altLang="en-IL" sz="2400" dirty="0"/>
              <a:t>Every vertex has even degree</a:t>
            </a:r>
          </a:p>
        </p:txBody>
      </p:sp>
      <p:pic>
        <p:nvPicPr>
          <p:cNvPr id="5" name="Picture 4" descr="Euler Path and Euler Circuit | SlayStudy">
            <a:extLst>
              <a:ext uri="{FF2B5EF4-FFF2-40B4-BE49-F238E27FC236}">
                <a16:creationId xmlns:a16="http://schemas.microsoft.com/office/drawing/2014/main" id="{ACCCB33C-F6B9-0D40-9E14-63449DDFC5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76" b="14243"/>
          <a:stretch/>
        </p:blipFill>
        <p:spPr bwMode="auto">
          <a:xfrm>
            <a:off x="6560592" y="2361671"/>
            <a:ext cx="3473485" cy="213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80472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F07A-A6B2-4AA3-9FB3-FF93725B9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666" y="1202003"/>
            <a:ext cx="11768667" cy="2602970"/>
          </a:xfrm>
        </p:spPr>
        <p:txBody>
          <a:bodyPr>
            <a:normAutofit/>
          </a:bodyPr>
          <a:lstStyle/>
          <a:p>
            <a: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IL" sz="7200" u="sng" dirty="0">
                <a:cs typeface="+mn-cs"/>
              </a:rPr>
              <a:t>Thank You!</a:t>
            </a:r>
            <a:br>
              <a:rPr lang="en-IL" sz="7200" u="sng" dirty="0">
                <a:cs typeface="+mn-cs"/>
              </a:rPr>
            </a:br>
            <a:r>
              <a:rPr lang="en-IL" sz="7200" u="sng" dirty="0">
                <a:cs typeface="+mn-cs"/>
              </a:rPr>
              <a:t>Questions?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7C810-8880-4D05-860C-4E520C91B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40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135C-5A11-DB47-A5FC-BE38DE9D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057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15359</TotalTime>
  <Words>1277</Words>
  <Application>Microsoft Macintosh PowerPoint</Application>
  <PresentationFormat>Widescreen</PresentationFormat>
  <Paragraphs>356</Paragraphs>
  <Slides>40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Calibri</vt:lpstr>
      <vt:lpstr>Calibri Light</vt:lpstr>
      <vt:lpstr>Cambria Math</vt:lpstr>
      <vt:lpstr>Courier New</vt:lpstr>
      <vt:lpstr>Times New Roman</vt:lpstr>
      <vt:lpstr>Office Theme</vt:lpstr>
      <vt:lpstr>Cloud Data Engineering</vt:lpstr>
      <vt:lpstr>PowerPoint Presentation</vt:lpstr>
      <vt:lpstr>PowerPoint Presentation</vt:lpstr>
      <vt:lpstr>Graphs: 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BFS Example </vt:lpstr>
      <vt:lpstr>PowerPoint Presentation</vt:lpstr>
      <vt:lpstr>PowerPoint Presentation</vt:lpstr>
      <vt:lpstr>BFS Example </vt:lpstr>
      <vt:lpstr>BFS Example </vt:lpstr>
      <vt:lpstr>BFS Example </vt:lpstr>
      <vt:lpstr>BFS Example </vt:lpstr>
      <vt:lpstr>PowerPoint Presentation</vt:lpstr>
      <vt:lpstr>BFS Example </vt:lpstr>
      <vt:lpstr>PowerPoint Presentation</vt:lpstr>
      <vt:lpstr>PowerPoint Presentation</vt:lpstr>
      <vt:lpstr>Dijkstra's algorithm </vt:lpstr>
      <vt:lpstr>Applications of Dijkstra's Algorithm</vt:lpstr>
      <vt:lpstr>Dijkstra - Example</vt:lpstr>
      <vt:lpstr>Dijkstra - Example</vt:lpstr>
      <vt:lpstr>Dijkstra - Example</vt:lpstr>
      <vt:lpstr>Dijkstra - Example</vt:lpstr>
      <vt:lpstr>Dijkstra - Example</vt:lpstr>
      <vt:lpstr>Dijkstra - Example</vt:lpstr>
      <vt:lpstr>Dijkstra - Example</vt:lpstr>
      <vt:lpstr>Dijkstra - Example</vt:lpstr>
      <vt:lpstr>Dijkstra - Example</vt:lpstr>
      <vt:lpstr>Dijkstra - Example</vt:lpstr>
      <vt:lpstr>Dijkstra's algorithm</vt:lpstr>
      <vt:lpstr>Running Times    </vt:lpstr>
      <vt:lpstr>PowerPoint Presentation</vt:lpstr>
      <vt:lpstr>PowerPoint Presentation</vt:lpstr>
      <vt:lpstr>PowerPoint Presentation</vt:lpstr>
      <vt:lpstr>PowerPoint Presentation</vt:lpstr>
      <vt:lpstr>Claim</vt:lpstr>
      <vt:lpstr>Thank You!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Groups</dc:title>
  <dc:creator>Lev</dc:creator>
  <cp:lastModifiedBy>or perets</cp:lastModifiedBy>
  <cp:revision>301</cp:revision>
  <dcterms:created xsi:type="dcterms:W3CDTF">2021-02-09T13:47:38Z</dcterms:created>
  <dcterms:modified xsi:type="dcterms:W3CDTF">2022-03-15T09:34:13Z</dcterms:modified>
</cp:coreProperties>
</file>