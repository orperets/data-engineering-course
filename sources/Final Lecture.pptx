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7" r:id="rId2"/>
    <p:sldId id="376" r:id="rId3"/>
    <p:sldId id="378" r:id="rId4"/>
    <p:sldId id="355" r:id="rId5"/>
    <p:sldId id="372" r:id="rId6"/>
    <p:sldId id="373" r:id="rId7"/>
    <p:sldId id="388" r:id="rId8"/>
    <p:sldId id="403" r:id="rId9"/>
    <p:sldId id="366" r:id="rId10"/>
    <p:sldId id="371" r:id="rId11"/>
    <p:sldId id="404" r:id="rId12"/>
    <p:sldId id="425" r:id="rId13"/>
    <p:sldId id="432" r:id="rId14"/>
    <p:sldId id="393" r:id="rId15"/>
    <p:sldId id="610" r:id="rId16"/>
    <p:sldId id="519" r:id="rId17"/>
    <p:sldId id="562" r:id="rId18"/>
    <p:sldId id="517" r:id="rId19"/>
    <p:sldId id="534" r:id="rId20"/>
    <p:sldId id="260" r:id="rId21"/>
    <p:sldId id="261" r:id="rId22"/>
    <p:sldId id="590" r:id="rId23"/>
    <p:sldId id="617" r:id="rId24"/>
    <p:sldId id="614" r:id="rId25"/>
    <p:sldId id="616" r:id="rId26"/>
    <p:sldId id="618" r:id="rId27"/>
    <p:sldId id="619" r:id="rId28"/>
    <p:sldId id="620" r:id="rId29"/>
    <p:sldId id="621" r:id="rId30"/>
    <p:sldId id="622" r:id="rId31"/>
    <p:sldId id="623" r:id="rId32"/>
    <p:sldId id="624" r:id="rId33"/>
    <p:sldId id="625" r:id="rId3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9BCDC19-78B0-5E4F-8B36-F02D0852867E}">
          <p14:sldIdLst>
            <p14:sldId id="257"/>
            <p14:sldId id="376"/>
            <p14:sldId id="378"/>
            <p14:sldId id="355"/>
            <p14:sldId id="372"/>
            <p14:sldId id="373"/>
            <p14:sldId id="388"/>
            <p14:sldId id="403"/>
            <p14:sldId id="366"/>
            <p14:sldId id="371"/>
            <p14:sldId id="404"/>
            <p14:sldId id="425"/>
            <p14:sldId id="432"/>
            <p14:sldId id="393"/>
            <p14:sldId id="610"/>
            <p14:sldId id="519"/>
            <p14:sldId id="562"/>
            <p14:sldId id="517"/>
            <p14:sldId id="534"/>
            <p14:sldId id="260"/>
            <p14:sldId id="261"/>
            <p14:sldId id="590"/>
            <p14:sldId id="617"/>
            <p14:sldId id="614"/>
            <p14:sldId id="616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 autoAdjust="0"/>
    <p:restoredTop sz="94609"/>
  </p:normalViewPr>
  <p:slideViewPr>
    <p:cSldViewPr snapToGrid="0">
      <p:cViewPr varScale="1">
        <p:scale>
          <a:sx n="151" d="100"/>
          <a:sy n="151" d="100"/>
        </p:scale>
        <p:origin x="1560" y="2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63F32-7DA3-4013-BE26-9191402E55C8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866D-0BA4-4B03-8FA8-A96EE1FB39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115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7623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56031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0722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4277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8003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42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96974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70684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44169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195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56712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09542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92529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3B3859B-4374-2149-A56F-37BAD66746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F014FC-7E6C-A141-89D0-DFABF5544E51}" type="slidenum">
              <a:rPr lang="en-US" altLang="en-IL"/>
              <a:pPr/>
              <a:t>17</a:t>
            </a:fld>
            <a:endParaRPr lang="en-US" altLang="en-IL"/>
          </a:p>
        </p:txBody>
      </p:sp>
      <p:sp>
        <p:nvSpPr>
          <p:cNvPr id="381954" name="Rectangle 2">
            <a:extLst>
              <a:ext uri="{FF2B5EF4-FFF2-40B4-BE49-F238E27FC236}">
                <a16:creationId xmlns:a16="http://schemas.microsoft.com/office/drawing/2014/main" id="{6627FBDB-B483-954D-80C4-085D51FD69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1955" name="Rectangle 3">
            <a:extLst>
              <a:ext uri="{FF2B5EF4-FFF2-40B4-BE49-F238E27FC236}">
                <a16:creationId xmlns:a16="http://schemas.microsoft.com/office/drawing/2014/main" id="{3B1499E7-BDB0-D84E-BA46-5AAD39FF7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IL"/>
          </a:p>
        </p:txBody>
      </p:sp>
    </p:spTree>
    <p:extLst>
      <p:ext uri="{BB962C8B-B14F-4D97-AF65-F5344CB8AC3E}">
        <p14:creationId xmlns:p14="http://schemas.microsoft.com/office/powerpoint/2010/main" val="2081065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058208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34256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187511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1613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95169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117759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3791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885740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11140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6667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53BB-FAA3-46ED-8326-AD7EE26F7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615E8-3C95-4096-8039-02C1046EA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E2517-A02E-4027-BA2C-117CE149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157C-9C36-0447-8046-5352E14D0F80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5C8B8-C77F-4E96-831A-FC160B4A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E7471-5067-4CA0-9D60-D86D047E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2643F8-DFCD-4B5F-9519-933435FA18FB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0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7D3F8-87F0-4DF5-8F98-66DFD99E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3474"/>
            <a:ext cx="10515600" cy="559348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CDE1D59-793A-43B8-B383-259A90AD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96E8B87-F9FD-464E-B534-DBC261D83ADB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A69F713-2159-4167-B614-5042E8DE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40A595-FC21-4942-AC1C-EC8D0EE8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800"/>
            </a:lvl1pPr>
          </a:lstStyle>
          <a:p>
            <a:fld id="{C9D69B18-316A-457F-86C2-CFE4F951EE27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576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DB71-F16A-411E-A1F0-229842FF4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EC0A3-903B-4C81-96AA-FA5FE787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1F274-0FDC-4FF1-AD1D-E33CBC0B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E3E6-91E3-074B-992C-DFAD5D8203F1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17186-B90F-456C-A210-0CD662FC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F8B6-F957-4C26-89F8-62EE0895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978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CB62-2976-4F72-B0D1-D7D5CC8D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70335-BA28-442F-B929-834D11AFB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D0261-93E1-42EC-B45C-7A9C69E6D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B8B7-4BAF-485E-8E14-0A3937A2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60D7-63E2-8F4C-B61F-30E5198AD46D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101D7-C282-4291-A047-A469118D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3ACF7-1919-4005-8D18-C065FE37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82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5D40-5A05-454B-BF8D-2ADD2262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EE7E-1856-4D6C-95E1-B25F3B5CF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7349D-B192-40B0-A682-C3914DCE5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6D532-BD26-45AE-91E7-2BCEE71DE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9C4E2-6DDF-4BCE-9E96-2FEA03A91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1B11A-C4F8-4F85-A0D5-34A703DD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54800-C55A-184D-A866-767457B6C650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8E969-DC51-428E-A40E-10E23784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4C0B3-7D21-431B-8C06-6364026C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00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F8A9-2FB1-463C-A055-7D8DEF62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34B02-6F21-4BD3-9253-024380CF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7541-BDF2-4645-8A4E-8E2D7EE21A60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109D8-60DE-4EAE-9FA4-4743AF1B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833B9-F0EF-4F2D-B1F5-59A0518A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704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94F9A-B863-4CA1-A3D9-2612454C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21F0E-3E80-FE45-B8FD-1C1C83A92A89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56BA7-0F82-4B54-82BF-04EC0B08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A46C4-110C-4F16-A55B-2CA103D5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041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F8D4-37EB-4208-8EBF-A36DA15D5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644F-4231-4135-985A-E35BB7DF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C084D-8409-4F23-A4F3-946B11E92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7D6E5-0ADE-47F1-BF75-064C0FC0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BC4-6D1E-DE4B-8507-B318EEC4AD62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5BE5-8107-4C77-A0C7-32052801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29687-8674-4B44-BCA8-CA55A7F6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551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DB8B-F360-41C1-9E59-41BC175C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9284B-956D-4A04-AA87-11920CE3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A7EC3-09A8-4251-B03C-6044FAB1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06FFE-DADD-4559-BD8F-E4090E85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4522-6391-7F4B-8B88-660A337C3B79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A7321-97EB-4815-A837-E4FF2736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595F-1D61-441A-9A46-FC01E160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919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D421-C27E-4305-9BA4-ABDBC270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9482A-BFEA-4A85-973C-0414EA508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E6C9-3B2C-4E59-B407-9DEAA519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B7FFB-2FB8-ED4D-871F-3A525991ED9E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B3FA1-84D5-4374-B090-8EED7F0E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37D06-0BF6-4041-954F-C1D4B14F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621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0116A-EF9A-40BC-BE26-84DF8D33F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B09AB-DE01-41A1-8BED-34FC1B48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0832B-4F28-4DE3-AF6D-37975A09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A56F-98C1-D743-A051-0A3D6E708A11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64A4-73D9-4140-BB4B-47A62F8C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DA01-1032-4191-848B-F8A71F65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4113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A98C9EB-F9CB-1D46-97CB-EA14EA26AA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BCB5AB-EA77-4448-ACC6-9D916075C2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78EE90-506B-4244-B5D1-51BD90616EAE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540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5FF43-15EB-48BF-9377-EC78CBDC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A9A9A-96AC-434D-8596-80E77199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151C-500A-4CAF-8B1B-C429EEE2C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C74C-E7D5-9845-AF76-D52732F67C64}" type="datetime8">
              <a:rPr lang="en-US" smtClean="0"/>
              <a:t>5/23/22 10:13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936C9-3550-4463-A834-A8233EB9F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70A5C-A380-420D-86FA-95B4F828D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44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F07A-A6B2-4AA3-9FB3-FF93725B9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666" y="1202003"/>
            <a:ext cx="11768667" cy="2602970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IL" sz="7200" u="sng" dirty="0">
                <a:cs typeface="+mn-cs"/>
              </a:rPr>
              <a:t>Cloud Based 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4BFDD-2D28-4F88-A89F-35EB6574C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33" y="3804973"/>
            <a:ext cx="10236199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dirty="0"/>
              <a:t>Final Lecture</a:t>
            </a:r>
            <a:endParaRPr lang="en-I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C810-8880-4D05-860C-4E520C91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135C-5A11-DB47-A5FC-BE38DE9D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0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000" b="1" dirty="0"/>
              <a:t>What is Cloud?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Datacenter hardware and software </a:t>
            </a:r>
            <a:r>
              <a:rPr lang="en-US" sz="2400" dirty="0"/>
              <a:t>that the vendors use to offer the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computing resources and services.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1026" name="Picture 2" descr="On Hardware Deployment to Cloud - TAG Cyber">
            <a:extLst>
              <a:ext uri="{FF2B5EF4-FFF2-40B4-BE49-F238E27FC236}">
                <a16:creationId xmlns:a16="http://schemas.microsoft.com/office/drawing/2014/main" id="{36CBC6F0-E6DB-9842-AF52-F129FA1ED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267" y="2514599"/>
            <a:ext cx="7280078" cy="307128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733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000" b="1" dirty="0"/>
              <a:t>3V's of Big Data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Velocity:</a:t>
            </a:r>
            <a:r>
              <a:rPr lang="en-US" sz="2400" dirty="0"/>
              <a:t> The data is increasing at a very fast rate. </a:t>
            </a:r>
            <a:br>
              <a:rPr lang="en-US" sz="2400" dirty="0"/>
            </a:br>
            <a:r>
              <a:rPr lang="en-US" sz="2400" dirty="0"/>
              <a:t>It is estimated that the volume of data will double in every 2 years.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Variety:</a:t>
            </a:r>
            <a:r>
              <a:rPr lang="en-US" sz="2400" dirty="0"/>
              <a:t>  Data is structured as well as unstructured.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 structured – predefined schema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 unstructured – each document has different properties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Volume:</a:t>
            </a:r>
            <a:r>
              <a:rPr lang="en-US" sz="2400" dirty="0"/>
              <a:t> The amount of data which we deal with is of very large size of </a:t>
            </a:r>
            <a:r>
              <a:rPr lang="en-US" sz="2400" b="1" dirty="0"/>
              <a:t>Peta</a:t>
            </a:r>
            <a:r>
              <a:rPr lang="en-US" sz="2400" dirty="0"/>
              <a:t> bytes.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(1 Peta = 1024 TB)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929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000" b="1" dirty="0"/>
              <a:t>Cloud Computing Services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b="1" dirty="0"/>
              <a:t>S</a:t>
            </a:r>
            <a:r>
              <a:rPr lang="en-US" sz="2400" dirty="0"/>
              <a:t>oftware </a:t>
            </a:r>
            <a:r>
              <a:rPr lang="en-US" sz="2400" b="1" dirty="0"/>
              <a:t>a</a:t>
            </a:r>
            <a:r>
              <a:rPr lang="en-US" sz="2400" dirty="0"/>
              <a:t>s </a:t>
            </a:r>
            <a:r>
              <a:rPr lang="en-US" sz="2400" b="1" dirty="0"/>
              <a:t>a</a:t>
            </a:r>
            <a:r>
              <a:rPr lang="en-US" sz="2400" dirty="0"/>
              <a:t> </a:t>
            </a:r>
            <a:r>
              <a:rPr lang="en-US" sz="2400" b="1" dirty="0"/>
              <a:t>S</a:t>
            </a:r>
            <a:r>
              <a:rPr lang="en-US" sz="2400" dirty="0"/>
              <a:t>ervice (SaaS) – applications though the browser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b="1" dirty="0"/>
              <a:t>P</a:t>
            </a:r>
            <a:r>
              <a:rPr lang="en-US" sz="2400" dirty="0"/>
              <a:t>latform </a:t>
            </a:r>
            <a:r>
              <a:rPr lang="en-US" sz="2400" b="1" dirty="0"/>
              <a:t>a</a:t>
            </a:r>
            <a:r>
              <a:rPr lang="en-US" sz="2400" dirty="0"/>
              <a:t>s </a:t>
            </a:r>
            <a:r>
              <a:rPr lang="en-US" sz="2400" b="1" dirty="0"/>
              <a:t>a</a:t>
            </a:r>
            <a:r>
              <a:rPr lang="en-US" sz="2400" dirty="0"/>
              <a:t> </a:t>
            </a:r>
            <a:r>
              <a:rPr lang="en-US" sz="2400" b="1" dirty="0"/>
              <a:t>S</a:t>
            </a:r>
            <a:r>
              <a:rPr lang="en-US" sz="2400" dirty="0"/>
              <a:t>ervice (PaaS) - Delivery of a computing platform for custom software development as a service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b="1" dirty="0"/>
              <a:t>I</a:t>
            </a:r>
            <a:r>
              <a:rPr lang="en-US" sz="2400" dirty="0"/>
              <a:t>nfrastructure </a:t>
            </a:r>
            <a:r>
              <a:rPr lang="en-US" sz="2400" b="1" dirty="0"/>
              <a:t>a</a:t>
            </a:r>
            <a:r>
              <a:rPr lang="en-US" sz="2400" dirty="0"/>
              <a:t>s </a:t>
            </a:r>
            <a:r>
              <a:rPr lang="en-US" sz="2400" b="1" dirty="0"/>
              <a:t>a</a:t>
            </a:r>
            <a:r>
              <a:rPr lang="en-US" sz="2400" dirty="0"/>
              <a:t> </a:t>
            </a:r>
            <a:r>
              <a:rPr lang="en-US" sz="2400" b="1" dirty="0"/>
              <a:t>S</a:t>
            </a:r>
            <a:r>
              <a:rPr lang="en-US" sz="2400" dirty="0"/>
              <a:t>ervice (IaaS) - Deliver of computer infrastructure as a service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And more ..</a:t>
            </a:r>
          </a:p>
          <a:p>
            <a:pPr>
              <a:lnSpc>
                <a:spcPct val="150000"/>
              </a:lnSpc>
            </a:pP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4098" name="Picture 2" descr="SaaS, IaaS, PaaS? Tell me your cloud computing flavor and I&amp;#39;ll tell you who  you">
            <a:extLst>
              <a:ext uri="{FF2B5EF4-FFF2-40B4-BE49-F238E27FC236}">
                <a16:creationId xmlns:a16="http://schemas.microsoft.com/office/drawing/2014/main" id="{A5E43A31-7241-0447-8757-63623C30D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789" y="3640391"/>
            <a:ext cx="3616878" cy="271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14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235721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000" b="1" dirty="0"/>
              <a:t>Centralized 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04C5BF-76C2-F243-9265-638F6B34D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625" y="1157705"/>
            <a:ext cx="8299450" cy="480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1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235721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000" b="1" dirty="0"/>
              <a:t>Distributed 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D2ACD-D7DA-C74C-8F0A-094D3B7D27EC}"/>
              </a:ext>
            </a:extLst>
          </p:cNvPr>
          <p:cNvSpPr txBox="1"/>
          <p:nvPr/>
        </p:nvSpPr>
        <p:spPr>
          <a:xfrm>
            <a:off x="1253067" y="9736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7FCD6C9-B493-3348-B750-4FDA80832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618" y="1265005"/>
            <a:ext cx="8206317" cy="464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63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000" b="1" dirty="0"/>
              <a:t>Parallel Computation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Threading allows you to have different parts of your process run </a:t>
            </a:r>
            <a:r>
              <a:rPr lang="en-US" sz="2400" b="1" dirty="0"/>
              <a:t>concurrently</a:t>
            </a:r>
            <a:r>
              <a:rPr lang="en-US" sz="2400" dirty="0"/>
              <a:t>. For example, A web-browser could be a process, an application running multiple cameras simultaneously could be a process.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7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FECD15-0A1F-BD4C-B192-DEB1A1E74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3251972"/>
            <a:ext cx="4864100" cy="237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FD4630-DA09-EE40-90A2-7E48167ACE5C}"/>
              </a:ext>
            </a:extLst>
          </p:cNvPr>
          <p:cNvSpPr/>
          <p:nvPr/>
        </p:nvSpPr>
        <p:spPr>
          <a:xfrm>
            <a:off x="3234735" y="5626872"/>
            <a:ext cx="57225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multiple threads work together to achieve a common goal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8286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000" b="1" dirty="0"/>
              <a:t>MapReduce - How Is It Work? 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r>
              <a:rPr lang="en-US" sz="2400" dirty="0"/>
              <a:t>The reduce task is always performed after the map job.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2052" name="Picture 4" descr="The MapReduce architecture.  MapReduce Algorithm There are four steps... |  Download Scientific Diagram">
            <a:extLst>
              <a:ext uri="{FF2B5EF4-FFF2-40B4-BE49-F238E27FC236}">
                <a16:creationId xmlns:a16="http://schemas.microsoft.com/office/drawing/2014/main" id="{4B082B5C-DECF-6448-9A1D-B50CBF2F6F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68"/>
          <a:stretch/>
        </p:blipFill>
        <p:spPr bwMode="auto">
          <a:xfrm>
            <a:off x="2387599" y="1362463"/>
            <a:ext cx="7814735" cy="360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94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0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HADOOP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b="1" dirty="0"/>
              <a:t>Hadoop</a:t>
            </a:r>
            <a:r>
              <a:rPr lang="en-US" sz="2400" dirty="0"/>
              <a:t> runs applications using the MapReduce algorithm, </a:t>
            </a:r>
            <a:br>
              <a:rPr lang="en-US" sz="2400" dirty="0"/>
            </a:br>
            <a:r>
              <a:rPr lang="en-US" sz="2400" dirty="0"/>
              <a:t>where the data is processed in parallel with others.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b="1" dirty="0"/>
              <a:t>Hadoop</a:t>
            </a:r>
            <a:r>
              <a:rPr lang="en-US" sz="2400" dirty="0"/>
              <a:t> is used to develop applications that could perform complete statistical analysis on huge amounts of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9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1026" name="Picture 2" descr="Why the world&amp;#39;s largest Hadoop installation may soon become the norm -  TechRepublic">
            <a:extLst>
              <a:ext uri="{FF2B5EF4-FFF2-40B4-BE49-F238E27FC236}">
                <a16:creationId xmlns:a16="http://schemas.microsoft.com/office/drawing/2014/main" id="{D2F53573-4B3D-E348-B449-94E684E15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902" y="3649420"/>
            <a:ext cx="3062196" cy="239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405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59269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HDFS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Hadoop Distributed File System (HDFS) is based on the Google File System (GFS) and provides a distributed file system that is designed to run on commodity hardware. It has many similarities with existing distributed file systems. </a:t>
            </a:r>
            <a:endParaRPr lang="he-IL" sz="24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10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2050" name="Picture 2" descr="The overview of the Hadoop Distributed File System (HDFS). | Download  Scientific Diagram">
            <a:extLst>
              <a:ext uri="{FF2B5EF4-FFF2-40B4-BE49-F238E27FC236}">
                <a16:creationId xmlns:a16="http://schemas.microsoft.com/office/drawing/2014/main" id="{D3B7982F-37F3-4548-82E5-6E979426D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233" y="3335867"/>
            <a:ext cx="5028026" cy="265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813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7620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Hadoop – Linear Scalability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2400" dirty="0"/>
              <a:t>If you have </a:t>
            </a:r>
            <a:r>
              <a:rPr lang="en-US" sz="2400" b="1" dirty="0"/>
              <a:t>twice</a:t>
            </a:r>
            <a:r>
              <a:rPr lang="en-US" sz="2400" dirty="0"/>
              <a:t> as many computers, jobs run </a:t>
            </a:r>
            <a:r>
              <a:rPr lang="en-US" sz="2400" b="1" dirty="0"/>
              <a:t>twice</a:t>
            </a:r>
            <a:r>
              <a:rPr lang="en-US" sz="2400" dirty="0"/>
              <a:t> faster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2400" dirty="0"/>
              <a:t>If you have </a:t>
            </a:r>
            <a:r>
              <a:rPr lang="en-US" sz="2400" b="1" dirty="0"/>
              <a:t>twice</a:t>
            </a:r>
            <a:r>
              <a:rPr lang="en-US" sz="2400" dirty="0"/>
              <a:t> as much data, jobs run </a:t>
            </a:r>
            <a:r>
              <a:rPr lang="en-US" sz="2400" b="1" dirty="0"/>
              <a:t>twice</a:t>
            </a:r>
            <a:r>
              <a:rPr lang="en-US" sz="2400" dirty="0"/>
              <a:t> slower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r>
              <a:rPr lang="en-US" sz="2400" dirty="0"/>
              <a:t>If you have </a:t>
            </a:r>
            <a:r>
              <a:rPr lang="en-US" sz="2400" b="1" dirty="0"/>
              <a:t>twice</a:t>
            </a:r>
            <a:r>
              <a:rPr lang="en-US" sz="2400" dirty="0"/>
              <a:t> as many computers, you can store </a:t>
            </a:r>
            <a:r>
              <a:rPr lang="en-US" sz="2400" b="1" dirty="0"/>
              <a:t>twice</a:t>
            </a:r>
            <a:r>
              <a:rPr lang="en-US" sz="2400" dirty="0"/>
              <a:t> as much data!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11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81954" name="Picture 2" descr="Linear Scalability | Download Scientific Diagram">
            <a:extLst>
              <a:ext uri="{FF2B5EF4-FFF2-40B4-BE49-F238E27FC236}">
                <a16:creationId xmlns:a16="http://schemas.microsoft.com/office/drawing/2014/main" id="{B3246FB0-B513-E240-8352-8144E0B23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417" y="3099490"/>
            <a:ext cx="4997450" cy="273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539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0134" y="76203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Terminology</a:t>
                </a:r>
              </a:p>
              <a:p>
                <a:pPr>
                  <a:lnSpc>
                    <a:spcPct val="150000"/>
                  </a:lnSpc>
                </a:pPr>
                <a:endParaRPr lang="he-IL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𝑐𝑜𝑢𝑛𝑡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𝐷𝐹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𝑜𝑐𝑐𝑢𝑟𝑟𝑒𝑛𝑐𝑒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𝑑𝑜𝑐𝑢𝑚𝑒𝑛𝑡𝑠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𝐷𝐹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𝐷𝐹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0134" y="76203"/>
                <a:ext cx="11616266" cy="6485754"/>
              </a:xfrm>
              <a:blipFill>
                <a:blip r:embed="rId3"/>
                <a:stretch>
                  <a:fillRect l="-87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AF71A-D60A-534C-954F-D0FBFC2BD5B4}"/>
              </a:ext>
            </a:extLst>
          </p:cNvPr>
          <p:cNvSpPr/>
          <p:nvPr/>
        </p:nvSpPr>
        <p:spPr>
          <a:xfrm>
            <a:off x="1794934" y="921436"/>
            <a:ext cx="111590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TF-IDF = Term Frequency (TF) * Inverse Document Frequency (IDF)</a:t>
            </a:r>
            <a:endParaRPr lang="en-IL" sz="2400" b="1" dirty="0"/>
          </a:p>
        </p:txBody>
      </p:sp>
    </p:spTree>
    <p:extLst>
      <p:ext uri="{BB962C8B-B14F-4D97-AF65-F5344CB8AC3E}">
        <p14:creationId xmlns:p14="http://schemas.microsoft.com/office/powerpoint/2010/main" val="2599800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34" y="235721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sz="2400" b="1" u="sng" dirty="0"/>
              <a:t>Step 4: Find TF-IDF </a:t>
            </a:r>
          </a:p>
          <a:p>
            <a:pPr>
              <a:lnSpc>
                <a:spcPct val="150000"/>
              </a:lnSpc>
            </a:pPr>
            <a:endParaRPr lang="en-US" sz="2400" b="1" u="sng" dirty="0"/>
          </a:p>
          <a:p>
            <a:pPr>
              <a:lnSpc>
                <a:spcPct val="150000"/>
              </a:lnSpc>
            </a:pPr>
            <a:endParaRPr lang="en-US" sz="2400" b="1" u="sng" dirty="0"/>
          </a:p>
          <a:p>
            <a:pPr>
              <a:lnSpc>
                <a:spcPct val="150000"/>
              </a:lnSpc>
            </a:pPr>
            <a:endParaRPr lang="en-US" sz="2400" b="1" u="sng" dirty="0"/>
          </a:p>
          <a:p>
            <a:pPr>
              <a:lnSpc>
                <a:spcPct val="150000"/>
              </a:lnSpc>
            </a:pPr>
            <a:endParaRPr lang="en-US" sz="2400" b="1" u="sng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“it”, “is”, “rain” important for doc1 but not for docs 2 and 3.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Docs 1 and 2 talks about </a:t>
            </a:r>
            <a:r>
              <a:rPr lang="en-US" sz="2400" u="sng" dirty="0"/>
              <a:t>today</a:t>
            </a:r>
          </a:p>
          <a:p>
            <a:pPr>
              <a:lnSpc>
                <a:spcPct val="150000"/>
              </a:lnSpc>
            </a:pPr>
            <a:endParaRPr lang="en-US" sz="24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5F8F2BA-E99F-F84B-9D9C-1835626CAFC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99533" y="1981345"/>
              <a:ext cx="10600266" cy="20765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3000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134534">
                      <a:extLst>
                        <a:ext uri="{9D8B030D-6E8A-4147-A177-3AD203B41FA5}">
                          <a16:colId xmlns:a16="http://schemas.microsoft.com/office/drawing/2014/main" val="17729029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1888588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218848225"/>
                        </a:ext>
                      </a:extLst>
                    </a:gridCol>
                    <a:gridCol w="999066">
                      <a:extLst>
                        <a:ext uri="{9D8B030D-6E8A-4147-A177-3AD203B41FA5}">
                          <a16:colId xmlns:a16="http://schemas.microsoft.com/office/drawing/2014/main" val="2348693567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029001585"/>
                        </a:ext>
                      </a:extLst>
                    </a:gridCol>
                    <a:gridCol w="1286934">
                      <a:extLst>
                        <a:ext uri="{9D8B030D-6E8A-4147-A177-3AD203B41FA5}">
                          <a16:colId xmlns:a16="http://schemas.microsoft.com/office/drawing/2014/main" val="1355769175"/>
                        </a:ext>
                      </a:extLst>
                    </a:gridCol>
                    <a:gridCol w="1007533">
                      <a:extLst>
                        <a:ext uri="{9D8B030D-6E8A-4147-A177-3AD203B41FA5}">
                          <a16:colId xmlns:a16="http://schemas.microsoft.com/office/drawing/2014/main" val="3089657302"/>
                        </a:ext>
                      </a:extLst>
                    </a:gridCol>
                    <a:gridCol w="1295399">
                      <a:extLst>
                        <a:ext uri="{9D8B030D-6E8A-4147-A177-3AD203B41FA5}">
                          <a16:colId xmlns:a16="http://schemas.microsoft.com/office/drawing/2014/main" val="2535950315"/>
                        </a:ext>
                      </a:extLst>
                    </a:gridCol>
                  </a:tblGrid>
                  <a:tr h="404502">
                    <a:tc>
                      <a:txBody>
                        <a:bodyPr/>
                        <a:lstStyle/>
                        <a:p>
                          <a:pPr algn="ctr"/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4045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b="1" dirty="0"/>
                            <a:t>Doc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0.58⋅0.16=0.09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4045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b="1" dirty="0"/>
                            <a:t>Doc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4045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b="1" dirty="0"/>
                            <a:t>Doc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0.58⋅0.12=0.06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0.06</m:t>
                                </m:r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5F8F2BA-E99F-F84B-9D9C-1835626CAF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7672423"/>
                  </p:ext>
                </p:extLst>
              </p:nvPr>
            </p:nvGraphicFramePr>
            <p:xfrm>
              <a:off x="499533" y="1981345"/>
              <a:ext cx="10600266" cy="20765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3000">
                      <a:extLst>
                        <a:ext uri="{9D8B030D-6E8A-4147-A177-3AD203B41FA5}">
                          <a16:colId xmlns:a16="http://schemas.microsoft.com/office/drawing/2014/main" val="3237974615"/>
                        </a:ext>
                      </a:extLst>
                    </a:gridCol>
                    <a:gridCol w="1134534">
                      <a:extLst>
                        <a:ext uri="{9D8B030D-6E8A-4147-A177-3AD203B41FA5}">
                          <a16:colId xmlns:a16="http://schemas.microsoft.com/office/drawing/2014/main" val="177290292"/>
                        </a:ext>
                      </a:extLst>
                    </a:gridCol>
                    <a:gridCol w="1219200">
                      <a:extLst>
                        <a:ext uri="{9D8B030D-6E8A-4147-A177-3AD203B41FA5}">
                          <a16:colId xmlns:a16="http://schemas.microsoft.com/office/drawing/2014/main" val="1851888588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218848225"/>
                        </a:ext>
                      </a:extLst>
                    </a:gridCol>
                    <a:gridCol w="999066">
                      <a:extLst>
                        <a:ext uri="{9D8B030D-6E8A-4147-A177-3AD203B41FA5}">
                          <a16:colId xmlns:a16="http://schemas.microsoft.com/office/drawing/2014/main" val="2348693567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029001585"/>
                        </a:ext>
                      </a:extLst>
                    </a:gridCol>
                    <a:gridCol w="1286934">
                      <a:extLst>
                        <a:ext uri="{9D8B030D-6E8A-4147-A177-3AD203B41FA5}">
                          <a16:colId xmlns:a16="http://schemas.microsoft.com/office/drawing/2014/main" val="1355769175"/>
                        </a:ext>
                      </a:extLst>
                    </a:gridCol>
                    <a:gridCol w="1007533">
                      <a:extLst>
                        <a:ext uri="{9D8B030D-6E8A-4147-A177-3AD203B41FA5}">
                          <a16:colId xmlns:a16="http://schemas.microsoft.com/office/drawing/2014/main" val="3089657302"/>
                        </a:ext>
                      </a:extLst>
                    </a:gridCol>
                    <a:gridCol w="1295399">
                      <a:extLst>
                        <a:ext uri="{9D8B030D-6E8A-4147-A177-3AD203B41FA5}">
                          <a16:colId xmlns:a16="http://schemas.microsoft.com/office/drawing/2014/main" val="2535950315"/>
                        </a:ext>
                      </a:extLst>
                    </a:gridCol>
                  </a:tblGrid>
                  <a:tr h="404502">
                    <a:tc>
                      <a:txBody>
                        <a:bodyPr/>
                        <a:lstStyle/>
                        <a:p>
                          <a:pPr algn="ctr"/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going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to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today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am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it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is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dirty="0"/>
                            <a:t>rain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3297250"/>
                      </a:ext>
                    </a:extLst>
                  </a:tr>
                  <a:tr h="6337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b="1" dirty="0"/>
                            <a:t>Doc 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87500" t="-68000" r="-586458" b="-16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55556" t="-68000" r="-421296" b="-16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542157" t="-68000" r="-180392" b="-16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829114" t="-68000" r="-132911" b="-16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719608" t="-68000" r="-2941" b="-16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179306"/>
                      </a:ext>
                    </a:extLst>
                  </a:tr>
                  <a:tr h="40450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b="1" dirty="0"/>
                            <a:t>Doc 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255556" t="-262500" r="-421296" b="-15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486076" t="-262500" r="-475949" b="-15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514444" t="-262500" r="-317778" b="-15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5062494"/>
                      </a:ext>
                    </a:extLst>
                  </a:tr>
                  <a:tr h="633794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L" b="1" dirty="0"/>
                            <a:t>Doc 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187500" t="-232000" r="-586458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L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486076" t="-232000" r="-475949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3"/>
                          <a:stretch>
                            <a:fillRect l="-514444" t="-232000" r="-317778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  <a:endParaRPr kumimoji="0" lang="en-IL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IL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07508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67743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000" b="1" dirty="0"/>
              <a:t>Spark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Apache Spark is a fast and general-purpose cluster computing system.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Provides high-level APIs in Java, Scala, Python and R.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Optimize engine that supports general execution graphs.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Can manage "big data" collections with a small set of high-level primitives like </a:t>
            </a:r>
            <a:br>
              <a:rPr lang="en-US" sz="2400" dirty="0"/>
            </a:br>
            <a:r>
              <a:rPr lang="en-US" sz="2400" dirty="0"/>
              <a:t>map, filter, group-by, and join.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Supports a rich set of higher-level tools including Spark SQL.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1026" name="Picture 2" descr="Apache Spark - Wikipedia">
            <a:extLst>
              <a:ext uri="{FF2B5EF4-FFF2-40B4-BE49-F238E27FC236}">
                <a16:creationId xmlns:a16="http://schemas.microsoft.com/office/drawing/2014/main" id="{FC5BD555-B715-2043-85AE-063B28C76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267" y="4712474"/>
            <a:ext cx="3166533" cy="164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31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0AF4C245-71A3-EC46-9CD1-65A1340225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+mn-lt"/>
                <a:ea typeface="ＭＳ Ｐゴシック" panose="020B0600070205080204" pitchFamily="34" charset="-128"/>
              </a:rPr>
              <a:t>Gray sort competition: Winner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82DD890D-E38E-F448-BC0F-D7EB605E86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14600" y="1747838"/>
          <a:ext cx="6781800" cy="4098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5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4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1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821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Hadoop MR</a:t>
                      </a:r>
                      <a:br>
                        <a:rPr lang="en-US" sz="1800" b="1" dirty="0">
                          <a:latin typeface="Tahoma" panose="020B0604030504040204" pitchFamily="34" charset="0"/>
                        </a:rPr>
                      </a:br>
                      <a:r>
                        <a:rPr lang="en-US" sz="1800" b="1" dirty="0">
                          <a:latin typeface="Tahoma" panose="020B0604030504040204" pitchFamily="34" charset="0"/>
                        </a:rPr>
                        <a:t>Record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Spark</a:t>
                      </a:r>
                      <a:br>
                        <a:rPr lang="en-US" sz="1800" b="1" dirty="0">
                          <a:latin typeface="Tahoma" panose="020B0604030504040204" pitchFamily="34" charset="0"/>
                        </a:rPr>
                      </a:br>
                      <a:r>
                        <a:rPr lang="en-US" sz="1800" b="1" dirty="0">
                          <a:latin typeface="Tahoma" panose="020B0604030504040204" pitchFamily="34" charset="0"/>
                        </a:rPr>
                        <a:t>Record (2014)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Data Size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102.5 TB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100 TB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Elapsed Time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72 mins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23 mins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# Nodes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2100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206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# Cores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50400 physical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6592 virtualized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Cluster disk throughput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3150 GB/s</a:t>
                      </a:r>
                      <a:br>
                        <a:rPr lang="en-US" sz="1800" dirty="0">
                          <a:latin typeface="Tahoma" panose="020B0604030504040204" pitchFamily="34" charset="0"/>
                        </a:rPr>
                      </a:br>
                      <a:r>
                        <a:rPr lang="en-US" sz="1800" dirty="0">
                          <a:latin typeface="Tahoma" panose="020B0604030504040204" pitchFamily="34" charset="0"/>
                        </a:rPr>
                        <a:t>(est.)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618 GB/s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48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Network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dedicated data center, 10Gbps</a:t>
                      </a: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ahoma" panose="020B0604030504040204" pitchFamily="34" charset="0"/>
                        </a:rPr>
                        <a:t>virtualized (EC2) 10Gbps network</a:t>
                      </a: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4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Sort rate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1.42 TB/min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4.27 TB/min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4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Sort rate/node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0.67 GB/min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ahoma" panose="020B0604030504040204" pitchFamily="34" charset="0"/>
                        </a:rPr>
                        <a:t>20.7 GB/min</a:t>
                      </a:r>
                      <a:endParaRPr lang="en-US" sz="1800" dirty="0">
                        <a:latin typeface="Tahoma" panose="020B0604030504040204" pitchFamily="34" charset="0"/>
                      </a:endParaRPr>
                    </a:p>
                  </a:txBody>
                  <a:tcPr marL="38100" marR="38100" marT="38091" marB="3809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5104" name="TextBox 8">
            <a:extLst>
              <a:ext uri="{FF2B5EF4-FFF2-40B4-BE49-F238E27FC236}">
                <a16:creationId xmlns:a16="http://schemas.microsoft.com/office/drawing/2014/main" id="{33BE4CC6-D97D-044C-A1D3-B0EB5F7FE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824538"/>
            <a:ext cx="7554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60000"/>
              <a:buBlip>
                <a:blip r:embed="rId2"/>
              </a:buBlip>
              <a:defRPr sz="3200">
                <a:solidFill>
                  <a:srgbClr val="6633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SzPct val="60000"/>
              <a:buBlip>
                <a:blip r:embed="rId3"/>
              </a:buBlip>
              <a:defRPr sz="2800">
                <a:solidFill>
                  <a:srgbClr val="6633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sz="2400">
                <a:solidFill>
                  <a:srgbClr val="6633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6633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33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33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33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33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3300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Sort benchmark, Daytona Gray: sort of 100 TB of data (1 trillion records)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4B9CA92-D728-2F47-B78C-97771240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15</a:t>
            </a:fld>
            <a:endParaRPr lang="en-IL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B9F0688-AE20-4D4E-8DB3-4ACB6CC46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>
            <a:extLst>
              <a:ext uri="{FF2B5EF4-FFF2-40B4-BE49-F238E27FC236}">
                <a16:creationId xmlns:a16="http://schemas.microsoft.com/office/drawing/2014/main" id="{4517C681-D62D-744B-8637-3325977D6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1052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3200" b="1" dirty="0">
                <a:latin typeface="+mn-lt"/>
                <a:ea typeface="+mn-ea"/>
                <a:cs typeface="+mn-cs"/>
              </a:rPr>
              <a:t>Basic Stream Data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23333" y="1215033"/>
                <a:ext cx="10930467" cy="527889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en-IL" sz="2400" dirty="0"/>
                  <a:t>Given sequence of elements from some domain: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IL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en-IL" sz="2400" b="0" i="1" smtClean="0">
                          <a:latin typeface="Cambria Math" panose="02040503050406030204" pitchFamily="18" charset="0"/>
                        </a:rPr>
                        <m:t>,…&gt;</m:t>
                      </m:r>
                    </m:oMath>
                  </m:oMathPara>
                </a14:m>
                <a:endParaRPr lang="en-US" altLang="en-IL" sz="2400" b="0" dirty="0"/>
              </a:p>
              <a:p>
                <a:pPr>
                  <a:lnSpc>
                    <a:spcPct val="150000"/>
                  </a:lnSpc>
                  <a:buFontTx/>
                  <a:buChar char="-"/>
                </a:pPr>
                <a:r>
                  <a:rPr lang="en-US" altLang="en-IL" sz="2400" dirty="0"/>
                  <a:t>Data is read sequentially in </a:t>
                </a:r>
                <a:r>
                  <a:rPr lang="en-US" altLang="en-IL" sz="2400" b="1" u="sng" dirty="0"/>
                  <a:t>one</a:t>
                </a:r>
                <a:r>
                  <a:rPr lang="en-US" altLang="en-IL" sz="2400" dirty="0"/>
                  <a:t> pass</a:t>
                </a:r>
              </a:p>
              <a:p>
                <a:pPr>
                  <a:lnSpc>
                    <a:spcPct val="150000"/>
                  </a:lnSpc>
                  <a:buFontTx/>
                  <a:buChar char="-"/>
                </a:pPr>
                <a:r>
                  <a:rPr lang="en-US" altLang="en-IL" sz="2400" dirty="0"/>
                  <a:t>Bounded storage - limited in the size of working memory</a:t>
                </a:r>
              </a:p>
              <a:p>
                <a:pPr>
                  <a:lnSpc>
                    <a:spcPct val="150000"/>
                  </a:lnSpc>
                  <a:buFontTx/>
                  <a:buChar char="-"/>
                </a:pPr>
                <a:r>
                  <a:rPr lang="en-US" altLang="en-IL" sz="2400" dirty="0"/>
                  <a:t>Fast processing time per stream element</a:t>
                </a:r>
              </a:p>
              <a:p>
                <a:pPr>
                  <a:lnSpc>
                    <a:spcPct val="150000"/>
                  </a:lnSpc>
                  <a:buFontTx/>
                  <a:buChar char="-"/>
                </a:pPr>
                <a:r>
                  <a:rPr lang="en-US" altLang="en-IL" sz="2400" dirty="0"/>
                  <a:t>We want to create and maintain a sketch which allows us to obtain good estimates of properties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en-IL" sz="2400" dirty="0"/>
              </a:p>
              <a:p>
                <a:pPr marL="0" indent="0">
                  <a:buNone/>
                </a:pPr>
                <a:endParaRPr lang="en-US" altLang="en-IL" sz="2400" dirty="0"/>
              </a:p>
            </p:txBody>
          </p:sp>
        </mc:Choice>
        <mc:Fallback xmlns="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3333" y="1215033"/>
                <a:ext cx="10930467" cy="5278899"/>
              </a:xfrm>
              <a:blipFill>
                <a:blip r:embed="rId2"/>
                <a:stretch>
                  <a:fillRect l="-928" r="-127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5B6D4B-C0E9-DB48-8B94-BADC33EA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58B9A-C6D0-CE47-9EBC-A8955AE2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3465A-320C-6546-80FA-2E2739702761}" type="slidenum">
              <a:rPr lang="en-US" altLang="zh-TW" smtClean="0"/>
              <a:pPr/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180051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F9CBAC07-C106-DB48-B875-CDB0C91E31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200" b="1" dirty="0">
                <a:latin typeface="+mn-lt"/>
                <a:ea typeface="+mn-ea"/>
                <a:cs typeface="+mn-cs"/>
              </a:rPr>
              <a:t>Approximation and Randomization</a:t>
            </a:r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0C735064-99C2-E94D-AB5C-2601F76B1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12333"/>
            <a:ext cx="10972800" cy="486463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en-IL" sz="2400" dirty="0"/>
              <a:t>More generally,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IL" sz="2400" b="1" dirty="0"/>
              <a:t>Approximation</a:t>
            </a:r>
            <a:r>
              <a:rPr lang="en-US" altLang="en-IL" sz="2400" dirty="0"/>
              <a:t>: find an answer correct within a (1</a:t>
            </a:r>
            <a:r>
              <a:rPr lang="en-US" altLang="en-IL" sz="2400" dirty="0">
                <a:sym typeface="Symbol" pitchFamily="2" charset="2"/>
              </a:rPr>
              <a:t></a:t>
            </a:r>
            <a:r>
              <a:rPr lang="en-US" altLang="en-IL" sz="2400" dirty="0"/>
              <a:t> </a:t>
            </a:r>
            <a:r>
              <a:rPr lang="en-US" altLang="en-IL" sz="2400" dirty="0">
                <a:solidFill>
                  <a:srgbClr val="FF0000"/>
                </a:solidFill>
                <a:sym typeface="Symbol" pitchFamily="2" charset="2"/>
              </a:rPr>
              <a:t></a:t>
            </a:r>
            <a:r>
              <a:rPr lang="en-US" altLang="en-IL" sz="2400" dirty="0"/>
              <a:t>) factor approximation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IL" sz="2400" b="1" dirty="0"/>
              <a:t>Randomization</a:t>
            </a:r>
            <a:r>
              <a:rPr lang="en-US" altLang="en-IL" sz="2400" dirty="0"/>
              <a:t>: allow a small probability of failure / success probability (1-</a:t>
            </a:r>
            <a:r>
              <a:rPr lang="en-US" altLang="en-IL" sz="2400" dirty="0">
                <a:solidFill>
                  <a:schemeClr val="accent1"/>
                </a:solidFill>
                <a:sym typeface="Symbol" pitchFamily="2" charset="2"/>
              </a:rPr>
              <a:t></a:t>
            </a:r>
            <a:r>
              <a:rPr lang="en-US" altLang="en-IL" sz="2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IL" sz="2400" dirty="0"/>
              <a:t>Here we want to develop Approximation </a:t>
            </a:r>
            <a:r>
              <a:rPr lang="en-US" altLang="en-IL" sz="2400" b="1" dirty="0"/>
              <a:t>and</a:t>
            </a:r>
            <a:r>
              <a:rPr lang="en-US" altLang="en-IL" sz="2400" dirty="0"/>
              <a:t> Randomization algorithms,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en-IL" sz="2400" dirty="0"/>
              <a:t>called </a:t>
            </a:r>
            <a:r>
              <a:rPr lang="en-US" altLang="en-IL" sz="2400" b="1" dirty="0"/>
              <a:t>(</a:t>
            </a:r>
            <a:r>
              <a:rPr lang="en-US" altLang="en-IL" sz="2400" b="1" dirty="0">
                <a:solidFill>
                  <a:srgbClr val="FF0000"/>
                </a:solidFill>
                <a:sym typeface="Symbol" pitchFamily="2" charset="2"/>
              </a:rPr>
              <a:t></a:t>
            </a:r>
            <a:r>
              <a:rPr lang="en-US" altLang="en-IL" sz="2400" b="1" dirty="0"/>
              <a:t>, </a:t>
            </a:r>
            <a:r>
              <a:rPr lang="en-US" altLang="en-IL" sz="2400" b="1" dirty="0">
                <a:solidFill>
                  <a:schemeClr val="accent1"/>
                </a:solidFill>
                <a:sym typeface="Symbol" pitchFamily="2" charset="2"/>
              </a:rPr>
              <a:t></a:t>
            </a:r>
            <a:r>
              <a:rPr lang="en-US" altLang="en-IL" sz="2400" b="1" dirty="0"/>
              <a:t>)-approximations</a:t>
            </a:r>
            <a:r>
              <a:rPr lang="en-US" altLang="en-IL" sz="2400" dirty="0"/>
              <a:t>.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FE994FA3-08C5-4248-A983-B258B0F9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TW" dirty="0"/>
              <a:t>Or </a:t>
            </a:r>
            <a:r>
              <a:rPr lang="en-US" altLang="zh-TW" dirty="0" err="1"/>
              <a:t>Peretz</a:t>
            </a:r>
            <a:endParaRPr lang="en-US" altLang="zh-TW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735B6F5-4916-3440-B408-E0A7F668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B23465A-320C-6546-80FA-2E2739702761}" type="slidenum">
              <a:rPr lang="en-US" altLang="zh-TW" smtClean="0"/>
              <a:pPr/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669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9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>
            <a:extLst>
              <a:ext uri="{FF2B5EF4-FFF2-40B4-BE49-F238E27FC236}">
                <a16:creationId xmlns:a16="http://schemas.microsoft.com/office/drawing/2014/main" id="{4517C681-D62D-744B-8637-3325977D6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1052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3200" b="1" dirty="0">
                <a:latin typeface="+mn-lt"/>
                <a:ea typeface="+mn-ea"/>
                <a:cs typeface="+mn-cs"/>
              </a:rPr>
              <a:t>Morris’s Algorithm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23333" y="1215033"/>
                <a:ext cx="10930467" cy="5278899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altLang="en-IL" sz="2400" b="1" dirty="0"/>
                  <a:t>Idea</a:t>
                </a:r>
                <a:r>
                  <a:rPr lang="en-US" altLang="en-IL" sz="2400" dirty="0"/>
                  <a:t>: </a:t>
                </a:r>
                <a:r>
                  <a:rPr lang="en-US" sz="2400" dirty="0"/>
                  <a:t>T</a:t>
                </a:r>
                <a:r>
                  <a:rPr lang="en-IL" sz="2400" dirty="0"/>
                  <a:t>rack logn intead of n, </a:t>
                </a:r>
                <a:r>
                  <a:rPr lang="en-US" sz="2400" dirty="0"/>
                  <a:t>u</a:t>
                </a:r>
                <a:r>
                  <a:rPr lang="en-IL" sz="2400" dirty="0"/>
                  <a:t>se log(logn) bits instead of logn bits.</a:t>
                </a:r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buNone/>
                </a:pPr>
                <a:r>
                  <a:rPr lang="en-US" altLang="en-IL" sz="2400" b="1" dirty="0"/>
                  <a:t>Claim</a:t>
                </a:r>
                <a:r>
                  <a:rPr lang="en-US" altLang="en-IL" sz="2400" dirty="0"/>
                  <a:t>: </a:t>
                </a:r>
                <a14:m>
                  <m:oMath xmlns:m="http://schemas.openxmlformats.org/officeDocument/2006/math"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IL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IL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en-IL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p>
                        </m:sSup>
                      </m:e>
                    </m:d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altLang="en-IL" sz="2400" b="0" dirty="0"/>
              </a:p>
              <a:p>
                <a:pPr marL="0" indent="0">
                  <a:buNone/>
                </a:pPr>
                <a:r>
                  <a:rPr lang="en-US" altLang="en-IL" sz="2400" b="1" dirty="0"/>
                  <a:t>Proof: </a:t>
                </a:r>
                <a:r>
                  <a:rPr lang="en-US" altLang="en-IL" sz="2400" dirty="0"/>
                  <a:t>Induction (not here)</a:t>
                </a:r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buNone/>
                </a:pPr>
                <a:r>
                  <a:rPr lang="en-US" altLang="en-IL" sz="2400" b="1" dirty="0"/>
                  <a:t>Claim</a:t>
                </a:r>
                <a:r>
                  <a:rPr lang="en-US" altLang="en-IL" sz="2400" dirty="0"/>
                  <a:t>: </a:t>
                </a:r>
                <a14:m>
                  <m:oMath xmlns:m="http://schemas.openxmlformats.org/officeDocument/2006/math"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begChr m:val="["/>
                        <m:endChr m:val="]"/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IL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IL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en-IL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p>
                        </m:sSup>
                      </m:e>
                    </m:d>
                    <m:r>
                      <a:rPr lang="en-US" altLang="en-IL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IL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en-IL" sz="2400" dirty="0"/>
              </a:p>
              <a:p>
                <a:pPr marL="0" indent="0">
                  <a:buNone/>
                </a:pPr>
                <a:r>
                  <a:rPr lang="en-US" altLang="en-IL" sz="2400" b="1" dirty="0"/>
                  <a:t>Proof: </a:t>
                </a:r>
                <a:r>
                  <a:rPr lang="en-US" altLang="en-IL" sz="2400" dirty="0"/>
                  <a:t>not here</a:t>
                </a:r>
                <a:endParaRPr lang="en-IL" sz="2400" dirty="0"/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en-IL" sz="2400" dirty="0"/>
              </a:p>
            </p:txBody>
          </p:sp>
        </mc:Choice>
        <mc:Fallback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3333" y="1215033"/>
                <a:ext cx="10930467" cy="5278899"/>
              </a:xfrm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5B6D4B-C0E9-DB48-8B94-BADC33EA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58B9A-C6D0-CE47-9EBC-A8955AE2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3465A-320C-6546-80FA-2E2739702761}" type="slidenum">
              <a:rPr lang="en-US" altLang="zh-TW" smtClean="0"/>
              <a:pPr/>
              <a:t>18</a:t>
            </a:fld>
            <a:endParaRPr lang="en-US" altLang="zh-TW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C6B43B-42C5-7C40-9EA5-260F937BB4DC}"/>
                  </a:ext>
                </a:extLst>
              </p:cNvPr>
              <p:cNvSpPr txBox="1"/>
              <p:nvPr/>
            </p:nvSpPr>
            <p:spPr>
              <a:xfrm>
                <a:off x="2226733" y="1862858"/>
                <a:ext cx="7738533" cy="192283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I</a:t>
                </a:r>
                <a:r>
                  <a:rPr lang="en-IL" sz="2400" dirty="0"/>
                  <a:t>nitialize X = 0</a:t>
                </a:r>
              </a:p>
              <a:p>
                <a:pPr>
                  <a:lnSpc>
                    <a:spcPct val="150000"/>
                  </a:lnSpc>
                </a:pPr>
                <a:r>
                  <a:rPr lang="en-IL" sz="2400" dirty="0"/>
                  <a:t>When an item arrives, increase X by 1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p>
                        </m:sSup>
                      </m:den>
                    </m:f>
                  </m:oMath>
                </a14:m>
                <a:endParaRPr lang="en-IL" sz="2400" dirty="0"/>
              </a:p>
              <a:p>
                <a:pPr>
                  <a:lnSpc>
                    <a:spcPct val="150000"/>
                  </a:lnSpc>
                </a:pPr>
                <a:r>
                  <a:rPr lang="en-IL" sz="2400" dirty="0"/>
                  <a:t>When the stream is over, output our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C6B43B-42C5-7C40-9EA5-260F937BB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6733" y="1862858"/>
                <a:ext cx="7738533" cy="1922834"/>
              </a:xfrm>
              <a:prstGeom prst="rect">
                <a:avLst/>
              </a:prstGeom>
              <a:blipFill>
                <a:blip r:embed="rId3"/>
                <a:stretch>
                  <a:fillRect l="-980" b="-719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82928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>
            <a:extLst>
              <a:ext uri="{FF2B5EF4-FFF2-40B4-BE49-F238E27FC236}">
                <a16:creationId xmlns:a16="http://schemas.microsoft.com/office/drawing/2014/main" id="{4517C681-D62D-744B-8637-3325977D6F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-110529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altLang="zh-TW" sz="3200" b="1" dirty="0">
                <a:latin typeface="+mn-lt"/>
              </a:rPr>
              <a:t>Morris’s Algorithm – Beta Version</a:t>
            </a:r>
            <a:endParaRPr lang="en-US" altLang="zh-TW" sz="3200" b="1" dirty="0"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23333" y="1215033"/>
                <a:ext cx="10930467" cy="52788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en-IL" sz="2400" b="1" dirty="0"/>
                  <a:t>Idea</a:t>
                </a:r>
                <a:r>
                  <a:rPr lang="en-US" altLang="en-IL" sz="2400" dirty="0"/>
                  <a:t>: instead of 1 counter, maintain </a:t>
                </a:r>
                <a14:m>
                  <m:oMath xmlns:m="http://schemas.openxmlformats.org/officeDocument/2006/math">
                    <m:r>
                      <a:rPr lang="en-US" altLang="en-IL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en-IL" sz="2400" dirty="0"/>
                  <a:t> counters and average their results.</a:t>
                </a:r>
                <a:endParaRPr lang="en-IL" sz="2400" dirty="0"/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buNone/>
                </a:pPr>
                <a:endParaRPr lang="en-IL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en-IL" sz="2400" dirty="0"/>
              </a:p>
            </p:txBody>
          </p:sp>
        </mc:Choice>
        <mc:Fallback xmlns="">
          <p:sp>
            <p:nvSpPr>
              <p:cNvPr id="11267" name="Rectangle 3">
                <a:extLst>
                  <a:ext uri="{FF2B5EF4-FFF2-40B4-BE49-F238E27FC236}">
                    <a16:creationId xmlns:a16="http://schemas.microsoft.com/office/drawing/2014/main" id="{0B0BAB0D-26D9-4B48-900D-CCBBBA002E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23333" y="1215033"/>
                <a:ext cx="10930467" cy="5278899"/>
              </a:xfrm>
              <a:blipFill>
                <a:blip r:embed="rId2"/>
                <a:stretch>
                  <a:fillRect l="-928" t="-143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5B6D4B-C0E9-DB48-8B94-BADC33EA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Or Peretz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858B9A-C6D0-CE47-9EBC-A8955AE2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3465A-320C-6546-80FA-2E2739702761}" type="slidenum">
              <a:rPr lang="en-US" altLang="zh-TW" smtClean="0"/>
              <a:pPr/>
              <a:t>19</a:t>
            </a:fld>
            <a:endParaRPr lang="en-US" altLang="zh-TW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C6B43B-42C5-7C40-9EA5-260F937BB4DC}"/>
                  </a:ext>
                </a:extLst>
              </p:cNvPr>
              <p:cNvSpPr txBox="1"/>
              <p:nvPr/>
            </p:nvSpPr>
            <p:spPr>
              <a:xfrm>
                <a:off x="1066800" y="2032188"/>
                <a:ext cx="10058400" cy="215071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/>
                  <a:t>I</a:t>
                </a:r>
                <a:r>
                  <a:rPr lang="en-IL" sz="2400" dirty="0"/>
                  <a:t>nitialize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L" sz="2400" dirty="0"/>
                  <a:t> = 0</a:t>
                </a:r>
              </a:p>
              <a:p>
                <a:pPr>
                  <a:lnSpc>
                    <a:spcPct val="150000"/>
                  </a:lnSpc>
                </a:pPr>
                <a:r>
                  <a:rPr lang="en-IL" sz="2400" dirty="0"/>
                  <a:t>When an item arrives, increase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24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L" sz="2400" dirty="0"/>
                  <a:t> by 1 independently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L" sz="2400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n-IL" sz="2400" dirty="0"/>
              </a:p>
              <a:p>
                <a:pPr>
                  <a:lnSpc>
                    <a:spcPct val="150000"/>
                  </a:lnSpc>
                </a:pPr>
                <a:r>
                  <a:rPr lang="en-IL" sz="2400" dirty="0"/>
                  <a:t>When the stream is over, output our estimate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(2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nary>
                  </m:oMath>
                </a14:m>
                <a:endParaRPr lang="en-IL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C6B43B-42C5-7C40-9EA5-260F937BB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032188"/>
                <a:ext cx="10058400" cy="2150717"/>
              </a:xfrm>
              <a:prstGeom prst="rect">
                <a:avLst/>
              </a:prstGeom>
              <a:blipFill>
                <a:blip r:embed="rId3"/>
                <a:stretch>
                  <a:fillRect l="-882" b="-3684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85158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8839200" cy="11430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200" b="1" dirty="0">
                <a:latin typeface="+mn-lt"/>
                <a:ea typeface="+mn-ea"/>
                <a:cs typeface="+mn-cs"/>
              </a:rPr>
              <a:t>Distinct Elements: Approximate 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1" y="2299839"/>
            <a:ext cx="9950802" cy="878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Size-estimation/Minimum value technique</a:t>
            </a:r>
            <a:r>
              <a:rPr lang="en-US" sz="2400" dirty="0"/>
              <a:t>:[</a:t>
            </a:r>
            <a:r>
              <a:rPr lang="en-US" sz="2400" dirty="0" err="1"/>
              <a:t>Flajolet</a:t>
            </a:r>
            <a:r>
              <a:rPr lang="en-US" sz="2400" dirty="0"/>
              <a:t>-Martin 1985]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15185" y="1451715"/>
            <a:ext cx="704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32</a:t>
            </a:r>
            <a:r>
              <a:rPr lang="en-US" sz="3200" dirty="0">
                <a:solidFill>
                  <a:srgbClr val="00B050"/>
                </a:solidFill>
              </a:rPr>
              <a:t>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9224" y="1451714"/>
            <a:ext cx="704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12,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13618" y="1451714"/>
            <a:ext cx="704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14,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657" y="1451713"/>
            <a:ext cx="704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32,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9635" y="1457156"/>
            <a:ext cx="588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 7,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3674" y="1457155"/>
            <a:ext cx="704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12,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8599" y="1457155"/>
            <a:ext cx="704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32,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2107" y="1457154"/>
            <a:ext cx="495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7,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8486" y="1451713"/>
            <a:ext cx="495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F0"/>
                </a:solidFill>
              </a:rPr>
              <a:t>6,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3411" y="1451713"/>
            <a:ext cx="704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</a:rPr>
              <a:t>12,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36919" y="1451712"/>
            <a:ext cx="495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C000"/>
                </a:solidFill>
              </a:rPr>
              <a:t>4,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/>
              <p:cNvSpPr txBox="1">
                <a:spLocks/>
              </p:cNvSpPr>
              <p:nvPr/>
            </p:nvSpPr>
            <p:spPr>
              <a:xfrm>
                <a:off x="2997082" y="3081868"/>
                <a:ext cx="5257799" cy="2702864"/>
              </a:xfrm>
              <a:prstGeom prst="rect">
                <a:avLst/>
              </a:prstGeom>
              <a:ln w="19050">
                <a:solidFill>
                  <a:schemeClr val="accent1"/>
                </a:solidFill>
              </a:ln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be a hash function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For each element a in the stream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	Find h(a) in binary form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	Count the number of trailing zeros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Return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𝑀𝑎𝑥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𝐶𝑜𝑢𝑛𝑡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2"/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1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082" y="3081868"/>
                <a:ext cx="5257799" cy="2702864"/>
              </a:xfrm>
              <a:prstGeom prst="rect">
                <a:avLst/>
              </a:prstGeom>
              <a:blipFill>
                <a:blip r:embed="rId2"/>
                <a:stretch>
                  <a:fillRect l="-1442" b="-2791"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DE01EF8A-7D45-1045-9EEC-8EDE95706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9D69B18-316A-457F-86C2-CFE4F951EE27}" type="slidenum">
              <a:rPr lang="en-IL" smtClean="0"/>
              <a:pPr/>
              <a:t>20</a:t>
            </a:fld>
            <a:endParaRPr lang="en-IL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DD74A49-8D0D-CF4D-A739-CE0812B5C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3237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631951" y="6442075"/>
            <a:ext cx="671513" cy="268288"/>
          </a:xfrm>
          <a:prstGeom prst="rect">
            <a:avLst/>
          </a:prstGeom>
        </p:spPr>
        <p:txBody>
          <a:bodyPr/>
          <a:lstStyle/>
          <a:p>
            <a:fld id="{FB54F68F-55FB-4A07-887D-E3C66E96E8FF}" type="slidenum">
              <a:rPr lang="he-IL"/>
              <a:pPr/>
              <a:t>21</a:t>
            </a:fld>
            <a:endParaRPr lang="en-GB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7467600" cy="725470"/>
          </a:xfrm>
        </p:spPr>
        <p:txBody>
          <a:bodyPr>
            <a:normAutofit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867" y="931333"/>
            <a:ext cx="11514666" cy="5542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recommender system</a:t>
            </a:r>
            <a:r>
              <a:rPr lang="en-US" dirty="0"/>
              <a:t> (RS) helps users that have no sufficient competence or time to evaluate the, potentially overwhelming, number of alternatives offered by a web site. </a:t>
            </a:r>
            <a:r>
              <a:rPr lang="en-US" altLang="ko-KR" dirty="0">
                <a:ea typeface="Gulim" pitchFamily="34" charset="-127"/>
              </a:rPr>
              <a:t>In their simplest form, RSs recommend to their users personalized and </a:t>
            </a:r>
            <a:r>
              <a:rPr lang="en-US" altLang="ko-KR" b="1" dirty="0">
                <a:ea typeface="Gulim" pitchFamily="34" charset="-127"/>
              </a:rPr>
              <a:t>ranked lists of items</a:t>
            </a:r>
          </a:p>
          <a:p>
            <a:pPr marL="457200" indent="-457200"/>
            <a:endParaRPr lang="en-US" dirty="0"/>
          </a:p>
        </p:txBody>
      </p:sp>
      <p:pic>
        <p:nvPicPr>
          <p:cNvPr id="5" name="Picture 2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2947" y="2965697"/>
            <a:ext cx="2421034" cy="1625179"/>
          </a:xfrm>
          <a:prstGeom prst="rect">
            <a:avLst/>
          </a:prstGeom>
          <a:noFill/>
          <a:ln w="12700">
            <a:solidFill>
              <a:srgbClr val="C0C0C0"/>
            </a:solidFill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931" y="2974115"/>
            <a:ext cx="3841802" cy="16083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548" y="4649638"/>
            <a:ext cx="5076056" cy="204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0907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631951" y="6442075"/>
            <a:ext cx="671513" cy="268288"/>
          </a:xfrm>
          <a:prstGeom prst="rect">
            <a:avLst/>
          </a:prstGeom>
        </p:spPr>
        <p:txBody>
          <a:bodyPr/>
          <a:lstStyle/>
          <a:p>
            <a:fld id="{FB54F68F-55FB-4A07-887D-E3C66E96E8FF}" type="slidenum">
              <a:rPr lang="he-IL"/>
              <a:pPr/>
              <a:t>22</a:t>
            </a:fld>
            <a:endParaRPr lang="en-GB"/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7467600" cy="725470"/>
          </a:xfrm>
        </p:spPr>
        <p:txBody>
          <a:bodyPr>
            <a:normAutofit/>
          </a:bodyPr>
          <a:lstStyle/>
          <a:p>
            <a:r>
              <a:rPr lang="en-US" dirty="0"/>
              <a:t>Approaches</a:t>
            </a:r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867" y="939800"/>
            <a:ext cx="11514666" cy="5542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Collaborative filtering approach</a:t>
            </a:r>
            <a:r>
              <a:rPr lang="en-US" dirty="0"/>
              <a:t> builds a model from a user’s past behaviors (items previously purchased or selected and/or numerical ratings given to those items) as well as similar decisions made by other users. </a:t>
            </a:r>
            <a:endParaRPr lang="he-IL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This model is then used to predict items (or ratings for items) that the user may have an interest in.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54558F4-19C6-4625-CCDC-68F9D20C2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499" y="3780167"/>
            <a:ext cx="4563002" cy="279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5757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Matrix Factorization</a:t>
                </a:r>
                <a:endParaRPr lang="en-US" sz="32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Given matrix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of ratings, factorize it into two matrices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(some versions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≈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pic>
        <p:nvPicPr>
          <p:cNvPr id="6" name="Picture 2" descr="Simple Matrix Factorization example on the Movielens dataset using Pyspark  | by Soumya Ghosh | Medium">
            <a:extLst>
              <a:ext uri="{FF2B5EF4-FFF2-40B4-BE49-F238E27FC236}">
                <a16:creationId xmlns:a16="http://schemas.microsoft.com/office/drawing/2014/main" id="{5EC1BBA3-04D2-F898-8E2C-DA72F2B53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33" y="2762368"/>
            <a:ext cx="4960429" cy="213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F">
            <a:extLst>
              <a:ext uri="{FF2B5EF4-FFF2-40B4-BE49-F238E27FC236}">
                <a16:creationId xmlns:a16="http://schemas.microsoft.com/office/drawing/2014/main" id="{68685A68-58FB-BA01-8D93-EED0A084B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749" y="2980267"/>
            <a:ext cx="4458363" cy="183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63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How to Build Collaborative Filtering using ALS?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400" b="1" dirty="0"/>
              <a:t>Step 1</a:t>
            </a:r>
            <a:r>
              <a:rPr lang="en-US" sz="2400" dirty="0"/>
              <a:t>: Load data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2</a:t>
            </a:r>
            <a:r>
              <a:rPr lang="en-US" sz="2400" dirty="0"/>
              <a:t>: Split data into train, validation and test sets.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</a:t>
            </a:r>
            <a:r>
              <a:rPr lang="en-US" sz="2400" b="1" u="sng" dirty="0"/>
              <a:t>Train</a:t>
            </a:r>
            <a:r>
              <a:rPr lang="en-US" sz="2400" dirty="0"/>
              <a:t> - The sample of data used to fit the model.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</a:t>
            </a:r>
            <a:r>
              <a:rPr lang="en-US" sz="2400" b="1" u="sng" dirty="0"/>
              <a:t>Validation</a:t>
            </a:r>
            <a:r>
              <a:rPr lang="en-US" sz="2400" dirty="0"/>
              <a:t> - The evaluation becomes more biased as skill on the validation dataset is 	incorporated into the 	model configuration. (“semi-testing” your model)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	</a:t>
            </a:r>
            <a:r>
              <a:rPr lang="en-US" sz="2400" b="1" u="sng" dirty="0"/>
              <a:t>Test</a:t>
            </a:r>
            <a:r>
              <a:rPr lang="en-US" sz="2400" dirty="0"/>
              <a:t> - The sample of data used to provide an unbiased evaluation of a final model fit 	on the training dataset.</a:t>
            </a:r>
            <a:endParaRPr lang="en-US" sz="2400" b="1" u="sng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8195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How to Build Collaborative Filtering using ALS?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400" b="1" dirty="0"/>
              <a:t>Step 3: </a:t>
            </a:r>
            <a:r>
              <a:rPr lang="en-US" sz="2400" dirty="0"/>
              <a:t>ALS Model Selection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To find the optimal hyperparameters, use grid search and select the best model.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Step 4: </a:t>
            </a:r>
            <a:r>
              <a:rPr lang="en-US" sz="2400" dirty="0"/>
              <a:t>Learning Curve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As we increased number of iterations in training ALS, we can see how RMSE changes and whether model is overfitted.</a:t>
            </a:r>
            <a:br>
              <a:rPr lang="en-US" sz="2400" dirty="0"/>
            </a:br>
            <a:r>
              <a:rPr lang="en-US" sz="2400" b="1" dirty="0"/>
              <a:t>Step 5: </a:t>
            </a:r>
            <a:r>
              <a:rPr lang="en-US" sz="2400" dirty="0"/>
              <a:t>Make recommendations </a:t>
            </a:r>
            <a:r>
              <a:rPr lang="en-US" sz="2400" dirty="0">
                <a:sym typeface="Wingdings" pitchFamily="2" charset="2"/>
              </a:rPr>
              <a:t>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9221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F07A-A6B2-4AA3-9FB3-FF93725B9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666" y="1202003"/>
            <a:ext cx="11768667" cy="2602970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IL" sz="7200" dirty="0">
                <a:cs typeface="+mn-cs"/>
              </a:rPr>
              <a:t>Final Assignment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C810-8880-4D05-860C-4E520C91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135C-5A11-DB47-A5FC-BE38DE9D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224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Instructions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IL" sz="2400" dirty="0"/>
              <a:t>1. </a:t>
            </a:r>
            <a:r>
              <a:rPr lang="en-US" sz="2400" dirty="0"/>
              <a:t>There are 4 questions, </a:t>
            </a:r>
            <a:r>
              <a:rPr lang="en-IL" sz="2400" dirty="0"/>
              <a:t>each group should submit an individual solution</a:t>
            </a:r>
            <a:r>
              <a:rPr lang="en-US" sz="2400" dirty="0"/>
              <a:t>.</a:t>
            </a:r>
            <a:endParaRPr lang="en-IL" sz="2400" dirty="0"/>
          </a:p>
          <a:p>
            <a:pPr>
              <a:lnSpc>
                <a:spcPct val="150000"/>
              </a:lnSpc>
            </a:pPr>
            <a:r>
              <a:rPr lang="en-IL" sz="2400" dirty="0"/>
              <a:t>2. </a:t>
            </a:r>
            <a:r>
              <a:rPr lang="en-IL" sz="2400" u="sng" dirty="0"/>
              <a:t>Do your best to </a:t>
            </a:r>
            <a:r>
              <a:rPr lang="en-US" sz="2400" u="sng" dirty="0"/>
              <a:t>handle</a:t>
            </a:r>
            <a:r>
              <a:rPr lang="en-IL" sz="2400" u="sng" dirty="0"/>
              <a:t> the homework by yourself.</a:t>
            </a:r>
            <a:r>
              <a:rPr lang="en-IL" sz="24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3. You can use as many as mappers and reducers as you need / want.</a:t>
            </a:r>
            <a:endParaRPr lang="en-IL" sz="2400" dirty="0"/>
          </a:p>
          <a:p>
            <a:pPr>
              <a:lnSpc>
                <a:spcPct val="150000"/>
              </a:lnSpc>
            </a:pPr>
            <a:r>
              <a:rPr lang="en-IL" sz="2400" dirty="0"/>
              <a:t>4. Submit a </a:t>
            </a:r>
            <a:r>
              <a:rPr lang="en-US" sz="2400" dirty="0"/>
              <a:t>PDF for the theoretical questions and </a:t>
            </a:r>
            <a:r>
              <a:rPr lang="en-US" sz="2400" dirty="0" err="1"/>
              <a:t>jupyter</a:t>
            </a:r>
            <a:r>
              <a:rPr lang="en-US" sz="2400" dirty="0"/>
              <a:t> notebook to the rest.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27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620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Q1 – Naïve MapReduce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400" dirty="0"/>
              <a:t>Attached a folder of text files called “genome”. The </a:t>
            </a:r>
            <a:r>
              <a:rPr lang="en-US" sz="2400" u="sng" dirty="0"/>
              <a:t>union</a:t>
            </a:r>
            <a:r>
              <a:rPr lang="en-US" sz="2400" dirty="0"/>
              <a:t> of the files is a human DNA sequence.</a:t>
            </a:r>
            <a:r>
              <a:rPr lang="en-IL" sz="2400" dirty="0"/>
              <a:t> </a:t>
            </a:r>
            <a:r>
              <a:rPr lang="en-US" sz="2400" b="1" dirty="0"/>
              <a:t>Implement</a:t>
            </a:r>
            <a:r>
              <a:rPr lang="en-US" sz="2400" dirty="0"/>
              <a:t> a map-reduce algorithm that gets as an input the above text files and return the distribution (how many times each term appears) of the following terms:</a:t>
            </a:r>
            <a:endParaRPr lang="en-IL" sz="2400" dirty="0"/>
          </a:p>
          <a:p>
            <a:pPr algn="ctr">
              <a:lnSpc>
                <a:spcPct val="150000"/>
              </a:lnSpc>
            </a:pPr>
            <a:r>
              <a:rPr lang="en-US" sz="2400" dirty="0"/>
              <a:t>CTC, AAGC, GTT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sz="2200" dirty="0"/>
              <a:t>Design a map-reduce algorithm to solve the problem. 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sz="2200" dirty="0"/>
              <a:t>Create </a:t>
            </a:r>
            <a:r>
              <a:rPr lang="en-US" sz="2200" dirty="0" err="1"/>
              <a:t>dna_mapper.py</a:t>
            </a:r>
            <a:r>
              <a:rPr lang="en-US" sz="2200" dirty="0"/>
              <a:t> and </a:t>
            </a:r>
            <a:r>
              <a:rPr lang="en-US" sz="2200" dirty="0" err="1"/>
              <a:t>dna_reducer.py</a:t>
            </a:r>
            <a:r>
              <a:rPr lang="en-US" sz="2200" dirty="0"/>
              <a:t> files and implement the solution.</a:t>
            </a:r>
            <a:endParaRPr lang="en-IL" sz="2200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sz="2200" dirty="0"/>
              <a:t>Test your map-reduce algorithm by running the pipeline commands.</a:t>
            </a:r>
            <a:endParaRPr lang="en-IL" sz="2200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sz="2200" dirty="0"/>
              <a:t>Store your output in a text file.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US" sz="2200" dirty="0"/>
              <a:t>Attached the file to your submission under the name “</a:t>
            </a:r>
            <a:r>
              <a:rPr lang="en-US" sz="2200" dirty="0" err="1"/>
              <a:t>dna_distribution.txt</a:t>
            </a:r>
            <a:r>
              <a:rPr lang="en-US" sz="2200" dirty="0"/>
              <a:t>”.</a:t>
            </a:r>
            <a:endParaRPr lang="en-IL" sz="2200" dirty="0"/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I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7863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Q2 – Hadoop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400" dirty="0"/>
              <a:t>Use the “Friends” episodes dataset and implement a map-reduce algorithm to find the distribution of “oh-my-god”. Your output should be a list of (</a:t>
            </a:r>
            <a:r>
              <a:rPr lang="en-US" sz="2400" dirty="0" err="1"/>
              <a:t>key,value</a:t>
            </a:r>
            <a:r>
              <a:rPr lang="en-US" sz="2400" dirty="0"/>
              <a:t>) where the key is the character name (ross, chandler, </a:t>
            </a:r>
            <a:r>
              <a:rPr lang="en-US" sz="2400" dirty="0" err="1"/>
              <a:t>jenice</a:t>
            </a:r>
            <a:r>
              <a:rPr lang="en-US" sz="2400" dirty="0"/>
              <a:t>, …) and the value is the “oh-my-god” count.</a:t>
            </a:r>
            <a:endParaRPr lang="en-IL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Note</a:t>
            </a:r>
            <a:r>
              <a:rPr lang="en-US" sz="2400" dirty="0"/>
              <a:t>: be aware that the phrase may appear as “OMG”, “oh-my-god”, “oh my god” and more.</a:t>
            </a:r>
            <a:endParaRPr lang="en-IL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I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29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4245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Q3 – Spark</a:t>
            </a:r>
            <a:endParaRPr lang="en-US" sz="3200" dirty="0"/>
          </a:p>
          <a:p>
            <a:pPr>
              <a:lnSpc>
                <a:spcPct val="150000"/>
              </a:lnSpc>
            </a:pPr>
            <a:r>
              <a:rPr lang="en-US" sz="2400" dirty="0"/>
              <a:t>Attached a csv file called “</a:t>
            </a:r>
            <a:r>
              <a:rPr lang="en-US" sz="2400" dirty="0" err="1"/>
              <a:t>baby_names.csv</a:t>
            </a:r>
            <a:r>
              <a:rPr lang="en-US" sz="2400" dirty="0"/>
              <a:t>”. The file has the following format:</a:t>
            </a:r>
            <a:endParaRPr lang="en-IL" sz="2400" dirty="0"/>
          </a:p>
          <a:p>
            <a:pPr algn="ctr">
              <a:lnSpc>
                <a:spcPct val="150000"/>
              </a:lnSpc>
            </a:pPr>
            <a:r>
              <a:rPr lang="en-US" sz="2400" dirty="0"/>
              <a:t>Year, First Name, Country, Sex, Count</a:t>
            </a:r>
            <a:endParaRPr lang="en-IL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Each row present newborn children and their name, country, gender, and total count. </a:t>
            </a:r>
            <a:endParaRPr lang="en-IL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endParaRPr lang="en-IL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30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3B2A73-0678-797C-EB97-A8661C7B6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100" y="3379402"/>
            <a:ext cx="41783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01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Q4 – Streaming Algorithms</a:t>
                </a:r>
                <a:endParaRPr lang="en-US" sz="3200" dirty="0"/>
              </a:p>
              <a:p>
                <a:pPr lvl="0">
                  <a:lnSpc>
                    <a:spcPct val="150000"/>
                  </a:lnSpc>
                </a:pPr>
                <a:r>
                  <a:rPr lang="en-US" sz="2400" dirty="0"/>
                  <a:t>Given an (</a:t>
                </a:r>
                <a14:m>
                  <m:oMath xmlns:m="http://schemas.openxmlformats.org/officeDocument/2006/math">
                    <m:r>
                      <a:rPr lang="en-US" sz="2400" i="1"/>
                      <m:t>𝜖</m:t>
                    </m:r>
                    <m:r>
                      <a:rPr lang="en-US" sz="2400" i="1"/>
                      <m:t>,</m:t>
                    </m:r>
                    <m:r>
                      <a:rPr lang="en-US" sz="2400" i="1"/>
                      <m:t>𝛿</m:t>
                    </m:r>
                  </m:oMath>
                </a14:m>
                <a:r>
                  <a:rPr lang="en-US" sz="2400" dirty="0"/>
                  <a:t>)-approximation algorithm that use </a:t>
                </a:r>
                <a14:m>
                  <m:oMath xmlns:m="http://schemas.openxmlformats.org/officeDocument/2006/math">
                    <m:r>
                      <a:rPr lang="en-US" sz="2400" i="1"/>
                      <m:t>𝑠</m:t>
                    </m:r>
                  </m:oMath>
                </a14:m>
                <a:r>
                  <a:rPr lang="en-US" sz="2400" dirty="0"/>
                  <a:t> different estimators and satisfy </a:t>
                </a:r>
                <a:endParaRPr lang="en-IL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/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400" i="1"/>
                          </m:ctrlPr>
                        </m:dPr>
                        <m:e>
                          <m:r>
                            <a:rPr lang="en-US" sz="2400" i="1"/>
                            <m:t>𝑋</m:t>
                          </m:r>
                        </m:e>
                      </m:d>
                      <m:r>
                        <a:rPr lang="en-US" sz="2400" i="1"/>
                        <m:t>=</m:t>
                      </m:r>
                      <m:f>
                        <m:fPr>
                          <m:ctrlPr>
                            <a:rPr lang="en-IL" sz="2400" i="1"/>
                          </m:ctrlPr>
                        </m:fPr>
                        <m:num>
                          <m:r>
                            <a:rPr lang="en-US" sz="2400" i="1"/>
                            <m:t>1</m:t>
                          </m:r>
                        </m:num>
                        <m:den>
                          <m:r>
                            <a:rPr lang="en-US" sz="2400" i="1"/>
                            <m:t>𝑛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sz="2400" i="1"/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IL" sz="2400" i="1"/>
                          </m:ctrlPr>
                        </m:dPr>
                        <m:e>
                          <m:r>
                            <a:rPr lang="en-US" sz="2400" i="1"/>
                            <m:t>𝑋</m:t>
                          </m:r>
                        </m:e>
                      </m:d>
                      <m:r>
                        <a:rPr lang="en-US" sz="2400" i="1"/>
                        <m:t>=</m:t>
                      </m:r>
                      <m:f>
                        <m:fPr>
                          <m:ctrlPr>
                            <a:rPr lang="en-IL" sz="2400" i="1"/>
                          </m:ctrlPr>
                        </m:fPr>
                        <m:num>
                          <m:r>
                            <a:rPr lang="en-US" sz="2400" i="1"/>
                            <m:t>𝑛</m:t>
                          </m:r>
                        </m:num>
                        <m:den>
                          <m:sSup>
                            <m:sSupPr>
                              <m:ctrlPr>
                                <a:rPr lang="en-IL" sz="2400" i="1"/>
                              </m:ctrlPr>
                            </m:sSupPr>
                            <m:e>
                              <m:r>
                                <a:rPr lang="en-US" sz="2400" i="1"/>
                                <m:t>𝑠</m:t>
                              </m:r>
                            </m:e>
                            <m:sup>
                              <m:r>
                                <a:rPr lang="en-US" sz="2400" i="1"/>
                                <m:t>2</m:t>
                              </m:r>
                            </m:sup>
                          </m:sSup>
                          <m:r>
                            <a:rPr lang="en-US" sz="2400" i="1"/>
                            <m:t>𝑛</m:t>
                          </m:r>
                          <m:r>
                            <a:rPr lang="en-US" sz="2400" i="1"/>
                            <m:t>⋅</m:t>
                          </m:r>
                          <m:sSup>
                            <m:sSupPr>
                              <m:ctrlPr>
                                <a:rPr lang="en-IL" sz="2400" i="1"/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L" sz="2400" i="1"/>
                                  </m:ctrlPr>
                                </m:dPr>
                                <m:e>
                                  <m:r>
                                    <a:rPr lang="en-US" sz="2400" i="1"/>
                                    <m:t>𝑛</m:t>
                                  </m:r>
                                  <m:r>
                                    <a:rPr lang="en-US" sz="2400" i="1"/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i="1"/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L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Use Chebyshev inequality and find the number of estimators (s) required for error of </a:t>
                </a:r>
                <a14:m>
                  <m:oMath xmlns:m="http://schemas.openxmlformats.org/officeDocument/2006/math">
                    <m:r>
                      <a:rPr lang="en-US" sz="2400" i="1"/>
                      <m:t>𝜖</m:t>
                    </m:r>
                    <m:r>
                      <a:rPr lang="en-US" sz="2400" i="1"/>
                      <m:t>=0.05</m:t>
                    </m:r>
                  </m:oMath>
                </a14:m>
                <a:r>
                  <a:rPr lang="en-US" sz="2400" dirty="0"/>
                  <a:t> and probability </a:t>
                </a:r>
                <a14:m>
                  <m:oMath xmlns:m="http://schemas.openxmlformats.org/officeDocument/2006/math">
                    <m:r>
                      <a:rPr lang="en-US" sz="2400" i="1"/>
                      <m:t>𝛿</m:t>
                    </m:r>
                    <m:r>
                      <a:rPr lang="en-US" sz="2400" i="1"/>
                      <m:t>=0.01</m:t>
                    </m:r>
                  </m:oMath>
                </a14:m>
                <a:r>
                  <a:rPr lang="en-US" sz="2400" dirty="0"/>
                  <a:t>.</a:t>
                </a:r>
                <a:endParaRPr lang="en-IL" sz="2400" dirty="0"/>
              </a:p>
              <a:p>
                <a:pPr>
                  <a:lnSpc>
                    <a:spcPct val="150000"/>
                  </a:lnSpc>
                </a:pPr>
                <a:endParaRPr lang="en-IL" sz="24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31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9363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Q4 – Streaming Algorithms</a:t>
                </a:r>
                <a:endParaRPr lang="en-US" sz="3200" dirty="0"/>
              </a:p>
              <a:p>
                <a:pPr lvl="0">
                  <a:lnSpc>
                    <a:spcPct val="150000"/>
                  </a:lnSpc>
                </a:pPr>
                <a:r>
                  <a:rPr lang="en-US" sz="2400" dirty="0"/>
                  <a:t>Given a matrix </a:t>
                </a:r>
                <a14:m>
                  <m:oMath xmlns:m="http://schemas.openxmlformats.org/officeDocument/2006/math">
                    <m:r>
                      <a:rPr lang="en-US" sz="2400" i="1"/>
                      <m:t>𝑅</m:t>
                    </m:r>
                  </m:oMath>
                </a14:m>
                <a:r>
                  <a:rPr lang="en-US" sz="2400" dirty="0"/>
                  <a:t> with rows are Users and columns are Products:</a:t>
                </a:r>
                <a:endParaRPr lang="en-IL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/>
                        <m:t>𝑅</m:t>
                      </m:r>
                      <m:r>
                        <a:rPr lang="en-US" sz="2400" i="1"/>
                        <m:t>=</m:t>
                      </m:r>
                      <m:d>
                        <m:dPr>
                          <m:ctrlPr>
                            <a:rPr lang="en-IL" sz="2400" i="1"/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IL" sz="2400" i="1"/>
                              </m:ctrlPr>
                            </m:mPr>
                            <m:mr>
                              <m:e>
                                <m:r>
                                  <a:rPr lang="en-US" sz="2400" i="1"/>
                                  <m:t>3</m:t>
                                </m:r>
                              </m:e>
                              <m:e>
                                <m:r>
                                  <a:rPr lang="en-US" sz="2400" i="1"/>
                                  <m:t>𝑥</m:t>
                                </m:r>
                              </m:e>
                              <m:e>
                                <m:r>
                                  <a:rPr lang="en-US" sz="2400" i="1"/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/>
                                  <m:t>5</m:t>
                                </m:r>
                              </m:e>
                              <m:e>
                                <m:r>
                                  <a:rPr lang="en-US" sz="2400" i="1"/>
                                  <m:t>1</m:t>
                                </m:r>
                              </m:e>
                              <m:e>
                                <m:r>
                                  <a:rPr lang="en-US" sz="2400" i="1"/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L" sz="240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Simulate ALS and find approximation for </a:t>
                </a:r>
                <a14:m>
                  <m:oMath xmlns:m="http://schemas.openxmlformats.org/officeDocument/2006/math">
                    <m:r>
                      <a:rPr lang="en-US" sz="2400" i="1"/>
                      <m:t>𝑥</m:t>
                    </m:r>
                  </m:oMath>
                </a14:m>
                <a:r>
                  <a:rPr lang="en-US" sz="2400" dirty="0"/>
                  <a:t>.</a:t>
                </a:r>
                <a:endParaRPr lang="en-IL" sz="2400" dirty="0"/>
              </a:p>
              <a:p>
                <a:pPr>
                  <a:lnSpc>
                    <a:spcPct val="150000"/>
                  </a:lnSpc>
                </a:pPr>
                <a:endParaRPr lang="en-IL" sz="24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0539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Q4 – Streaming Algorithms</a:t>
                </a:r>
                <a:endParaRPr lang="en-US" sz="3200" dirty="0"/>
              </a:p>
              <a:p>
                <a:pPr lvl="0">
                  <a:lnSpc>
                    <a:spcPct val="150000"/>
                  </a:lnSpc>
                </a:pPr>
                <a:r>
                  <a:rPr lang="en-US" sz="2400" dirty="0"/>
                  <a:t>In class, we analyzed the probability of no-collisions when balls are thrown into bins. Assume we have </a:t>
                </a:r>
                <a14:m>
                  <m:oMath xmlns:m="http://schemas.openxmlformats.org/officeDocument/2006/math">
                    <m:r>
                      <a:rPr lang="en-US" sz="2400" i="1"/>
                      <m:t>𝑛</m:t>
                    </m:r>
                  </m:oMath>
                </a14:m>
                <a:r>
                  <a:rPr lang="en-US" sz="2400" dirty="0"/>
                  <a:t> bins. Find the constant </a:t>
                </a:r>
                <a14:m>
                  <m:oMath xmlns:m="http://schemas.openxmlformats.org/officeDocument/2006/math">
                    <m:r>
                      <a:rPr lang="en-US" sz="2400" i="1"/>
                      <m:t>𝑐</m:t>
                    </m:r>
                  </m:oMath>
                </a14:m>
                <a:r>
                  <a:rPr lang="en-US" sz="2400" dirty="0"/>
                  <a:t> satisfy that if there are </a:t>
                </a:r>
                <a14:m>
                  <m:oMath xmlns:m="http://schemas.openxmlformats.org/officeDocument/2006/math">
                    <m:r>
                      <a:rPr lang="en-US" sz="2400" i="1"/>
                      <m:t>𝑐</m:t>
                    </m:r>
                    <m:rad>
                      <m:radPr>
                        <m:degHide m:val="on"/>
                        <m:ctrlPr>
                          <a:rPr lang="en-IL" sz="2400" i="1"/>
                        </m:ctrlPr>
                      </m:radPr>
                      <m:deg/>
                      <m:e>
                        <m:r>
                          <a:rPr lang="en-US" sz="2400" i="1"/>
                          <m:t>𝑛</m:t>
                        </m:r>
                      </m:e>
                    </m:rad>
                  </m:oMath>
                </a14:m>
                <a:r>
                  <a:rPr lang="en-US" sz="2400" dirty="0"/>
                  <a:t> balls, then the probability of no collision is </a:t>
                </a:r>
                <a:r>
                  <a:rPr lang="en-US" sz="2400" u="sng" dirty="0"/>
                  <a:t>at least</a:t>
                </a:r>
                <a:r>
                  <a:rPr lang="en-US" sz="2400" dirty="0"/>
                  <a:t> 0.5.  </a:t>
                </a:r>
                <a:br>
                  <a:rPr lang="en-US" sz="2400" dirty="0"/>
                </a:br>
                <a:r>
                  <a:rPr lang="en-US" sz="2400" u="sng" dirty="0"/>
                  <a:t>Note</a:t>
                </a:r>
                <a:r>
                  <a:rPr lang="en-US" sz="2400" dirty="0"/>
                  <a:t>: use the Bernoulli’s inequality, and</a:t>
                </a:r>
                <a:endParaRPr lang="en-IL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L" sz="2400" i="1"/>
                          </m:ctrlPr>
                        </m:sSupPr>
                        <m:e>
                          <m:r>
                            <a:rPr lang="en-US" sz="2400" i="1"/>
                            <m:t>𝑒</m:t>
                          </m:r>
                        </m:e>
                        <m:sup>
                          <m:r>
                            <a:rPr lang="en-US" sz="2400" i="1"/>
                            <m:t>−</m:t>
                          </m:r>
                          <m:r>
                            <a:rPr lang="en-US" sz="2400" i="1"/>
                            <m:t>𝑥</m:t>
                          </m:r>
                          <m:r>
                            <a:rPr lang="en-US" sz="2400" i="1"/>
                            <m:t>−</m:t>
                          </m:r>
                          <m:sSup>
                            <m:sSupPr>
                              <m:ctrlPr>
                                <a:rPr lang="en-IL" sz="2400" i="1"/>
                              </m:ctrlPr>
                            </m:sSupPr>
                            <m:e>
                              <m:r>
                                <a:rPr lang="en-US" sz="2400" i="1"/>
                                <m:t>𝑥</m:t>
                              </m:r>
                            </m:e>
                            <m:sup>
                              <m:r>
                                <a:rPr lang="en-US" sz="2400" i="1"/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US" sz="2400" i="1"/>
                        <m:t>≤1−</m:t>
                      </m:r>
                      <m:r>
                        <a:rPr lang="en-US" sz="2400" i="1"/>
                        <m:t>𝑥</m:t>
                      </m:r>
                      <m:r>
                        <a:rPr lang="en-US" sz="2400" i="1"/>
                        <m:t>   </m:t>
                      </m:r>
                      <m:r>
                        <a:rPr lang="en-US" sz="2400" i="1"/>
                        <m:t>𝑓𝑜𝑟</m:t>
                      </m:r>
                      <m:r>
                        <a:rPr lang="en-US" sz="2400" i="1"/>
                        <m:t>  </m:t>
                      </m:r>
                      <m:r>
                        <a:rPr lang="en-US" sz="2400" i="1"/>
                        <m:t>𝑥</m:t>
                      </m:r>
                      <m:r>
                        <a:rPr lang="en-US" sz="2400" i="1"/>
                        <m:t>≤</m:t>
                      </m:r>
                      <m:f>
                        <m:fPr>
                          <m:ctrlPr>
                            <a:rPr lang="en-IL" sz="2400" i="1"/>
                          </m:ctrlPr>
                        </m:fPr>
                        <m:num>
                          <m:r>
                            <a:rPr lang="en-US" sz="2400" i="1"/>
                            <m:t>1</m:t>
                          </m:r>
                        </m:num>
                        <m:den>
                          <m:r>
                            <a:rPr lang="en-US" sz="2400" i="1"/>
                            <m:t>2</m:t>
                          </m:r>
                        </m:den>
                      </m:f>
                    </m:oMath>
                  </m:oMathPara>
                </a14:m>
                <a:endParaRPr lang="en-IL" sz="2400" dirty="0"/>
              </a:p>
              <a:p>
                <a:pPr>
                  <a:lnSpc>
                    <a:spcPct val="150000"/>
                  </a:lnSpc>
                </a:pPr>
                <a:endParaRPr lang="en-IL" sz="24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8847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15101</TotalTime>
  <Words>1841</Words>
  <Application>Microsoft Macintosh PowerPoint</Application>
  <PresentationFormat>Widescreen</PresentationFormat>
  <Paragraphs>318</Paragraphs>
  <Slides>33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Tahoma</vt:lpstr>
      <vt:lpstr>Office Theme</vt:lpstr>
      <vt:lpstr>Cloud Based Data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Gray sort competition: Winner</vt:lpstr>
      <vt:lpstr>Basic Stream Data Model</vt:lpstr>
      <vt:lpstr>Approximation and Randomization</vt:lpstr>
      <vt:lpstr>Morris’s Algorithm </vt:lpstr>
      <vt:lpstr>Morris’s Algorithm – Beta Version</vt:lpstr>
      <vt:lpstr>Distinct Elements: Approximate Counting</vt:lpstr>
      <vt:lpstr>Recommender Systems</vt:lpstr>
      <vt:lpstr>Approaches</vt:lpstr>
      <vt:lpstr>PowerPoint Presentation</vt:lpstr>
      <vt:lpstr>PowerPoint Presentation</vt:lpstr>
      <vt:lpstr>PowerPoint Presentation</vt:lpstr>
      <vt:lpstr>Final Assignment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</dc:title>
  <dc:creator>Lev</dc:creator>
  <cp:lastModifiedBy>or perets</cp:lastModifiedBy>
  <cp:revision>304</cp:revision>
  <dcterms:created xsi:type="dcterms:W3CDTF">2021-02-09T13:47:38Z</dcterms:created>
  <dcterms:modified xsi:type="dcterms:W3CDTF">2022-05-23T07:25:45Z</dcterms:modified>
</cp:coreProperties>
</file>